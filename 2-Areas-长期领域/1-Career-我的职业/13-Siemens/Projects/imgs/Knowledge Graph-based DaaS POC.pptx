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2"/>
  </p:sldMasterIdLst>
  <p:notesMasterIdLst>
    <p:notesMasterId r:id="rId24"/>
  </p:notesMasterIdLst>
  <p:handoutMasterIdLst>
    <p:handoutMasterId r:id="rId25"/>
  </p:handoutMasterIdLst>
  <p:sldIdLst>
    <p:sldId id="2076137465" r:id="rId3"/>
    <p:sldId id="2076137468" r:id="rId4"/>
    <p:sldId id="2076137469" r:id="rId5"/>
    <p:sldId id="2076137470" r:id="rId6"/>
    <p:sldId id="2076137471" r:id="rId7"/>
    <p:sldId id="2076137474" r:id="rId8"/>
    <p:sldId id="2076137473" r:id="rId9"/>
    <p:sldId id="2076137477" r:id="rId10"/>
    <p:sldId id="2076137475" r:id="rId11"/>
    <p:sldId id="2076137478" r:id="rId12"/>
    <p:sldId id="2076137484" r:id="rId13"/>
    <p:sldId id="2076137479" r:id="rId14"/>
    <p:sldId id="2076137480" r:id="rId15"/>
    <p:sldId id="2076137481" r:id="rId16"/>
    <p:sldId id="2076137482" r:id="rId17"/>
    <p:sldId id="2076137483" r:id="rId18"/>
    <p:sldId id="2076137485" r:id="rId19"/>
    <p:sldId id="2076137486" r:id="rId20"/>
    <p:sldId id="2076137488" r:id="rId21"/>
    <p:sldId id="2076137487" r:id="rId22"/>
    <p:sldId id="207613746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7A0"/>
    <a:srgbClr val="FFFFFF"/>
    <a:srgbClr val="E6E6E6"/>
    <a:srgbClr val="50BED7"/>
    <a:srgbClr val="AF235F"/>
    <a:srgbClr val="78CDCD"/>
    <a:srgbClr val="FFB900"/>
    <a:srgbClr val="009999"/>
    <a:srgbClr val="0087B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85" autoAdjust="0"/>
  </p:normalViewPr>
  <p:slideViewPr>
    <p:cSldViewPr snapToGrid="0" showGuides="1">
      <p:cViewPr varScale="1">
        <p:scale>
          <a:sx n="62" d="100"/>
          <a:sy n="62" d="100"/>
        </p:scale>
        <p:origin x="828" y="52"/>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121" d="100"/>
          <a:sy n="121" d="100"/>
        </p:scale>
        <p:origin x="4188"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en-US" sz="1050" b="1" dirty="0"/>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fld id="{FEF1F2B9-B350-4061-A6D1-2A3340A8623F}" type="datetimeFigureOut">
              <a:rPr lang="en-US" sz="1050" smtClean="0"/>
              <a:t>9/9/2022</a:t>
            </a:fld>
            <a:endParaRPr lang="en-US" sz="1050" dirty="0"/>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en-US" sz="1050" dirty="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en-US" sz="1050" b="1" dirty="0">
                <a:solidFill>
                  <a:schemeClr val="accent2"/>
                </a:solidFill>
              </a:rPr>
              <a:t>Hand out</a:t>
            </a:r>
            <a:r>
              <a:rPr lang="en-US" sz="1050" dirty="0">
                <a:solidFill>
                  <a:schemeClr val="accent2"/>
                </a:solidFill>
              </a:rPr>
              <a:t> </a:t>
            </a:r>
            <a:fld id="{C92BABF8-1341-4DCB-864A-D83C08BEEAE4}" type="slidenum">
              <a:rPr lang="en-US" sz="1050" smtClean="0"/>
              <a:t>‹#›</a:t>
            </a:fld>
            <a:endParaRPr lang="en-US" sz="1050" dirty="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en-US" dirty="0"/>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fld id="{76FBC1AF-E4C9-412F-9B6D-66CD520F95DB}" type="datetimeFigureOut">
              <a:rPr lang="en-US" smtClean="0"/>
              <a:pPr/>
              <a:t>9/9/2022</a:t>
            </a:fld>
            <a:endParaRPr lang="en-US" dirty="0"/>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 level</a:t>
            </a:r>
          </a:p>
          <a:p>
            <a:pPr lvl="8"/>
            <a:r>
              <a:rPr lang="en-US" dirty="0"/>
              <a:t>Ninth level</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en-US" dirty="0"/>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en-US" b="1" dirty="0">
                <a:solidFill>
                  <a:schemeClr val="accent2"/>
                </a:solidFill>
              </a:rPr>
              <a:t>Notes</a:t>
            </a:r>
            <a:r>
              <a:rPr lang="en-US" dirty="0"/>
              <a:t> </a:t>
            </a:r>
            <a:fld id="{E76C657F-0E32-4130-ADDA-66B81138A76A}" type="slidenum">
              <a:rPr lang="en-US" smtClean="0"/>
              <a:pPr/>
              <a:t>‹#›</a:t>
            </a:fld>
            <a:endParaRPr lang="en-US" dirty="0"/>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xml"/><Relationship Id="rId7" Type="http://schemas.openxmlformats.org/officeDocument/2006/relationships/image" Target="../media/image24.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5.jpeg"/><Relationship Id="rId4" Type="http://schemas.openxmlformats.org/officeDocument/2006/relationships/slideMaster" Target="../slideMasters/slideMaster1.xml"/><Relationship Id="rId9"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pic>
        <p:nvPicPr>
          <p:cNvPr id="6" name="Cognisphere" descr="A picture containing fireworks, star, table, sky&#10;&#10;Description automatically generated">
            <a:extLst>
              <a:ext uri="{FF2B5EF4-FFF2-40B4-BE49-F238E27FC236}">
                <a16:creationId xmlns:a16="http://schemas.microsoft.com/office/drawing/2014/main" id="{591CD5A4-BDEB-4734-8FA5-5C3B4A08A49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lvl1pPr>
              <a:defRPr b="1"/>
            </a:lvl1p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262505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pic>
        <p:nvPicPr>
          <p:cNvPr id="7" name="Cognisphere" descr="A close up of a light&#10;&#10;Description automatically generated">
            <a:extLst>
              <a:ext uri="{FF2B5EF4-FFF2-40B4-BE49-F238E27FC236}">
                <a16:creationId xmlns:a16="http://schemas.microsoft.com/office/drawing/2014/main" id="{F50DEF7C-D243-494F-A738-41FC9AF515A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M3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1273117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pic>
        <p:nvPicPr>
          <p:cNvPr id="7" name="Cognisphere" descr="A picture containing light, star&#10;&#10;Description automatically generated">
            <a:extLst>
              <a:ext uri="{FF2B5EF4-FFF2-40B4-BE49-F238E27FC236}">
                <a16:creationId xmlns:a16="http://schemas.microsoft.com/office/drawing/2014/main" id="{AA220E05-4C1E-4F58-BFC0-57C07A95F70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249615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id="{70837433-2C09-4518-AF0D-697A97CAC3A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8135914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Gradient DB–Petrol 6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Background pattern&#10;&#10;Description automatically generated">
            <a:extLst>
              <a:ext uri="{FF2B5EF4-FFF2-40B4-BE49-F238E27FC236}">
                <a16:creationId xmlns:a16="http://schemas.microsoft.com/office/drawing/2014/main" id="{DF3DAF0E-BB8A-4082-8CE7-1BBCE61C8C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769989"/>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1"/>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1654260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r>
              <a:rPr lang="en-US"/>
              <a:t>Unrestricted | © Siemens Ltd., China 2022 | T CED INW | 2022-03-28</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845533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399"/>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0429905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2948591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121"/>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163221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title light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altLang="zh-CN" dirty="0"/>
              <a:t>R</a:t>
            </a:r>
            <a:r>
              <a:rPr lang="en-US" dirty="0"/>
              <a:t>estricted | © Siemens Ltd., China 2022 | T CED INW | 2022-08</a:t>
            </a:r>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4FC1DCA2-253A-4E87-91E4-D402488C8D78}"/>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14551110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title light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1"/>
            <a:ext cx="9288000" cy="1622623"/>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3543E2CC-A901-4194-A712-51CE520302B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39439022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title light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399" y="1414463"/>
            <a:ext cx="11370437" cy="2462213"/>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2A2349A4-4A97-42CC-AE59-7EDEE385EDFA}"/>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38680367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dex / Agenda">
    <p:spTree>
      <p:nvGrpSpPr>
        <p:cNvPr id="1" name=""/>
        <p:cNvGrpSpPr/>
        <p:nvPr/>
      </p:nvGrpSpPr>
      <p:grpSpPr>
        <a:xfrm>
          <a:off x="0" y="0"/>
          <a:ext cx="0" cy="0"/>
          <a:chOff x="0" y="0"/>
          <a:chExt cx="0" cy="0"/>
        </a:xfrm>
      </p:grpSpPr>
      <p:pic>
        <p:nvPicPr>
          <p:cNvPr id="8" name="Cognisphere" descr="A picture containing chart&#10;&#10;Description automatically generated">
            <a:extLst>
              <a:ext uri="{FF2B5EF4-FFF2-40B4-BE49-F238E27FC236}">
                <a16:creationId xmlns:a16="http://schemas.microsoft.com/office/drawing/2014/main" id="{FEC69F24-2876-47B9-A4B6-0ADE800ECDDB}"/>
              </a:ext>
            </a:extLst>
          </p:cNvPr>
          <p:cNvPicPr>
            <a:picLocks noChangeAspect="1"/>
          </p:cNvPicPr>
          <p:nvPr userDrawn="1"/>
        </p:nvPicPr>
        <p:blipFill rotWithShape="1">
          <a:blip r:embed="rId2" cstate="print">
            <a:alphaModFix amt="60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a:xfrm>
            <a:off x="410400" y="478800"/>
            <a:ext cx="5904675" cy="576000"/>
          </a:xfrm>
        </p:spPr>
        <p:txBody>
          <a:bodyPr/>
          <a:lstStyle/>
          <a:p>
            <a:r>
              <a:rPr lang="en-US"/>
              <a:t>Click to edit Master title style</a:t>
            </a:r>
            <a:endParaRPr lang="en-US" dirty="0"/>
          </a:p>
        </p:txBody>
      </p:sp>
      <p:sp>
        <p:nvSpPr>
          <p:cNvPr id="4" name="Copy">
            <a:extLst>
              <a:ext uri="{FF2B5EF4-FFF2-40B4-BE49-F238E27FC236}">
                <a16:creationId xmlns:a16="http://schemas.microsoft.com/office/drawing/2014/main" id="{0E701EC8-7FC1-42BE-915D-048C74A40E0C}"/>
              </a:ext>
            </a:extLst>
          </p:cNvPr>
          <p:cNvSpPr>
            <a:spLocks noGrp="1"/>
          </p:cNvSpPr>
          <p:nvPr>
            <p:ph type="body" sz="quarter" idx="12"/>
          </p:nvPr>
        </p:nvSpPr>
        <p:spPr>
          <a:xfrm>
            <a:off x="411163" y="1414463"/>
            <a:ext cx="5903912" cy="4751387"/>
          </a:xfrm>
        </p:spPr>
        <p:txBody>
          <a:bodyPr/>
          <a:lstStyle>
            <a:lvl1pPr>
              <a:spcAft>
                <a:spcPts val="900"/>
              </a:spcAft>
              <a:tabLst>
                <a:tab pos="5902325" algn="r"/>
              </a:tabLst>
              <a:defRPr/>
            </a:lvl1pPr>
            <a:lvl2pPr>
              <a:spcAft>
                <a:spcPts val="900"/>
              </a:spcAft>
              <a:tabLst>
                <a:tab pos="5902325" algn="r"/>
              </a:tabLst>
              <a:defRPr/>
            </a:lvl2pPr>
            <a:lvl3pPr marL="180000">
              <a:spcAft>
                <a:spcPts val="900"/>
              </a:spcAft>
              <a:tabLst>
                <a:tab pos="5902325" algn="r"/>
              </a:tabLst>
              <a:defRPr b="1"/>
            </a:lvl3pPr>
            <a:lvl4pPr marL="360000">
              <a:spcAft>
                <a:spcPts val="900"/>
              </a:spcAft>
              <a:tabLst>
                <a:tab pos="5902325" algn="r"/>
              </a:tabLst>
              <a:defRPr/>
            </a:lvl4pPr>
            <a:lvl5pPr marL="360000">
              <a:spcAft>
                <a:spcPts val="900"/>
              </a:spcAft>
              <a:tabLst>
                <a:tab pos="5902325" algn="r"/>
              </a:tabLst>
              <a:defRPr b="1"/>
            </a:lvl5pPr>
            <a:lvl6pPr marL="180000">
              <a:spcAft>
                <a:spcPts val="600"/>
              </a:spcAft>
              <a:tabLst>
                <a:tab pos="5902325" algn="r"/>
              </a:tabLst>
              <a:defRPr sz="1600"/>
            </a:lvl6pPr>
            <a:lvl7pPr marL="180000">
              <a:spcAft>
                <a:spcPts val="600"/>
              </a:spcAft>
              <a:tabLst>
                <a:tab pos="5902325" algn="r"/>
              </a:tabLst>
              <a:defRPr sz="1600" b="1"/>
            </a:lvl7pPr>
            <a:lvl8pPr marL="360000">
              <a:spcAft>
                <a:spcPts val="600"/>
              </a:spcAft>
              <a:tabLst>
                <a:tab pos="5902325" algn="r"/>
              </a:tabLst>
              <a:defRPr sz="1600"/>
            </a:lvl8pPr>
            <a:lvl9pPr marL="360000">
              <a:spcAft>
                <a:spcPts val="600"/>
              </a:spcAft>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643747429"/>
      </p:ext>
    </p:extLst>
  </p:cSld>
  <p:clrMapOvr>
    <a:masterClrMapping/>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dirty="0"/>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67482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endParaRPr lang="en-US" dirty="0"/>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dirty="0"/>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43002918"/>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bleed color Deep Blue (with key visual)">
    <p:bg>
      <p:bgRef idx="1001">
        <a:schemeClr val="bg2"/>
      </p:bgRef>
    </p:bg>
    <p:spTree>
      <p:nvGrpSpPr>
        <p:cNvPr id="1" name=""/>
        <p:cNvGrpSpPr/>
        <p:nvPr/>
      </p:nvGrpSpPr>
      <p:grpSpPr>
        <a:xfrm>
          <a:off x="0" y="0"/>
          <a:ext cx="0" cy="0"/>
          <a:chOff x="0" y="0"/>
          <a:chExt cx="0" cy="0"/>
        </a:xfrm>
      </p:grpSpPr>
      <p:pic>
        <p:nvPicPr>
          <p:cNvPr id="4" name="Cognisphere" descr="A picture containing fish, monitor, keyboard, computer&#10;&#10;Description automatically generated">
            <a:extLst>
              <a:ext uri="{FF2B5EF4-FFF2-40B4-BE49-F238E27FC236}">
                <a16:creationId xmlns:a16="http://schemas.microsoft.com/office/drawing/2014/main" id="{AE83F1C5-95B7-47C3-B837-8191D1E3972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5104918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0045345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bleed color Gradient (with key visual)">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4" name="Cognisphere" descr="A picture containing sky, water, star&#10;&#10;Description automatically generated">
            <a:extLst>
              <a:ext uri="{FF2B5EF4-FFF2-40B4-BE49-F238E27FC236}">
                <a16:creationId xmlns:a16="http://schemas.microsoft.com/office/drawing/2014/main" id="{E2F7C1AE-8376-445B-98CD-DBE6E96E38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3338126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106083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3"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1" name="Quote marks">
            <a:extLst>
              <a:ext uri="{FF2B5EF4-FFF2-40B4-BE49-F238E27FC236}">
                <a16:creationId xmlns:a16="http://schemas.microsoft.com/office/drawing/2014/main" id="{916E4245-F21C-4EAB-8B26-FEA21C26067F}"/>
              </a:ext>
            </a:extLst>
          </p:cNvPr>
          <p:cNvSpPr/>
          <p:nvPr userDrawn="1"/>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dirty="0"/>
          </a:p>
        </p:txBody>
      </p:sp>
      <p:sp>
        <p:nvSpPr>
          <p:cNvPr id="2" name="Footer Placeholder">
            <a:extLst>
              <a:ext uri="{FF2B5EF4-FFF2-40B4-BE49-F238E27FC236}">
                <a16:creationId xmlns:a16="http://schemas.microsoft.com/office/drawing/2014/main" id="{EC4F35EF-AC94-4800-9CB7-CA49CAFDD249}"/>
              </a:ext>
            </a:extLst>
          </p:cNvPr>
          <p:cNvSpPr>
            <a:spLocks noGrp="1"/>
          </p:cNvSpPr>
          <p:nvPr>
            <p:ph type="ftr" sz="quarter" idx="13"/>
          </p:nvPr>
        </p:nvSpPr>
        <p:spPr/>
        <p:txBody>
          <a:bodyPr/>
          <a:lstStyle/>
          <a:p>
            <a:r>
              <a:rPr lang="en-US"/>
              <a:t>Unrestricted | © Siemens Ltd., China 2022 | T CED INW | 2022-03-28</a:t>
            </a:r>
            <a:endParaRPr lang="en-US" dirty="0"/>
          </a:p>
        </p:txBody>
      </p:sp>
      <p:sp>
        <p:nvSpPr>
          <p:cNvPr id="3" name="Slide Number Placeholder">
            <a:extLst>
              <a:ext uri="{FF2B5EF4-FFF2-40B4-BE49-F238E27FC236}">
                <a16:creationId xmlns:a16="http://schemas.microsoft.com/office/drawing/2014/main" id="{CCC7FBE7-01B9-4EC8-8BE1-F416F7C5B7AA}"/>
              </a:ext>
            </a:extLst>
          </p:cNvPr>
          <p:cNvSpPr>
            <a:spLocks noGrp="1"/>
          </p:cNvSpPr>
          <p:nvPr>
            <p:ph type="sldNum" sz="quarter" idx="14"/>
          </p:nvPr>
        </p:nvSpPr>
        <p:spPr/>
        <p:txBody>
          <a:bodyPr/>
          <a:lstStyle/>
          <a:p>
            <a:r>
              <a:rPr lang="en-US" dirty="0"/>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AF2E271F-5AF7-408E-9752-03D1D6448EA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24605121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891" userDrawn="1">
          <p15:clr>
            <a:srgbClr val="65CEFF"/>
          </p15:clr>
        </p15:guide>
        <p15:guide id="5" orient="horz" pos="1073" userDrawn="1">
          <p15:clr>
            <a:srgbClr val="65CEFF"/>
          </p15:clr>
        </p15:guide>
        <p15:guide id="6" orient="horz" pos="3658" userDrawn="1">
          <p15:clr>
            <a:srgbClr val="65CEFF"/>
          </p15:clr>
        </p15:guide>
        <p15:guide id="7" orient="horz" pos="3885" userDrawn="1">
          <p15:clr>
            <a:srgbClr val="65CEFF"/>
          </p15:clr>
        </p15:guide>
        <p15:guide id="8" orient="horz" pos="4157" userDrawn="1">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400" y="1270799"/>
            <a:ext cx="10800000"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a:t>Click to edit Master title style</a:t>
            </a:r>
            <a:endParaRPr lang="en-US" dirty="0"/>
          </a:p>
        </p:txBody>
      </p:sp>
      <p:sp>
        <p:nvSpPr>
          <p:cNvPr id="2" name="Footer Placeholder">
            <a:extLst>
              <a:ext uri="{FF2B5EF4-FFF2-40B4-BE49-F238E27FC236}">
                <a16:creationId xmlns:a16="http://schemas.microsoft.com/office/drawing/2014/main" id="{09BD8BE5-BFF2-469D-8B93-9556FCC45CF1}"/>
              </a:ext>
            </a:extLst>
          </p:cNvPr>
          <p:cNvSpPr>
            <a:spLocks noGrp="1"/>
          </p:cNvSpPr>
          <p:nvPr>
            <p:ph type="ftr" sz="quarter" idx="10"/>
          </p:nvPr>
        </p:nvSpPr>
        <p:spPr/>
        <p:txBody>
          <a:bodyPr/>
          <a:lstStyle/>
          <a:p>
            <a:r>
              <a:rPr lang="en-US"/>
              <a:t>Unrestricted | © Siemens Ltd., China 2022 | T CED INW | 2022-03-28</a:t>
            </a:r>
            <a:endParaRPr lang="en-US" dirty="0"/>
          </a:p>
        </p:txBody>
      </p:sp>
      <p:sp>
        <p:nvSpPr>
          <p:cNvPr id="3" name="Slide Number Placeholder">
            <a:extLst>
              <a:ext uri="{FF2B5EF4-FFF2-40B4-BE49-F238E27FC236}">
                <a16:creationId xmlns:a16="http://schemas.microsoft.com/office/drawing/2014/main" id="{F9372441-FA7E-4481-BBC2-24CB6D3017C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4" name="Siemens Logo">
            <a:extLst>
              <a:ext uri="{FF2B5EF4-FFF2-40B4-BE49-F238E27FC236}">
                <a16:creationId xmlns:a16="http://schemas.microsoft.com/office/drawing/2014/main" id="{0EF6BB07-4F4E-4859-9572-DA63E35B93A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3164166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801"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dirty="0"/>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dirty="0"/>
              <a:t>Click to edit the contact</a:t>
            </a:r>
          </a:p>
          <a:p>
            <a:pPr lvl="1"/>
            <a:r>
              <a:rPr lang="en-US" dirty="0"/>
              <a:t>Name etc.</a:t>
            </a:r>
          </a:p>
          <a:p>
            <a:pPr lvl="2"/>
            <a:r>
              <a:rPr lang="en-US" dirty="0"/>
              <a:t>Department etc.</a:t>
            </a:r>
          </a:p>
          <a:p>
            <a:pPr lvl="3"/>
            <a:r>
              <a:rPr lang="en-US" dirty="0"/>
              <a:t>subchapter</a:t>
            </a:r>
          </a:p>
          <a:p>
            <a:pPr lvl="4"/>
            <a:r>
              <a:rPr lang="en-US" dirty="0"/>
              <a:t>active subchapter</a:t>
            </a:r>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ver page, default">
    <p:spTree>
      <p:nvGrpSpPr>
        <p:cNvPr id="1" name=""/>
        <p:cNvGrpSpPr/>
        <p:nvPr/>
      </p:nvGrpSpPr>
      <p:grpSpPr>
        <a:xfrm>
          <a:off x="0" y="0"/>
          <a:ext cx="0" cy="0"/>
          <a:chOff x="0" y="0"/>
          <a:chExt cx="0" cy="0"/>
        </a:xfrm>
      </p:grpSpPr>
      <p:pic>
        <p:nvPicPr>
          <p:cNvPr id="54" name="Picture 2" descr="C:\Users\FEEDBA~1\AppData\Local\Temp\vmware-feedbackuser\VMwareDnD\48d9d0cd\Digitalization_Day_Hintergruende_dynamic_petrol_autonomous_grid.jpg"/>
          <p:cNvPicPr>
            <a:picLocks noChangeAspect="1" noChangeArrowheads="1"/>
          </p:cNvPicPr>
          <p:nvPr userDrawn="1"/>
        </p:nvPicPr>
        <p:blipFill rotWithShape="1">
          <a:blip r:embed="rId5" cstate="print">
            <a:extLst>
              <a:ext uri="{28A0092B-C50C-407E-A947-70E740481C1C}">
                <a14:useLocalDpi xmlns:a14="http://schemas.microsoft.com/office/drawing/2010/main" val="0"/>
              </a:ext>
            </a:extLst>
          </a:blip>
          <a:srcRect t="2294"/>
          <a:stretch/>
        </p:blipFill>
        <p:spPr bwMode="gray">
          <a:xfrm>
            <a:off x="775" y="3177"/>
            <a:ext cx="12190451" cy="68548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Object 1" hidden="1"/>
          <p:cNvGraphicFramePr>
            <a:graphicFrameLocks noChangeAspect="1"/>
          </p:cNvGraphicFramePr>
          <p:nvPr userDrawn="1">
            <p:custDataLst>
              <p:tags r:id="rId2"/>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1078" name="think-cell Folie" r:id="rId6" imgW="360" imgH="360" progId="TCLayout.ActiveDocument.1">
                  <p:embed/>
                </p:oleObj>
              </mc:Choice>
              <mc:Fallback>
                <p:oleObj name="think-cell Folie" r:id="rId6" imgW="360" imgH="360" progId="TCLayout.ActiveDocument.1">
                  <p:embed/>
                  <p:pic>
                    <p:nvPicPr>
                      <p:cNvPr id="2" name="Object 1" hidden="1"/>
                      <p:cNvPicPr/>
                      <p:nvPr/>
                    </p:nvPicPr>
                    <p:blipFill>
                      <a:blip r:embed="rId7"/>
                      <a:stretch>
                        <a:fillRect/>
                      </a:stretch>
                    </p:blipFill>
                    <p:spPr>
                      <a:xfrm>
                        <a:off x="2119" y="1590"/>
                        <a:ext cx="2116" cy="1587"/>
                      </a:xfrm>
                      <a:prstGeom prst="rect">
                        <a:avLst/>
                      </a:prstGeom>
                    </p:spPr>
                  </p:pic>
                </p:oleObj>
              </mc:Fallback>
            </mc:AlternateContent>
          </a:graphicData>
        </a:graphic>
      </p:graphicFrame>
      <p:sp>
        <p:nvSpPr>
          <p:cNvPr id="4" name="cdtRectangle 115 Id57350"/>
          <p:cNvSpPr>
            <a:spLocks noGrp="1" noChangeArrowheads="1"/>
          </p:cNvSpPr>
          <p:nvPr>
            <p:ph type="ctrTitle" hasCustomPrompt="1"/>
            <p:custDataLst>
              <p:tags r:id="rId3"/>
            </p:custDataLst>
          </p:nvPr>
        </p:nvSpPr>
        <p:spPr bwMode="ltGray">
          <a:xfrm>
            <a:off x="626735" y="4815285"/>
            <a:ext cx="6476627" cy="985869"/>
          </a:xfrm>
          <a:noFill/>
        </p:spPr>
        <p:txBody>
          <a:bodyPr wrap="square" lIns="216000" tIns="90000" rIns="216000" bIns="216000" anchor="b" anchorCtr="0">
            <a:spAutoFit/>
          </a:bodyPr>
          <a:lstStyle>
            <a:lvl1pPr>
              <a:defRPr sz="4397" smtClean="0">
                <a:solidFill>
                  <a:srgbClr val="FFFFFF"/>
                </a:solidFill>
                <a:latin typeface="Arial" pitchFamily="34" charset="0"/>
              </a:defRPr>
            </a:lvl1pPr>
          </a:lstStyle>
          <a:p>
            <a:r>
              <a:rPr lang="en-US" dirty="0"/>
              <a:t>Title</a:t>
            </a:r>
          </a:p>
        </p:txBody>
      </p:sp>
      <p:sp>
        <p:nvSpPr>
          <p:cNvPr id="71" name="Textplatzhalter 57343"/>
          <p:cNvSpPr>
            <a:spLocks noGrp="1"/>
          </p:cNvSpPr>
          <p:nvPr userDrawn="1">
            <p:ph type="body" sz="quarter" idx="13" hasCustomPrompt="1"/>
          </p:nvPr>
        </p:nvSpPr>
        <p:spPr>
          <a:xfrm>
            <a:off x="626735" y="5906233"/>
            <a:ext cx="6476627" cy="323925"/>
          </a:xfrm>
          <a:solidFill>
            <a:schemeClr val="bg1">
              <a:alpha val="85000"/>
            </a:schemeClr>
          </a:solidFill>
        </p:spPr>
        <p:txBody>
          <a:bodyPr lIns="216000" tIns="90000" rIns="216000" bIns="46800" anchor="t">
            <a:noAutofit/>
          </a:bodyPr>
          <a:lstStyle>
            <a:lvl1pPr algn="r">
              <a:lnSpc>
                <a:spcPct val="100000"/>
              </a:lnSpc>
              <a:defRPr sz="999" b="1" baseline="0"/>
            </a:lvl1pPr>
            <a:lvl2pPr marL="1587" indent="0">
              <a:buNone/>
              <a:defRPr/>
            </a:lvl2pPr>
          </a:lstStyle>
          <a:p>
            <a:pPr lvl="0"/>
            <a:r>
              <a:rPr lang="en-US" dirty="0"/>
              <a:t>Insert URL if needed</a:t>
            </a:r>
          </a:p>
        </p:txBody>
      </p:sp>
      <p:sp>
        <p:nvSpPr>
          <p:cNvPr id="72" name="Textplatzhalter 57343"/>
          <p:cNvSpPr>
            <a:spLocks noGrp="1"/>
          </p:cNvSpPr>
          <p:nvPr userDrawn="1">
            <p:ph type="body" sz="quarter" idx="14" hasCustomPrompt="1"/>
          </p:nvPr>
        </p:nvSpPr>
        <p:spPr>
          <a:xfrm>
            <a:off x="626736" y="5906233"/>
            <a:ext cx="3309550" cy="323925"/>
          </a:xfrm>
        </p:spPr>
        <p:txBody>
          <a:bodyPr lIns="216000" tIns="90000" rIns="0" bIns="46800" anchor="t">
            <a:noAutofit/>
          </a:bodyPr>
          <a:lstStyle>
            <a:lvl1pPr algn="l">
              <a:lnSpc>
                <a:spcPct val="100000"/>
              </a:lnSpc>
              <a:defRPr sz="999" b="1" baseline="0"/>
            </a:lvl1pPr>
            <a:lvl2pPr marL="1587" indent="0">
              <a:buNone/>
              <a:defRPr/>
            </a:lvl2pPr>
          </a:lstStyle>
          <a:p>
            <a:pPr lvl="0"/>
            <a:r>
              <a:rPr lang="en-US" dirty="0"/>
              <a:t>Please insert confidentiality note</a:t>
            </a:r>
          </a:p>
        </p:txBody>
      </p:sp>
      <p:grpSp>
        <p:nvGrpSpPr>
          <p:cNvPr id="52" name="Group 51"/>
          <p:cNvGrpSpPr/>
          <p:nvPr userDrawn="1"/>
        </p:nvGrpSpPr>
        <p:grpSpPr>
          <a:xfrm>
            <a:off x="-215888" y="-215950"/>
            <a:ext cx="12622226" cy="7288312"/>
            <a:chOff x="-216000" y="-216000"/>
            <a:chExt cx="12628800" cy="7290000"/>
          </a:xfrm>
        </p:grpSpPr>
        <p:cxnSp>
          <p:nvCxnSpPr>
            <p:cNvPr id="59" name="Gerade Verbindung 67"/>
            <p:cNvCxnSpPr/>
            <p:nvPr userDrawn="1"/>
          </p:nvCxnSpPr>
          <p:spPr bwMode="auto">
            <a:xfrm>
              <a:off x="627063" y="-216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68"/>
            <p:cNvCxnSpPr/>
            <p:nvPr userDrawn="1"/>
          </p:nvCxnSpPr>
          <p:spPr bwMode="auto">
            <a:xfrm>
              <a:off x="6099175" y="-216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9"/>
            <p:cNvCxnSpPr/>
            <p:nvPr userDrawn="1"/>
          </p:nvCxnSpPr>
          <p:spPr bwMode="auto">
            <a:xfrm>
              <a:off x="6242050" y="-216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71"/>
            <p:cNvCxnSpPr/>
            <p:nvPr userDrawn="1"/>
          </p:nvCxnSpPr>
          <p:spPr bwMode="auto">
            <a:xfrm>
              <a:off x="11715750" y="-216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77"/>
            <p:cNvCxnSpPr/>
            <p:nvPr userDrawn="1"/>
          </p:nvCxnSpPr>
          <p:spPr bwMode="auto">
            <a:xfrm rot="5400000">
              <a:off x="12322800" y="6112363"/>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78"/>
            <p:cNvCxnSpPr/>
            <p:nvPr userDrawn="1"/>
          </p:nvCxnSpPr>
          <p:spPr bwMode="auto">
            <a:xfrm>
              <a:off x="627063" y="6894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79"/>
            <p:cNvCxnSpPr/>
            <p:nvPr userDrawn="1"/>
          </p:nvCxnSpPr>
          <p:spPr bwMode="auto">
            <a:xfrm>
              <a:off x="6099175" y="6894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80"/>
            <p:cNvCxnSpPr/>
            <p:nvPr userDrawn="1"/>
          </p:nvCxnSpPr>
          <p:spPr bwMode="auto">
            <a:xfrm>
              <a:off x="6242050" y="6894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82"/>
            <p:cNvCxnSpPr/>
            <p:nvPr userDrawn="1"/>
          </p:nvCxnSpPr>
          <p:spPr bwMode="auto">
            <a:xfrm>
              <a:off x="11715750" y="689400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8" name="Gerade Verbindung 88"/>
            <p:cNvCxnSpPr/>
            <p:nvPr userDrawn="1"/>
          </p:nvCxnSpPr>
          <p:spPr bwMode="auto">
            <a:xfrm rot="5400000">
              <a:off x="-126000" y="6112363"/>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9" name="Gerade Verbindung 88"/>
            <p:cNvCxnSpPr/>
            <p:nvPr userDrawn="1"/>
          </p:nvCxnSpPr>
          <p:spPr bwMode="auto">
            <a:xfrm rot="5400000">
              <a:off x="-126000" y="6398113"/>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0" name="Gerade Verbindung 77"/>
            <p:cNvCxnSpPr/>
            <p:nvPr userDrawn="1"/>
          </p:nvCxnSpPr>
          <p:spPr bwMode="auto">
            <a:xfrm rot="5400000">
              <a:off x="12322800" y="6398113"/>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1" name="Gerade Verbindung 85"/>
            <p:cNvCxnSpPr/>
            <p:nvPr userDrawn="1"/>
          </p:nvCxnSpPr>
          <p:spPr bwMode="auto">
            <a:xfrm rot="5400000">
              <a:off x="-126000" y="132357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2" name="Gerade Verbindung 74"/>
            <p:cNvCxnSpPr/>
            <p:nvPr userDrawn="1"/>
          </p:nvCxnSpPr>
          <p:spPr bwMode="auto">
            <a:xfrm rot="5400000">
              <a:off x="12322800" y="132357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3" name="Gerade Verbindung 85"/>
            <p:cNvCxnSpPr/>
            <p:nvPr userDrawn="1"/>
          </p:nvCxnSpPr>
          <p:spPr bwMode="auto">
            <a:xfrm rot="5400000">
              <a:off x="-126000" y="168165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4" name="Gerade Verbindung 74"/>
            <p:cNvCxnSpPr/>
            <p:nvPr userDrawn="1"/>
          </p:nvCxnSpPr>
          <p:spPr bwMode="auto">
            <a:xfrm rot="5400000">
              <a:off x="12322800" y="1681650"/>
              <a:ext cx="0" cy="180000"/>
            </a:xfrm>
            <a:prstGeom prst="line">
              <a:avLst/>
            </a:prstGeom>
            <a:solidFill>
              <a:schemeClr val="tx2"/>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55" name="Gruppieren 364"/>
          <p:cNvGrpSpPr/>
          <p:nvPr userDrawn="1"/>
        </p:nvGrpSpPr>
        <p:grpSpPr bwMode="gray">
          <a:xfrm>
            <a:off x="6480044" y="2623926"/>
            <a:ext cx="1284017" cy="456907"/>
            <a:chOff x="7796909" y="2389603"/>
            <a:chExt cx="587850" cy="209121"/>
          </a:xfrm>
          <a:solidFill>
            <a:schemeClr val="bg1">
              <a:alpha val="17000"/>
            </a:schemeClr>
          </a:solidFill>
        </p:grpSpPr>
        <p:grpSp>
          <p:nvGrpSpPr>
            <p:cNvPr id="56" name="Gruppieren 183"/>
            <p:cNvGrpSpPr/>
            <p:nvPr/>
          </p:nvGrpSpPr>
          <p:grpSpPr bwMode="gray">
            <a:xfrm>
              <a:off x="7995446" y="2389603"/>
              <a:ext cx="312922" cy="67118"/>
              <a:chOff x="7698850" y="2186919"/>
              <a:chExt cx="468478" cy="100482"/>
            </a:xfrm>
            <a:grpFill/>
          </p:grpSpPr>
          <p:sp>
            <p:nvSpPr>
              <p:cNvPr id="139" name="Freeform 17"/>
              <p:cNvSpPr>
                <a:spLocks noEditPoints="1"/>
              </p:cNvSpPr>
              <p:nvPr/>
            </p:nvSpPr>
            <p:spPr bwMode="gray">
              <a:xfrm>
                <a:off x="7698850" y="2186919"/>
                <a:ext cx="69163" cy="100482"/>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8"/>
                    </a:cubicBezTo>
                    <a:cubicBezTo>
                      <a:pt x="0" y="6"/>
                      <a:pt x="4" y="0"/>
                      <a:pt x="13" y="0"/>
                    </a:cubicBezTo>
                    <a:cubicBezTo>
                      <a:pt x="22"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0" name="Freeform 18"/>
              <p:cNvSpPr>
                <a:spLocks noEditPoints="1"/>
              </p:cNvSpPr>
              <p:nvPr/>
            </p:nvSpPr>
            <p:spPr bwMode="gray">
              <a:xfrm>
                <a:off x="7781062" y="2186919"/>
                <a:ext cx="66553" cy="100482"/>
              </a:xfrm>
              <a:custGeom>
                <a:avLst/>
                <a:gdLst>
                  <a:gd name="T0" fmla="*/ 25 w 25"/>
                  <a:gd name="T1" fmla="*/ 19 h 38"/>
                  <a:gd name="T2" fmla="*/ 12 w 25"/>
                  <a:gd name="T3" fmla="*/ 38 h 38"/>
                  <a:gd name="T4" fmla="*/ 0 w 25"/>
                  <a:gd name="T5" fmla="*/ 18 h 38"/>
                  <a:gd name="T6" fmla="*/ 12 w 25"/>
                  <a:gd name="T7" fmla="*/ 0 h 38"/>
                  <a:gd name="T8" fmla="*/ 25 w 25"/>
                  <a:gd name="T9" fmla="*/ 19 h 38"/>
                  <a:gd name="T10" fmla="*/ 6 w 25"/>
                  <a:gd name="T11" fmla="*/ 19 h 38"/>
                  <a:gd name="T12" fmla="*/ 12 w 25"/>
                  <a:gd name="T13" fmla="*/ 32 h 38"/>
                  <a:gd name="T14" fmla="*/ 19 w 25"/>
                  <a:gd name="T15" fmla="*/ 19 h 38"/>
                  <a:gd name="T16" fmla="*/ 12 w 25"/>
                  <a:gd name="T17" fmla="*/ 5 h 38"/>
                  <a:gd name="T18" fmla="*/ 6 w 25"/>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8">
                    <a:moveTo>
                      <a:pt x="25" y="19"/>
                    </a:moveTo>
                    <a:cubicBezTo>
                      <a:pt x="25" y="32"/>
                      <a:pt x="21" y="38"/>
                      <a:pt x="12" y="38"/>
                    </a:cubicBezTo>
                    <a:cubicBezTo>
                      <a:pt x="4" y="38"/>
                      <a:pt x="0" y="32"/>
                      <a:pt x="0" y="18"/>
                    </a:cubicBezTo>
                    <a:cubicBezTo>
                      <a:pt x="0" y="6"/>
                      <a:pt x="4" y="0"/>
                      <a:pt x="12" y="0"/>
                    </a:cubicBezTo>
                    <a:cubicBezTo>
                      <a:pt x="21" y="0"/>
                      <a:pt x="25" y="6"/>
                      <a:pt x="25" y="19"/>
                    </a:cubicBezTo>
                    <a:close/>
                    <a:moveTo>
                      <a:pt x="6" y="19"/>
                    </a:moveTo>
                    <a:cubicBezTo>
                      <a:pt x="6" y="28"/>
                      <a:pt x="8" y="32"/>
                      <a:pt x="12" y="32"/>
                    </a:cubicBezTo>
                    <a:cubicBezTo>
                      <a:pt x="17" y="32"/>
                      <a:pt x="19" y="28"/>
                      <a:pt x="19" y="19"/>
                    </a:cubicBezTo>
                    <a:cubicBezTo>
                      <a:pt x="19" y="9"/>
                      <a:pt x="17" y="5"/>
                      <a:pt x="12"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1" name="Freeform 19"/>
              <p:cNvSpPr>
                <a:spLocks/>
              </p:cNvSpPr>
              <p:nvPr/>
            </p:nvSpPr>
            <p:spPr bwMode="gray">
              <a:xfrm>
                <a:off x="7865884" y="2186919"/>
                <a:ext cx="56113" cy="97872"/>
              </a:xfrm>
              <a:custGeom>
                <a:avLst/>
                <a:gdLst>
                  <a:gd name="T0" fmla="*/ 21 w 43"/>
                  <a:gd name="T1" fmla="*/ 14 h 75"/>
                  <a:gd name="T2" fmla="*/ 4 w 43"/>
                  <a:gd name="T3" fmla="*/ 24 h 75"/>
                  <a:gd name="T4" fmla="*/ 0 w 43"/>
                  <a:gd name="T5" fmla="*/ 14 h 75"/>
                  <a:gd name="T6" fmla="*/ 21 w 43"/>
                  <a:gd name="T7" fmla="*/ 0 h 75"/>
                  <a:gd name="T8" fmla="*/ 33 w 43"/>
                  <a:gd name="T9" fmla="*/ 0 h 75"/>
                  <a:gd name="T10" fmla="*/ 33 w 43"/>
                  <a:gd name="T11" fmla="*/ 65 h 75"/>
                  <a:gd name="T12" fmla="*/ 43 w 43"/>
                  <a:gd name="T13" fmla="*/ 67 h 75"/>
                  <a:gd name="T14" fmla="*/ 43 w 43"/>
                  <a:gd name="T15" fmla="*/ 75 h 75"/>
                  <a:gd name="T16" fmla="*/ 11 w 43"/>
                  <a:gd name="T17" fmla="*/ 75 h 75"/>
                  <a:gd name="T18" fmla="*/ 11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4" y="24"/>
                    </a:lnTo>
                    <a:lnTo>
                      <a:pt x="0" y="14"/>
                    </a:lnTo>
                    <a:lnTo>
                      <a:pt x="21" y="0"/>
                    </a:lnTo>
                    <a:lnTo>
                      <a:pt x="33" y="0"/>
                    </a:lnTo>
                    <a:lnTo>
                      <a:pt x="33" y="65"/>
                    </a:lnTo>
                    <a:lnTo>
                      <a:pt x="43" y="67"/>
                    </a:lnTo>
                    <a:lnTo>
                      <a:pt x="43" y="75"/>
                    </a:lnTo>
                    <a:lnTo>
                      <a:pt x="11" y="75"/>
                    </a:lnTo>
                    <a:lnTo>
                      <a:pt x="11"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2" name="Freeform 20"/>
              <p:cNvSpPr>
                <a:spLocks/>
              </p:cNvSpPr>
              <p:nvPr/>
            </p:nvSpPr>
            <p:spPr bwMode="gray">
              <a:xfrm>
                <a:off x="7946791" y="2186919"/>
                <a:ext cx="58723" cy="97872"/>
              </a:xfrm>
              <a:custGeom>
                <a:avLst/>
                <a:gdLst>
                  <a:gd name="T0" fmla="*/ 20 w 45"/>
                  <a:gd name="T1" fmla="*/ 14 h 75"/>
                  <a:gd name="T2" fmla="*/ 6 w 45"/>
                  <a:gd name="T3" fmla="*/ 24 h 75"/>
                  <a:gd name="T4" fmla="*/ 0 w 45"/>
                  <a:gd name="T5" fmla="*/ 14 h 75"/>
                  <a:gd name="T6" fmla="*/ 22 w 45"/>
                  <a:gd name="T7" fmla="*/ 0 h 75"/>
                  <a:gd name="T8" fmla="*/ 34 w 45"/>
                  <a:gd name="T9" fmla="*/ 0 h 75"/>
                  <a:gd name="T10" fmla="*/ 34 w 45"/>
                  <a:gd name="T11" fmla="*/ 65 h 75"/>
                  <a:gd name="T12" fmla="*/ 45 w 45"/>
                  <a:gd name="T13" fmla="*/ 67 h 75"/>
                  <a:gd name="T14" fmla="*/ 45 w 45"/>
                  <a:gd name="T15" fmla="*/ 75 h 75"/>
                  <a:gd name="T16" fmla="*/ 12 w 45"/>
                  <a:gd name="T17" fmla="*/ 75 h 75"/>
                  <a:gd name="T18" fmla="*/ 12 w 45"/>
                  <a:gd name="T19" fmla="*/ 67 h 75"/>
                  <a:gd name="T20" fmla="*/ 20 w 45"/>
                  <a:gd name="T21" fmla="*/ 65 h 75"/>
                  <a:gd name="T22" fmla="*/ 20 w 45"/>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75">
                    <a:moveTo>
                      <a:pt x="20" y="14"/>
                    </a:moveTo>
                    <a:lnTo>
                      <a:pt x="6" y="24"/>
                    </a:lnTo>
                    <a:lnTo>
                      <a:pt x="0" y="14"/>
                    </a:lnTo>
                    <a:lnTo>
                      <a:pt x="22" y="0"/>
                    </a:lnTo>
                    <a:lnTo>
                      <a:pt x="34" y="0"/>
                    </a:lnTo>
                    <a:lnTo>
                      <a:pt x="34" y="65"/>
                    </a:lnTo>
                    <a:lnTo>
                      <a:pt x="45" y="67"/>
                    </a:lnTo>
                    <a:lnTo>
                      <a:pt x="45" y="75"/>
                    </a:lnTo>
                    <a:lnTo>
                      <a:pt x="12" y="75"/>
                    </a:lnTo>
                    <a:lnTo>
                      <a:pt x="12" y="67"/>
                    </a:lnTo>
                    <a:lnTo>
                      <a:pt x="20" y="65"/>
                    </a:lnTo>
                    <a:lnTo>
                      <a:pt x="2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3" name="Freeform 21"/>
              <p:cNvSpPr>
                <a:spLocks noEditPoints="1"/>
              </p:cNvSpPr>
              <p:nvPr/>
            </p:nvSpPr>
            <p:spPr bwMode="gray">
              <a:xfrm>
                <a:off x="8026393" y="2186919"/>
                <a:ext cx="69163" cy="100482"/>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8"/>
                    </a:cubicBezTo>
                    <a:cubicBezTo>
                      <a:pt x="0" y="6"/>
                      <a:pt x="4" y="0"/>
                      <a:pt x="13" y="0"/>
                    </a:cubicBezTo>
                    <a:cubicBezTo>
                      <a:pt x="21"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4" name="Freeform 22"/>
              <p:cNvSpPr>
                <a:spLocks/>
              </p:cNvSpPr>
              <p:nvPr/>
            </p:nvSpPr>
            <p:spPr bwMode="gray">
              <a:xfrm>
                <a:off x="8111215" y="2186919"/>
                <a:ext cx="56113" cy="97872"/>
              </a:xfrm>
              <a:custGeom>
                <a:avLst/>
                <a:gdLst>
                  <a:gd name="T0" fmla="*/ 21 w 43"/>
                  <a:gd name="T1" fmla="*/ 14 h 75"/>
                  <a:gd name="T2" fmla="*/ 6 w 43"/>
                  <a:gd name="T3" fmla="*/ 24 h 75"/>
                  <a:gd name="T4" fmla="*/ 0 w 43"/>
                  <a:gd name="T5" fmla="*/ 14 h 75"/>
                  <a:gd name="T6" fmla="*/ 23 w 43"/>
                  <a:gd name="T7" fmla="*/ 0 h 75"/>
                  <a:gd name="T8" fmla="*/ 33 w 43"/>
                  <a:gd name="T9" fmla="*/ 0 h 75"/>
                  <a:gd name="T10" fmla="*/ 33 w 43"/>
                  <a:gd name="T11" fmla="*/ 65 h 75"/>
                  <a:gd name="T12" fmla="*/ 43 w 43"/>
                  <a:gd name="T13" fmla="*/ 67 h 75"/>
                  <a:gd name="T14" fmla="*/ 43 w 43"/>
                  <a:gd name="T15" fmla="*/ 75 h 75"/>
                  <a:gd name="T16" fmla="*/ 10 w 43"/>
                  <a:gd name="T17" fmla="*/ 75 h 75"/>
                  <a:gd name="T18" fmla="*/ 10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6" y="24"/>
                    </a:lnTo>
                    <a:lnTo>
                      <a:pt x="0" y="14"/>
                    </a:lnTo>
                    <a:lnTo>
                      <a:pt x="23" y="0"/>
                    </a:lnTo>
                    <a:lnTo>
                      <a:pt x="33" y="0"/>
                    </a:lnTo>
                    <a:lnTo>
                      <a:pt x="33" y="65"/>
                    </a:lnTo>
                    <a:lnTo>
                      <a:pt x="43" y="67"/>
                    </a:lnTo>
                    <a:lnTo>
                      <a:pt x="43" y="75"/>
                    </a:lnTo>
                    <a:lnTo>
                      <a:pt x="10" y="75"/>
                    </a:lnTo>
                    <a:lnTo>
                      <a:pt x="10"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57" name="Gruppieren 184"/>
            <p:cNvGrpSpPr/>
            <p:nvPr/>
          </p:nvGrpSpPr>
          <p:grpSpPr bwMode="gray">
            <a:xfrm>
              <a:off x="7905026" y="2482125"/>
              <a:ext cx="479733" cy="45598"/>
              <a:chOff x="7474397" y="2327854"/>
              <a:chExt cx="793600" cy="75431"/>
            </a:xfrm>
            <a:grpFill/>
          </p:grpSpPr>
          <p:grpSp>
            <p:nvGrpSpPr>
              <p:cNvPr id="123" name="Gruppieren 386"/>
              <p:cNvGrpSpPr/>
              <p:nvPr/>
            </p:nvGrpSpPr>
            <p:grpSpPr bwMode="gray">
              <a:xfrm>
                <a:off x="7474397" y="2327854"/>
                <a:ext cx="297805" cy="75431"/>
                <a:chOff x="7474397" y="2327854"/>
                <a:chExt cx="396707" cy="100482"/>
              </a:xfrm>
              <a:grpFill/>
            </p:grpSpPr>
            <p:sp>
              <p:nvSpPr>
                <p:cNvPr id="134"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5"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6"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7"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8"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124" name="Gruppieren 387"/>
              <p:cNvGrpSpPr/>
              <p:nvPr/>
            </p:nvGrpSpPr>
            <p:grpSpPr bwMode="gray">
              <a:xfrm>
                <a:off x="7786958" y="2327854"/>
                <a:ext cx="297805" cy="75431"/>
                <a:chOff x="7474397" y="2327854"/>
                <a:chExt cx="396707" cy="100482"/>
              </a:xfrm>
              <a:grpFill/>
            </p:grpSpPr>
            <p:sp>
              <p:nvSpPr>
                <p:cNvPr id="129"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0"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1"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2"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33"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125" name="Gruppieren 206"/>
              <p:cNvGrpSpPr/>
              <p:nvPr/>
            </p:nvGrpSpPr>
            <p:grpSpPr bwMode="gray">
              <a:xfrm>
                <a:off x="8099503" y="2327854"/>
                <a:ext cx="168494" cy="75431"/>
                <a:chOff x="7474397" y="2327854"/>
                <a:chExt cx="224452" cy="100482"/>
              </a:xfrm>
              <a:grpFill/>
            </p:grpSpPr>
            <p:sp>
              <p:nvSpPr>
                <p:cNvPr id="126"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27"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28"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grpSp>
          <p:nvGrpSpPr>
            <p:cNvPr id="58" name="Gruppieren 185"/>
            <p:cNvGrpSpPr/>
            <p:nvPr/>
          </p:nvGrpSpPr>
          <p:grpSpPr bwMode="gray">
            <a:xfrm>
              <a:off x="7796909" y="2553126"/>
              <a:ext cx="557910" cy="45598"/>
              <a:chOff x="7474397" y="2327854"/>
              <a:chExt cx="922926" cy="75431"/>
            </a:xfrm>
            <a:grpFill/>
          </p:grpSpPr>
          <p:grpSp>
            <p:nvGrpSpPr>
              <p:cNvPr id="105" name="Gruppieren 186"/>
              <p:cNvGrpSpPr/>
              <p:nvPr/>
            </p:nvGrpSpPr>
            <p:grpSpPr bwMode="gray">
              <a:xfrm>
                <a:off x="7474397" y="2327854"/>
                <a:ext cx="297805" cy="75431"/>
                <a:chOff x="7474397" y="2327854"/>
                <a:chExt cx="396707" cy="100482"/>
              </a:xfrm>
              <a:grpFill/>
            </p:grpSpPr>
            <p:sp>
              <p:nvSpPr>
                <p:cNvPr id="118"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9"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20"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21"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22"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106" name="Gruppieren 187"/>
              <p:cNvGrpSpPr/>
              <p:nvPr/>
            </p:nvGrpSpPr>
            <p:grpSpPr bwMode="gray">
              <a:xfrm>
                <a:off x="7786958" y="2327854"/>
                <a:ext cx="297805" cy="75431"/>
                <a:chOff x="7474397" y="2327854"/>
                <a:chExt cx="396707" cy="100482"/>
              </a:xfrm>
              <a:grpFill/>
            </p:grpSpPr>
            <p:sp>
              <p:nvSpPr>
                <p:cNvPr id="113"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4"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5"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6"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7"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107" name="Gruppieren 188"/>
              <p:cNvGrpSpPr/>
              <p:nvPr/>
            </p:nvGrpSpPr>
            <p:grpSpPr bwMode="gray">
              <a:xfrm>
                <a:off x="8099518" y="2327854"/>
                <a:ext cx="297805" cy="75431"/>
                <a:chOff x="7474397" y="2327854"/>
                <a:chExt cx="396707" cy="100482"/>
              </a:xfrm>
              <a:grpFill/>
            </p:grpSpPr>
            <p:sp>
              <p:nvSpPr>
                <p:cNvPr id="108"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09"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0"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1"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12"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grpSp>
      <p:grpSp>
        <p:nvGrpSpPr>
          <p:cNvPr id="145" name="Gruppieren 408"/>
          <p:cNvGrpSpPr/>
          <p:nvPr userDrawn="1"/>
        </p:nvGrpSpPr>
        <p:grpSpPr bwMode="gray">
          <a:xfrm>
            <a:off x="5708554" y="3866552"/>
            <a:ext cx="1284017" cy="456907"/>
            <a:chOff x="4704524" y="3902038"/>
            <a:chExt cx="1284686" cy="457013"/>
          </a:xfrm>
          <a:solidFill>
            <a:schemeClr val="bg1">
              <a:alpha val="33000"/>
            </a:schemeClr>
          </a:solidFill>
        </p:grpSpPr>
        <p:sp>
          <p:nvSpPr>
            <p:cNvPr id="146" name="Freeform 17"/>
            <p:cNvSpPr>
              <a:spLocks noEditPoints="1"/>
            </p:cNvSpPr>
            <p:nvPr/>
          </p:nvSpPr>
          <p:spPr bwMode="gray">
            <a:xfrm>
              <a:off x="5454368" y="3902038"/>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8"/>
                  </a:cubicBezTo>
                  <a:cubicBezTo>
                    <a:pt x="0" y="6"/>
                    <a:pt x="4" y="0"/>
                    <a:pt x="13" y="0"/>
                  </a:cubicBezTo>
                  <a:cubicBezTo>
                    <a:pt x="22"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7" name="Freeform 18"/>
            <p:cNvSpPr>
              <a:spLocks noEditPoints="1"/>
            </p:cNvSpPr>
            <p:nvPr/>
          </p:nvSpPr>
          <p:spPr bwMode="gray">
            <a:xfrm>
              <a:off x="5338169" y="3902038"/>
              <a:ext cx="97150" cy="146680"/>
            </a:xfrm>
            <a:custGeom>
              <a:avLst/>
              <a:gdLst>
                <a:gd name="T0" fmla="*/ 25 w 25"/>
                <a:gd name="T1" fmla="*/ 19 h 38"/>
                <a:gd name="T2" fmla="*/ 12 w 25"/>
                <a:gd name="T3" fmla="*/ 38 h 38"/>
                <a:gd name="T4" fmla="*/ 0 w 25"/>
                <a:gd name="T5" fmla="*/ 18 h 38"/>
                <a:gd name="T6" fmla="*/ 12 w 25"/>
                <a:gd name="T7" fmla="*/ 0 h 38"/>
                <a:gd name="T8" fmla="*/ 25 w 25"/>
                <a:gd name="T9" fmla="*/ 19 h 38"/>
                <a:gd name="T10" fmla="*/ 6 w 25"/>
                <a:gd name="T11" fmla="*/ 19 h 38"/>
                <a:gd name="T12" fmla="*/ 12 w 25"/>
                <a:gd name="T13" fmla="*/ 32 h 38"/>
                <a:gd name="T14" fmla="*/ 19 w 25"/>
                <a:gd name="T15" fmla="*/ 19 h 38"/>
                <a:gd name="T16" fmla="*/ 12 w 25"/>
                <a:gd name="T17" fmla="*/ 5 h 38"/>
                <a:gd name="T18" fmla="*/ 6 w 25"/>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8">
                  <a:moveTo>
                    <a:pt x="25" y="19"/>
                  </a:moveTo>
                  <a:cubicBezTo>
                    <a:pt x="25" y="32"/>
                    <a:pt x="21" y="38"/>
                    <a:pt x="12" y="38"/>
                  </a:cubicBezTo>
                  <a:cubicBezTo>
                    <a:pt x="4" y="38"/>
                    <a:pt x="0" y="32"/>
                    <a:pt x="0" y="18"/>
                  </a:cubicBezTo>
                  <a:cubicBezTo>
                    <a:pt x="0" y="6"/>
                    <a:pt x="4" y="0"/>
                    <a:pt x="12" y="0"/>
                  </a:cubicBezTo>
                  <a:cubicBezTo>
                    <a:pt x="21" y="0"/>
                    <a:pt x="25" y="6"/>
                    <a:pt x="25" y="19"/>
                  </a:cubicBezTo>
                  <a:close/>
                  <a:moveTo>
                    <a:pt x="6" y="19"/>
                  </a:moveTo>
                  <a:cubicBezTo>
                    <a:pt x="6" y="28"/>
                    <a:pt x="8" y="32"/>
                    <a:pt x="12" y="32"/>
                  </a:cubicBezTo>
                  <a:cubicBezTo>
                    <a:pt x="17" y="32"/>
                    <a:pt x="19" y="28"/>
                    <a:pt x="19" y="19"/>
                  </a:cubicBezTo>
                  <a:cubicBezTo>
                    <a:pt x="19" y="9"/>
                    <a:pt x="17" y="5"/>
                    <a:pt x="12"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8" name="Freeform 19"/>
            <p:cNvSpPr>
              <a:spLocks/>
            </p:cNvSpPr>
            <p:nvPr/>
          </p:nvSpPr>
          <p:spPr bwMode="gray">
            <a:xfrm>
              <a:off x="5229590" y="3902038"/>
              <a:ext cx="81911" cy="142870"/>
            </a:xfrm>
            <a:custGeom>
              <a:avLst/>
              <a:gdLst>
                <a:gd name="T0" fmla="*/ 21 w 43"/>
                <a:gd name="T1" fmla="*/ 14 h 75"/>
                <a:gd name="T2" fmla="*/ 4 w 43"/>
                <a:gd name="T3" fmla="*/ 24 h 75"/>
                <a:gd name="T4" fmla="*/ 0 w 43"/>
                <a:gd name="T5" fmla="*/ 14 h 75"/>
                <a:gd name="T6" fmla="*/ 21 w 43"/>
                <a:gd name="T7" fmla="*/ 0 h 75"/>
                <a:gd name="T8" fmla="*/ 33 w 43"/>
                <a:gd name="T9" fmla="*/ 0 h 75"/>
                <a:gd name="T10" fmla="*/ 33 w 43"/>
                <a:gd name="T11" fmla="*/ 65 h 75"/>
                <a:gd name="T12" fmla="*/ 43 w 43"/>
                <a:gd name="T13" fmla="*/ 67 h 75"/>
                <a:gd name="T14" fmla="*/ 43 w 43"/>
                <a:gd name="T15" fmla="*/ 75 h 75"/>
                <a:gd name="T16" fmla="*/ 11 w 43"/>
                <a:gd name="T17" fmla="*/ 75 h 75"/>
                <a:gd name="T18" fmla="*/ 11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4" y="24"/>
                  </a:lnTo>
                  <a:lnTo>
                    <a:pt x="0" y="14"/>
                  </a:lnTo>
                  <a:lnTo>
                    <a:pt x="21" y="0"/>
                  </a:lnTo>
                  <a:lnTo>
                    <a:pt x="33" y="0"/>
                  </a:lnTo>
                  <a:lnTo>
                    <a:pt x="33" y="65"/>
                  </a:lnTo>
                  <a:lnTo>
                    <a:pt x="43" y="67"/>
                  </a:lnTo>
                  <a:lnTo>
                    <a:pt x="43" y="75"/>
                  </a:lnTo>
                  <a:lnTo>
                    <a:pt x="11" y="75"/>
                  </a:lnTo>
                  <a:lnTo>
                    <a:pt x="11"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49" name="Freeform 20"/>
            <p:cNvSpPr>
              <a:spLocks/>
            </p:cNvSpPr>
            <p:nvPr/>
          </p:nvSpPr>
          <p:spPr bwMode="gray">
            <a:xfrm>
              <a:off x="5107676" y="3902038"/>
              <a:ext cx="85721" cy="142870"/>
            </a:xfrm>
            <a:custGeom>
              <a:avLst/>
              <a:gdLst>
                <a:gd name="T0" fmla="*/ 20 w 45"/>
                <a:gd name="T1" fmla="*/ 14 h 75"/>
                <a:gd name="T2" fmla="*/ 6 w 45"/>
                <a:gd name="T3" fmla="*/ 24 h 75"/>
                <a:gd name="T4" fmla="*/ 0 w 45"/>
                <a:gd name="T5" fmla="*/ 14 h 75"/>
                <a:gd name="T6" fmla="*/ 22 w 45"/>
                <a:gd name="T7" fmla="*/ 0 h 75"/>
                <a:gd name="T8" fmla="*/ 34 w 45"/>
                <a:gd name="T9" fmla="*/ 0 h 75"/>
                <a:gd name="T10" fmla="*/ 34 w 45"/>
                <a:gd name="T11" fmla="*/ 65 h 75"/>
                <a:gd name="T12" fmla="*/ 45 w 45"/>
                <a:gd name="T13" fmla="*/ 67 h 75"/>
                <a:gd name="T14" fmla="*/ 45 w 45"/>
                <a:gd name="T15" fmla="*/ 75 h 75"/>
                <a:gd name="T16" fmla="*/ 12 w 45"/>
                <a:gd name="T17" fmla="*/ 75 h 75"/>
                <a:gd name="T18" fmla="*/ 12 w 45"/>
                <a:gd name="T19" fmla="*/ 67 h 75"/>
                <a:gd name="T20" fmla="*/ 20 w 45"/>
                <a:gd name="T21" fmla="*/ 65 h 75"/>
                <a:gd name="T22" fmla="*/ 20 w 45"/>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75">
                  <a:moveTo>
                    <a:pt x="20" y="14"/>
                  </a:moveTo>
                  <a:lnTo>
                    <a:pt x="6" y="24"/>
                  </a:lnTo>
                  <a:lnTo>
                    <a:pt x="0" y="14"/>
                  </a:lnTo>
                  <a:lnTo>
                    <a:pt x="22" y="0"/>
                  </a:lnTo>
                  <a:lnTo>
                    <a:pt x="34" y="0"/>
                  </a:lnTo>
                  <a:lnTo>
                    <a:pt x="34" y="65"/>
                  </a:lnTo>
                  <a:lnTo>
                    <a:pt x="45" y="67"/>
                  </a:lnTo>
                  <a:lnTo>
                    <a:pt x="45" y="75"/>
                  </a:lnTo>
                  <a:lnTo>
                    <a:pt x="12" y="75"/>
                  </a:lnTo>
                  <a:lnTo>
                    <a:pt x="12" y="67"/>
                  </a:lnTo>
                  <a:lnTo>
                    <a:pt x="20" y="65"/>
                  </a:lnTo>
                  <a:lnTo>
                    <a:pt x="2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0" name="Freeform 21"/>
            <p:cNvSpPr>
              <a:spLocks noEditPoints="1"/>
            </p:cNvSpPr>
            <p:nvPr/>
          </p:nvSpPr>
          <p:spPr bwMode="gray">
            <a:xfrm>
              <a:off x="4976238" y="3902038"/>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8"/>
                  </a:cubicBezTo>
                  <a:cubicBezTo>
                    <a:pt x="0" y="6"/>
                    <a:pt x="4" y="0"/>
                    <a:pt x="13" y="0"/>
                  </a:cubicBezTo>
                  <a:cubicBezTo>
                    <a:pt x="21"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1" name="Freeform 22"/>
            <p:cNvSpPr>
              <a:spLocks/>
            </p:cNvSpPr>
            <p:nvPr/>
          </p:nvSpPr>
          <p:spPr bwMode="gray">
            <a:xfrm>
              <a:off x="4871469" y="3902038"/>
              <a:ext cx="81911" cy="142870"/>
            </a:xfrm>
            <a:custGeom>
              <a:avLst/>
              <a:gdLst>
                <a:gd name="T0" fmla="*/ 21 w 43"/>
                <a:gd name="T1" fmla="*/ 14 h 75"/>
                <a:gd name="T2" fmla="*/ 6 w 43"/>
                <a:gd name="T3" fmla="*/ 24 h 75"/>
                <a:gd name="T4" fmla="*/ 0 w 43"/>
                <a:gd name="T5" fmla="*/ 14 h 75"/>
                <a:gd name="T6" fmla="*/ 23 w 43"/>
                <a:gd name="T7" fmla="*/ 0 h 75"/>
                <a:gd name="T8" fmla="*/ 33 w 43"/>
                <a:gd name="T9" fmla="*/ 0 h 75"/>
                <a:gd name="T10" fmla="*/ 33 w 43"/>
                <a:gd name="T11" fmla="*/ 65 h 75"/>
                <a:gd name="T12" fmla="*/ 43 w 43"/>
                <a:gd name="T13" fmla="*/ 67 h 75"/>
                <a:gd name="T14" fmla="*/ 43 w 43"/>
                <a:gd name="T15" fmla="*/ 75 h 75"/>
                <a:gd name="T16" fmla="*/ 10 w 43"/>
                <a:gd name="T17" fmla="*/ 75 h 75"/>
                <a:gd name="T18" fmla="*/ 10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6" y="24"/>
                  </a:lnTo>
                  <a:lnTo>
                    <a:pt x="0" y="14"/>
                  </a:lnTo>
                  <a:lnTo>
                    <a:pt x="23" y="0"/>
                  </a:lnTo>
                  <a:lnTo>
                    <a:pt x="33" y="0"/>
                  </a:lnTo>
                  <a:lnTo>
                    <a:pt x="33" y="65"/>
                  </a:lnTo>
                  <a:lnTo>
                    <a:pt x="43" y="67"/>
                  </a:lnTo>
                  <a:lnTo>
                    <a:pt x="43" y="75"/>
                  </a:lnTo>
                  <a:lnTo>
                    <a:pt x="10" y="75"/>
                  </a:lnTo>
                  <a:lnTo>
                    <a:pt x="10"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2" name="Freeform 24"/>
            <p:cNvSpPr>
              <a:spLocks noEditPoints="1"/>
            </p:cNvSpPr>
            <p:nvPr/>
          </p:nvSpPr>
          <p:spPr bwMode="gray">
            <a:xfrm>
              <a:off x="5684341"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3" name="Freeform 25"/>
            <p:cNvSpPr>
              <a:spLocks/>
            </p:cNvSpPr>
            <p:nvPr/>
          </p:nvSpPr>
          <p:spPr bwMode="gray">
            <a:xfrm>
              <a:off x="5613163" y="4106824"/>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4" name="Freeform 26"/>
            <p:cNvSpPr>
              <a:spLocks/>
            </p:cNvSpPr>
            <p:nvPr/>
          </p:nvSpPr>
          <p:spPr bwMode="gray">
            <a:xfrm>
              <a:off x="5530337" y="4106824"/>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5" name="Freeform 27"/>
            <p:cNvSpPr>
              <a:spLocks noEditPoints="1"/>
            </p:cNvSpPr>
            <p:nvPr/>
          </p:nvSpPr>
          <p:spPr bwMode="gray">
            <a:xfrm>
              <a:off x="5441040"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6" name="Freeform 28"/>
            <p:cNvSpPr>
              <a:spLocks noEditPoints="1"/>
            </p:cNvSpPr>
            <p:nvPr/>
          </p:nvSpPr>
          <p:spPr bwMode="gray">
            <a:xfrm>
              <a:off x="5359508"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7" name="Freeform 24"/>
            <p:cNvSpPr>
              <a:spLocks noEditPoints="1"/>
            </p:cNvSpPr>
            <p:nvPr/>
          </p:nvSpPr>
          <p:spPr bwMode="gray">
            <a:xfrm>
              <a:off x="5271423"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8" name="Freeform 25"/>
            <p:cNvSpPr>
              <a:spLocks/>
            </p:cNvSpPr>
            <p:nvPr/>
          </p:nvSpPr>
          <p:spPr bwMode="gray">
            <a:xfrm>
              <a:off x="5200245" y="4106824"/>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59" name="Freeform 26"/>
            <p:cNvSpPr>
              <a:spLocks/>
            </p:cNvSpPr>
            <p:nvPr/>
          </p:nvSpPr>
          <p:spPr bwMode="gray">
            <a:xfrm>
              <a:off x="5117419" y="4106824"/>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0" name="Freeform 27"/>
            <p:cNvSpPr>
              <a:spLocks noEditPoints="1"/>
            </p:cNvSpPr>
            <p:nvPr/>
          </p:nvSpPr>
          <p:spPr bwMode="gray">
            <a:xfrm>
              <a:off x="5028122"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1" name="Freeform 28"/>
            <p:cNvSpPr>
              <a:spLocks noEditPoints="1"/>
            </p:cNvSpPr>
            <p:nvPr/>
          </p:nvSpPr>
          <p:spPr bwMode="gray">
            <a:xfrm>
              <a:off x="4946590"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2" name="Freeform 24"/>
            <p:cNvSpPr>
              <a:spLocks noEditPoints="1"/>
            </p:cNvSpPr>
            <p:nvPr/>
          </p:nvSpPr>
          <p:spPr bwMode="gray">
            <a:xfrm>
              <a:off x="4858528" y="4104236"/>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3" name="Freeform 25"/>
            <p:cNvSpPr>
              <a:spLocks/>
            </p:cNvSpPr>
            <p:nvPr/>
          </p:nvSpPr>
          <p:spPr bwMode="gray">
            <a:xfrm>
              <a:off x="4787350" y="4106824"/>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4" name="Freeform 26"/>
            <p:cNvSpPr>
              <a:spLocks/>
            </p:cNvSpPr>
            <p:nvPr/>
          </p:nvSpPr>
          <p:spPr bwMode="gray">
            <a:xfrm>
              <a:off x="4704524" y="4106824"/>
              <a:ext cx="55649"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5" name="Freeform 24"/>
            <p:cNvSpPr>
              <a:spLocks noEditPoints="1"/>
            </p:cNvSpPr>
            <p:nvPr/>
          </p:nvSpPr>
          <p:spPr bwMode="gray">
            <a:xfrm>
              <a:off x="5920620"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6" name="Freeform 25"/>
            <p:cNvSpPr>
              <a:spLocks/>
            </p:cNvSpPr>
            <p:nvPr/>
          </p:nvSpPr>
          <p:spPr bwMode="gray">
            <a:xfrm>
              <a:off x="5849442" y="4261989"/>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7" name="Freeform 26"/>
            <p:cNvSpPr>
              <a:spLocks/>
            </p:cNvSpPr>
            <p:nvPr/>
          </p:nvSpPr>
          <p:spPr bwMode="gray">
            <a:xfrm>
              <a:off x="5766616" y="4261989"/>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8" name="Freeform 27"/>
            <p:cNvSpPr>
              <a:spLocks noEditPoints="1"/>
            </p:cNvSpPr>
            <p:nvPr/>
          </p:nvSpPr>
          <p:spPr bwMode="gray">
            <a:xfrm>
              <a:off x="5677319"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69" name="Freeform 28"/>
            <p:cNvSpPr>
              <a:spLocks noEditPoints="1"/>
            </p:cNvSpPr>
            <p:nvPr/>
          </p:nvSpPr>
          <p:spPr bwMode="gray">
            <a:xfrm>
              <a:off x="5595787"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0" name="Freeform 24"/>
            <p:cNvSpPr>
              <a:spLocks noEditPoints="1"/>
            </p:cNvSpPr>
            <p:nvPr/>
          </p:nvSpPr>
          <p:spPr bwMode="gray">
            <a:xfrm>
              <a:off x="5507703"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1" name="Freeform 25"/>
            <p:cNvSpPr>
              <a:spLocks/>
            </p:cNvSpPr>
            <p:nvPr/>
          </p:nvSpPr>
          <p:spPr bwMode="gray">
            <a:xfrm>
              <a:off x="5436525" y="4261989"/>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2" name="Freeform 26"/>
            <p:cNvSpPr>
              <a:spLocks/>
            </p:cNvSpPr>
            <p:nvPr/>
          </p:nvSpPr>
          <p:spPr bwMode="gray">
            <a:xfrm>
              <a:off x="5353699" y="4261989"/>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3" name="Freeform 27"/>
            <p:cNvSpPr>
              <a:spLocks noEditPoints="1"/>
            </p:cNvSpPr>
            <p:nvPr/>
          </p:nvSpPr>
          <p:spPr bwMode="gray">
            <a:xfrm>
              <a:off x="5264402"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4" name="Freeform 28"/>
            <p:cNvSpPr>
              <a:spLocks noEditPoints="1"/>
            </p:cNvSpPr>
            <p:nvPr/>
          </p:nvSpPr>
          <p:spPr bwMode="gray">
            <a:xfrm>
              <a:off x="5182870" y="4259401"/>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175" name="Gruppieren 438"/>
          <p:cNvGrpSpPr/>
          <p:nvPr userDrawn="1"/>
        </p:nvGrpSpPr>
        <p:grpSpPr bwMode="gray">
          <a:xfrm>
            <a:off x="5271872" y="5308114"/>
            <a:ext cx="1218620" cy="456907"/>
            <a:chOff x="4824044" y="4857515"/>
            <a:chExt cx="1219255" cy="457013"/>
          </a:xfrm>
          <a:solidFill>
            <a:schemeClr val="bg1">
              <a:alpha val="33000"/>
            </a:schemeClr>
          </a:solidFill>
        </p:grpSpPr>
        <p:sp>
          <p:nvSpPr>
            <p:cNvPr id="176" name="Freeform 17"/>
            <p:cNvSpPr>
              <a:spLocks noEditPoints="1"/>
            </p:cNvSpPr>
            <p:nvPr/>
          </p:nvSpPr>
          <p:spPr bwMode="gray">
            <a:xfrm>
              <a:off x="5508457" y="4857515"/>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8"/>
                  </a:cubicBezTo>
                  <a:cubicBezTo>
                    <a:pt x="0" y="6"/>
                    <a:pt x="4" y="0"/>
                    <a:pt x="13" y="0"/>
                  </a:cubicBezTo>
                  <a:cubicBezTo>
                    <a:pt x="22"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7" name="Freeform 18"/>
            <p:cNvSpPr>
              <a:spLocks noEditPoints="1"/>
            </p:cNvSpPr>
            <p:nvPr/>
          </p:nvSpPr>
          <p:spPr bwMode="gray">
            <a:xfrm>
              <a:off x="5392258" y="4857515"/>
              <a:ext cx="97150" cy="146680"/>
            </a:xfrm>
            <a:custGeom>
              <a:avLst/>
              <a:gdLst>
                <a:gd name="T0" fmla="*/ 25 w 25"/>
                <a:gd name="T1" fmla="*/ 19 h 38"/>
                <a:gd name="T2" fmla="*/ 12 w 25"/>
                <a:gd name="T3" fmla="*/ 38 h 38"/>
                <a:gd name="T4" fmla="*/ 0 w 25"/>
                <a:gd name="T5" fmla="*/ 18 h 38"/>
                <a:gd name="T6" fmla="*/ 12 w 25"/>
                <a:gd name="T7" fmla="*/ 0 h 38"/>
                <a:gd name="T8" fmla="*/ 25 w 25"/>
                <a:gd name="T9" fmla="*/ 19 h 38"/>
                <a:gd name="T10" fmla="*/ 6 w 25"/>
                <a:gd name="T11" fmla="*/ 19 h 38"/>
                <a:gd name="T12" fmla="*/ 12 w 25"/>
                <a:gd name="T13" fmla="*/ 32 h 38"/>
                <a:gd name="T14" fmla="*/ 19 w 25"/>
                <a:gd name="T15" fmla="*/ 19 h 38"/>
                <a:gd name="T16" fmla="*/ 12 w 25"/>
                <a:gd name="T17" fmla="*/ 5 h 38"/>
                <a:gd name="T18" fmla="*/ 6 w 25"/>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8">
                  <a:moveTo>
                    <a:pt x="25" y="19"/>
                  </a:moveTo>
                  <a:cubicBezTo>
                    <a:pt x="25" y="32"/>
                    <a:pt x="21" y="38"/>
                    <a:pt x="12" y="38"/>
                  </a:cubicBezTo>
                  <a:cubicBezTo>
                    <a:pt x="4" y="38"/>
                    <a:pt x="0" y="32"/>
                    <a:pt x="0" y="18"/>
                  </a:cubicBezTo>
                  <a:cubicBezTo>
                    <a:pt x="0" y="6"/>
                    <a:pt x="4" y="0"/>
                    <a:pt x="12" y="0"/>
                  </a:cubicBezTo>
                  <a:cubicBezTo>
                    <a:pt x="21" y="0"/>
                    <a:pt x="25" y="6"/>
                    <a:pt x="25" y="19"/>
                  </a:cubicBezTo>
                  <a:close/>
                  <a:moveTo>
                    <a:pt x="6" y="19"/>
                  </a:moveTo>
                  <a:cubicBezTo>
                    <a:pt x="6" y="28"/>
                    <a:pt x="8" y="32"/>
                    <a:pt x="12" y="32"/>
                  </a:cubicBezTo>
                  <a:cubicBezTo>
                    <a:pt x="17" y="32"/>
                    <a:pt x="19" y="28"/>
                    <a:pt x="19" y="19"/>
                  </a:cubicBezTo>
                  <a:cubicBezTo>
                    <a:pt x="19" y="9"/>
                    <a:pt x="17" y="5"/>
                    <a:pt x="12"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8" name="Freeform 19"/>
            <p:cNvSpPr>
              <a:spLocks/>
            </p:cNvSpPr>
            <p:nvPr/>
          </p:nvSpPr>
          <p:spPr bwMode="gray">
            <a:xfrm>
              <a:off x="5283679" y="4857515"/>
              <a:ext cx="81911" cy="142870"/>
            </a:xfrm>
            <a:custGeom>
              <a:avLst/>
              <a:gdLst>
                <a:gd name="T0" fmla="*/ 21 w 43"/>
                <a:gd name="T1" fmla="*/ 14 h 75"/>
                <a:gd name="T2" fmla="*/ 4 w 43"/>
                <a:gd name="T3" fmla="*/ 24 h 75"/>
                <a:gd name="T4" fmla="*/ 0 w 43"/>
                <a:gd name="T5" fmla="*/ 14 h 75"/>
                <a:gd name="T6" fmla="*/ 21 w 43"/>
                <a:gd name="T7" fmla="*/ 0 h 75"/>
                <a:gd name="T8" fmla="*/ 33 w 43"/>
                <a:gd name="T9" fmla="*/ 0 h 75"/>
                <a:gd name="T10" fmla="*/ 33 w 43"/>
                <a:gd name="T11" fmla="*/ 65 h 75"/>
                <a:gd name="T12" fmla="*/ 43 w 43"/>
                <a:gd name="T13" fmla="*/ 67 h 75"/>
                <a:gd name="T14" fmla="*/ 43 w 43"/>
                <a:gd name="T15" fmla="*/ 75 h 75"/>
                <a:gd name="T16" fmla="*/ 11 w 43"/>
                <a:gd name="T17" fmla="*/ 75 h 75"/>
                <a:gd name="T18" fmla="*/ 11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4" y="24"/>
                  </a:lnTo>
                  <a:lnTo>
                    <a:pt x="0" y="14"/>
                  </a:lnTo>
                  <a:lnTo>
                    <a:pt x="21" y="0"/>
                  </a:lnTo>
                  <a:lnTo>
                    <a:pt x="33" y="0"/>
                  </a:lnTo>
                  <a:lnTo>
                    <a:pt x="33" y="65"/>
                  </a:lnTo>
                  <a:lnTo>
                    <a:pt x="43" y="67"/>
                  </a:lnTo>
                  <a:lnTo>
                    <a:pt x="43" y="75"/>
                  </a:lnTo>
                  <a:lnTo>
                    <a:pt x="11" y="75"/>
                  </a:lnTo>
                  <a:lnTo>
                    <a:pt x="11"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79" name="Freeform 20"/>
            <p:cNvSpPr>
              <a:spLocks/>
            </p:cNvSpPr>
            <p:nvPr/>
          </p:nvSpPr>
          <p:spPr bwMode="gray">
            <a:xfrm>
              <a:off x="5161765" y="4857515"/>
              <a:ext cx="85721" cy="142870"/>
            </a:xfrm>
            <a:custGeom>
              <a:avLst/>
              <a:gdLst>
                <a:gd name="T0" fmla="*/ 20 w 45"/>
                <a:gd name="T1" fmla="*/ 14 h 75"/>
                <a:gd name="T2" fmla="*/ 6 w 45"/>
                <a:gd name="T3" fmla="*/ 24 h 75"/>
                <a:gd name="T4" fmla="*/ 0 w 45"/>
                <a:gd name="T5" fmla="*/ 14 h 75"/>
                <a:gd name="T6" fmla="*/ 22 w 45"/>
                <a:gd name="T7" fmla="*/ 0 h 75"/>
                <a:gd name="T8" fmla="*/ 34 w 45"/>
                <a:gd name="T9" fmla="*/ 0 h 75"/>
                <a:gd name="T10" fmla="*/ 34 w 45"/>
                <a:gd name="T11" fmla="*/ 65 h 75"/>
                <a:gd name="T12" fmla="*/ 45 w 45"/>
                <a:gd name="T13" fmla="*/ 67 h 75"/>
                <a:gd name="T14" fmla="*/ 45 w 45"/>
                <a:gd name="T15" fmla="*/ 75 h 75"/>
                <a:gd name="T16" fmla="*/ 12 w 45"/>
                <a:gd name="T17" fmla="*/ 75 h 75"/>
                <a:gd name="T18" fmla="*/ 12 w 45"/>
                <a:gd name="T19" fmla="*/ 67 h 75"/>
                <a:gd name="T20" fmla="*/ 20 w 45"/>
                <a:gd name="T21" fmla="*/ 65 h 75"/>
                <a:gd name="T22" fmla="*/ 20 w 45"/>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75">
                  <a:moveTo>
                    <a:pt x="20" y="14"/>
                  </a:moveTo>
                  <a:lnTo>
                    <a:pt x="6" y="24"/>
                  </a:lnTo>
                  <a:lnTo>
                    <a:pt x="0" y="14"/>
                  </a:lnTo>
                  <a:lnTo>
                    <a:pt x="22" y="0"/>
                  </a:lnTo>
                  <a:lnTo>
                    <a:pt x="34" y="0"/>
                  </a:lnTo>
                  <a:lnTo>
                    <a:pt x="34" y="65"/>
                  </a:lnTo>
                  <a:lnTo>
                    <a:pt x="45" y="67"/>
                  </a:lnTo>
                  <a:lnTo>
                    <a:pt x="45" y="75"/>
                  </a:lnTo>
                  <a:lnTo>
                    <a:pt x="12" y="75"/>
                  </a:lnTo>
                  <a:lnTo>
                    <a:pt x="12" y="67"/>
                  </a:lnTo>
                  <a:lnTo>
                    <a:pt x="20" y="65"/>
                  </a:lnTo>
                  <a:lnTo>
                    <a:pt x="2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0" name="Freeform 21"/>
            <p:cNvSpPr>
              <a:spLocks noEditPoints="1"/>
            </p:cNvSpPr>
            <p:nvPr/>
          </p:nvSpPr>
          <p:spPr bwMode="gray">
            <a:xfrm>
              <a:off x="5030327" y="4857515"/>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8"/>
                  </a:cubicBezTo>
                  <a:cubicBezTo>
                    <a:pt x="0" y="6"/>
                    <a:pt x="4" y="0"/>
                    <a:pt x="13" y="0"/>
                  </a:cubicBezTo>
                  <a:cubicBezTo>
                    <a:pt x="21"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1" name="Freeform 22"/>
            <p:cNvSpPr>
              <a:spLocks/>
            </p:cNvSpPr>
            <p:nvPr/>
          </p:nvSpPr>
          <p:spPr bwMode="gray">
            <a:xfrm>
              <a:off x="4925558" y="4857515"/>
              <a:ext cx="81911" cy="142870"/>
            </a:xfrm>
            <a:custGeom>
              <a:avLst/>
              <a:gdLst>
                <a:gd name="T0" fmla="*/ 21 w 43"/>
                <a:gd name="T1" fmla="*/ 14 h 75"/>
                <a:gd name="T2" fmla="*/ 6 w 43"/>
                <a:gd name="T3" fmla="*/ 24 h 75"/>
                <a:gd name="T4" fmla="*/ 0 w 43"/>
                <a:gd name="T5" fmla="*/ 14 h 75"/>
                <a:gd name="T6" fmla="*/ 23 w 43"/>
                <a:gd name="T7" fmla="*/ 0 h 75"/>
                <a:gd name="T8" fmla="*/ 33 w 43"/>
                <a:gd name="T9" fmla="*/ 0 h 75"/>
                <a:gd name="T10" fmla="*/ 33 w 43"/>
                <a:gd name="T11" fmla="*/ 65 h 75"/>
                <a:gd name="T12" fmla="*/ 43 w 43"/>
                <a:gd name="T13" fmla="*/ 67 h 75"/>
                <a:gd name="T14" fmla="*/ 43 w 43"/>
                <a:gd name="T15" fmla="*/ 75 h 75"/>
                <a:gd name="T16" fmla="*/ 10 w 43"/>
                <a:gd name="T17" fmla="*/ 75 h 75"/>
                <a:gd name="T18" fmla="*/ 10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6" y="24"/>
                  </a:lnTo>
                  <a:lnTo>
                    <a:pt x="0" y="14"/>
                  </a:lnTo>
                  <a:lnTo>
                    <a:pt x="23" y="0"/>
                  </a:lnTo>
                  <a:lnTo>
                    <a:pt x="33" y="0"/>
                  </a:lnTo>
                  <a:lnTo>
                    <a:pt x="33" y="65"/>
                  </a:lnTo>
                  <a:lnTo>
                    <a:pt x="43" y="67"/>
                  </a:lnTo>
                  <a:lnTo>
                    <a:pt x="43" y="75"/>
                  </a:lnTo>
                  <a:lnTo>
                    <a:pt x="10" y="75"/>
                  </a:lnTo>
                  <a:lnTo>
                    <a:pt x="10"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2" name="Freeform 24"/>
            <p:cNvSpPr>
              <a:spLocks noEditPoints="1"/>
            </p:cNvSpPr>
            <p:nvPr/>
          </p:nvSpPr>
          <p:spPr bwMode="gray">
            <a:xfrm>
              <a:off x="5738430"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3" name="Freeform 25"/>
            <p:cNvSpPr>
              <a:spLocks/>
            </p:cNvSpPr>
            <p:nvPr/>
          </p:nvSpPr>
          <p:spPr bwMode="gray">
            <a:xfrm>
              <a:off x="5667252" y="5062301"/>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4" name="Freeform 26"/>
            <p:cNvSpPr>
              <a:spLocks/>
            </p:cNvSpPr>
            <p:nvPr/>
          </p:nvSpPr>
          <p:spPr bwMode="gray">
            <a:xfrm>
              <a:off x="5584426" y="5062301"/>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5" name="Freeform 27"/>
            <p:cNvSpPr>
              <a:spLocks noEditPoints="1"/>
            </p:cNvSpPr>
            <p:nvPr/>
          </p:nvSpPr>
          <p:spPr bwMode="gray">
            <a:xfrm>
              <a:off x="5495129"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6" name="Freeform 28"/>
            <p:cNvSpPr>
              <a:spLocks noEditPoints="1"/>
            </p:cNvSpPr>
            <p:nvPr/>
          </p:nvSpPr>
          <p:spPr bwMode="gray">
            <a:xfrm>
              <a:off x="5413597"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7" name="Freeform 24"/>
            <p:cNvSpPr>
              <a:spLocks noEditPoints="1"/>
            </p:cNvSpPr>
            <p:nvPr/>
          </p:nvSpPr>
          <p:spPr bwMode="gray">
            <a:xfrm>
              <a:off x="5325512"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8" name="Freeform 25"/>
            <p:cNvSpPr>
              <a:spLocks/>
            </p:cNvSpPr>
            <p:nvPr/>
          </p:nvSpPr>
          <p:spPr bwMode="gray">
            <a:xfrm>
              <a:off x="5254334" y="5062301"/>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89" name="Freeform 26"/>
            <p:cNvSpPr>
              <a:spLocks/>
            </p:cNvSpPr>
            <p:nvPr/>
          </p:nvSpPr>
          <p:spPr bwMode="gray">
            <a:xfrm>
              <a:off x="5171508" y="5062301"/>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0" name="Freeform 24"/>
            <p:cNvSpPr>
              <a:spLocks noEditPoints="1"/>
            </p:cNvSpPr>
            <p:nvPr/>
          </p:nvSpPr>
          <p:spPr bwMode="gray">
            <a:xfrm>
              <a:off x="5974709"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1" name="Freeform 25"/>
            <p:cNvSpPr>
              <a:spLocks/>
            </p:cNvSpPr>
            <p:nvPr/>
          </p:nvSpPr>
          <p:spPr bwMode="gray">
            <a:xfrm>
              <a:off x="5903531" y="5217466"/>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2" name="Freeform 26"/>
            <p:cNvSpPr>
              <a:spLocks/>
            </p:cNvSpPr>
            <p:nvPr/>
          </p:nvSpPr>
          <p:spPr bwMode="gray">
            <a:xfrm>
              <a:off x="5820705" y="5217466"/>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3" name="Freeform 27"/>
            <p:cNvSpPr>
              <a:spLocks noEditPoints="1"/>
            </p:cNvSpPr>
            <p:nvPr/>
          </p:nvSpPr>
          <p:spPr bwMode="gray">
            <a:xfrm>
              <a:off x="5731408"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4" name="Freeform 24"/>
            <p:cNvSpPr>
              <a:spLocks noEditPoints="1"/>
            </p:cNvSpPr>
            <p:nvPr/>
          </p:nvSpPr>
          <p:spPr bwMode="gray">
            <a:xfrm>
              <a:off x="5148877"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5" name="Freeform 25"/>
            <p:cNvSpPr>
              <a:spLocks/>
            </p:cNvSpPr>
            <p:nvPr/>
          </p:nvSpPr>
          <p:spPr bwMode="gray">
            <a:xfrm>
              <a:off x="5077699" y="5217466"/>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6" name="Freeform 26"/>
            <p:cNvSpPr>
              <a:spLocks/>
            </p:cNvSpPr>
            <p:nvPr/>
          </p:nvSpPr>
          <p:spPr bwMode="gray">
            <a:xfrm>
              <a:off x="4994873" y="5217466"/>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7" name="Freeform 27"/>
            <p:cNvSpPr>
              <a:spLocks noEditPoints="1"/>
            </p:cNvSpPr>
            <p:nvPr/>
          </p:nvSpPr>
          <p:spPr bwMode="gray">
            <a:xfrm>
              <a:off x="4905576"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198" name="Freeform 28"/>
            <p:cNvSpPr>
              <a:spLocks noEditPoints="1"/>
            </p:cNvSpPr>
            <p:nvPr/>
          </p:nvSpPr>
          <p:spPr bwMode="gray">
            <a:xfrm>
              <a:off x="4824044"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06" name="Gruppieren 260"/>
          <p:cNvGrpSpPr/>
          <p:nvPr userDrawn="1"/>
        </p:nvGrpSpPr>
        <p:grpSpPr bwMode="gray">
          <a:xfrm>
            <a:off x="4347725" y="5138527"/>
            <a:ext cx="1218620" cy="456907"/>
            <a:chOff x="4824044" y="4857515"/>
            <a:chExt cx="1219255" cy="457013"/>
          </a:xfrm>
          <a:solidFill>
            <a:schemeClr val="bg1">
              <a:alpha val="33000"/>
            </a:schemeClr>
          </a:solidFill>
        </p:grpSpPr>
        <p:sp>
          <p:nvSpPr>
            <p:cNvPr id="207" name="Freeform 17"/>
            <p:cNvSpPr>
              <a:spLocks noEditPoints="1"/>
            </p:cNvSpPr>
            <p:nvPr/>
          </p:nvSpPr>
          <p:spPr bwMode="gray">
            <a:xfrm>
              <a:off x="5508457" y="4857515"/>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8"/>
                  </a:cubicBezTo>
                  <a:cubicBezTo>
                    <a:pt x="0" y="6"/>
                    <a:pt x="4" y="0"/>
                    <a:pt x="13" y="0"/>
                  </a:cubicBezTo>
                  <a:cubicBezTo>
                    <a:pt x="22"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08" name="Freeform 18"/>
            <p:cNvSpPr>
              <a:spLocks noEditPoints="1"/>
            </p:cNvSpPr>
            <p:nvPr/>
          </p:nvSpPr>
          <p:spPr bwMode="gray">
            <a:xfrm>
              <a:off x="5392258" y="4857515"/>
              <a:ext cx="97150" cy="146680"/>
            </a:xfrm>
            <a:custGeom>
              <a:avLst/>
              <a:gdLst>
                <a:gd name="T0" fmla="*/ 25 w 25"/>
                <a:gd name="T1" fmla="*/ 19 h 38"/>
                <a:gd name="T2" fmla="*/ 12 w 25"/>
                <a:gd name="T3" fmla="*/ 38 h 38"/>
                <a:gd name="T4" fmla="*/ 0 w 25"/>
                <a:gd name="T5" fmla="*/ 18 h 38"/>
                <a:gd name="T6" fmla="*/ 12 w 25"/>
                <a:gd name="T7" fmla="*/ 0 h 38"/>
                <a:gd name="T8" fmla="*/ 25 w 25"/>
                <a:gd name="T9" fmla="*/ 19 h 38"/>
                <a:gd name="T10" fmla="*/ 6 w 25"/>
                <a:gd name="T11" fmla="*/ 19 h 38"/>
                <a:gd name="T12" fmla="*/ 12 w 25"/>
                <a:gd name="T13" fmla="*/ 32 h 38"/>
                <a:gd name="T14" fmla="*/ 19 w 25"/>
                <a:gd name="T15" fmla="*/ 19 h 38"/>
                <a:gd name="T16" fmla="*/ 12 w 25"/>
                <a:gd name="T17" fmla="*/ 5 h 38"/>
                <a:gd name="T18" fmla="*/ 6 w 25"/>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8">
                  <a:moveTo>
                    <a:pt x="25" y="19"/>
                  </a:moveTo>
                  <a:cubicBezTo>
                    <a:pt x="25" y="32"/>
                    <a:pt x="21" y="38"/>
                    <a:pt x="12" y="38"/>
                  </a:cubicBezTo>
                  <a:cubicBezTo>
                    <a:pt x="4" y="38"/>
                    <a:pt x="0" y="32"/>
                    <a:pt x="0" y="18"/>
                  </a:cubicBezTo>
                  <a:cubicBezTo>
                    <a:pt x="0" y="6"/>
                    <a:pt x="4" y="0"/>
                    <a:pt x="12" y="0"/>
                  </a:cubicBezTo>
                  <a:cubicBezTo>
                    <a:pt x="21" y="0"/>
                    <a:pt x="25" y="6"/>
                    <a:pt x="25" y="19"/>
                  </a:cubicBezTo>
                  <a:close/>
                  <a:moveTo>
                    <a:pt x="6" y="19"/>
                  </a:moveTo>
                  <a:cubicBezTo>
                    <a:pt x="6" y="28"/>
                    <a:pt x="8" y="32"/>
                    <a:pt x="12" y="32"/>
                  </a:cubicBezTo>
                  <a:cubicBezTo>
                    <a:pt x="17" y="32"/>
                    <a:pt x="19" y="28"/>
                    <a:pt x="19" y="19"/>
                  </a:cubicBezTo>
                  <a:cubicBezTo>
                    <a:pt x="19" y="9"/>
                    <a:pt x="17" y="5"/>
                    <a:pt x="12"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09" name="Freeform 19"/>
            <p:cNvSpPr>
              <a:spLocks/>
            </p:cNvSpPr>
            <p:nvPr/>
          </p:nvSpPr>
          <p:spPr bwMode="gray">
            <a:xfrm>
              <a:off x="5283679" y="4857515"/>
              <a:ext cx="81911" cy="142870"/>
            </a:xfrm>
            <a:custGeom>
              <a:avLst/>
              <a:gdLst>
                <a:gd name="T0" fmla="*/ 21 w 43"/>
                <a:gd name="T1" fmla="*/ 14 h 75"/>
                <a:gd name="T2" fmla="*/ 4 w 43"/>
                <a:gd name="T3" fmla="*/ 24 h 75"/>
                <a:gd name="T4" fmla="*/ 0 w 43"/>
                <a:gd name="T5" fmla="*/ 14 h 75"/>
                <a:gd name="T6" fmla="*/ 21 w 43"/>
                <a:gd name="T7" fmla="*/ 0 h 75"/>
                <a:gd name="T8" fmla="*/ 33 w 43"/>
                <a:gd name="T9" fmla="*/ 0 h 75"/>
                <a:gd name="T10" fmla="*/ 33 w 43"/>
                <a:gd name="T11" fmla="*/ 65 h 75"/>
                <a:gd name="T12" fmla="*/ 43 w 43"/>
                <a:gd name="T13" fmla="*/ 67 h 75"/>
                <a:gd name="T14" fmla="*/ 43 w 43"/>
                <a:gd name="T15" fmla="*/ 75 h 75"/>
                <a:gd name="T16" fmla="*/ 11 w 43"/>
                <a:gd name="T17" fmla="*/ 75 h 75"/>
                <a:gd name="T18" fmla="*/ 11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4" y="24"/>
                  </a:lnTo>
                  <a:lnTo>
                    <a:pt x="0" y="14"/>
                  </a:lnTo>
                  <a:lnTo>
                    <a:pt x="21" y="0"/>
                  </a:lnTo>
                  <a:lnTo>
                    <a:pt x="33" y="0"/>
                  </a:lnTo>
                  <a:lnTo>
                    <a:pt x="33" y="65"/>
                  </a:lnTo>
                  <a:lnTo>
                    <a:pt x="43" y="67"/>
                  </a:lnTo>
                  <a:lnTo>
                    <a:pt x="43" y="75"/>
                  </a:lnTo>
                  <a:lnTo>
                    <a:pt x="11" y="75"/>
                  </a:lnTo>
                  <a:lnTo>
                    <a:pt x="11"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0" name="Freeform 20"/>
            <p:cNvSpPr>
              <a:spLocks/>
            </p:cNvSpPr>
            <p:nvPr/>
          </p:nvSpPr>
          <p:spPr bwMode="gray">
            <a:xfrm>
              <a:off x="5161765" y="4857515"/>
              <a:ext cx="85721" cy="142870"/>
            </a:xfrm>
            <a:custGeom>
              <a:avLst/>
              <a:gdLst>
                <a:gd name="T0" fmla="*/ 20 w 45"/>
                <a:gd name="T1" fmla="*/ 14 h 75"/>
                <a:gd name="T2" fmla="*/ 6 w 45"/>
                <a:gd name="T3" fmla="*/ 24 h 75"/>
                <a:gd name="T4" fmla="*/ 0 w 45"/>
                <a:gd name="T5" fmla="*/ 14 h 75"/>
                <a:gd name="T6" fmla="*/ 22 w 45"/>
                <a:gd name="T7" fmla="*/ 0 h 75"/>
                <a:gd name="T8" fmla="*/ 34 w 45"/>
                <a:gd name="T9" fmla="*/ 0 h 75"/>
                <a:gd name="T10" fmla="*/ 34 w 45"/>
                <a:gd name="T11" fmla="*/ 65 h 75"/>
                <a:gd name="T12" fmla="*/ 45 w 45"/>
                <a:gd name="T13" fmla="*/ 67 h 75"/>
                <a:gd name="T14" fmla="*/ 45 w 45"/>
                <a:gd name="T15" fmla="*/ 75 h 75"/>
                <a:gd name="T16" fmla="*/ 12 w 45"/>
                <a:gd name="T17" fmla="*/ 75 h 75"/>
                <a:gd name="T18" fmla="*/ 12 w 45"/>
                <a:gd name="T19" fmla="*/ 67 h 75"/>
                <a:gd name="T20" fmla="*/ 20 w 45"/>
                <a:gd name="T21" fmla="*/ 65 h 75"/>
                <a:gd name="T22" fmla="*/ 20 w 45"/>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 h="75">
                  <a:moveTo>
                    <a:pt x="20" y="14"/>
                  </a:moveTo>
                  <a:lnTo>
                    <a:pt x="6" y="24"/>
                  </a:lnTo>
                  <a:lnTo>
                    <a:pt x="0" y="14"/>
                  </a:lnTo>
                  <a:lnTo>
                    <a:pt x="22" y="0"/>
                  </a:lnTo>
                  <a:lnTo>
                    <a:pt x="34" y="0"/>
                  </a:lnTo>
                  <a:lnTo>
                    <a:pt x="34" y="65"/>
                  </a:lnTo>
                  <a:lnTo>
                    <a:pt x="45" y="67"/>
                  </a:lnTo>
                  <a:lnTo>
                    <a:pt x="45" y="75"/>
                  </a:lnTo>
                  <a:lnTo>
                    <a:pt x="12" y="75"/>
                  </a:lnTo>
                  <a:lnTo>
                    <a:pt x="12" y="67"/>
                  </a:lnTo>
                  <a:lnTo>
                    <a:pt x="20" y="65"/>
                  </a:lnTo>
                  <a:lnTo>
                    <a:pt x="2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1" name="Freeform 21"/>
            <p:cNvSpPr>
              <a:spLocks noEditPoints="1"/>
            </p:cNvSpPr>
            <p:nvPr/>
          </p:nvSpPr>
          <p:spPr bwMode="gray">
            <a:xfrm>
              <a:off x="5030327" y="4857515"/>
              <a:ext cx="100960" cy="146680"/>
            </a:xfrm>
            <a:custGeom>
              <a:avLst/>
              <a:gdLst>
                <a:gd name="T0" fmla="*/ 26 w 26"/>
                <a:gd name="T1" fmla="*/ 19 h 38"/>
                <a:gd name="T2" fmla="*/ 13 w 26"/>
                <a:gd name="T3" fmla="*/ 38 h 38"/>
                <a:gd name="T4" fmla="*/ 0 w 26"/>
                <a:gd name="T5" fmla="*/ 18 h 38"/>
                <a:gd name="T6" fmla="*/ 13 w 26"/>
                <a:gd name="T7" fmla="*/ 0 h 38"/>
                <a:gd name="T8" fmla="*/ 26 w 26"/>
                <a:gd name="T9" fmla="*/ 19 h 38"/>
                <a:gd name="T10" fmla="*/ 6 w 26"/>
                <a:gd name="T11" fmla="*/ 19 h 38"/>
                <a:gd name="T12" fmla="*/ 13 w 26"/>
                <a:gd name="T13" fmla="*/ 32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8"/>
                  </a:cubicBezTo>
                  <a:cubicBezTo>
                    <a:pt x="0" y="6"/>
                    <a:pt x="4" y="0"/>
                    <a:pt x="13" y="0"/>
                  </a:cubicBezTo>
                  <a:cubicBezTo>
                    <a:pt x="21" y="0"/>
                    <a:pt x="26" y="6"/>
                    <a:pt x="26" y="19"/>
                  </a:cubicBezTo>
                  <a:close/>
                  <a:moveTo>
                    <a:pt x="6" y="19"/>
                  </a:moveTo>
                  <a:cubicBezTo>
                    <a:pt x="6" y="28"/>
                    <a:pt x="8" y="32"/>
                    <a:pt x="13" y="32"/>
                  </a:cubicBezTo>
                  <a:cubicBezTo>
                    <a:pt x="17" y="32"/>
                    <a:pt x="19" y="28"/>
                    <a:pt x="19" y="19"/>
                  </a:cubicBezTo>
                  <a:cubicBezTo>
                    <a:pt x="19" y="9"/>
                    <a:pt x="17" y="5"/>
                    <a:pt x="13" y="5"/>
                  </a:cubicBezTo>
                  <a:cubicBezTo>
                    <a:pt x="8" y="5"/>
                    <a:pt x="6" y="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2" name="Freeform 22"/>
            <p:cNvSpPr>
              <a:spLocks/>
            </p:cNvSpPr>
            <p:nvPr/>
          </p:nvSpPr>
          <p:spPr bwMode="gray">
            <a:xfrm>
              <a:off x="4925558" y="4857515"/>
              <a:ext cx="81911" cy="142870"/>
            </a:xfrm>
            <a:custGeom>
              <a:avLst/>
              <a:gdLst>
                <a:gd name="T0" fmla="*/ 21 w 43"/>
                <a:gd name="T1" fmla="*/ 14 h 75"/>
                <a:gd name="T2" fmla="*/ 6 w 43"/>
                <a:gd name="T3" fmla="*/ 24 h 75"/>
                <a:gd name="T4" fmla="*/ 0 w 43"/>
                <a:gd name="T5" fmla="*/ 14 h 75"/>
                <a:gd name="T6" fmla="*/ 23 w 43"/>
                <a:gd name="T7" fmla="*/ 0 h 75"/>
                <a:gd name="T8" fmla="*/ 33 w 43"/>
                <a:gd name="T9" fmla="*/ 0 h 75"/>
                <a:gd name="T10" fmla="*/ 33 w 43"/>
                <a:gd name="T11" fmla="*/ 65 h 75"/>
                <a:gd name="T12" fmla="*/ 43 w 43"/>
                <a:gd name="T13" fmla="*/ 67 h 75"/>
                <a:gd name="T14" fmla="*/ 43 w 43"/>
                <a:gd name="T15" fmla="*/ 75 h 75"/>
                <a:gd name="T16" fmla="*/ 10 w 43"/>
                <a:gd name="T17" fmla="*/ 75 h 75"/>
                <a:gd name="T18" fmla="*/ 10 w 43"/>
                <a:gd name="T19" fmla="*/ 67 h 75"/>
                <a:gd name="T20" fmla="*/ 21 w 43"/>
                <a:gd name="T21" fmla="*/ 65 h 75"/>
                <a:gd name="T22" fmla="*/ 21 w 43"/>
                <a:gd name="T23" fmla="*/ 1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5">
                  <a:moveTo>
                    <a:pt x="21" y="14"/>
                  </a:moveTo>
                  <a:lnTo>
                    <a:pt x="6" y="24"/>
                  </a:lnTo>
                  <a:lnTo>
                    <a:pt x="0" y="14"/>
                  </a:lnTo>
                  <a:lnTo>
                    <a:pt x="23" y="0"/>
                  </a:lnTo>
                  <a:lnTo>
                    <a:pt x="33" y="0"/>
                  </a:lnTo>
                  <a:lnTo>
                    <a:pt x="33" y="65"/>
                  </a:lnTo>
                  <a:lnTo>
                    <a:pt x="43" y="67"/>
                  </a:lnTo>
                  <a:lnTo>
                    <a:pt x="43" y="75"/>
                  </a:lnTo>
                  <a:lnTo>
                    <a:pt x="10" y="75"/>
                  </a:lnTo>
                  <a:lnTo>
                    <a:pt x="10" y="67"/>
                  </a:lnTo>
                  <a:lnTo>
                    <a:pt x="21" y="65"/>
                  </a:lnTo>
                  <a:lnTo>
                    <a:pt x="21"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3" name="Freeform 24"/>
            <p:cNvSpPr>
              <a:spLocks noEditPoints="1"/>
            </p:cNvSpPr>
            <p:nvPr/>
          </p:nvSpPr>
          <p:spPr bwMode="gray">
            <a:xfrm>
              <a:off x="5738430"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4" name="Freeform 25"/>
            <p:cNvSpPr>
              <a:spLocks/>
            </p:cNvSpPr>
            <p:nvPr/>
          </p:nvSpPr>
          <p:spPr bwMode="gray">
            <a:xfrm>
              <a:off x="5667252" y="5062301"/>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5" name="Freeform 26"/>
            <p:cNvSpPr>
              <a:spLocks/>
            </p:cNvSpPr>
            <p:nvPr/>
          </p:nvSpPr>
          <p:spPr bwMode="gray">
            <a:xfrm>
              <a:off x="5584426" y="5062301"/>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6" name="Freeform 27"/>
            <p:cNvSpPr>
              <a:spLocks noEditPoints="1"/>
            </p:cNvSpPr>
            <p:nvPr/>
          </p:nvSpPr>
          <p:spPr bwMode="gray">
            <a:xfrm>
              <a:off x="5495129"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7" name="Freeform 28"/>
            <p:cNvSpPr>
              <a:spLocks noEditPoints="1"/>
            </p:cNvSpPr>
            <p:nvPr/>
          </p:nvSpPr>
          <p:spPr bwMode="gray">
            <a:xfrm>
              <a:off x="5413597"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8" name="Freeform 24"/>
            <p:cNvSpPr>
              <a:spLocks noEditPoints="1"/>
            </p:cNvSpPr>
            <p:nvPr/>
          </p:nvSpPr>
          <p:spPr bwMode="gray">
            <a:xfrm>
              <a:off x="5325512" y="5059713"/>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19" name="Freeform 25"/>
            <p:cNvSpPr>
              <a:spLocks/>
            </p:cNvSpPr>
            <p:nvPr/>
          </p:nvSpPr>
          <p:spPr bwMode="gray">
            <a:xfrm>
              <a:off x="5254334" y="5062301"/>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0" name="Freeform 26"/>
            <p:cNvSpPr>
              <a:spLocks/>
            </p:cNvSpPr>
            <p:nvPr/>
          </p:nvSpPr>
          <p:spPr bwMode="gray">
            <a:xfrm>
              <a:off x="5171508" y="5062301"/>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1" name="Freeform 24"/>
            <p:cNvSpPr>
              <a:spLocks noEditPoints="1"/>
            </p:cNvSpPr>
            <p:nvPr/>
          </p:nvSpPr>
          <p:spPr bwMode="gray">
            <a:xfrm>
              <a:off x="5974709"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2" name="Freeform 25"/>
            <p:cNvSpPr>
              <a:spLocks/>
            </p:cNvSpPr>
            <p:nvPr/>
          </p:nvSpPr>
          <p:spPr bwMode="gray">
            <a:xfrm>
              <a:off x="5903531" y="5217466"/>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3" name="Freeform 26"/>
            <p:cNvSpPr>
              <a:spLocks/>
            </p:cNvSpPr>
            <p:nvPr/>
          </p:nvSpPr>
          <p:spPr bwMode="gray">
            <a:xfrm>
              <a:off x="5820705" y="5217466"/>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4" name="Freeform 27"/>
            <p:cNvSpPr>
              <a:spLocks noEditPoints="1"/>
            </p:cNvSpPr>
            <p:nvPr/>
          </p:nvSpPr>
          <p:spPr bwMode="gray">
            <a:xfrm>
              <a:off x="5731408"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5" name="Freeform 24"/>
            <p:cNvSpPr>
              <a:spLocks noEditPoints="1"/>
            </p:cNvSpPr>
            <p:nvPr/>
          </p:nvSpPr>
          <p:spPr bwMode="gray">
            <a:xfrm>
              <a:off x="5148877"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6" name="Freeform 25"/>
            <p:cNvSpPr>
              <a:spLocks/>
            </p:cNvSpPr>
            <p:nvPr/>
          </p:nvSpPr>
          <p:spPr bwMode="gray">
            <a:xfrm>
              <a:off x="5077699" y="5217466"/>
              <a:ext cx="54354" cy="94473"/>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7" name="Freeform 26"/>
            <p:cNvSpPr>
              <a:spLocks/>
            </p:cNvSpPr>
            <p:nvPr/>
          </p:nvSpPr>
          <p:spPr bwMode="gray">
            <a:xfrm>
              <a:off x="4994873" y="5217466"/>
              <a:ext cx="55648" cy="94473"/>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8" name="Freeform 27"/>
            <p:cNvSpPr>
              <a:spLocks noEditPoints="1"/>
            </p:cNvSpPr>
            <p:nvPr/>
          </p:nvSpPr>
          <p:spPr bwMode="gray">
            <a:xfrm>
              <a:off x="4905576"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29" name="Freeform 28"/>
            <p:cNvSpPr>
              <a:spLocks noEditPoints="1"/>
            </p:cNvSpPr>
            <p:nvPr/>
          </p:nvSpPr>
          <p:spPr bwMode="gray">
            <a:xfrm>
              <a:off x="4824044" y="5214878"/>
              <a:ext cx="68590" cy="99650"/>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30" name="Gruppieren 320"/>
          <p:cNvGrpSpPr/>
          <p:nvPr userDrawn="1"/>
        </p:nvGrpSpPr>
        <p:grpSpPr bwMode="gray">
          <a:xfrm>
            <a:off x="6584829" y="4380716"/>
            <a:ext cx="393218" cy="99627"/>
            <a:chOff x="7474397" y="2327854"/>
            <a:chExt cx="396707" cy="100482"/>
          </a:xfrm>
          <a:solidFill>
            <a:schemeClr val="bg1">
              <a:alpha val="33000"/>
            </a:schemeClr>
          </a:solidFill>
        </p:grpSpPr>
        <p:sp>
          <p:nvSpPr>
            <p:cNvPr id="231"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32"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33"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34"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35"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36" name="Gruppieren 185"/>
          <p:cNvGrpSpPr/>
          <p:nvPr userDrawn="1"/>
        </p:nvGrpSpPr>
        <p:grpSpPr bwMode="gray">
          <a:xfrm>
            <a:off x="6189210" y="3366360"/>
            <a:ext cx="1051769" cy="99627"/>
            <a:chOff x="7600762" y="2327854"/>
            <a:chExt cx="796561" cy="75431"/>
          </a:xfrm>
          <a:solidFill>
            <a:schemeClr val="bg1">
              <a:alpha val="33000"/>
            </a:schemeClr>
          </a:solidFill>
        </p:grpSpPr>
        <p:grpSp>
          <p:nvGrpSpPr>
            <p:cNvPr id="237" name="Gruppieren 186"/>
            <p:cNvGrpSpPr/>
            <p:nvPr/>
          </p:nvGrpSpPr>
          <p:grpSpPr bwMode="gray">
            <a:xfrm>
              <a:off x="7600762" y="2327854"/>
              <a:ext cx="171434" cy="75431"/>
              <a:chOff x="7642736" y="2327854"/>
              <a:chExt cx="228368" cy="100482"/>
            </a:xfrm>
            <a:grpFill/>
          </p:grpSpPr>
          <p:sp>
            <p:nvSpPr>
              <p:cNvPr id="250"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51"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52"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38" name="Gruppieren 187"/>
            <p:cNvGrpSpPr/>
            <p:nvPr/>
          </p:nvGrpSpPr>
          <p:grpSpPr bwMode="gray">
            <a:xfrm>
              <a:off x="7786958" y="2327854"/>
              <a:ext cx="297805" cy="75431"/>
              <a:chOff x="7474397" y="2327854"/>
              <a:chExt cx="396707" cy="100482"/>
            </a:xfrm>
            <a:grpFill/>
          </p:grpSpPr>
          <p:sp>
            <p:nvSpPr>
              <p:cNvPr id="245"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6"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7"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8"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9"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39" name="Gruppieren 188"/>
            <p:cNvGrpSpPr/>
            <p:nvPr/>
          </p:nvGrpSpPr>
          <p:grpSpPr bwMode="gray">
            <a:xfrm>
              <a:off x="8099518" y="2327854"/>
              <a:ext cx="297805" cy="75431"/>
              <a:chOff x="7474397" y="2327854"/>
              <a:chExt cx="396707" cy="100482"/>
            </a:xfrm>
            <a:grpFill/>
          </p:grpSpPr>
          <p:sp>
            <p:nvSpPr>
              <p:cNvPr id="240"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1"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2"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3"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44"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grpSp>
        <p:nvGrpSpPr>
          <p:cNvPr id="253" name="Gruppieren 206"/>
          <p:cNvGrpSpPr/>
          <p:nvPr userDrawn="1"/>
        </p:nvGrpSpPr>
        <p:grpSpPr bwMode="gray">
          <a:xfrm>
            <a:off x="4206735" y="5042634"/>
            <a:ext cx="222478" cy="99627"/>
            <a:chOff x="7474397" y="2327854"/>
            <a:chExt cx="224452" cy="100482"/>
          </a:xfrm>
          <a:solidFill>
            <a:schemeClr val="bg1">
              <a:alpha val="19000"/>
            </a:schemeClr>
          </a:solidFill>
        </p:grpSpPr>
        <p:sp>
          <p:nvSpPr>
            <p:cNvPr id="254"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55"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56"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grpSp>
        <p:nvGrpSpPr>
          <p:cNvPr id="257" name="Gruppieren 469"/>
          <p:cNvGrpSpPr/>
          <p:nvPr userDrawn="1"/>
        </p:nvGrpSpPr>
        <p:grpSpPr bwMode="gray">
          <a:xfrm>
            <a:off x="6570937" y="3754862"/>
            <a:ext cx="393218" cy="99627"/>
            <a:chOff x="7474397" y="2327854"/>
            <a:chExt cx="396707" cy="100482"/>
          </a:xfrm>
          <a:solidFill>
            <a:schemeClr val="bg1">
              <a:alpha val="33000"/>
            </a:schemeClr>
          </a:solidFill>
        </p:grpSpPr>
        <p:sp>
          <p:nvSpPr>
            <p:cNvPr id="258" name="Freeform 24"/>
            <p:cNvSpPr>
              <a:spLocks noEditPoints="1"/>
            </p:cNvSpPr>
            <p:nvPr/>
          </p:nvSpPr>
          <p:spPr bwMode="gray">
            <a:xfrm>
              <a:off x="7474397"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59" name="Freeform 25"/>
            <p:cNvSpPr>
              <a:spLocks/>
            </p:cNvSpPr>
            <p:nvPr/>
          </p:nvSpPr>
          <p:spPr bwMode="gray">
            <a:xfrm>
              <a:off x="7560524" y="2330464"/>
              <a:ext cx="54808" cy="95262"/>
            </a:xfrm>
            <a:custGeom>
              <a:avLst/>
              <a:gdLst>
                <a:gd name="T0" fmla="*/ 20 w 42"/>
                <a:gd name="T1" fmla="*/ 12 h 73"/>
                <a:gd name="T2" fmla="*/ 6 w 42"/>
                <a:gd name="T3" fmla="*/ 22 h 73"/>
                <a:gd name="T4" fmla="*/ 0 w 42"/>
                <a:gd name="T5" fmla="*/ 12 h 73"/>
                <a:gd name="T6" fmla="*/ 22 w 42"/>
                <a:gd name="T7" fmla="*/ 0 h 73"/>
                <a:gd name="T8" fmla="*/ 32 w 42"/>
                <a:gd name="T9" fmla="*/ 0 h 73"/>
                <a:gd name="T10" fmla="*/ 32 w 42"/>
                <a:gd name="T11" fmla="*/ 65 h 73"/>
                <a:gd name="T12" fmla="*/ 42 w 42"/>
                <a:gd name="T13" fmla="*/ 65 h 73"/>
                <a:gd name="T14" fmla="*/ 42 w 42"/>
                <a:gd name="T15" fmla="*/ 73 h 73"/>
                <a:gd name="T16" fmla="*/ 10 w 42"/>
                <a:gd name="T17" fmla="*/ 73 h 73"/>
                <a:gd name="T18" fmla="*/ 10 w 42"/>
                <a:gd name="T19" fmla="*/ 65 h 73"/>
                <a:gd name="T20" fmla="*/ 20 w 42"/>
                <a:gd name="T21" fmla="*/ 65 h 73"/>
                <a:gd name="T22" fmla="*/ 20 w 42"/>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73">
                  <a:moveTo>
                    <a:pt x="20" y="12"/>
                  </a:moveTo>
                  <a:lnTo>
                    <a:pt x="6" y="22"/>
                  </a:lnTo>
                  <a:lnTo>
                    <a:pt x="0" y="12"/>
                  </a:lnTo>
                  <a:lnTo>
                    <a:pt x="22" y="0"/>
                  </a:lnTo>
                  <a:lnTo>
                    <a:pt x="32" y="0"/>
                  </a:lnTo>
                  <a:lnTo>
                    <a:pt x="32" y="65"/>
                  </a:lnTo>
                  <a:lnTo>
                    <a:pt x="42" y="65"/>
                  </a:lnTo>
                  <a:lnTo>
                    <a:pt x="42"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60" name="Freeform 26"/>
            <p:cNvSpPr>
              <a:spLocks/>
            </p:cNvSpPr>
            <p:nvPr/>
          </p:nvSpPr>
          <p:spPr bwMode="gray">
            <a:xfrm>
              <a:off x="7642736" y="2330464"/>
              <a:ext cx="56113" cy="95262"/>
            </a:xfrm>
            <a:custGeom>
              <a:avLst/>
              <a:gdLst>
                <a:gd name="T0" fmla="*/ 20 w 43"/>
                <a:gd name="T1" fmla="*/ 12 h 73"/>
                <a:gd name="T2" fmla="*/ 4 w 43"/>
                <a:gd name="T3" fmla="*/ 22 h 73"/>
                <a:gd name="T4" fmla="*/ 0 w 43"/>
                <a:gd name="T5" fmla="*/ 12 h 73"/>
                <a:gd name="T6" fmla="*/ 20 w 43"/>
                <a:gd name="T7" fmla="*/ 0 h 73"/>
                <a:gd name="T8" fmla="*/ 33 w 43"/>
                <a:gd name="T9" fmla="*/ 0 h 73"/>
                <a:gd name="T10" fmla="*/ 33 w 43"/>
                <a:gd name="T11" fmla="*/ 65 h 73"/>
                <a:gd name="T12" fmla="*/ 43 w 43"/>
                <a:gd name="T13" fmla="*/ 65 h 73"/>
                <a:gd name="T14" fmla="*/ 43 w 43"/>
                <a:gd name="T15" fmla="*/ 73 h 73"/>
                <a:gd name="T16" fmla="*/ 10 w 43"/>
                <a:gd name="T17" fmla="*/ 73 h 73"/>
                <a:gd name="T18" fmla="*/ 10 w 43"/>
                <a:gd name="T19" fmla="*/ 65 h 73"/>
                <a:gd name="T20" fmla="*/ 20 w 43"/>
                <a:gd name="T21" fmla="*/ 65 h 73"/>
                <a:gd name="T22" fmla="*/ 20 w 43"/>
                <a:gd name="T23" fmla="*/ 1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73">
                  <a:moveTo>
                    <a:pt x="20" y="12"/>
                  </a:moveTo>
                  <a:lnTo>
                    <a:pt x="4" y="22"/>
                  </a:lnTo>
                  <a:lnTo>
                    <a:pt x="0" y="12"/>
                  </a:lnTo>
                  <a:lnTo>
                    <a:pt x="20" y="0"/>
                  </a:lnTo>
                  <a:lnTo>
                    <a:pt x="33" y="0"/>
                  </a:lnTo>
                  <a:lnTo>
                    <a:pt x="33" y="65"/>
                  </a:lnTo>
                  <a:lnTo>
                    <a:pt x="43" y="65"/>
                  </a:lnTo>
                  <a:lnTo>
                    <a:pt x="43" y="73"/>
                  </a:lnTo>
                  <a:lnTo>
                    <a:pt x="10" y="73"/>
                  </a:lnTo>
                  <a:lnTo>
                    <a:pt x="10" y="65"/>
                  </a:lnTo>
                  <a:lnTo>
                    <a:pt x="20" y="65"/>
                  </a:ln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61" name="Freeform 27"/>
            <p:cNvSpPr>
              <a:spLocks noEditPoints="1"/>
            </p:cNvSpPr>
            <p:nvPr/>
          </p:nvSpPr>
          <p:spPr bwMode="gray">
            <a:xfrm>
              <a:off x="7719728"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2" y="38"/>
                    <a:pt x="13" y="38"/>
                  </a:cubicBezTo>
                  <a:cubicBezTo>
                    <a:pt x="4" y="38"/>
                    <a:pt x="0" y="32"/>
                    <a:pt x="0" y="19"/>
                  </a:cubicBezTo>
                  <a:cubicBezTo>
                    <a:pt x="0" y="6"/>
                    <a:pt x="4" y="0"/>
                    <a:pt x="13" y="0"/>
                  </a:cubicBezTo>
                  <a:cubicBezTo>
                    <a:pt x="22"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sp>
          <p:nvSpPr>
            <p:cNvPr id="262" name="Freeform 28"/>
            <p:cNvSpPr>
              <a:spLocks noEditPoints="1"/>
            </p:cNvSpPr>
            <p:nvPr/>
          </p:nvSpPr>
          <p:spPr bwMode="gray">
            <a:xfrm>
              <a:off x="7801941" y="2327854"/>
              <a:ext cx="69163" cy="100482"/>
            </a:xfrm>
            <a:custGeom>
              <a:avLst/>
              <a:gdLst>
                <a:gd name="T0" fmla="*/ 26 w 26"/>
                <a:gd name="T1" fmla="*/ 19 h 38"/>
                <a:gd name="T2" fmla="*/ 13 w 26"/>
                <a:gd name="T3" fmla="*/ 38 h 38"/>
                <a:gd name="T4" fmla="*/ 0 w 26"/>
                <a:gd name="T5" fmla="*/ 19 h 38"/>
                <a:gd name="T6" fmla="*/ 13 w 26"/>
                <a:gd name="T7" fmla="*/ 0 h 38"/>
                <a:gd name="T8" fmla="*/ 26 w 26"/>
                <a:gd name="T9" fmla="*/ 19 h 38"/>
                <a:gd name="T10" fmla="*/ 6 w 26"/>
                <a:gd name="T11" fmla="*/ 19 h 38"/>
                <a:gd name="T12" fmla="*/ 13 w 26"/>
                <a:gd name="T13" fmla="*/ 33 h 38"/>
                <a:gd name="T14" fmla="*/ 19 w 26"/>
                <a:gd name="T15" fmla="*/ 19 h 38"/>
                <a:gd name="T16" fmla="*/ 13 w 26"/>
                <a:gd name="T17" fmla="*/ 5 h 38"/>
                <a:gd name="T18" fmla="*/ 6 w 26"/>
                <a:gd name="T19"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8">
                  <a:moveTo>
                    <a:pt x="26" y="19"/>
                  </a:moveTo>
                  <a:cubicBezTo>
                    <a:pt x="26" y="32"/>
                    <a:pt x="21" y="38"/>
                    <a:pt x="13" y="38"/>
                  </a:cubicBezTo>
                  <a:cubicBezTo>
                    <a:pt x="4" y="38"/>
                    <a:pt x="0" y="32"/>
                    <a:pt x="0" y="19"/>
                  </a:cubicBezTo>
                  <a:cubicBezTo>
                    <a:pt x="0" y="6"/>
                    <a:pt x="4" y="0"/>
                    <a:pt x="13" y="0"/>
                  </a:cubicBezTo>
                  <a:cubicBezTo>
                    <a:pt x="21" y="0"/>
                    <a:pt x="26" y="6"/>
                    <a:pt x="26" y="19"/>
                  </a:cubicBezTo>
                  <a:close/>
                  <a:moveTo>
                    <a:pt x="6" y="19"/>
                  </a:moveTo>
                  <a:cubicBezTo>
                    <a:pt x="6" y="28"/>
                    <a:pt x="8" y="33"/>
                    <a:pt x="13" y="33"/>
                  </a:cubicBezTo>
                  <a:cubicBezTo>
                    <a:pt x="17" y="33"/>
                    <a:pt x="19" y="28"/>
                    <a:pt x="19" y="19"/>
                  </a:cubicBezTo>
                  <a:cubicBezTo>
                    <a:pt x="19" y="10"/>
                    <a:pt x="17" y="5"/>
                    <a:pt x="13" y="5"/>
                  </a:cubicBezTo>
                  <a:cubicBezTo>
                    <a:pt x="8" y="5"/>
                    <a:pt x="6" y="10"/>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3760" fontAlgn="auto" latinLnBrk="0" hangingPunct="1">
                <a:lnSpc>
                  <a:spcPct val="110000"/>
                </a:lnSpc>
                <a:spcBef>
                  <a:spcPct val="0"/>
                </a:spcBef>
                <a:spcAft>
                  <a:spcPts val="0"/>
                </a:spcAft>
                <a:buClrTx/>
                <a:buSzTx/>
                <a:buFontTx/>
                <a:buNone/>
                <a:tabLst/>
                <a:defRPr/>
              </a:pPr>
              <a:endParaRPr kumimoji="0" lang="en-US" sz="1399" b="0" i="0" u="none" strike="noStrike" kern="1400" cap="none" spc="0" normalizeH="0" baseline="0" dirty="0">
                <a:ln>
                  <a:noFill/>
                </a:ln>
                <a:solidFill>
                  <a:schemeClr val="bg1"/>
                </a:solidFill>
                <a:effectLst/>
                <a:uLnTx/>
                <a:uFillTx/>
                <a:latin typeface="Arial" charset="0"/>
                <a:ea typeface="Arial Unicode MS"/>
              </a:endParaRPr>
            </a:p>
          </p:txBody>
        </p:sp>
      </p:grpSp>
      <p:pic>
        <p:nvPicPr>
          <p:cNvPr id="263" name="Siemens Logo">
            <a:extLst>
              <a:ext uri="{FF2B5EF4-FFF2-40B4-BE49-F238E27FC236}">
                <a16:creationId xmlns:a16="http://schemas.microsoft.com/office/drawing/2014/main" id="{376FFC26-E390-CFA7-E2C9-E2564FA66616}"/>
              </a:ext>
            </a:extLst>
          </p:cNvPr>
          <p:cNvPicPr>
            <a:picLocks noChangeAspect="1"/>
          </p:cNvPicPr>
          <p:nvPr userDrawn="1"/>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635188" y="6418800"/>
            <a:ext cx="1152000" cy="183168"/>
          </a:xfrm>
          <a:prstGeom prst="rect">
            <a:avLst/>
          </a:prstGeom>
        </p:spPr>
      </p:pic>
      <p:grpSp>
        <p:nvGrpSpPr>
          <p:cNvPr id="199" name="Gruppieren 12"/>
          <p:cNvGrpSpPr/>
          <p:nvPr userDrawn="1"/>
        </p:nvGrpSpPr>
        <p:grpSpPr bwMode="gray">
          <a:xfrm>
            <a:off x="6737795" y="2483389"/>
            <a:ext cx="5476718" cy="3317765"/>
            <a:chOff x="6880705" y="1714827"/>
            <a:chExt cx="5479570" cy="3318533"/>
          </a:xfrm>
        </p:grpSpPr>
        <p:grpSp>
          <p:nvGrpSpPr>
            <p:cNvPr id="200" name="Gruppieren 122"/>
            <p:cNvGrpSpPr>
              <a:grpSpLocks/>
            </p:cNvGrpSpPr>
            <p:nvPr/>
          </p:nvGrpSpPr>
          <p:grpSpPr bwMode="gray">
            <a:xfrm>
              <a:off x="6880705" y="1714827"/>
              <a:ext cx="5338979" cy="3254247"/>
              <a:chOff x="4337050" y="7283450"/>
              <a:chExt cx="6565900" cy="4002088"/>
            </a:xfrm>
            <a:solidFill>
              <a:schemeClr val="bg1">
                <a:alpha val="10000"/>
              </a:schemeClr>
            </a:solidFill>
          </p:grpSpPr>
          <p:sp>
            <p:nvSpPr>
              <p:cNvPr id="204" name="Freeform 8"/>
              <p:cNvSpPr>
                <a:spLocks noEditPoints="1"/>
              </p:cNvSpPr>
              <p:nvPr/>
            </p:nvSpPr>
            <p:spPr bwMode="gray">
              <a:xfrm>
                <a:off x="4337050" y="7283450"/>
                <a:ext cx="6565900" cy="4002088"/>
              </a:xfrm>
              <a:custGeom>
                <a:avLst/>
                <a:gdLst>
                  <a:gd name="T0" fmla="*/ 1631 w 1751"/>
                  <a:gd name="T1" fmla="*/ 251 h 1067"/>
                  <a:gd name="T2" fmla="*/ 1270 w 1751"/>
                  <a:gd name="T3" fmla="*/ 350 h 1067"/>
                  <a:gd name="T4" fmla="*/ 1435 w 1751"/>
                  <a:gd name="T5" fmla="*/ 342 h 1067"/>
                  <a:gd name="T6" fmla="*/ 1653 w 1751"/>
                  <a:gd name="T7" fmla="*/ 231 h 1067"/>
                  <a:gd name="T8" fmla="*/ 1617 w 1751"/>
                  <a:gd name="T9" fmla="*/ 244 h 1067"/>
                  <a:gd name="T10" fmla="*/ 1554 w 1751"/>
                  <a:gd name="T11" fmla="*/ 132 h 1067"/>
                  <a:gd name="T12" fmla="*/ 1431 w 1751"/>
                  <a:gd name="T13" fmla="*/ 138 h 1067"/>
                  <a:gd name="T14" fmla="*/ 1062 w 1751"/>
                  <a:gd name="T15" fmla="*/ 40 h 1067"/>
                  <a:gd name="T16" fmla="*/ 679 w 1751"/>
                  <a:gd name="T17" fmla="*/ 99 h 1067"/>
                  <a:gd name="T18" fmla="*/ 575 w 1751"/>
                  <a:gd name="T19" fmla="*/ 90 h 1067"/>
                  <a:gd name="T20" fmla="*/ 394 w 1751"/>
                  <a:gd name="T21" fmla="*/ 87 h 1067"/>
                  <a:gd name="T22" fmla="*/ 358 w 1751"/>
                  <a:gd name="T23" fmla="*/ 101 h 1067"/>
                  <a:gd name="T24" fmla="*/ 270 w 1751"/>
                  <a:gd name="T25" fmla="*/ 251 h 1067"/>
                  <a:gd name="T26" fmla="*/ 17 w 1751"/>
                  <a:gd name="T27" fmla="*/ 376 h 1067"/>
                  <a:gd name="T28" fmla="*/ 599 w 1751"/>
                  <a:gd name="T29" fmla="*/ 247 h 1067"/>
                  <a:gd name="T30" fmla="*/ 604 w 1751"/>
                  <a:gd name="T31" fmla="*/ 234 h 1067"/>
                  <a:gd name="T32" fmla="*/ 406 w 1751"/>
                  <a:gd name="T33" fmla="*/ 529 h 1067"/>
                  <a:gd name="T34" fmla="*/ 272 w 1751"/>
                  <a:gd name="T35" fmla="*/ 280 h 1067"/>
                  <a:gd name="T36" fmla="*/ 128 w 1751"/>
                  <a:gd name="T37" fmla="*/ 736 h 1067"/>
                  <a:gd name="T38" fmla="*/ 144 w 1751"/>
                  <a:gd name="T39" fmla="*/ 771 h 1067"/>
                  <a:gd name="T40" fmla="*/ 197 w 1751"/>
                  <a:gd name="T41" fmla="*/ 928 h 1067"/>
                  <a:gd name="T42" fmla="*/ 343 w 1751"/>
                  <a:gd name="T43" fmla="*/ 866 h 1067"/>
                  <a:gd name="T44" fmla="*/ 603 w 1751"/>
                  <a:gd name="T45" fmla="*/ 898 h 1067"/>
                  <a:gd name="T46" fmla="*/ 366 w 1751"/>
                  <a:gd name="T47" fmla="*/ 1045 h 1067"/>
                  <a:gd name="T48" fmla="*/ 1061 w 1751"/>
                  <a:gd name="T49" fmla="*/ 1046 h 1067"/>
                  <a:gd name="T50" fmla="*/ 1438 w 1751"/>
                  <a:gd name="T51" fmla="*/ 969 h 1067"/>
                  <a:gd name="T52" fmla="*/ 1474 w 1751"/>
                  <a:gd name="T53" fmla="*/ 982 h 1067"/>
                  <a:gd name="T54" fmla="*/ 1384 w 1751"/>
                  <a:gd name="T55" fmla="*/ 939 h 1067"/>
                  <a:gd name="T56" fmla="*/ 1601 w 1751"/>
                  <a:gd name="T57" fmla="*/ 817 h 1067"/>
                  <a:gd name="T58" fmla="*/ 1615 w 1751"/>
                  <a:gd name="T59" fmla="*/ 852 h 1067"/>
                  <a:gd name="T60" fmla="*/ 1709 w 1751"/>
                  <a:gd name="T61" fmla="*/ 619 h 1067"/>
                  <a:gd name="T62" fmla="*/ 1712 w 1751"/>
                  <a:gd name="T63" fmla="*/ 498 h 1067"/>
                  <a:gd name="T64" fmla="*/ 543 w 1751"/>
                  <a:gd name="T65" fmla="*/ 108 h 1067"/>
                  <a:gd name="T66" fmla="*/ 1257 w 1751"/>
                  <a:gd name="T67" fmla="*/ 559 h 1067"/>
                  <a:gd name="T68" fmla="*/ 1123 w 1751"/>
                  <a:gd name="T69" fmla="*/ 445 h 1067"/>
                  <a:gd name="T70" fmla="*/ 1037 w 1751"/>
                  <a:gd name="T71" fmla="*/ 202 h 1067"/>
                  <a:gd name="T72" fmla="*/ 1268 w 1751"/>
                  <a:gd name="T73" fmla="*/ 210 h 1067"/>
                  <a:gd name="T74" fmla="*/ 1041 w 1751"/>
                  <a:gd name="T75" fmla="*/ 218 h 1067"/>
                  <a:gd name="T76" fmla="*/ 1010 w 1751"/>
                  <a:gd name="T77" fmla="*/ 445 h 1067"/>
                  <a:gd name="T78" fmla="*/ 1000 w 1751"/>
                  <a:gd name="T79" fmla="*/ 218 h 1067"/>
                  <a:gd name="T80" fmla="*/ 820 w 1751"/>
                  <a:gd name="T81" fmla="*/ 315 h 1067"/>
                  <a:gd name="T82" fmla="*/ 778 w 1751"/>
                  <a:gd name="T83" fmla="*/ 198 h 1067"/>
                  <a:gd name="T84" fmla="*/ 772 w 1751"/>
                  <a:gd name="T85" fmla="*/ 442 h 1067"/>
                  <a:gd name="T86" fmla="*/ 633 w 1751"/>
                  <a:gd name="T87" fmla="*/ 264 h 1067"/>
                  <a:gd name="T88" fmla="*/ 621 w 1751"/>
                  <a:gd name="T89" fmla="*/ 269 h 1067"/>
                  <a:gd name="T90" fmla="*/ 150 w 1751"/>
                  <a:gd name="T91" fmla="*/ 756 h 1067"/>
                  <a:gd name="T92" fmla="*/ 302 w 1751"/>
                  <a:gd name="T93" fmla="*/ 864 h 1067"/>
                  <a:gd name="T94" fmla="*/ 209 w 1751"/>
                  <a:gd name="T95" fmla="*/ 506 h 1067"/>
                  <a:gd name="T96" fmla="*/ 526 w 1751"/>
                  <a:gd name="T97" fmla="*/ 721 h 1067"/>
                  <a:gd name="T98" fmla="*/ 721 w 1751"/>
                  <a:gd name="T99" fmla="*/ 654 h 1067"/>
                  <a:gd name="T100" fmla="*/ 548 w 1751"/>
                  <a:gd name="T101" fmla="*/ 742 h 1067"/>
                  <a:gd name="T102" fmla="*/ 736 w 1751"/>
                  <a:gd name="T103" fmla="*/ 819 h 1067"/>
                  <a:gd name="T104" fmla="*/ 820 w 1751"/>
                  <a:gd name="T105" fmla="*/ 819 h 1067"/>
                  <a:gd name="T106" fmla="*/ 1067 w 1751"/>
                  <a:gd name="T107" fmla="*/ 1030 h 1067"/>
                  <a:gd name="T108" fmla="*/ 1076 w 1751"/>
                  <a:gd name="T109" fmla="*/ 759 h 1067"/>
                  <a:gd name="T110" fmla="*/ 1101 w 1751"/>
                  <a:gd name="T111" fmla="*/ 1043 h 1067"/>
                  <a:gd name="T112" fmla="*/ 1094 w 1751"/>
                  <a:gd name="T113" fmla="*/ 759 h 1067"/>
                  <a:gd name="T114" fmla="*/ 1320 w 1751"/>
                  <a:gd name="T115" fmla="*/ 592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51" h="1067">
                    <a:moveTo>
                      <a:pt x="1712" y="498"/>
                    </a:moveTo>
                    <a:cubicBezTo>
                      <a:pt x="1644" y="607"/>
                      <a:pt x="1644" y="607"/>
                      <a:pt x="1644" y="607"/>
                    </a:cubicBezTo>
                    <a:cubicBezTo>
                      <a:pt x="1642" y="606"/>
                      <a:pt x="1639" y="605"/>
                      <a:pt x="1636" y="605"/>
                    </a:cubicBezTo>
                    <a:cubicBezTo>
                      <a:pt x="1636" y="605"/>
                      <a:pt x="1636" y="605"/>
                      <a:pt x="1636" y="605"/>
                    </a:cubicBezTo>
                    <a:cubicBezTo>
                      <a:pt x="1634" y="251"/>
                      <a:pt x="1634" y="251"/>
                      <a:pt x="1634" y="251"/>
                    </a:cubicBezTo>
                    <a:cubicBezTo>
                      <a:pt x="1632" y="251"/>
                      <a:pt x="1632" y="251"/>
                      <a:pt x="1632" y="251"/>
                    </a:cubicBezTo>
                    <a:cubicBezTo>
                      <a:pt x="1631" y="251"/>
                      <a:pt x="1631" y="251"/>
                      <a:pt x="1631" y="251"/>
                    </a:cubicBezTo>
                    <a:cubicBezTo>
                      <a:pt x="1633" y="605"/>
                      <a:pt x="1633" y="605"/>
                      <a:pt x="1633" y="605"/>
                    </a:cubicBezTo>
                    <a:cubicBezTo>
                      <a:pt x="1623" y="606"/>
                      <a:pt x="1615" y="614"/>
                      <a:pt x="1614" y="624"/>
                    </a:cubicBezTo>
                    <a:cubicBezTo>
                      <a:pt x="1518" y="599"/>
                      <a:pt x="1518" y="599"/>
                      <a:pt x="1518" y="599"/>
                    </a:cubicBezTo>
                    <a:cubicBezTo>
                      <a:pt x="1518" y="595"/>
                      <a:pt x="1518" y="591"/>
                      <a:pt x="1518" y="587"/>
                    </a:cubicBezTo>
                    <a:cubicBezTo>
                      <a:pt x="1518" y="533"/>
                      <a:pt x="1474" y="489"/>
                      <a:pt x="1419" y="489"/>
                    </a:cubicBezTo>
                    <a:cubicBezTo>
                      <a:pt x="1403" y="489"/>
                      <a:pt x="1387" y="493"/>
                      <a:pt x="1373" y="500"/>
                    </a:cubicBezTo>
                    <a:cubicBezTo>
                      <a:pt x="1270" y="350"/>
                      <a:pt x="1270" y="350"/>
                      <a:pt x="1270" y="350"/>
                    </a:cubicBezTo>
                    <a:cubicBezTo>
                      <a:pt x="1287" y="332"/>
                      <a:pt x="1298" y="308"/>
                      <a:pt x="1298" y="281"/>
                    </a:cubicBezTo>
                    <a:cubicBezTo>
                      <a:pt x="1298" y="254"/>
                      <a:pt x="1288" y="230"/>
                      <a:pt x="1271" y="213"/>
                    </a:cubicBezTo>
                    <a:cubicBezTo>
                      <a:pt x="1411" y="160"/>
                      <a:pt x="1411" y="160"/>
                      <a:pt x="1411" y="160"/>
                    </a:cubicBezTo>
                    <a:cubicBezTo>
                      <a:pt x="1411" y="170"/>
                      <a:pt x="1420" y="179"/>
                      <a:pt x="1431" y="179"/>
                    </a:cubicBezTo>
                    <a:cubicBezTo>
                      <a:pt x="1430" y="179"/>
                      <a:pt x="1430" y="179"/>
                      <a:pt x="1430" y="179"/>
                    </a:cubicBezTo>
                    <a:cubicBezTo>
                      <a:pt x="1454" y="322"/>
                      <a:pt x="1454" y="322"/>
                      <a:pt x="1454" y="322"/>
                    </a:cubicBezTo>
                    <a:cubicBezTo>
                      <a:pt x="1444" y="322"/>
                      <a:pt x="1435" y="331"/>
                      <a:pt x="1435" y="342"/>
                    </a:cubicBezTo>
                    <a:cubicBezTo>
                      <a:pt x="1435" y="353"/>
                      <a:pt x="1445" y="362"/>
                      <a:pt x="1456" y="362"/>
                    </a:cubicBezTo>
                    <a:cubicBezTo>
                      <a:pt x="1467" y="362"/>
                      <a:pt x="1476" y="353"/>
                      <a:pt x="1476" y="342"/>
                    </a:cubicBezTo>
                    <a:cubicBezTo>
                      <a:pt x="1477" y="344"/>
                      <a:pt x="1477" y="344"/>
                      <a:pt x="1477" y="344"/>
                    </a:cubicBezTo>
                    <a:cubicBezTo>
                      <a:pt x="1619" y="246"/>
                      <a:pt x="1619" y="246"/>
                      <a:pt x="1619" y="246"/>
                    </a:cubicBezTo>
                    <a:cubicBezTo>
                      <a:pt x="1618" y="245"/>
                      <a:pt x="1618" y="245"/>
                      <a:pt x="1618" y="245"/>
                    </a:cubicBezTo>
                    <a:cubicBezTo>
                      <a:pt x="1622" y="249"/>
                      <a:pt x="1627" y="251"/>
                      <a:pt x="1632" y="251"/>
                    </a:cubicBezTo>
                    <a:cubicBezTo>
                      <a:pt x="1644" y="251"/>
                      <a:pt x="1653" y="242"/>
                      <a:pt x="1653" y="231"/>
                    </a:cubicBezTo>
                    <a:cubicBezTo>
                      <a:pt x="1653" y="230"/>
                      <a:pt x="1653" y="230"/>
                      <a:pt x="1653" y="230"/>
                    </a:cubicBezTo>
                    <a:cubicBezTo>
                      <a:pt x="1751" y="206"/>
                      <a:pt x="1751" y="206"/>
                      <a:pt x="1751" y="206"/>
                    </a:cubicBezTo>
                    <a:cubicBezTo>
                      <a:pt x="1750" y="204"/>
                      <a:pt x="1750" y="204"/>
                      <a:pt x="1750" y="204"/>
                    </a:cubicBezTo>
                    <a:cubicBezTo>
                      <a:pt x="1653" y="227"/>
                      <a:pt x="1653" y="227"/>
                      <a:pt x="1653" y="227"/>
                    </a:cubicBezTo>
                    <a:cubicBezTo>
                      <a:pt x="1651" y="218"/>
                      <a:pt x="1643" y="210"/>
                      <a:pt x="1632" y="210"/>
                    </a:cubicBezTo>
                    <a:cubicBezTo>
                      <a:pt x="1621" y="210"/>
                      <a:pt x="1612" y="219"/>
                      <a:pt x="1612" y="231"/>
                    </a:cubicBezTo>
                    <a:cubicBezTo>
                      <a:pt x="1612" y="236"/>
                      <a:pt x="1614" y="241"/>
                      <a:pt x="1617" y="244"/>
                    </a:cubicBezTo>
                    <a:cubicBezTo>
                      <a:pt x="1476" y="341"/>
                      <a:pt x="1476" y="341"/>
                      <a:pt x="1476" y="341"/>
                    </a:cubicBezTo>
                    <a:cubicBezTo>
                      <a:pt x="1475" y="330"/>
                      <a:pt x="1467" y="322"/>
                      <a:pt x="1457" y="322"/>
                    </a:cubicBezTo>
                    <a:cubicBezTo>
                      <a:pt x="1457" y="322"/>
                      <a:pt x="1457" y="322"/>
                      <a:pt x="1457" y="322"/>
                    </a:cubicBezTo>
                    <a:cubicBezTo>
                      <a:pt x="1433" y="178"/>
                      <a:pt x="1433" y="178"/>
                      <a:pt x="1433" y="178"/>
                    </a:cubicBezTo>
                    <a:cubicBezTo>
                      <a:pt x="1443" y="177"/>
                      <a:pt x="1451" y="169"/>
                      <a:pt x="1451" y="158"/>
                    </a:cubicBezTo>
                    <a:cubicBezTo>
                      <a:pt x="1451" y="158"/>
                      <a:pt x="1451" y="157"/>
                      <a:pt x="1451" y="157"/>
                    </a:cubicBezTo>
                    <a:cubicBezTo>
                      <a:pt x="1554" y="132"/>
                      <a:pt x="1554" y="132"/>
                      <a:pt x="1554" y="132"/>
                    </a:cubicBezTo>
                    <a:cubicBezTo>
                      <a:pt x="1554" y="129"/>
                      <a:pt x="1554" y="129"/>
                      <a:pt x="1554" y="129"/>
                    </a:cubicBezTo>
                    <a:cubicBezTo>
                      <a:pt x="1451" y="154"/>
                      <a:pt x="1451" y="154"/>
                      <a:pt x="1451" y="154"/>
                    </a:cubicBezTo>
                    <a:cubicBezTo>
                      <a:pt x="1450" y="149"/>
                      <a:pt x="1446" y="144"/>
                      <a:pt x="1442" y="141"/>
                    </a:cubicBezTo>
                    <a:cubicBezTo>
                      <a:pt x="1492" y="27"/>
                      <a:pt x="1492" y="27"/>
                      <a:pt x="1492" y="27"/>
                    </a:cubicBezTo>
                    <a:cubicBezTo>
                      <a:pt x="1489" y="26"/>
                      <a:pt x="1489" y="26"/>
                      <a:pt x="1489" y="26"/>
                    </a:cubicBezTo>
                    <a:cubicBezTo>
                      <a:pt x="1439" y="139"/>
                      <a:pt x="1439" y="139"/>
                      <a:pt x="1439" y="139"/>
                    </a:cubicBezTo>
                    <a:cubicBezTo>
                      <a:pt x="1436" y="138"/>
                      <a:pt x="1434" y="138"/>
                      <a:pt x="1431" y="138"/>
                    </a:cubicBezTo>
                    <a:cubicBezTo>
                      <a:pt x="1425" y="138"/>
                      <a:pt x="1420" y="140"/>
                      <a:pt x="1417" y="143"/>
                    </a:cubicBezTo>
                    <a:cubicBezTo>
                      <a:pt x="1417" y="142"/>
                      <a:pt x="1417" y="142"/>
                      <a:pt x="1417" y="142"/>
                    </a:cubicBezTo>
                    <a:cubicBezTo>
                      <a:pt x="1084" y="19"/>
                      <a:pt x="1084" y="19"/>
                      <a:pt x="1084" y="19"/>
                    </a:cubicBezTo>
                    <a:cubicBezTo>
                      <a:pt x="1084" y="20"/>
                      <a:pt x="1084" y="20"/>
                      <a:pt x="1084" y="20"/>
                    </a:cubicBezTo>
                    <a:cubicBezTo>
                      <a:pt x="1084" y="9"/>
                      <a:pt x="1074" y="0"/>
                      <a:pt x="1063" y="0"/>
                    </a:cubicBezTo>
                    <a:cubicBezTo>
                      <a:pt x="1052" y="0"/>
                      <a:pt x="1043" y="9"/>
                      <a:pt x="1043" y="20"/>
                    </a:cubicBezTo>
                    <a:cubicBezTo>
                      <a:pt x="1043" y="31"/>
                      <a:pt x="1051" y="39"/>
                      <a:pt x="1062" y="40"/>
                    </a:cubicBezTo>
                    <a:cubicBezTo>
                      <a:pt x="1034" y="201"/>
                      <a:pt x="1034" y="201"/>
                      <a:pt x="1034" y="201"/>
                    </a:cubicBezTo>
                    <a:cubicBezTo>
                      <a:pt x="1030" y="198"/>
                      <a:pt x="1026" y="196"/>
                      <a:pt x="1021" y="196"/>
                    </a:cubicBezTo>
                    <a:cubicBezTo>
                      <a:pt x="1010" y="196"/>
                      <a:pt x="1002" y="204"/>
                      <a:pt x="1001" y="215"/>
                    </a:cubicBezTo>
                    <a:cubicBezTo>
                      <a:pt x="867" y="143"/>
                      <a:pt x="867" y="143"/>
                      <a:pt x="867" y="143"/>
                    </a:cubicBezTo>
                    <a:cubicBezTo>
                      <a:pt x="873" y="129"/>
                      <a:pt x="877" y="115"/>
                      <a:pt x="877" y="99"/>
                    </a:cubicBezTo>
                    <a:cubicBezTo>
                      <a:pt x="877" y="44"/>
                      <a:pt x="833" y="0"/>
                      <a:pt x="778" y="0"/>
                    </a:cubicBezTo>
                    <a:cubicBezTo>
                      <a:pt x="724" y="0"/>
                      <a:pt x="679" y="44"/>
                      <a:pt x="679" y="99"/>
                    </a:cubicBezTo>
                    <a:cubicBezTo>
                      <a:pt x="679" y="125"/>
                      <a:pt x="690" y="149"/>
                      <a:pt x="706" y="167"/>
                    </a:cubicBezTo>
                    <a:cubicBezTo>
                      <a:pt x="633" y="233"/>
                      <a:pt x="633" y="233"/>
                      <a:pt x="633" y="233"/>
                    </a:cubicBezTo>
                    <a:cubicBezTo>
                      <a:pt x="629" y="230"/>
                      <a:pt x="625" y="228"/>
                      <a:pt x="620" y="228"/>
                    </a:cubicBezTo>
                    <a:cubicBezTo>
                      <a:pt x="614" y="228"/>
                      <a:pt x="610" y="230"/>
                      <a:pt x="606" y="233"/>
                    </a:cubicBezTo>
                    <a:cubicBezTo>
                      <a:pt x="564" y="127"/>
                      <a:pt x="564" y="127"/>
                      <a:pt x="564" y="127"/>
                    </a:cubicBezTo>
                    <a:cubicBezTo>
                      <a:pt x="575" y="126"/>
                      <a:pt x="583" y="118"/>
                      <a:pt x="583" y="107"/>
                    </a:cubicBezTo>
                    <a:cubicBezTo>
                      <a:pt x="583" y="100"/>
                      <a:pt x="580" y="94"/>
                      <a:pt x="575" y="90"/>
                    </a:cubicBezTo>
                    <a:cubicBezTo>
                      <a:pt x="600" y="22"/>
                      <a:pt x="600" y="22"/>
                      <a:pt x="600" y="22"/>
                    </a:cubicBezTo>
                    <a:cubicBezTo>
                      <a:pt x="597" y="21"/>
                      <a:pt x="597" y="21"/>
                      <a:pt x="597" y="21"/>
                    </a:cubicBezTo>
                    <a:cubicBezTo>
                      <a:pt x="573" y="89"/>
                      <a:pt x="573" y="89"/>
                      <a:pt x="573" y="89"/>
                    </a:cubicBezTo>
                    <a:cubicBezTo>
                      <a:pt x="570" y="87"/>
                      <a:pt x="567" y="86"/>
                      <a:pt x="563" y="86"/>
                    </a:cubicBezTo>
                    <a:cubicBezTo>
                      <a:pt x="552" y="86"/>
                      <a:pt x="544" y="95"/>
                      <a:pt x="543" y="105"/>
                    </a:cubicBezTo>
                    <a:cubicBezTo>
                      <a:pt x="395" y="86"/>
                      <a:pt x="395" y="86"/>
                      <a:pt x="395" y="86"/>
                    </a:cubicBezTo>
                    <a:cubicBezTo>
                      <a:pt x="394" y="87"/>
                      <a:pt x="394" y="87"/>
                      <a:pt x="394" y="87"/>
                    </a:cubicBezTo>
                    <a:cubicBezTo>
                      <a:pt x="394" y="77"/>
                      <a:pt x="386" y="68"/>
                      <a:pt x="375" y="67"/>
                    </a:cubicBezTo>
                    <a:cubicBezTo>
                      <a:pt x="369" y="40"/>
                      <a:pt x="369" y="40"/>
                      <a:pt x="369" y="40"/>
                    </a:cubicBezTo>
                    <a:cubicBezTo>
                      <a:pt x="366" y="41"/>
                      <a:pt x="366" y="41"/>
                      <a:pt x="366" y="41"/>
                    </a:cubicBezTo>
                    <a:cubicBezTo>
                      <a:pt x="372" y="67"/>
                      <a:pt x="372" y="67"/>
                      <a:pt x="372" y="67"/>
                    </a:cubicBezTo>
                    <a:cubicBezTo>
                      <a:pt x="362" y="68"/>
                      <a:pt x="354" y="77"/>
                      <a:pt x="354" y="87"/>
                    </a:cubicBezTo>
                    <a:cubicBezTo>
                      <a:pt x="354" y="93"/>
                      <a:pt x="356" y="98"/>
                      <a:pt x="360" y="102"/>
                    </a:cubicBezTo>
                    <a:cubicBezTo>
                      <a:pt x="358" y="101"/>
                      <a:pt x="358" y="101"/>
                      <a:pt x="358" y="101"/>
                    </a:cubicBezTo>
                    <a:cubicBezTo>
                      <a:pt x="284" y="243"/>
                      <a:pt x="284" y="243"/>
                      <a:pt x="284" y="243"/>
                    </a:cubicBezTo>
                    <a:cubicBezTo>
                      <a:pt x="285" y="244"/>
                      <a:pt x="285" y="244"/>
                      <a:pt x="285" y="244"/>
                    </a:cubicBezTo>
                    <a:cubicBezTo>
                      <a:pt x="285" y="244"/>
                      <a:pt x="284" y="244"/>
                      <a:pt x="284" y="244"/>
                    </a:cubicBezTo>
                    <a:cubicBezTo>
                      <a:pt x="278" y="196"/>
                      <a:pt x="278" y="196"/>
                      <a:pt x="278" y="196"/>
                    </a:cubicBezTo>
                    <a:cubicBezTo>
                      <a:pt x="275" y="196"/>
                      <a:pt x="275" y="196"/>
                      <a:pt x="275" y="196"/>
                    </a:cubicBezTo>
                    <a:cubicBezTo>
                      <a:pt x="281" y="244"/>
                      <a:pt x="281" y="244"/>
                      <a:pt x="281" y="244"/>
                    </a:cubicBezTo>
                    <a:cubicBezTo>
                      <a:pt x="277" y="245"/>
                      <a:pt x="273" y="248"/>
                      <a:pt x="270" y="251"/>
                    </a:cubicBezTo>
                    <a:cubicBezTo>
                      <a:pt x="271" y="249"/>
                      <a:pt x="271" y="249"/>
                      <a:pt x="271" y="249"/>
                    </a:cubicBezTo>
                    <a:cubicBezTo>
                      <a:pt x="166" y="187"/>
                      <a:pt x="166" y="187"/>
                      <a:pt x="166" y="187"/>
                    </a:cubicBezTo>
                    <a:cubicBezTo>
                      <a:pt x="165" y="190"/>
                      <a:pt x="165" y="190"/>
                      <a:pt x="165" y="190"/>
                    </a:cubicBezTo>
                    <a:cubicBezTo>
                      <a:pt x="270" y="251"/>
                      <a:pt x="270" y="251"/>
                      <a:pt x="270" y="251"/>
                    </a:cubicBezTo>
                    <a:cubicBezTo>
                      <a:pt x="267" y="255"/>
                      <a:pt x="265" y="259"/>
                      <a:pt x="265" y="264"/>
                    </a:cubicBezTo>
                    <a:cubicBezTo>
                      <a:pt x="265" y="265"/>
                      <a:pt x="265" y="266"/>
                      <a:pt x="265" y="267"/>
                    </a:cubicBezTo>
                    <a:cubicBezTo>
                      <a:pt x="17" y="376"/>
                      <a:pt x="17" y="376"/>
                      <a:pt x="17" y="376"/>
                    </a:cubicBezTo>
                    <a:cubicBezTo>
                      <a:pt x="18" y="379"/>
                      <a:pt x="18" y="379"/>
                      <a:pt x="18" y="379"/>
                    </a:cubicBezTo>
                    <a:cubicBezTo>
                      <a:pt x="266" y="270"/>
                      <a:pt x="266" y="270"/>
                      <a:pt x="266" y="270"/>
                    </a:cubicBezTo>
                    <a:cubicBezTo>
                      <a:pt x="269" y="278"/>
                      <a:pt x="276" y="285"/>
                      <a:pt x="285" y="285"/>
                    </a:cubicBezTo>
                    <a:cubicBezTo>
                      <a:pt x="296" y="285"/>
                      <a:pt x="306" y="275"/>
                      <a:pt x="306" y="264"/>
                    </a:cubicBezTo>
                    <a:cubicBezTo>
                      <a:pt x="306" y="265"/>
                      <a:pt x="306" y="265"/>
                      <a:pt x="306" y="265"/>
                    </a:cubicBezTo>
                    <a:cubicBezTo>
                      <a:pt x="599" y="250"/>
                      <a:pt x="599" y="250"/>
                      <a:pt x="599" y="250"/>
                    </a:cubicBezTo>
                    <a:cubicBezTo>
                      <a:pt x="599" y="247"/>
                      <a:pt x="599" y="247"/>
                      <a:pt x="599" y="247"/>
                    </a:cubicBezTo>
                    <a:cubicBezTo>
                      <a:pt x="305" y="263"/>
                      <a:pt x="305" y="263"/>
                      <a:pt x="305" y="263"/>
                    </a:cubicBezTo>
                    <a:cubicBezTo>
                      <a:pt x="305" y="258"/>
                      <a:pt x="303" y="254"/>
                      <a:pt x="301" y="251"/>
                    </a:cubicBezTo>
                    <a:cubicBezTo>
                      <a:pt x="549" y="123"/>
                      <a:pt x="549" y="123"/>
                      <a:pt x="549" y="123"/>
                    </a:cubicBezTo>
                    <a:cubicBezTo>
                      <a:pt x="548" y="121"/>
                      <a:pt x="548" y="121"/>
                      <a:pt x="548" y="121"/>
                    </a:cubicBezTo>
                    <a:cubicBezTo>
                      <a:pt x="552" y="125"/>
                      <a:pt x="557" y="127"/>
                      <a:pt x="563" y="127"/>
                    </a:cubicBezTo>
                    <a:cubicBezTo>
                      <a:pt x="561" y="128"/>
                      <a:pt x="561" y="128"/>
                      <a:pt x="561" y="128"/>
                    </a:cubicBezTo>
                    <a:cubicBezTo>
                      <a:pt x="604" y="234"/>
                      <a:pt x="604" y="234"/>
                      <a:pt x="604" y="234"/>
                    </a:cubicBezTo>
                    <a:cubicBezTo>
                      <a:pt x="605" y="234"/>
                      <a:pt x="605" y="234"/>
                      <a:pt x="605" y="234"/>
                    </a:cubicBezTo>
                    <a:cubicBezTo>
                      <a:pt x="602" y="238"/>
                      <a:pt x="599" y="243"/>
                      <a:pt x="599" y="248"/>
                    </a:cubicBezTo>
                    <a:cubicBezTo>
                      <a:pt x="599" y="259"/>
                      <a:pt x="608" y="268"/>
                      <a:pt x="618" y="269"/>
                    </a:cubicBezTo>
                    <a:cubicBezTo>
                      <a:pt x="565" y="530"/>
                      <a:pt x="565" y="530"/>
                      <a:pt x="565" y="530"/>
                    </a:cubicBezTo>
                    <a:cubicBezTo>
                      <a:pt x="493" y="530"/>
                      <a:pt x="493" y="530"/>
                      <a:pt x="493" y="530"/>
                    </a:cubicBezTo>
                    <a:cubicBezTo>
                      <a:pt x="493" y="545"/>
                      <a:pt x="493" y="545"/>
                      <a:pt x="493" y="545"/>
                    </a:cubicBezTo>
                    <a:cubicBezTo>
                      <a:pt x="406" y="529"/>
                      <a:pt x="406" y="529"/>
                      <a:pt x="406" y="529"/>
                    </a:cubicBezTo>
                    <a:cubicBezTo>
                      <a:pt x="407" y="524"/>
                      <a:pt x="407" y="519"/>
                      <a:pt x="407" y="515"/>
                    </a:cubicBezTo>
                    <a:cubicBezTo>
                      <a:pt x="407" y="460"/>
                      <a:pt x="363" y="416"/>
                      <a:pt x="308" y="416"/>
                    </a:cubicBezTo>
                    <a:cubicBezTo>
                      <a:pt x="257" y="416"/>
                      <a:pt x="215" y="454"/>
                      <a:pt x="210" y="503"/>
                    </a:cubicBezTo>
                    <a:cubicBezTo>
                      <a:pt x="92" y="479"/>
                      <a:pt x="92" y="479"/>
                      <a:pt x="92" y="479"/>
                    </a:cubicBezTo>
                    <a:cubicBezTo>
                      <a:pt x="92" y="480"/>
                      <a:pt x="92" y="480"/>
                      <a:pt x="92" y="480"/>
                    </a:cubicBezTo>
                    <a:cubicBezTo>
                      <a:pt x="92" y="469"/>
                      <a:pt x="84" y="461"/>
                      <a:pt x="73" y="460"/>
                    </a:cubicBezTo>
                    <a:cubicBezTo>
                      <a:pt x="272" y="280"/>
                      <a:pt x="272" y="280"/>
                      <a:pt x="272" y="280"/>
                    </a:cubicBezTo>
                    <a:cubicBezTo>
                      <a:pt x="270" y="278"/>
                      <a:pt x="270" y="278"/>
                      <a:pt x="270" y="278"/>
                    </a:cubicBezTo>
                    <a:cubicBezTo>
                      <a:pt x="70" y="459"/>
                      <a:pt x="70" y="459"/>
                      <a:pt x="70" y="459"/>
                    </a:cubicBezTo>
                    <a:cubicBezTo>
                      <a:pt x="71" y="460"/>
                      <a:pt x="71" y="460"/>
                      <a:pt x="71" y="460"/>
                    </a:cubicBezTo>
                    <a:cubicBezTo>
                      <a:pt x="60" y="460"/>
                      <a:pt x="51" y="469"/>
                      <a:pt x="51" y="480"/>
                    </a:cubicBezTo>
                    <a:cubicBezTo>
                      <a:pt x="51" y="491"/>
                      <a:pt x="60" y="500"/>
                      <a:pt x="71" y="501"/>
                    </a:cubicBezTo>
                    <a:cubicBezTo>
                      <a:pt x="70" y="501"/>
                      <a:pt x="70" y="501"/>
                      <a:pt x="70" y="501"/>
                    </a:cubicBezTo>
                    <a:cubicBezTo>
                      <a:pt x="128" y="736"/>
                      <a:pt x="128" y="736"/>
                      <a:pt x="128" y="736"/>
                    </a:cubicBezTo>
                    <a:cubicBezTo>
                      <a:pt x="120" y="737"/>
                      <a:pt x="113" y="743"/>
                      <a:pt x="110" y="751"/>
                    </a:cubicBezTo>
                    <a:cubicBezTo>
                      <a:pt x="0" y="747"/>
                      <a:pt x="0" y="747"/>
                      <a:pt x="0" y="747"/>
                    </a:cubicBezTo>
                    <a:cubicBezTo>
                      <a:pt x="0" y="750"/>
                      <a:pt x="0" y="750"/>
                      <a:pt x="0" y="750"/>
                    </a:cubicBezTo>
                    <a:cubicBezTo>
                      <a:pt x="110" y="754"/>
                      <a:pt x="110" y="754"/>
                      <a:pt x="110" y="754"/>
                    </a:cubicBezTo>
                    <a:cubicBezTo>
                      <a:pt x="110" y="755"/>
                      <a:pt x="110" y="755"/>
                      <a:pt x="110" y="756"/>
                    </a:cubicBezTo>
                    <a:cubicBezTo>
                      <a:pt x="110" y="767"/>
                      <a:pt x="119" y="777"/>
                      <a:pt x="130" y="777"/>
                    </a:cubicBezTo>
                    <a:cubicBezTo>
                      <a:pt x="135" y="777"/>
                      <a:pt x="140" y="774"/>
                      <a:pt x="144" y="771"/>
                    </a:cubicBezTo>
                    <a:cubicBezTo>
                      <a:pt x="143" y="772"/>
                      <a:pt x="143" y="772"/>
                      <a:pt x="143" y="772"/>
                    </a:cubicBezTo>
                    <a:cubicBezTo>
                      <a:pt x="301" y="867"/>
                      <a:pt x="301" y="867"/>
                      <a:pt x="301" y="867"/>
                    </a:cubicBezTo>
                    <a:cubicBezTo>
                      <a:pt x="302" y="866"/>
                      <a:pt x="302" y="866"/>
                      <a:pt x="302" y="866"/>
                    </a:cubicBezTo>
                    <a:cubicBezTo>
                      <a:pt x="302" y="866"/>
                      <a:pt x="302" y="866"/>
                      <a:pt x="302" y="866"/>
                    </a:cubicBezTo>
                    <a:cubicBezTo>
                      <a:pt x="302" y="870"/>
                      <a:pt x="303" y="874"/>
                      <a:pt x="305" y="877"/>
                    </a:cubicBezTo>
                    <a:cubicBezTo>
                      <a:pt x="195" y="925"/>
                      <a:pt x="195" y="925"/>
                      <a:pt x="195" y="925"/>
                    </a:cubicBezTo>
                    <a:cubicBezTo>
                      <a:pt x="197" y="928"/>
                      <a:pt x="197" y="928"/>
                      <a:pt x="197" y="928"/>
                    </a:cubicBezTo>
                    <a:cubicBezTo>
                      <a:pt x="307" y="879"/>
                      <a:pt x="307" y="879"/>
                      <a:pt x="307" y="879"/>
                    </a:cubicBezTo>
                    <a:cubicBezTo>
                      <a:pt x="311" y="883"/>
                      <a:pt x="316" y="886"/>
                      <a:pt x="322" y="886"/>
                    </a:cubicBezTo>
                    <a:cubicBezTo>
                      <a:pt x="321" y="886"/>
                      <a:pt x="321" y="886"/>
                      <a:pt x="321" y="886"/>
                    </a:cubicBezTo>
                    <a:cubicBezTo>
                      <a:pt x="344" y="1025"/>
                      <a:pt x="344" y="1025"/>
                      <a:pt x="344" y="1025"/>
                    </a:cubicBezTo>
                    <a:cubicBezTo>
                      <a:pt x="347" y="1024"/>
                      <a:pt x="347" y="1024"/>
                      <a:pt x="347" y="1024"/>
                    </a:cubicBezTo>
                    <a:cubicBezTo>
                      <a:pt x="324" y="886"/>
                      <a:pt x="324" y="886"/>
                      <a:pt x="324" y="886"/>
                    </a:cubicBezTo>
                    <a:cubicBezTo>
                      <a:pt x="334" y="885"/>
                      <a:pt x="343" y="877"/>
                      <a:pt x="343" y="866"/>
                    </a:cubicBezTo>
                    <a:cubicBezTo>
                      <a:pt x="343" y="861"/>
                      <a:pt x="341" y="856"/>
                      <a:pt x="338" y="853"/>
                    </a:cubicBezTo>
                    <a:cubicBezTo>
                      <a:pt x="514" y="758"/>
                      <a:pt x="514" y="758"/>
                      <a:pt x="514" y="758"/>
                    </a:cubicBezTo>
                    <a:cubicBezTo>
                      <a:pt x="513" y="756"/>
                      <a:pt x="513" y="756"/>
                      <a:pt x="513" y="756"/>
                    </a:cubicBezTo>
                    <a:cubicBezTo>
                      <a:pt x="516" y="760"/>
                      <a:pt x="522" y="762"/>
                      <a:pt x="528" y="762"/>
                    </a:cubicBezTo>
                    <a:cubicBezTo>
                      <a:pt x="528" y="762"/>
                      <a:pt x="528" y="762"/>
                      <a:pt x="528" y="762"/>
                    </a:cubicBezTo>
                    <a:cubicBezTo>
                      <a:pt x="527" y="763"/>
                      <a:pt x="527" y="763"/>
                      <a:pt x="527" y="763"/>
                    </a:cubicBezTo>
                    <a:cubicBezTo>
                      <a:pt x="603" y="898"/>
                      <a:pt x="603" y="898"/>
                      <a:pt x="603" y="898"/>
                    </a:cubicBezTo>
                    <a:cubicBezTo>
                      <a:pt x="586" y="916"/>
                      <a:pt x="575" y="941"/>
                      <a:pt x="575" y="968"/>
                    </a:cubicBezTo>
                    <a:cubicBezTo>
                      <a:pt x="575" y="976"/>
                      <a:pt x="576" y="984"/>
                      <a:pt x="578" y="992"/>
                    </a:cubicBezTo>
                    <a:cubicBezTo>
                      <a:pt x="366" y="1043"/>
                      <a:pt x="366" y="1043"/>
                      <a:pt x="366" y="1043"/>
                    </a:cubicBezTo>
                    <a:cubicBezTo>
                      <a:pt x="365" y="1033"/>
                      <a:pt x="356" y="1025"/>
                      <a:pt x="346" y="1025"/>
                    </a:cubicBezTo>
                    <a:cubicBezTo>
                      <a:pt x="334" y="1025"/>
                      <a:pt x="325" y="1034"/>
                      <a:pt x="325" y="1045"/>
                    </a:cubicBezTo>
                    <a:cubicBezTo>
                      <a:pt x="325" y="1056"/>
                      <a:pt x="334" y="1065"/>
                      <a:pt x="346" y="1065"/>
                    </a:cubicBezTo>
                    <a:cubicBezTo>
                      <a:pt x="357" y="1065"/>
                      <a:pt x="366" y="1056"/>
                      <a:pt x="366" y="1045"/>
                    </a:cubicBezTo>
                    <a:cubicBezTo>
                      <a:pt x="366" y="1045"/>
                      <a:pt x="366" y="1045"/>
                      <a:pt x="366" y="1045"/>
                    </a:cubicBezTo>
                    <a:cubicBezTo>
                      <a:pt x="366" y="1046"/>
                      <a:pt x="366" y="1046"/>
                      <a:pt x="366" y="1046"/>
                    </a:cubicBezTo>
                    <a:cubicBezTo>
                      <a:pt x="579" y="995"/>
                      <a:pt x="579" y="995"/>
                      <a:pt x="579" y="995"/>
                    </a:cubicBezTo>
                    <a:cubicBezTo>
                      <a:pt x="590" y="1036"/>
                      <a:pt x="629" y="1067"/>
                      <a:pt x="674" y="1067"/>
                    </a:cubicBezTo>
                    <a:cubicBezTo>
                      <a:pt x="728" y="1067"/>
                      <a:pt x="772" y="1023"/>
                      <a:pt x="773" y="969"/>
                    </a:cubicBezTo>
                    <a:cubicBezTo>
                      <a:pt x="1060" y="1046"/>
                      <a:pt x="1060" y="1046"/>
                      <a:pt x="1060" y="1046"/>
                    </a:cubicBezTo>
                    <a:cubicBezTo>
                      <a:pt x="1061" y="1046"/>
                      <a:pt x="1061" y="1046"/>
                      <a:pt x="1061" y="1046"/>
                    </a:cubicBezTo>
                    <a:cubicBezTo>
                      <a:pt x="1061" y="1056"/>
                      <a:pt x="1070" y="1065"/>
                      <a:pt x="1081" y="1065"/>
                    </a:cubicBezTo>
                    <a:cubicBezTo>
                      <a:pt x="1092" y="1065"/>
                      <a:pt x="1101" y="1056"/>
                      <a:pt x="1101" y="1045"/>
                    </a:cubicBezTo>
                    <a:cubicBezTo>
                      <a:pt x="1102" y="1046"/>
                      <a:pt x="1102" y="1046"/>
                      <a:pt x="1102" y="1046"/>
                    </a:cubicBezTo>
                    <a:cubicBezTo>
                      <a:pt x="1223" y="973"/>
                      <a:pt x="1223" y="973"/>
                      <a:pt x="1223" y="973"/>
                    </a:cubicBezTo>
                    <a:cubicBezTo>
                      <a:pt x="1241" y="991"/>
                      <a:pt x="1265" y="1001"/>
                      <a:pt x="1292" y="1001"/>
                    </a:cubicBezTo>
                    <a:cubicBezTo>
                      <a:pt x="1332" y="1001"/>
                      <a:pt x="1367" y="977"/>
                      <a:pt x="1383" y="942"/>
                    </a:cubicBezTo>
                    <a:cubicBezTo>
                      <a:pt x="1438" y="969"/>
                      <a:pt x="1438" y="969"/>
                      <a:pt x="1438" y="969"/>
                    </a:cubicBezTo>
                    <a:cubicBezTo>
                      <a:pt x="1435" y="972"/>
                      <a:pt x="1433" y="977"/>
                      <a:pt x="1433" y="982"/>
                    </a:cubicBezTo>
                    <a:cubicBezTo>
                      <a:pt x="1433" y="993"/>
                      <a:pt x="1442" y="1002"/>
                      <a:pt x="1453" y="1002"/>
                    </a:cubicBezTo>
                    <a:cubicBezTo>
                      <a:pt x="1455" y="1002"/>
                      <a:pt x="1456" y="1002"/>
                      <a:pt x="1457" y="1002"/>
                    </a:cubicBezTo>
                    <a:cubicBezTo>
                      <a:pt x="1464" y="1066"/>
                      <a:pt x="1464" y="1066"/>
                      <a:pt x="1464" y="1066"/>
                    </a:cubicBezTo>
                    <a:cubicBezTo>
                      <a:pt x="1467" y="1065"/>
                      <a:pt x="1467" y="1065"/>
                      <a:pt x="1467" y="1065"/>
                    </a:cubicBezTo>
                    <a:cubicBezTo>
                      <a:pt x="1460" y="1001"/>
                      <a:pt x="1460" y="1001"/>
                      <a:pt x="1460" y="1001"/>
                    </a:cubicBezTo>
                    <a:cubicBezTo>
                      <a:pt x="1468" y="999"/>
                      <a:pt x="1474" y="991"/>
                      <a:pt x="1474" y="982"/>
                    </a:cubicBezTo>
                    <a:cubicBezTo>
                      <a:pt x="1474" y="971"/>
                      <a:pt x="1466" y="963"/>
                      <a:pt x="1455" y="962"/>
                    </a:cubicBezTo>
                    <a:cubicBezTo>
                      <a:pt x="1455" y="962"/>
                      <a:pt x="1455" y="962"/>
                      <a:pt x="1455" y="962"/>
                    </a:cubicBezTo>
                    <a:cubicBezTo>
                      <a:pt x="1454" y="962"/>
                      <a:pt x="1454" y="962"/>
                      <a:pt x="1454" y="962"/>
                    </a:cubicBezTo>
                    <a:cubicBezTo>
                      <a:pt x="1453" y="962"/>
                      <a:pt x="1453" y="962"/>
                      <a:pt x="1453" y="962"/>
                    </a:cubicBezTo>
                    <a:cubicBezTo>
                      <a:pt x="1448" y="962"/>
                      <a:pt x="1443" y="964"/>
                      <a:pt x="1439" y="968"/>
                    </a:cubicBezTo>
                    <a:cubicBezTo>
                      <a:pt x="1440" y="966"/>
                      <a:pt x="1440" y="966"/>
                      <a:pt x="1440" y="966"/>
                    </a:cubicBezTo>
                    <a:cubicBezTo>
                      <a:pt x="1384" y="939"/>
                      <a:pt x="1384" y="939"/>
                      <a:pt x="1384" y="939"/>
                    </a:cubicBezTo>
                    <a:cubicBezTo>
                      <a:pt x="1388" y="928"/>
                      <a:pt x="1391" y="915"/>
                      <a:pt x="1391" y="902"/>
                    </a:cubicBezTo>
                    <a:cubicBezTo>
                      <a:pt x="1391" y="872"/>
                      <a:pt x="1377" y="844"/>
                      <a:pt x="1355" y="826"/>
                    </a:cubicBezTo>
                    <a:cubicBezTo>
                      <a:pt x="1617" y="636"/>
                      <a:pt x="1617" y="636"/>
                      <a:pt x="1617" y="636"/>
                    </a:cubicBezTo>
                    <a:cubicBezTo>
                      <a:pt x="1620" y="641"/>
                      <a:pt x="1626" y="645"/>
                      <a:pt x="1633" y="645"/>
                    </a:cubicBezTo>
                    <a:cubicBezTo>
                      <a:pt x="1599" y="817"/>
                      <a:pt x="1599" y="817"/>
                      <a:pt x="1599" y="817"/>
                    </a:cubicBezTo>
                    <a:cubicBezTo>
                      <a:pt x="1602" y="817"/>
                      <a:pt x="1602" y="817"/>
                      <a:pt x="1602" y="817"/>
                    </a:cubicBezTo>
                    <a:cubicBezTo>
                      <a:pt x="1601" y="817"/>
                      <a:pt x="1601" y="817"/>
                      <a:pt x="1601" y="817"/>
                    </a:cubicBezTo>
                    <a:cubicBezTo>
                      <a:pt x="1590" y="817"/>
                      <a:pt x="1580" y="826"/>
                      <a:pt x="1580" y="838"/>
                    </a:cubicBezTo>
                    <a:cubicBezTo>
                      <a:pt x="1580" y="843"/>
                      <a:pt x="1583" y="848"/>
                      <a:pt x="1586" y="852"/>
                    </a:cubicBezTo>
                    <a:cubicBezTo>
                      <a:pt x="1590" y="855"/>
                      <a:pt x="1595" y="858"/>
                      <a:pt x="1601" y="858"/>
                    </a:cubicBezTo>
                    <a:cubicBezTo>
                      <a:pt x="1605" y="858"/>
                      <a:pt x="1609" y="856"/>
                      <a:pt x="1612" y="854"/>
                    </a:cubicBezTo>
                    <a:cubicBezTo>
                      <a:pt x="1690" y="898"/>
                      <a:pt x="1690" y="898"/>
                      <a:pt x="1690" y="898"/>
                    </a:cubicBezTo>
                    <a:cubicBezTo>
                      <a:pt x="1691" y="895"/>
                      <a:pt x="1691" y="895"/>
                      <a:pt x="1691" y="895"/>
                    </a:cubicBezTo>
                    <a:cubicBezTo>
                      <a:pt x="1615" y="852"/>
                      <a:pt x="1615" y="852"/>
                      <a:pt x="1615" y="852"/>
                    </a:cubicBezTo>
                    <a:cubicBezTo>
                      <a:pt x="1619" y="849"/>
                      <a:pt x="1621" y="843"/>
                      <a:pt x="1621" y="838"/>
                    </a:cubicBezTo>
                    <a:cubicBezTo>
                      <a:pt x="1621" y="827"/>
                      <a:pt x="1613" y="818"/>
                      <a:pt x="1602" y="817"/>
                    </a:cubicBezTo>
                    <a:cubicBezTo>
                      <a:pt x="1636" y="646"/>
                      <a:pt x="1636" y="646"/>
                      <a:pt x="1636" y="646"/>
                    </a:cubicBezTo>
                    <a:cubicBezTo>
                      <a:pt x="1634" y="646"/>
                      <a:pt x="1634" y="646"/>
                      <a:pt x="1634" y="646"/>
                    </a:cubicBezTo>
                    <a:cubicBezTo>
                      <a:pt x="1634" y="646"/>
                      <a:pt x="1634" y="646"/>
                      <a:pt x="1634" y="646"/>
                    </a:cubicBezTo>
                    <a:cubicBezTo>
                      <a:pt x="1646" y="646"/>
                      <a:pt x="1655" y="637"/>
                      <a:pt x="1655" y="625"/>
                    </a:cubicBezTo>
                    <a:cubicBezTo>
                      <a:pt x="1709" y="619"/>
                      <a:pt x="1709" y="619"/>
                      <a:pt x="1709" y="619"/>
                    </a:cubicBezTo>
                    <a:cubicBezTo>
                      <a:pt x="1709" y="616"/>
                      <a:pt x="1709" y="616"/>
                      <a:pt x="1709" y="616"/>
                    </a:cubicBezTo>
                    <a:cubicBezTo>
                      <a:pt x="1655" y="623"/>
                      <a:pt x="1655" y="623"/>
                      <a:pt x="1655" y="623"/>
                    </a:cubicBezTo>
                    <a:cubicBezTo>
                      <a:pt x="1654" y="618"/>
                      <a:pt x="1651" y="613"/>
                      <a:pt x="1648" y="610"/>
                    </a:cubicBezTo>
                    <a:cubicBezTo>
                      <a:pt x="1648" y="610"/>
                      <a:pt x="1648" y="610"/>
                      <a:pt x="1648" y="610"/>
                    </a:cubicBezTo>
                    <a:cubicBezTo>
                      <a:pt x="1647" y="610"/>
                      <a:pt x="1647" y="609"/>
                      <a:pt x="1647" y="609"/>
                    </a:cubicBezTo>
                    <a:cubicBezTo>
                      <a:pt x="1715" y="500"/>
                      <a:pt x="1715" y="500"/>
                      <a:pt x="1715" y="500"/>
                    </a:cubicBezTo>
                    <a:lnTo>
                      <a:pt x="1712" y="498"/>
                    </a:lnTo>
                    <a:close/>
                    <a:moveTo>
                      <a:pt x="299" y="249"/>
                    </a:moveTo>
                    <a:cubicBezTo>
                      <a:pt x="300" y="250"/>
                      <a:pt x="300" y="250"/>
                      <a:pt x="300" y="250"/>
                    </a:cubicBezTo>
                    <a:cubicBezTo>
                      <a:pt x="296" y="246"/>
                      <a:pt x="292" y="244"/>
                      <a:pt x="287" y="244"/>
                    </a:cubicBezTo>
                    <a:cubicBezTo>
                      <a:pt x="361" y="102"/>
                      <a:pt x="361" y="102"/>
                      <a:pt x="361" y="102"/>
                    </a:cubicBezTo>
                    <a:cubicBezTo>
                      <a:pt x="364" y="106"/>
                      <a:pt x="369" y="107"/>
                      <a:pt x="374" y="107"/>
                    </a:cubicBezTo>
                    <a:cubicBezTo>
                      <a:pt x="385" y="107"/>
                      <a:pt x="393" y="99"/>
                      <a:pt x="394" y="89"/>
                    </a:cubicBezTo>
                    <a:cubicBezTo>
                      <a:pt x="543" y="108"/>
                      <a:pt x="543" y="108"/>
                      <a:pt x="543" y="108"/>
                    </a:cubicBezTo>
                    <a:cubicBezTo>
                      <a:pt x="543" y="108"/>
                      <a:pt x="543" y="108"/>
                      <a:pt x="543" y="108"/>
                    </a:cubicBezTo>
                    <a:cubicBezTo>
                      <a:pt x="543" y="112"/>
                      <a:pt x="545" y="117"/>
                      <a:pt x="548" y="120"/>
                    </a:cubicBezTo>
                    <a:lnTo>
                      <a:pt x="299" y="249"/>
                    </a:lnTo>
                    <a:close/>
                    <a:moveTo>
                      <a:pt x="1370" y="502"/>
                    </a:moveTo>
                    <a:cubicBezTo>
                      <a:pt x="1342" y="518"/>
                      <a:pt x="1322" y="548"/>
                      <a:pt x="1320" y="583"/>
                    </a:cubicBezTo>
                    <a:cubicBezTo>
                      <a:pt x="1257" y="586"/>
                      <a:pt x="1257" y="586"/>
                      <a:pt x="1257" y="586"/>
                    </a:cubicBezTo>
                    <a:cubicBezTo>
                      <a:pt x="1257" y="559"/>
                      <a:pt x="1257" y="559"/>
                      <a:pt x="1257" y="559"/>
                    </a:cubicBezTo>
                    <a:cubicBezTo>
                      <a:pt x="1096" y="559"/>
                      <a:pt x="1096" y="559"/>
                      <a:pt x="1096" y="559"/>
                    </a:cubicBezTo>
                    <a:cubicBezTo>
                      <a:pt x="1096" y="595"/>
                      <a:pt x="1096" y="595"/>
                      <a:pt x="1096" y="595"/>
                    </a:cubicBezTo>
                    <a:cubicBezTo>
                      <a:pt x="1006" y="599"/>
                      <a:pt x="1006" y="599"/>
                      <a:pt x="1006" y="599"/>
                    </a:cubicBezTo>
                    <a:cubicBezTo>
                      <a:pt x="1007" y="591"/>
                      <a:pt x="1008" y="583"/>
                      <a:pt x="1008" y="574"/>
                    </a:cubicBezTo>
                    <a:cubicBezTo>
                      <a:pt x="1008" y="540"/>
                      <a:pt x="997" y="510"/>
                      <a:pt x="979" y="484"/>
                    </a:cubicBezTo>
                    <a:cubicBezTo>
                      <a:pt x="1024" y="445"/>
                      <a:pt x="1024" y="445"/>
                      <a:pt x="1024" y="445"/>
                    </a:cubicBezTo>
                    <a:cubicBezTo>
                      <a:pt x="1123" y="445"/>
                      <a:pt x="1123" y="445"/>
                      <a:pt x="1123" y="445"/>
                    </a:cubicBezTo>
                    <a:cubicBezTo>
                      <a:pt x="1123" y="384"/>
                      <a:pt x="1123" y="384"/>
                      <a:pt x="1123" y="384"/>
                    </a:cubicBezTo>
                    <a:cubicBezTo>
                      <a:pt x="1091" y="384"/>
                      <a:pt x="1091" y="384"/>
                      <a:pt x="1091" y="384"/>
                    </a:cubicBezTo>
                    <a:cubicBezTo>
                      <a:pt x="1129" y="351"/>
                      <a:pt x="1129" y="351"/>
                      <a:pt x="1129" y="351"/>
                    </a:cubicBezTo>
                    <a:cubicBezTo>
                      <a:pt x="1147" y="369"/>
                      <a:pt x="1172" y="380"/>
                      <a:pt x="1199" y="380"/>
                    </a:cubicBezTo>
                    <a:cubicBezTo>
                      <a:pt x="1226" y="380"/>
                      <a:pt x="1250" y="369"/>
                      <a:pt x="1268" y="352"/>
                    </a:cubicBezTo>
                    <a:lnTo>
                      <a:pt x="1370" y="502"/>
                    </a:lnTo>
                    <a:close/>
                    <a:moveTo>
                      <a:pt x="1037" y="202"/>
                    </a:moveTo>
                    <a:cubicBezTo>
                      <a:pt x="1065" y="41"/>
                      <a:pt x="1065" y="41"/>
                      <a:pt x="1065" y="41"/>
                    </a:cubicBezTo>
                    <a:cubicBezTo>
                      <a:pt x="1063" y="40"/>
                      <a:pt x="1063" y="40"/>
                      <a:pt x="1063" y="40"/>
                    </a:cubicBezTo>
                    <a:cubicBezTo>
                      <a:pt x="1074" y="40"/>
                      <a:pt x="1083" y="32"/>
                      <a:pt x="1083" y="22"/>
                    </a:cubicBezTo>
                    <a:cubicBezTo>
                      <a:pt x="1415" y="145"/>
                      <a:pt x="1415" y="145"/>
                      <a:pt x="1415" y="145"/>
                    </a:cubicBezTo>
                    <a:cubicBezTo>
                      <a:pt x="1413" y="148"/>
                      <a:pt x="1411" y="152"/>
                      <a:pt x="1411" y="157"/>
                    </a:cubicBezTo>
                    <a:cubicBezTo>
                      <a:pt x="1410" y="157"/>
                      <a:pt x="1410" y="157"/>
                      <a:pt x="1410" y="157"/>
                    </a:cubicBezTo>
                    <a:cubicBezTo>
                      <a:pt x="1268" y="210"/>
                      <a:pt x="1268" y="210"/>
                      <a:pt x="1268" y="210"/>
                    </a:cubicBezTo>
                    <a:cubicBezTo>
                      <a:pt x="1251" y="193"/>
                      <a:pt x="1226" y="182"/>
                      <a:pt x="1199" y="182"/>
                    </a:cubicBezTo>
                    <a:cubicBezTo>
                      <a:pt x="1160" y="182"/>
                      <a:pt x="1126" y="205"/>
                      <a:pt x="1110" y="238"/>
                    </a:cubicBezTo>
                    <a:cubicBezTo>
                      <a:pt x="1042" y="215"/>
                      <a:pt x="1042" y="215"/>
                      <a:pt x="1042" y="215"/>
                    </a:cubicBezTo>
                    <a:cubicBezTo>
                      <a:pt x="1041" y="216"/>
                      <a:pt x="1041" y="216"/>
                      <a:pt x="1041" y="216"/>
                    </a:cubicBezTo>
                    <a:cubicBezTo>
                      <a:pt x="1041" y="211"/>
                      <a:pt x="1039" y="206"/>
                      <a:pt x="1035" y="202"/>
                    </a:cubicBezTo>
                    <a:lnTo>
                      <a:pt x="1037" y="202"/>
                    </a:lnTo>
                    <a:close/>
                    <a:moveTo>
                      <a:pt x="1041" y="218"/>
                    </a:moveTo>
                    <a:cubicBezTo>
                      <a:pt x="1109" y="241"/>
                      <a:pt x="1109" y="241"/>
                      <a:pt x="1109" y="241"/>
                    </a:cubicBezTo>
                    <a:cubicBezTo>
                      <a:pt x="1103" y="253"/>
                      <a:pt x="1100" y="267"/>
                      <a:pt x="1100" y="281"/>
                    </a:cubicBezTo>
                    <a:cubicBezTo>
                      <a:pt x="1100" y="305"/>
                      <a:pt x="1109" y="327"/>
                      <a:pt x="1123" y="344"/>
                    </a:cubicBezTo>
                    <a:cubicBezTo>
                      <a:pt x="1078" y="384"/>
                      <a:pt x="1078" y="384"/>
                      <a:pt x="1078" y="384"/>
                    </a:cubicBezTo>
                    <a:cubicBezTo>
                      <a:pt x="986" y="384"/>
                      <a:pt x="986" y="384"/>
                      <a:pt x="986" y="384"/>
                    </a:cubicBezTo>
                    <a:cubicBezTo>
                      <a:pt x="986" y="445"/>
                      <a:pt x="986" y="445"/>
                      <a:pt x="986" y="445"/>
                    </a:cubicBezTo>
                    <a:cubicBezTo>
                      <a:pt x="1010" y="445"/>
                      <a:pt x="1010" y="445"/>
                      <a:pt x="1010" y="445"/>
                    </a:cubicBezTo>
                    <a:cubicBezTo>
                      <a:pt x="974" y="477"/>
                      <a:pt x="974" y="477"/>
                      <a:pt x="974" y="477"/>
                    </a:cubicBezTo>
                    <a:cubicBezTo>
                      <a:pt x="961" y="461"/>
                      <a:pt x="945" y="448"/>
                      <a:pt x="927" y="438"/>
                    </a:cubicBezTo>
                    <a:cubicBezTo>
                      <a:pt x="1022" y="238"/>
                      <a:pt x="1022" y="238"/>
                      <a:pt x="1022" y="238"/>
                    </a:cubicBezTo>
                    <a:cubicBezTo>
                      <a:pt x="1021" y="237"/>
                      <a:pt x="1021" y="237"/>
                      <a:pt x="1021" y="237"/>
                    </a:cubicBezTo>
                    <a:cubicBezTo>
                      <a:pt x="1032" y="237"/>
                      <a:pt x="1041" y="229"/>
                      <a:pt x="1041" y="218"/>
                    </a:cubicBezTo>
                    <a:close/>
                    <a:moveTo>
                      <a:pt x="866" y="145"/>
                    </a:moveTo>
                    <a:cubicBezTo>
                      <a:pt x="1000" y="218"/>
                      <a:pt x="1000" y="218"/>
                      <a:pt x="1000" y="218"/>
                    </a:cubicBezTo>
                    <a:cubicBezTo>
                      <a:pt x="1001" y="216"/>
                      <a:pt x="1001" y="216"/>
                      <a:pt x="1001" y="216"/>
                    </a:cubicBezTo>
                    <a:cubicBezTo>
                      <a:pt x="1001" y="216"/>
                      <a:pt x="1001" y="216"/>
                      <a:pt x="1001" y="217"/>
                    </a:cubicBezTo>
                    <a:cubicBezTo>
                      <a:pt x="1001" y="227"/>
                      <a:pt x="1009" y="236"/>
                      <a:pt x="1019" y="237"/>
                    </a:cubicBezTo>
                    <a:cubicBezTo>
                      <a:pt x="924" y="436"/>
                      <a:pt x="924" y="436"/>
                      <a:pt x="924" y="436"/>
                    </a:cubicBezTo>
                    <a:cubicBezTo>
                      <a:pt x="903" y="425"/>
                      <a:pt x="879" y="419"/>
                      <a:pt x="853" y="419"/>
                    </a:cubicBezTo>
                    <a:cubicBezTo>
                      <a:pt x="847" y="419"/>
                      <a:pt x="841" y="419"/>
                      <a:pt x="835" y="420"/>
                    </a:cubicBezTo>
                    <a:cubicBezTo>
                      <a:pt x="820" y="315"/>
                      <a:pt x="820" y="315"/>
                      <a:pt x="820" y="315"/>
                    </a:cubicBezTo>
                    <a:cubicBezTo>
                      <a:pt x="879" y="315"/>
                      <a:pt x="879" y="315"/>
                      <a:pt x="879" y="315"/>
                    </a:cubicBezTo>
                    <a:cubicBezTo>
                      <a:pt x="879" y="255"/>
                      <a:pt x="879" y="255"/>
                      <a:pt x="879" y="255"/>
                    </a:cubicBezTo>
                    <a:cubicBezTo>
                      <a:pt x="812" y="255"/>
                      <a:pt x="812" y="255"/>
                      <a:pt x="812" y="255"/>
                    </a:cubicBezTo>
                    <a:cubicBezTo>
                      <a:pt x="803" y="195"/>
                      <a:pt x="803" y="195"/>
                      <a:pt x="803" y="195"/>
                    </a:cubicBezTo>
                    <a:cubicBezTo>
                      <a:pt x="830" y="188"/>
                      <a:pt x="853" y="169"/>
                      <a:pt x="866" y="145"/>
                    </a:cubicBezTo>
                    <a:close/>
                    <a:moveTo>
                      <a:pt x="708" y="169"/>
                    </a:moveTo>
                    <a:cubicBezTo>
                      <a:pt x="726" y="187"/>
                      <a:pt x="751" y="198"/>
                      <a:pt x="778" y="198"/>
                    </a:cubicBezTo>
                    <a:cubicBezTo>
                      <a:pt x="784" y="198"/>
                      <a:pt x="789" y="197"/>
                      <a:pt x="794" y="196"/>
                    </a:cubicBezTo>
                    <a:cubicBezTo>
                      <a:pt x="803" y="255"/>
                      <a:pt x="803" y="255"/>
                      <a:pt x="803" y="255"/>
                    </a:cubicBezTo>
                    <a:cubicBezTo>
                      <a:pt x="741" y="255"/>
                      <a:pt x="741" y="255"/>
                      <a:pt x="741" y="255"/>
                    </a:cubicBezTo>
                    <a:cubicBezTo>
                      <a:pt x="741" y="315"/>
                      <a:pt x="741" y="315"/>
                      <a:pt x="741" y="315"/>
                    </a:cubicBezTo>
                    <a:cubicBezTo>
                      <a:pt x="811" y="315"/>
                      <a:pt x="811" y="315"/>
                      <a:pt x="811" y="315"/>
                    </a:cubicBezTo>
                    <a:cubicBezTo>
                      <a:pt x="826" y="421"/>
                      <a:pt x="826" y="421"/>
                      <a:pt x="826" y="421"/>
                    </a:cubicBezTo>
                    <a:cubicBezTo>
                      <a:pt x="807" y="425"/>
                      <a:pt x="788" y="432"/>
                      <a:pt x="772" y="442"/>
                    </a:cubicBezTo>
                    <a:cubicBezTo>
                      <a:pt x="635" y="262"/>
                      <a:pt x="635" y="262"/>
                      <a:pt x="635" y="262"/>
                    </a:cubicBezTo>
                    <a:cubicBezTo>
                      <a:pt x="638" y="258"/>
                      <a:pt x="640" y="253"/>
                      <a:pt x="640" y="248"/>
                    </a:cubicBezTo>
                    <a:cubicBezTo>
                      <a:pt x="640" y="243"/>
                      <a:pt x="638" y="239"/>
                      <a:pt x="635" y="235"/>
                    </a:cubicBezTo>
                    <a:lnTo>
                      <a:pt x="708" y="169"/>
                    </a:lnTo>
                    <a:close/>
                    <a:moveTo>
                      <a:pt x="621" y="269"/>
                    </a:moveTo>
                    <a:cubicBezTo>
                      <a:pt x="620" y="269"/>
                      <a:pt x="620" y="269"/>
                      <a:pt x="620" y="269"/>
                    </a:cubicBezTo>
                    <a:cubicBezTo>
                      <a:pt x="625" y="269"/>
                      <a:pt x="629" y="267"/>
                      <a:pt x="633" y="264"/>
                    </a:cubicBezTo>
                    <a:cubicBezTo>
                      <a:pt x="769" y="444"/>
                      <a:pt x="769" y="444"/>
                      <a:pt x="769" y="444"/>
                    </a:cubicBezTo>
                    <a:cubicBezTo>
                      <a:pt x="727" y="471"/>
                      <a:pt x="698" y="519"/>
                      <a:pt x="698" y="574"/>
                    </a:cubicBezTo>
                    <a:cubicBezTo>
                      <a:pt x="698" y="577"/>
                      <a:pt x="698" y="580"/>
                      <a:pt x="698" y="583"/>
                    </a:cubicBezTo>
                    <a:cubicBezTo>
                      <a:pt x="630" y="570"/>
                      <a:pt x="630" y="570"/>
                      <a:pt x="630" y="570"/>
                    </a:cubicBezTo>
                    <a:cubicBezTo>
                      <a:pt x="630" y="530"/>
                      <a:pt x="630" y="530"/>
                      <a:pt x="630" y="530"/>
                    </a:cubicBezTo>
                    <a:cubicBezTo>
                      <a:pt x="568" y="530"/>
                      <a:pt x="568" y="530"/>
                      <a:pt x="568" y="530"/>
                    </a:cubicBezTo>
                    <a:lnTo>
                      <a:pt x="621" y="269"/>
                    </a:lnTo>
                    <a:close/>
                    <a:moveTo>
                      <a:pt x="529" y="722"/>
                    </a:moveTo>
                    <a:cubicBezTo>
                      <a:pt x="529" y="722"/>
                      <a:pt x="529" y="722"/>
                      <a:pt x="529" y="722"/>
                    </a:cubicBezTo>
                    <a:cubicBezTo>
                      <a:pt x="528" y="722"/>
                      <a:pt x="528" y="722"/>
                      <a:pt x="528" y="722"/>
                    </a:cubicBezTo>
                    <a:cubicBezTo>
                      <a:pt x="516" y="722"/>
                      <a:pt x="507" y="731"/>
                      <a:pt x="507" y="742"/>
                    </a:cubicBezTo>
                    <a:cubicBezTo>
                      <a:pt x="507" y="741"/>
                      <a:pt x="507" y="741"/>
                      <a:pt x="507" y="741"/>
                    </a:cubicBezTo>
                    <a:cubicBezTo>
                      <a:pt x="150" y="755"/>
                      <a:pt x="150" y="755"/>
                      <a:pt x="150" y="755"/>
                    </a:cubicBezTo>
                    <a:cubicBezTo>
                      <a:pt x="150" y="756"/>
                      <a:pt x="150" y="756"/>
                      <a:pt x="150" y="756"/>
                    </a:cubicBezTo>
                    <a:cubicBezTo>
                      <a:pt x="150" y="758"/>
                      <a:pt x="150" y="758"/>
                      <a:pt x="150" y="758"/>
                    </a:cubicBezTo>
                    <a:cubicBezTo>
                      <a:pt x="507" y="743"/>
                      <a:pt x="507" y="743"/>
                      <a:pt x="507" y="743"/>
                    </a:cubicBezTo>
                    <a:cubicBezTo>
                      <a:pt x="507" y="748"/>
                      <a:pt x="509" y="752"/>
                      <a:pt x="512" y="755"/>
                    </a:cubicBezTo>
                    <a:cubicBezTo>
                      <a:pt x="336" y="850"/>
                      <a:pt x="336" y="850"/>
                      <a:pt x="336" y="850"/>
                    </a:cubicBezTo>
                    <a:cubicBezTo>
                      <a:pt x="337" y="851"/>
                      <a:pt x="337" y="851"/>
                      <a:pt x="337" y="851"/>
                    </a:cubicBezTo>
                    <a:cubicBezTo>
                      <a:pt x="333" y="848"/>
                      <a:pt x="328" y="846"/>
                      <a:pt x="323" y="846"/>
                    </a:cubicBezTo>
                    <a:cubicBezTo>
                      <a:pt x="312" y="846"/>
                      <a:pt x="303" y="854"/>
                      <a:pt x="302" y="864"/>
                    </a:cubicBezTo>
                    <a:cubicBezTo>
                      <a:pt x="145" y="769"/>
                      <a:pt x="145" y="769"/>
                      <a:pt x="145" y="769"/>
                    </a:cubicBezTo>
                    <a:cubicBezTo>
                      <a:pt x="148" y="766"/>
                      <a:pt x="150" y="761"/>
                      <a:pt x="150" y="756"/>
                    </a:cubicBezTo>
                    <a:cubicBezTo>
                      <a:pt x="150" y="745"/>
                      <a:pt x="141" y="736"/>
                      <a:pt x="130" y="736"/>
                    </a:cubicBezTo>
                    <a:cubicBezTo>
                      <a:pt x="131" y="736"/>
                      <a:pt x="131" y="736"/>
                      <a:pt x="131" y="736"/>
                    </a:cubicBezTo>
                    <a:cubicBezTo>
                      <a:pt x="73" y="500"/>
                      <a:pt x="73" y="500"/>
                      <a:pt x="73" y="500"/>
                    </a:cubicBezTo>
                    <a:cubicBezTo>
                      <a:pt x="83" y="500"/>
                      <a:pt x="91" y="492"/>
                      <a:pt x="92" y="481"/>
                    </a:cubicBezTo>
                    <a:cubicBezTo>
                      <a:pt x="209" y="506"/>
                      <a:pt x="209" y="506"/>
                      <a:pt x="209" y="506"/>
                    </a:cubicBezTo>
                    <a:cubicBezTo>
                      <a:pt x="209" y="509"/>
                      <a:pt x="209" y="512"/>
                      <a:pt x="209" y="515"/>
                    </a:cubicBezTo>
                    <a:cubicBezTo>
                      <a:pt x="209" y="569"/>
                      <a:pt x="254" y="614"/>
                      <a:pt x="308" y="614"/>
                    </a:cubicBezTo>
                    <a:cubicBezTo>
                      <a:pt x="355" y="614"/>
                      <a:pt x="394" y="581"/>
                      <a:pt x="405" y="538"/>
                    </a:cubicBezTo>
                    <a:cubicBezTo>
                      <a:pt x="493" y="554"/>
                      <a:pt x="493" y="554"/>
                      <a:pt x="493" y="554"/>
                    </a:cubicBezTo>
                    <a:cubicBezTo>
                      <a:pt x="493" y="590"/>
                      <a:pt x="493" y="590"/>
                      <a:pt x="493" y="590"/>
                    </a:cubicBezTo>
                    <a:cubicBezTo>
                      <a:pt x="553" y="590"/>
                      <a:pt x="553" y="590"/>
                      <a:pt x="553" y="590"/>
                    </a:cubicBezTo>
                    <a:cubicBezTo>
                      <a:pt x="526" y="721"/>
                      <a:pt x="526" y="721"/>
                      <a:pt x="526" y="721"/>
                    </a:cubicBezTo>
                    <a:cubicBezTo>
                      <a:pt x="529" y="722"/>
                      <a:pt x="529" y="722"/>
                      <a:pt x="529" y="722"/>
                    </a:cubicBezTo>
                    <a:cubicBezTo>
                      <a:pt x="529" y="722"/>
                      <a:pt x="529" y="722"/>
                      <a:pt x="529" y="722"/>
                    </a:cubicBezTo>
                    <a:cubicBezTo>
                      <a:pt x="556" y="590"/>
                      <a:pt x="556" y="590"/>
                      <a:pt x="556" y="590"/>
                    </a:cubicBezTo>
                    <a:cubicBezTo>
                      <a:pt x="630" y="590"/>
                      <a:pt x="630" y="590"/>
                      <a:pt x="630" y="590"/>
                    </a:cubicBezTo>
                    <a:cubicBezTo>
                      <a:pt x="630" y="579"/>
                      <a:pt x="630" y="579"/>
                      <a:pt x="630" y="579"/>
                    </a:cubicBezTo>
                    <a:cubicBezTo>
                      <a:pt x="699" y="592"/>
                      <a:pt x="699" y="592"/>
                      <a:pt x="699" y="592"/>
                    </a:cubicBezTo>
                    <a:cubicBezTo>
                      <a:pt x="702" y="615"/>
                      <a:pt x="709" y="636"/>
                      <a:pt x="721" y="654"/>
                    </a:cubicBezTo>
                    <a:cubicBezTo>
                      <a:pt x="542" y="726"/>
                      <a:pt x="542" y="726"/>
                      <a:pt x="542" y="726"/>
                    </a:cubicBezTo>
                    <a:cubicBezTo>
                      <a:pt x="542" y="728"/>
                      <a:pt x="542" y="728"/>
                      <a:pt x="542" y="728"/>
                    </a:cubicBezTo>
                    <a:cubicBezTo>
                      <a:pt x="539" y="725"/>
                      <a:pt x="534" y="722"/>
                      <a:pt x="529" y="722"/>
                    </a:cubicBezTo>
                    <a:close/>
                    <a:moveTo>
                      <a:pt x="674" y="869"/>
                    </a:moveTo>
                    <a:cubicBezTo>
                      <a:pt x="647" y="869"/>
                      <a:pt x="623" y="879"/>
                      <a:pt x="605" y="896"/>
                    </a:cubicBezTo>
                    <a:cubicBezTo>
                      <a:pt x="529" y="762"/>
                      <a:pt x="529" y="762"/>
                      <a:pt x="529" y="762"/>
                    </a:cubicBezTo>
                    <a:cubicBezTo>
                      <a:pt x="540" y="761"/>
                      <a:pt x="548" y="753"/>
                      <a:pt x="548" y="742"/>
                    </a:cubicBezTo>
                    <a:cubicBezTo>
                      <a:pt x="548" y="737"/>
                      <a:pt x="546" y="732"/>
                      <a:pt x="543" y="729"/>
                    </a:cubicBezTo>
                    <a:cubicBezTo>
                      <a:pt x="722" y="657"/>
                      <a:pt x="722" y="657"/>
                      <a:pt x="722" y="657"/>
                    </a:cubicBezTo>
                    <a:cubicBezTo>
                      <a:pt x="739" y="682"/>
                      <a:pt x="762" y="703"/>
                      <a:pt x="790" y="715"/>
                    </a:cubicBezTo>
                    <a:cubicBezTo>
                      <a:pt x="768" y="759"/>
                      <a:pt x="768" y="759"/>
                      <a:pt x="768" y="759"/>
                    </a:cubicBezTo>
                    <a:cubicBezTo>
                      <a:pt x="682" y="759"/>
                      <a:pt x="682" y="759"/>
                      <a:pt x="682" y="759"/>
                    </a:cubicBezTo>
                    <a:cubicBezTo>
                      <a:pt x="682" y="819"/>
                      <a:pt x="682" y="819"/>
                      <a:pt x="682" y="819"/>
                    </a:cubicBezTo>
                    <a:cubicBezTo>
                      <a:pt x="736" y="819"/>
                      <a:pt x="736" y="819"/>
                      <a:pt x="736" y="819"/>
                    </a:cubicBezTo>
                    <a:cubicBezTo>
                      <a:pt x="708" y="875"/>
                      <a:pt x="708" y="875"/>
                      <a:pt x="708" y="875"/>
                    </a:cubicBezTo>
                    <a:cubicBezTo>
                      <a:pt x="697" y="871"/>
                      <a:pt x="686" y="869"/>
                      <a:pt x="674" y="869"/>
                    </a:cubicBezTo>
                    <a:close/>
                    <a:moveTo>
                      <a:pt x="1061" y="1043"/>
                    </a:moveTo>
                    <a:cubicBezTo>
                      <a:pt x="773" y="967"/>
                      <a:pt x="773" y="967"/>
                      <a:pt x="773" y="967"/>
                    </a:cubicBezTo>
                    <a:cubicBezTo>
                      <a:pt x="773" y="927"/>
                      <a:pt x="749" y="894"/>
                      <a:pt x="716" y="878"/>
                    </a:cubicBezTo>
                    <a:cubicBezTo>
                      <a:pt x="747" y="819"/>
                      <a:pt x="747" y="819"/>
                      <a:pt x="747" y="819"/>
                    </a:cubicBezTo>
                    <a:cubicBezTo>
                      <a:pt x="820" y="819"/>
                      <a:pt x="820" y="819"/>
                      <a:pt x="820" y="819"/>
                    </a:cubicBezTo>
                    <a:cubicBezTo>
                      <a:pt x="820" y="759"/>
                      <a:pt x="820" y="759"/>
                      <a:pt x="820" y="759"/>
                    </a:cubicBezTo>
                    <a:cubicBezTo>
                      <a:pt x="778" y="759"/>
                      <a:pt x="778" y="759"/>
                      <a:pt x="778" y="759"/>
                    </a:cubicBezTo>
                    <a:cubicBezTo>
                      <a:pt x="799" y="719"/>
                      <a:pt x="799" y="719"/>
                      <a:pt x="799" y="719"/>
                    </a:cubicBezTo>
                    <a:cubicBezTo>
                      <a:pt x="816" y="725"/>
                      <a:pt x="834" y="729"/>
                      <a:pt x="853" y="729"/>
                    </a:cubicBezTo>
                    <a:cubicBezTo>
                      <a:pt x="872" y="729"/>
                      <a:pt x="890" y="725"/>
                      <a:pt x="907" y="719"/>
                    </a:cubicBezTo>
                    <a:cubicBezTo>
                      <a:pt x="1065" y="1031"/>
                      <a:pt x="1065" y="1031"/>
                      <a:pt x="1065" y="1031"/>
                    </a:cubicBezTo>
                    <a:cubicBezTo>
                      <a:pt x="1067" y="1030"/>
                      <a:pt x="1067" y="1030"/>
                      <a:pt x="1067" y="1030"/>
                    </a:cubicBezTo>
                    <a:cubicBezTo>
                      <a:pt x="1064" y="1033"/>
                      <a:pt x="1061" y="1038"/>
                      <a:pt x="1061" y="1043"/>
                    </a:cubicBezTo>
                    <a:close/>
                    <a:moveTo>
                      <a:pt x="1101" y="1043"/>
                    </a:moveTo>
                    <a:cubicBezTo>
                      <a:pt x="1100" y="1033"/>
                      <a:pt x="1092" y="1025"/>
                      <a:pt x="1081" y="1025"/>
                    </a:cubicBezTo>
                    <a:cubicBezTo>
                      <a:pt x="1076" y="1025"/>
                      <a:pt x="1071" y="1027"/>
                      <a:pt x="1068" y="1030"/>
                    </a:cubicBezTo>
                    <a:cubicBezTo>
                      <a:pt x="910" y="718"/>
                      <a:pt x="910" y="718"/>
                      <a:pt x="910" y="718"/>
                    </a:cubicBezTo>
                    <a:cubicBezTo>
                      <a:pt x="928" y="711"/>
                      <a:pt x="945" y="700"/>
                      <a:pt x="959" y="687"/>
                    </a:cubicBezTo>
                    <a:cubicBezTo>
                      <a:pt x="1076" y="759"/>
                      <a:pt x="1076" y="759"/>
                      <a:pt x="1076" y="759"/>
                    </a:cubicBezTo>
                    <a:cubicBezTo>
                      <a:pt x="1055" y="759"/>
                      <a:pt x="1055" y="759"/>
                      <a:pt x="1055" y="759"/>
                    </a:cubicBezTo>
                    <a:cubicBezTo>
                      <a:pt x="1055" y="819"/>
                      <a:pt x="1055" y="819"/>
                      <a:pt x="1055" y="819"/>
                    </a:cubicBezTo>
                    <a:cubicBezTo>
                      <a:pt x="1173" y="819"/>
                      <a:pt x="1173" y="819"/>
                      <a:pt x="1173" y="819"/>
                    </a:cubicBezTo>
                    <a:cubicBezTo>
                      <a:pt x="1212" y="844"/>
                      <a:pt x="1212" y="844"/>
                      <a:pt x="1212" y="844"/>
                    </a:cubicBezTo>
                    <a:cubicBezTo>
                      <a:pt x="1200" y="860"/>
                      <a:pt x="1193" y="880"/>
                      <a:pt x="1193" y="902"/>
                    </a:cubicBezTo>
                    <a:cubicBezTo>
                      <a:pt x="1193" y="929"/>
                      <a:pt x="1204" y="953"/>
                      <a:pt x="1221" y="971"/>
                    </a:cubicBezTo>
                    <a:lnTo>
                      <a:pt x="1101" y="1043"/>
                    </a:lnTo>
                    <a:close/>
                    <a:moveTo>
                      <a:pt x="1353" y="824"/>
                    </a:moveTo>
                    <a:cubicBezTo>
                      <a:pt x="1336" y="811"/>
                      <a:pt x="1315" y="803"/>
                      <a:pt x="1292" y="803"/>
                    </a:cubicBezTo>
                    <a:cubicBezTo>
                      <a:pt x="1263" y="803"/>
                      <a:pt x="1236" y="816"/>
                      <a:pt x="1218" y="837"/>
                    </a:cubicBezTo>
                    <a:cubicBezTo>
                      <a:pt x="1190" y="819"/>
                      <a:pt x="1190" y="819"/>
                      <a:pt x="1190" y="819"/>
                    </a:cubicBezTo>
                    <a:cubicBezTo>
                      <a:pt x="1194" y="819"/>
                      <a:pt x="1194" y="819"/>
                      <a:pt x="1194" y="819"/>
                    </a:cubicBezTo>
                    <a:cubicBezTo>
                      <a:pt x="1194" y="759"/>
                      <a:pt x="1194" y="759"/>
                      <a:pt x="1194" y="759"/>
                    </a:cubicBezTo>
                    <a:cubicBezTo>
                      <a:pt x="1094" y="759"/>
                      <a:pt x="1094" y="759"/>
                      <a:pt x="1094" y="759"/>
                    </a:cubicBezTo>
                    <a:cubicBezTo>
                      <a:pt x="965" y="680"/>
                      <a:pt x="965" y="680"/>
                      <a:pt x="965" y="680"/>
                    </a:cubicBezTo>
                    <a:cubicBezTo>
                      <a:pt x="984" y="660"/>
                      <a:pt x="997" y="636"/>
                      <a:pt x="1004" y="609"/>
                    </a:cubicBezTo>
                    <a:cubicBezTo>
                      <a:pt x="1096" y="604"/>
                      <a:pt x="1096" y="604"/>
                      <a:pt x="1096" y="604"/>
                    </a:cubicBezTo>
                    <a:cubicBezTo>
                      <a:pt x="1096" y="620"/>
                      <a:pt x="1096" y="620"/>
                      <a:pt x="1096" y="620"/>
                    </a:cubicBezTo>
                    <a:cubicBezTo>
                      <a:pt x="1257" y="620"/>
                      <a:pt x="1257" y="620"/>
                      <a:pt x="1257" y="620"/>
                    </a:cubicBezTo>
                    <a:cubicBezTo>
                      <a:pt x="1257" y="595"/>
                      <a:pt x="1257" y="595"/>
                      <a:pt x="1257" y="595"/>
                    </a:cubicBezTo>
                    <a:cubicBezTo>
                      <a:pt x="1320" y="592"/>
                      <a:pt x="1320" y="592"/>
                      <a:pt x="1320" y="592"/>
                    </a:cubicBezTo>
                    <a:cubicBezTo>
                      <a:pt x="1323" y="644"/>
                      <a:pt x="1366" y="686"/>
                      <a:pt x="1419" y="686"/>
                    </a:cubicBezTo>
                    <a:cubicBezTo>
                      <a:pt x="1469" y="686"/>
                      <a:pt x="1511" y="649"/>
                      <a:pt x="1517" y="601"/>
                    </a:cubicBezTo>
                    <a:cubicBezTo>
                      <a:pt x="1614" y="626"/>
                      <a:pt x="1614" y="626"/>
                      <a:pt x="1614" y="626"/>
                    </a:cubicBezTo>
                    <a:cubicBezTo>
                      <a:pt x="1614" y="625"/>
                      <a:pt x="1614" y="625"/>
                      <a:pt x="1614" y="625"/>
                    </a:cubicBezTo>
                    <a:cubicBezTo>
                      <a:pt x="1614" y="628"/>
                      <a:pt x="1615" y="631"/>
                      <a:pt x="1616" y="633"/>
                    </a:cubicBezTo>
                    <a:lnTo>
                      <a:pt x="1353"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p>
            </p:txBody>
          </p:sp>
          <p:sp>
            <p:nvSpPr>
              <p:cNvPr id="205" name="Freeform 9"/>
              <p:cNvSpPr>
                <a:spLocks/>
              </p:cNvSpPr>
              <p:nvPr/>
            </p:nvSpPr>
            <p:spPr bwMode="gray">
              <a:xfrm>
                <a:off x="9837738" y="10475913"/>
                <a:ext cx="454025" cy="441325"/>
              </a:xfrm>
              <a:custGeom>
                <a:avLst/>
                <a:gdLst>
                  <a:gd name="T0" fmla="*/ 0 w 286"/>
                  <a:gd name="T1" fmla="*/ 274 h 278"/>
                  <a:gd name="T2" fmla="*/ 5 w 286"/>
                  <a:gd name="T3" fmla="*/ 278 h 278"/>
                  <a:gd name="T4" fmla="*/ 286 w 286"/>
                  <a:gd name="T5" fmla="*/ 4 h 278"/>
                  <a:gd name="T6" fmla="*/ 282 w 286"/>
                  <a:gd name="T7" fmla="*/ 0 h 278"/>
                  <a:gd name="T8" fmla="*/ 0 w 286"/>
                  <a:gd name="T9" fmla="*/ 274 h 278"/>
                </a:gdLst>
                <a:ahLst/>
                <a:cxnLst>
                  <a:cxn ang="0">
                    <a:pos x="T0" y="T1"/>
                  </a:cxn>
                  <a:cxn ang="0">
                    <a:pos x="T2" y="T3"/>
                  </a:cxn>
                  <a:cxn ang="0">
                    <a:pos x="T4" y="T5"/>
                  </a:cxn>
                  <a:cxn ang="0">
                    <a:pos x="T6" y="T7"/>
                  </a:cxn>
                  <a:cxn ang="0">
                    <a:pos x="T8" y="T9"/>
                  </a:cxn>
                </a:cxnLst>
                <a:rect l="0" t="0" r="r" b="b"/>
                <a:pathLst>
                  <a:path w="286" h="278">
                    <a:moveTo>
                      <a:pt x="0" y="274"/>
                    </a:moveTo>
                    <a:lnTo>
                      <a:pt x="5" y="278"/>
                    </a:lnTo>
                    <a:lnTo>
                      <a:pt x="286" y="4"/>
                    </a:lnTo>
                    <a:lnTo>
                      <a:pt x="282" y="0"/>
                    </a:lnTo>
                    <a:lnTo>
                      <a:pt x="0"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p>
            </p:txBody>
          </p:sp>
        </p:grpSp>
        <p:grpSp>
          <p:nvGrpSpPr>
            <p:cNvPr id="201" name="Gruppieren 118"/>
            <p:cNvGrpSpPr>
              <a:grpSpLocks/>
            </p:cNvGrpSpPr>
            <p:nvPr/>
          </p:nvGrpSpPr>
          <p:grpSpPr bwMode="gray">
            <a:xfrm>
              <a:off x="7021296" y="1779113"/>
              <a:ext cx="5338979" cy="3254247"/>
              <a:chOff x="4337050" y="7283450"/>
              <a:chExt cx="6565900" cy="4002088"/>
            </a:xfrm>
            <a:solidFill>
              <a:schemeClr val="bg1"/>
            </a:solidFill>
          </p:grpSpPr>
          <p:sp>
            <p:nvSpPr>
              <p:cNvPr id="203" name="Freeform 9"/>
              <p:cNvSpPr>
                <a:spLocks/>
              </p:cNvSpPr>
              <p:nvPr/>
            </p:nvSpPr>
            <p:spPr bwMode="gray">
              <a:xfrm>
                <a:off x="9837738" y="10475913"/>
                <a:ext cx="454025" cy="441325"/>
              </a:xfrm>
              <a:custGeom>
                <a:avLst/>
                <a:gdLst>
                  <a:gd name="T0" fmla="*/ 0 w 286"/>
                  <a:gd name="T1" fmla="*/ 274 h 278"/>
                  <a:gd name="T2" fmla="*/ 5 w 286"/>
                  <a:gd name="T3" fmla="*/ 278 h 278"/>
                  <a:gd name="T4" fmla="*/ 286 w 286"/>
                  <a:gd name="T5" fmla="*/ 4 h 278"/>
                  <a:gd name="T6" fmla="*/ 282 w 286"/>
                  <a:gd name="T7" fmla="*/ 0 h 278"/>
                  <a:gd name="T8" fmla="*/ 0 w 286"/>
                  <a:gd name="T9" fmla="*/ 274 h 278"/>
                </a:gdLst>
                <a:ahLst/>
                <a:cxnLst>
                  <a:cxn ang="0">
                    <a:pos x="T0" y="T1"/>
                  </a:cxn>
                  <a:cxn ang="0">
                    <a:pos x="T2" y="T3"/>
                  </a:cxn>
                  <a:cxn ang="0">
                    <a:pos x="T4" y="T5"/>
                  </a:cxn>
                  <a:cxn ang="0">
                    <a:pos x="T6" y="T7"/>
                  </a:cxn>
                  <a:cxn ang="0">
                    <a:pos x="T8" y="T9"/>
                  </a:cxn>
                </a:cxnLst>
                <a:rect l="0" t="0" r="r" b="b"/>
                <a:pathLst>
                  <a:path w="286" h="278">
                    <a:moveTo>
                      <a:pt x="0" y="274"/>
                    </a:moveTo>
                    <a:lnTo>
                      <a:pt x="5" y="278"/>
                    </a:lnTo>
                    <a:lnTo>
                      <a:pt x="286" y="4"/>
                    </a:lnTo>
                    <a:lnTo>
                      <a:pt x="282" y="0"/>
                    </a:lnTo>
                    <a:lnTo>
                      <a:pt x="0"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p>
            </p:txBody>
          </p:sp>
          <p:sp>
            <p:nvSpPr>
              <p:cNvPr id="202" name="Freeform 8"/>
              <p:cNvSpPr>
                <a:spLocks noEditPoints="1"/>
              </p:cNvSpPr>
              <p:nvPr/>
            </p:nvSpPr>
            <p:spPr bwMode="gray">
              <a:xfrm>
                <a:off x="4337050" y="7283450"/>
                <a:ext cx="6565900" cy="4002088"/>
              </a:xfrm>
              <a:custGeom>
                <a:avLst/>
                <a:gdLst>
                  <a:gd name="T0" fmla="*/ 1631 w 1751"/>
                  <a:gd name="T1" fmla="*/ 251 h 1067"/>
                  <a:gd name="T2" fmla="*/ 1270 w 1751"/>
                  <a:gd name="T3" fmla="*/ 350 h 1067"/>
                  <a:gd name="T4" fmla="*/ 1435 w 1751"/>
                  <a:gd name="T5" fmla="*/ 342 h 1067"/>
                  <a:gd name="T6" fmla="*/ 1653 w 1751"/>
                  <a:gd name="T7" fmla="*/ 231 h 1067"/>
                  <a:gd name="T8" fmla="*/ 1617 w 1751"/>
                  <a:gd name="T9" fmla="*/ 244 h 1067"/>
                  <a:gd name="T10" fmla="*/ 1554 w 1751"/>
                  <a:gd name="T11" fmla="*/ 132 h 1067"/>
                  <a:gd name="T12" fmla="*/ 1431 w 1751"/>
                  <a:gd name="T13" fmla="*/ 138 h 1067"/>
                  <a:gd name="T14" fmla="*/ 1062 w 1751"/>
                  <a:gd name="T15" fmla="*/ 40 h 1067"/>
                  <a:gd name="T16" fmla="*/ 679 w 1751"/>
                  <a:gd name="T17" fmla="*/ 99 h 1067"/>
                  <a:gd name="T18" fmla="*/ 575 w 1751"/>
                  <a:gd name="T19" fmla="*/ 90 h 1067"/>
                  <a:gd name="T20" fmla="*/ 394 w 1751"/>
                  <a:gd name="T21" fmla="*/ 87 h 1067"/>
                  <a:gd name="T22" fmla="*/ 358 w 1751"/>
                  <a:gd name="T23" fmla="*/ 101 h 1067"/>
                  <a:gd name="T24" fmla="*/ 270 w 1751"/>
                  <a:gd name="T25" fmla="*/ 251 h 1067"/>
                  <a:gd name="T26" fmla="*/ 17 w 1751"/>
                  <a:gd name="T27" fmla="*/ 376 h 1067"/>
                  <a:gd name="T28" fmla="*/ 599 w 1751"/>
                  <a:gd name="T29" fmla="*/ 247 h 1067"/>
                  <a:gd name="T30" fmla="*/ 604 w 1751"/>
                  <a:gd name="T31" fmla="*/ 234 h 1067"/>
                  <a:gd name="T32" fmla="*/ 406 w 1751"/>
                  <a:gd name="T33" fmla="*/ 529 h 1067"/>
                  <a:gd name="T34" fmla="*/ 272 w 1751"/>
                  <a:gd name="T35" fmla="*/ 280 h 1067"/>
                  <a:gd name="T36" fmla="*/ 128 w 1751"/>
                  <a:gd name="T37" fmla="*/ 736 h 1067"/>
                  <a:gd name="T38" fmla="*/ 144 w 1751"/>
                  <a:gd name="T39" fmla="*/ 771 h 1067"/>
                  <a:gd name="T40" fmla="*/ 197 w 1751"/>
                  <a:gd name="T41" fmla="*/ 928 h 1067"/>
                  <a:gd name="T42" fmla="*/ 343 w 1751"/>
                  <a:gd name="T43" fmla="*/ 866 h 1067"/>
                  <a:gd name="T44" fmla="*/ 603 w 1751"/>
                  <a:gd name="T45" fmla="*/ 898 h 1067"/>
                  <a:gd name="T46" fmla="*/ 366 w 1751"/>
                  <a:gd name="T47" fmla="*/ 1045 h 1067"/>
                  <a:gd name="T48" fmla="*/ 1061 w 1751"/>
                  <a:gd name="T49" fmla="*/ 1046 h 1067"/>
                  <a:gd name="T50" fmla="*/ 1438 w 1751"/>
                  <a:gd name="T51" fmla="*/ 969 h 1067"/>
                  <a:gd name="T52" fmla="*/ 1474 w 1751"/>
                  <a:gd name="T53" fmla="*/ 982 h 1067"/>
                  <a:gd name="T54" fmla="*/ 1384 w 1751"/>
                  <a:gd name="T55" fmla="*/ 939 h 1067"/>
                  <a:gd name="T56" fmla="*/ 1601 w 1751"/>
                  <a:gd name="T57" fmla="*/ 817 h 1067"/>
                  <a:gd name="T58" fmla="*/ 1615 w 1751"/>
                  <a:gd name="T59" fmla="*/ 852 h 1067"/>
                  <a:gd name="T60" fmla="*/ 1709 w 1751"/>
                  <a:gd name="T61" fmla="*/ 619 h 1067"/>
                  <a:gd name="T62" fmla="*/ 1712 w 1751"/>
                  <a:gd name="T63" fmla="*/ 498 h 1067"/>
                  <a:gd name="T64" fmla="*/ 543 w 1751"/>
                  <a:gd name="T65" fmla="*/ 108 h 1067"/>
                  <a:gd name="T66" fmla="*/ 1257 w 1751"/>
                  <a:gd name="T67" fmla="*/ 559 h 1067"/>
                  <a:gd name="T68" fmla="*/ 1123 w 1751"/>
                  <a:gd name="T69" fmla="*/ 445 h 1067"/>
                  <a:gd name="T70" fmla="*/ 1037 w 1751"/>
                  <a:gd name="T71" fmla="*/ 202 h 1067"/>
                  <a:gd name="T72" fmla="*/ 1268 w 1751"/>
                  <a:gd name="T73" fmla="*/ 210 h 1067"/>
                  <a:gd name="T74" fmla="*/ 1041 w 1751"/>
                  <a:gd name="T75" fmla="*/ 218 h 1067"/>
                  <a:gd name="T76" fmla="*/ 1010 w 1751"/>
                  <a:gd name="T77" fmla="*/ 445 h 1067"/>
                  <a:gd name="T78" fmla="*/ 1000 w 1751"/>
                  <a:gd name="T79" fmla="*/ 218 h 1067"/>
                  <a:gd name="T80" fmla="*/ 820 w 1751"/>
                  <a:gd name="T81" fmla="*/ 315 h 1067"/>
                  <a:gd name="T82" fmla="*/ 778 w 1751"/>
                  <a:gd name="T83" fmla="*/ 198 h 1067"/>
                  <a:gd name="T84" fmla="*/ 772 w 1751"/>
                  <a:gd name="T85" fmla="*/ 442 h 1067"/>
                  <a:gd name="T86" fmla="*/ 633 w 1751"/>
                  <a:gd name="T87" fmla="*/ 264 h 1067"/>
                  <a:gd name="T88" fmla="*/ 621 w 1751"/>
                  <a:gd name="T89" fmla="*/ 269 h 1067"/>
                  <a:gd name="T90" fmla="*/ 150 w 1751"/>
                  <a:gd name="T91" fmla="*/ 756 h 1067"/>
                  <a:gd name="T92" fmla="*/ 302 w 1751"/>
                  <a:gd name="T93" fmla="*/ 864 h 1067"/>
                  <a:gd name="T94" fmla="*/ 209 w 1751"/>
                  <a:gd name="T95" fmla="*/ 506 h 1067"/>
                  <a:gd name="T96" fmla="*/ 526 w 1751"/>
                  <a:gd name="T97" fmla="*/ 721 h 1067"/>
                  <a:gd name="T98" fmla="*/ 721 w 1751"/>
                  <a:gd name="T99" fmla="*/ 654 h 1067"/>
                  <a:gd name="T100" fmla="*/ 548 w 1751"/>
                  <a:gd name="T101" fmla="*/ 742 h 1067"/>
                  <a:gd name="T102" fmla="*/ 736 w 1751"/>
                  <a:gd name="T103" fmla="*/ 819 h 1067"/>
                  <a:gd name="T104" fmla="*/ 820 w 1751"/>
                  <a:gd name="T105" fmla="*/ 819 h 1067"/>
                  <a:gd name="T106" fmla="*/ 1067 w 1751"/>
                  <a:gd name="T107" fmla="*/ 1030 h 1067"/>
                  <a:gd name="T108" fmla="*/ 1076 w 1751"/>
                  <a:gd name="T109" fmla="*/ 759 h 1067"/>
                  <a:gd name="T110" fmla="*/ 1101 w 1751"/>
                  <a:gd name="T111" fmla="*/ 1043 h 1067"/>
                  <a:gd name="T112" fmla="*/ 1094 w 1751"/>
                  <a:gd name="T113" fmla="*/ 759 h 1067"/>
                  <a:gd name="T114" fmla="*/ 1320 w 1751"/>
                  <a:gd name="T115" fmla="*/ 592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51" h="1067">
                    <a:moveTo>
                      <a:pt x="1712" y="498"/>
                    </a:moveTo>
                    <a:cubicBezTo>
                      <a:pt x="1644" y="607"/>
                      <a:pt x="1644" y="607"/>
                      <a:pt x="1644" y="607"/>
                    </a:cubicBezTo>
                    <a:cubicBezTo>
                      <a:pt x="1642" y="606"/>
                      <a:pt x="1639" y="605"/>
                      <a:pt x="1636" y="605"/>
                    </a:cubicBezTo>
                    <a:cubicBezTo>
                      <a:pt x="1636" y="605"/>
                      <a:pt x="1636" y="605"/>
                      <a:pt x="1636" y="605"/>
                    </a:cubicBezTo>
                    <a:cubicBezTo>
                      <a:pt x="1634" y="251"/>
                      <a:pt x="1634" y="251"/>
                      <a:pt x="1634" y="251"/>
                    </a:cubicBezTo>
                    <a:cubicBezTo>
                      <a:pt x="1632" y="251"/>
                      <a:pt x="1632" y="251"/>
                      <a:pt x="1632" y="251"/>
                    </a:cubicBezTo>
                    <a:cubicBezTo>
                      <a:pt x="1631" y="251"/>
                      <a:pt x="1631" y="251"/>
                      <a:pt x="1631" y="251"/>
                    </a:cubicBezTo>
                    <a:cubicBezTo>
                      <a:pt x="1633" y="605"/>
                      <a:pt x="1633" y="605"/>
                      <a:pt x="1633" y="605"/>
                    </a:cubicBezTo>
                    <a:cubicBezTo>
                      <a:pt x="1623" y="606"/>
                      <a:pt x="1615" y="614"/>
                      <a:pt x="1614" y="624"/>
                    </a:cubicBezTo>
                    <a:cubicBezTo>
                      <a:pt x="1518" y="599"/>
                      <a:pt x="1518" y="599"/>
                      <a:pt x="1518" y="599"/>
                    </a:cubicBezTo>
                    <a:cubicBezTo>
                      <a:pt x="1518" y="595"/>
                      <a:pt x="1518" y="591"/>
                      <a:pt x="1518" y="587"/>
                    </a:cubicBezTo>
                    <a:cubicBezTo>
                      <a:pt x="1518" y="533"/>
                      <a:pt x="1474" y="489"/>
                      <a:pt x="1419" y="489"/>
                    </a:cubicBezTo>
                    <a:cubicBezTo>
                      <a:pt x="1403" y="489"/>
                      <a:pt x="1387" y="493"/>
                      <a:pt x="1373" y="500"/>
                    </a:cubicBezTo>
                    <a:cubicBezTo>
                      <a:pt x="1270" y="350"/>
                      <a:pt x="1270" y="350"/>
                      <a:pt x="1270" y="350"/>
                    </a:cubicBezTo>
                    <a:cubicBezTo>
                      <a:pt x="1287" y="332"/>
                      <a:pt x="1298" y="308"/>
                      <a:pt x="1298" y="281"/>
                    </a:cubicBezTo>
                    <a:cubicBezTo>
                      <a:pt x="1298" y="254"/>
                      <a:pt x="1288" y="230"/>
                      <a:pt x="1271" y="213"/>
                    </a:cubicBezTo>
                    <a:cubicBezTo>
                      <a:pt x="1411" y="160"/>
                      <a:pt x="1411" y="160"/>
                      <a:pt x="1411" y="160"/>
                    </a:cubicBezTo>
                    <a:cubicBezTo>
                      <a:pt x="1411" y="170"/>
                      <a:pt x="1420" y="179"/>
                      <a:pt x="1431" y="179"/>
                    </a:cubicBezTo>
                    <a:cubicBezTo>
                      <a:pt x="1430" y="179"/>
                      <a:pt x="1430" y="179"/>
                      <a:pt x="1430" y="179"/>
                    </a:cubicBezTo>
                    <a:cubicBezTo>
                      <a:pt x="1454" y="322"/>
                      <a:pt x="1454" y="322"/>
                      <a:pt x="1454" y="322"/>
                    </a:cubicBezTo>
                    <a:cubicBezTo>
                      <a:pt x="1444" y="322"/>
                      <a:pt x="1435" y="331"/>
                      <a:pt x="1435" y="342"/>
                    </a:cubicBezTo>
                    <a:cubicBezTo>
                      <a:pt x="1435" y="353"/>
                      <a:pt x="1445" y="362"/>
                      <a:pt x="1456" y="362"/>
                    </a:cubicBezTo>
                    <a:cubicBezTo>
                      <a:pt x="1467" y="362"/>
                      <a:pt x="1476" y="353"/>
                      <a:pt x="1476" y="342"/>
                    </a:cubicBezTo>
                    <a:cubicBezTo>
                      <a:pt x="1477" y="344"/>
                      <a:pt x="1477" y="344"/>
                      <a:pt x="1477" y="344"/>
                    </a:cubicBezTo>
                    <a:cubicBezTo>
                      <a:pt x="1619" y="246"/>
                      <a:pt x="1619" y="246"/>
                      <a:pt x="1619" y="246"/>
                    </a:cubicBezTo>
                    <a:cubicBezTo>
                      <a:pt x="1618" y="245"/>
                      <a:pt x="1618" y="245"/>
                      <a:pt x="1618" y="245"/>
                    </a:cubicBezTo>
                    <a:cubicBezTo>
                      <a:pt x="1622" y="249"/>
                      <a:pt x="1627" y="251"/>
                      <a:pt x="1632" y="251"/>
                    </a:cubicBezTo>
                    <a:cubicBezTo>
                      <a:pt x="1644" y="251"/>
                      <a:pt x="1653" y="242"/>
                      <a:pt x="1653" y="231"/>
                    </a:cubicBezTo>
                    <a:cubicBezTo>
                      <a:pt x="1653" y="230"/>
                      <a:pt x="1653" y="230"/>
                      <a:pt x="1653" y="230"/>
                    </a:cubicBezTo>
                    <a:cubicBezTo>
                      <a:pt x="1751" y="206"/>
                      <a:pt x="1751" y="206"/>
                      <a:pt x="1751" y="206"/>
                    </a:cubicBezTo>
                    <a:cubicBezTo>
                      <a:pt x="1750" y="204"/>
                      <a:pt x="1750" y="204"/>
                      <a:pt x="1750" y="204"/>
                    </a:cubicBezTo>
                    <a:cubicBezTo>
                      <a:pt x="1653" y="227"/>
                      <a:pt x="1653" y="227"/>
                      <a:pt x="1653" y="227"/>
                    </a:cubicBezTo>
                    <a:cubicBezTo>
                      <a:pt x="1651" y="218"/>
                      <a:pt x="1643" y="210"/>
                      <a:pt x="1632" y="210"/>
                    </a:cubicBezTo>
                    <a:cubicBezTo>
                      <a:pt x="1621" y="210"/>
                      <a:pt x="1612" y="219"/>
                      <a:pt x="1612" y="231"/>
                    </a:cubicBezTo>
                    <a:cubicBezTo>
                      <a:pt x="1612" y="236"/>
                      <a:pt x="1614" y="241"/>
                      <a:pt x="1617" y="244"/>
                    </a:cubicBezTo>
                    <a:cubicBezTo>
                      <a:pt x="1476" y="341"/>
                      <a:pt x="1476" y="341"/>
                      <a:pt x="1476" y="341"/>
                    </a:cubicBezTo>
                    <a:cubicBezTo>
                      <a:pt x="1475" y="330"/>
                      <a:pt x="1467" y="322"/>
                      <a:pt x="1457" y="322"/>
                    </a:cubicBezTo>
                    <a:cubicBezTo>
                      <a:pt x="1457" y="322"/>
                      <a:pt x="1457" y="322"/>
                      <a:pt x="1457" y="322"/>
                    </a:cubicBezTo>
                    <a:cubicBezTo>
                      <a:pt x="1433" y="178"/>
                      <a:pt x="1433" y="178"/>
                      <a:pt x="1433" y="178"/>
                    </a:cubicBezTo>
                    <a:cubicBezTo>
                      <a:pt x="1443" y="177"/>
                      <a:pt x="1451" y="169"/>
                      <a:pt x="1451" y="158"/>
                    </a:cubicBezTo>
                    <a:cubicBezTo>
                      <a:pt x="1451" y="158"/>
                      <a:pt x="1451" y="157"/>
                      <a:pt x="1451" y="157"/>
                    </a:cubicBezTo>
                    <a:cubicBezTo>
                      <a:pt x="1554" y="132"/>
                      <a:pt x="1554" y="132"/>
                      <a:pt x="1554" y="132"/>
                    </a:cubicBezTo>
                    <a:cubicBezTo>
                      <a:pt x="1554" y="129"/>
                      <a:pt x="1554" y="129"/>
                      <a:pt x="1554" y="129"/>
                    </a:cubicBezTo>
                    <a:cubicBezTo>
                      <a:pt x="1451" y="154"/>
                      <a:pt x="1451" y="154"/>
                      <a:pt x="1451" y="154"/>
                    </a:cubicBezTo>
                    <a:cubicBezTo>
                      <a:pt x="1450" y="149"/>
                      <a:pt x="1446" y="144"/>
                      <a:pt x="1442" y="141"/>
                    </a:cubicBezTo>
                    <a:cubicBezTo>
                      <a:pt x="1492" y="27"/>
                      <a:pt x="1492" y="27"/>
                      <a:pt x="1492" y="27"/>
                    </a:cubicBezTo>
                    <a:cubicBezTo>
                      <a:pt x="1489" y="26"/>
                      <a:pt x="1489" y="26"/>
                      <a:pt x="1489" y="26"/>
                    </a:cubicBezTo>
                    <a:cubicBezTo>
                      <a:pt x="1439" y="139"/>
                      <a:pt x="1439" y="139"/>
                      <a:pt x="1439" y="139"/>
                    </a:cubicBezTo>
                    <a:cubicBezTo>
                      <a:pt x="1436" y="138"/>
                      <a:pt x="1434" y="138"/>
                      <a:pt x="1431" y="138"/>
                    </a:cubicBezTo>
                    <a:cubicBezTo>
                      <a:pt x="1425" y="138"/>
                      <a:pt x="1420" y="140"/>
                      <a:pt x="1417" y="143"/>
                    </a:cubicBezTo>
                    <a:cubicBezTo>
                      <a:pt x="1417" y="142"/>
                      <a:pt x="1417" y="142"/>
                      <a:pt x="1417" y="142"/>
                    </a:cubicBezTo>
                    <a:cubicBezTo>
                      <a:pt x="1084" y="19"/>
                      <a:pt x="1084" y="19"/>
                      <a:pt x="1084" y="19"/>
                    </a:cubicBezTo>
                    <a:cubicBezTo>
                      <a:pt x="1084" y="20"/>
                      <a:pt x="1084" y="20"/>
                      <a:pt x="1084" y="20"/>
                    </a:cubicBezTo>
                    <a:cubicBezTo>
                      <a:pt x="1084" y="9"/>
                      <a:pt x="1074" y="0"/>
                      <a:pt x="1063" y="0"/>
                    </a:cubicBezTo>
                    <a:cubicBezTo>
                      <a:pt x="1052" y="0"/>
                      <a:pt x="1043" y="9"/>
                      <a:pt x="1043" y="20"/>
                    </a:cubicBezTo>
                    <a:cubicBezTo>
                      <a:pt x="1043" y="31"/>
                      <a:pt x="1051" y="39"/>
                      <a:pt x="1062" y="40"/>
                    </a:cubicBezTo>
                    <a:cubicBezTo>
                      <a:pt x="1034" y="201"/>
                      <a:pt x="1034" y="201"/>
                      <a:pt x="1034" y="201"/>
                    </a:cubicBezTo>
                    <a:cubicBezTo>
                      <a:pt x="1030" y="198"/>
                      <a:pt x="1026" y="196"/>
                      <a:pt x="1021" y="196"/>
                    </a:cubicBezTo>
                    <a:cubicBezTo>
                      <a:pt x="1010" y="196"/>
                      <a:pt x="1002" y="204"/>
                      <a:pt x="1001" y="215"/>
                    </a:cubicBezTo>
                    <a:cubicBezTo>
                      <a:pt x="867" y="143"/>
                      <a:pt x="867" y="143"/>
                      <a:pt x="867" y="143"/>
                    </a:cubicBezTo>
                    <a:cubicBezTo>
                      <a:pt x="873" y="129"/>
                      <a:pt x="877" y="115"/>
                      <a:pt x="877" y="99"/>
                    </a:cubicBezTo>
                    <a:cubicBezTo>
                      <a:pt x="877" y="44"/>
                      <a:pt x="833" y="0"/>
                      <a:pt x="778" y="0"/>
                    </a:cubicBezTo>
                    <a:cubicBezTo>
                      <a:pt x="724" y="0"/>
                      <a:pt x="679" y="44"/>
                      <a:pt x="679" y="99"/>
                    </a:cubicBezTo>
                    <a:cubicBezTo>
                      <a:pt x="679" y="125"/>
                      <a:pt x="690" y="149"/>
                      <a:pt x="706" y="167"/>
                    </a:cubicBezTo>
                    <a:cubicBezTo>
                      <a:pt x="633" y="233"/>
                      <a:pt x="633" y="233"/>
                      <a:pt x="633" y="233"/>
                    </a:cubicBezTo>
                    <a:cubicBezTo>
                      <a:pt x="629" y="230"/>
                      <a:pt x="625" y="228"/>
                      <a:pt x="620" y="228"/>
                    </a:cubicBezTo>
                    <a:cubicBezTo>
                      <a:pt x="614" y="228"/>
                      <a:pt x="610" y="230"/>
                      <a:pt x="606" y="233"/>
                    </a:cubicBezTo>
                    <a:cubicBezTo>
                      <a:pt x="564" y="127"/>
                      <a:pt x="564" y="127"/>
                      <a:pt x="564" y="127"/>
                    </a:cubicBezTo>
                    <a:cubicBezTo>
                      <a:pt x="575" y="126"/>
                      <a:pt x="583" y="118"/>
                      <a:pt x="583" y="107"/>
                    </a:cubicBezTo>
                    <a:cubicBezTo>
                      <a:pt x="583" y="100"/>
                      <a:pt x="580" y="94"/>
                      <a:pt x="575" y="90"/>
                    </a:cubicBezTo>
                    <a:cubicBezTo>
                      <a:pt x="600" y="22"/>
                      <a:pt x="600" y="22"/>
                      <a:pt x="600" y="22"/>
                    </a:cubicBezTo>
                    <a:cubicBezTo>
                      <a:pt x="597" y="21"/>
                      <a:pt x="597" y="21"/>
                      <a:pt x="597" y="21"/>
                    </a:cubicBezTo>
                    <a:cubicBezTo>
                      <a:pt x="573" y="89"/>
                      <a:pt x="573" y="89"/>
                      <a:pt x="573" y="89"/>
                    </a:cubicBezTo>
                    <a:cubicBezTo>
                      <a:pt x="570" y="87"/>
                      <a:pt x="567" y="86"/>
                      <a:pt x="563" y="86"/>
                    </a:cubicBezTo>
                    <a:cubicBezTo>
                      <a:pt x="552" y="86"/>
                      <a:pt x="544" y="95"/>
                      <a:pt x="543" y="105"/>
                    </a:cubicBezTo>
                    <a:cubicBezTo>
                      <a:pt x="395" y="86"/>
                      <a:pt x="395" y="86"/>
                      <a:pt x="395" y="86"/>
                    </a:cubicBezTo>
                    <a:cubicBezTo>
                      <a:pt x="394" y="87"/>
                      <a:pt x="394" y="87"/>
                      <a:pt x="394" y="87"/>
                    </a:cubicBezTo>
                    <a:cubicBezTo>
                      <a:pt x="394" y="77"/>
                      <a:pt x="386" y="68"/>
                      <a:pt x="375" y="67"/>
                    </a:cubicBezTo>
                    <a:cubicBezTo>
                      <a:pt x="369" y="40"/>
                      <a:pt x="369" y="40"/>
                      <a:pt x="369" y="40"/>
                    </a:cubicBezTo>
                    <a:cubicBezTo>
                      <a:pt x="366" y="41"/>
                      <a:pt x="366" y="41"/>
                      <a:pt x="366" y="41"/>
                    </a:cubicBezTo>
                    <a:cubicBezTo>
                      <a:pt x="372" y="67"/>
                      <a:pt x="372" y="67"/>
                      <a:pt x="372" y="67"/>
                    </a:cubicBezTo>
                    <a:cubicBezTo>
                      <a:pt x="362" y="68"/>
                      <a:pt x="354" y="77"/>
                      <a:pt x="354" y="87"/>
                    </a:cubicBezTo>
                    <a:cubicBezTo>
                      <a:pt x="354" y="93"/>
                      <a:pt x="356" y="98"/>
                      <a:pt x="360" y="102"/>
                    </a:cubicBezTo>
                    <a:cubicBezTo>
                      <a:pt x="358" y="101"/>
                      <a:pt x="358" y="101"/>
                      <a:pt x="358" y="101"/>
                    </a:cubicBezTo>
                    <a:cubicBezTo>
                      <a:pt x="284" y="243"/>
                      <a:pt x="284" y="243"/>
                      <a:pt x="284" y="243"/>
                    </a:cubicBezTo>
                    <a:cubicBezTo>
                      <a:pt x="285" y="244"/>
                      <a:pt x="285" y="244"/>
                      <a:pt x="285" y="244"/>
                    </a:cubicBezTo>
                    <a:cubicBezTo>
                      <a:pt x="285" y="244"/>
                      <a:pt x="284" y="244"/>
                      <a:pt x="284" y="244"/>
                    </a:cubicBezTo>
                    <a:cubicBezTo>
                      <a:pt x="278" y="196"/>
                      <a:pt x="278" y="196"/>
                      <a:pt x="278" y="196"/>
                    </a:cubicBezTo>
                    <a:cubicBezTo>
                      <a:pt x="275" y="196"/>
                      <a:pt x="275" y="196"/>
                      <a:pt x="275" y="196"/>
                    </a:cubicBezTo>
                    <a:cubicBezTo>
                      <a:pt x="281" y="244"/>
                      <a:pt x="281" y="244"/>
                      <a:pt x="281" y="244"/>
                    </a:cubicBezTo>
                    <a:cubicBezTo>
                      <a:pt x="277" y="245"/>
                      <a:pt x="273" y="248"/>
                      <a:pt x="270" y="251"/>
                    </a:cubicBezTo>
                    <a:cubicBezTo>
                      <a:pt x="271" y="249"/>
                      <a:pt x="271" y="249"/>
                      <a:pt x="271" y="249"/>
                    </a:cubicBezTo>
                    <a:cubicBezTo>
                      <a:pt x="166" y="187"/>
                      <a:pt x="166" y="187"/>
                      <a:pt x="166" y="187"/>
                    </a:cubicBezTo>
                    <a:cubicBezTo>
                      <a:pt x="165" y="190"/>
                      <a:pt x="165" y="190"/>
                      <a:pt x="165" y="190"/>
                    </a:cubicBezTo>
                    <a:cubicBezTo>
                      <a:pt x="270" y="251"/>
                      <a:pt x="270" y="251"/>
                      <a:pt x="270" y="251"/>
                    </a:cubicBezTo>
                    <a:cubicBezTo>
                      <a:pt x="267" y="255"/>
                      <a:pt x="265" y="259"/>
                      <a:pt x="265" y="264"/>
                    </a:cubicBezTo>
                    <a:cubicBezTo>
                      <a:pt x="265" y="265"/>
                      <a:pt x="265" y="266"/>
                      <a:pt x="265" y="267"/>
                    </a:cubicBezTo>
                    <a:cubicBezTo>
                      <a:pt x="17" y="376"/>
                      <a:pt x="17" y="376"/>
                      <a:pt x="17" y="376"/>
                    </a:cubicBezTo>
                    <a:cubicBezTo>
                      <a:pt x="18" y="379"/>
                      <a:pt x="18" y="379"/>
                      <a:pt x="18" y="379"/>
                    </a:cubicBezTo>
                    <a:cubicBezTo>
                      <a:pt x="266" y="270"/>
                      <a:pt x="266" y="270"/>
                      <a:pt x="266" y="270"/>
                    </a:cubicBezTo>
                    <a:cubicBezTo>
                      <a:pt x="269" y="278"/>
                      <a:pt x="276" y="285"/>
                      <a:pt x="285" y="285"/>
                    </a:cubicBezTo>
                    <a:cubicBezTo>
                      <a:pt x="296" y="285"/>
                      <a:pt x="306" y="275"/>
                      <a:pt x="306" y="264"/>
                    </a:cubicBezTo>
                    <a:cubicBezTo>
                      <a:pt x="306" y="265"/>
                      <a:pt x="306" y="265"/>
                      <a:pt x="306" y="265"/>
                    </a:cubicBezTo>
                    <a:cubicBezTo>
                      <a:pt x="599" y="250"/>
                      <a:pt x="599" y="250"/>
                      <a:pt x="599" y="250"/>
                    </a:cubicBezTo>
                    <a:cubicBezTo>
                      <a:pt x="599" y="247"/>
                      <a:pt x="599" y="247"/>
                      <a:pt x="599" y="247"/>
                    </a:cubicBezTo>
                    <a:cubicBezTo>
                      <a:pt x="305" y="263"/>
                      <a:pt x="305" y="263"/>
                      <a:pt x="305" y="263"/>
                    </a:cubicBezTo>
                    <a:cubicBezTo>
                      <a:pt x="305" y="258"/>
                      <a:pt x="303" y="254"/>
                      <a:pt x="301" y="251"/>
                    </a:cubicBezTo>
                    <a:cubicBezTo>
                      <a:pt x="549" y="123"/>
                      <a:pt x="549" y="123"/>
                      <a:pt x="549" y="123"/>
                    </a:cubicBezTo>
                    <a:cubicBezTo>
                      <a:pt x="548" y="121"/>
                      <a:pt x="548" y="121"/>
                      <a:pt x="548" y="121"/>
                    </a:cubicBezTo>
                    <a:cubicBezTo>
                      <a:pt x="552" y="125"/>
                      <a:pt x="557" y="127"/>
                      <a:pt x="563" y="127"/>
                    </a:cubicBezTo>
                    <a:cubicBezTo>
                      <a:pt x="561" y="128"/>
                      <a:pt x="561" y="128"/>
                      <a:pt x="561" y="128"/>
                    </a:cubicBezTo>
                    <a:cubicBezTo>
                      <a:pt x="604" y="234"/>
                      <a:pt x="604" y="234"/>
                      <a:pt x="604" y="234"/>
                    </a:cubicBezTo>
                    <a:cubicBezTo>
                      <a:pt x="605" y="234"/>
                      <a:pt x="605" y="234"/>
                      <a:pt x="605" y="234"/>
                    </a:cubicBezTo>
                    <a:cubicBezTo>
                      <a:pt x="602" y="238"/>
                      <a:pt x="599" y="243"/>
                      <a:pt x="599" y="248"/>
                    </a:cubicBezTo>
                    <a:cubicBezTo>
                      <a:pt x="599" y="259"/>
                      <a:pt x="608" y="268"/>
                      <a:pt x="618" y="269"/>
                    </a:cubicBezTo>
                    <a:cubicBezTo>
                      <a:pt x="565" y="530"/>
                      <a:pt x="565" y="530"/>
                      <a:pt x="565" y="530"/>
                    </a:cubicBezTo>
                    <a:cubicBezTo>
                      <a:pt x="493" y="530"/>
                      <a:pt x="493" y="530"/>
                      <a:pt x="493" y="530"/>
                    </a:cubicBezTo>
                    <a:cubicBezTo>
                      <a:pt x="493" y="545"/>
                      <a:pt x="493" y="545"/>
                      <a:pt x="493" y="545"/>
                    </a:cubicBezTo>
                    <a:cubicBezTo>
                      <a:pt x="406" y="529"/>
                      <a:pt x="406" y="529"/>
                      <a:pt x="406" y="529"/>
                    </a:cubicBezTo>
                    <a:cubicBezTo>
                      <a:pt x="407" y="524"/>
                      <a:pt x="407" y="519"/>
                      <a:pt x="407" y="515"/>
                    </a:cubicBezTo>
                    <a:cubicBezTo>
                      <a:pt x="407" y="460"/>
                      <a:pt x="363" y="416"/>
                      <a:pt x="308" y="416"/>
                    </a:cubicBezTo>
                    <a:cubicBezTo>
                      <a:pt x="257" y="416"/>
                      <a:pt x="215" y="454"/>
                      <a:pt x="210" y="503"/>
                    </a:cubicBezTo>
                    <a:cubicBezTo>
                      <a:pt x="92" y="479"/>
                      <a:pt x="92" y="479"/>
                      <a:pt x="92" y="479"/>
                    </a:cubicBezTo>
                    <a:cubicBezTo>
                      <a:pt x="92" y="480"/>
                      <a:pt x="92" y="480"/>
                      <a:pt x="92" y="480"/>
                    </a:cubicBezTo>
                    <a:cubicBezTo>
                      <a:pt x="92" y="469"/>
                      <a:pt x="84" y="461"/>
                      <a:pt x="73" y="460"/>
                    </a:cubicBezTo>
                    <a:cubicBezTo>
                      <a:pt x="272" y="280"/>
                      <a:pt x="272" y="280"/>
                      <a:pt x="272" y="280"/>
                    </a:cubicBezTo>
                    <a:cubicBezTo>
                      <a:pt x="270" y="278"/>
                      <a:pt x="270" y="278"/>
                      <a:pt x="270" y="278"/>
                    </a:cubicBezTo>
                    <a:cubicBezTo>
                      <a:pt x="70" y="459"/>
                      <a:pt x="70" y="459"/>
                      <a:pt x="70" y="459"/>
                    </a:cubicBezTo>
                    <a:cubicBezTo>
                      <a:pt x="71" y="460"/>
                      <a:pt x="71" y="460"/>
                      <a:pt x="71" y="460"/>
                    </a:cubicBezTo>
                    <a:cubicBezTo>
                      <a:pt x="60" y="460"/>
                      <a:pt x="51" y="469"/>
                      <a:pt x="51" y="480"/>
                    </a:cubicBezTo>
                    <a:cubicBezTo>
                      <a:pt x="51" y="491"/>
                      <a:pt x="60" y="500"/>
                      <a:pt x="71" y="501"/>
                    </a:cubicBezTo>
                    <a:cubicBezTo>
                      <a:pt x="70" y="501"/>
                      <a:pt x="70" y="501"/>
                      <a:pt x="70" y="501"/>
                    </a:cubicBezTo>
                    <a:cubicBezTo>
                      <a:pt x="128" y="736"/>
                      <a:pt x="128" y="736"/>
                      <a:pt x="128" y="736"/>
                    </a:cubicBezTo>
                    <a:cubicBezTo>
                      <a:pt x="120" y="737"/>
                      <a:pt x="113" y="743"/>
                      <a:pt x="110" y="751"/>
                    </a:cubicBezTo>
                    <a:cubicBezTo>
                      <a:pt x="0" y="747"/>
                      <a:pt x="0" y="747"/>
                      <a:pt x="0" y="747"/>
                    </a:cubicBezTo>
                    <a:cubicBezTo>
                      <a:pt x="0" y="750"/>
                      <a:pt x="0" y="750"/>
                      <a:pt x="0" y="750"/>
                    </a:cubicBezTo>
                    <a:cubicBezTo>
                      <a:pt x="110" y="754"/>
                      <a:pt x="110" y="754"/>
                      <a:pt x="110" y="754"/>
                    </a:cubicBezTo>
                    <a:cubicBezTo>
                      <a:pt x="110" y="755"/>
                      <a:pt x="110" y="755"/>
                      <a:pt x="110" y="756"/>
                    </a:cubicBezTo>
                    <a:cubicBezTo>
                      <a:pt x="110" y="767"/>
                      <a:pt x="119" y="777"/>
                      <a:pt x="130" y="777"/>
                    </a:cubicBezTo>
                    <a:cubicBezTo>
                      <a:pt x="135" y="777"/>
                      <a:pt x="140" y="774"/>
                      <a:pt x="144" y="771"/>
                    </a:cubicBezTo>
                    <a:cubicBezTo>
                      <a:pt x="143" y="772"/>
                      <a:pt x="143" y="772"/>
                      <a:pt x="143" y="772"/>
                    </a:cubicBezTo>
                    <a:cubicBezTo>
                      <a:pt x="301" y="867"/>
                      <a:pt x="301" y="867"/>
                      <a:pt x="301" y="867"/>
                    </a:cubicBezTo>
                    <a:cubicBezTo>
                      <a:pt x="302" y="866"/>
                      <a:pt x="302" y="866"/>
                      <a:pt x="302" y="866"/>
                    </a:cubicBezTo>
                    <a:cubicBezTo>
                      <a:pt x="302" y="866"/>
                      <a:pt x="302" y="866"/>
                      <a:pt x="302" y="866"/>
                    </a:cubicBezTo>
                    <a:cubicBezTo>
                      <a:pt x="302" y="870"/>
                      <a:pt x="303" y="874"/>
                      <a:pt x="305" y="877"/>
                    </a:cubicBezTo>
                    <a:cubicBezTo>
                      <a:pt x="195" y="925"/>
                      <a:pt x="195" y="925"/>
                      <a:pt x="195" y="925"/>
                    </a:cubicBezTo>
                    <a:cubicBezTo>
                      <a:pt x="197" y="928"/>
                      <a:pt x="197" y="928"/>
                      <a:pt x="197" y="928"/>
                    </a:cubicBezTo>
                    <a:cubicBezTo>
                      <a:pt x="307" y="879"/>
                      <a:pt x="307" y="879"/>
                      <a:pt x="307" y="879"/>
                    </a:cubicBezTo>
                    <a:cubicBezTo>
                      <a:pt x="311" y="883"/>
                      <a:pt x="316" y="886"/>
                      <a:pt x="322" y="886"/>
                    </a:cubicBezTo>
                    <a:cubicBezTo>
                      <a:pt x="321" y="886"/>
                      <a:pt x="321" y="886"/>
                      <a:pt x="321" y="886"/>
                    </a:cubicBezTo>
                    <a:cubicBezTo>
                      <a:pt x="344" y="1025"/>
                      <a:pt x="344" y="1025"/>
                      <a:pt x="344" y="1025"/>
                    </a:cubicBezTo>
                    <a:cubicBezTo>
                      <a:pt x="347" y="1024"/>
                      <a:pt x="347" y="1024"/>
                      <a:pt x="347" y="1024"/>
                    </a:cubicBezTo>
                    <a:cubicBezTo>
                      <a:pt x="324" y="886"/>
                      <a:pt x="324" y="886"/>
                      <a:pt x="324" y="886"/>
                    </a:cubicBezTo>
                    <a:cubicBezTo>
                      <a:pt x="334" y="885"/>
                      <a:pt x="343" y="877"/>
                      <a:pt x="343" y="866"/>
                    </a:cubicBezTo>
                    <a:cubicBezTo>
                      <a:pt x="343" y="861"/>
                      <a:pt x="341" y="856"/>
                      <a:pt x="338" y="853"/>
                    </a:cubicBezTo>
                    <a:cubicBezTo>
                      <a:pt x="514" y="758"/>
                      <a:pt x="514" y="758"/>
                      <a:pt x="514" y="758"/>
                    </a:cubicBezTo>
                    <a:cubicBezTo>
                      <a:pt x="513" y="756"/>
                      <a:pt x="513" y="756"/>
                      <a:pt x="513" y="756"/>
                    </a:cubicBezTo>
                    <a:cubicBezTo>
                      <a:pt x="516" y="760"/>
                      <a:pt x="522" y="762"/>
                      <a:pt x="528" y="762"/>
                    </a:cubicBezTo>
                    <a:cubicBezTo>
                      <a:pt x="528" y="762"/>
                      <a:pt x="528" y="762"/>
                      <a:pt x="528" y="762"/>
                    </a:cubicBezTo>
                    <a:cubicBezTo>
                      <a:pt x="527" y="763"/>
                      <a:pt x="527" y="763"/>
                      <a:pt x="527" y="763"/>
                    </a:cubicBezTo>
                    <a:cubicBezTo>
                      <a:pt x="603" y="898"/>
                      <a:pt x="603" y="898"/>
                      <a:pt x="603" y="898"/>
                    </a:cubicBezTo>
                    <a:cubicBezTo>
                      <a:pt x="586" y="916"/>
                      <a:pt x="575" y="941"/>
                      <a:pt x="575" y="968"/>
                    </a:cubicBezTo>
                    <a:cubicBezTo>
                      <a:pt x="575" y="976"/>
                      <a:pt x="576" y="984"/>
                      <a:pt x="578" y="992"/>
                    </a:cubicBezTo>
                    <a:cubicBezTo>
                      <a:pt x="366" y="1043"/>
                      <a:pt x="366" y="1043"/>
                      <a:pt x="366" y="1043"/>
                    </a:cubicBezTo>
                    <a:cubicBezTo>
                      <a:pt x="365" y="1033"/>
                      <a:pt x="356" y="1025"/>
                      <a:pt x="346" y="1025"/>
                    </a:cubicBezTo>
                    <a:cubicBezTo>
                      <a:pt x="334" y="1025"/>
                      <a:pt x="325" y="1034"/>
                      <a:pt x="325" y="1045"/>
                    </a:cubicBezTo>
                    <a:cubicBezTo>
                      <a:pt x="325" y="1056"/>
                      <a:pt x="334" y="1065"/>
                      <a:pt x="346" y="1065"/>
                    </a:cubicBezTo>
                    <a:cubicBezTo>
                      <a:pt x="357" y="1065"/>
                      <a:pt x="366" y="1056"/>
                      <a:pt x="366" y="1045"/>
                    </a:cubicBezTo>
                    <a:cubicBezTo>
                      <a:pt x="366" y="1045"/>
                      <a:pt x="366" y="1045"/>
                      <a:pt x="366" y="1045"/>
                    </a:cubicBezTo>
                    <a:cubicBezTo>
                      <a:pt x="366" y="1046"/>
                      <a:pt x="366" y="1046"/>
                      <a:pt x="366" y="1046"/>
                    </a:cubicBezTo>
                    <a:cubicBezTo>
                      <a:pt x="579" y="995"/>
                      <a:pt x="579" y="995"/>
                      <a:pt x="579" y="995"/>
                    </a:cubicBezTo>
                    <a:cubicBezTo>
                      <a:pt x="590" y="1036"/>
                      <a:pt x="629" y="1067"/>
                      <a:pt x="674" y="1067"/>
                    </a:cubicBezTo>
                    <a:cubicBezTo>
                      <a:pt x="728" y="1067"/>
                      <a:pt x="772" y="1023"/>
                      <a:pt x="773" y="969"/>
                    </a:cubicBezTo>
                    <a:cubicBezTo>
                      <a:pt x="1060" y="1046"/>
                      <a:pt x="1060" y="1046"/>
                      <a:pt x="1060" y="1046"/>
                    </a:cubicBezTo>
                    <a:cubicBezTo>
                      <a:pt x="1061" y="1046"/>
                      <a:pt x="1061" y="1046"/>
                      <a:pt x="1061" y="1046"/>
                    </a:cubicBezTo>
                    <a:cubicBezTo>
                      <a:pt x="1061" y="1056"/>
                      <a:pt x="1070" y="1065"/>
                      <a:pt x="1081" y="1065"/>
                    </a:cubicBezTo>
                    <a:cubicBezTo>
                      <a:pt x="1092" y="1065"/>
                      <a:pt x="1101" y="1056"/>
                      <a:pt x="1101" y="1045"/>
                    </a:cubicBezTo>
                    <a:cubicBezTo>
                      <a:pt x="1102" y="1046"/>
                      <a:pt x="1102" y="1046"/>
                      <a:pt x="1102" y="1046"/>
                    </a:cubicBezTo>
                    <a:cubicBezTo>
                      <a:pt x="1223" y="973"/>
                      <a:pt x="1223" y="973"/>
                      <a:pt x="1223" y="973"/>
                    </a:cubicBezTo>
                    <a:cubicBezTo>
                      <a:pt x="1241" y="991"/>
                      <a:pt x="1265" y="1001"/>
                      <a:pt x="1292" y="1001"/>
                    </a:cubicBezTo>
                    <a:cubicBezTo>
                      <a:pt x="1332" y="1001"/>
                      <a:pt x="1367" y="977"/>
                      <a:pt x="1383" y="942"/>
                    </a:cubicBezTo>
                    <a:cubicBezTo>
                      <a:pt x="1438" y="969"/>
                      <a:pt x="1438" y="969"/>
                      <a:pt x="1438" y="969"/>
                    </a:cubicBezTo>
                    <a:cubicBezTo>
                      <a:pt x="1435" y="972"/>
                      <a:pt x="1433" y="977"/>
                      <a:pt x="1433" y="982"/>
                    </a:cubicBezTo>
                    <a:cubicBezTo>
                      <a:pt x="1433" y="993"/>
                      <a:pt x="1442" y="1002"/>
                      <a:pt x="1453" y="1002"/>
                    </a:cubicBezTo>
                    <a:cubicBezTo>
                      <a:pt x="1455" y="1002"/>
                      <a:pt x="1456" y="1002"/>
                      <a:pt x="1457" y="1002"/>
                    </a:cubicBezTo>
                    <a:cubicBezTo>
                      <a:pt x="1464" y="1066"/>
                      <a:pt x="1464" y="1066"/>
                      <a:pt x="1464" y="1066"/>
                    </a:cubicBezTo>
                    <a:cubicBezTo>
                      <a:pt x="1467" y="1065"/>
                      <a:pt x="1467" y="1065"/>
                      <a:pt x="1467" y="1065"/>
                    </a:cubicBezTo>
                    <a:cubicBezTo>
                      <a:pt x="1460" y="1001"/>
                      <a:pt x="1460" y="1001"/>
                      <a:pt x="1460" y="1001"/>
                    </a:cubicBezTo>
                    <a:cubicBezTo>
                      <a:pt x="1468" y="999"/>
                      <a:pt x="1474" y="991"/>
                      <a:pt x="1474" y="982"/>
                    </a:cubicBezTo>
                    <a:cubicBezTo>
                      <a:pt x="1474" y="971"/>
                      <a:pt x="1466" y="963"/>
                      <a:pt x="1455" y="962"/>
                    </a:cubicBezTo>
                    <a:cubicBezTo>
                      <a:pt x="1455" y="962"/>
                      <a:pt x="1455" y="962"/>
                      <a:pt x="1455" y="962"/>
                    </a:cubicBezTo>
                    <a:cubicBezTo>
                      <a:pt x="1454" y="962"/>
                      <a:pt x="1454" y="962"/>
                      <a:pt x="1454" y="962"/>
                    </a:cubicBezTo>
                    <a:cubicBezTo>
                      <a:pt x="1453" y="962"/>
                      <a:pt x="1453" y="962"/>
                      <a:pt x="1453" y="962"/>
                    </a:cubicBezTo>
                    <a:cubicBezTo>
                      <a:pt x="1448" y="962"/>
                      <a:pt x="1443" y="964"/>
                      <a:pt x="1439" y="968"/>
                    </a:cubicBezTo>
                    <a:cubicBezTo>
                      <a:pt x="1440" y="966"/>
                      <a:pt x="1440" y="966"/>
                      <a:pt x="1440" y="966"/>
                    </a:cubicBezTo>
                    <a:cubicBezTo>
                      <a:pt x="1384" y="939"/>
                      <a:pt x="1384" y="939"/>
                      <a:pt x="1384" y="939"/>
                    </a:cubicBezTo>
                    <a:cubicBezTo>
                      <a:pt x="1388" y="928"/>
                      <a:pt x="1391" y="915"/>
                      <a:pt x="1391" y="902"/>
                    </a:cubicBezTo>
                    <a:cubicBezTo>
                      <a:pt x="1391" y="872"/>
                      <a:pt x="1377" y="844"/>
                      <a:pt x="1355" y="826"/>
                    </a:cubicBezTo>
                    <a:cubicBezTo>
                      <a:pt x="1617" y="636"/>
                      <a:pt x="1617" y="636"/>
                      <a:pt x="1617" y="636"/>
                    </a:cubicBezTo>
                    <a:cubicBezTo>
                      <a:pt x="1620" y="641"/>
                      <a:pt x="1626" y="645"/>
                      <a:pt x="1633" y="645"/>
                    </a:cubicBezTo>
                    <a:cubicBezTo>
                      <a:pt x="1599" y="817"/>
                      <a:pt x="1599" y="817"/>
                      <a:pt x="1599" y="817"/>
                    </a:cubicBezTo>
                    <a:cubicBezTo>
                      <a:pt x="1602" y="817"/>
                      <a:pt x="1602" y="817"/>
                      <a:pt x="1602" y="817"/>
                    </a:cubicBezTo>
                    <a:cubicBezTo>
                      <a:pt x="1601" y="817"/>
                      <a:pt x="1601" y="817"/>
                      <a:pt x="1601" y="817"/>
                    </a:cubicBezTo>
                    <a:cubicBezTo>
                      <a:pt x="1590" y="817"/>
                      <a:pt x="1580" y="826"/>
                      <a:pt x="1580" y="838"/>
                    </a:cubicBezTo>
                    <a:cubicBezTo>
                      <a:pt x="1580" y="843"/>
                      <a:pt x="1583" y="848"/>
                      <a:pt x="1586" y="852"/>
                    </a:cubicBezTo>
                    <a:cubicBezTo>
                      <a:pt x="1590" y="855"/>
                      <a:pt x="1595" y="858"/>
                      <a:pt x="1601" y="858"/>
                    </a:cubicBezTo>
                    <a:cubicBezTo>
                      <a:pt x="1605" y="858"/>
                      <a:pt x="1609" y="856"/>
                      <a:pt x="1612" y="854"/>
                    </a:cubicBezTo>
                    <a:cubicBezTo>
                      <a:pt x="1690" y="898"/>
                      <a:pt x="1690" y="898"/>
                      <a:pt x="1690" y="898"/>
                    </a:cubicBezTo>
                    <a:cubicBezTo>
                      <a:pt x="1691" y="895"/>
                      <a:pt x="1691" y="895"/>
                      <a:pt x="1691" y="895"/>
                    </a:cubicBezTo>
                    <a:cubicBezTo>
                      <a:pt x="1615" y="852"/>
                      <a:pt x="1615" y="852"/>
                      <a:pt x="1615" y="852"/>
                    </a:cubicBezTo>
                    <a:cubicBezTo>
                      <a:pt x="1619" y="849"/>
                      <a:pt x="1621" y="843"/>
                      <a:pt x="1621" y="838"/>
                    </a:cubicBezTo>
                    <a:cubicBezTo>
                      <a:pt x="1621" y="827"/>
                      <a:pt x="1613" y="818"/>
                      <a:pt x="1602" y="817"/>
                    </a:cubicBezTo>
                    <a:cubicBezTo>
                      <a:pt x="1636" y="646"/>
                      <a:pt x="1636" y="646"/>
                      <a:pt x="1636" y="646"/>
                    </a:cubicBezTo>
                    <a:cubicBezTo>
                      <a:pt x="1634" y="646"/>
                      <a:pt x="1634" y="646"/>
                      <a:pt x="1634" y="646"/>
                    </a:cubicBezTo>
                    <a:cubicBezTo>
                      <a:pt x="1634" y="646"/>
                      <a:pt x="1634" y="646"/>
                      <a:pt x="1634" y="646"/>
                    </a:cubicBezTo>
                    <a:cubicBezTo>
                      <a:pt x="1646" y="646"/>
                      <a:pt x="1655" y="637"/>
                      <a:pt x="1655" y="625"/>
                    </a:cubicBezTo>
                    <a:cubicBezTo>
                      <a:pt x="1709" y="619"/>
                      <a:pt x="1709" y="619"/>
                      <a:pt x="1709" y="619"/>
                    </a:cubicBezTo>
                    <a:cubicBezTo>
                      <a:pt x="1709" y="616"/>
                      <a:pt x="1709" y="616"/>
                      <a:pt x="1709" y="616"/>
                    </a:cubicBezTo>
                    <a:cubicBezTo>
                      <a:pt x="1655" y="623"/>
                      <a:pt x="1655" y="623"/>
                      <a:pt x="1655" y="623"/>
                    </a:cubicBezTo>
                    <a:cubicBezTo>
                      <a:pt x="1654" y="618"/>
                      <a:pt x="1651" y="613"/>
                      <a:pt x="1648" y="610"/>
                    </a:cubicBezTo>
                    <a:cubicBezTo>
                      <a:pt x="1648" y="610"/>
                      <a:pt x="1648" y="610"/>
                      <a:pt x="1648" y="610"/>
                    </a:cubicBezTo>
                    <a:cubicBezTo>
                      <a:pt x="1647" y="610"/>
                      <a:pt x="1647" y="609"/>
                      <a:pt x="1647" y="609"/>
                    </a:cubicBezTo>
                    <a:cubicBezTo>
                      <a:pt x="1715" y="500"/>
                      <a:pt x="1715" y="500"/>
                      <a:pt x="1715" y="500"/>
                    </a:cubicBezTo>
                    <a:lnTo>
                      <a:pt x="1712" y="498"/>
                    </a:lnTo>
                    <a:close/>
                    <a:moveTo>
                      <a:pt x="299" y="249"/>
                    </a:moveTo>
                    <a:cubicBezTo>
                      <a:pt x="300" y="250"/>
                      <a:pt x="300" y="250"/>
                      <a:pt x="300" y="250"/>
                    </a:cubicBezTo>
                    <a:cubicBezTo>
                      <a:pt x="296" y="246"/>
                      <a:pt x="292" y="244"/>
                      <a:pt x="287" y="244"/>
                    </a:cubicBezTo>
                    <a:cubicBezTo>
                      <a:pt x="361" y="102"/>
                      <a:pt x="361" y="102"/>
                      <a:pt x="361" y="102"/>
                    </a:cubicBezTo>
                    <a:cubicBezTo>
                      <a:pt x="364" y="106"/>
                      <a:pt x="369" y="107"/>
                      <a:pt x="374" y="107"/>
                    </a:cubicBezTo>
                    <a:cubicBezTo>
                      <a:pt x="385" y="107"/>
                      <a:pt x="393" y="99"/>
                      <a:pt x="394" y="89"/>
                    </a:cubicBezTo>
                    <a:cubicBezTo>
                      <a:pt x="543" y="108"/>
                      <a:pt x="543" y="108"/>
                      <a:pt x="543" y="108"/>
                    </a:cubicBezTo>
                    <a:cubicBezTo>
                      <a:pt x="543" y="108"/>
                      <a:pt x="543" y="108"/>
                      <a:pt x="543" y="108"/>
                    </a:cubicBezTo>
                    <a:cubicBezTo>
                      <a:pt x="543" y="112"/>
                      <a:pt x="545" y="117"/>
                      <a:pt x="548" y="120"/>
                    </a:cubicBezTo>
                    <a:lnTo>
                      <a:pt x="299" y="249"/>
                    </a:lnTo>
                    <a:close/>
                    <a:moveTo>
                      <a:pt x="1370" y="502"/>
                    </a:moveTo>
                    <a:cubicBezTo>
                      <a:pt x="1342" y="518"/>
                      <a:pt x="1322" y="548"/>
                      <a:pt x="1320" y="583"/>
                    </a:cubicBezTo>
                    <a:cubicBezTo>
                      <a:pt x="1257" y="586"/>
                      <a:pt x="1257" y="586"/>
                      <a:pt x="1257" y="586"/>
                    </a:cubicBezTo>
                    <a:cubicBezTo>
                      <a:pt x="1257" y="559"/>
                      <a:pt x="1257" y="559"/>
                      <a:pt x="1257" y="559"/>
                    </a:cubicBezTo>
                    <a:cubicBezTo>
                      <a:pt x="1096" y="559"/>
                      <a:pt x="1096" y="559"/>
                      <a:pt x="1096" y="559"/>
                    </a:cubicBezTo>
                    <a:cubicBezTo>
                      <a:pt x="1096" y="595"/>
                      <a:pt x="1096" y="595"/>
                      <a:pt x="1096" y="595"/>
                    </a:cubicBezTo>
                    <a:cubicBezTo>
                      <a:pt x="1006" y="599"/>
                      <a:pt x="1006" y="599"/>
                      <a:pt x="1006" y="599"/>
                    </a:cubicBezTo>
                    <a:cubicBezTo>
                      <a:pt x="1007" y="591"/>
                      <a:pt x="1008" y="583"/>
                      <a:pt x="1008" y="574"/>
                    </a:cubicBezTo>
                    <a:cubicBezTo>
                      <a:pt x="1008" y="540"/>
                      <a:pt x="997" y="510"/>
                      <a:pt x="979" y="484"/>
                    </a:cubicBezTo>
                    <a:cubicBezTo>
                      <a:pt x="1024" y="445"/>
                      <a:pt x="1024" y="445"/>
                      <a:pt x="1024" y="445"/>
                    </a:cubicBezTo>
                    <a:cubicBezTo>
                      <a:pt x="1123" y="445"/>
                      <a:pt x="1123" y="445"/>
                      <a:pt x="1123" y="445"/>
                    </a:cubicBezTo>
                    <a:cubicBezTo>
                      <a:pt x="1123" y="384"/>
                      <a:pt x="1123" y="384"/>
                      <a:pt x="1123" y="384"/>
                    </a:cubicBezTo>
                    <a:cubicBezTo>
                      <a:pt x="1091" y="384"/>
                      <a:pt x="1091" y="384"/>
                      <a:pt x="1091" y="384"/>
                    </a:cubicBezTo>
                    <a:cubicBezTo>
                      <a:pt x="1129" y="351"/>
                      <a:pt x="1129" y="351"/>
                      <a:pt x="1129" y="351"/>
                    </a:cubicBezTo>
                    <a:cubicBezTo>
                      <a:pt x="1147" y="369"/>
                      <a:pt x="1172" y="380"/>
                      <a:pt x="1199" y="380"/>
                    </a:cubicBezTo>
                    <a:cubicBezTo>
                      <a:pt x="1226" y="380"/>
                      <a:pt x="1250" y="369"/>
                      <a:pt x="1268" y="352"/>
                    </a:cubicBezTo>
                    <a:lnTo>
                      <a:pt x="1370" y="502"/>
                    </a:lnTo>
                    <a:close/>
                    <a:moveTo>
                      <a:pt x="1037" y="202"/>
                    </a:moveTo>
                    <a:cubicBezTo>
                      <a:pt x="1065" y="41"/>
                      <a:pt x="1065" y="41"/>
                      <a:pt x="1065" y="41"/>
                    </a:cubicBezTo>
                    <a:cubicBezTo>
                      <a:pt x="1063" y="40"/>
                      <a:pt x="1063" y="40"/>
                      <a:pt x="1063" y="40"/>
                    </a:cubicBezTo>
                    <a:cubicBezTo>
                      <a:pt x="1074" y="40"/>
                      <a:pt x="1083" y="32"/>
                      <a:pt x="1083" y="22"/>
                    </a:cubicBezTo>
                    <a:cubicBezTo>
                      <a:pt x="1415" y="145"/>
                      <a:pt x="1415" y="145"/>
                      <a:pt x="1415" y="145"/>
                    </a:cubicBezTo>
                    <a:cubicBezTo>
                      <a:pt x="1413" y="148"/>
                      <a:pt x="1411" y="152"/>
                      <a:pt x="1411" y="157"/>
                    </a:cubicBezTo>
                    <a:cubicBezTo>
                      <a:pt x="1410" y="157"/>
                      <a:pt x="1410" y="157"/>
                      <a:pt x="1410" y="157"/>
                    </a:cubicBezTo>
                    <a:cubicBezTo>
                      <a:pt x="1268" y="210"/>
                      <a:pt x="1268" y="210"/>
                      <a:pt x="1268" y="210"/>
                    </a:cubicBezTo>
                    <a:cubicBezTo>
                      <a:pt x="1251" y="193"/>
                      <a:pt x="1226" y="182"/>
                      <a:pt x="1199" y="182"/>
                    </a:cubicBezTo>
                    <a:cubicBezTo>
                      <a:pt x="1160" y="182"/>
                      <a:pt x="1126" y="205"/>
                      <a:pt x="1110" y="238"/>
                    </a:cubicBezTo>
                    <a:cubicBezTo>
                      <a:pt x="1042" y="215"/>
                      <a:pt x="1042" y="215"/>
                      <a:pt x="1042" y="215"/>
                    </a:cubicBezTo>
                    <a:cubicBezTo>
                      <a:pt x="1041" y="216"/>
                      <a:pt x="1041" y="216"/>
                      <a:pt x="1041" y="216"/>
                    </a:cubicBezTo>
                    <a:cubicBezTo>
                      <a:pt x="1041" y="211"/>
                      <a:pt x="1039" y="206"/>
                      <a:pt x="1035" y="202"/>
                    </a:cubicBezTo>
                    <a:lnTo>
                      <a:pt x="1037" y="202"/>
                    </a:lnTo>
                    <a:close/>
                    <a:moveTo>
                      <a:pt x="1041" y="218"/>
                    </a:moveTo>
                    <a:cubicBezTo>
                      <a:pt x="1109" y="241"/>
                      <a:pt x="1109" y="241"/>
                      <a:pt x="1109" y="241"/>
                    </a:cubicBezTo>
                    <a:cubicBezTo>
                      <a:pt x="1103" y="253"/>
                      <a:pt x="1100" y="267"/>
                      <a:pt x="1100" y="281"/>
                    </a:cubicBezTo>
                    <a:cubicBezTo>
                      <a:pt x="1100" y="305"/>
                      <a:pt x="1109" y="327"/>
                      <a:pt x="1123" y="344"/>
                    </a:cubicBezTo>
                    <a:cubicBezTo>
                      <a:pt x="1078" y="384"/>
                      <a:pt x="1078" y="384"/>
                      <a:pt x="1078" y="384"/>
                    </a:cubicBezTo>
                    <a:cubicBezTo>
                      <a:pt x="986" y="384"/>
                      <a:pt x="986" y="384"/>
                      <a:pt x="986" y="384"/>
                    </a:cubicBezTo>
                    <a:cubicBezTo>
                      <a:pt x="986" y="445"/>
                      <a:pt x="986" y="445"/>
                      <a:pt x="986" y="445"/>
                    </a:cubicBezTo>
                    <a:cubicBezTo>
                      <a:pt x="1010" y="445"/>
                      <a:pt x="1010" y="445"/>
                      <a:pt x="1010" y="445"/>
                    </a:cubicBezTo>
                    <a:cubicBezTo>
                      <a:pt x="974" y="477"/>
                      <a:pt x="974" y="477"/>
                      <a:pt x="974" y="477"/>
                    </a:cubicBezTo>
                    <a:cubicBezTo>
                      <a:pt x="961" y="461"/>
                      <a:pt x="945" y="448"/>
                      <a:pt x="927" y="438"/>
                    </a:cubicBezTo>
                    <a:cubicBezTo>
                      <a:pt x="1022" y="238"/>
                      <a:pt x="1022" y="238"/>
                      <a:pt x="1022" y="238"/>
                    </a:cubicBezTo>
                    <a:cubicBezTo>
                      <a:pt x="1021" y="237"/>
                      <a:pt x="1021" y="237"/>
                      <a:pt x="1021" y="237"/>
                    </a:cubicBezTo>
                    <a:cubicBezTo>
                      <a:pt x="1032" y="237"/>
                      <a:pt x="1041" y="229"/>
                      <a:pt x="1041" y="218"/>
                    </a:cubicBezTo>
                    <a:close/>
                    <a:moveTo>
                      <a:pt x="866" y="145"/>
                    </a:moveTo>
                    <a:cubicBezTo>
                      <a:pt x="1000" y="218"/>
                      <a:pt x="1000" y="218"/>
                      <a:pt x="1000" y="218"/>
                    </a:cubicBezTo>
                    <a:cubicBezTo>
                      <a:pt x="1001" y="216"/>
                      <a:pt x="1001" y="216"/>
                      <a:pt x="1001" y="216"/>
                    </a:cubicBezTo>
                    <a:cubicBezTo>
                      <a:pt x="1001" y="216"/>
                      <a:pt x="1001" y="216"/>
                      <a:pt x="1001" y="217"/>
                    </a:cubicBezTo>
                    <a:cubicBezTo>
                      <a:pt x="1001" y="227"/>
                      <a:pt x="1009" y="236"/>
                      <a:pt x="1019" y="237"/>
                    </a:cubicBezTo>
                    <a:cubicBezTo>
                      <a:pt x="924" y="436"/>
                      <a:pt x="924" y="436"/>
                      <a:pt x="924" y="436"/>
                    </a:cubicBezTo>
                    <a:cubicBezTo>
                      <a:pt x="903" y="425"/>
                      <a:pt x="879" y="419"/>
                      <a:pt x="853" y="419"/>
                    </a:cubicBezTo>
                    <a:cubicBezTo>
                      <a:pt x="847" y="419"/>
                      <a:pt x="841" y="419"/>
                      <a:pt x="835" y="420"/>
                    </a:cubicBezTo>
                    <a:cubicBezTo>
                      <a:pt x="820" y="315"/>
                      <a:pt x="820" y="315"/>
                      <a:pt x="820" y="315"/>
                    </a:cubicBezTo>
                    <a:cubicBezTo>
                      <a:pt x="879" y="315"/>
                      <a:pt x="879" y="315"/>
                      <a:pt x="879" y="315"/>
                    </a:cubicBezTo>
                    <a:cubicBezTo>
                      <a:pt x="879" y="255"/>
                      <a:pt x="879" y="255"/>
                      <a:pt x="879" y="255"/>
                    </a:cubicBezTo>
                    <a:cubicBezTo>
                      <a:pt x="812" y="255"/>
                      <a:pt x="812" y="255"/>
                      <a:pt x="812" y="255"/>
                    </a:cubicBezTo>
                    <a:cubicBezTo>
                      <a:pt x="803" y="195"/>
                      <a:pt x="803" y="195"/>
                      <a:pt x="803" y="195"/>
                    </a:cubicBezTo>
                    <a:cubicBezTo>
                      <a:pt x="830" y="188"/>
                      <a:pt x="853" y="169"/>
                      <a:pt x="866" y="145"/>
                    </a:cubicBezTo>
                    <a:close/>
                    <a:moveTo>
                      <a:pt x="708" y="169"/>
                    </a:moveTo>
                    <a:cubicBezTo>
                      <a:pt x="726" y="187"/>
                      <a:pt x="751" y="198"/>
                      <a:pt x="778" y="198"/>
                    </a:cubicBezTo>
                    <a:cubicBezTo>
                      <a:pt x="784" y="198"/>
                      <a:pt x="789" y="197"/>
                      <a:pt x="794" y="196"/>
                    </a:cubicBezTo>
                    <a:cubicBezTo>
                      <a:pt x="803" y="255"/>
                      <a:pt x="803" y="255"/>
                      <a:pt x="803" y="255"/>
                    </a:cubicBezTo>
                    <a:cubicBezTo>
                      <a:pt x="741" y="255"/>
                      <a:pt x="741" y="255"/>
                      <a:pt x="741" y="255"/>
                    </a:cubicBezTo>
                    <a:cubicBezTo>
                      <a:pt x="741" y="315"/>
                      <a:pt x="741" y="315"/>
                      <a:pt x="741" y="315"/>
                    </a:cubicBezTo>
                    <a:cubicBezTo>
                      <a:pt x="811" y="315"/>
                      <a:pt x="811" y="315"/>
                      <a:pt x="811" y="315"/>
                    </a:cubicBezTo>
                    <a:cubicBezTo>
                      <a:pt x="826" y="421"/>
                      <a:pt x="826" y="421"/>
                      <a:pt x="826" y="421"/>
                    </a:cubicBezTo>
                    <a:cubicBezTo>
                      <a:pt x="807" y="425"/>
                      <a:pt x="788" y="432"/>
                      <a:pt x="772" y="442"/>
                    </a:cubicBezTo>
                    <a:cubicBezTo>
                      <a:pt x="635" y="262"/>
                      <a:pt x="635" y="262"/>
                      <a:pt x="635" y="262"/>
                    </a:cubicBezTo>
                    <a:cubicBezTo>
                      <a:pt x="638" y="258"/>
                      <a:pt x="640" y="253"/>
                      <a:pt x="640" y="248"/>
                    </a:cubicBezTo>
                    <a:cubicBezTo>
                      <a:pt x="640" y="243"/>
                      <a:pt x="638" y="239"/>
                      <a:pt x="635" y="235"/>
                    </a:cubicBezTo>
                    <a:lnTo>
                      <a:pt x="708" y="169"/>
                    </a:lnTo>
                    <a:close/>
                    <a:moveTo>
                      <a:pt x="621" y="269"/>
                    </a:moveTo>
                    <a:cubicBezTo>
                      <a:pt x="620" y="269"/>
                      <a:pt x="620" y="269"/>
                      <a:pt x="620" y="269"/>
                    </a:cubicBezTo>
                    <a:cubicBezTo>
                      <a:pt x="625" y="269"/>
                      <a:pt x="629" y="267"/>
                      <a:pt x="633" y="264"/>
                    </a:cubicBezTo>
                    <a:cubicBezTo>
                      <a:pt x="769" y="444"/>
                      <a:pt x="769" y="444"/>
                      <a:pt x="769" y="444"/>
                    </a:cubicBezTo>
                    <a:cubicBezTo>
                      <a:pt x="727" y="471"/>
                      <a:pt x="698" y="519"/>
                      <a:pt x="698" y="574"/>
                    </a:cubicBezTo>
                    <a:cubicBezTo>
                      <a:pt x="698" y="577"/>
                      <a:pt x="698" y="580"/>
                      <a:pt x="698" y="583"/>
                    </a:cubicBezTo>
                    <a:cubicBezTo>
                      <a:pt x="630" y="570"/>
                      <a:pt x="630" y="570"/>
                      <a:pt x="630" y="570"/>
                    </a:cubicBezTo>
                    <a:cubicBezTo>
                      <a:pt x="630" y="530"/>
                      <a:pt x="630" y="530"/>
                      <a:pt x="630" y="530"/>
                    </a:cubicBezTo>
                    <a:cubicBezTo>
                      <a:pt x="568" y="530"/>
                      <a:pt x="568" y="530"/>
                      <a:pt x="568" y="530"/>
                    </a:cubicBezTo>
                    <a:lnTo>
                      <a:pt x="621" y="269"/>
                    </a:lnTo>
                    <a:close/>
                    <a:moveTo>
                      <a:pt x="529" y="722"/>
                    </a:moveTo>
                    <a:cubicBezTo>
                      <a:pt x="529" y="722"/>
                      <a:pt x="529" y="722"/>
                      <a:pt x="529" y="722"/>
                    </a:cubicBezTo>
                    <a:cubicBezTo>
                      <a:pt x="528" y="722"/>
                      <a:pt x="528" y="722"/>
                      <a:pt x="528" y="722"/>
                    </a:cubicBezTo>
                    <a:cubicBezTo>
                      <a:pt x="516" y="722"/>
                      <a:pt x="507" y="731"/>
                      <a:pt x="507" y="742"/>
                    </a:cubicBezTo>
                    <a:cubicBezTo>
                      <a:pt x="507" y="741"/>
                      <a:pt x="507" y="741"/>
                      <a:pt x="507" y="741"/>
                    </a:cubicBezTo>
                    <a:cubicBezTo>
                      <a:pt x="150" y="755"/>
                      <a:pt x="150" y="755"/>
                      <a:pt x="150" y="755"/>
                    </a:cubicBezTo>
                    <a:cubicBezTo>
                      <a:pt x="150" y="756"/>
                      <a:pt x="150" y="756"/>
                      <a:pt x="150" y="756"/>
                    </a:cubicBezTo>
                    <a:cubicBezTo>
                      <a:pt x="150" y="758"/>
                      <a:pt x="150" y="758"/>
                      <a:pt x="150" y="758"/>
                    </a:cubicBezTo>
                    <a:cubicBezTo>
                      <a:pt x="507" y="743"/>
                      <a:pt x="507" y="743"/>
                      <a:pt x="507" y="743"/>
                    </a:cubicBezTo>
                    <a:cubicBezTo>
                      <a:pt x="507" y="748"/>
                      <a:pt x="509" y="752"/>
                      <a:pt x="512" y="755"/>
                    </a:cubicBezTo>
                    <a:cubicBezTo>
                      <a:pt x="336" y="850"/>
                      <a:pt x="336" y="850"/>
                      <a:pt x="336" y="850"/>
                    </a:cubicBezTo>
                    <a:cubicBezTo>
                      <a:pt x="337" y="851"/>
                      <a:pt x="337" y="851"/>
                      <a:pt x="337" y="851"/>
                    </a:cubicBezTo>
                    <a:cubicBezTo>
                      <a:pt x="333" y="848"/>
                      <a:pt x="328" y="846"/>
                      <a:pt x="323" y="846"/>
                    </a:cubicBezTo>
                    <a:cubicBezTo>
                      <a:pt x="312" y="846"/>
                      <a:pt x="303" y="854"/>
                      <a:pt x="302" y="864"/>
                    </a:cubicBezTo>
                    <a:cubicBezTo>
                      <a:pt x="145" y="769"/>
                      <a:pt x="145" y="769"/>
                      <a:pt x="145" y="769"/>
                    </a:cubicBezTo>
                    <a:cubicBezTo>
                      <a:pt x="148" y="766"/>
                      <a:pt x="150" y="761"/>
                      <a:pt x="150" y="756"/>
                    </a:cubicBezTo>
                    <a:cubicBezTo>
                      <a:pt x="150" y="745"/>
                      <a:pt x="141" y="736"/>
                      <a:pt x="130" y="736"/>
                    </a:cubicBezTo>
                    <a:cubicBezTo>
                      <a:pt x="131" y="736"/>
                      <a:pt x="131" y="736"/>
                      <a:pt x="131" y="736"/>
                    </a:cubicBezTo>
                    <a:cubicBezTo>
                      <a:pt x="73" y="500"/>
                      <a:pt x="73" y="500"/>
                      <a:pt x="73" y="500"/>
                    </a:cubicBezTo>
                    <a:cubicBezTo>
                      <a:pt x="83" y="500"/>
                      <a:pt x="91" y="492"/>
                      <a:pt x="92" y="481"/>
                    </a:cubicBezTo>
                    <a:cubicBezTo>
                      <a:pt x="209" y="506"/>
                      <a:pt x="209" y="506"/>
                      <a:pt x="209" y="506"/>
                    </a:cubicBezTo>
                    <a:cubicBezTo>
                      <a:pt x="209" y="509"/>
                      <a:pt x="209" y="512"/>
                      <a:pt x="209" y="515"/>
                    </a:cubicBezTo>
                    <a:cubicBezTo>
                      <a:pt x="209" y="569"/>
                      <a:pt x="254" y="614"/>
                      <a:pt x="308" y="614"/>
                    </a:cubicBezTo>
                    <a:cubicBezTo>
                      <a:pt x="355" y="614"/>
                      <a:pt x="394" y="581"/>
                      <a:pt x="405" y="538"/>
                    </a:cubicBezTo>
                    <a:cubicBezTo>
                      <a:pt x="493" y="554"/>
                      <a:pt x="493" y="554"/>
                      <a:pt x="493" y="554"/>
                    </a:cubicBezTo>
                    <a:cubicBezTo>
                      <a:pt x="493" y="590"/>
                      <a:pt x="493" y="590"/>
                      <a:pt x="493" y="590"/>
                    </a:cubicBezTo>
                    <a:cubicBezTo>
                      <a:pt x="553" y="590"/>
                      <a:pt x="553" y="590"/>
                      <a:pt x="553" y="590"/>
                    </a:cubicBezTo>
                    <a:cubicBezTo>
                      <a:pt x="526" y="721"/>
                      <a:pt x="526" y="721"/>
                      <a:pt x="526" y="721"/>
                    </a:cubicBezTo>
                    <a:cubicBezTo>
                      <a:pt x="529" y="722"/>
                      <a:pt x="529" y="722"/>
                      <a:pt x="529" y="722"/>
                    </a:cubicBezTo>
                    <a:cubicBezTo>
                      <a:pt x="529" y="722"/>
                      <a:pt x="529" y="722"/>
                      <a:pt x="529" y="722"/>
                    </a:cubicBezTo>
                    <a:cubicBezTo>
                      <a:pt x="556" y="590"/>
                      <a:pt x="556" y="590"/>
                      <a:pt x="556" y="590"/>
                    </a:cubicBezTo>
                    <a:cubicBezTo>
                      <a:pt x="630" y="590"/>
                      <a:pt x="630" y="590"/>
                      <a:pt x="630" y="590"/>
                    </a:cubicBezTo>
                    <a:cubicBezTo>
                      <a:pt x="630" y="579"/>
                      <a:pt x="630" y="579"/>
                      <a:pt x="630" y="579"/>
                    </a:cubicBezTo>
                    <a:cubicBezTo>
                      <a:pt x="699" y="592"/>
                      <a:pt x="699" y="592"/>
                      <a:pt x="699" y="592"/>
                    </a:cubicBezTo>
                    <a:cubicBezTo>
                      <a:pt x="702" y="615"/>
                      <a:pt x="709" y="636"/>
                      <a:pt x="721" y="654"/>
                    </a:cubicBezTo>
                    <a:cubicBezTo>
                      <a:pt x="542" y="726"/>
                      <a:pt x="542" y="726"/>
                      <a:pt x="542" y="726"/>
                    </a:cubicBezTo>
                    <a:cubicBezTo>
                      <a:pt x="542" y="728"/>
                      <a:pt x="542" y="728"/>
                      <a:pt x="542" y="728"/>
                    </a:cubicBezTo>
                    <a:cubicBezTo>
                      <a:pt x="539" y="725"/>
                      <a:pt x="534" y="722"/>
                      <a:pt x="529" y="722"/>
                    </a:cubicBezTo>
                    <a:close/>
                    <a:moveTo>
                      <a:pt x="674" y="869"/>
                    </a:moveTo>
                    <a:cubicBezTo>
                      <a:pt x="647" y="869"/>
                      <a:pt x="623" y="879"/>
                      <a:pt x="605" y="896"/>
                    </a:cubicBezTo>
                    <a:cubicBezTo>
                      <a:pt x="529" y="762"/>
                      <a:pt x="529" y="762"/>
                      <a:pt x="529" y="762"/>
                    </a:cubicBezTo>
                    <a:cubicBezTo>
                      <a:pt x="540" y="761"/>
                      <a:pt x="548" y="753"/>
                      <a:pt x="548" y="742"/>
                    </a:cubicBezTo>
                    <a:cubicBezTo>
                      <a:pt x="548" y="737"/>
                      <a:pt x="546" y="732"/>
                      <a:pt x="543" y="729"/>
                    </a:cubicBezTo>
                    <a:cubicBezTo>
                      <a:pt x="722" y="657"/>
                      <a:pt x="722" y="657"/>
                      <a:pt x="722" y="657"/>
                    </a:cubicBezTo>
                    <a:cubicBezTo>
                      <a:pt x="739" y="682"/>
                      <a:pt x="762" y="703"/>
                      <a:pt x="790" y="715"/>
                    </a:cubicBezTo>
                    <a:cubicBezTo>
                      <a:pt x="768" y="759"/>
                      <a:pt x="768" y="759"/>
                      <a:pt x="768" y="759"/>
                    </a:cubicBezTo>
                    <a:cubicBezTo>
                      <a:pt x="682" y="759"/>
                      <a:pt x="682" y="759"/>
                      <a:pt x="682" y="759"/>
                    </a:cubicBezTo>
                    <a:cubicBezTo>
                      <a:pt x="682" y="819"/>
                      <a:pt x="682" y="819"/>
                      <a:pt x="682" y="819"/>
                    </a:cubicBezTo>
                    <a:cubicBezTo>
                      <a:pt x="736" y="819"/>
                      <a:pt x="736" y="819"/>
                      <a:pt x="736" y="819"/>
                    </a:cubicBezTo>
                    <a:cubicBezTo>
                      <a:pt x="708" y="875"/>
                      <a:pt x="708" y="875"/>
                      <a:pt x="708" y="875"/>
                    </a:cubicBezTo>
                    <a:cubicBezTo>
                      <a:pt x="697" y="871"/>
                      <a:pt x="686" y="869"/>
                      <a:pt x="674" y="869"/>
                    </a:cubicBezTo>
                    <a:close/>
                    <a:moveTo>
                      <a:pt x="1061" y="1043"/>
                    </a:moveTo>
                    <a:cubicBezTo>
                      <a:pt x="773" y="967"/>
                      <a:pt x="773" y="967"/>
                      <a:pt x="773" y="967"/>
                    </a:cubicBezTo>
                    <a:cubicBezTo>
                      <a:pt x="773" y="927"/>
                      <a:pt x="749" y="894"/>
                      <a:pt x="716" y="878"/>
                    </a:cubicBezTo>
                    <a:cubicBezTo>
                      <a:pt x="747" y="819"/>
                      <a:pt x="747" y="819"/>
                      <a:pt x="747" y="819"/>
                    </a:cubicBezTo>
                    <a:cubicBezTo>
                      <a:pt x="820" y="819"/>
                      <a:pt x="820" y="819"/>
                      <a:pt x="820" y="819"/>
                    </a:cubicBezTo>
                    <a:cubicBezTo>
                      <a:pt x="820" y="759"/>
                      <a:pt x="820" y="759"/>
                      <a:pt x="820" y="759"/>
                    </a:cubicBezTo>
                    <a:cubicBezTo>
                      <a:pt x="778" y="759"/>
                      <a:pt x="778" y="759"/>
                      <a:pt x="778" y="759"/>
                    </a:cubicBezTo>
                    <a:cubicBezTo>
                      <a:pt x="799" y="719"/>
                      <a:pt x="799" y="719"/>
                      <a:pt x="799" y="719"/>
                    </a:cubicBezTo>
                    <a:cubicBezTo>
                      <a:pt x="816" y="725"/>
                      <a:pt x="834" y="729"/>
                      <a:pt x="853" y="729"/>
                    </a:cubicBezTo>
                    <a:cubicBezTo>
                      <a:pt x="872" y="729"/>
                      <a:pt x="890" y="725"/>
                      <a:pt x="907" y="719"/>
                    </a:cubicBezTo>
                    <a:cubicBezTo>
                      <a:pt x="1065" y="1031"/>
                      <a:pt x="1065" y="1031"/>
                      <a:pt x="1065" y="1031"/>
                    </a:cubicBezTo>
                    <a:cubicBezTo>
                      <a:pt x="1067" y="1030"/>
                      <a:pt x="1067" y="1030"/>
                      <a:pt x="1067" y="1030"/>
                    </a:cubicBezTo>
                    <a:cubicBezTo>
                      <a:pt x="1064" y="1033"/>
                      <a:pt x="1061" y="1038"/>
                      <a:pt x="1061" y="1043"/>
                    </a:cubicBezTo>
                    <a:close/>
                    <a:moveTo>
                      <a:pt x="1101" y="1043"/>
                    </a:moveTo>
                    <a:cubicBezTo>
                      <a:pt x="1100" y="1033"/>
                      <a:pt x="1092" y="1025"/>
                      <a:pt x="1081" y="1025"/>
                    </a:cubicBezTo>
                    <a:cubicBezTo>
                      <a:pt x="1076" y="1025"/>
                      <a:pt x="1071" y="1027"/>
                      <a:pt x="1068" y="1030"/>
                    </a:cubicBezTo>
                    <a:cubicBezTo>
                      <a:pt x="910" y="718"/>
                      <a:pt x="910" y="718"/>
                      <a:pt x="910" y="718"/>
                    </a:cubicBezTo>
                    <a:cubicBezTo>
                      <a:pt x="928" y="711"/>
                      <a:pt x="945" y="700"/>
                      <a:pt x="959" y="687"/>
                    </a:cubicBezTo>
                    <a:cubicBezTo>
                      <a:pt x="1076" y="759"/>
                      <a:pt x="1076" y="759"/>
                      <a:pt x="1076" y="759"/>
                    </a:cubicBezTo>
                    <a:cubicBezTo>
                      <a:pt x="1055" y="759"/>
                      <a:pt x="1055" y="759"/>
                      <a:pt x="1055" y="759"/>
                    </a:cubicBezTo>
                    <a:cubicBezTo>
                      <a:pt x="1055" y="819"/>
                      <a:pt x="1055" y="819"/>
                      <a:pt x="1055" y="819"/>
                    </a:cubicBezTo>
                    <a:cubicBezTo>
                      <a:pt x="1173" y="819"/>
                      <a:pt x="1173" y="819"/>
                      <a:pt x="1173" y="819"/>
                    </a:cubicBezTo>
                    <a:cubicBezTo>
                      <a:pt x="1212" y="844"/>
                      <a:pt x="1212" y="844"/>
                      <a:pt x="1212" y="844"/>
                    </a:cubicBezTo>
                    <a:cubicBezTo>
                      <a:pt x="1200" y="860"/>
                      <a:pt x="1193" y="880"/>
                      <a:pt x="1193" y="902"/>
                    </a:cubicBezTo>
                    <a:cubicBezTo>
                      <a:pt x="1193" y="929"/>
                      <a:pt x="1204" y="953"/>
                      <a:pt x="1221" y="971"/>
                    </a:cubicBezTo>
                    <a:lnTo>
                      <a:pt x="1101" y="1043"/>
                    </a:lnTo>
                    <a:close/>
                    <a:moveTo>
                      <a:pt x="1353" y="824"/>
                    </a:moveTo>
                    <a:cubicBezTo>
                      <a:pt x="1336" y="811"/>
                      <a:pt x="1315" y="803"/>
                      <a:pt x="1292" y="803"/>
                    </a:cubicBezTo>
                    <a:cubicBezTo>
                      <a:pt x="1263" y="803"/>
                      <a:pt x="1236" y="816"/>
                      <a:pt x="1218" y="837"/>
                    </a:cubicBezTo>
                    <a:cubicBezTo>
                      <a:pt x="1190" y="819"/>
                      <a:pt x="1190" y="819"/>
                      <a:pt x="1190" y="819"/>
                    </a:cubicBezTo>
                    <a:cubicBezTo>
                      <a:pt x="1194" y="819"/>
                      <a:pt x="1194" y="819"/>
                      <a:pt x="1194" y="819"/>
                    </a:cubicBezTo>
                    <a:cubicBezTo>
                      <a:pt x="1194" y="759"/>
                      <a:pt x="1194" y="759"/>
                      <a:pt x="1194" y="759"/>
                    </a:cubicBezTo>
                    <a:cubicBezTo>
                      <a:pt x="1094" y="759"/>
                      <a:pt x="1094" y="759"/>
                      <a:pt x="1094" y="759"/>
                    </a:cubicBezTo>
                    <a:cubicBezTo>
                      <a:pt x="965" y="680"/>
                      <a:pt x="965" y="680"/>
                      <a:pt x="965" y="680"/>
                    </a:cubicBezTo>
                    <a:cubicBezTo>
                      <a:pt x="984" y="660"/>
                      <a:pt x="997" y="636"/>
                      <a:pt x="1004" y="609"/>
                    </a:cubicBezTo>
                    <a:cubicBezTo>
                      <a:pt x="1096" y="604"/>
                      <a:pt x="1096" y="604"/>
                      <a:pt x="1096" y="604"/>
                    </a:cubicBezTo>
                    <a:cubicBezTo>
                      <a:pt x="1096" y="620"/>
                      <a:pt x="1096" y="620"/>
                      <a:pt x="1096" y="620"/>
                    </a:cubicBezTo>
                    <a:cubicBezTo>
                      <a:pt x="1257" y="620"/>
                      <a:pt x="1257" y="620"/>
                      <a:pt x="1257" y="620"/>
                    </a:cubicBezTo>
                    <a:cubicBezTo>
                      <a:pt x="1257" y="595"/>
                      <a:pt x="1257" y="595"/>
                      <a:pt x="1257" y="595"/>
                    </a:cubicBezTo>
                    <a:cubicBezTo>
                      <a:pt x="1320" y="592"/>
                      <a:pt x="1320" y="592"/>
                      <a:pt x="1320" y="592"/>
                    </a:cubicBezTo>
                    <a:cubicBezTo>
                      <a:pt x="1323" y="644"/>
                      <a:pt x="1366" y="686"/>
                      <a:pt x="1419" y="686"/>
                    </a:cubicBezTo>
                    <a:cubicBezTo>
                      <a:pt x="1469" y="686"/>
                      <a:pt x="1511" y="649"/>
                      <a:pt x="1517" y="601"/>
                    </a:cubicBezTo>
                    <a:cubicBezTo>
                      <a:pt x="1614" y="626"/>
                      <a:pt x="1614" y="626"/>
                      <a:pt x="1614" y="626"/>
                    </a:cubicBezTo>
                    <a:cubicBezTo>
                      <a:pt x="1614" y="625"/>
                      <a:pt x="1614" y="625"/>
                      <a:pt x="1614" y="625"/>
                    </a:cubicBezTo>
                    <a:cubicBezTo>
                      <a:pt x="1614" y="628"/>
                      <a:pt x="1615" y="631"/>
                      <a:pt x="1616" y="633"/>
                    </a:cubicBezTo>
                    <a:lnTo>
                      <a:pt x="1353"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p>
            </p:txBody>
          </p:sp>
        </p:grpSp>
      </p:grpSp>
    </p:spTree>
    <p:extLst>
      <p:ext uri="{BB962C8B-B14F-4D97-AF65-F5344CB8AC3E}">
        <p14:creationId xmlns:p14="http://schemas.microsoft.com/office/powerpoint/2010/main" val="1920878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endParaRPr lang="en-US" dirty="0"/>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ltLang="zh-CN" dirty="0"/>
              <a:t>R</a:t>
            </a:r>
            <a:r>
              <a:rPr lang="en-US" dirty="0"/>
              <a:t>estricted | © Siemens Ltd., China 2022 | T CED INW | 2022-08</a:t>
            </a:r>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17" r:id="rId1"/>
    <p:sldLayoutId id="2147483719" r:id="rId2"/>
    <p:sldLayoutId id="2147483720" r:id="rId3"/>
    <p:sldLayoutId id="2147483721" r:id="rId4"/>
    <p:sldLayoutId id="2147483722" r:id="rId5"/>
    <p:sldLayoutId id="2147483723" r:id="rId6"/>
    <p:sldLayoutId id="2147483736" r:id="rId7"/>
    <p:sldLayoutId id="2147483737" r:id="rId8"/>
    <p:sldLayoutId id="2147483738" r:id="rId9"/>
    <p:sldLayoutId id="2147483739" r:id="rId10"/>
    <p:sldLayoutId id="2147483740" r:id="rId11"/>
    <p:sldLayoutId id="2147483741" r:id="rId12"/>
    <p:sldLayoutId id="2147483744" r:id="rId13"/>
    <p:sldLayoutId id="2147483708" r:id="rId14"/>
    <p:sldLayoutId id="2147483655" r:id="rId15"/>
    <p:sldLayoutId id="2147483751" r:id="rId16"/>
    <p:sldLayoutId id="2147483691" r:id="rId17"/>
    <p:sldLayoutId id="2147483752" r:id="rId18"/>
    <p:sldLayoutId id="2147483692" r:id="rId19"/>
    <p:sldLayoutId id="2147483690" r:id="rId20"/>
    <p:sldLayoutId id="2147483682" r:id="rId21"/>
    <p:sldLayoutId id="2147483678" r:id="rId22"/>
    <p:sldLayoutId id="2147483755" r:id="rId23"/>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1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15.xm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svg"/></Relationships>
</file>

<file path=ppt/slides/_rels/slide13.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svg"/><Relationship Id="rId3" Type="http://schemas.openxmlformats.org/officeDocument/2006/relationships/image" Target="../media/image47.png"/><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image" Target="../media/image55.jpg"/><Relationship Id="rId1" Type="http://schemas.openxmlformats.org/officeDocument/2006/relationships/slideLayout" Target="../slideLayouts/slideLayout15.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46.PNG"/><Relationship Id="rId9"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5.xml"/><Relationship Id="rId5" Type="http://schemas.openxmlformats.org/officeDocument/2006/relationships/image" Target="../media/image68.png"/><Relationship Id="rId4" Type="http://schemas.openxmlformats.org/officeDocument/2006/relationships/image" Target="../media/image67.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5.xml"/><Relationship Id="rId5" Type="http://schemas.openxmlformats.org/officeDocument/2006/relationships/image" Target="../media/image72.png"/><Relationship Id="rId4" Type="http://schemas.openxmlformats.org/officeDocument/2006/relationships/image" Target="../media/image71.png"/></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76.svg"/><Relationship Id="rId7" Type="http://schemas.openxmlformats.org/officeDocument/2006/relationships/image" Target="../media/image80.svg"/><Relationship Id="rId2" Type="http://schemas.openxmlformats.org/officeDocument/2006/relationships/image" Target="../media/image75.png"/><Relationship Id="rId1" Type="http://schemas.openxmlformats.org/officeDocument/2006/relationships/slideLayout" Target="../slideLayouts/slideLayout15.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hyperlink" Target="mailto:Yu-he@siemens.com" TargetMode="Externa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2CA6E-3B7D-49A9-11CF-85778AD8319A}"/>
              </a:ext>
            </a:extLst>
          </p:cNvPr>
          <p:cNvSpPr>
            <a:spLocks noGrp="1"/>
          </p:cNvSpPr>
          <p:nvPr>
            <p:ph type="ctrTitle"/>
          </p:nvPr>
        </p:nvSpPr>
        <p:spPr>
          <a:xfrm>
            <a:off x="472623" y="3623242"/>
            <a:ext cx="6476627" cy="1859413"/>
          </a:xfrm>
        </p:spPr>
        <p:txBody>
          <a:bodyPr/>
          <a:lstStyle/>
          <a:p>
            <a:r>
              <a:rPr lang="en-US" dirty="0"/>
              <a:t>Knowledge Graph based DaaS</a:t>
            </a:r>
            <a:br>
              <a:rPr lang="en-US" dirty="0"/>
            </a:br>
            <a:r>
              <a:rPr lang="en-US" altLang="zh-CN" sz="2400" dirty="0"/>
              <a:t>T CED INW-CN  |  YU He</a:t>
            </a:r>
            <a:endParaRPr lang="en-US" sz="2400" dirty="0"/>
          </a:p>
        </p:txBody>
      </p:sp>
      <p:sp>
        <p:nvSpPr>
          <p:cNvPr id="3" name="Text Placeholder 2">
            <a:extLst>
              <a:ext uri="{FF2B5EF4-FFF2-40B4-BE49-F238E27FC236}">
                <a16:creationId xmlns:a16="http://schemas.microsoft.com/office/drawing/2014/main" id="{120B6BBE-F7E1-E69E-C531-7CF51A038E43}"/>
              </a:ext>
            </a:extLst>
          </p:cNvPr>
          <p:cNvSpPr>
            <a:spLocks noGrp="1"/>
          </p:cNvSpPr>
          <p:nvPr>
            <p:ph type="body" sz="quarter" idx="13"/>
          </p:nvPr>
        </p:nvSpPr>
        <p:spPr>
          <a:xfrm>
            <a:off x="637009" y="5854862"/>
            <a:ext cx="6476627" cy="323925"/>
          </a:xfrm>
        </p:spPr>
        <p:txBody>
          <a:bodyPr/>
          <a:lstStyle/>
          <a:p>
            <a:r>
              <a:rPr lang="en-US" dirty="0"/>
              <a:t>Restricted @ Siemens </a:t>
            </a:r>
            <a:r>
              <a:rPr lang="en-US" altLang="zh-CN" dirty="0"/>
              <a:t>AG 2022</a:t>
            </a:r>
            <a:endParaRPr lang="en-US" dirty="0"/>
          </a:p>
        </p:txBody>
      </p:sp>
      <p:sp>
        <p:nvSpPr>
          <p:cNvPr id="4" name="Text Placeholder 3">
            <a:extLst>
              <a:ext uri="{FF2B5EF4-FFF2-40B4-BE49-F238E27FC236}">
                <a16:creationId xmlns:a16="http://schemas.microsoft.com/office/drawing/2014/main" id="{489143D0-EE14-2816-6766-54523F1C131C}"/>
              </a:ext>
            </a:extLst>
          </p:cNvPr>
          <p:cNvSpPr>
            <a:spLocks noGrp="1"/>
          </p:cNvSpPr>
          <p:nvPr>
            <p:ph type="body" sz="quarter" idx="14"/>
          </p:nvPr>
        </p:nvSpPr>
        <p:spPr>
          <a:xfrm>
            <a:off x="637010" y="5854862"/>
            <a:ext cx="3309550" cy="323925"/>
          </a:xfrm>
        </p:spPr>
        <p:txBody>
          <a:bodyPr/>
          <a:lstStyle/>
          <a:p>
            <a:r>
              <a:rPr lang="en-US" dirty="0"/>
              <a:t>Siemens.com</a:t>
            </a:r>
          </a:p>
        </p:txBody>
      </p:sp>
    </p:spTree>
    <p:extLst>
      <p:ext uri="{BB962C8B-B14F-4D97-AF65-F5344CB8AC3E}">
        <p14:creationId xmlns:p14="http://schemas.microsoft.com/office/powerpoint/2010/main" val="4071106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altLang="zh-CN" sz="2800" dirty="0"/>
              <a:t>Outline</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2</a:t>
            </a:fld>
            <a:endParaRPr lang="en-US" dirty="0"/>
          </a:p>
        </p:txBody>
      </p:sp>
      <p:pic>
        <p:nvPicPr>
          <p:cNvPr id="6" name="Graphic 5" descr="Badge 1 with solid fill">
            <a:extLst>
              <a:ext uri="{FF2B5EF4-FFF2-40B4-BE49-F238E27FC236}">
                <a16:creationId xmlns:a16="http://schemas.microsoft.com/office/drawing/2014/main" id="{A6FFC941-2BF7-64B3-4007-60F6C5A67F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7112" y="1879255"/>
            <a:ext cx="597190" cy="597190"/>
          </a:xfrm>
          <a:prstGeom prst="rect">
            <a:avLst/>
          </a:prstGeom>
        </p:spPr>
      </p:pic>
      <p:sp>
        <p:nvSpPr>
          <p:cNvPr id="7" name="Title 1">
            <a:extLst>
              <a:ext uri="{FF2B5EF4-FFF2-40B4-BE49-F238E27FC236}">
                <a16:creationId xmlns:a16="http://schemas.microsoft.com/office/drawing/2014/main" id="{6FFCE9AA-15BE-B791-C118-3C24BE90A5A1}"/>
              </a:ext>
            </a:extLst>
          </p:cNvPr>
          <p:cNvSpPr txBox="1">
            <a:spLocks/>
          </p:cNvSpPr>
          <p:nvPr/>
        </p:nvSpPr>
        <p:spPr>
          <a:xfrm>
            <a:off x="2103924" y="1764858"/>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Background and</a:t>
            </a:r>
            <a:r>
              <a:rPr lang="zh-CN" altLang="en-US" dirty="0">
                <a:solidFill>
                  <a:schemeClr val="tx1"/>
                </a:solidFill>
              </a:rPr>
              <a:t> </a:t>
            </a:r>
            <a:r>
              <a:rPr lang="en-US" altLang="zh-CN" dirty="0">
                <a:solidFill>
                  <a:schemeClr val="tx1"/>
                </a:solidFill>
              </a:rPr>
              <a:t>Business</a:t>
            </a:r>
            <a:r>
              <a:rPr lang="zh-CN" altLang="en-US" dirty="0">
                <a:solidFill>
                  <a:schemeClr val="tx1"/>
                </a:solidFill>
              </a:rPr>
              <a:t> </a:t>
            </a:r>
            <a:r>
              <a:rPr lang="en-US" altLang="zh-CN" dirty="0">
                <a:solidFill>
                  <a:schemeClr val="tx1"/>
                </a:solidFill>
              </a:rPr>
              <a:t>Scenarios</a:t>
            </a:r>
            <a:endParaRPr lang="en-US" dirty="0">
              <a:solidFill>
                <a:schemeClr val="tx1"/>
              </a:solidFill>
            </a:endParaRPr>
          </a:p>
        </p:txBody>
      </p:sp>
      <p:sp>
        <p:nvSpPr>
          <p:cNvPr id="9" name="Title 1">
            <a:extLst>
              <a:ext uri="{FF2B5EF4-FFF2-40B4-BE49-F238E27FC236}">
                <a16:creationId xmlns:a16="http://schemas.microsoft.com/office/drawing/2014/main" id="{9D84E2AE-5751-0523-F16D-095A19880C12}"/>
              </a:ext>
            </a:extLst>
          </p:cNvPr>
          <p:cNvSpPr txBox="1">
            <a:spLocks/>
          </p:cNvSpPr>
          <p:nvPr/>
        </p:nvSpPr>
        <p:spPr>
          <a:xfrm>
            <a:off x="2103924" y="275731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dirty="0">
                <a:solidFill>
                  <a:schemeClr val="tx1"/>
                </a:solidFill>
              </a:rPr>
              <a:t>Use-Cases and Technical Solution</a:t>
            </a:r>
          </a:p>
        </p:txBody>
      </p:sp>
      <p:pic>
        <p:nvPicPr>
          <p:cNvPr id="11" name="Graphic 10" descr="Badge with solid fill">
            <a:extLst>
              <a:ext uri="{FF2B5EF4-FFF2-40B4-BE49-F238E27FC236}">
                <a16:creationId xmlns:a16="http://schemas.microsoft.com/office/drawing/2014/main" id="{8746D5A4-C359-4693-3CC3-4CE041E65B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7112" y="2831810"/>
            <a:ext cx="597190" cy="597190"/>
          </a:xfrm>
          <a:prstGeom prst="rect">
            <a:avLst/>
          </a:prstGeom>
        </p:spPr>
      </p:pic>
      <p:sp>
        <p:nvSpPr>
          <p:cNvPr id="12" name="Title 1">
            <a:extLst>
              <a:ext uri="{FF2B5EF4-FFF2-40B4-BE49-F238E27FC236}">
                <a16:creationId xmlns:a16="http://schemas.microsoft.com/office/drawing/2014/main" id="{FB41AC21-00DD-D47B-D275-528C546DD1E4}"/>
              </a:ext>
            </a:extLst>
          </p:cNvPr>
          <p:cNvSpPr txBox="1">
            <a:spLocks/>
          </p:cNvSpPr>
          <p:nvPr/>
        </p:nvSpPr>
        <p:spPr>
          <a:xfrm>
            <a:off x="2103923" y="373237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Summary and Q&amp;A</a:t>
            </a:r>
            <a:endParaRPr lang="en-US" dirty="0">
              <a:solidFill>
                <a:schemeClr val="tx1"/>
              </a:solidFill>
            </a:endParaRPr>
          </a:p>
        </p:txBody>
      </p:sp>
      <p:pic>
        <p:nvPicPr>
          <p:cNvPr id="15" name="Graphic 14" descr="Badge 3 with solid fill">
            <a:extLst>
              <a:ext uri="{FF2B5EF4-FFF2-40B4-BE49-F238E27FC236}">
                <a16:creationId xmlns:a16="http://schemas.microsoft.com/office/drawing/2014/main" id="{E34DBBAF-8DC1-A462-C98A-91E218029E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57111" y="3816802"/>
            <a:ext cx="597190" cy="597190"/>
          </a:xfrm>
          <a:prstGeom prst="rect">
            <a:avLst/>
          </a:prstGeom>
        </p:spPr>
      </p:pic>
    </p:spTree>
    <p:extLst>
      <p:ext uri="{BB962C8B-B14F-4D97-AF65-F5344CB8AC3E}">
        <p14:creationId xmlns:p14="http://schemas.microsoft.com/office/powerpoint/2010/main" val="3598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7">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sz="2800" dirty="0"/>
              <a:t>What are knowledge Graphs?</a:t>
            </a:r>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3</a:t>
            </a:fld>
            <a:endParaRPr lang="en-US" dirty="0"/>
          </a:p>
        </p:txBody>
      </p:sp>
      <p:sp>
        <p:nvSpPr>
          <p:cNvPr id="7" name="Title 1">
            <a:extLst>
              <a:ext uri="{FF2B5EF4-FFF2-40B4-BE49-F238E27FC236}">
                <a16:creationId xmlns:a16="http://schemas.microsoft.com/office/drawing/2014/main" id="{6FFCE9AA-15BE-B791-C118-3C24BE90A5A1}"/>
              </a:ext>
            </a:extLst>
          </p:cNvPr>
          <p:cNvSpPr txBox="1">
            <a:spLocks/>
          </p:cNvSpPr>
          <p:nvPr/>
        </p:nvSpPr>
        <p:spPr>
          <a:xfrm>
            <a:off x="410400" y="1212351"/>
            <a:ext cx="6637672" cy="1197657"/>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b="0" dirty="0">
                <a:solidFill>
                  <a:schemeClr val="tx1"/>
                </a:solidFill>
              </a:rPr>
              <a:t>Knowledge Graph are semantic descriptions of entities and their relationships. It uses a knowledge representation formalism, for example: RDF, RDF Schema and OWL.</a:t>
            </a:r>
          </a:p>
        </p:txBody>
      </p:sp>
      <p:pic>
        <p:nvPicPr>
          <p:cNvPr id="13" name="Picture 12">
            <a:extLst>
              <a:ext uri="{FF2B5EF4-FFF2-40B4-BE49-F238E27FC236}">
                <a16:creationId xmlns:a16="http://schemas.microsoft.com/office/drawing/2014/main" id="{87FDE897-F915-6518-46D1-E50EC97171B9}"/>
              </a:ext>
            </a:extLst>
          </p:cNvPr>
          <p:cNvPicPr>
            <a:picLocks noChangeAspect="1"/>
          </p:cNvPicPr>
          <p:nvPr/>
        </p:nvPicPr>
        <p:blipFill>
          <a:blip r:embed="rId2"/>
          <a:stretch>
            <a:fillRect/>
          </a:stretch>
        </p:blipFill>
        <p:spPr>
          <a:xfrm>
            <a:off x="7048072" y="1054800"/>
            <a:ext cx="4879957" cy="3634645"/>
          </a:xfrm>
          <a:prstGeom prst="rect">
            <a:avLst/>
          </a:prstGeom>
        </p:spPr>
      </p:pic>
      <p:sp>
        <p:nvSpPr>
          <p:cNvPr id="18" name="Title 1">
            <a:extLst>
              <a:ext uri="{FF2B5EF4-FFF2-40B4-BE49-F238E27FC236}">
                <a16:creationId xmlns:a16="http://schemas.microsoft.com/office/drawing/2014/main" id="{92B665CE-7637-5FA0-29D8-27DDC06EEF45}"/>
              </a:ext>
            </a:extLst>
          </p:cNvPr>
          <p:cNvSpPr txBox="1">
            <a:spLocks/>
          </p:cNvSpPr>
          <p:nvPr/>
        </p:nvSpPr>
        <p:spPr>
          <a:xfrm>
            <a:off x="410400" y="4417054"/>
            <a:ext cx="6863703" cy="1077075"/>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b="0" dirty="0">
                <a:solidFill>
                  <a:schemeClr val="tx1"/>
                </a:solidFill>
              </a:rPr>
              <a:t>Main components of any semantic graph are:</a:t>
            </a:r>
          </a:p>
          <a:p>
            <a:pPr marL="342900" indent="-342900">
              <a:lnSpc>
                <a:spcPct val="100000"/>
              </a:lnSpc>
              <a:buFont typeface="Arial" panose="020B0604020202020204" pitchFamily="34" charset="0"/>
              <a:buChar char="•"/>
            </a:pPr>
            <a:r>
              <a:rPr lang="en-US" dirty="0">
                <a:solidFill>
                  <a:schemeClr val="tx1"/>
                </a:solidFill>
              </a:rPr>
              <a:t>Entities</a:t>
            </a:r>
            <a:r>
              <a:rPr lang="en-US" b="0" dirty="0">
                <a:solidFill>
                  <a:schemeClr val="tx1"/>
                </a:solidFill>
              </a:rPr>
              <a:t>: Real-world objects (things, place, people) and abstract concepts (process, process, performance)</a:t>
            </a:r>
          </a:p>
          <a:p>
            <a:pPr marL="342900" indent="-342900">
              <a:lnSpc>
                <a:spcPct val="100000"/>
              </a:lnSpc>
              <a:buFont typeface="Arial" panose="020B0604020202020204" pitchFamily="34" charset="0"/>
              <a:buChar char="•"/>
            </a:pPr>
            <a:r>
              <a:rPr lang="en-US" dirty="0">
                <a:solidFill>
                  <a:schemeClr val="tx1"/>
                </a:solidFill>
              </a:rPr>
              <a:t>Relationships</a:t>
            </a:r>
            <a:r>
              <a:rPr lang="en-US" b="0" dirty="0">
                <a:solidFill>
                  <a:schemeClr val="tx1"/>
                </a:solidFill>
              </a:rPr>
              <a:t>: Graph-based data model, where relationships are first-rate</a:t>
            </a:r>
          </a:p>
          <a:p>
            <a:pPr marL="342900" indent="-342900">
              <a:lnSpc>
                <a:spcPct val="100000"/>
              </a:lnSpc>
              <a:buFont typeface="Arial" panose="020B0604020202020204" pitchFamily="34" charset="0"/>
              <a:buChar char="•"/>
            </a:pPr>
            <a:r>
              <a:rPr lang="en-US" dirty="0">
                <a:solidFill>
                  <a:schemeClr val="tx1"/>
                </a:solidFill>
              </a:rPr>
              <a:t>Semantic descriptions</a:t>
            </a:r>
            <a:r>
              <a:rPr lang="en-US" b="0" dirty="0">
                <a:solidFill>
                  <a:schemeClr val="tx1"/>
                </a:solidFill>
              </a:rPr>
              <a:t>: Types and properties with a well-defined meaning (e.g. including, cause, have through an ontology)</a:t>
            </a:r>
          </a:p>
        </p:txBody>
      </p:sp>
    </p:spTree>
    <p:extLst>
      <p:ext uri="{BB962C8B-B14F-4D97-AF65-F5344CB8AC3E}">
        <p14:creationId xmlns:p14="http://schemas.microsoft.com/office/powerpoint/2010/main" val="2946245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sz="2800" dirty="0"/>
              <a:t>Why knowledge Graphs?</a:t>
            </a:r>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4</a:t>
            </a:fld>
            <a:endParaRPr lang="en-US" dirty="0"/>
          </a:p>
        </p:txBody>
      </p:sp>
      <p:sp>
        <p:nvSpPr>
          <p:cNvPr id="7" name="Title 1">
            <a:extLst>
              <a:ext uri="{FF2B5EF4-FFF2-40B4-BE49-F238E27FC236}">
                <a16:creationId xmlns:a16="http://schemas.microsoft.com/office/drawing/2014/main" id="{6FFCE9AA-15BE-B791-C118-3C24BE90A5A1}"/>
              </a:ext>
            </a:extLst>
          </p:cNvPr>
          <p:cNvSpPr txBox="1">
            <a:spLocks/>
          </p:cNvSpPr>
          <p:nvPr/>
        </p:nvSpPr>
        <p:spPr>
          <a:xfrm>
            <a:off x="410400" y="939441"/>
            <a:ext cx="11291865" cy="1197657"/>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b="0" dirty="0">
                <a:solidFill>
                  <a:schemeClr val="tx1"/>
                </a:solidFill>
              </a:rPr>
              <a:t>Knowledge Graph is the only technology that provides a structured and formal representation of knowledge. It enables to capture domain knowledge that is usually surrounded by entities, which are connected by relations.</a:t>
            </a:r>
          </a:p>
        </p:txBody>
      </p:sp>
      <p:sp>
        <p:nvSpPr>
          <p:cNvPr id="18" name="Title 1">
            <a:extLst>
              <a:ext uri="{FF2B5EF4-FFF2-40B4-BE49-F238E27FC236}">
                <a16:creationId xmlns:a16="http://schemas.microsoft.com/office/drawing/2014/main" id="{92B665CE-7637-5FA0-29D8-27DDC06EEF45}"/>
              </a:ext>
            </a:extLst>
          </p:cNvPr>
          <p:cNvSpPr txBox="1">
            <a:spLocks/>
          </p:cNvSpPr>
          <p:nvPr/>
        </p:nvSpPr>
        <p:spPr>
          <a:xfrm>
            <a:off x="410399" y="2454053"/>
            <a:ext cx="11528171" cy="1077075"/>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b="0" i="1" u="sng" dirty="0">
                <a:solidFill>
                  <a:schemeClr val="tx1"/>
                </a:solidFill>
              </a:rPr>
              <a:t>Benefits</a:t>
            </a:r>
            <a:r>
              <a:rPr lang="en-US" b="0" dirty="0">
                <a:solidFill>
                  <a:schemeClr val="tx1"/>
                </a:solidFill>
              </a:rPr>
              <a:t>:</a:t>
            </a:r>
          </a:p>
          <a:p>
            <a:pPr marL="342900" indent="-342900">
              <a:lnSpc>
                <a:spcPct val="100000"/>
              </a:lnSpc>
              <a:buFont typeface="Arial" panose="020B0604020202020204" pitchFamily="34" charset="0"/>
              <a:buChar char="•"/>
            </a:pPr>
            <a:r>
              <a:rPr lang="en-US" sz="1600" dirty="0">
                <a:solidFill>
                  <a:schemeClr val="tx1"/>
                </a:solidFill>
              </a:rPr>
              <a:t>Organization and solidification of knowledge</a:t>
            </a:r>
            <a:endParaRPr lang="en-US" sz="1600" b="0" dirty="0">
              <a:solidFill>
                <a:schemeClr val="tx1"/>
              </a:solidFill>
            </a:endParaRPr>
          </a:p>
          <a:p>
            <a:pPr>
              <a:lnSpc>
                <a:spcPct val="100000"/>
              </a:lnSpc>
            </a:pPr>
            <a:r>
              <a:rPr lang="en-US" sz="1600" b="0" dirty="0">
                <a:solidFill>
                  <a:schemeClr val="tx1"/>
                </a:solidFill>
              </a:rPr>
              <a:t>    - Central knowledge repository to represent, simplify and connect the knowledge about relevant entities in the enterprise.</a:t>
            </a:r>
          </a:p>
          <a:p>
            <a:pPr>
              <a:lnSpc>
                <a:spcPct val="100000"/>
              </a:lnSpc>
            </a:pPr>
            <a:r>
              <a:rPr lang="en-US" sz="1600" b="0" dirty="0">
                <a:solidFill>
                  <a:schemeClr val="tx1"/>
                </a:solidFill>
              </a:rPr>
              <a:t>    -  </a:t>
            </a:r>
            <a:r>
              <a:rPr lang="en-US" altLang="zh-CN" sz="1600" b="0" dirty="0">
                <a:solidFill>
                  <a:schemeClr val="tx1"/>
                </a:solidFill>
              </a:rPr>
              <a:t>Unified structure, data model and semantics.</a:t>
            </a:r>
            <a:endParaRPr lang="en-US" sz="1600" b="0" dirty="0">
              <a:solidFill>
                <a:schemeClr val="tx1"/>
              </a:solidFill>
            </a:endParaRPr>
          </a:p>
        </p:txBody>
      </p:sp>
      <p:sp>
        <p:nvSpPr>
          <p:cNvPr id="8" name="Title 1">
            <a:extLst>
              <a:ext uri="{FF2B5EF4-FFF2-40B4-BE49-F238E27FC236}">
                <a16:creationId xmlns:a16="http://schemas.microsoft.com/office/drawing/2014/main" id="{B7C2F281-283A-0C48-4EF1-15C16D7F4861}"/>
              </a:ext>
            </a:extLst>
          </p:cNvPr>
          <p:cNvSpPr txBox="1">
            <a:spLocks/>
          </p:cNvSpPr>
          <p:nvPr/>
        </p:nvSpPr>
        <p:spPr>
          <a:xfrm>
            <a:off x="410400" y="3575469"/>
            <a:ext cx="10808980" cy="1077075"/>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342900" indent="-342900">
              <a:lnSpc>
                <a:spcPct val="100000"/>
              </a:lnSpc>
              <a:buFont typeface="Arial" panose="020B0604020202020204" pitchFamily="34" charset="0"/>
              <a:buChar char="•"/>
            </a:pPr>
            <a:r>
              <a:rPr lang="en-US" sz="1600" dirty="0">
                <a:solidFill>
                  <a:schemeClr val="tx1"/>
                </a:solidFill>
              </a:rPr>
              <a:t>Enrichment and contextualization of knowledge</a:t>
            </a:r>
            <a:endParaRPr lang="en-US" sz="1600" b="0" dirty="0">
              <a:solidFill>
                <a:schemeClr val="tx1"/>
              </a:solidFill>
            </a:endParaRPr>
          </a:p>
          <a:p>
            <a:pPr>
              <a:lnSpc>
                <a:spcPct val="100000"/>
              </a:lnSpc>
            </a:pPr>
            <a:r>
              <a:rPr lang="en-US" sz="1600" b="0" dirty="0">
                <a:solidFill>
                  <a:schemeClr val="tx1"/>
                </a:solidFill>
              </a:rPr>
              <a:t>    - Concrete the intangible knowledge and experience into enterprise capital.    </a:t>
            </a:r>
          </a:p>
          <a:p>
            <a:pPr>
              <a:lnSpc>
                <a:spcPct val="100000"/>
              </a:lnSpc>
            </a:pPr>
            <a:r>
              <a:rPr lang="en-US" sz="1600" b="0" dirty="0">
                <a:solidFill>
                  <a:schemeClr val="tx1"/>
                </a:solidFill>
              </a:rPr>
              <a:t>    - Bridging enterprise knowledge, incl internal and external domain knowledge.</a:t>
            </a:r>
          </a:p>
          <a:p>
            <a:pPr>
              <a:lnSpc>
                <a:spcPct val="100000"/>
              </a:lnSpc>
            </a:pPr>
            <a:r>
              <a:rPr lang="en-US" sz="1600" b="0" dirty="0">
                <a:solidFill>
                  <a:schemeClr val="tx1"/>
                </a:solidFill>
              </a:rPr>
              <a:t>    </a:t>
            </a:r>
          </a:p>
        </p:txBody>
      </p:sp>
      <p:sp>
        <p:nvSpPr>
          <p:cNvPr id="9" name="Title 1">
            <a:extLst>
              <a:ext uri="{FF2B5EF4-FFF2-40B4-BE49-F238E27FC236}">
                <a16:creationId xmlns:a16="http://schemas.microsoft.com/office/drawing/2014/main" id="{DC0543D1-6602-8369-FF32-C5E53613935C}"/>
              </a:ext>
            </a:extLst>
          </p:cNvPr>
          <p:cNvSpPr txBox="1">
            <a:spLocks/>
          </p:cNvSpPr>
          <p:nvPr/>
        </p:nvSpPr>
        <p:spPr>
          <a:xfrm>
            <a:off x="410400" y="4703250"/>
            <a:ext cx="10808980" cy="1077075"/>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342900" indent="-342900">
              <a:lnSpc>
                <a:spcPct val="100000"/>
              </a:lnSpc>
              <a:buFont typeface="Arial" panose="020B0604020202020204" pitchFamily="34" charset="0"/>
              <a:buChar char="•"/>
            </a:pPr>
            <a:r>
              <a:rPr lang="en-US" sz="1600" dirty="0">
                <a:solidFill>
                  <a:schemeClr val="tx1"/>
                </a:solidFill>
              </a:rPr>
              <a:t>Collaboration and sharing the knowledge </a:t>
            </a:r>
            <a:endParaRPr lang="en-US" sz="1600" b="0" dirty="0">
              <a:solidFill>
                <a:schemeClr val="tx1"/>
              </a:solidFill>
            </a:endParaRPr>
          </a:p>
          <a:p>
            <a:pPr>
              <a:lnSpc>
                <a:spcPct val="100000"/>
              </a:lnSpc>
            </a:pPr>
            <a:r>
              <a:rPr lang="en-US" sz="1600" b="0" dirty="0">
                <a:solidFill>
                  <a:schemeClr val="tx1"/>
                </a:solidFill>
              </a:rPr>
              <a:t>    - Cross-organizational data analysis become possible.</a:t>
            </a:r>
          </a:p>
          <a:p>
            <a:pPr>
              <a:lnSpc>
                <a:spcPct val="100000"/>
              </a:lnSpc>
            </a:pPr>
            <a:r>
              <a:rPr lang="en-US" sz="1600" b="0" dirty="0">
                <a:solidFill>
                  <a:schemeClr val="tx1"/>
                </a:solidFill>
              </a:rPr>
              <a:t>    - Individual are empowered to share knowledge and make decisions based on comprehensive knowledge.</a:t>
            </a:r>
          </a:p>
          <a:p>
            <a:pPr>
              <a:lnSpc>
                <a:spcPct val="100000"/>
              </a:lnSpc>
            </a:pPr>
            <a:r>
              <a:rPr lang="en-US" sz="1600" b="0" dirty="0">
                <a:solidFill>
                  <a:schemeClr val="tx1"/>
                </a:solidFill>
              </a:rPr>
              <a:t>    - Simplified publish and sharing of data leads to improved communication, increasing knowledge sharing and         reduced redundancy of work.</a:t>
            </a:r>
          </a:p>
        </p:txBody>
      </p:sp>
    </p:spTree>
    <p:extLst>
      <p:ext uri="{BB962C8B-B14F-4D97-AF65-F5344CB8AC3E}">
        <p14:creationId xmlns:p14="http://schemas.microsoft.com/office/powerpoint/2010/main" val="3247449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sz="2800" dirty="0"/>
              <a:t>Where we see Knowledge Graph?</a:t>
            </a:r>
            <a:br>
              <a:rPr lang="en-US" sz="2800" dirty="0"/>
            </a:br>
            <a:r>
              <a:rPr lang="en-US" sz="2800" dirty="0"/>
              <a:t>The business scenarios of industry</a:t>
            </a:r>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5</a:t>
            </a:fld>
            <a:endParaRPr lang="en-US" dirty="0"/>
          </a:p>
        </p:txBody>
      </p:sp>
      <p:graphicFrame>
        <p:nvGraphicFramePr>
          <p:cNvPr id="5" name="Table 5">
            <a:extLst>
              <a:ext uri="{FF2B5EF4-FFF2-40B4-BE49-F238E27FC236}">
                <a16:creationId xmlns:a16="http://schemas.microsoft.com/office/drawing/2014/main" id="{9F10AC83-89BA-5E54-8C7E-3A45BF57C8D8}"/>
              </a:ext>
            </a:extLst>
          </p:cNvPr>
          <p:cNvGraphicFramePr>
            <a:graphicFrameLocks noGrp="1"/>
          </p:cNvGraphicFramePr>
          <p:nvPr>
            <p:extLst>
              <p:ext uri="{D42A27DB-BD31-4B8C-83A1-F6EECF244321}">
                <p14:modId xmlns:p14="http://schemas.microsoft.com/office/powerpoint/2010/main" val="4028176043"/>
              </p:ext>
            </p:extLst>
          </p:nvPr>
        </p:nvGraphicFramePr>
        <p:xfrm>
          <a:off x="213762" y="1077981"/>
          <a:ext cx="11764476" cy="5301219"/>
        </p:xfrm>
        <a:graphic>
          <a:graphicData uri="http://schemas.openxmlformats.org/drawingml/2006/table">
            <a:tbl>
              <a:tblPr firstRow="1" bandRow="1">
                <a:tableStyleId>{BC89EF96-8CEA-46FF-86C4-4CE0E7609802}</a:tableStyleId>
              </a:tblPr>
              <a:tblGrid>
                <a:gridCol w="2164978">
                  <a:extLst>
                    <a:ext uri="{9D8B030D-6E8A-4147-A177-3AD203B41FA5}">
                      <a16:colId xmlns:a16="http://schemas.microsoft.com/office/drawing/2014/main" val="1450084362"/>
                    </a:ext>
                  </a:extLst>
                </a:gridCol>
                <a:gridCol w="3826851">
                  <a:extLst>
                    <a:ext uri="{9D8B030D-6E8A-4147-A177-3AD203B41FA5}">
                      <a16:colId xmlns:a16="http://schemas.microsoft.com/office/drawing/2014/main" val="3210559117"/>
                    </a:ext>
                  </a:extLst>
                </a:gridCol>
                <a:gridCol w="5772647">
                  <a:extLst>
                    <a:ext uri="{9D8B030D-6E8A-4147-A177-3AD203B41FA5}">
                      <a16:colId xmlns:a16="http://schemas.microsoft.com/office/drawing/2014/main" val="1088645373"/>
                    </a:ext>
                  </a:extLst>
                </a:gridCol>
              </a:tblGrid>
              <a:tr h="454899">
                <a:tc>
                  <a:txBody>
                    <a:bodyPr/>
                    <a:lstStyle/>
                    <a:p>
                      <a:r>
                        <a:rPr lang="en-US" sz="1600" dirty="0"/>
                        <a:t>Scenario Category</a:t>
                      </a:r>
                    </a:p>
                  </a:txBody>
                  <a:tcPr/>
                </a:tc>
                <a:tc>
                  <a:txBody>
                    <a:bodyPr/>
                    <a:lstStyle/>
                    <a:p>
                      <a:r>
                        <a:rPr lang="en-US" sz="1600" dirty="0"/>
                        <a:t>Knowledge Source</a:t>
                      </a:r>
                    </a:p>
                  </a:txBody>
                  <a:tcPr/>
                </a:tc>
                <a:tc>
                  <a:txBody>
                    <a:bodyPr/>
                    <a:lstStyle/>
                    <a:p>
                      <a:r>
                        <a:rPr lang="en-US" sz="1600" dirty="0"/>
                        <a:t>Application Function</a:t>
                      </a:r>
                    </a:p>
                  </a:txBody>
                  <a:tcPr/>
                </a:tc>
                <a:extLst>
                  <a:ext uri="{0D108BD9-81ED-4DB2-BD59-A6C34878D82A}">
                    <a16:rowId xmlns:a16="http://schemas.microsoft.com/office/drawing/2014/main" val="2512527344"/>
                  </a:ext>
                </a:extLst>
              </a:tr>
              <a:tr h="454899">
                <a:tc>
                  <a:txBody>
                    <a:bodyPr/>
                    <a:lstStyle/>
                    <a:p>
                      <a:r>
                        <a:rPr lang="en-US" altLang="zh-CN" sz="1600" dirty="0"/>
                        <a:t>Quality Control</a:t>
                      </a:r>
                      <a:endParaRPr lang="en-US" sz="1600" dirty="0"/>
                    </a:p>
                  </a:txBody>
                  <a:tcPr/>
                </a:tc>
                <a:tc>
                  <a:txBody>
                    <a:bodyPr/>
                    <a:lstStyle/>
                    <a:p>
                      <a:r>
                        <a:rPr lang="en-US" sz="1200" dirty="0"/>
                        <a:t>Manufacturing process variables and their correlation (Such as quality parameters, equipment parameters, process parameters, environmental variables, etc.) and quality exception cases.</a:t>
                      </a:r>
                    </a:p>
                  </a:txBody>
                  <a:tcPr/>
                </a:tc>
                <a:tc>
                  <a:txBody>
                    <a:bodyPr/>
                    <a:lstStyle/>
                    <a:p>
                      <a:pPr marL="171450" indent="-171450">
                        <a:buFontTx/>
                        <a:buChar char="-"/>
                      </a:pPr>
                      <a:r>
                        <a:rPr lang="en-US" sz="1200" dirty="0"/>
                        <a:t>According to the phenomena and characteristics of quality problems, match the related problem causes and corresponding solutions as reference.</a:t>
                      </a:r>
                    </a:p>
                    <a:p>
                      <a:pPr marL="171450" indent="-171450">
                        <a:buFontTx/>
                        <a:buChar char="-"/>
                      </a:pPr>
                      <a:r>
                        <a:rPr lang="en-US" sz="1200" dirty="0"/>
                        <a:t>The entity relationship network of the quality influencing factors is used as the input of the parameter optimization algorithm or the quality prediction model to timely adjust the process parameters according to the results.</a:t>
                      </a:r>
                    </a:p>
                  </a:txBody>
                  <a:tcPr/>
                </a:tc>
                <a:extLst>
                  <a:ext uri="{0D108BD9-81ED-4DB2-BD59-A6C34878D82A}">
                    <a16:rowId xmlns:a16="http://schemas.microsoft.com/office/drawing/2014/main" val="2220981200"/>
                  </a:ext>
                </a:extLst>
              </a:tr>
              <a:tr h="454899">
                <a:tc>
                  <a:txBody>
                    <a:bodyPr/>
                    <a:lstStyle/>
                    <a:p>
                      <a:r>
                        <a:rPr lang="en-US" sz="1600" dirty="0"/>
                        <a:t>Device </a:t>
                      </a:r>
                      <a:r>
                        <a:rPr lang="en-US" altLang="zh-CN" sz="1600" dirty="0"/>
                        <a:t>Operation and Maintenance</a:t>
                      </a:r>
                      <a:endParaRPr lang="en-US" sz="1600" dirty="0"/>
                    </a:p>
                  </a:txBody>
                  <a:tcPr/>
                </a:tc>
                <a:tc>
                  <a:txBody>
                    <a:bodyPr/>
                    <a:lstStyle/>
                    <a:p>
                      <a:r>
                        <a:rPr lang="en-US" altLang="zh-CN" sz="1200" kern="1200" dirty="0">
                          <a:solidFill>
                            <a:schemeClr val="tx1"/>
                          </a:solidFill>
                          <a:latin typeface="+mn-lt"/>
                          <a:ea typeface="+mn-ea"/>
                          <a:cs typeface="+mn-cs"/>
                        </a:rPr>
                        <a:t>Device operations manual,</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standard production parameters of devices,</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fault cases, maintenance record and report, etc.</a:t>
                      </a:r>
                      <a:endParaRPr lang="en-US" sz="1200" kern="1200" dirty="0">
                        <a:solidFill>
                          <a:schemeClr val="tx1"/>
                        </a:solidFill>
                        <a:latin typeface="+mn-lt"/>
                        <a:ea typeface="+mn-ea"/>
                        <a:cs typeface="+mn-cs"/>
                      </a:endParaRPr>
                    </a:p>
                  </a:txBody>
                  <a:tcPr/>
                </a:tc>
                <a:tc>
                  <a:txBody>
                    <a:bodyPr/>
                    <a:lstStyle/>
                    <a:p>
                      <a:pPr marL="171450" indent="-171450" algn="l" defTabSz="914400" rtl="0" eaLnBrk="1" latinLnBrk="0" hangingPunct="1">
                        <a:buFontTx/>
                        <a:buChar char="-"/>
                      </a:pPr>
                      <a:r>
                        <a:rPr lang="en-US" sz="1200" kern="1200" dirty="0">
                          <a:solidFill>
                            <a:schemeClr val="tx1"/>
                          </a:solidFill>
                          <a:latin typeface="+mn-lt"/>
                          <a:ea typeface="+mn-ea"/>
                          <a:cs typeface="+mn-cs"/>
                        </a:rPr>
                        <a:t>According to the fault events or phenomena, match the related fault causes and corresponding solutions for reference.</a:t>
                      </a:r>
                    </a:p>
                    <a:p>
                      <a:pPr marL="171450" indent="-171450" algn="l" defTabSz="914400" rtl="0" eaLnBrk="1" latinLnBrk="0" hangingPunct="1">
                        <a:buFontTx/>
                        <a:buChar char="-"/>
                      </a:pPr>
                      <a:r>
                        <a:rPr lang="en-US" sz="1200" kern="1200" dirty="0">
                          <a:solidFill>
                            <a:schemeClr val="tx1"/>
                          </a:solidFill>
                          <a:latin typeface="+mn-lt"/>
                          <a:ea typeface="+mn-ea"/>
                          <a:cs typeface="+mn-cs"/>
                        </a:rPr>
                        <a:t>The entity relationship network of fault events is used as the input of the algorithm to realize fault diagnosis.</a:t>
                      </a:r>
                    </a:p>
                  </a:txBody>
                  <a:tcPr/>
                </a:tc>
                <a:extLst>
                  <a:ext uri="{0D108BD9-81ED-4DB2-BD59-A6C34878D82A}">
                    <a16:rowId xmlns:a16="http://schemas.microsoft.com/office/drawing/2014/main" val="1750373422"/>
                  </a:ext>
                </a:extLst>
              </a:tr>
              <a:tr h="454899">
                <a:tc>
                  <a:txBody>
                    <a:bodyPr/>
                    <a:lstStyle/>
                    <a:p>
                      <a:r>
                        <a:rPr lang="en-US" sz="1600" dirty="0"/>
                        <a:t>Workshop Planning and Scheduling</a:t>
                      </a:r>
                    </a:p>
                  </a:txBody>
                  <a:tcPr/>
                </a:tc>
                <a:tc>
                  <a:txBody>
                    <a:bodyPr/>
                    <a:lstStyle/>
                    <a:p>
                      <a:pPr marL="0" algn="l" defTabSz="914400" rtl="0" eaLnBrk="1" latinLnBrk="0" hangingPunct="1"/>
                      <a:r>
                        <a:rPr lang="en-US" sz="1200" kern="1200" dirty="0">
                          <a:solidFill>
                            <a:schemeClr val="tx1"/>
                          </a:solidFill>
                          <a:latin typeface="+mn-lt"/>
                          <a:ea typeface="+mn-ea"/>
                          <a:cs typeface="+mn-cs"/>
                        </a:rPr>
                        <a:t>Production planning elements (including orders, raw materials, production equipment, in plant logistics and other information) and historical planning scheme</a:t>
                      </a:r>
                    </a:p>
                  </a:txBody>
                  <a:tcPr/>
                </a:tc>
                <a:tc>
                  <a:txBody>
                    <a:bodyPr/>
                    <a:lstStyle/>
                    <a:p>
                      <a:pPr marL="171450" indent="-171450" algn="l" defTabSz="914400" rtl="0" eaLnBrk="1" latinLnBrk="0" hangingPunct="1">
                        <a:buFontTx/>
                        <a:buChar char="-"/>
                      </a:pPr>
                      <a:r>
                        <a:rPr lang="en-US" sz="1200" kern="1200" dirty="0">
                          <a:solidFill>
                            <a:schemeClr val="tx1"/>
                          </a:solidFill>
                          <a:latin typeface="+mn-lt"/>
                          <a:ea typeface="+mn-ea"/>
                          <a:cs typeface="+mn-cs"/>
                        </a:rPr>
                        <a:t>Query similar planning and scheduling schemes for reference according to order requirements or production task characteristics.</a:t>
                      </a:r>
                    </a:p>
                    <a:p>
                      <a:pPr marL="171450" indent="-171450" algn="l" defTabSz="914400" rtl="0" eaLnBrk="1" latinLnBrk="0" hangingPunct="1">
                        <a:buFontTx/>
                        <a:buChar char="-"/>
                      </a:pPr>
                      <a:r>
                        <a:rPr lang="en-US" sz="1200" kern="1200" dirty="0">
                          <a:solidFill>
                            <a:schemeClr val="tx1"/>
                          </a:solidFill>
                          <a:latin typeface="+mn-lt"/>
                          <a:ea typeface="+mn-ea"/>
                          <a:cs typeface="+mn-cs"/>
                        </a:rPr>
                        <a:t>Take the entity relationship network of order information or resource information as the input of the optimization solution model, and then generate specific optimization schemes in terms of task allocation, resource allocation, path planning.</a:t>
                      </a:r>
                    </a:p>
                  </a:txBody>
                  <a:tcPr/>
                </a:tc>
                <a:extLst>
                  <a:ext uri="{0D108BD9-81ED-4DB2-BD59-A6C34878D82A}">
                    <a16:rowId xmlns:a16="http://schemas.microsoft.com/office/drawing/2014/main" val="1340210074"/>
                  </a:ext>
                </a:extLst>
              </a:tr>
              <a:tr h="454899">
                <a:tc>
                  <a:txBody>
                    <a:bodyPr/>
                    <a:lstStyle/>
                    <a:p>
                      <a:r>
                        <a:rPr lang="en-US" sz="1600" dirty="0"/>
                        <a:t>Product Design and Development</a:t>
                      </a:r>
                    </a:p>
                  </a:txBody>
                  <a:tcPr/>
                </a:tc>
                <a:tc>
                  <a:txBody>
                    <a:bodyPr/>
                    <a:lstStyle/>
                    <a:p>
                      <a:r>
                        <a:rPr lang="en-US" sz="1200" kern="1200" dirty="0">
                          <a:solidFill>
                            <a:schemeClr val="tx1"/>
                          </a:solidFill>
                          <a:latin typeface="+mn-lt"/>
                          <a:ea typeface="+mn-ea"/>
                          <a:cs typeface="+mn-cs"/>
                        </a:rPr>
                        <a:t>Product design elements (including product type, product structure, geometric features, processing parameters, design constraints, etc.) and historical design scheme</a:t>
                      </a:r>
                    </a:p>
                  </a:txBody>
                  <a:tcPr/>
                </a:tc>
                <a:tc>
                  <a:txBody>
                    <a:bodyPr/>
                    <a:lstStyle/>
                    <a:p>
                      <a:pPr marL="171450" indent="-171450" algn="l" defTabSz="914400" rtl="0" eaLnBrk="1" latinLnBrk="0" hangingPunct="1">
                        <a:buFontTx/>
                        <a:buChar char="-"/>
                      </a:pPr>
                      <a:r>
                        <a:rPr lang="en-US" sz="1200" kern="1200" dirty="0">
                          <a:solidFill>
                            <a:schemeClr val="tx1"/>
                          </a:solidFill>
                          <a:latin typeface="+mn-lt"/>
                          <a:ea typeface="+mn-ea"/>
                          <a:cs typeface="+mn-cs"/>
                        </a:rPr>
                        <a:t>Retrieve similar design instances to obtain reusable or referential design data, rules and models.</a:t>
                      </a:r>
                    </a:p>
                    <a:p>
                      <a:pPr marL="171450" indent="-171450" algn="l" defTabSz="914400" rtl="0" eaLnBrk="1" latinLnBrk="0" hangingPunct="1">
                        <a:buFontTx/>
                        <a:buChar char="-"/>
                      </a:pPr>
                      <a:r>
                        <a:rPr lang="en-US" sz="1200" kern="1200" dirty="0">
                          <a:solidFill>
                            <a:schemeClr val="tx1"/>
                          </a:solidFill>
                          <a:latin typeface="+mn-lt"/>
                          <a:ea typeface="+mn-ea"/>
                          <a:cs typeface="+mn-cs"/>
                        </a:rPr>
                        <a:t>Infer the implicit information (constraint information, dimension information, design history) in the product design model to facilitate the secondary utilization and optimization of the design model</a:t>
                      </a:r>
                    </a:p>
                  </a:txBody>
                  <a:tcPr/>
                </a:tc>
                <a:extLst>
                  <a:ext uri="{0D108BD9-81ED-4DB2-BD59-A6C34878D82A}">
                    <a16:rowId xmlns:a16="http://schemas.microsoft.com/office/drawing/2014/main" val="3986021473"/>
                  </a:ext>
                </a:extLst>
              </a:tr>
              <a:tr h="454899">
                <a:tc>
                  <a:txBody>
                    <a:bodyPr/>
                    <a:lstStyle/>
                    <a:p>
                      <a:r>
                        <a:rPr lang="en-US" sz="1600" dirty="0"/>
                        <a:t>Data integration of manufacturing system</a:t>
                      </a:r>
                    </a:p>
                  </a:txBody>
                  <a:tcPr/>
                </a:tc>
                <a:tc>
                  <a:txBody>
                    <a:bodyPr/>
                    <a:lstStyle/>
                    <a:p>
                      <a:r>
                        <a:rPr lang="en-US" sz="1200" kern="1200" dirty="0">
                          <a:solidFill>
                            <a:schemeClr val="tx1"/>
                          </a:solidFill>
                          <a:latin typeface="+mn-lt"/>
                          <a:ea typeface="+mn-ea"/>
                          <a:cs typeface="+mn-cs"/>
                        </a:rPr>
                        <a:t>Enterprise information system database (ERP, PLM, MES) and intelligent manufacturing standard (OPC UA, </a:t>
                      </a:r>
                      <a:r>
                        <a:rPr lang="en-US" sz="1200" kern="1200" dirty="0" err="1">
                          <a:solidFill>
                            <a:schemeClr val="tx1"/>
                          </a:solidFill>
                          <a:latin typeface="+mn-lt"/>
                          <a:ea typeface="+mn-ea"/>
                          <a:cs typeface="+mn-cs"/>
                        </a:rPr>
                        <a:t>AutomationML</a:t>
                      </a:r>
                      <a:r>
                        <a:rPr lang="en-US" sz="1200" kern="1200" dirty="0">
                          <a:solidFill>
                            <a:schemeClr val="tx1"/>
                          </a:solidFill>
                          <a:latin typeface="+mn-lt"/>
                          <a:ea typeface="+mn-ea"/>
                          <a:cs typeface="+mn-cs"/>
                        </a:rPr>
                        <a:t>, etc.)</a:t>
                      </a:r>
                    </a:p>
                  </a:txBody>
                  <a:tcPr/>
                </a:tc>
                <a:tc>
                  <a:txBody>
                    <a:bodyPr/>
                    <a:lstStyle/>
                    <a:p>
                      <a:pPr marL="171450" indent="-171450">
                        <a:buFontTx/>
                        <a:buChar char="-"/>
                      </a:pPr>
                      <a:r>
                        <a:rPr lang="en-US" sz="1200" kern="1200" dirty="0">
                          <a:solidFill>
                            <a:schemeClr val="tx1"/>
                          </a:solidFill>
                          <a:latin typeface="+mn-lt"/>
                          <a:ea typeface="+mn-ea"/>
                          <a:cs typeface="+mn-cs"/>
                        </a:rPr>
                        <a:t>Provide information tracing of the whole life cycle of products, and provide data quickly according to requirements during the manufacturing process.</a:t>
                      </a:r>
                    </a:p>
                    <a:p>
                      <a:pPr marL="171450" indent="-171450">
                        <a:buFontTx/>
                        <a:buChar char="-"/>
                      </a:pPr>
                      <a:r>
                        <a:rPr lang="en-US" sz="1200" kern="1200" dirty="0">
                          <a:solidFill>
                            <a:schemeClr val="tx1"/>
                          </a:solidFill>
                          <a:latin typeface="+mn-lt"/>
                          <a:ea typeface="+mn-ea"/>
                          <a:cs typeface="+mn-cs"/>
                        </a:rPr>
                        <a:t>Semantic integration of manufacturing resources to realize the interconnection of manufacturing equipment and unified data processing.</a:t>
                      </a:r>
                    </a:p>
                  </a:txBody>
                  <a:tcPr/>
                </a:tc>
                <a:extLst>
                  <a:ext uri="{0D108BD9-81ED-4DB2-BD59-A6C34878D82A}">
                    <a16:rowId xmlns:a16="http://schemas.microsoft.com/office/drawing/2014/main" val="638712994"/>
                  </a:ext>
                </a:extLst>
              </a:tr>
            </a:tbl>
          </a:graphicData>
        </a:graphic>
      </p:graphicFrame>
    </p:spTree>
    <p:extLst>
      <p:ext uri="{BB962C8B-B14F-4D97-AF65-F5344CB8AC3E}">
        <p14:creationId xmlns:p14="http://schemas.microsoft.com/office/powerpoint/2010/main" val="490427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242945"/>
            <a:ext cx="10726024" cy="576000"/>
          </a:xfrm>
        </p:spPr>
        <p:txBody>
          <a:bodyPr/>
          <a:lstStyle/>
          <a:p>
            <a:r>
              <a:rPr lang="en-US" altLang="zh-CN" sz="2800" dirty="0"/>
              <a:t>Knowledge Graph as glue layer</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6</a:t>
            </a:fld>
            <a:endParaRPr lang="en-US" dirty="0"/>
          </a:p>
        </p:txBody>
      </p:sp>
      <p:grpSp>
        <p:nvGrpSpPr>
          <p:cNvPr id="17" name="Group 16">
            <a:extLst>
              <a:ext uri="{FF2B5EF4-FFF2-40B4-BE49-F238E27FC236}">
                <a16:creationId xmlns:a16="http://schemas.microsoft.com/office/drawing/2014/main" id="{16A2C25D-CEC2-F91C-CD2D-301DA5745514}"/>
              </a:ext>
            </a:extLst>
          </p:cNvPr>
          <p:cNvGrpSpPr/>
          <p:nvPr/>
        </p:nvGrpSpPr>
        <p:grpSpPr>
          <a:xfrm>
            <a:off x="558580" y="1405549"/>
            <a:ext cx="11074839" cy="4789768"/>
            <a:chOff x="558580" y="1405549"/>
            <a:chExt cx="11074839" cy="4789768"/>
          </a:xfrm>
        </p:grpSpPr>
        <p:pic>
          <p:nvPicPr>
            <p:cNvPr id="6" name="Picture 5">
              <a:extLst>
                <a:ext uri="{FF2B5EF4-FFF2-40B4-BE49-F238E27FC236}">
                  <a16:creationId xmlns:a16="http://schemas.microsoft.com/office/drawing/2014/main" id="{0A1E0F19-79E4-B9EF-9A1A-61978EE2ED52}"/>
                </a:ext>
              </a:extLst>
            </p:cNvPr>
            <p:cNvPicPr>
              <a:picLocks noChangeAspect="1"/>
            </p:cNvPicPr>
            <p:nvPr/>
          </p:nvPicPr>
          <p:blipFill>
            <a:blip r:embed="rId2"/>
            <a:stretch>
              <a:fillRect/>
            </a:stretch>
          </p:blipFill>
          <p:spPr>
            <a:xfrm>
              <a:off x="558580" y="1405549"/>
              <a:ext cx="11074839" cy="4789768"/>
            </a:xfrm>
            <a:prstGeom prst="rect">
              <a:avLst/>
            </a:prstGeom>
          </p:spPr>
        </p:pic>
        <p:sp>
          <p:nvSpPr>
            <p:cNvPr id="8" name="Rectangle 7">
              <a:extLst>
                <a:ext uri="{FF2B5EF4-FFF2-40B4-BE49-F238E27FC236}">
                  <a16:creationId xmlns:a16="http://schemas.microsoft.com/office/drawing/2014/main" id="{1763F721-121E-FCD8-C291-4F9CD5A576FB}"/>
                </a:ext>
              </a:extLst>
            </p:cNvPr>
            <p:cNvSpPr/>
            <p:nvPr/>
          </p:nvSpPr>
          <p:spPr>
            <a:xfrm>
              <a:off x="8774130" y="3904180"/>
              <a:ext cx="2859289" cy="11507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12" name="Straight Connector 11">
              <a:extLst>
                <a:ext uri="{FF2B5EF4-FFF2-40B4-BE49-F238E27FC236}">
                  <a16:creationId xmlns:a16="http://schemas.microsoft.com/office/drawing/2014/main" id="{8C0341A3-0CDF-C984-5D88-8759A4A4B35A}"/>
                </a:ext>
              </a:extLst>
            </p:cNvPr>
            <p:cNvCxnSpPr>
              <a:cxnSpLocks/>
            </p:cNvCxnSpPr>
            <p:nvPr/>
          </p:nvCxnSpPr>
          <p:spPr>
            <a:xfrm>
              <a:off x="11529391" y="5120640"/>
              <a:ext cx="0" cy="922351"/>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F8E7993-90A9-21F3-839F-6BF8BF2026F9}"/>
                </a:ext>
              </a:extLst>
            </p:cNvPr>
            <p:cNvCxnSpPr>
              <a:cxnSpLocks/>
            </p:cNvCxnSpPr>
            <p:nvPr/>
          </p:nvCxnSpPr>
          <p:spPr>
            <a:xfrm flipH="1">
              <a:off x="9287123" y="6074795"/>
              <a:ext cx="874644" cy="0"/>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7230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11163" y="694558"/>
            <a:ext cx="10726024" cy="576000"/>
          </a:xfrm>
        </p:spPr>
        <p:txBody>
          <a:bodyPr/>
          <a:lstStyle/>
          <a:p>
            <a:r>
              <a:rPr lang="en-US" sz="2800" dirty="0"/>
              <a:t>How to understand the dimension level of the scenarios?  </a:t>
            </a:r>
            <a:br>
              <a:rPr lang="en-US" sz="2800" dirty="0"/>
            </a:b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7</a:t>
            </a:fld>
            <a:endParaRPr lang="en-US" dirty="0"/>
          </a:p>
        </p:txBody>
      </p:sp>
      <p:pic>
        <p:nvPicPr>
          <p:cNvPr id="7" name="Picture 6">
            <a:extLst>
              <a:ext uri="{FF2B5EF4-FFF2-40B4-BE49-F238E27FC236}">
                <a16:creationId xmlns:a16="http://schemas.microsoft.com/office/drawing/2014/main" id="{9FA95B23-755F-B11F-1BAF-1B01B71D3EB7}"/>
              </a:ext>
            </a:extLst>
          </p:cNvPr>
          <p:cNvPicPr>
            <a:picLocks noChangeAspect="1"/>
          </p:cNvPicPr>
          <p:nvPr/>
        </p:nvPicPr>
        <p:blipFill>
          <a:blip r:embed="rId2"/>
          <a:stretch>
            <a:fillRect/>
          </a:stretch>
        </p:blipFill>
        <p:spPr>
          <a:xfrm rot="515723">
            <a:off x="4305112" y="3878108"/>
            <a:ext cx="3969784" cy="2228286"/>
          </a:xfrm>
          <a:prstGeom prst="rect">
            <a:avLst/>
          </a:prstGeom>
          <a:ln>
            <a:noFill/>
          </a:ln>
          <a:effectLst>
            <a:outerShdw blurRad="292100" dist="139700" dir="2700000" algn="tl" rotWithShape="0">
              <a:srgbClr val="333333">
                <a:alpha val="65000"/>
              </a:srgbClr>
            </a:outerShdw>
          </a:effectLst>
        </p:spPr>
      </p:pic>
      <p:cxnSp>
        <p:nvCxnSpPr>
          <p:cNvPr id="9" name="Straight Arrow Connector 8">
            <a:extLst>
              <a:ext uri="{FF2B5EF4-FFF2-40B4-BE49-F238E27FC236}">
                <a16:creationId xmlns:a16="http://schemas.microsoft.com/office/drawing/2014/main" id="{09F518D9-8FDD-B7FE-BAF6-EECF307C51B2}"/>
              </a:ext>
            </a:extLst>
          </p:cNvPr>
          <p:cNvCxnSpPr>
            <a:cxnSpLocks/>
          </p:cNvCxnSpPr>
          <p:nvPr/>
        </p:nvCxnSpPr>
        <p:spPr>
          <a:xfrm>
            <a:off x="4623370" y="3448576"/>
            <a:ext cx="4808307" cy="470042"/>
          </a:xfrm>
          <a:prstGeom prst="straightConnector1">
            <a:avLst/>
          </a:prstGeom>
          <a:ln w="28575">
            <a:solidFill>
              <a:srgbClr val="009999"/>
            </a:solidFill>
            <a:headEnd w="lg" len="lg"/>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3F33104-DA5B-8276-67EC-64071E7399B2}"/>
              </a:ext>
            </a:extLst>
          </p:cNvPr>
          <p:cNvCxnSpPr>
            <a:cxnSpLocks/>
          </p:cNvCxnSpPr>
          <p:nvPr/>
        </p:nvCxnSpPr>
        <p:spPr>
          <a:xfrm flipH="1">
            <a:off x="3267181" y="3448576"/>
            <a:ext cx="1356189" cy="2801882"/>
          </a:xfrm>
          <a:prstGeom prst="straightConnector1">
            <a:avLst/>
          </a:prstGeom>
          <a:ln w="28575">
            <a:solidFill>
              <a:srgbClr val="009999"/>
            </a:solidFill>
            <a:headEnd w="lg" len="lg"/>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0D210D-2ABF-6D61-CE3D-1A9C635A696D}"/>
              </a:ext>
            </a:extLst>
          </p:cNvPr>
          <p:cNvCxnSpPr>
            <a:cxnSpLocks/>
          </p:cNvCxnSpPr>
          <p:nvPr/>
        </p:nvCxnSpPr>
        <p:spPr>
          <a:xfrm flipV="1">
            <a:off x="4623370" y="1184500"/>
            <a:ext cx="0" cy="2264076"/>
          </a:xfrm>
          <a:prstGeom prst="straightConnector1">
            <a:avLst/>
          </a:prstGeom>
          <a:ln w="28575">
            <a:solidFill>
              <a:srgbClr val="009999"/>
            </a:solidFill>
            <a:headEnd w="lg" len="lg"/>
            <a:tailEnd type="arrow"/>
          </a:ln>
        </p:spPr>
        <p:style>
          <a:lnRef idx="1">
            <a:schemeClr val="accent1"/>
          </a:lnRef>
          <a:fillRef idx="0">
            <a:schemeClr val="accent1"/>
          </a:fillRef>
          <a:effectRef idx="0">
            <a:schemeClr val="accent1"/>
          </a:effectRef>
          <a:fontRef idx="minor">
            <a:schemeClr val="tx1"/>
          </a:fontRef>
        </p:style>
      </p:cxnSp>
      <p:sp>
        <p:nvSpPr>
          <p:cNvPr id="18" name="Title 1">
            <a:extLst>
              <a:ext uri="{FF2B5EF4-FFF2-40B4-BE49-F238E27FC236}">
                <a16:creationId xmlns:a16="http://schemas.microsoft.com/office/drawing/2014/main" id="{D21F6700-C75A-0870-5F35-9892B88AE11D}"/>
              </a:ext>
            </a:extLst>
          </p:cNvPr>
          <p:cNvSpPr txBox="1">
            <a:spLocks/>
          </p:cNvSpPr>
          <p:nvPr/>
        </p:nvSpPr>
        <p:spPr>
          <a:xfrm>
            <a:off x="9624768" y="3776371"/>
            <a:ext cx="3051423" cy="28449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altLang="zh-CN" sz="1600" b="0" dirty="0">
                <a:solidFill>
                  <a:schemeClr val="tx1"/>
                </a:solidFill>
              </a:rPr>
              <a:t>Scenarios</a:t>
            </a:r>
            <a:endParaRPr lang="en-US" sz="1600" b="0" dirty="0">
              <a:solidFill>
                <a:schemeClr val="tx1"/>
              </a:solidFill>
            </a:endParaRPr>
          </a:p>
        </p:txBody>
      </p:sp>
      <p:sp>
        <p:nvSpPr>
          <p:cNvPr id="19" name="Title 1">
            <a:extLst>
              <a:ext uri="{FF2B5EF4-FFF2-40B4-BE49-F238E27FC236}">
                <a16:creationId xmlns:a16="http://schemas.microsoft.com/office/drawing/2014/main" id="{A40C2946-0B6A-98B5-A366-99275F27865A}"/>
              </a:ext>
            </a:extLst>
          </p:cNvPr>
          <p:cNvSpPr txBox="1">
            <a:spLocks/>
          </p:cNvSpPr>
          <p:nvPr/>
        </p:nvSpPr>
        <p:spPr>
          <a:xfrm>
            <a:off x="2080516" y="6042700"/>
            <a:ext cx="3051423" cy="28449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600" b="0" dirty="0">
                <a:solidFill>
                  <a:schemeClr val="tx1"/>
                </a:solidFill>
              </a:rPr>
              <a:t>Technology</a:t>
            </a:r>
          </a:p>
        </p:txBody>
      </p:sp>
      <p:sp>
        <p:nvSpPr>
          <p:cNvPr id="20" name="Title 1">
            <a:extLst>
              <a:ext uri="{FF2B5EF4-FFF2-40B4-BE49-F238E27FC236}">
                <a16:creationId xmlns:a16="http://schemas.microsoft.com/office/drawing/2014/main" id="{C64B04D7-A697-9FF4-243D-5A0EDFFB5306}"/>
              </a:ext>
            </a:extLst>
          </p:cNvPr>
          <p:cNvSpPr txBox="1">
            <a:spLocks/>
          </p:cNvSpPr>
          <p:nvPr/>
        </p:nvSpPr>
        <p:spPr>
          <a:xfrm>
            <a:off x="3394551" y="1188006"/>
            <a:ext cx="3051423" cy="28449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600" b="0" dirty="0">
                <a:solidFill>
                  <a:schemeClr val="tx1"/>
                </a:solidFill>
              </a:rPr>
              <a:t>Application</a:t>
            </a:r>
          </a:p>
        </p:txBody>
      </p:sp>
      <p:cxnSp>
        <p:nvCxnSpPr>
          <p:cNvPr id="23" name="Straight Connector 22">
            <a:extLst>
              <a:ext uri="{FF2B5EF4-FFF2-40B4-BE49-F238E27FC236}">
                <a16:creationId xmlns:a16="http://schemas.microsoft.com/office/drawing/2014/main" id="{37E87210-AB50-E352-FECD-4B652DA45ED3}"/>
              </a:ext>
            </a:extLst>
          </p:cNvPr>
          <p:cNvCxnSpPr/>
          <p:nvPr/>
        </p:nvCxnSpPr>
        <p:spPr>
          <a:xfrm>
            <a:off x="5486400" y="3448576"/>
            <a:ext cx="0" cy="124784"/>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7510BE1-C088-7607-F0D8-596EF66D472F}"/>
              </a:ext>
            </a:extLst>
          </p:cNvPr>
          <p:cNvCxnSpPr/>
          <p:nvPr/>
        </p:nvCxnSpPr>
        <p:spPr>
          <a:xfrm>
            <a:off x="6943615" y="3590702"/>
            <a:ext cx="0" cy="124784"/>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F82FE4A-9727-E7AA-E462-D05AE16901DC}"/>
              </a:ext>
            </a:extLst>
          </p:cNvPr>
          <p:cNvCxnSpPr/>
          <p:nvPr/>
        </p:nvCxnSpPr>
        <p:spPr>
          <a:xfrm>
            <a:off x="8472747" y="3732828"/>
            <a:ext cx="0" cy="124784"/>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66DD918-02E3-2169-5124-330F68055619}"/>
              </a:ext>
            </a:extLst>
          </p:cNvPr>
          <p:cNvCxnSpPr>
            <a:cxnSpLocks/>
          </p:cNvCxnSpPr>
          <p:nvPr/>
        </p:nvCxnSpPr>
        <p:spPr>
          <a:xfrm flipV="1">
            <a:off x="4345967" y="3892175"/>
            <a:ext cx="0" cy="174449"/>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A472A96-67B4-3808-562A-71F5827DAE9A}"/>
              </a:ext>
            </a:extLst>
          </p:cNvPr>
          <p:cNvCxnSpPr>
            <a:cxnSpLocks/>
          </p:cNvCxnSpPr>
          <p:nvPr/>
        </p:nvCxnSpPr>
        <p:spPr>
          <a:xfrm flipV="1">
            <a:off x="4036034" y="4525893"/>
            <a:ext cx="0" cy="174449"/>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7C33EF4-004F-CDFA-274D-5D23BBC875B7}"/>
              </a:ext>
            </a:extLst>
          </p:cNvPr>
          <p:cNvCxnSpPr>
            <a:cxnSpLocks/>
          </p:cNvCxnSpPr>
          <p:nvPr/>
        </p:nvCxnSpPr>
        <p:spPr>
          <a:xfrm flipV="1">
            <a:off x="3695277" y="5214063"/>
            <a:ext cx="0" cy="174449"/>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CE7713-63C9-3486-A1EA-3D4361CD4EC6}"/>
              </a:ext>
            </a:extLst>
          </p:cNvPr>
          <p:cNvCxnSpPr>
            <a:cxnSpLocks/>
          </p:cNvCxnSpPr>
          <p:nvPr/>
        </p:nvCxnSpPr>
        <p:spPr>
          <a:xfrm flipH="1">
            <a:off x="4541177" y="2852674"/>
            <a:ext cx="164386" cy="0"/>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8E8B4EA-E0F8-A606-FC35-DCE64CA57A8C}"/>
              </a:ext>
            </a:extLst>
          </p:cNvPr>
          <p:cNvCxnSpPr>
            <a:cxnSpLocks/>
          </p:cNvCxnSpPr>
          <p:nvPr/>
        </p:nvCxnSpPr>
        <p:spPr>
          <a:xfrm flipH="1">
            <a:off x="4539467" y="2224243"/>
            <a:ext cx="164386" cy="0"/>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642E9F3-60BE-0274-1F5E-0DF2E84D4259}"/>
              </a:ext>
            </a:extLst>
          </p:cNvPr>
          <p:cNvCxnSpPr>
            <a:cxnSpLocks/>
          </p:cNvCxnSpPr>
          <p:nvPr/>
        </p:nvCxnSpPr>
        <p:spPr>
          <a:xfrm flipH="1">
            <a:off x="4537757" y="1606084"/>
            <a:ext cx="164386" cy="0"/>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C2CD8B06-C912-5541-E58E-0C2DA4D7CEFD}"/>
              </a:ext>
            </a:extLst>
          </p:cNvPr>
          <p:cNvSpPr txBox="1">
            <a:spLocks/>
          </p:cNvSpPr>
          <p:nvPr/>
        </p:nvSpPr>
        <p:spPr>
          <a:xfrm rot="220030">
            <a:off x="5131940" y="3053844"/>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Manufacturing staff and Engineers</a:t>
            </a:r>
          </a:p>
        </p:txBody>
      </p:sp>
      <p:sp>
        <p:nvSpPr>
          <p:cNvPr id="41" name="Title 1">
            <a:extLst>
              <a:ext uri="{FF2B5EF4-FFF2-40B4-BE49-F238E27FC236}">
                <a16:creationId xmlns:a16="http://schemas.microsoft.com/office/drawing/2014/main" id="{88BD3513-1786-4B3E-06E7-27C60CBEE868}"/>
              </a:ext>
            </a:extLst>
          </p:cNvPr>
          <p:cNvSpPr txBox="1">
            <a:spLocks/>
          </p:cNvSpPr>
          <p:nvPr/>
        </p:nvSpPr>
        <p:spPr>
          <a:xfrm rot="161883">
            <a:off x="6654629" y="3068994"/>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Manufacturing System</a:t>
            </a:r>
          </a:p>
        </p:txBody>
      </p:sp>
      <p:sp>
        <p:nvSpPr>
          <p:cNvPr id="42" name="Title 1">
            <a:extLst>
              <a:ext uri="{FF2B5EF4-FFF2-40B4-BE49-F238E27FC236}">
                <a16:creationId xmlns:a16="http://schemas.microsoft.com/office/drawing/2014/main" id="{EA577988-D397-CB36-2B44-AFC5C6B88430}"/>
              </a:ext>
            </a:extLst>
          </p:cNvPr>
          <p:cNvSpPr txBox="1">
            <a:spLocks/>
          </p:cNvSpPr>
          <p:nvPr/>
        </p:nvSpPr>
        <p:spPr>
          <a:xfrm rot="161883">
            <a:off x="8179140" y="3134778"/>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Manufacturing Supply Chain</a:t>
            </a:r>
          </a:p>
        </p:txBody>
      </p:sp>
      <p:sp>
        <p:nvSpPr>
          <p:cNvPr id="43" name="Title 1">
            <a:extLst>
              <a:ext uri="{FF2B5EF4-FFF2-40B4-BE49-F238E27FC236}">
                <a16:creationId xmlns:a16="http://schemas.microsoft.com/office/drawing/2014/main" id="{319E5EA9-4EF6-9925-C4D1-E9469F559DF1}"/>
              </a:ext>
            </a:extLst>
          </p:cNvPr>
          <p:cNvSpPr txBox="1">
            <a:spLocks/>
          </p:cNvSpPr>
          <p:nvPr/>
        </p:nvSpPr>
        <p:spPr>
          <a:xfrm>
            <a:off x="3212638" y="3681728"/>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Top-down construction, no update</a:t>
            </a:r>
          </a:p>
        </p:txBody>
      </p:sp>
      <p:sp>
        <p:nvSpPr>
          <p:cNvPr id="44" name="Title 1">
            <a:extLst>
              <a:ext uri="{FF2B5EF4-FFF2-40B4-BE49-F238E27FC236}">
                <a16:creationId xmlns:a16="http://schemas.microsoft.com/office/drawing/2014/main" id="{B2CCE34E-39A1-C966-0931-68B5A1380E93}"/>
              </a:ext>
            </a:extLst>
          </p:cNvPr>
          <p:cNvSpPr txBox="1">
            <a:spLocks/>
          </p:cNvSpPr>
          <p:nvPr/>
        </p:nvSpPr>
        <p:spPr>
          <a:xfrm>
            <a:off x="2700389" y="4245116"/>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Passive update</a:t>
            </a:r>
          </a:p>
        </p:txBody>
      </p:sp>
      <p:sp>
        <p:nvSpPr>
          <p:cNvPr id="45" name="Title 1">
            <a:extLst>
              <a:ext uri="{FF2B5EF4-FFF2-40B4-BE49-F238E27FC236}">
                <a16:creationId xmlns:a16="http://schemas.microsoft.com/office/drawing/2014/main" id="{AFD8D989-317F-5A8A-B365-5D350D880A3A}"/>
              </a:ext>
            </a:extLst>
          </p:cNvPr>
          <p:cNvSpPr txBox="1">
            <a:spLocks/>
          </p:cNvSpPr>
          <p:nvPr/>
        </p:nvSpPr>
        <p:spPr>
          <a:xfrm>
            <a:off x="2296273" y="4933950"/>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Self learning and self-organization</a:t>
            </a:r>
          </a:p>
        </p:txBody>
      </p:sp>
      <p:cxnSp>
        <p:nvCxnSpPr>
          <p:cNvPr id="46" name="Straight Connector 45">
            <a:extLst>
              <a:ext uri="{FF2B5EF4-FFF2-40B4-BE49-F238E27FC236}">
                <a16:creationId xmlns:a16="http://schemas.microsoft.com/office/drawing/2014/main" id="{2962DA26-D1FC-DC9C-B9D5-7B5C74C8B99B}"/>
              </a:ext>
            </a:extLst>
          </p:cNvPr>
          <p:cNvCxnSpPr>
            <a:cxnSpLocks/>
          </p:cNvCxnSpPr>
          <p:nvPr/>
        </p:nvCxnSpPr>
        <p:spPr>
          <a:xfrm flipV="1">
            <a:off x="3457257" y="5664409"/>
            <a:ext cx="0" cy="174449"/>
          </a:xfrm>
          <a:prstGeom prst="line">
            <a:avLst/>
          </a:prstGeom>
          <a:ln w="19050">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47" name="Title 1">
            <a:extLst>
              <a:ext uri="{FF2B5EF4-FFF2-40B4-BE49-F238E27FC236}">
                <a16:creationId xmlns:a16="http://schemas.microsoft.com/office/drawing/2014/main" id="{B95C8F6E-4D68-2184-8C2C-030A44E2598C}"/>
              </a:ext>
            </a:extLst>
          </p:cNvPr>
          <p:cNvSpPr txBox="1">
            <a:spLocks/>
          </p:cNvSpPr>
          <p:nvPr/>
        </p:nvSpPr>
        <p:spPr>
          <a:xfrm>
            <a:off x="2224358" y="5567004"/>
            <a:ext cx="1811676" cy="316383"/>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altLang="zh-CN" sz="1400" b="0" dirty="0">
                <a:solidFill>
                  <a:schemeClr val="tx1"/>
                </a:solidFill>
              </a:rPr>
              <a:t>Bottom-up construction</a:t>
            </a:r>
            <a:endParaRPr lang="en-US" sz="1400" b="0" dirty="0">
              <a:solidFill>
                <a:schemeClr val="tx1"/>
              </a:solidFill>
            </a:endParaRPr>
          </a:p>
        </p:txBody>
      </p:sp>
      <p:sp>
        <p:nvSpPr>
          <p:cNvPr id="48" name="Title 1">
            <a:extLst>
              <a:ext uri="{FF2B5EF4-FFF2-40B4-BE49-F238E27FC236}">
                <a16:creationId xmlns:a16="http://schemas.microsoft.com/office/drawing/2014/main" id="{19330022-97D5-6A71-73F0-42450B8C8A9A}"/>
              </a:ext>
            </a:extLst>
          </p:cNvPr>
          <p:cNvSpPr txBox="1">
            <a:spLocks/>
          </p:cNvSpPr>
          <p:nvPr/>
        </p:nvSpPr>
        <p:spPr>
          <a:xfrm>
            <a:off x="2828963" y="2871538"/>
            <a:ext cx="2044560" cy="23672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sz="1400" b="0" dirty="0">
                <a:solidFill>
                  <a:schemeClr val="tx1"/>
                </a:solidFill>
              </a:rPr>
              <a:t>Semantic extraction and </a:t>
            </a:r>
            <a:r>
              <a:rPr lang="en-US" altLang="zh-CN" sz="1400" b="0" dirty="0">
                <a:solidFill>
                  <a:schemeClr val="tx1"/>
                </a:solidFill>
              </a:rPr>
              <a:t>organization</a:t>
            </a:r>
            <a:endParaRPr lang="en-US" sz="1400" b="0" dirty="0">
              <a:solidFill>
                <a:schemeClr val="tx1"/>
              </a:solidFill>
            </a:endParaRPr>
          </a:p>
        </p:txBody>
      </p:sp>
      <p:sp>
        <p:nvSpPr>
          <p:cNvPr id="49" name="Title 1">
            <a:extLst>
              <a:ext uri="{FF2B5EF4-FFF2-40B4-BE49-F238E27FC236}">
                <a16:creationId xmlns:a16="http://schemas.microsoft.com/office/drawing/2014/main" id="{DB200C3B-53D6-F1AB-59F8-01D1A4F54099}"/>
              </a:ext>
            </a:extLst>
          </p:cNvPr>
          <p:cNvSpPr txBox="1">
            <a:spLocks/>
          </p:cNvSpPr>
          <p:nvPr/>
        </p:nvSpPr>
        <p:spPr>
          <a:xfrm>
            <a:off x="2828963" y="2107155"/>
            <a:ext cx="2044560" cy="23672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altLang="zh-CN" sz="1400" b="0" dirty="0">
                <a:solidFill>
                  <a:schemeClr val="tx1"/>
                </a:solidFill>
              </a:rPr>
              <a:t>Q</a:t>
            </a:r>
            <a:r>
              <a:rPr lang="en-US" sz="1400" b="0" dirty="0">
                <a:solidFill>
                  <a:schemeClr val="tx1"/>
                </a:solidFill>
              </a:rPr>
              <a:t>ualitative decision</a:t>
            </a:r>
          </a:p>
        </p:txBody>
      </p:sp>
      <p:sp>
        <p:nvSpPr>
          <p:cNvPr id="50" name="Title 1">
            <a:extLst>
              <a:ext uri="{FF2B5EF4-FFF2-40B4-BE49-F238E27FC236}">
                <a16:creationId xmlns:a16="http://schemas.microsoft.com/office/drawing/2014/main" id="{9663E637-9215-FD29-043E-655311DA3622}"/>
              </a:ext>
            </a:extLst>
          </p:cNvPr>
          <p:cNvSpPr txBox="1">
            <a:spLocks/>
          </p:cNvSpPr>
          <p:nvPr/>
        </p:nvSpPr>
        <p:spPr>
          <a:xfrm>
            <a:off x="2449071" y="1545284"/>
            <a:ext cx="2575243" cy="157544"/>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altLang="zh-CN" sz="1400" b="0" dirty="0">
                <a:solidFill>
                  <a:schemeClr val="tx1"/>
                </a:solidFill>
              </a:rPr>
              <a:t>Comprehensive decision</a:t>
            </a:r>
            <a:endParaRPr lang="en-US" sz="1400" b="0" dirty="0">
              <a:solidFill>
                <a:schemeClr val="tx1"/>
              </a:solidFill>
            </a:endParaRPr>
          </a:p>
        </p:txBody>
      </p:sp>
    </p:spTree>
    <p:extLst>
      <p:ext uri="{BB962C8B-B14F-4D97-AF65-F5344CB8AC3E}">
        <p14:creationId xmlns:p14="http://schemas.microsoft.com/office/powerpoint/2010/main" val="360838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242945"/>
            <a:ext cx="10726024" cy="576000"/>
          </a:xfrm>
        </p:spPr>
        <p:txBody>
          <a:bodyPr/>
          <a:lstStyle/>
          <a:p>
            <a:r>
              <a:rPr lang="en-US" altLang="zh-CN" sz="2800" dirty="0"/>
              <a:t>Technical space in general knowledge graph service</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8</a:t>
            </a:fld>
            <a:endParaRPr lang="en-US" dirty="0"/>
          </a:p>
        </p:txBody>
      </p:sp>
      <p:sp>
        <p:nvSpPr>
          <p:cNvPr id="5" name="Rectangle 4">
            <a:extLst>
              <a:ext uri="{FF2B5EF4-FFF2-40B4-BE49-F238E27FC236}">
                <a16:creationId xmlns:a16="http://schemas.microsoft.com/office/drawing/2014/main" id="{865192DF-0CF2-086C-6A61-674BD902E1CB}"/>
              </a:ext>
            </a:extLst>
          </p:cNvPr>
          <p:cNvSpPr/>
          <p:nvPr/>
        </p:nvSpPr>
        <p:spPr>
          <a:xfrm>
            <a:off x="318499" y="5178175"/>
            <a:ext cx="11548153" cy="996594"/>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Title 1">
            <a:extLst>
              <a:ext uri="{FF2B5EF4-FFF2-40B4-BE49-F238E27FC236}">
                <a16:creationId xmlns:a16="http://schemas.microsoft.com/office/drawing/2014/main" id="{644D5C7B-54B0-5463-8E63-445D89571321}"/>
              </a:ext>
            </a:extLst>
          </p:cNvPr>
          <p:cNvSpPr txBox="1">
            <a:spLocks/>
          </p:cNvSpPr>
          <p:nvPr/>
        </p:nvSpPr>
        <p:spPr>
          <a:xfrm>
            <a:off x="411162" y="5298998"/>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Knowledge Storage</a:t>
            </a:r>
          </a:p>
          <a:p>
            <a:r>
              <a:rPr lang="en-US" sz="1400" dirty="0">
                <a:solidFill>
                  <a:srgbClr val="009999"/>
                </a:solidFill>
              </a:rPr>
              <a:t>and Representations</a:t>
            </a:r>
          </a:p>
        </p:txBody>
      </p:sp>
      <p:pic>
        <p:nvPicPr>
          <p:cNvPr id="8" name="Picture 7">
            <a:extLst>
              <a:ext uri="{FF2B5EF4-FFF2-40B4-BE49-F238E27FC236}">
                <a16:creationId xmlns:a16="http://schemas.microsoft.com/office/drawing/2014/main" id="{97D73D00-A959-6207-017C-75844B298E6E}"/>
              </a:ext>
            </a:extLst>
          </p:cNvPr>
          <p:cNvPicPr>
            <a:picLocks noChangeAspect="1"/>
          </p:cNvPicPr>
          <p:nvPr/>
        </p:nvPicPr>
        <p:blipFill>
          <a:blip r:embed="rId2"/>
          <a:stretch>
            <a:fillRect/>
          </a:stretch>
        </p:blipFill>
        <p:spPr>
          <a:xfrm>
            <a:off x="2436273" y="5219272"/>
            <a:ext cx="1276350" cy="914400"/>
          </a:xfrm>
          <a:prstGeom prst="rect">
            <a:avLst/>
          </a:prstGeom>
        </p:spPr>
      </p:pic>
      <p:sp>
        <p:nvSpPr>
          <p:cNvPr id="9" name="Title 1">
            <a:extLst>
              <a:ext uri="{FF2B5EF4-FFF2-40B4-BE49-F238E27FC236}">
                <a16:creationId xmlns:a16="http://schemas.microsoft.com/office/drawing/2014/main" id="{4B7A56BB-E84E-446D-F04D-46801C416E27}"/>
              </a:ext>
            </a:extLst>
          </p:cNvPr>
          <p:cNvSpPr txBox="1">
            <a:spLocks/>
          </p:cNvSpPr>
          <p:nvPr/>
        </p:nvSpPr>
        <p:spPr>
          <a:xfrm>
            <a:off x="3712623" y="5312266"/>
            <a:ext cx="83882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RDF</a:t>
            </a:r>
          </a:p>
          <a:p>
            <a:r>
              <a:rPr lang="en-US" sz="1100" dirty="0">
                <a:solidFill>
                  <a:schemeClr val="tx1"/>
                </a:solidFill>
              </a:rPr>
              <a:t>Graph</a:t>
            </a:r>
          </a:p>
        </p:txBody>
      </p:sp>
      <p:pic>
        <p:nvPicPr>
          <p:cNvPr id="11" name="Picture 10">
            <a:extLst>
              <a:ext uri="{FF2B5EF4-FFF2-40B4-BE49-F238E27FC236}">
                <a16:creationId xmlns:a16="http://schemas.microsoft.com/office/drawing/2014/main" id="{85EFA3D4-3DE3-8699-633D-E0F718A61CBC}"/>
              </a:ext>
            </a:extLst>
          </p:cNvPr>
          <p:cNvPicPr>
            <a:picLocks noChangeAspect="1"/>
          </p:cNvPicPr>
          <p:nvPr/>
        </p:nvPicPr>
        <p:blipFill>
          <a:blip r:embed="rId3"/>
          <a:stretch>
            <a:fillRect/>
          </a:stretch>
        </p:blipFill>
        <p:spPr>
          <a:xfrm>
            <a:off x="4510583" y="5258225"/>
            <a:ext cx="1104900" cy="895350"/>
          </a:xfrm>
          <a:prstGeom prst="rect">
            <a:avLst/>
          </a:prstGeom>
        </p:spPr>
      </p:pic>
      <p:cxnSp>
        <p:nvCxnSpPr>
          <p:cNvPr id="13" name="Straight Connector 12">
            <a:extLst>
              <a:ext uri="{FF2B5EF4-FFF2-40B4-BE49-F238E27FC236}">
                <a16:creationId xmlns:a16="http://schemas.microsoft.com/office/drawing/2014/main" id="{B8540AA0-C1B4-3C7C-8506-66C847347804}"/>
              </a:ext>
            </a:extLst>
          </p:cNvPr>
          <p:cNvCxnSpPr/>
          <p:nvPr/>
        </p:nvCxnSpPr>
        <p:spPr>
          <a:xfrm>
            <a:off x="4356243" y="5337688"/>
            <a:ext cx="0" cy="724065"/>
          </a:xfrm>
          <a:prstGeom prst="line">
            <a:avLst/>
          </a:prstGeom>
          <a:ln w="9525">
            <a:solidFill>
              <a:srgbClr val="CCCCD4"/>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3062E8C1-21AF-BF8E-BA08-56F5D1968529}"/>
              </a:ext>
            </a:extLst>
          </p:cNvPr>
          <p:cNvSpPr txBox="1">
            <a:spLocks/>
          </p:cNvSpPr>
          <p:nvPr/>
        </p:nvSpPr>
        <p:spPr>
          <a:xfrm>
            <a:off x="5545544" y="5322540"/>
            <a:ext cx="981641"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Property</a:t>
            </a:r>
          </a:p>
          <a:p>
            <a:r>
              <a:rPr lang="en-US" sz="1100" dirty="0">
                <a:solidFill>
                  <a:schemeClr val="tx1"/>
                </a:solidFill>
              </a:rPr>
              <a:t>Graph</a:t>
            </a:r>
          </a:p>
        </p:txBody>
      </p:sp>
      <p:cxnSp>
        <p:nvCxnSpPr>
          <p:cNvPr id="15" name="Straight Connector 14">
            <a:extLst>
              <a:ext uri="{FF2B5EF4-FFF2-40B4-BE49-F238E27FC236}">
                <a16:creationId xmlns:a16="http://schemas.microsoft.com/office/drawing/2014/main" id="{0B5ED5AC-D519-881B-4A8F-80441139EF6A}"/>
              </a:ext>
            </a:extLst>
          </p:cNvPr>
          <p:cNvCxnSpPr/>
          <p:nvPr/>
        </p:nvCxnSpPr>
        <p:spPr>
          <a:xfrm>
            <a:off x="6306620" y="5348226"/>
            <a:ext cx="0" cy="724065"/>
          </a:xfrm>
          <a:prstGeom prst="line">
            <a:avLst/>
          </a:prstGeom>
          <a:ln w="9525">
            <a:solidFill>
              <a:srgbClr val="CCCCD4"/>
            </a:solidFill>
            <a:headEnd w="lg" len="lg"/>
            <a:tailEnd type="none" w="lg" len="lg"/>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1B25B5FC-8DB1-F0D3-BC98-580A29E6E6DF}"/>
              </a:ext>
            </a:extLst>
          </p:cNvPr>
          <p:cNvPicPr>
            <a:picLocks noChangeAspect="1"/>
          </p:cNvPicPr>
          <p:nvPr/>
        </p:nvPicPr>
        <p:blipFill>
          <a:blip r:embed="rId4"/>
          <a:stretch>
            <a:fillRect/>
          </a:stretch>
        </p:blipFill>
        <p:spPr>
          <a:xfrm>
            <a:off x="6470258" y="5312266"/>
            <a:ext cx="1206775" cy="724065"/>
          </a:xfrm>
          <a:prstGeom prst="rect">
            <a:avLst/>
          </a:prstGeom>
        </p:spPr>
      </p:pic>
      <p:sp>
        <p:nvSpPr>
          <p:cNvPr id="18" name="Title 1">
            <a:extLst>
              <a:ext uri="{FF2B5EF4-FFF2-40B4-BE49-F238E27FC236}">
                <a16:creationId xmlns:a16="http://schemas.microsoft.com/office/drawing/2014/main" id="{C2927231-3DF1-6DC6-BBED-2D6A79371956}"/>
              </a:ext>
            </a:extLst>
          </p:cNvPr>
          <p:cNvSpPr txBox="1">
            <a:spLocks/>
          </p:cNvSpPr>
          <p:nvPr/>
        </p:nvSpPr>
        <p:spPr>
          <a:xfrm>
            <a:off x="7677033" y="5310122"/>
            <a:ext cx="981641"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Simple</a:t>
            </a:r>
          </a:p>
          <a:p>
            <a:r>
              <a:rPr lang="en-US" sz="1100" dirty="0">
                <a:solidFill>
                  <a:schemeClr val="tx1"/>
                </a:solidFill>
              </a:rPr>
              <a:t>Graph</a:t>
            </a:r>
          </a:p>
        </p:txBody>
      </p:sp>
      <p:cxnSp>
        <p:nvCxnSpPr>
          <p:cNvPr id="19" name="Straight Connector 18">
            <a:extLst>
              <a:ext uri="{FF2B5EF4-FFF2-40B4-BE49-F238E27FC236}">
                <a16:creationId xmlns:a16="http://schemas.microsoft.com/office/drawing/2014/main" id="{032AF04F-4AB6-47AB-B1F7-E4C5E6B0919A}"/>
              </a:ext>
            </a:extLst>
          </p:cNvPr>
          <p:cNvCxnSpPr/>
          <p:nvPr/>
        </p:nvCxnSpPr>
        <p:spPr>
          <a:xfrm>
            <a:off x="8277442" y="5337951"/>
            <a:ext cx="0" cy="724065"/>
          </a:xfrm>
          <a:prstGeom prst="line">
            <a:avLst/>
          </a:prstGeom>
          <a:ln w="9525">
            <a:solidFill>
              <a:srgbClr val="CCCCD4"/>
            </a:solidFill>
            <a:headEnd w="lg" len="lg"/>
            <a:tailEnd type="none" w="lg" len="lg"/>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7003E7E9-DFFD-9DA5-48FB-3BCB53320007}"/>
              </a:ext>
            </a:extLst>
          </p:cNvPr>
          <p:cNvPicPr>
            <a:picLocks noChangeAspect="1"/>
          </p:cNvPicPr>
          <p:nvPr/>
        </p:nvPicPr>
        <p:blipFill>
          <a:blip r:embed="rId5"/>
          <a:stretch>
            <a:fillRect/>
          </a:stretch>
        </p:blipFill>
        <p:spPr>
          <a:xfrm>
            <a:off x="8440089" y="5240910"/>
            <a:ext cx="2162175" cy="866775"/>
          </a:xfrm>
          <a:prstGeom prst="rect">
            <a:avLst/>
          </a:prstGeom>
        </p:spPr>
      </p:pic>
      <p:sp>
        <p:nvSpPr>
          <p:cNvPr id="22" name="Title 1">
            <a:extLst>
              <a:ext uri="{FF2B5EF4-FFF2-40B4-BE49-F238E27FC236}">
                <a16:creationId xmlns:a16="http://schemas.microsoft.com/office/drawing/2014/main" id="{32444428-82C6-73ED-F1AC-6DD468CAC2B0}"/>
              </a:ext>
            </a:extLst>
          </p:cNvPr>
          <p:cNvSpPr txBox="1">
            <a:spLocks/>
          </p:cNvSpPr>
          <p:nvPr/>
        </p:nvSpPr>
        <p:spPr>
          <a:xfrm>
            <a:off x="10707678" y="5258225"/>
            <a:ext cx="981641"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Time Evolving</a:t>
            </a:r>
          </a:p>
          <a:p>
            <a:r>
              <a:rPr lang="en-US" sz="1100" dirty="0">
                <a:solidFill>
                  <a:schemeClr val="tx1"/>
                </a:solidFill>
              </a:rPr>
              <a:t>Graph</a:t>
            </a:r>
          </a:p>
        </p:txBody>
      </p:sp>
      <p:sp>
        <p:nvSpPr>
          <p:cNvPr id="23" name="Rectangle 22">
            <a:extLst>
              <a:ext uri="{FF2B5EF4-FFF2-40B4-BE49-F238E27FC236}">
                <a16:creationId xmlns:a16="http://schemas.microsoft.com/office/drawing/2014/main" id="{5B196946-BDEC-9DCF-B6BC-0CBF9F1D13B7}"/>
              </a:ext>
            </a:extLst>
          </p:cNvPr>
          <p:cNvSpPr/>
          <p:nvPr/>
        </p:nvSpPr>
        <p:spPr>
          <a:xfrm>
            <a:off x="318499" y="3911398"/>
            <a:ext cx="11548153" cy="996594"/>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Title 1">
            <a:extLst>
              <a:ext uri="{FF2B5EF4-FFF2-40B4-BE49-F238E27FC236}">
                <a16:creationId xmlns:a16="http://schemas.microsoft.com/office/drawing/2014/main" id="{B895EC78-5B68-CB77-1FDC-5C4EBE2263DA}"/>
              </a:ext>
            </a:extLst>
          </p:cNvPr>
          <p:cNvSpPr txBox="1">
            <a:spLocks/>
          </p:cNvSpPr>
          <p:nvPr/>
        </p:nvSpPr>
        <p:spPr>
          <a:xfrm>
            <a:off x="411162" y="4032221"/>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Learning  </a:t>
            </a:r>
          </a:p>
          <a:p>
            <a:r>
              <a:rPr lang="en-US" sz="1400" dirty="0">
                <a:solidFill>
                  <a:srgbClr val="009999"/>
                </a:solidFill>
              </a:rPr>
              <a:t>Technologies</a:t>
            </a:r>
          </a:p>
        </p:txBody>
      </p:sp>
      <p:pic>
        <p:nvPicPr>
          <p:cNvPr id="26" name="Picture 25">
            <a:extLst>
              <a:ext uri="{FF2B5EF4-FFF2-40B4-BE49-F238E27FC236}">
                <a16:creationId xmlns:a16="http://schemas.microsoft.com/office/drawing/2014/main" id="{C67070FA-371E-7C02-285F-04F62D698375}"/>
              </a:ext>
            </a:extLst>
          </p:cNvPr>
          <p:cNvPicPr>
            <a:picLocks noChangeAspect="1"/>
          </p:cNvPicPr>
          <p:nvPr/>
        </p:nvPicPr>
        <p:blipFill>
          <a:blip r:embed="rId6"/>
          <a:stretch>
            <a:fillRect/>
          </a:stretch>
        </p:blipFill>
        <p:spPr>
          <a:xfrm>
            <a:off x="2055698" y="4084819"/>
            <a:ext cx="1490830" cy="743408"/>
          </a:xfrm>
          <a:prstGeom prst="rect">
            <a:avLst/>
          </a:prstGeom>
        </p:spPr>
      </p:pic>
      <p:sp>
        <p:nvSpPr>
          <p:cNvPr id="27" name="Title 1">
            <a:extLst>
              <a:ext uri="{FF2B5EF4-FFF2-40B4-BE49-F238E27FC236}">
                <a16:creationId xmlns:a16="http://schemas.microsoft.com/office/drawing/2014/main" id="{7095D0B5-FB28-EE15-2538-D08810479B69}"/>
              </a:ext>
            </a:extLst>
          </p:cNvPr>
          <p:cNvSpPr txBox="1">
            <a:spLocks/>
          </p:cNvSpPr>
          <p:nvPr/>
        </p:nvSpPr>
        <p:spPr>
          <a:xfrm>
            <a:off x="3671757" y="4078106"/>
            <a:ext cx="83882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Graph Pattern Mining</a:t>
            </a:r>
          </a:p>
        </p:txBody>
      </p:sp>
      <p:cxnSp>
        <p:nvCxnSpPr>
          <p:cNvPr id="28" name="Straight Connector 27">
            <a:extLst>
              <a:ext uri="{FF2B5EF4-FFF2-40B4-BE49-F238E27FC236}">
                <a16:creationId xmlns:a16="http://schemas.microsoft.com/office/drawing/2014/main" id="{11679E55-AF78-4F4A-848F-8B3FB9A453A4}"/>
              </a:ext>
            </a:extLst>
          </p:cNvPr>
          <p:cNvCxnSpPr/>
          <p:nvPr/>
        </p:nvCxnSpPr>
        <p:spPr>
          <a:xfrm>
            <a:off x="4385353" y="4078106"/>
            <a:ext cx="0" cy="724065"/>
          </a:xfrm>
          <a:prstGeom prst="line">
            <a:avLst/>
          </a:prstGeom>
          <a:ln w="9525">
            <a:solidFill>
              <a:srgbClr val="CCCCD4"/>
            </a:solidFill>
            <a:headEnd w="lg" len="lg"/>
            <a:tailEnd type="none" w="lg" len="lg"/>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ACD41D00-5EAE-B76D-0FCB-C96E971F262B}"/>
              </a:ext>
            </a:extLst>
          </p:cNvPr>
          <p:cNvPicPr>
            <a:picLocks noChangeAspect="1"/>
          </p:cNvPicPr>
          <p:nvPr/>
        </p:nvPicPr>
        <p:blipFill>
          <a:blip r:embed="rId7"/>
          <a:stretch>
            <a:fillRect/>
          </a:stretch>
        </p:blipFill>
        <p:spPr>
          <a:xfrm>
            <a:off x="4551449" y="4065671"/>
            <a:ext cx="2028825" cy="809625"/>
          </a:xfrm>
          <a:prstGeom prst="rect">
            <a:avLst/>
          </a:prstGeom>
        </p:spPr>
      </p:pic>
      <p:sp>
        <p:nvSpPr>
          <p:cNvPr id="31" name="Title 1">
            <a:extLst>
              <a:ext uri="{FF2B5EF4-FFF2-40B4-BE49-F238E27FC236}">
                <a16:creationId xmlns:a16="http://schemas.microsoft.com/office/drawing/2014/main" id="{6A5AC25D-8C19-B8AA-291A-93C8F5D844EA}"/>
              </a:ext>
            </a:extLst>
          </p:cNvPr>
          <p:cNvSpPr txBox="1">
            <a:spLocks/>
          </p:cNvSpPr>
          <p:nvPr/>
        </p:nvSpPr>
        <p:spPr>
          <a:xfrm>
            <a:off x="6621140" y="4188316"/>
            <a:ext cx="178410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100" dirty="0">
                <a:solidFill>
                  <a:schemeClr val="tx1"/>
                </a:solidFill>
              </a:rPr>
              <a:t>Graph Convolutional</a:t>
            </a:r>
          </a:p>
          <a:p>
            <a:r>
              <a:rPr lang="en-US" sz="1100" dirty="0">
                <a:solidFill>
                  <a:schemeClr val="tx1"/>
                </a:solidFill>
              </a:rPr>
              <a:t>Neural </a:t>
            </a:r>
            <a:r>
              <a:rPr lang="en-US" altLang="zh-CN" sz="1100" dirty="0">
                <a:solidFill>
                  <a:schemeClr val="tx1"/>
                </a:solidFill>
              </a:rPr>
              <a:t>Networks</a:t>
            </a:r>
            <a:endParaRPr lang="en-US" sz="1100" dirty="0">
              <a:solidFill>
                <a:schemeClr val="tx1"/>
              </a:solidFill>
            </a:endParaRPr>
          </a:p>
          <a:p>
            <a:endParaRPr lang="en-US" sz="1100" dirty="0">
              <a:solidFill>
                <a:schemeClr val="tx1"/>
              </a:solidFill>
            </a:endParaRPr>
          </a:p>
        </p:txBody>
      </p:sp>
      <p:cxnSp>
        <p:nvCxnSpPr>
          <p:cNvPr id="32" name="Straight Connector 31">
            <a:extLst>
              <a:ext uri="{FF2B5EF4-FFF2-40B4-BE49-F238E27FC236}">
                <a16:creationId xmlns:a16="http://schemas.microsoft.com/office/drawing/2014/main" id="{EE320C80-66D7-CCD9-4304-7313DACA9A71}"/>
              </a:ext>
            </a:extLst>
          </p:cNvPr>
          <p:cNvCxnSpPr/>
          <p:nvPr/>
        </p:nvCxnSpPr>
        <p:spPr>
          <a:xfrm>
            <a:off x="8167853" y="4078105"/>
            <a:ext cx="0" cy="724065"/>
          </a:xfrm>
          <a:prstGeom prst="line">
            <a:avLst/>
          </a:prstGeom>
          <a:ln w="9525">
            <a:solidFill>
              <a:srgbClr val="CCCCD4"/>
            </a:solidFill>
            <a:headEnd w="lg" len="lg"/>
            <a:tailEnd type="none" w="lg" len="lg"/>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F700E6AB-32A1-4694-06B4-965E568385D8}"/>
              </a:ext>
            </a:extLst>
          </p:cNvPr>
          <p:cNvPicPr>
            <a:picLocks noChangeAspect="1"/>
          </p:cNvPicPr>
          <p:nvPr/>
        </p:nvPicPr>
        <p:blipFill>
          <a:blip r:embed="rId8"/>
          <a:stretch>
            <a:fillRect/>
          </a:stretch>
        </p:blipFill>
        <p:spPr>
          <a:xfrm>
            <a:off x="8232734" y="4084819"/>
            <a:ext cx="1809750" cy="771525"/>
          </a:xfrm>
          <a:prstGeom prst="rect">
            <a:avLst/>
          </a:prstGeom>
        </p:spPr>
      </p:pic>
      <p:sp>
        <p:nvSpPr>
          <p:cNvPr id="35" name="Title 1">
            <a:extLst>
              <a:ext uri="{FF2B5EF4-FFF2-40B4-BE49-F238E27FC236}">
                <a16:creationId xmlns:a16="http://schemas.microsoft.com/office/drawing/2014/main" id="{5B692A54-5382-634E-0262-0C2B48F70758}"/>
              </a:ext>
            </a:extLst>
          </p:cNvPr>
          <p:cNvSpPr txBox="1">
            <a:spLocks/>
          </p:cNvSpPr>
          <p:nvPr/>
        </p:nvSpPr>
        <p:spPr>
          <a:xfrm>
            <a:off x="10165592" y="4028681"/>
            <a:ext cx="178410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1100" dirty="0">
                <a:solidFill>
                  <a:schemeClr val="tx1"/>
                </a:solidFill>
              </a:rPr>
              <a:t>Tensor </a:t>
            </a:r>
          </a:p>
          <a:p>
            <a:r>
              <a:rPr lang="en-US" sz="1100" dirty="0">
                <a:solidFill>
                  <a:schemeClr val="tx1"/>
                </a:solidFill>
              </a:rPr>
              <a:t>Factorization</a:t>
            </a:r>
          </a:p>
        </p:txBody>
      </p:sp>
      <p:sp>
        <p:nvSpPr>
          <p:cNvPr id="37" name="Title 1">
            <a:extLst>
              <a:ext uri="{FF2B5EF4-FFF2-40B4-BE49-F238E27FC236}">
                <a16:creationId xmlns:a16="http://schemas.microsoft.com/office/drawing/2014/main" id="{8272713A-F0D6-BA59-33CD-12A833B91537}"/>
              </a:ext>
            </a:extLst>
          </p:cNvPr>
          <p:cNvSpPr txBox="1">
            <a:spLocks/>
          </p:cNvSpPr>
          <p:nvPr/>
        </p:nvSpPr>
        <p:spPr>
          <a:xfrm>
            <a:off x="411162" y="1217856"/>
            <a:ext cx="2663286" cy="35409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Single &amp; Multiple Graphs</a:t>
            </a:r>
          </a:p>
        </p:txBody>
      </p:sp>
      <p:sp>
        <p:nvSpPr>
          <p:cNvPr id="39" name="Title 1">
            <a:extLst>
              <a:ext uri="{FF2B5EF4-FFF2-40B4-BE49-F238E27FC236}">
                <a16:creationId xmlns:a16="http://schemas.microsoft.com/office/drawing/2014/main" id="{97002689-EC5E-1C85-C91D-36906E22B536}"/>
              </a:ext>
            </a:extLst>
          </p:cNvPr>
          <p:cNvSpPr txBox="1">
            <a:spLocks/>
          </p:cNvSpPr>
          <p:nvPr/>
        </p:nvSpPr>
        <p:spPr>
          <a:xfrm>
            <a:off x="3219806" y="1217856"/>
            <a:ext cx="2663286" cy="35409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Subgraphs</a:t>
            </a:r>
          </a:p>
        </p:txBody>
      </p:sp>
      <p:sp>
        <p:nvSpPr>
          <p:cNvPr id="43" name="Title 1">
            <a:extLst>
              <a:ext uri="{FF2B5EF4-FFF2-40B4-BE49-F238E27FC236}">
                <a16:creationId xmlns:a16="http://schemas.microsoft.com/office/drawing/2014/main" id="{311FDF51-C57C-35B0-900D-9ABD547ECA1B}"/>
              </a:ext>
            </a:extLst>
          </p:cNvPr>
          <p:cNvSpPr txBox="1">
            <a:spLocks/>
          </p:cNvSpPr>
          <p:nvPr/>
        </p:nvSpPr>
        <p:spPr>
          <a:xfrm>
            <a:off x="6058042" y="1225828"/>
            <a:ext cx="2663286" cy="35409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Links</a:t>
            </a:r>
          </a:p>
        </p:txBody>
      </p:sp>
      <p:pic>
        <p:nvPicPr>
          <p:cNvPr id="41" name="Picture 40">
            <a:extLst>
              <a:ext uri="{FF2B5EF4-FFF2-40B4-BE49-F238E27FC236}">
                <a16:creationId xmlns:a16="http://schemas.microsoft.com/office/drawing/2014/main" id="{F6BA0B73-6252-600C-2072-CFC174FFF0C4}"/>
              </a:ext>
            </a:extLst>
          </p:cNvPr>
          <p:cNvPicPr>
            <a:picLocks noChangeAspect="1"/>
          </p:cNvPicPr>
          <p:nvPr/>
        </p:nvPicPr>
        <p:blipFill>
          <a:blip r:embed="rId9"/>
          <a:stretch>
            <a:fillRect/>
          </a:stretch>
        </p:blipFill>
        <p:spPr>
          <a:xfrm>
            <a:off x="522108" y="1795713"/>
            <a:ext cx="9957532" cy="1101116"/>
          </a:xfrm>
          <a:prstGeom prst="rect">
            <a:avLst/>
          </a:prstGeom>
        </p:spPr>
      </p:pic>
      <p:sp>
        <p:nvSpPr>
          <p:cNvPr id="44" name="Rectangle 43">
            <a:extLst>
              <a:ext uri="{FF2B5EF4-FFF2-40B4-BE49-F238E27FC236}">
                <a16:creationId xmlns:a16="http://schemas.microsoft.com/office/drawing/2014/main" id="{EEA00448-AB69-DDA9-B53A-E2EC11DE06E3}"/>
              </a:ext>
            </a:extLst>
          </p:cNvPr>
          <p:cNvSpPr/>
          <p:nvPr/>
        </p:nvSpPr>
        <p:spPr>
          <a:xfrm>
            <a:off x="8639040" y="1225828"/>
            <a:ext cx="3227612" cy="2514593"/>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5" name="Title 1">
            <a:extLst>
              <a:ext uri="{FF2B5EF4-FFF2-40B4-BE49-F238E27FC236}">
                <a16:creationId xmlns:a16="http://schemas.microsoft.com/office/drawing/2014/main" id="{098DFE20-19F4-55C7-EFED-13B32F2959EA}"/>
              </a:ext>
            </a:extLst>
          </p:cNvPr>
          <p:cNvSpPr txBox="1">
            <a:spLocks/>
          </p:cNvSpPr>
          <p:nvPr/>
        </p:nvSpPr>
        <p:spPr>
          <a:xfrm>
            <a:off x="8943517" y="1225828"/>
            <a:ext cx="2663286" cy="35409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rgbClr val="009999"/>
                </a:solidFill>
              </a:rPr>
              <a:t>Nodes</a:t>
            </a:r>
          </a:p>
        </p:txBody>
      </p:sp>
      <p:sp>
        <p:nvSpPr>
          <p:cNvPr id="42" name="Rectangle 41">
            <a:extLst>
              <a:ext uri="{FF2B5EF4-FFF2-40B4-BE49-F238E27FC236}">
                <a16:creationId xmlns:a16="http://schemas.microsoft.com/office/drawing/2014/main" id="{5A7E67F5-17A3-D716-B766-37F4A9D3F5C6}"/>
              </a:ext>
            </a:extLst>
          </p:cNvPr>
          <p:cNvSpPr/>
          <p:nvPr/>
        </p:nvSpPr>
        <p:spPr>
          <a:xfrm>
            <a:off x="5919959" y="1225828"/>
            <a:ext cx="2544131" cy="2514593"/>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8" name="Rectangle 37">
            <a:extLst>
              <a:ext uri="{FF2B5EF4-FFF2-40B4-BE49-F238E27FC236}">
                <a16:creationId xmlns:a16="http://schemas.microsoft.com/office/drawing/2014/main" id="{C0323438-ABF5-7A5A-DDCD-7B90B80EA9EF}"/>
              </a:ext>
            </a:extLst>
          </p:cNvPr>
          <p:cNvSpPr/>
          <p:nvPr/>
        </p:nvSpPr>
        <p:spPr>
          <a:xfrm>
            <a:off x="3167109" y="1217856"/>
            <a:ext cx="2577900" cy="2514593"/>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6" name="Rectangle 35">
            <a:extLst>
              <a:ext uri="{FF2B5EF4-FFF2-40B4-BE49-F238E27FC236}">
                <a16:creationId xmlns:a16="http://schemas.microsoft.com/office/drawing/2014/main" id="{94590B5C-659F-1938-7D67-8649AB1B84E5}"/>
              </a:ext>
            </a:extLst>
          </p:cNvPr>
          <p:cNvSpPr/>
          <p:nvPr/>
        </p:nvSpPr>
        <p:spPr>
          <a:xfrm>
            <a:off x="318499" y="1217856"/>
            <a:ext cx="2673661" cy="2514593"/>
          </a:xfrm>
          <a:prstGeom prst="rect">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6" name="Title 1">
            <a:extLst>
              <a:ext uri="{FF2B5EF4-FFF2-40B4-BE49-F238E27FC236}">
                <a16:creationId xmlns:a16="http://schemas.microsoft.com/office/drawing/2014/main" id="{DA2F2E2F-876A-BB64-B866-8F0523312CCC}"/>
              </a:ext>
            </a:extLst>
          </p:cNvPr>
          <p:cNvSpPr txBox="1">
            <a:spLocks/>
          </p:cNvSpPr>
          <p:nvPr/>
        </p:nvSpPr>
        <p:spPr>
          <a:xfrm>
            <a:off x="433008" y="3112624"/>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171450" indent="-171450">
              <a:buFont typeface="Arial" panose="020B0604020202020204" pitchFamily="34" charset="0"/>
              <a:buChar char="•"/>
            </a:pPr>
            <a:r>
              <a:rPr lang="en-US" altLang="zh-CN" sz="1100" dirty="0">
                <a:solidFill>
                  <a:schemeClr val="tx1"/>
                </a:solidFill>
              </a:rPr>
              <a:t>Classification</a:t>
            </a:r>
          </a:p>
          <a:p>
            <a:pPr marL="171450" indent="-171450">
              <a:buFont typeface="Arial" panose="020B0604020202020204" pitchFamily="34" charset="0"/>
              <a:buChar char="•"/>
            </a:pPr>
            <a:r>
              <a:rPr lang="en-US" sz="1100" dirty="0">
                <a:solidFill>
                  <a:schemeClr val="tx1"/>
                </a:solidFill>
              </a:rPr>
              <a:t>Clustering</a:t>
            </a:r>
          </a:p>
          <a:p>
            <a:pPr marL="171450" indent="-171450">
              <a:buFont typeface="Arial" panose="020B0604020202020204" pitchFamily="34" charset="0"/>
              <a:buChar char="•"/>
            </a:pPr>
            <a:r>
              <a:rPr lang="en-US" sz="1100" dirty="0">
                <a:solidFill>
                  <a:schemeClr val="tx1"/>
                </a:solidFill>
              </a:rPr>
              <a:t>Generation (hard and soft constraints)</a:t>
            </a:r>
          </a:p>
          <a:p>
            <a:pPr marL="171450" indent="-171450">
              <a:buFont typeface="Arial" panose="020B0604020202020204" pitchFamily="34" charset="0"/>
              <a:buChar char="•"/>
            </a:pPr>
            <a:r>
              <a:rPr lang="en-US" sz="1100" dirty="0">
                <a:solidFill>
                  <a:schemeClr val="tx1"/>
                </a:solidFill>
              </a:rPr>
              <a:t>Similarity / Matching</a:t>
            </a:r>
            <a:r>
              <a:rPr lang="zh-CN" altLang="en-US" sz="1100" dirty="0">
                <a:solidFill>
                  <a:schemeClr val="tx1"/>
                </a:solidFill>
              </a:rPr>
              <a:t> </a:t>
            </a:r>
            <a:endParaRPr lang="en-US" sz="1100" dirty="0">
              <a:solidFill>
                <a:schemeClr val="tx1"/>
              </a:solidFill>
            </a:endParaRPr>
          </a:p>
        </p:txBody>
      </p:sp>
      <p:sp>
        <p:nvSpPr>
          <p:cNvPr id="47" name="Title 1">
            <a:extLst>
              <a:ext uri="{FF2B5EF4-FFF2-40B4-BE49-F238E27FC236}">
                <a16:creationId xmlns:a16="http://schemas.microsoft.com/office/drawing/2014/main" id="{3D31046A-2D6D-034C-F9EF-C0B142CC04AD}"/>
              </a:ext>
            </a:extLst>
          </p:cNvPr>
          <p:cNvSpPr txBox="1">
            <a:spLocks/>
          </p:cNvSpPr>
          <p:nvPr/>
        </p:nvSpPr>
        <p:spPr>
          <a:xfrm>
            <a:off x="3279324" y="3097415"/>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171450" indent="-171450">
              <a:buFont typeface="Arial" panose="020B0604020202020204" pitchFamily="34" charset="0"/>
              <a:buChar char="•"/>
            </a:pPr>
            <a:r>
              <a:rPr lang="en-US" altLang="zh-CN" sz="1100" dirty="0">
                <a:solidFill>
                  <a:schemeClr val="tx1"/>
                </a:solidFill>
              </a:rPr>
              <a:t>Frequent subgraph mining</a:t>
            </a:r>
          </a:p>
          <a:p>
            <a:pPr marL="171450" indent="-171450">
              <a:buFont typeface="Arial" panose="020B0604020202020204" pitchFamily="34" charset="0"/>
              <a:buChar char="•"/>
            </a:pPr>
            <a:r>
              <a:rPr lang="en-US" sz="1100" dirty="0">
                <a:solidFill>
                  <a:schemeClr val="tx1"/>
                </a:solidFill>
              </a:rPr>
              <a:t>Anomalous subgraph patterns</a:t>
            </a:r>
          </a:p>
          <a:p>
            <a:pPr marL="171450" indent="-171450">
              <a:buFont typeface="Arial" panose="020B0604020202020204" pitchFamily="34" charset="0"/>
              <a:buChar char="•"/>
            </a:pPr>
            <a:r>
              <a:rPr lang="en-US" sz="1100" dirty="0">
                <a:solidFill>
                  <a:schemeClr val="tx1"/>
                </a:solidFill>
              </a:rPr>
              <a:t>Classification</a:t>
            </a:r>
          </a:p>
          <a:p>
            <a:pPr marL="171450" indent="-171450">
              <a:buFont typeface="Arial" panose="020B0604020202020204" pitchFamily="34" charset="0"/>
              <a:buChar char="•"/>
            </a:pPr>
            <a:r>
              <a:rPr lang="en-US" sz="1100" dirty="0">
                <a:solidFill>
                  <a:schemeClr val="tx1"/>
                </a:solidFill>
              </a:rPr>
              <a:t>Clustering</a:t>
            </a:r>
          </a:p>
        </p:txBody>
      </p:sp>
      <p:sp>
        <p:nvSpPr>
          <p:cNvPr id="48" name="Title 1">
            <a:extLst>
              <a:ext uri="{FF2B5EF4-FFF2-40B4-BE49-F238E27FC236}">
                <a16:creationId xmlns:a16="http://schemas.microsoft.com/office/drawing/2014/main" id="{2F595086-1E07-2C5C-48B0-CD7E6CF9C633}"/>
              </a:ext>
            </a:extLst>
          </p:cNvPr>
          <p:cNvSpPr txBox="1">
            <a:spLocks/>
          </p:cNvSpPr>
          <p:nvPr/>
        </p:nvSpPr>
        <p:spPr>
          <a:xfrm>
            <a:off x="6024093" y="3076287"/>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171450" indent="-171450">
              <a:buFont typeface="Arial" panose="020B0604020202020204" pitchFamily="34" charset="0"/>
              <a:buChar char="•"/>
            </a:pPr>
            <a:r>
              <a:rPr lang="en-US" altLang="zh-CN" sz="1100" dirty="0">
                <a:solidFill>
                  <a:schemeClr val="tx1"/>
                </a:solidFill>
              </a:rPr>
              <a:t>Link prediction (latent / missing links, future links)</a:t>
            </a:r>
          </a:p>
          <a:p>
            <a:pPr marL="171450" indent="-171450">
              <a:buFont typeface="Arial" panose="020B0604020202020204" pitchFamily="34" charset="0"/>
              <a:buChar char="•"/>
            </a:pPr>
            <a:r>
              <a:rPr lang="en-US" sz="1100" dirty="0">
                <a:solidFill>
                  <a:schemeClr val="tx1"/>
                </a:solidFill>
              </a:rPr>
              <a:t>Classification</a:t>
            </a:r>
          </a:p>
          <a:p>
            <a:pPr marL="171450" indent="-171450">
              <a:buFont typeface="Arial" panose="020B0604020202020204" pitchFamily="34" charset="0"/>
              <a:buChar char="•"/>
            </a:pPr>
            <a:r>
              <a:rPr lang="en-US" sz="1100" dirty="0">
                <a:solidFill>
                  <a:schemeClr val="tx1"/>
                </a:solidFill>
              </a:rPr>
              <a:t>Clustering</a:t>
            </a:r>
          </a:p>
        </p:txBody>
      </p:sp>
      <p:sp>
        <p:nvSpPr>
          <p:cNvPr id="49" name="Title 1">
            <a:extLst>
              <a:ext uri="{FF2B5EF4-FFF2-40B4-BE49-F238E27FC236}">
                <a16:creationId xmlns:a16="http://schemas.microsoft.com/office/drawing/2014/main" id="{81FB006C-D33D-4F55-32E0-D1BC51A584B2}"/>
              </a:ext>
            </a:extLst>
          </p:cNvPr>
          <p:cNvSpPr txBox="1">
            <a:spLocks/>
          </p:cNvSpPr>
          <p:nvPr/>
        </p:nvSpPr>
        <p:spPr>
          <a:xfrm>
            <a:off x="8791513" y="3054602"/>
            <a:ext cx="2663286"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171450" indent="-171450">
              <a:buFont typeface="Arial" panose="020B0604020202020204" pitchFamily="34" charset="0"/>
              <a:buChar char="•"/>
            </a:pPr>
            <a:r>
              <a:rPr lang="en-US" sz="1100" dirty="0">
                <a:solidFill>
                  <a:schemeClr val="tx1"/>
                </a:solidFill>
              </a:rPr>
              <a:t>Classification</a:t>
            </a:r>
          </a:p>
          <a:p>
            <a:pPr marL="171450" indent="-171450">
              <a:buFont typeface="Arial" panose="020B0604020202020204" pitchFamily="34" charset="0"/>
              <a:buChar char="•"/>
            </a:pPr>
            <a:r>
              <a:rPr lang="en-US" sz="1100" dirty="0">
                <a:solidFill>
                  <a:schemeClr val="tx1"/>
                </a:solidFill>
              </a:rPr>
              <a:t>Attribution inference</a:t>
            </a:r>
          </a:p>
          <a:p>
            <a:pPr marL="171450" indent="-171450">
              <a:buFont typeface="Arial" panose="020B0604020202020204" pitchFamily="34" charset="0"/>
              <a:buChar char="•"/>
            </a:pPr>
            <a:r>
              <a:rPr lang="en-US" sz="1100" dirty="0">
                <a:solidFill>
                  <a:schemeClr val="tx1"/>
                </a:solidFill>
              </a:rPr>
              <a:t>Similarity</a:t>
            </a:r>
          </a:p>
          <a:p>
            <a:pPr marL="171450" indent="-171450">
              <a:buFont typeface="Arial" panose="020B0604020202020204" pitchFamily="34" charset="0"/>
              <a:buChar char="•"/>
            </a:pPr>
            <a:r>
              <a:rPr lang="en-US" sz="1100" dirty="0">
                <a:solidFill>
                  <a:schemeClr val="tx1"/>
                </a:solidFill>
              </a:rPr>
              <a:t>Clustering</a:t>
            </a:r>
          </a:p>
          <a:p>
            <a:pPr marL="171450" indent="-171450">
              <a:buFont typeface="Arial" panose="020B0604020202020204" pitchFamily="34" charset="0"/>
              <a:buChar char="•"/>
            </a:pPr>
            <a:r>
              <a:rPr lang="en-US" sz="1100" dirty="0">
                <a:solidFill>
                  <a:schemeClr val="tx1"/>
                </a:solidFill>
              </a:rPr>
              <a:t>Anomaly detection</a:t>
            </a:r>
          </a:p>
        </p:txBody>
      </p:sp>
    </p:spTree>
    <p:extLst>
      <p:ext uri="{BB962C8B-B14F-4D97-AF65-F5344CB8AC3E}">
        <p14:creationId xmlns:p14="http://schemas.microsoft.com/office/powerpoint/2010/main" val="1905068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242945"/>
            <a:ext cx="10726024" cy="576000"/>
          </a:xfrm>
        </p:spPr>
        <p:txBody>
          <a:bodyPr/>
          <a:lstStyle/>
          <a:p>
            <a:r>
              <a:rPr lang="en-US" altLang="zh-CN" sz="2800" dirty="0"/>
              <a:t>Which points can be our advantages and highlights?</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9</a:t>
            </a:fld>
            <a:endParaRPr lang="en-US" dirty="0"/>
          </a:p>
        </p:txBody>
      </p:sp>
      <p:sp>
        <p:nvSpPr>
          <p:cNvPr id="10" name="Title 1">
            <a:extLst>
              <a:ext uri="{FF2B5EF4-FFF2-40B4-BE49-F238E27FC236}">
                <a16:creationId xmlns:a16="http://schemas.microsoft.com/office/drawing/2014/main" id="{499B3F47-90BF-9F33-E3C5-8831DE771AE6}"/>
              </a:ext>
            </a:extLst>
          </p:cNvPr>
          <p:cNvSpPr txBox="1">
            <a:spLocks/>
          </p:cNvSpPr>
          <p:nvPr/>
        </p:nvSpPr>
        <p:spPr>
          <a:xfrm>
            <a:off x="4623192" y="2700872"/>
            <a:ext cx="2373508"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2800" dirty="0">
                <a:solidFill>
                  <a:srgbClr val="009999"/>
                </a:solidFill>
              </a:rPr>
              <a:t>Domain Know-how</a:t>
            </a:r>
          </a:p>
        </p:txBody>
      </p:sp>
      <p:sp>
        <p:nvSpPr>
          <p:cNvPr id="11" name="Title 1">
            <a:extLst>
              <a:ext uri="{FF2B5EF4-FFF2-40B4-BE49-F238E27FC236}">
                <a16:creationId xmlns:a16="http://schemas.microsoft.com/office/drawing/2014/main" id="{BE171482-1BE5-9472-5F78-A3EF7611B069}"/>
              </a:ext>
            </a:extLst>
          </p:cNvPr>
          <p:cNvSpPr txBox="1">
            <a:spLocks/>
          </p:cNvSpPr>
          <p:nvPr/>
        </p:nvSpPr>
        <p:spPr>
          <a:xfrm>
            <a:off x="2793732" y="3429000"/>
            <a:ext cx="2373508"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dirty="0">
                <a:solidFill>
                  <a:srgbClr val="009999"/>
                </a:solidFill>
              </a:rPr>
              <a:t>Data </a:t>
            </a:r>
            <a:r>
              <a:rPr lang="en-US" altLang="zh-CN" dirty="0">
                <a:solidFill>
                  <a:srgbClr val="009999"/>
                </a:solidFill>
              </a:rPr>
              <a:t>Access</a:t>
            </a:r>
            <a:endParaRPr lang="en-US" dirty="0">
              <a:solidFill>
                <a:srgbClr val="009999"/>
              </a:solidFill>
            </a:endParaRPr>
          </a:p>
        </p:txBody>
      </p:sp>
      <p:sp>
        <p:nvSpPr>
          <p:cNvPr id="13" name="Title 1">
            <a:extLst>
              <a:ext uri="{FF2B5EF4-FFF2-40B4-BE49-F238E27FC236}">
                <a16:creationId xmlns:a16="http://schemas.microsoft.com/office/drawing/2014/main" id="{511B90DD-2B52-3AE5-7E22-374B927532BE}"/>
              </a:ext>
            </a:extLst>
          </p:cNvPr>
          <p:cNvSpPr txBox="1">
            <a:spLocks/>
          </p:cNvSpPr>
          <p:nvPr/>
        </p:nvSpPr>
        <p:spPr>
          <a:xfrm>
            <a:off x="3293652" y="2836745"/>
            <a:ext cx="2373508"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Efficient</a:t>
            </a:r>
            <a:endParaRPr lang="en-US" dirty="0">
              <a:solidFill>
                <a:srgbClr val="009999"/>
              </a:solidFill>
            </a:endParaRPr>
          </a:p>
        </p:txBody>
      </p:sp>
      <p:sp>
        <p:nvSpPr>
          <p:cNvPr id="14" name="Title 1">
            <a:extLst>
              <a:ext uri="{FF2B5EF4-FFF2-40B4-BE49-F238E27FC236}">
                <a16:creationId xmlns:a16="http://schemas.microsoft.com/office/drawing/2014/main" id="{8F886C71-B4F0-B41E-8A55-51B52C6F13B8}"/>
              </a:ext>
            </a:extLst>
          </p:cNvPr>
          <p:cNvSpPr txBox="1">
            <a:spLocks/>
          </p:cNvSpPr>
          <p:nvPr/>
        </p:nvSpPr>
        <p:spPr>
          <a:xfrm>
            <a:off x="6600218" y="2124872"/>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Contextualized Template</a:t>
            </a:r>
            <a:endParaRPr lang="en-US" dirty="0">
              <a:solidFill>
                <a:srgbClr val="009999"/>
              </a:solidFill>
            </a:endParaRPr>
          </a:p>
        </p:txBody>
      </p:sp>
      <p:sp>
        <p:nvSpPr>
          <p:cNvPr id="15" name="Title 1">
            <a:extLst>
              <a:ext uri="{FF2B5EF4-FFF2-40B4-BE49-F238E27FC236}">
                <a16:creationId xmlns:a16="http://schemas.microsoft.com/office/drawing/2014/main" id="{092F3687-62B8-6BD8-5A96-671A7A41B73A}"/>
              </a:ext>
            </a:extLst>
          </p:cNvPr>
          <p:cNvSpPr txBox="1">
            <a:spLocks/>
          </p:cNvSpPr>
          <p:nvPr/>
        </p:nvSpPr>
        <p:spPr>
          <a:xfrm>
            <a:off x="5418691" y="3419974"/>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Up-to date</a:t>
            </a:r>
            <a:endParaRPr lang="en-US" dirty="0">
              <a:solidFill>
                <a:srgbClr val="009999"/>
              </a:solidFill>
            </a:endParaRPr>
          </a:p>
        </p:txBody>
      </p:sp>
      <p:sp>
        <p:nvSpPr>
          <p:cNvPr id="16" name="Title 1">
            <a:extLst>
              <a:ext uri="{FF2B5EF4-FFF2-40B4-BE49-F238E27FC236}">
                <a16:creationId xmlns:a16="http://schemas.microsoft.com/office/drawing/2014/main" id="{DB81EDF6-B2FB-F69C-04A3-59B28C1215B1}"/>
              </a:ext>
            </a:extLst>
          </p:cNvPr>
          <p:cNvSpPr txBox="1">
            <a:spLocks/>
          </p:cNvSpPr>
          <p:nvPr/>
        </p:nvSpPr>
        <p:spPr>
          <a:xfrm>
            <a:off x="6996700" y="3637323"/>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Easy to use</a:t>
            </a:r>
            <a:endParaRPr lang="en-US" dirty="0">
              <a:solidFill>
                <a:srgbClr val="009999"/>
              </a:solidFill>
            </a:endParaRPr>
          </a:p>
        </p:txBody>
      </p:sp>
      <p:sp>
        <p:nvSpPr>
          <p:cNvPr id="18" name="Title 1">
            <a:extLst>
              <a:ext uri="{FF2B5EF4-FFF2-40B4-BE49-F238E27FC236}">
                <a16:creationId xmlns:a16="http://schemas.microsoft.com/office/drawing/2014/main" id="{4E7857A9-DC9E-1D6B-5044-3EE6636A93D5}"/>
              </a:ext>
            </a:extLst>
          </p:cNvPr>
          <p:cNvSpPr txBox="1">
            <a:spLocks/>
          </p:cNvSpPr>
          <p:nvPr/>
        </p:nvSpPr>
        <p:spPr>
          <a:xfrm>
            <a:off x="3003032" y="1769473"/>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Materials </a:t>
            </a:r>
            <a:endParaRPr lang="en-US" dirty="0">
              <a:solidFill>
                <a:srgbClr val="009999"/>
              </a:solidFill>
            </a:endParaRPr>
          </a:p>
        </p:txBody>
      </p:sp>
      <p:sp>
        <p:nvSpPr>
          <p:cNvPr id="19" name="Title 1">
            <a:extLst>
              <a:ext uri="{FF2B5EF4-FFF2-40B4-BE49-F238E27FC236}">
                <a16:creationId xmlns:a16="http://schemas.microsoft.com/office/drawing/2014/main" id="{3D636301-69A4-7E93-9625-B9918D77DBE2}"/>
              </a:ext>
            </a:extLst>
          </p:cNvPr>
          <p:cNvSpPr txBox="1">
            <a:spLocks/>
          </p:cNvSpPr>
          <p:nvPr/>
        </p:nvSpPr>
        <p:spPr>
          <a:xfrm>
            <a:off x="4480405" y="1458164"/>
            <a:ext cx="3893033"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Integrated Foundation</a:t>
            </a:r>
            <a:endParaRPr lang="en-US" dirty="0">
              <a:solidFill>
                <a:srgbClr val="009999"/>
              </a:solidFill>
            </a:endParaRPr>
          </a:p>
        </p:txBody>
      </p:sp>
      <p:sp>
        <p:nvSpPr>
          <p:cNvPr id="20" name="Title 1">
            <a:extLst>
              <a:ext uri="{FF2B5EF4-FFF2-40B4-BE49-F238E27FC236}">
                <a16:creationId xmlns:a16="http://schemas.microsoft.com/office/drawing/2014/main" id="{8C55DBDD-630E-4F35-A88C-55B02046F52C}"/>
              </a:ext>
            </a:extLst>
          </p:cNvPr>
          <p:cNvSpPr txBox="1">
            <a:spLocks/>
          </p:cNvSpPr>
          <p:nvPr/>
        </p:nvSpPr>
        <p:spPr>
          <a:xfrm>
            <a:off x="7573373" y="2845771"/>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Machine experience</a:t>
            </a:r>
            <a:endParaRPr lang="en-US" dirty="0">
              <a:solidFill>
                <a:srgbClr val="009999"/>
              </a:solidFill>
            </a:endParaRPr>
          </a:p>
        </p:txBody>
      </p:sp>
      <p:sp>
        <p:nvSpPr>
          <p:cNvPr id="21" name="Title 1">
            <a:extLst>
              <a:ext uri="{FF2B5EF4-FFF2-40B4-BE49-F238E27FC236}">
                <a16:creationId xmlns:a16="http://schemas.microsoft.com/office/drawing/2014/main" id="{C613BF9F-3A89-A27B-64B2-EB826C76013A}"/>
              </a:ext>
            </a:extLst>
          </p:cNvPr>
          <p:cNvSpPr txBox="1">
            <a:spLocks/>
          </p:cNvSpPr>
          <p:nvPr/>
        </p:nvSpPr>
        <p:spPr>
          <a:xfrm>
            <a:off x="2569145" y="2322164"/>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Ecosystem</a:t>
            </a:r>
            <a:endParaRPr lang="en-US" dirty="0">
              <a:solidFill>
                <a:srgbClr val="009999"/>
              </a:solidFill>
            </a:endParaRPr>
          </a:p>
        </p:txBody>
      </p:sp>
      <p:sp>
        <p:nvSpPr>
          <p:cNvPr id="22" name="Title 1">
            <a:extLst>
              <a:ext uri="{FF2B5EF4-FFF2-40B4-BE49-F238E27FC236}">
                <a16:creationId xmlns:a16="http://schemas.microsoft.com/office/drawing/2014/main" id="{683E2AB0-C1D0-A319-3162-D7EA16A55130}"/>
              </a:ext>
            </a:extLst>
          </p:cNvPr>
          <p:cNvSpPr txBox="1">
            <a:spLocks/>
          </p:cNvSpPr>
          <p:nvPr/>
        </p:nvSpPr>
        <p:spPr>
          <a:xfrm>
            <a:off x="4368362" y="3943581"/>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rgbClr val="009999"/>
                </a:solidFill>
              </a:rPr>
              <a:t>Commissioning</a:t>
            </a:r>
            <a:endParaRPr lang="en-US" dirty="0">
              <a:solidFill>
                <a:srgbClr val="009999"/>
              </a:solidFill>
            </a:endParaRPr>
          </a:p>
        </p:txBody>
      </p:sp>
    </p:spTree>
    <p:extLst>
      <p:ext uri="{BB962C8B-B14F-4D97-AF65-F5344CB8AC3E}">
        <p14:creationId xmlns:p14="http://schemas.microsoft.com/office/powerpoint/2010/main" val="163367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fltVal val="0"/>
                                          </p:val>
                                        </p:tav>
                                        <p:tav tm="100000">
                                          <p:val>
                                            <p:strVal val="#ppt_w"/>
                                          </p:val>
                                        </p:tav>
                                      </p:tavLst>
                                    </p:anim>
                                    <p:anim calcmode="lin" valueType="num">
                                      <p:cBhvr>
                                        <p:cTn id="44" dur="500" fill="hold"/>
                                        <p:tgtEl>
                                          <p:spTgt spid="18"/>
                                        </p:tgtEl>
                                        <p:attrNameLst>
                                          <p:attrName>ppt_h</p:attrName>
                                        </p:attrNameLst>
                                      </p:cBhvr>
                                      <p:tavLst>
                                        <p:tav tm="0">
                                          <p:val>
                                            <p:fltVal val="0"/>
                                          </p:val>
                                        </p:tav>
                                        <p:tav tm="100000">
                                          <p:val>
                                            <p:strVal val="#ppt_h"/>
                                          </p:val>
                                        </p:tav>
                                      </p:tavLst>
                                    </p:anim>
                                    <p:animEffect transition="in" filter="fade">
                                      <p:cBhvr>
                                        <p:cTn id="45" dur="500"/>
                                        <p:tgtEl>
                                          <p:spTgt spid="18"/>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p:cTn id="49" dur="500" fill="hold"/>
                                        <p:tgtEl>
                                          <p:spTgt spid="19"/>
                                        </p:tgtEl>
                                        <p:attrNameLst>
                                          <p:attrName>ppt_w</p:attrName>
                                        </p:attrNameLst>
                                      </p:cBhvr>
                                      <p:tavLst>
                                        <p:tav tm="0">
                                          <p:val>
                                            <p:fltVal val="0"/>
                                          </p:val>
                                        </p:tav>
                                        <p:tav tm="100000">
                                          <p:val>
                                            <p:strVal val="#ppt_w"/>
                                          </p:val>
                                        </p:tav>
                                      </p:tavLst>
                                    </p:anim>
                                    <p:anim calcmode="lin" valueType="num">
                                      <p:cBhvr>
                                        <p:cTn id="50" dur="500" fill="hold"/>
                                        <p:tgtEl>
                                          <p:spTgt spid="19"/>
                                        </p:tgtEl>
                                        <p:attrNameLst>
                                          <p:attrName>ppt_h</p:attrName>
                                        </p:attrNameLst>
                                      </p:cBhvr>
                                      <p:tavLst>
                                        <p:tav tm="0">
                                          <p:val>
                                            <p:fltVal val="0"/>
                                          </p:val>
                                        </p:tav>
                                        <p:tav tm="100000">
                                          <p:val>
                                            <p:strVal val="#ppt_h"/>
                                          </p:val>
                                        </p:tav>
                                      </p:tavLst>
                                    </p:anim>
                                    <p:animEffect transition="in" filter="fade">
                                      <p:cBhvr>
                                        <p:cTn id="51" dur="500"/>
                                        <p:tgtEl>
                                          <p:spTgt spid="19"/>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p:cTn id="55" dur="500" fill="hold"/>
                                        <p:tgtEl>
                                          <p:spTgt spid="20"/>
                                        </p:tgtEl>
                                        <p:attrNameLst>
                                          <p:attrName>ppt_w</p:attrName>
                                        </p:attrNameLst>
                                      </p:cBhvr>
                                      <p:tavLst>
                                        <p:tav tm="0">
                                          <p:val>
                                            <p:fltVal val="0"/>
                                          </p:val>
                                        </p:tav>
                                        <p:tav tm="100000">
                                          <p:val>
                                            <p:strVal val="#ppt_w"/>
                                          </p:val>
                                        </p:tav>
                                      </p:tavLst>
                                    </p:anim>
                                    <p:anim calcmode="lin" valueType="num">
                                      <p:cBhvr>
                                        <p:cTn id="56" dur="500" fill="hold"/>
                                        <p:tgtEl>
                                          <p:spTgt spid="20"/>
                                        </p:tgtEl>
                                        <p:attrNameLst>
                                          <p:attrName>ppt_h</p:attrName>
                                        </p:attrNameLst>
                                      </p:cBhvr>
                                      <p:tavLst>
                                        <p:tav tm="0">
                                          <p:val>
                                            <p:fltVal val="0"/>
                                          </p:val>
                                        </p:tav>
                                        <p:tav tm="100000">
                                          <p:val>
                                            <p:strVal val="#ppt_h"/>
                                          </p:val>
                                        </p:tav>
                                      </p:tavLst>
                                    </p:anim>
                                    <p:animEffect transition="in" filter="fade">
                                      <p:cBhvr>
                                        <p:cTn id="57" dur="500"/>
                                        <p:tgtEl>
                                          <p:spTgt spid="20"/>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p:cTn id="61" dur="500" fill="hold"/>
                                        <p:tgtEl>
                                          <p:spTgt spid="21"/>
                                        </p:tgtEl>
                                        <p:attrNameLst>
                                          <p:attrName>ppt_w</p:attrName>
                                        </p:attrNameLst>
                                      </p:cBhvr>
                                      <p:tavLst>
                                        <p:tav tm="0">
                                          <p:val>
                                            <p:fltVal val="0"/>
                                          </p:val>
                                        </p:tav>
                                        <p:tav tm="100000">
                                          <p:val>
                                            <p:strVal val="#ppt_w"/>
                                          </p:val>
                                        </p:tav>
                                      </p:tavLst>
                                    </p:anim>
                                    <p:anim calcmode="lin" valueType="num">
                                      <p:cBhvr>
                                        <p:cTn id="62" dur="500" fill="hold"/>
                                        <p:tgtEl>
                                          <p:spTgt spid="21"/>
                                        </p:tgtEl>
                                        <p:attrNameLst>
                                          <p:attrName>ppt_h</p:attrName>
                                        </p:attrNameLst>
                                      </p:cBhvr>
                                      <p:tavLst>
                                        <p:tav tm="0">
                                          <p:val>
                                            <p:fltVal val="0"/>
                                          </p:val>
                                        </p:tav>
                                        <p:tav tm="100000">
                                          <p:val>
                                            <p:strVal val="#ppt_h"/>
                                          </p:val>
                                        </p:tav>
                                      </p:tavLst>
                                    </p:anim>
                                    <p:animEffect transition="in" filter="fade">
                                      <p:cBhvr>
                                        <p:cTn id="63" dur="500"/>
                                        <p:tgtEl>
                                          <p:spTgt spid="21"/>
                                        </p:tgtEl>
                                      </p:cBhvr>
                                    </p:animEffect>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p:cTn id="67" dur="500" fill="hold"/>
                                        <p:tgtEl>
                                          <p:spTgt spid="22"/>
                                        </p:tgtEl>
                                        <p:attrNameLst>
                                          <p:attrName>ppt_w</p:attrName>
                                        </p:attrNameLst>
                                      </p:cBhvr>
                                      <p:tavLst>
                                        <p:tav tm="0">
                                          <p:val>
                                            <p:fltVal val="0"/>
                                          </p:val>
                                        </p:tav>
                                        <p:tav tm="100000">
                                          <p:val>
                                            <p:strVal val="#ppt_w"/>
                                          </p:val>
                                        </p:tav>
                                      </p:tavLst>
                                    </p:anim>
                                    <p:anim calcmode="lin" valueType="num">
                                      <p:cBhvr>
                                        <p:cTn id="68" dur="500" fill="hold"/>
                                        <p:tgtEl>
                                          <p:spTgt spid="22"/>
                                        </p:tgtEl>
                                        <p:attrNameLst>
                                          <p:attrName>ppt_h</p:attrName>
                                        </p:attrNameLst>
                                      </p:cBhvr>
                                      <p:tavLst>
                                        <p:tav tm="0">
                                          <p:val>
                                            <p:fltVal val="0"/>
                                          </p:val>
                                        </p:tav>
                                        <p:tav tm="100000">
                                          <p:val>
                                            <p:strVal val="#ppt_h"/>
                                          </p:val>
                                        </p:tav>
                                      </p:tavLst>
                                    </p:anim>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P spid="16" grpId="0"/>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191574"/>
            <a:ext cx="10726024" cy="576000"/>
          </a:xfrm>
        </p:spPr>
        <p:txBody>
          <a:bodyPr/>
          <a:lstStyle/>
          <a:p>
            <a:r>
              <a:rPr lang="en-US" altLang="zh-CN" sz="2800" dirty="0"/>
              <a:t>Which points can be our advantages and highlights?</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10</a:t>
            </a:fld>
            <a:endParaRPr lang="en-US" dirty="0"/>
          </a:p>
        </p:txBody>
      </p:sp>
      <p:sp>
        <p:nvSpPr>
          <p:cNvPr id="23" name="Rechteck 7">
            <a:extLst>
              <a:ext uri="{FF2B5EF4-FFF2-40B4-BE49-F238E27FC236}">
                <a16:creationId xmlns:a16="http://schemas.microsoft.com/office/drawing/2014/main" id="{6A94CBDD-29D1-C9D4-F24D-C22E52522475}"/>
              </a:ext>
            </a:extLst>
          </p:cNvPr>
          <p:cNvSpPr>
            <a:spLocks/>
          </p:cNvSpPr>
          <p:nvPr/>
        </p:nvSpPr>
        <p:spPr bwMode="gray">
          <a:xfrm>
            <a:off x="735162" y="1380413"/>
            <a:ext cx="2768387" cy="1477328"/>
          </a:xfrm>
          <a:prstGeom prst="rect">
            <a:avLst/>
          </a:prstGeom>
        </p:spPr>
        <p:txBody>
          <a:bodyPr wrap="none" lIns="0" tIns="0" rIns="0" bIns="0">
            <a:spAutoFit/>
          </a:bodyPr>
          <a:lstStyle/>
          <a:p>
            <a:pPr>
              <a:spcBef>
                <a:spcPts val="0"/>
              </a:spcBef>
              <a:spcAft>
                <a:spcPts val="0"/>
              </a:spcAft>
            </a:pPr>
            <a:r>
              <a:rPr lang="en-US" altLang="zh-CN" sz="3200" dirty="0">
                <a:solidFill>
                  <a:srgbClr val="50BED7"/>
                </a:solidFill>
                <a:latin typeface="Arial"/>
                <a:ea typeface="Arial Unicode MS"/>
                <a:cs typeface="Arial Unicode MS"/>
              </a:rPr>
              <a:t>Knowledge </a:t>
            </a:r>
          </a:p>
          <a:p>
            <a:pPr>
              <a:spcBef>
                <a:spcPts val="0"/>
              </a:spcBef>
              <a:spcAft>
                <a:spcPts val="0"/>
              </a:spcAft>
            </a:pPr>
            <a:r>
              <a:rPr lang="en-US" altLang="zh-CN" sz="3200" dirty="0">
                <a:solidFill>
                  <a:srgbClr val="50BED7"/>
                </a:solidFill>
                <a:latin typeface="Arial"/>
                <a:ea typeface="Arial Unicode MS"/>
                <a:cs typeface="Arial Unicode MS"/>
              </a:rPr>
              <a:t>Source</a:t>
            </a:r>
            <a:r>
              <a:rPr lang="en-US" sz="3200" dirty="0">
                <a:solidFill>
                  <a:srgbClr val="0F8287"/>
                </a:solidFill>
                <a:latin typeface="Arial"/>
                <a:ea typeface="Arial Unicode MS"/>
                <a:cs typeface="Arial Unicode MS"/>
              </a:rPr>
              <a:t> </a:t>
            </a:r>
            <a:br>
              <a:rPr lang="en-US" sz="1600" b="1" dirty="0">
                <a:solidFill>
                  <a:srgbClr val="0F8287"/>
                </a:solidFill>
                <a:latin typeface="Arial"/>
                <a:ea typeface="Arial Unicode MS"/>
                <a:cs typeface="Arial Unicode MS"/>
              </a:rPr>
            </a:br>
            <a:r>
              <a:rPr lang="en-US" altLang="zh-CN" sz="1600" dirty="0">
                <a:solidFill>
                  <a:schemeClr val="tx1"/>
                </a:solidFill>
                <a:latin typeface="Arial"/>
                <a:ea typeface="Arial Unicode MS"/>
                <a:cs typeface="Arial Unicode MS"/>
              </a:rPr>
              <a:t>Up-to-down domain know-how</a:t>
            </a:r>
            <a:endParaRPr lang="en-US" altLang="zh-CN" sz="1600" dirty="0">
              <a:latin typeface="Arial"/>
              <a:ea typeface="Arial Unicode MS"/>
              <a:cs typeface="Arial Unicode MS"/>
            </a:endParaRPr>
          </a:p>
          <a:p>
            <a:pPr>
              <a:spcBef>
                <a:spcPts val="0"/>
              </a:spcBef>
              <a:spcAft>
                <a:spcPts val="0"/>
              </a:spcAft>
            </a:pPr>
            <a:r>
              <a:rPr lang="en-US" altLang="zh-CN" sz="1600" dirty="0">
                <a:solidFill>
                  <a:schemeClr val="tx1"/>
                </a:solidFill>
                <a:latin typeface="Arial"/>
                <a:ea typeface="Arial Unicode MS"/>
                <a:cs typeface="Arial Unicode MS"/>
              </a:rPr>
              <a:t>Standard data structure</a:t>
            </a:r>
          </a:p>
        </p:txBody>
      </p:sp>
      <p:cxnSp>
        <p:nvCxnSpPr>
          <p:cNvPr id="26" name="Gerader Verbinder 11">
            <a:extLst>
              <a:ext uri="{FF2B5EF4-FFF2-40B4-BE49-F238E27FC236}">
                <a16:creationId xmlns:a16="http://schemas.microsoft.com/office/drawing/2014/main" id="{56F32EB9-DEE4-787E-5BAE-235ED1076337}"/>
              </a:ext>
            </a:extLst>
          </p:cNvPr>
          <p:cNvCxnSpPr>
            <a:cxnSpLocks/>
          </p:cNvCxnSpPr>
          <p:nvPr/>
        </p:nvCxnSpPr>
        <p:spPr bwMode="gray">
          <a:xfrm>
            <a:off x="627063" y="2919715"/>
            <a:ext cx="3576229" cy="0"/>
          </a:xfrm>
          <a:prstGeom prst="line">
            <a:avLst/>
          </a:prstGeom>
          <a:solidFill>
            <a:schemeClr val="tx2"/>
          </a:solidFill>
          <a:ln w="381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12">
            <a:extLst>
              <a:ext uri="{FF2B5EF4-FFF2-40B4-BE49-F238E27FC236}">
                <a16:creationId xmlns:a16="http://schemas.microsoft.com/office/drawing/2014/main" id="{0CB3AF2A-216D-5DEB-A91B-1C0EDB16754B}"/>
              </a:ext>
            </a:extLst>
          </p:cNvPr>
          <p:cNvCxnSpPr>
            <a:cxnSpLocks/>
          </p:cNvCxnSpPr>
          <p:nvPr/>
        </p:nvCxnSpPr>
        <p:spPr bwMode="gray">
          <a:xfrm>
            <a:off x="4383293" y="2919715"/>
            <a:ext cx="3576229" cy="0"/>
          </a:xfrm>
          <a:prstGeom prst="line">
            <a:avLst/>
          </a:prstGeom>
          <a:solidFill>
            <a:schemeClr val="tx2"/>
          </a:solidFill>
          <a:ln w="381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13">
            <a:extLst>
              <a:ext uri="{FF2B5EF4-FFF2-40B4-BE49-F238E27FC236}">
                <a16:creationId xmlns:a16="http://schemas.microsoft.com/office/drawing/2014/main" id="{295F5570-6589-D22F-3093-97708C3C81D7}"/>
              </a:ext>
            </a:extLst>
          </p:cNvPr>
          <p:cNvCxnSpPr>
            <a:cxnSpLocks/>
          </p:cNvCxnSpPr>
          <p:nvPr/>
        </p:nvCxnSpPr>
        <p:spPr bwMode="gray">
          <a:xfrm>
            <a:off x="8139523" y="2919715"/>
            <a:ext cx="3576229" cy="0"/>
          </a:xfrm>
          <a:prstGeom prst="line">
            <a:avLst/>
          </a:prstGeom>
          <a:solidFill>
            <a:schemeClr val="tx2"/>
          </a:solidFill>
          <a:ln w="381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58" name="Grafik 99">
            <a:extLst>
              <a:ext uri="{FF2B5EF4-FFF2-40B4-BE49-F238E27FC236}">
                <a16:creationId xmlns:a16="http://schemas.microsoft.com/office/drawing/2014/main" id="{19ADD590-4A51-A1BA-42C8-DB17641083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3480" y="4511150"/>
            <a:ext cx="731360" cy="589320"/>
          </a:xfrm>
          <a:prstGeom prst="rect">
            <a:avLst/>
          </a:prstGeom>
        </p:spPr>
      </p:pic>
      <p:sp>
        <p:nvSpPr>
          <p:cNvPr id="59" name="Rechteck 7">
            <a:extLst>
              <a:ext uri="{FF2B5EF4-FFF2-40B4-BE49-F238E27FC236}">
                <a16:creationId xmlns:a16="http://schemas.microsoft.com/office/drawing/2014/main" id="{7CC713E8-1334-79E9-9017-AAEF738DB54C}"/>
              </a:ext>
            </a:extLst>
          </p:cNvPr>
          <p:cNvSpPr>
            <a:spLocks/>
          </p:cNvSpPr>
          <p:nvPr/>
        </p:nvSpPr>
        <p:spPr bwMode="gray">
          <a:xfrm>
            <a:off x="711249" y="3151614"/>
            <a:ext cx="3407856" cy="923330"/>
          </a:xfrm>
          <a:prstGeom prst="rect">
            <a:avLst/>
          </a:prstGeom>
        </p:spPr>
        <p:txBody>
          <a:bodyPr wrap="square" lIns="0" tIns="0" rIns="0" bIns="0">
            <a:spAutoFit/>
          </a:bodyPr>
          <a:lstStyle/>
          <a:p>
            <a:pPr marL="171450" indent="-171450">
              <a:spcBef>
                <a:spcPts val="0"/>
              </a:spcBef>
              <a:spcAft>
                <a:spcPts val="0"/>
              </a:spcAft>
              <a:buFontTx/>
              <a:buChar char="-"/>
            </a:pPr>
            <a:r>
              <a:rPr lang="en-US" altLang="zh-CN" sz="1200" dirty="0">
                <a:latin typeface="Arial"/>
                <a:ea typeface="Arial Unicode MS"/>
              </a:rPr>
              <a:t>Device </a:t>
            </a:r>
            <a:r>
              <a:rPr lang="en-US" altLang="zh-CN" sz="1200" dirty="0">
                <a:latin typeface="Arial"/>
                <a:ea typeface="Arial Unicode MS"/>
                <a:cs typeface="Arial Unicode MS"/>
              </a:rPr>
              <a:t>design &amp; performance parameters</a:t>
            </a:r>
          </a:p>
          <a:p>
            <a:pPr marL="171450" indent="-171450">
              <a:spcBef>
                <a:spcPts val="0"/>
              </a:spcBef>
              <a:spcAft>
                <a:spcPts val="0"/>
              </a:spcAft>
              <a:buFontTx/>
              <a:buChar char="-"/>
            </a:pPr>
            <a:r>
              <a:rPr lang="en-US" altLang="zh-CN" sz="1200" dirty="0">
                <a:latin typeface="Arial"/>
                <a:ea typeface="Arial Unicode MS"/>
                <a:cs typeface="Arial Unicode MS"/>
              </a:rPr>
              <a:t>On-site device control logic or parameters</a:t>
            </a:r>
          </a:p>
          <a:p>
            <a:pPr marL="171450" indent="-171450">
              <a:spcBef>
                <a:spcPts val="0"/>
              </a:spcBef>
              <a:spcAft>
                <a:spcPts val="0"/>
              </a:spcAft>
              <a:buFontTx/>
              <a:buChar char="-"/>
            </a:pPr>
            <a:r>
              <a:rPr lang="en-US" altLang="zh-CN" sz="1200" dirty="0">
                <a:latin typeface="Arial"/>
                <a:ea typeface="Arial Unicode MS"/>
                <a:cs typeface="Arial Unicode MS"/>
              </a:rPr>
              <a:t>ISO 15926 standard</a:t>
            </a:r>
          </a:p>
          <a:p>
            <a:pPr marL="171450" indent="-171450">
              <a:spcBef>
                <a:spcPts val="0"/>
              </a:spcBef>
              <a:spcAft>
                <a:spcPts val="0"/>
              </a:spcAft>
              <a:buFontTx/>
              <a:buChar char="-"/>
            </a:pPr>
            <a:r>
              <a:rPr lang="en-US" altLang="zh-CN" sz="1200" dirty="0">
                <a:latin typeface="Arial"/>
                <a:ea typeface="Arial Unicode MS"/>
                <a:cs typeface="Arial Unicode MS"/>
              </a:rPr>
              <a:t>Maintenance record and</a:t>
            </a:r>
            <a:r>
              <a:rPr lang="zh-CN" altLang="en-US" sz="1200" dirty="0">
                <a:latin typeface="Arial"/>
                <a:ea typeface="Arial Unicode MS"/>
                <a:cs typeface="Arial Unicode MS"/>
              </a:rPr>
              <a:t> </a:t>
            </a:r>
            <a:r>
              <a:rPr lang="en-US" altLang="zh-CN" sz="1200" dirty="0">
                <a:latin typeface="Arial"/>
                <a:ea typeface="Arial Unicode MS"/>
                <a:cs typeface="Arial Unicode MS"/>
              </a:rPr>
              <a:t>experience</a:t>
            </a:r>
          </a:p>
          <a:p>
            <a:pPr marL="171450" indent="-171450">
              <a:spcBef>
                <a:spcPts val="0"/>
              </a:spcBef>
              <a:spcAft>
                <a:spcPts val="0"/>
              </a:spcAft>
              <a:buFontTx/>
              <a:buChar char="-"/>
            </a:pPr>
            <a:r>
              <a:rPr lang="en-US" altLang="zh-CN" sz="1200" dirty="0">
                <a:latin typeface="Arial"/>
                <a:ea typeface="Arial Unicode MS"/>
                <a:cs typeface="Arial Unicode MS"/>
              </a:rPr>
              <a:t>……</a:t>
            </a:r>
          </a:p>
        </p:txBody>
      </p:sp>
      <p:sp>
        <p:nvSpPr>
          <p:cNvPr id="14" name="Rechteck 7">
            <a:extLst>
              <a:ext uri="{FF2B5EF4-FFF2-40B4-BE49-F238E27FC236}">
                <a16:creationId xmlns:a16="http://schemas.microsoft.com/office/drawing/2014/main" id="{95994FEA-9D47-1A82-F01E-CBFBB4AD2763}"/>
              </a:ext>
            </a:extLst>
          </p:cNvPr>
          <p:cNvSpPr>
            <a:spLocks/>
          </p:cNvSpPr>
          <p:nvPr/>
        </p:nvSpPr>
        <p:spPr bwMode="gray">
          <a:xfrm>
            <a:off x="4568228" y="1380413"/>
            <a:ext cx="2946319" cy="1477328"/>
          </a:xfrm>
          <a:prstGeom prst="rect">
            <a:avLst/>
          </a:prstGeom>
        </p:spPr>
        <p:txBody>
          <a:bodyPr wrap="none" lIns="0" tIns="0" rIns="0" bIns="0">
            <a:spAutoFit/>
          </a:bodyPr>
          <a:lstStyle/>
          <a:p>
            <a:pPr>
              <a:spcBef>
                <a:spcPts val="0"/>
              </a:spcBef>
              <a:spcAft>
                <a:spcPts val="0"/>
              </a:spcAft>
            </a:pPr>
            <a:r>
              <a:rPr lang="en-US" altLang="zh-CN" sz="3200" dirty="0">
                <a:solidFill>
                  <a:srgbClr val="50BED7"/>
                </a:solidFill>
                <a:latin typeface="Arial"/>
                <a:ea typeface="Arial Unicode MS"/>
                <a:cs typeface="Arial Unicode MS"/>
              </a:rPr>
              <a:t>Automation </a:t>
            </a:r>
          </a:p>
          <a:p>
            <a:pPr>
              <a:spcBef>
                <a:spcPts val="0"/>
              </a:spcBef>
              <a:spcAft>
                <a:spcPts val="0"/>
              </a:spcAft>
            </a:pPr>
            <a:r>
              <a:rPr lang="en-US" altLang="zh-CN" sz="3200" dirty="0">
                <a:solidFill>
                  <a:srgbClr val="50BED7"/>
                </a:solidFill>
                <a:latin typeface="Arial"/>
                <a:ea typeface="Arial Unicode MS"/>
                <a:cs typeface="Arial Unicode MS"/>
              </a:rPr>
              <a:t>Data</a:t>
            </a:r>
            <a:br>
              <a:rPr lang="en-US" sz="1600" b="1" dirty="0">
                <a:solidFill>
                  <a:srgbClr val="0F8287"/>
                </a:solidFill>
                <a:latin typeface="Arial"/>
                <a:ea typeface="Arial Unicode MS"/>
                <a:cs typeface="Arial Unicode MS"/>
              </a:rPr>
            </a:br>
            <a:r>
              <a:rPr lang="en-US" sz="1600" dirty="0">
                <a:latin typeface="Arial"/>
                <a:ea typeface="Arial Unicode MS"/>
                <a:cs typeface="Arial Unicode MS"/>
              </a:rPr>
              <a:t>Down</a:t>
            </a:r>
            <a:r>
              <a:rPr lang="en-US" altLang="zh-CN" sz="1600" dirty="0">
                <a:solidFill>
                  <a:schemeClr val="tx1"/>
                </a:solidFill>
                <a:latin typeface="Arial"/>
                <a:ea typeface="Arial Unicode MS"/>
                <a:cs typeface="Arial Unicode MS"/>
              </a:rPr>
              <a:t>-to-up smart data structure</a:t>
            </a:r>
          </a:p>
          <a:p>
            <a:pPr>
              <a:spcBef>
                <a:spcPts val="0"/>
              </a:spcBef>
              <a:spcAft>
                <a:spcPts val="0"/>
              </a:spcAft>
            </a:pPr>
            <a:r>
              <a:rPr lang="en-US" altLang="zh-CN" sz="1600" dirty="0">
                <a:latin typeface="Arial"/>
                <a:ea typeface="Arial Unicode MS"/>
                <a:cs typeface="Arial Unicode MS"/>
              </a:rPr>
              <a:t>Signal and event processing </a:t>
            </a:r>
            <a:endParaRPr lang="en-US" altLang="zh-CN" sz="1600" dirty="0">
              <a:solidFill>
                <a:schemeClr val="tx1"/>
              </a:solidFill>
              <a:latin typeface="Arial"/>
              <a:ea typeface="Arial Unicode MS"/>
              <a:cs typeface="Arial Unicode MS"/>
            </a:endParaRPr>
          </a:p>
        </p:txBody>
      </p:sp>
      <p:sp>
        <p:nvSpPr>
          <p:cNvPr id="15" name="Freeform 160">
            <a:extLst>
              <a:ext uri="{FF2B5EF4-FFF2-40B4-BE49-F238E27FC236}">
                <a16:creationId xmlns:a16="http://schemas.microsoft.com/office/drawing/2014/main" id="{D922E103-7988-2A8E-C2A5-EAC7B23A8202}"/>
              </a:ext>
            </a:extLst>
          </p:cNvPr>
          <p:cNvSpPr>
            <a:spLocks noChangeAspect="1" noEditPoints="1"/>
          </p:cNvSpPr>
          <p:nvPr/>
        </p:nvSpPr>
        <p:spPr bwMode="gray">
          <a:xfrm>
            <a:off x="4479509" y="4459198"/>
            <a:ext cx="870280" cy="636224"/>
          </a:xfrm>
          <a:custGeom>
            <a:avLst/>
            <a:gdLst>
              <a:gd name="T0" fmla="*/ 1325 w 2400"/>
              <a:gd name="T1" fmla="*/ 533 h 1480"/>
              <a:gd name="T2" fmla="*/ 1275 w 2400"/>
              <a:gd name="T3" fmla="*/ 593 h 1480"/>
              <a:gd name="T4" fmla="*/ 1225 w 2400"/>
              <a:gd name="T5" fmla="*/ 553 h 1480"/>
              <a:gd name="T6" fmla="*/ 1175 w 2400"/>
              <a:gd name="T7" fmla="*/ 613 h 1480"/>
              <a:gd name="T8" fmla="*/ 1118 w 2400"/>
              <a:gd name="T9" fmla="*/ 582 h 1480"/>
              <a:gd name="T10" fmla="*/ 1055 w 2400"/>
              <a:gd name="T11" fmla="*/ 603 h 1480"/>
              <a:gd name="T12" fmla="*/ 1105 w 2400"/>
              <a:gd name="T13" fmla="*/ 563 h 1480"/>
              <a:gd name="T14" fmla="*/ 1175 w 2400"/>
              <a:gd name="T15" fmla="*/ 573 h 1480"/>
              <a:gd name="T16" fmla="*/ 1225 w 2400"/>
              <a:gd name="T17" fmla="*/ 513 h 1480"/>
              <a:gd name="T18" fmla="*/ 1275 w 2400"/>
              <a:gd name="T19" fmla="*/ 553 h 1480"/>
              <a:gd name="T20" fmla="*/ 1420 w 2400"/>
              <a:gd name="T21" fmla="*/ 370 h 1480"/>
              <a:gd name="T22" fmla="*/ 960 w 2400"/>
              <a:gd name="T23" fmla="*/ 370 h 1480"/>
              <a:gd name="T24" fmla="*/ 1420 w 2400"/>
              <a:gd name="T25" fmla="*/ 370 h 1480"/>
              <a:gd name="T26" fmla="*/ 1000 w 2400"/>
              <a:gd name="T27" fmla="*/ 370 h 1480"/>
              <a:gd name="T28" fmla="*/ 1020 w 2400"/>
              <a:gd name="T29" fmla="*/ 450 h 1480"/>
              <a:gd name="T30" fmla="*/ 1060 w 2400"/>
              <a:gd name="T31" fmla="*/ 700 h 1480"/>
              <a:gd name="T32" fmla="*/ 1140 w 2400"/>
              <a:gd name="T33" fmla="*/ 700 h 1480"/>
              <a:gd name="T34" fmla="*/ 1220 w 2400"/>
              <a:gd name="T35" fmla="*/ 700 h 1480"/>
              <a:gd name="T36" fmla="*/ 2020 w 2400"/>
              <a:gd name="T37" fmla="*/ 270 h 1480"/>
              <a:gd name="T38" fmla="*/ 2020 w 2400"/>
              <a:gd name="T39" fmla="*/ 670 h 1480"/>
              <a:gd name="T40" fmla="*/ 2020 w 2400"/>
              <a:gd name="T41" fmla="*/ 670 h 1480"/>
              <a:gd name="T42" fmla="*/ 1700 w 2400"/>
              <a:gd name="T43" fmla="*/ 750 h 1480"/>
              <a:gd name="T44" fmla="*/ 1720 w 2400"/>
              <a:gd name="T45" fmla="*/ 770 h 1480"/>
              <a:gd name="T46" fmla="*/ 1720 w 2400"/>
              <a:gd name="T47" fmla="*/ 770 h 1480"/>
              <a:gd name="T48" fmla="*/ 1960 w 2400"/>
              <a:gd name="T49" fmla="*/ 850 h 1480"/>
              <a:gd name="T50" fmla="*/ 1840 w 2400"/>
              <a:gd name="T51" fmla="*/ 830 h 1480"/>
              <a:gd name="T52" fmla="*/ 1720 w 2400"/>
              <a:gd name="T53" fmla="*/ 550 h 1480"/>
              <a:gd name="T54" fmla="*/ 1680 w 2400"/>
              <a:gd name="T55" fmla="*/ 330 h 1480"/>
              <a:gd name="T56" fmla="*/ 1700 w 2400"/>
              <a:gd name="T57" fmla="*/ 590 h 1480"/>
              <a:gd name="T58" fmla="*/ 1720 w 2400"/>
              <a:gd name="T59" fmla="*/ 390 h 1480"/>
              <a:gd name="T60" fmla="*/ 1720 w 2400"/>
              <a:gd name="T61" fmla="*/ 490 h 1480"/>
              <a:gd name="T62" fmla="*/ 1720 w 2400"/>
              <a:gd name="T63" fmla="*/ 490 h 1480"/>
              <a:gd name="T64" fmla="*/ 1960 w 2400"/>
              <a:gd name="T65" fmla="*/ 450 h 1480"/>
              <a:gd name="T66" fmla="*/ 1840 w 2400"/>
              <a:gd name="T67" fmla="*/ 430 h 1480"/>
              <a:gd name="T68" fmla="*/ 1720 w 2400"/>
              <a:gd name="T69" fmla="*/ 590 h 1480"/>
              <a:gd name="T70" fmla="*/ 480 w 2400"/>
              <a:gd name="T71" fmla="*/ 750 h 1480"/>
              <a:gd name="T72" fmla="*/ 480 w 2400"/>
              <a:gd name="T73" fmla="*/ 750 h 1480"/>
              <a:gd name="T74" fmla="*/ 460 w 2400"/>
              <a:gd name="T75" fmla="*/ 390 h 1480"/>
              <a:gd name="T76" fmla="*/ 480 w 2400"/>
              <a:gd name="T77" fmla="*/ 430 h 1480"/>
              <a:gd name="T78" fmla="*/ 480 w 2400"/>
              <a:gd name="T79" fmla="*/ 430 h 1480"/>
              <a:gd name="T80" fmla="*/ 380 w 2400"/>
              <a:gd name="T81" fmla="*/ 950 h 1480"/>
              <a:gd name="T82" fmla="*/ 600 w 2400"/>
              <a:gd name="T83" fmla="*/ 710 h 1480"/>
              <a:gd name="T84" fmla="*/ 480 w 2400"/>
              <a:gd name="T85" fmla="*/ 630 h 1480"/>
              <a:gd name="T86" fmla="*/ 480 w 2400"/>
              <a:gd name="T87" fmla="*/ 510 h 1480"/>
              <a:gd name="T88" fmla="*/ 480 w 2400"/>
              <a:gd name="T89" fmla="*/ 510 h 1480"/>
              <a:gd name="T90" fmla="*/ 600 w 2400"/>
              <a:gd name="T91" fmla="*/ 830 h 1480"/>
              <a:gd name="T92" fmla="*/ 2020 w 2400"/>
              <a:gd name="T93" fmla="*/ 250 h 1480"/>
              <a:gd name="T94" fmla="*/ 1300 w 2400"/>
              <a:gd name="T95" fmla="*/ 700 h 1480"/>
              <a:gd name="T96" fmla="*/ 2400 w 2400"/>
              <a:gd name="T97" fmla="*/ 1400 h 1480"/>
              <a:gd name="T98" fmla="*/ 270 w 2400"/>
              <a:gd name="T99" fmla="*/ 1100 h 1480"/>
              <a:gd name="T100" fmla="*/ 270 w 2400"/>
              <a:gd name="T101" fmla="*/ 1100 h 1480"/>
              <a:gd name="T102" fmla="*/ 2130 w 2400"/>
              <a:gd name="T103" fmla="*/ 60 h 1480"/>
              <a:gd name="T104" fmla="*/ 350 w 2400"/>
              <a:gd name="T105" fmla="*/ 80 h 1480"/>
              <a:gd name="T106" fmla="*/ 350 w 2400"/>
              <a:gd name="T107" fmla="*/ 8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00" h="1480">
                <a:moveTo>
                  <a:pt x="1305" y="513"/>
                </a:moveTo>
                <a:cubicBezTo>
                  <a:pt x="1305" y="502"/>
                  <a:pt x="1314" y="493"/>
                  <a:pt x="1325" y="493"/>
                </a:cubicBezTo>
                <a:cubicBezTo>
                  <a:pt x="1336" y="493"/>
                  <a:pt x="1345" y="502"/>
                  <a:pt x="1345" y="513"/>
                </a:cubicBezTo>
                <a:cubicBezTo>
                  <a:pt x="1345" y="524"/>
                  <a:pt x="1336" y="533"/>
                  <a:pt x="1325" y="533"/>
                </a:cubicBezTo>
                <a:cubicBezTo>
                  <a:pt x="1324" y="533"/>
                  <a:pt x="1323" y="533"/>
                  <a:pt x="1322" y="533"/>
                </a:cubicBezTo>
                <a:cubicBezTo>
                  <a:pt x="1294" y="566"/>
                  <a:pt x="1294" y="566"/>
                  <a:pt x="1294" y="566"/>
                </a:cubicBezTo>
                <a:cubicBezTo>
                  <a:pt x="1295" y="568"/>
                  <a:pt x="1295" y="571"/>
                  <a:pt x="1295" y="573"/>
                </a:cubicBezTo>
                <a:cubicBezTo>
                  <a:pt x="1295" y="584"/>
                  <a:pt x="1286" y="593"/>
                  <a:pt x="1275" y="593"/>
                </a:cubicBezTo>
                <a:cubicBezTo>
                  <a:pt x="1264" y="593"/>
                  <a:pt x="1255" y="584"/>
                  <a:pt x="1255" y="573"/>
                </a:cubicBezTo>
                <a:cubicBezTo>
                  <a:pt x="1255" y="572"/>
                  <a:pt x="1255" y="571"/>
                  <a:pt x="1255" y="570"/>
                </a:cubicBezTo>
                <a:cubicBezTo>
                  <a:pt x="1232" y="552"/>
                  <a:pt x="1232" y="552"/>
                  <a:pt x="1232" y="552"/>
                </a:cubicBezTo>
                <a:cubicBezTo>
                  <a:pt x="1230" y="553"/>
                  <a:pt x="1228" y="553"/>
                  <a:pt x="1225" y="553"/>
                </a:cubicBezTo>
                <a:cubicBezTo>
                  <a:pt x="1224" y="553"/>
                  <a:pt x="1223" y="553"/>
                  <a:pt x="1222" y="553"/>
                </a:cubicBezTo>
                <a:cubicBezTo>
                  <a:pt x="1194" y="586"/>
                  <a:pt x="1194" y="586"/>
                  <a:pt x="1194" y="586"/>
                </a:cubicBezTo>
                <a:cubicBezTo>
                  <a:pt x="1195" y="588"/>
                  <a:pt x="1195" y="591"/>
                  <a:pt x="1195" y="593"/>
                </a:cubicBezTo>
                <a:cubicBezTo>
                  <a:pt x="1195" y="604"/>
                  <a:pt x="1186" y="613"/>
                  <a:pt x="1175" y="613"/>
                </a:cubicBezTo>
                <a:cubicBezTo>
                  <a:pt x="1164" y="613"/>
                  <a:pt x="1155" y="604"/>
                  <a:pt x="1155" y="593"/>
                </a:cubicBezTo>
                <a:cubicBezTo>
                  <a:pt x="1135" y="580"/>
                  <a:pt x="1135" y="580"/>
                  <a:pt x="1135" y="580"/>
                </a:cubicBezTo>
                <a:cubicBezTo>
                  <a:pt x="1132" y="582"/>
                  <a:pt x="1129" y="583"/>
                  <a:pt x="1125" y="583"/>
                </a:cubicBezTo>
                <a:cubicBezTo>
                  <a:pt x="1122" y="583"/>
                  <a:pt x="1120" y="583"/>
                  <a:pt x="1118" y="582"/>
                </a:cubicBezTo>
                <a:cubicBezTo>
                  <a:pt x="1095" y="600"/>
                  <a:pt x="1095" y="600"/>
                  <a:pt x="1095" y="600"/>
                </a:cubicBezTo>
                <a:cubicBezTo>
                  <a:pt x="1095" y="601"/>
                  <a:pt x="1095" y="602"/>
                  <a:pt x="1095" y="603"/>
                </a:cubicBezTo>
                <a:cubicBezTo>
                  <a:pt x="1095" y="614"/>
                  <a:pt x="1086" y="623"/>
                  <a:pt x="1075" y="623"/>
                </a:cubicBezTo>
                <a:cubicBezTo>
                  <a:pt x="1064" y="623"/>
                  <a:pt x="1055" y="614"/>
                  <a:pt x="1055" y="603"/>
                </a:cubicBezTo>
                <a:cubicBezTo>
                  <a:pt x="1055" y="592"/>
                  <a:pt x="1064" y="583"/>
                  <a:pt x="1075" y="583"/>
                </a:cubicBezTo>
                <a:cubicBezTo>
                  <a:pt x="1078" y="583"/>
                  <a:pt x="1080" y="583"/>
                  <a:pt x="1082" y="584"/>
                </a:cubicBezTo>
                <a:cubicBezTo>
                  <a:pt x="1105" y="566"/>
                  <a:pt x="1105" y="566"/>
                  <a:pt x="1105" y="566"/>
                </a:cubicBezTo>
                <a:cubicBezTo>
                  <a:pt x="1105" y="565"/>
                  <a:pt x="1105" y="564"/>
                  <a:pt x="1105" y="563"/>
                </a:cubicBezTo>
                <a:cubicBezTo>
                  <a:pt x="1105" y="552"/>
                  <a:pt x="1114" y="543"/>
                  <a:pt x="1125" y="543"/>
                </a:cubicBezTo>
                <a:cubicBezTo>
                  <a:pt x="1136" y="543"/>
                  <a:pt x="1145" y="552"/>
                  <a:pt x="1145" y="563"/>
                </a:cubicBezTo>
                <a:cubicBezTo>
                  <a:pt x="1165" y="576"/>
                  <a:pt x="1165" y="576"/>
                  <a:pt x="1165" y="576"/>
                </a:cubicBezTo>
                <a:cubicBezTo>
                  <a:pt x="1168" y="574"/>
                  <a:pt x="1171" y="573"/>
                  <a:pt x="1175" y="573"/>
                </a:cubicBezTo>
                <a:cubicBezTo>
                  <a:pt x="1176" y="573"/>
                  <a:pt x="1177" y="573"/>
                  <a:pt x="1178" y="573"/>
                </a:cubicBezTo>
                <a:cubicBezTo>
                  <a:pt x="1206" y="540"/>
                  <a:pt x="1206" y="540"/>
                  <a:pt x="1206" y="540"/>
                </a:cubicBezTo>
                <a:cubicBezTo>
                  <a:pt x="1205" y="538"/>
                  <a:pt x="1205" y="535"/>
                  <a:pt x="1205" y="533"/>
                </a:cubicBezTo>
                <a:cubicBezTo>
                  <a:pt x="1205" y="522"/>
                  <a:pt x="1214" y="513"/>
                  <a:pt x="1225" y="513"/>
                </a:cubicBezTo>
                <a:cubicBezTo>
                  <a:pt x="1236" y="513"/>
                  <a:pt x="1245" y="522"/>
                  <a:pt x="1245" y="533"/>
                </a:cubicBezTo>
                <a:cubicBezTo>
                  <a:pt x="1245" y="534"/>
                  <a:pt x="1245" y="535"/>
                  <a:pt x="1245" y="536"/>
                </a:cubicBezTo>
                <a:cubicBezTo>
                  <a:pt x="1268" y="554"/>
                  <a:pt x="1268" y="554"/>
                  <a:pt x="1268" y="554"/>
                </a:cubicBezTo>
                <a:cubicBezTo>
                  <a:pt x="1270" y="553"/>
                  <a:pt x="1272" y="553"/>
                  <a:pt x="1275" y="553"/>
                </a:cubicBezTo>
                <a:cubicBezTo>
                  <a:pt x="1276" y="553"/>
                  <a:pt x="1277" y="553"/>
                  <a:pt x="1278" y="553"/>
                </a:cubicBezTo>
                <a:cubicBezTo>
                  <a:pt x="1306" y="520"/>
                  <a:pt x="1306" y="520"/>
                  <a:pt x="1306" y="520"/>
                </a:cubicBezTo>
                <a:cubicBezTo>
                  <a:pt x="1305" y="518"/>
                  <a:pt x="1305" y="515"/>
                  <a:pt x="1305" y="513"/>
                </a:cubicBezTo>
                <a:close/>
                <a:moveTo>
                  <a:pt x="1420" y="370"/>
                </a:moveTo>
                <a:cubicBezTo>
                  <a:pt x="1440" y="370"/>
                  <a:pt x="1440" y="370"/>
                  <a:pt x="1440" y="370"/>
                </a:cubicBezTo>
                <a:cubicBezTo>
                  <a:pt x="1440" y="850"/>
                  <a:pt x="1440" y="850"/>
                  <a:pt x="1440" y="850"/>
                </a:cubicBezTo>
                <a:cubicBezTo>
                  <a:pt x="960" y="850"/>
                  <a:pt x="960" y="850"/>
                  <a:pt x="960" y="850"/>
                </a:cubicBezTo>
                <a:cubicBezTo>
                  <a:pt x="960" y="370"/>
                  <a:pt x="960" y="370"/>
                  <a:pt x="960" y="370"/>
                </a:cubicBezTo>
                <a:cubicBezTo>
                  <a:pt x="980" y="370"/>
                  <a:pt x="980" y="370"/>
                  <a:pt x="980" y="370"/>
                </a:cubicBezTo>
                <a:cubicBezTo>
                  <a:pt x="980" y="790"/>
                  <a:pt x="980" y="790"/>
                  <a:pt x="980" y="790"/>
                </a:cubicBezTo>
                <a:cubicBezTo>
                  <a:pt x="1420" y="790"/>
                  <a:pt x="1420" y="790"/>
                  <a:pt x="1420" y="790"/>
                </a:cubicBezTo>
                <a:lnTo>
                  <a:pt x="1420" y="370"/>
                </a:lnTo>
                <a:close/>
                <a:moveTo>
                  <a:pt x="1400" y="370"/>
                </a:moveTo>
                <a:cubicBezTo>
                  <a:pt x="1400" y="770"/>
                  <a:pt x="1400" y="770"/>
                  <a:pt x="1400" y="770"/>
                </a:cubicBezTo>
                <a:cubicBezTo>
                  <a:pt x="1000" y="770"/>
                  <a:pt x="1000" y="770"/>
                  <a:pt x="1000" y="770"/>
                </a:cubicBezTo>
                <a:cubicBezTo>
                  <a:pt x="1000" y="370"/>
                  <a:pt x="1000" y="370"/>
                  <a:pt x="1000" y="370"/>
                </a:cubicBezTo>
                <a:lnTo>
                  <a:pt x="1400" y="370"/>
                </a:lnTo>
                <a:close/>
                <a:moveTo>
                  <a:pt x="1380" y="666"/>
                </a:moveTo>
                <a:cubicBezTo>
                  <a:pt x="1380" y="450"/>
                  <a:pt x="1380" y="450"/>
                  <a:pt x="1380" y="450"/>
                </a:cubicBezTo>
                <a:cubicBezTo>
                  <a:pt x="1020" y="450"/>
                  <a:pt x="1020" y="450"/>
                  <a:pt x="1020" y="450"/>
                </a:cubicBezTo>
                <a:cubicBezTo>
                  <a:pt x="1020" y="666"/>
                  <a:pt x="1020" y="666"/>
                  <a:pt x="1020" y="666"/>
                </a:cubicBezTo>
                <a:lnTo>
                  <a:pt x="1380" y="666"/>
                </a:lnTo>
                <a:close/>
                <a:moveTo>
                  <a:pt x="1100" y="700"/>
                </a:moveTo>
                <a:cubicBezTo>
                  <a:pt x="1060" y="700"/>
                  <a:pt x="1060" y="700"/>
                  <a:pt x="1060" y="700"/>
                </a:cubicBezTo>
                <a:cubicBezTo>
                  <a:pt x="1060" y="740"/>
                  <a:pt x="1060" y="740"/>
                  <a:pt x="1060" y="740"/>
                </a:cubicBezTo>
                <a:lnTo>
                  <a:pt x="1100" y="700"/>
                </a:lnTo>
                <a:close/>
                <a:moveTo>
                  <a:pt x="1180" y="700"/>
                </a:moveTo>
                <a:cubicBezTo>
                  <a:pt x="1140" y="700"/>
                  <a:pt x="1140" y="700"/>
                  <a:pt x="1140" y="700"/>
                </a:cubicBezTo>
                <a:cubicBezTo>
                  <a:pt x="1140" y="740"/>
                  <a:pt x="1140" y="740"/>
                  <a:pt x="1140" y="740"/>
                </a:cubicBezTo>
                <a:lnTo>
                  <a:pt x="1180" y="700"/>
                </a:lnTo>
                <a:close/>
                <a:moveTo>
                  <a:pt x="1260" y="700"/>
                </a:moveTo>
                <a:cubicBezTo>
                  <a:pt x="1220" y="700"/>
                  <a:pt x="1220" y="700"/>
                  <a:pt x="1220" y="700"/>
                </a:cubicBezTo>
                <a:cubicBezTo>
                  <a:pt x="1220" y="740"/>
                  <a:pt x="1220" y="740"/>
                  <a:pt x="1220" y="740"/>
                </a:cubicBezTo>
                <a:lnTo>
                  <a:pt x="1260" y="700"/>
                </a:lnTo>
                <a:close/>
                <a:moveTo>
                  <a:pt x="1620" y="270"/>
                </a:moveTo>
                <a:cubicBezTo>
                  <a:pt x="2020" y="270"/>
                  <a:pt x="2020" y="270"/>
                  <a:pt x="2020" y="270"/>
                </a:cubicBezTo>
                <a:cubicBezTo>
                  <a:pt x="2020" y="650"/>
                  <a:pt x="2020" y="650"/>
                  <a:pt x="2020" y="650"/>
                </a:cubicBezTo>
                <a:cubicBezTo>
                  <a:pt x="1620" y="650"/>
                  <a:pt x="1620" y="650"/>
                  <a:pt x="1620" y="650"/>
                </a:cubicBezTo>
                <a:lnTo>
                  <a:pt x="1620" y="270"/>
                </a:lnTo>
                <a:close/>
                <a:moveTo>
                  <a:pt x="2020" y="670"/>
                </a:moveTo>
                <a:cubicBezTo>
                  <a:pt x="2020" y="950"/>
                  <a:pt x="2020" y="950"/>
                  <a:pt x="2020" y="950"/>
                </a:cubicBezTo>
                <a:cubicBezTo>
                  <a:pt x="1620" y="950"/>
                  <a:pt x="1620" y="950"/>
                  <a:pt x="1620" y="950"/>
                </a:cubicBezTo>
                <a:cubicBezTo>
                  <a:pt x="1620" y="670"/>
                  <a:pt x="1620" y="670"/>
                  <a:pt x="1620" y="670"/>
                </a:cubicBezTo>
                <a:lnTo>
                  <a:pt x="2020" y="670"/>
                </a:lnTo>
                <a:close/>
                <a:moveTo>
                  <a:pt x="1680" y="730"/>
                </a:moveTo>
                <a:cubicBezTo>
                  <a:pt x="1880" y="730"/>
                  <a:pt x="1880" y="730"/>
                  <a:pt x="1880" y="730"/>
                </a:cubicBezTo>
                <a:cubicBezTo>
                  <a:pt x="1880" y="750"/>
                  <a:pt x="1880" y="750"/>
                  <a:pt x="1880" y="750"/>
                </a:cubicBezTo>
                <a:cubicBezTo>
                  <a:pt x="1700" y="750"/>
                  <a:pt x="1700" y="750"/>
                  <a:pt x="1700" y="750"/>
                </a:cubicBezTo>
                <a:cubicBezTo>
                  <a:pt x="1700" y="870"/>
                  <a:pt x="1700" y="870"/>
                  <a:pt x="1700" y="870"/>
                </a:cubicBezTo>
                <a:cubicBezTo>
                  <a:pt x="1680" y="870"/>
                  <a:pt x="1680" y="870"/>
                  <a:pt x="1680" y="870"/>
                </a:cubicBezTo>
                <a:lnTo>
                  <a:pt x="1680" y="730"/>
                </a:lnTo>
                <a:close/>
                <a:moveTo>
                  <a:pt x="1720" y="770"/>
                </a:moveTo>
                <a:cubicBezTo>
                  <a:pt x="1720" y="790"/>
                  <a:pt x="1720" y="790"/>
                  <a:pt x="1720" y="790"/>
                </a:cubicBezTo>
                <a:cubicBezTo>
                  <a:pt x="1960" y="790"/>
                  <a:pt x="1960" y="790"/>
                  <a:pt x="1960" y="790"/>
                </a:cubicBezTo>
                <a:cubicBezTo>
                  <a:pt x="1960" y="770"/>
                  <a:pt x="1960" y="770"/>
                  <a:pt x="1960" y="770"/>
                </a:cubicBezTo>
                <a:lnTo>
                  <a:pt x="1720" y="770"/>
                </a:lnTo>
                <a:close/>
                <a:moveTo>
                  <a:pt x="1720" y="850"/>
                </a:moveTo>
                <a:cubicBezTo>
                  <a:pt x="1720" y="870"/>
                  <a:pt x="1720" y="870"/>
                  <a:pt x="1720" y="870"/>
                </a:cubicBezTo>
                <a:cubicBezTo>
                  <a:pt x="1960" y="870"/>
                  <a:pt x="1960" y="870"/>
                  <a:pt x="1960" y="870"/>
                </a:cubicBezTo>
                <a:cubicBezTo>
                  <a:pt x="1960" y="850"/>
                  <a:pt x="1960" y="850"/>
                  <a:pt x="1960" y="850"/>
                </a:cubicBezTo>
                <a:lnTo>
                  <a:pt x="1720" y="850"/>
                </a:lnTo>
                <a:close/>
                <a:moveTo>
                  <a:pt x="1720" y="810"/>
                </a:moveTo>
                <a:cubicBezTo>
                  <a:pt x="1720" y="830"/>
                  <a:pt x="1720" y="830"/>
                  <a:pt x="1720" y="830"/>
                </a:cubicBezTo>
                <a:cubicBezTo>
                  <a:pt x="1840" y="830"/>
                  <a:pt x="1840" y="830"/>
                  <a:pt x="1840" y="830"/>
                </a:cubicBezTo>
                <a:cubicBezTo>
                  <a:pt x="1840" y="810"/>
                  <a:pt x="1840" y="810"/>
                  <a:pt x="1840" y="810"/>
                </a:cubicBezTo>
                <a:lnTo>
                  <a:pt x="1720" y="810"/>
                </a:lnTo>
                <a:close/>
                <a:moveTo>
                  <a:pt x="1720" y="530"/>
                </a:moveTo>
                <a:cubicBezTo>
                  <a:pt x="1720" y="550"/>
                  <a:pt x="1720" y="550"/>
                  <a:pt x="1720" y="550"/>
                </a:cubicBezTo>
                <a:cubicBezTo>
                  <a:pt x="1960" y="550"/>
                  <a:pt x="1960" y="550"/>
                  <a:pt x="1960" y="550"/>
                </a:cubicBezTo>
                <a:cubicBezTo>
                  <a:pt x="1960" y="530"/>
                  <a:pt x="1960" y="530"/>
                  <a:pt x="1960" y="530"/>
                </a:cubicBezTo>
                <a:lnTo>
                  <a:pt x="1720" y="530"/>
                </a:lnTo>
                <a:close/>
                <a:moveTo>
                  <a:pt x="1680" y="330"/>
                </a:moveTo>
                <a:cubicBezTo>
                  <a:pt x="1880" y="330"/>
                  <a:pt x="1880" y="330"/>
                  <a:pt x="1880" y="330"/>
                </a:cubicBezTo>
                <a:cubicBezTo>
                  <a:pt x="1880" y="350"/>
                  <a:pt x="1880" y="350"/>
                  <a:pt x="1880" y="350"/>
                </a:cubicBezTo>
                <a:cubicBezTo>
                  <a:pt x="1700" y="350"/>
                  <a:pt x="1700" y="350"/>
                  <a:pt x="1700" y="350"/>
                </a:cubicBezTo>
                <a:cubicBezTo>
                  <a:pt x="1700" y="590"/>
                  <a:pt x="1700" y="590"/>
                  <a:pt x="1700" y="590"/>
                </a:cubicBezTo>
                <a:cubicBezTo>
                  <a:pt x="1680" y="590"/>
                  <a:pt x="1680" y="590"/>
                  <a:pt x="1680" y="590"/>
                </a:cubicBezTo>
                <a:lnTo>
                  <a:pt x="1680" y="330"/>
                </a:lnTo>
                <a:close/>
                <a:moveTo>
                  <a:pt x="1720" y="370"/>
                </a:moveTo>
                <a:cubicBezTo>
                  <a:pt x="1720" y="390"/>
                  <a:pt x="1720" y="390"/>
                  <a:pt x="1720" y="390"/>
                </a:cubicBezTo>
                <a:cubicBezTo>
                  <a:pt x="1960" y="390"/>
                  <a:pt x="1960" y="390"/>
                  <a:pt x="1960" y="390"/>
                </a:cubicBezTo>
                <a:cubicBezTo>
                  <a:pt x="1960" y="370"/>
                  <a:pt x="1960" y="370"/>
                  <a:pt x="1960" y="370"/>
                </a:cubicBezTo>
                <a:lnTo>
                  <a:pt x="1720" y="370"/>
                </a:lnTo>
                <a:close/>
                <a:moveTo>
                  <a:pt x="1720" y="490"/>
                </a:moveTo>
                <a:cubicBezTo>
                  <a:pt x="1720" y="510"/>
                  <a:pt x="1720" y="510"/>
                  <a:pt x="1720" y="510"/>
                </a:cubicBezTo>
                <a:cubicBezTo>
                  <a:pt x="1840" y="510"/>
                  <a:pt x="1840" y="510"/>
                  <a:pt x="1840" y="510"/>
                </a:cubicBezTo>
                <a:cubicBezTo>
                  <a:pt x="1840" y="490"/>
                  <a:pt x="1840" y="490"/>
                  <a:pt x="1840" y="490"/>
                </a:cubicBezTo>
                <a:lnTo>
                  <a:pt x="1720" y="490"/>
                </a:lnTo>
                <a:close/>
                <a:moveTo>
                  <a:pt x="1720" y="450"/>
                </a:moveTo>
                <a:cubicBezTo>
                  <a:pt x="1720" y="470"/>
                  <a:pt x="1720" y="470"/>
                  <a:pt x="1720" y="470"/>
                </a:cubicBezTo>
                <a:cubicBezTo>
                  <a:pt x="1960" y="470"/>
                  <a:pt x="1960" y="470"/>
                  <a:pt x="1960" y="470"/>
                </a:cubicBezTo>
                <a:cubicBezTo>
                  <a:pt x="1960" y="450"/>
                  <a:pt x="1960" y="450"/>
                  <a:pt x="1960" y="450"/>
                </a:cubicBezTo>
                <a:lnTo>
                  <a:pt x="1720" y="450"/>
                </a:lnTo>
                <a:close/>
                <a:moveTo>
                  <a:pt x="1720" y="410"/>
                </a:moveTo>
                <a:cubicBezTo>
                  <a:pt x="1720" y="430"/>
                  <a:pt x="1720" y="430"/>
                  <a:pt x="1720" y="430"/>
                </a:cubicBezTo>
                <a:cubicBezTo>
                  <a:pt x="1840" y="430"/>
                  <a:pt x="1840" y="430"/>
                  <a:pt x="1840" y="430"/>
                </a:cubicBezTo>
                <a:cubicBezTo>
                  <a:pt x="1840" y="410"/>
                  <a:pt x="1840" y="410"/>
                  <a:pt x="1840" y="410"/>
                </a:cubicBezTo>
                <a:lnTo>
                  <a:pt x="1720" y="410"/>
                </a:lnTo>
                <a:close/>
                <a:moveTo>
                  <a:pt x="1720" y="570"/>
                </a:moveTo>
                <a:cubicBezTo>
                  <a:pt x="1720" y="590"/>
                  <a:pt x="1720" y="590"/>
                  <a:pt x="1720" y="590"/>
                </a:cubicBezTo>
                <a:cubicBezTo>
                  <a:pt x="1840" y="590"/>
                  <a:pt x="1840" y="590"/>
                  <a:pt x="1840" y="590"/>
                </a:cubicBezTo>
                <a:cubicBezTo>
                  <a:pt x="1840" y="570"/>
                  <a:pt x="1840" y="570"/>
                  <a:pt x="1840" y="570"/>
                </a:cubicBezTo>
                <a:lnTo>
                  <a:pt x="1720" y="570"/>
                </a:lnTo>
                <a:close/>
                <a:moveTo>
                  <a:pt x="480" y="750"/>
                </a:moveTo>
                <a:cubicBezTo>
                  <a:pt x="480" y="790"/>
                  <a:pt x="480" y="790"/>
                  <a:pt x="480" y="790"/>
                </a:cubicBezTo>
                <a:cubicBezTo>
                  <a:pt x="720" y="790"/>
                  <a:pt x="720" y="790"/>
                  <a:pt x="720" y="790"/>
                </a:cubicBezTo>
                <a:cubicBezTo>
                  <a:pt x="720" y="750"/>
                  <a:pt x="720" y="750"/>
                  <a:pt x="720" y="750"/>
                </a:cubicBezTo>
                <a:lnTo>
                  <a:pt x="480" y="750"/>
                </a:lnTo>
                <a:close/>
                <a:moveTo>
                  <a:pt x="440" y="350"/>
                </a:moveTo>
                <a:cubicBezTo>
                  <a:pt x="640" y="350"/>
                  <a:pt x="640" y="350"/>
                  <a:pt x="640" y="350"/>
                </a:cubicBezTo>
                <a:cubicBezTo>
                  <a:pt x="640" y="390"/>
                  <a:pt x="640" y="390"/>
                  <a:pt x="640" y="390"/>
                </a:cubicBezTo>
                <a:cubicBezTo>
                  <a:pt x="460" y="390"/>
                  <a:pt x="460" y="390"/>
                  <a:pt x="460" y="390"/>
                </a:cubicBezTo>
                <a:cubicBezTo>
                  <a:pt x="460" y="870"/>
                  <a:pt x="460" y="870"/>
                  <a:pt x="460" y="870"/>
                </a:cubicBezTo>
                <a:cubicBezTo>
                  <a:pt x="440" y="870"/>
                  <a:pt x="440" y="870"/>
                  <a:pt x="440" y="870"/>
                </a:cubicBezTo>
                <a:lnTo>
                  <a:pt x="440" y="350"/>
                </a:lnTo>
                <a:close/>
                <a:moveTo>
                  <a:pt x="480" y="430"/>
                </a:moveTo>
                <a:cubicBezTo>
                  <a:pt x="480" y="470"/>
                  <a:pt x="480" y="470"/>
                  <a:pt x="480" y="470"/>
                </a:cubicBezTo>
                <a:cubicBezTo>
                  <a:pt x="720" y="470"/>
                  <a:pt x="720" y="470"/>
                  <a:pt x="720" y="470"/>
                </a:cubicBezTo>
                <a:cubicBezTo>
                  <a:pt x="720" y="430"/>
                  <a:pt x="720" y="430"/>
                  <a:pt x="720" y="430"/>
                </a:cubicBezTo>
                <a:lnTo>
                  <a:pt x="480" y="430"/>
                </a:lnTo>
                <a:close/>
                <a:moveTo>
                  <a:pt x="380" y="270"/>
                </a:moveTo>
                <a:cubicBezTo>
                  <a:pt x="780" y="270"/>
                  <a:pt x="780" y="270"/>
                  <a:pt x="780" y="270"/>
                </a:cubicBezTo>
                <a:cubicBezTo>
                  <a:pt x="780" y="950"/>
                  <a:pt x="780" y="950"/>
                  <a:pt x="780" y="950"/>
                </a:cubicBezTo>
                <a:cubicBezTo>
                  <a:pt x="380" y="950"/>
                  <a:pt x="380" y="950"/>
                  <a:pt x="380" y="950"/>
                </a:cubicBezTo>
                <a:lnTo>
                  <a:pt x="380" y="270"/>
                </a:lnTo>
                <a:close/>
                <a:moveTo>
                  <a:pt x="480" y="670"/>
                </a:moveTo>
                <a:cubicBezTo>
                  <a:pt x="480" y="710"/>
                  <a:pt x="480" y="710"/>
                  <a:pt x="480" y="710"/>
                </a:cubicBezTo>
                <a:cubicBezTo>
                  <a:pt x="600" y="710"/>
                  <a:pt x="600" y="710"/>
                  <a:pt x="600" y="710"/>
                </a:cubicBezTo>
                <a:cubicBezTo>
                  <a:pt x="600" y="670"/>
                  <a:pt x="600" y="670"/>
                  <a:pt x="600" y="670"/>
                </a:cubicBezTo>
                <a:lnTo>
                  <a:pt x="480" y="670"/>
                </a:lnTo>
                <a:close/>
                <a:moveTo>
                  <a:pt x="480" y="590"/>
                </a:moveTo>
                <a:cubicBezTo>
                  <a:pt x="480" y="630"/>
                  <a:pt x="480" y="630"/>
                  <a:pt x="480" y="630"/>
                </a:cubicBezTo>
                <a:cubicBezTo>
                  <a:pt x="720" y="630"/>
                  <a:pt x="720" y="630"/>
                  <a:pt x="720" y="630"/>
                </a:cubicBezTo>
                <a:cubicBezTo>
                  <a:pt x="720" y="590"/>
                  <a:pt x="720" y="590"/>
                  <a:pt x="720" y="590"/>
                </a:cubicBezTo>
                <a:lnTo>
                  <a:pt x="480" y="590"/>
                </a:lnTo>
                <a:close/>
                <a:moveTo>
                  <a:pt x="480" y="510"/>
                </a:moveTo>
                <a:cubicBezTo>
                  <a:pt x="480" y="550"/>
                  <a:pt x="480" y="550"/>
                  <a:pt x="480" y="550"/>
                </a:cubicBezTo>
                <a:cubicBezTo>
                  <a:pt x="600" y="550"/>
                  <a:pt x="600" y="550"/>
                  <a:pt x="600" y="550"/>
                </a:cubicBezTo>
                <a:cubicBezTo>
                  <a:pt x="600" y="510"/>
                  <a:pt x="600" y="510"/>
                  <a:pt x="600" y="510"/>
                </a:cubicBezTo>
                <a:lnTo>
                  <a:pt x="480" y="510"/>
                </a:lnTo>
                <a:close/>
                <a:moveTo>
                  <a:pt x="480" y="830"/>
                </a:moveTo>
                <a:cubicBezTo>
                  <a:pt x="480" y="870"/>
                  <a:pt x="480" y="870"/>
                  <a:pt x="480" y="870"/>
                </a:cubicBezTo>
                <a:cubicBezTo>
                  <a:pt x="600" y="870"/>
                  <a:pt x="600" y="870"/>
                  <a:pt x="600" y="870"/>
                </a:cubicBezTo>
                <a:cubicBezTo>
                  <a:pt x="600" y="830"/>
                  <a:pt x="600" y="830"/>
                  <a:pt x="600" y="830"/>
                </a:cubicBezTo>
                <a:lnTo>
                  <a:pt x="480" y="830"/>
                </a:lnTo>
                <a:close/>
                <a:moveTo>
                  <a:pt x="380" y="110"/>
                </a:moveTo>
                <a:cubicBezTo>
                  <a:pt x="2020" y="110"/>
                  <a:pt x="2020" y="110"/>
                  <a:pt x="2020" y="110"/>
                </a:cubicBezTo>
                <a:cubicBezTo>
                  <a:pt x="2020" y="250"/>
                  <a:pt x="2020" y="250"/>
                  <a:pt x="2020" y="250"/>
                </a:cubicBezTo>
                <a:cubicBezTo>
                  <a:pt x="380" y="250"/>
                  <a:pt x="380" y="250"/>
                  <a:pt x="380" y="250"/>
                </a:cubicBezTo>
                <a:lnTo>
                  <a:pt x="380" y="110"/>
                </a:lnTo>
                <a:close/>
                <a:moveTo>
                  <a:pt x="1340" y="700"/>
                </a:moveTo>
                <a:cubicBezTo>
                  <a:pt x="1300" y="700"/>
                  <a:pt x="1300" y="700"/>
                  <a:pt x="1300" y="700"/>
                </a:cubicBezTo>
                <a:cubicBezTo>
                  <a:pt x="1300" y="740"/>
                  <a:pt x="1300" y="740"/>
                  <a:pt x="1300" y="740"/>
                </a:cubicBezTo>
                <a:lnTo>
                  <a:pt x="1340" y="700"/>
                </a:lnTo>
                <a:close/>
                <a:moveTo>
                  <a:pt x="0" y="1400"/>
                </a:moveTo>
                <a:cubicBezTo>
                  <a:pt x="2400" y="1400"/>
                  <a:pt x="2400" y="1400"/>
                  <a:pt x="2400" y="1400"/>
                </a:cubicBezTo>
                <a:cubicBezTo>
                  <a:pt x="2400" y="1444"/>
                  <a:pt x="2364" y="1480"/>
                  <a:pt x="2320" y="1480"/>
                </a:cubicBezTo>
                <a:cubicBezTo>
                  <a:pt x="80" y="1480"/>
                  <a:pt x="80" y="1480"/>
                  <a:pt x="80" y="1480"/>
                </a:cubicBezTo>
                <a:cubicBezTo>
                  <a:pt x="36" y="1480"/>
                  <a:pt x="0" y="1444"/>
                  <a:pt x="0" y="1400"/>
                </a:cubicBezTo>
                <a:close/>
                <a:moveTo>
                  <a:pt x="270" y="1100"/>
                </a:moveTo>
                <a:cubicBezTo>
                  <a:pt x="2130" y="1100"/>
                  <a:pt x="2130" y="1100"/>
                  <a:pt x="2130" y="1100"/>
                </a:cubicBezTo>
                <a:cubicBezTo>
                  <a:pt x="2400" y="1360"/>
                  <a:pt x="2400" y="1360"/>
                  <a:pt x="2400" y="1360"/>
                </a:cubicBezTo>
                <a:cubicBezTo>
                  <a:pt x="0" y="1360"/>
                  <a:pt x="0" y="1360"/>
                  <a:pt x="0" y="1360"/>
                </a:cubicBezTo>
                <a:lnTo>
                  <a:pt x="270" y="1100"/>
                </a:lnTo>
                <a:close/>
                <a:moveTo>
                  <a:pt x="270" y="60"/>
                </a:moveTo>
                <a:cubicBezTo>
                  <a:pt x="270" y="27"/>
                  <a:pt x="297" y="0"/>
                  <a:pt x="330" y="0"/>
                </a:cubicBezTo>
                <a:cubicBezTo>
                  <a:pt x="2070" y="0"/>
                  <a:pt x="2070" y="0"/>
                  <a:pt x="2070" y="0"/>
                </a:cubicBezTo>
                <a:cubicBezTo>
                  <a:pt x="2103" y="0"/>
                  <a:pt x="2130" y="27"/>
                  <a:pt x="2130" y="60"/>
                </a:cubicBezTo>
                <a:cubicBezTo>
                  <a:pt x="2130" y="1060"/>
                  <a:pt x="2130" y="1060"/>
                  <a:pt x="2130" y="1060"/>
                </a:cubicBezTo>
                <a:cubicBezTo>
                  <a:pt x="270" y="1060"/>
                  <a:pt x="270" y="1060"/>
                  <a:pt x="270" y="1060"/>
                </a:cubicBezTo>
                <a:lnTo>
                  <a:pt x="270" y="60"/>
                </a:lnTo>
                <a:close/>
                <a:moveTo>
                  <a:pt x="350" y="80"/>
                </a:moveTo>
                <a:cubicBezTo>
                  <a:pt x="350" y="980"/>
                  <a:pt x="350" y="980"/>
                  <a:pt x="350" y="980"/>
                </a:cubicBezTo>
                <a:cubicBezTo>
                  <a:pt x="2050" y="980"/>
                  <a:pt x="2050" y="980"/>
                  <a:pt x="2050" y="980"/>
                </a:cubicBezTo>
                <a:cubicBezTo>
                  <a:pt x="2050" y="80"/>
                  <a:pt x="2050" y="80"/>
                  <a:pt x="2050" y="80"/>
                </a:cubicBezTo>
                <a:lnTo>
                  <a:pt x="350" y="80"/>
                </a:lnTo>
                <a:close/>
              </a:path>
            </a:pathLst>
          </a:custGeom>
          <a:solidFill>
            <a:srgbClr val="41AAAA"/>
          </a:solidFill>
          <a:ln>
            <a:noFill/>
          </a:ln>
        </p:spPr>
        <p:txBody>
          <a:bodyPr vert="horz" wrap="square" lIns="91440" tIns="45720" rIns="91440" bIns="45720" numCol="1" anchor="t" anchorCtr="0" compatLnSpc="1">
            <a:prstTxWarp prst="textNoShape">
              <a:avLst/>
            </a:prstTxWarp>
          </a:bodyPr>
          <a:lstStyle/>
          <a:p>
            <a:endParaRPr lang="en-US" dirty="0">
              <a:solidFill>
                <a:srgbClr val="788791"/>
              </a:solidFill>
            </a:endParaRPr>
          </a:p>
        </p:txBody>
      </p:sp>
      <p:sp>
        <p:nvSpPr>
          <p:cNvPr id="19" name="Rechteck 7">
            <a:extLst>
              <a:ext uri="{FF2B5EF4-FFF2-40B4-BE49-F238E27FC236}">
                <a16:creationId xmlns:a16="http://schemas.microsoft.com/office/drawing/2014/main" id="{56E9E314-385D-F251-B16B-6CC93047F411}"/>
              </a:ext>
            </a:extLst>
          </p:cNvPr>
          <p:cNvSpPr>
            <a:spLocks/>
          </p:cNvSpPr>
          <p:nvPr/>
        </p:nvSpPr>
        <p:spPr bwMode="gray">
          <a:xfrm>
            <a:off x="8330378" y="1380413"/>
            <a:ext cx="3225242" cy="1477328"/>
          </a:xfrm>
          <a:prstGeom prst="rect">
            <a:avLst/>
          </a:prstGeom>
        </p:spPr>
        <p:txBody>
          <a:bodyPr wrap="none" lIns="0" tIns="0" rIns="0" bIns="0">
            <a:spAutoFit/>
          </a:bodyPr>
          <a:lstStyle/>
          <a:p>
            <a:pPr>
              <a:spcBef>
                <a:spcPts val="0"/>
              </a:spcBef>
              <a:spcAft>
                <a:spcPts val="0"/>
              </a:spcAft>
            </a:pPr>
            <a:r>
              <a:rPr lang="en-US" sz="3200" dirty="0">
                <a:solidFill>
                  <a:srgbClr val="50BED7"/>
                </a:solidFill>
                <a:latin typeface="Arial"/>
              </a:rPr>
              <a:t>Iteration</a:t>
            </a:r>
          </a:p>
          <a:p>
            <a:pPr>
              <a:spcBef>
                <a:spcPts val="0"/>
              </a:spcBef>
              <a:spcAft>
                <a:spcPts val="0"/>
              </a:spcAft>
            </a:pPr>
            <a:r>
              <a:rPr lang="en-US" sz="3200" dirty="0">
                <a:solidFill>
                  <a:srgbClr val="50BED7"/>
                </a:solidFill>
                <a:latin typeface="Arial"/>
              </a:rPr>
              <a:t>Feedback</a:t>
            </a:r>
            <a:br>
              <a:rPr lang="en-US" sz="1600" b="1" dirty="0">
                <a:solidFill>
                  <a:srgbClr val="0F8287"/>
                </a:solidFill>
                <a:latin typeface="Arial"/>
                <a:ea typeface="Arial Unicode MS"/>
                <a:cs typeface="Arial Unicode MS"/>
              </a:rPr>
            </a:br>
            <a:r>
              <a:rPr lang="en-US" altLang="zh-CN" sz="1600" dirty="0">
                <a:latin typeface="Arial"/>
                <a:ea typeface="Arial Unicode MS"/>
                <a:cs typeface="Arial Unicode MS"/>
              </a:rPr>
              <a:t>Experienced engineers validation</a:t>
            </a:r>
          </a:p>
          <a:p>
            <a:pPr>
              <a:spcBef>
                <a:spcPts val="0"/>
              </a:spcBef>
              <a:spcAft>
                <a:spcPts val="0"/>
              </a:spcAft>
            </a:pPr>
            <a:r>
              <a:rPr lang="en-US" altLang="zh-CN" sz="1600" dirty="0">
                <a:ea typeface="Arial Unicode MS"/>
                <a:cs typeface="Arial Unicode MS"/>
              </a:rPr>
              <a:t>Knowledge repository management</a:t>
            </a:r>
            <a:endParaRPr lang="en-US" altLang="zh-CN" sz="1600" dirty="0">
              <a:solidFill>
                <a:schemeClr val="tx1"/>
              </a:solidFill>
              <a:latin typeface="Arial"/>
              <a:ea typeface="Arial Unicode MS"/>
              <a:cs typeface="Arial Unicode MS"/>
            </a:endParaRPr>
          </a:p>
        </p:txBody>
      </p:sp>
      <p:grpSp>
        <p:nvGrpSpPr>
          <p:cNvPr id="7" name="Group 6">
            <a:extLst>
              <a:ext uri="{FF2B5EF4-FFF2-40B4-BE49-F238E27FC236}">
                <a16:creationId xmlns:a16="http://schemas.microsoft.com/office/drawing/2014/main" id="{90D77B0C-CD4C-D529-75FE-155BBF762439}"/>
              </a:ext>
            </a:extLst>
          </p:cNvPr>
          <p:cNvGrpSpPr/>
          <p:nvPr/>
        </p:nvGrpSpPr>
        <p:grpSpPr>
          <a:xfrm>
            <a:off x="8272608" y="4378517"/>
            <a:ext cx="737349" cy="709740"/>
            <a:chOff x="9432194" y="3298715"/>
            <a:chExt cx="923655" cy="869948"/>
          </a:xfrm>
        </p:grpSpPr>
        <p:sp>
          <p:nvSpPr>
            <p:cNvPr id="21" name="Ellipse 50">
              <a:extLst>
                <a:ext uri="{FF2B5EF4-FFF2-40B4-BE49-F238E27FC236}">
                  <a16:creationId xmlns:a16="http://schemas.microsoft.com/office/drawing/2014/main" id="{8E488F9F-E4F7-933F-6B81-9C3C39F65E8E}"/>
                </a:ext>
              </a:extLst>
            </p:cNvPr>
            <p:cNvSpPr>
              <a:spLocks/>
            </p:cNvSpPr>
            <p:nvPr/>
          </p:nvSpPr>
          <p:spPr bwMode="auto">
            <a:xfrm>
              <a:off x="9432194" y="3298715"/>
              <a:ext cx="923655" cy="869948"/>
            </a:xfrm>
            <a:prstGeom prst="ellipse">
              <a:avLst/>
            </a:prstGeom>
            <a:solidFill>
              <a:srgbClr val="41AAAA"/>
            </a:solidFill>
            <a:ln w="19050">
              <a:solidFill>
                <a:schemeClr val="bg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grpSp>
          <p:nvGrpSpPr>
            <p:cNvPr id="22" name="Gruppieren 58">
              <a:extLst>
                <a:ext uri="{FF2B5EF4-FFF2-40B4-BE49-F238E27FC236}">
                  <a16:creationId xmlns:a16="http://schemas.microsoft.com/office/drawing/2014/main" id="{F0642755-1988-8DC9-CA4A-4130A4ABD36E}"/>
                </a:ext>
              </a:extLst>
            </p:cNvPr>
            <p:cNvGrpSpPr>
              <a:grpSpLocks/>
            </p:cNvGrpSpPr>
            <p:nvPr/>
          </p:nvGrpSpPr>
          <p:grpSpPr>
            <a:xfrm>
              <a:off x="9522764" y="3392013"/>
              <a:ext cx="752396" cy="703787"/>
              <a:chOff x="9520463" y="3128329"/>
              <a:chExt cx="795810" cy="790352"/>
            </a:xfrm>
          </p:grpSpPr>
          <p:grpSp>
            <p:nvGrpSpPr>
              <p:cNvPr id="24" name="Gruppieren 53">
                <a:extLst>
                  <a:ext uri="{FF2B5EF4-FFF2-40B4-BE49-F238E27FC236}">
                    <a16:creationId xmlns:a16="http://schemas.microsoft.com/office/drawing/2014/main" id="{DA66541A-A376-001B-7B26-FF112EBAEC09}"/>
                  </a:ext>
                </a:extLst>
              </p:cNvPr>
              <p:cNvGrpSpPr>
                <a:grpSpLocks/>
              </p:cNvGrpSpPr>
              <p:nvPr/>
            </p:nvGrpSpPr>
            <p:grpSpPr>
              <a:xfrm>
                <a:off x="9690035" y="3310971"/>
                <a:ext cx="456666" cy="445374"/>
                <a:chOff x="9676714" y="3326152"/>
                <a:chExt cx="456666" cy="445374"/>
              </a:xfrm>
              <a:solidFill>
                <a:srgbClr val="A5E1E1"/>
              </a:solidFill>
            </p:grpSpPr>
            <p:sp>
              <p:nvSpPr>
                <p:cNvPr id="32" name="Ellipse 51">
                  <a:extLst>
                    <a:ext uri="{FF2B5EF4-FFF2-40B4-BE49-F238E27FC236}">
                      <a16:creationId xmlns:a16="http://schemas.microsoft.com/office/drawing/2014/main" id="{840181B2-513B-5EBB-5ACF-95CFC462F05A}"/>
                    </a:ext>
                  </a:extLst>
                </p:cNvPr>
                <p:cNvSpPr>
                  <a:spLocks/>
                </p:cNvSpPr>
                <p:nvPr/>
              </p:nvSpPr>
              <p:spPr bwMode="auto">
                <a:xfrm>
                  <a:off x="9693186" y="3326152"/>
                  <a:ext cx="440194" cy="440192"/>
                </a:xfrm>
                <a:prstGeom prst="ellipse">
                  <a:avLst/>
                </a:prstGeom>
                <a:grp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52">
                  <a:extLst>
                    <a:ext uri="{FF2B5EF4-FFF2-40B4-BE49-F238E27FC236}">
                      <a16:creationId xmlns:a16="http://schemas.microsoft.com/office/drawing/2014/main" id="{AB878CD5-A807-A78C-5DE6-7C454391D2EE}"/>
                    </a:ext>
                  </a:extLst>
                </p:cNvPr>
                <p:cNvSpPr>
                  <a:spLocks/>
                </p:cNvSpPr>
                <p:nvPr/>
              </p:nvSpPr>
              <p:spPr bwMode="auto">
                <a:xfrm>
                  <a:off x="9676714" y="3331334"/>
                  <a:ext cx="440194" cy="440192"/>
                </a:xfrm>
                <a:prstGeom prst="ellipse">
                  <a:avLst/>
                </a:prstGeom>
                <a:solidFill>
                  <a:srgbClr val="4BB9B9"/>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5" name="Gleichschenkliges Dreieck 54">
                <a:extLst>
                  <a:ext uri="{FF2B5EF4-FFF2-40B4-BE49-F238E27FC236}">
                    <a16:creationId xmlns:a16="http://schemas.microsoft.com/office/drawing/2014/main" id="{8E2F083D-FF66-64A8-3D13-B919DCCF37EF}"/>
                  </a:ext>
                </a:extLst>
              </p:cNvPr>
              <p:cNvSpPr>
                <a:spLocks/>
              </p:cNvSpPr>
              <p:nvPr/>
            </p:nvSpPr>
            <p:spPr bwMode="auto">
              <a:xfrm>
                <a:off x="9830156" y="3128329"/>
                <a:ext cx="181028" cy="98147"/>
              </a:xfrm>
              <a:prstGeom prst="triangle">
                <a:avLst/>
              </a:prstGeom>
              <a:solidFill>
                <a:srgbClr val="A5E1E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29" name="Gleichschenkliges Dreieck 55">
                <a:extLst>
                  <a:ext uri="{FF2B5EF4-FFF2-40B4-BE49-F238E27FC236}">
                    <a16:creationId xmlns:a16="http://schemas.microsoft.com/office/drawing/2014/main" id="{64D699AB-B476-0FE0-24A4-6A3377DD664C}"/>
                  </a:ext>
                </a:extLst>
              </p:cNvPr>
              <p:cNvSpPr>
                <a:spLocks/>
              </p:cNvSpPr>
              <p:nvPr/>
            </p:nvSpPr>
            <p:spPr bwMode="auto">
              <a:xfrm flipV="1">
                <a:off x="9830156" y="3820534"/>
                <a:ext cx="181028" cy="98147"/>
              </a:xfrm>
              <a:prstGeom prst="triangle">
                <a:avLst/>
              </a:prstGeom>
              <a:solidFill>
                <a:srgbClr val="A5E1E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30" name="Gleichschenkliges Dreieck 56">
                <a:extLst>
                  <a:ext uri="{FF2B5EF4-FFF2-40B4-BE49-F238E27FC236}">
                    <a16:creationId xmlns:a16="http://schemas.microsoft.com/office/drawing/2014/main" id="{925C249B-01E2-DA8E-887D-A5B0FE9069FE}"/>
                  </a:ext>
                </a:extLst>
              </p:cNvPr>
              <p:cNvSpPr>
                <a:spLocks/>
              </p:cNvSpPr>
              <p:nvPr/>
            </p:nvSpPr>
            <p:spPr bwMode="auto">
              <a:xfrm rot="16200000">
                <a:off x="9479023" y="3474720"/>
                <a:ext cx="181028" cy="98147"/>
              </a:xfrm>
              <a:prstGeom prst="triangle">
                <a:avLst/>
              </a:prstGeom>
              <a:solidFill>
                <a:srgbClr val="A5E1E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31" name="Gleichschenkliges Dreieck 57">
                <a:extLst>
                  <a:ext uri="{FF2B5EF4-FFF2-40B4-BE49-F238E27FC236}">
                    <a16:creationId xmlns:a16="http://schemas.microsoft.com/office/drawing/2014/main" id="{D26AF70F-9B94-1B3D-F385-B92309A350E9}"/>
                  </a:ext>
                </a:extLst>
              </p:cNvPr>
              <p:cNvSpPr>
                <a:spLocks/>
              </p:cNvSpPr>
              <p:nvPr/>
            </p:nvSpPr>
            <p:spPr bwMode="auto">
              <a:xfrm rot="5400000">
                <a:off x="10176686" y="3474722"/>
                <a:ext cx="181028" cy="98147"/>
              </a:xfrm>
              <a:prstGeom prst="triangle">
                <a:avLst/>
              </a:prstGeom>
              <a:solidFill>
                <a:srgbClr val="A5E1E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grpSp>
      </p:grpSp>
      <p:sp>
        <p:nvSpPr>
          <p:cNvPr id="34" name="Title 1">
            <a:extLst>
              <a:ext uri="{FF2B5EF4-FFF2-40B4-BE49-F238E27FC236}">
                <a16:creationId xmlns:a16="http://schemas.microsoft.com/office/drawing/2014/main" id="{1793A4C2-0A0A-1580-7E2A-BA3A23CE8004}"/>
              </a:ext>
            </a:extLst>
          </p:cNvPr>
          <p:cNvSpPr txBox="1">
            <a:spLocks/>
          </p:cNvSpPr>
          <p:nvPr/>
        </p:nvSpPr>
        <p:spPr>
          <a:xfrm>
            <a:off x="1556690" y="4372808"/>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rgbClr val="50BED7"/>
                </a:solidFill>
              </a:rPr>
              <a:t>Pre-defined ontology</a:t>
            </a:r>
          </a:p>
          <a:p>
            <a:pPr marL="285750" indent="-285750">
              <a:buFont typeface="Wingdings" panose="05000000000000000000" pitchFamily="2" charset="2"/>
              <a:buChar char="Ø"/>
            </a:pPr>
            <a:r>
              <a:rPr lang="en-US" altLang="zh-CN" sz="1400" dirty="0">
                <a:solidFill>
                  <a:srgbClr val="50BED7"/>
                </a:solidFill>
              </a:rPr>
              <a:t>Typical semantic template</a:t>
            </a:r>
            <a:endParaRPr lang="en-US" sz="1400" dirty="0">
              <a:solidFill>
                <a:srgbClr val="50BED7"/>
              </a:solidFill>
            </a:endParaRPr>
          </a:p>
        </p:txBody>
      </p:sp>
      <p:sp>
        <p:nvSpPr>
          <p:cNvPr id="35" name="Rechteck 7">
            <a:extLst>
              <a:ext uri="{FF2B5EF4-FFF2-40B4-BE49-F238E27FC236}">
                <a16:creationId xmlns:a16="http://schemas.microsoft.com/office/drawing/2014/main" id="{2E2C0641-9B65-6282-C715-ADD8A5D4E20C}"/>
              </a:ext>
            </a:extLst>
          </p:cNvPr>
          <p:cNvSpPr>
            <a:spLocks/>
          </p:cNvSpPr>
          <p:nvPr/>
        </p:nvSpPr>
        <p:spPr bwMode="gray">
          <a:xfrm>
            <a:off x="4511437" y="3154585"/>
            <a:ext cx="3407856" cy="1107996"/>
          </a:xfrm>
          <a:prstGeom prst="rect">
            <a:avLst/>
          </a:prstGeom>
        </p:spPr>
        <p:txBody>
          <a:bodyPr wrap="square" lIns="0" tIns="0" rIns="0" bIns="0">
            <a:spAutoFit/>
          </a:bodyPr>
          <a:lstStyle/>
          <a:p>
            <a:pPr marL="171450" indent="-171450">
              <a:spcBef>
                <a:spcPts val="0"/>
              </a:spcBef>
              <a:spcAft>
                <a:spcPts val="0"/>
              </a:spcAft>
              <a:buFontTx/>
              <a:buChar char="-"/>
            </a:pPr>
            <a:r>
              <a:rPr lang="en-US" altLang="zh-CN" sz="1200" dirty="0">
                <a:latin typeface="Arial"/>
                <a:ea typeface="Arial Unicode MS"/>
              </a:rPr>
              <a:t>On-site hierarchy data structure or </a:t>
            </a:r>
            <a:r>
              <a:rPr lang="en-US" altLang="zh-CN" sz="1200" dirty="0" err="1">
                <a:latin typeface="Arial"/>
                <a:ea typeface="Arial Unicode MS"/>
              </a:rPr>
              <a:t>SiPlant</a:t>
            </a:r>
            <a:r>
              <a:rPr lang="en-US" altLang="zh-CN" sz="1200" dirty="0">
                <a:latin typeface="Arial"/>
                <a:ea typeface="Arial Unicode MS"/>
              </a:rPr>
              <a:t> data structure configuration</a:t>
            </a:r>
          </a:p>
          <a:p>
            <a:pPr marL="171450" indent="-171450">
              <a:spcBef>
                <a:spcPts val="0"/>
              </a:spcBef>
              <a:spcAft>
                <a:spcPts val="0"/>
              </a:spcAft>
              <a:buFontTx/>
              <a:buChar char="-"/>
            </a:pPr>
            <a:r>
              <a:rPr lang="en-US" altLang="zh-CN" sz="1200" dirty="0">
                <a:latin typeface="Arial"/>
                <a:ea typeface="Arial Unicode MS"/>
                <a:cs typeface="Arial Unicode MS"/>
              </a:rPr>
              <a:t>Event or error-code signal description and process logic</a:t>
            </a:r>
          </a:p>
          <a:p>
            <a:pPr marL="171450" indent="-171450">
              <a:spcBef>
                <a:spcPts val="0"/>
              </a:spcBef>
              <a:spcAft>
                <a:spcPts val="0"/>
              </a:spcAft>
              <a:buFontTx/>
              <a:buChar char="-"/>
            </a:pPr>
            <a:r>
              <a:rPr lang="en-US" altLang="zh-CN" sz="1200" dirty="0">
                <a:latin typeface="Arial"/>
                <a:ea typeface="Arial Unicode MS"/>
                <a:cs typeface="Arial Unicode MS"/>
              </a:rPr>
              <a:t>Knowledge and data correlation or label</a:t>
            </a:r>
          </a:p>
          <a:p>
            <a:pPr marL="171450" indent="-171450">
              <a:spcBef>
                <a:spcPts val="0"/>
              </a:spcBef>
              <a:spcAft>
                <a:spcPts val="0"/>
              </a:spcAft>
              <a:buFontTx/>
              <a:buChar char="-"/>
            </a:pPr>
            <a:r>
              <a:rPr lang="en-US" altLang="zh-CN" sz="1200" dirty="0">
                <a:latin typeface="Arial"/>
                <a:ea typeface="Arial Unicode MS"/>
                <a:cs typeface="Arial Unicode MS"/>
              </a:rPr>
              <a:t>……</a:t>
            </a:r>
          </a:p>
        </p:txBody>
      </p:sp>
      <p:sp>
        <p:nvSpPr>
          <p:cNvPr id="36" name="Title 1">
            <a:extLst>
              <a:ext uri="{FF2B5EF4-FFF2-40B4-BE49-F238E27FC236}">
                <a16:creationId xmlns:a16="http://schemas.microsoft.com/office/drawing/2014/main" id="{3BB33826-3A1F-3694-5D81-A9CF2FDCC03D}"/>
              </a:ext>
            </a:extLst>
          </p:cNvPr>
          <p:cNvSpPr txBox="1">
            <a:spLocks/>
          </p:cNvSpPr>
          <p:nvPr/>
        </p:nvSpPr>
        <p:spPr>
          <a:xfrm>
            <a:off x="5388856" y="4497450"/>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rgbClr val="50BED7"/>
                </a:solidFill>
              </a:rPr>
              <a:t>Enrich update capability</a:t>
            </a:r>
          </a:p>
          <a:p>
            <a:pPr marL="285750" indent="-285750">
              <a:buFont typeface="Wingdings" panose="05000000000000000000" pitchFamily="2" charset="2"/>
              <a:buChar char="Ø"/>
            </a:pPr>
            <a:r>
              <a:rPr lang="en-US" sz="1400" dirty="0">
                <a:solidFill>
                  <a:srgbClr val="50BED7"/>
                </a:solidFill>
              </a:rPr>
              <a:t>Easy </a:t>
            </a:r>
            <a:r>
              <a:rPr lang="en-US" altLang="zh-CN" sz="1400" dirty="0">
                <a:solidFill>
                  <a:srgbClr val="50BED7"/>
                </a:solidFill>
              </a:rPr>
              <a:t>match real-time data and association reference</a:t>
            </a:r>
            <a:endParaRPr lang="en-US" sz="1400" dirty="0">
              <a:solidFill>
                <a:srgbClr val="50BED7"/>
              </a:solidFill>
            </a:endParaRPr>
          </a:p>
        </p:txBody>
      </p:sp>
      <p:sp>
        <p:nvSpPr>
          <p:cNvPr id="37" name="Rechteck 7">
            <a:extLst>
              <a:ext uri="{FF2B5EF4-FFF2-40B4-BE49-F238E27FC236}">
                <a16:creationId xmlns:a16="http://schemas.microsoft.com/office/drawing/2014/main" id="{1339B150-1012-C7B6-3422-D0BDD44CBAB7}"/>
              </a:ext>
            </a:extLst>
          </p:cNvPr>
          <p:cNvSpPr>
            <a:spLocks/>
          </p:cNvSpPr>
          <p:nvPr/>
        </p:nvSpPr>
        <p:spPr bwMode="gray">
          <a:xfrm>
            <a:off x="8223709" y="3151614"/>
            <a:ext cx="3407856" cy="923330"/>
          </a:xfrm>
          <a:prstGeom prst="rect">
            <a:avLst/>
          </a:prstGeom>
        </p:spPr>
        <p:txBody>
          <a:bodyPr wrap="square" lIns="0" tIns="0" rIns="0" bIns="0">
            <a:spAutoFit/>
          </a:bodyPr>
          <a:lstStyle/>
          <a:p>
            <a:pPr marL="171450" indent="-171450">
              <a:spcBef>
                <a:spcPts val="0"/>
              </a:spcBef>
              <a:spcAft>
                <a:spcPts val="0"/>
              </a:spcAft>
              <a:buFontTx/>
              <a:buChar char="-"/>
            </a:pPr>
            <a:r>
              <a:rPr lang="en-US" altLang="zh-CN" sz="1200" dirty="0">
                <a:latin typeface="Arial"/>
                <a:ea typeface="Arial Unicode MS"/>
              </a:rPr>
              <a:t>Experience engineers validate and feedback to the knowledge graph</a:t>
            </a:r>
          </a:p>
          <a:p>
            <a:pPr marL="171450" indent="-171450">
              <a:spcBef>
                <a:spcPts val="0"/>
              </a:spcBef>
              <a:spcAft>
                <a:spcPts val="0"/>
              </a:spcAft>
              <a:buFontTx/>
              <a:buChar char="-"/>
            </a:pPr>
            <a:r>
              <a:rPr lang="en-US" altLang="zh-CN" sz="1200" dirty="0">
                <a:latin typeface="Arial"/>
                <a:ea typeface="Arial Unicode MS"/>
                <a:cs typeface="Arial Unicode MS"/>
              </a:rPr>
              <a:t>Buildup knowledge repository</a:t>
            </a:r>
            <a:r>
              <a:rPr lang="zh-CN" altLang="en-US" sz="1200" dirty="0">
                <a:latin typeface="Arial"/>
                <a:ea typeface="Arial Unicode MS"/>
                <a:cs typeface="Arial Unicode MS"/>
              </a:rPr>
              <a:t> </a:t>
            </a:r>
            <a:r>
              <a:rPr lang="en-US" altLang="zh-CN" sz="1200" dirty="0">
                <a:latin typeface="Arial"/>
                <a:ea typeface="Arial Unicode MS"/>
                <a:cs typeface="Arial Unicode MS"/>
              </a:rPr>
              <a:t>based on device and line or workshop</a:t>
            </a:r>
          </a:p>
          <a:p>
            <a:pPr marL="171450" indent="-171450">
              <a:spcBef>
                <a:spcPts val="0"/>
              </a:spcBef>
              <a:spcAft>
                <a:spcPts val="0"/>
              </a:spcAft>
              <a:buFontTx/>
              <a:buChar char="-"/>
            </a:pPr>
            <a:r>
              <a:rPr lang="en-US" altLang="zh-CN" sz="1200" dirty="0">
                <a:latin typeface="Arial"/>
                <a:ea typeface="Arial Unicode MS"/>
                <a:cs typeface="Arial Unicode MS"/>
              </a:rPr>
              <a:t>…..</a:t>
            </a:r>
          </a:p>
        </p:txBody>
      </p:sp>
      <p:sp>
        <p:nvSpPr>
          <p:cNvPr id="38" name="Title 1">
            <a:extLst>
              <a:ext uri="{FF2B5EF4-FFF2-40B4-BE49-F238E27FC236}">
                <a16:creationId xmlns:a16="http://schemas.microsoft.com/office/drawing/2014/main" id="{B30C01C2-F553-5424-1CF2-E8AE63974591}"/>
              </a:ext>
            </a:extLst>
          </p:cNvPr>
          <p:cNvSpPr txBox="1">
            <a:spLocks/>
          </p:cNvSpPr>
          <p:nvPr/>
        </p:nvSpPr>
        <p:spPr>
          <a:xfrm>
            <a:off x="9063864" y="4669510"/>
            <a:ext cx="3269400"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rgbClr val="50BED7"/>
                </a:solidFill>
              </a:rPr>
              <a:t>Domain knowledge repository</a:t>
            </a:r>
          </a:p>
          <a:p>
            <a:pPr marL="285750" indent="-285750">
              <a:buFont typeface="Wingdings" panose="05000000000000000000" pitchFamily="2" charset="2"/>
              <a:buChar char="Ø"/>
            </a:pPr>
            <a:r>
              <a:rPr lang="en-US" altLang="zh-CN" sz="1400" dirty="0">
                <a:solidFill>
                  <a:srgbClr val="50BED7"/>
                </a:solidFill>
              </a:rPr>
              <a:t>Iteration based on on-site feedback (people, OT and machine)</a:t>
            </a:r>
          </a:p>
        </p:txBody>
      </p:sp>
    </p:spTree>
    <p:extLst>
      <p:ext uri="{BB962C8B-B14F-4D97-AF65-F5344CB8AC3E}">
        <p14:creationId xmlns:p14="http://schemas.microsoft.com/office/powerpoint/2010/main" val="308991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altLang="zh-CN" sz="2800" dirty="0"/>
              <a:t>Outline</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11</a:t>
            </a:fld>
            <a:endParaRPr lang="en-US" dirty="0"/>
          </a:p>
        </p:txBody>
      </p:sp>
      <p:pic>
        <p:nvPicPr>
          <p:cNvPr id="6" name="Graphic 5" descr="Badge 1 with solid fill">
            <a:extLst>
              <a:ext uri="{FF2B5EF4-FFF2-40B4-BE49-F238E27FC236}">
                <a16:creationId xmlns:a16="http://schemas.microsoft.com/office/drawing/2014/main" id="{A6FFC941-2BF7-64B3-4007-60F6C5A67F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7112" y="1879255"/>
            <a:ext cx="597190" cy="597190"/>
          </a:xfrm>
          <a:prstGeom prst="rect">
            <a:avLst/>
          </a:prstGeom>
        </p:spPr>
      </p:pic>
      <p:sp>
        <p:nvSpPr>
          <p:cNvPr id="7" name="Title 1">
            <a:extLst>
              <a:ext uri="{FF2B5EF4-FFF2-40B4-BE49-F238E27FC236}">
                <a16:creationId xmlns:a16="http://schemas.microsoft.com/office/drawing/2014/main" id="{6FFCE9AA-15BE-B791-C118-3C24BE90A5A1}"/>
              </a:ext>
            </a:extLst>
          </p:cNvPr>
          <p:cNvSpPr txBox="1">
            <a:spLocks/>
          </p:cNvSpPr>
          <p:nvPr/>
        </p:nvSpPr>
        <p:spPr>
          <a:xfrm>
            <a:off x="2103924" y="1764858"/>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Background and</a:t>
            </a:r>
            <a:r>
              <a:rPr lang="zh-CN" altLang="en-US" dirty="0">
                <a:solidFill>
                  <a:schemeClr val="tx1"/>
                </a:solidFill>
              </a:rPr>
              <a:t> </a:t>
            </a:r>
            <a:r>
              <a:rPr lang="en-US" altLang="zh-CN" dirty="0">
                <a:solidFill>
                  <a:schemeClr val="tx1"/>
                </a:solidFill>
              </a:rPr>
              <a:t>Business</a:t>
            </a:r>
            <a:r>
              <a:rPr lang="zh-CN" altLang="en-US" dirty="0">
                <a:solidFill>
                  <a:schemeClr val="tx1"/>
                </a:solidFill>
              </a:rPr>
              <a:t> </a:t>
            </a:r>
            <a:r>
              <a:rPr lang="en-US" altLang="zh-CN" dirty="0">
                <a:solidFill>
                  <a:schemeClr val="tx1"/>
                </a:solidFill>
              </a:rPr>
              <a:t>Scenarios</a:t>
            </a:r>
            <a:endParaRPr lang="en-US" dirty="0">
              <a:solidFill>
                <a:schemeClr val="tx1"/>
              </a:solidFill>
            </a:endParaRPr>
          </a:p>
        </p:txBody>
      </p:sp>
      <p:sp>
        <p:nvSpPr>
          <p:cNvPr id="9" name="Title 1">
            <a:extLst>
              <a:ext uri="{FF2B5EF4-FFF2-40B4-BE49-F238E27FC236}">
                <a16:creationId xmlns:a16="http://schemas.microsoft.com/office/drawing/2014/main" id="{9D84E2AE-5751-0523-F16D-095A19880C12}"/>
              </a:ext>
            </a:extLst>
          </p:cNvPr>
          <p:cNvSpPr txBox="1">
            <a:spLocks/>
          </p:cNvSpPr>
          <p:nvPr/>
        </p:nvSpPr>
        <p:spPr>
          <a:xfrm>
            <a:off x="2103924" y="275731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dirty="0">
                <a:solidFill>
                  <a:schemeClr val="tx1"/>
                </a:solidFill>
              </a:rPr>
              <a:t>Use-Cases and Technical Solution</a:t>
            </a:r>
          </a:p>
        </p:txBody>
      </p:sp>
      <p:pic>
        <p:nvPicPr>
          <p:cNvPr id="11" name="Graphic 10" descr="Badge with solid fill">
            <a:extLst>
              <a:ext uri="{FF2B5EF4-FFF2-40B4-BE49-F238E27FC236}">
                <a16:creationId xmlns:a16="http://schemas.microsoft.com/office/drawing/2014/main" id="{8746D5A4-C359-4693-3CC3-4CE041E65B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7112" y="2831810"/>
            <a:ext cx="597190" cy="597190"/>
          </a:xfrm>
          <a:prstGeom prst="rect">
            <a:avLst/>
          </a:prstGeom>
        </p:spPr>
      </p:pic>
      <p:sp>
        <p:nvSpPr>
          <p:cNvPr id="12" name="Title 1">
            <a:extLst>
              <a:ext uri="{FF2B5EF4-FFF2-40B4-BE49-F238E27FC236}">
                <a16:creationId xmlns:a16="http://schemas.microsoft.com/office/drawing/2014/main" id="{FB41AC21-00DD-D47B-D275-528C546DD1E4}"/>
              </a:ext>
            </a:extLst>
          </p:cNvPr>
          <p:cNvSpPr txBox="1">
            <a:spLocks/>
          </p:cNvSpPr>
          <p:nvPr/>
        </p:nvSpPr>
        <p:spPr>
          <a:xfrm>
            <a:off x="2103923" y="373237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Summary and Q&amp;A</a:t>
            </a:r>
            <a:endParaRPr lang="en-US" dirty="0">
              <a:solidFill>
                <a:schemeClr val="tx1"/>
              </a:solidFill>
            </a:endParaRPr>
          </a:p>
        </p:txBody>
      </p:sp>
      <p:pic>
        <p:nvPicPr>
          <p:cNvPr id="15" name="Graphic 14" descr="Badge 3 with solid fill">
            <a:extLst>
              <a:ext uri="{FF2B5EF4-FFF2-40B4-BE49-F238E27FC236}">
                <a16:creationId xmlns:a16="http://schemas.microsoft.com/office/drawing/2014/main" id="{E34DBBAF-8DC1-A462-C98A-91E218029E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57111" y="3816802"/>
            <a:ext cx="597190" cy="597190"/>
          </a:xfrm>
          <a:prstGeom prst="rect">
            <a:avLst/>
          </a:prstGeom>
        </p:spPr>
      </p:pic>
    </p:spTree>
    <p:extLst>
      <p:ext uri="{BB962C8B-B14F-4D97-AF65-F5344CB8AC3E}">
        <p14:creationId xmlns:p14="http://schemas.microsoft.com/office/powerpoint/2010/main" val="178808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9"/>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534094" y="391896"/>
            <a:ext cx="10726024" cy="576000"/>
          </a:xfrm>
        </p:spPr>
        <p:txBody>
          <a:bodyPr/>
          <a:lstStyle/>
          <a:p>
            <a:r>
              <a:rPr lang="en-US" altLang="zh-CN" sz="2800" dirty="0"/>
              <a:t>Addressable customer business scenarios for V1.0</a:t>
            </a:r>
            <a:br>
              <a:rPr lang="en-US" altLang="zh-CN" sz="2800" dirty="0"/>
            </a:br>
            <a:r>
              <a:rPr lang="en-US" altLang="zh-CN" sz="2600" dirty="0"/>
              <a:t>Focus is on Pre-maintenance and DaaS with advanced KG</a:t>
            </a:r>
            <a:endParaRPr lang="en-US" sz="26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12</a:t>
            </a:fld>
            <a:endParaRPr lang="en-US" dirty="0"/>
          </a:p>
        </p:txBody>
      </p:sp>
      <p:cxnSp>
        <p:nvCxnSpPr>
          <p:cNvPr id="23" name="Gerader Verbinder 491">
            <a:extLst>
              <a:ext uri="{FF2B5EF4-FFF2-40B4-BE49-F238E27FC236}">
                <a16:creationId xmlns:a16="http://schemas.microsoft.com/office/drawing/2014/main" id="{F640E7A8-D1DD-4474-C683-798421F0F332}"/>
              </a:ext>
            </a:extLst>
          </p:cNvPr>
          <p:cNvCxnSpPr>
            <a:cxnSpLocks/>
          </p:cNvCxnSpPr>
          <p:nvPr/>
        </p:nvCxnSpPr>
        <p:spPr bwMode="auto">
          <a:xfrm>
            <a:off x="3339171" y="2138378"/>
            <a:ext cx="0" cy="3204183"/>
          </a:xfrm>
          <a:prstGeom prst="line">
            <a:avLst/>
          </a:prstGeom>
          <a:solidFill>
            <a:schemeClr val="tx2"/>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4" name="Rechteck 3">
            <a:hlinkClick r:id="" action="ppaction://noaction"/>
            <a:extLst>
              <a:ext uri="{FF2B5EF4-FFF2-40B4-BE49-F238E27FC236}">
                <a16:creationId xmlns:a16="http://schemas.microsoft.com/office/drawing/2014/main" id="{B742FCC8-E8CB-4878-C372-F04736E121FB}"/>
              </a:ext>
            </a:extLst>
          </p:cNvPr>
          <p:cNvSpPr>
            <a:spLocks/>
          </p:cNvSpPr>
          <p:nvPr/>
        </p:nvSpPr>
        <p:spPr bwMode="gray">
          <a:xfrm>
            <a:off x="411162" y="1484614"/>
            <a:ext cx="3590158" cy="4752638"/>
          </a:xfrm>
          <a:prstGeom prst="rect">
            <a:avLst/>
          </a:prstGeom>
          <a:solidFill>
            <a:srgbClr val="DFE6ED"/>
          </a:solidFill>
          <a:ln w="31750">
            <a:noFill/>
            <a:miter lim="800000"/>
            <a:headEnd/>
            <a:tailEnd/>
          </a:ln>
          <a:extLst>
            <a:ext uri="{91240B29-F687-4F45-9708-019B960494DF}">
              <a14:hiddenLine xmlns:a14="http://schemas.microsoft.com/office/drawing/2010/main" w="31750">
                <a:solidFill>
                  <a:srgbClr val="41AAAA"/>
                </a:solidFill>
                <a:miter lim="800000"/>
                <a:headEnd/>
                <a:tailEnd/>
              </a14:hiddenLine>
            </a:ext>
          </a:extLst>
        </p:spPr>
        <p:txBody>
          <a:bodyPr vert="horz" wrap="square" lIns="216000" tIns="180000" rIns="216000" bIns="180000" numCol="1" anchor="b" anchorCtr="0" compatLnSpc="1">
            <a:prstTxWarp prst="textNoShape">
              <a:avLst/>
            </a:prstTxWarp>
            <a:noAutofit/>
          </a:bodyPr>
          <a:lstStyle/>
          <a:p>
            <a:pPr>
              <a:spcBef>
                <a:spcPts val="0"/>
              </a:spcBef>
              <a:spcAft>
                <a:spcPts val="300"/>
              </a:spcAft>
              <a:buClr>
                <a:schemeClr val="accent1"/>
              </a:buClr>
            </a:pPr>
            <a:br>
              <a:rPr lang="en-US" sz="1600" b="1" dirty="0">
                <a:solidFill>
                  <a:schemeClr val="bg1"/>
                </a:solidFill>
                <a:cs typeface="Arial" pitchFamily="34" charset="0"/>
              </a:rPr>
            </a:br>
            <a:r>
              <a:rPr lang="en-US" sz="2000" b="1" dirty="0">
                <a:solidFill>
                  <a:srgbClr val="41AAAA"/>
                </a:solidFill>
                <a:cs typeface="Arial" pitchFamily="34" charset="0"/>
              </a:rPr>
              <a:t>KG Modeling Tool</a:t>
            </a:r>
          </a:p>
          <a:p>
            <a:pPr>
              <a:spcBef>
                <a:spcPts val="0"/>
              </a:spcBef>
              <a:spcAft>
                <a:spcPts val="300"/>
              </a:spcAft>
              <a:buClr>
                <a:schemeClr val="accent1"/>
              </a:buClr>
            </a:pPr>
            <a:r>
              <a:rPr lang="en-US" sz="1400" dirty="0">
                <a:solidFill>
                  <a:schemeClr val="tx1"/>
                </a:solidFill>
                <a:cs typeface="Arial" pitchFamily="34" charset="0"/>
              </a:rPr>
              <a:t>Engineers and experts to setup the common domain model based on modeling tool.</a:t>
            </a:r>
            <a:endParaRPr kumimoji="0" lang="en-US" sz="1400" i="0" u="none" strike="noStrike" kern="1200" cap="none" spc="0" normalizeH="0" baseline="0" noProof="0" dirty="0">
              <a:ln>
                <a:noFill/>
              </a:ln>
              <a:solidFill>
                <a:schemeClr val="tx1"/>
              </a:solidFill>
              <a:effectLst/>
              <a:uLnTx/>
              <a:uFillTx/>
              <a:cs typeface="Arial" pitchFamily="34" charset="0"/>
            </a:endParaRPr>
          </a:p>
        </p:txBody>
      </p:sp>
      <p:sp>
        <p:nvSpPr>
          <p:cNvPr id="25" name="Rechteck 66">
            <a:extLst>
              <a:ext uri="{FF2B5EF4-FFF2-40B4-BE49-F238E27FC236}">
                <a16:creationId xmlns:a16="http://schemas.microsoft.com/office/drawing/2014/main" id="{082FA3C8-C13D-7D6F-EF55-EDDF68728579}"/>
              </a:ext>
            </a:extLst>
          </p:cNvPr>
          <p:cNvSpPr>
            <a:spLocks/>
          </p:cNvSpPr>
          <p:nvPr/>
        </p:nvSpPr>
        <p:spPr bwMode="auto">
          <a:xfrm>
            <a:off x="549490" y="1631915"/>
            <a:ext cx="3313503" cy="3289406"/>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pic>
        <p:nvPicPr>
          <p:cNvPr id="9" name="Picture 8">
            <a:extLst>
              <a:ext uri="{FF2B5EF4-FFF2-40B4-BE49-F238E27FC236}">
                <a16:creationId xmlns:a16="http://schemas.microsoft.com/office/drawing/2014/main" id="{63A0CD3B-AA87-4639-9C3D-1DCE40444255}"/>
              </a:ext>
            </a:extLst>
          </p:cNvPr>
          <p:cNvPicPr>
            <a:picLocks noChangeAspect="1"/>
          </p:cNvPicPr>
          <p:nvPr/>
        </p:nvPicPr>
        <p:blipFill>
          <a:blip r:embed="rId2"/>
          <a:stretch>
            <a:fillRect/>
          </a:stretch>
        </p:blipFill>
        <p:spPr>
          <a:xfrm>
            <a:off x="1759585" y="1972364"/>
            <a:ext cx="1898014" cy="656191"/>
          </a:xfrm>
          <a:prstGeom prst="rect">
            <a:avLst/>
          </a:prstGeom>
        </p:spPr>
      </p:pic>
      <p:grpSp>
        <p:nvGrpSpPr>
          <p:cNvPr id="27" name="Gruppieren 55">
            <a:extLst>
              <a:ext uri="{FF2B5EF4-FFF2-40B4-BE49-F238E27FC236}">
                <a16:creationId xmlns:a16="http://schemas.microsoft.com/office/drawing/2014/main" id="{894D3EA7-59C7-8665-B0EF-323DF2A83641}"/>
              </a:ext>
            </a:extLst>
          </p:cNvPr>
          <p:cNvGrpSpPr/>
          <p:nvPr/>
        </p:nvGrpSpPr>
        <p:grpSpPr bwMode="gray">
          <a:xfrm>
            <a:off x="855255" y="1972364"/>
            <a:ext cx="203905" cy="732459"/>
            <a:chOff x="9495373" y="3534492"/>
            <a:chExt cx="780777" cy="2804684"/>
          </a:xfrm>
        </p:grpSpPr>
        <p:sp>
          <p:nvSpPr>
            <p:cNvPr id="28" name="Freeform 765">
              <a:extLst>
                <a:ext uri="{FF2B5EF4-FFF2-40B4-BE49-F238E27FC236}">
                  <a16:creationId xmlns:a16="http://schemas.microsoft.com/office/drawing/2014/main" id="{F0B6C719-1ACD-A0A3-B238-81A5547D3E0E}"/>
                </a:ext>
              </a:extLst>
            </p:cNvPr>
            <p:cNvSpPr>
              <a:spLocks/>
            </p:cNvSpPr>
            <p:nvPr/>
          </p:nvSpPr>
          <p:spPr bwMode="gray">
            <a:xfrm>
              <a:off x="9660925" y="3615777"/>
              <a:ext cx="450420" cy="643563"/>
            </a:xfrm>
            <a:custGeom>
              <a:avLst/>
              <a:gdLst>
                <a:gd name="T0" fmla="*/ 546 w 551"/>
                <a:gd name="T1" fmla="*/ 389 h 787"/>
                <a:gd name="T2" fmla="*/ 507 w 551"/>
                <a:gd name="T3" fmla="*/ 487 h 787"/>
                <a:gd name="T4" fmla="*/ 485 w 551"/>
                <a:gd name="T5" fmla="*/ 502 h 787"/>
                <a:gd name="T6" fmla="*/ 466 w 551"/>
                <a:gd name="T7" fmla="*/ 502 h 787"/>
                <a:gd name="T8" fmla="*/ 445 w 551"/>
                <a:gd name="T9" fmla="*/ 587 h 787"/>
                <a:gd name="T10" fmla="*/ 420 w 551"/>
                <a:gd name="T11" fmla="*/ 602 h 787"/>
                <a:gd name="T12" fmla="*/ 419 w 551"/>
                <a:gd name="T13" fmla="*/ 688 h 787"/>
                <a:gd name="T14" fmla="*/ 292 w 551"/>
                <a:gd name="T15" fmla="*/ 787 h 787"/>
                <a:gd name="T16" fmla="*/ 258 w 551"/>
                <a:gd name="T17" fmla="*/ 787 h 787"/>
                <a:gd name="T18" fmla="*/ 131 w 551"/>
                <a:gd name="T19" fmla="*/ 688 h 787"/>
                <a:gd name="T20" fmla="*/ 130 w 551"/>
                <a:gd name="T21" fmla="*/ 602 h 787"/>
                <a:gd name="T22" fmla="*/ 105 w 551"/>
                <a:gd name="T23" fmla="*/ 587 h 787"/>
                <a:gd name="T24" fmla="*/ 85 w 551"/>
                <a:gd name="T25" fmla="*/ 502 h 787"/>
                <a:gd name="T26" fmla="*/ 65 w 551"/>
                <a:gd name="T27" fmla="*/ 502 h 787"/>
                <a:gd name="T28" fmla="*/ 43 w 551"/>
                <a:gd name="T29" fmla="*/ 487 h 787"/>
                <a:gd name="T30" fmla="*/ 4 w 551"/>
                <a:gd name="T31" fmla="*/ 389 h 787"/>
                <a:gd name="T32" fmla="*/ 17 w 551"/>
                <a:gd name="T33" fmla="*/ 359 h 787"/>
                <a:gd name="T34" fmla="*/ 55 w 551"/>
                <a:gd name="T35" fmla="*/ 376 h 787"/>
                <a:gd name="T36" fmla="*/ 41 w 551"/>
                <a:gd name="T37" fmla="*/ 238 h 787"/>
                <a:gd name="T38" fmla="*/ 61 w 551"/>
                <a:gd name="T39" fmla="*/ 74 h 787"/>
                <a:gd name="T40" fmla="*/ 213 w 551"/>
                <a:gd name="T41" fmla="*/ 0 h 787"/>
                <a:gd name="T42" fmla="*/ 337 w 551"/>
                <a:gd name="T43" fmla="*/ 0 h 787"/>
                <a:gd name="T44" fmla="*/ 489 w 551"/>
                <a:gd name="T45" fmla="*/ 74 h 787"/>
                <a:gd name="T46" fmla="*/ 509 w 551"/>
                <a:gd name="T47" fmla="*/ 238 h 787"/>
                <a:gd name="T48" fmla="*/ 495 w 551"/>
                <a:gd name="T49" fmla="*/ 376 h 787"/>
                <a:gd name="T50" fmla="*/ 533 w 551"/>
                <a:gd name="T51" fmla="*/ 359 h 787"/>
                <a:gd name="T52" fmla="*/ 546 w 551"/>
                <a:gd name="T53" fmla="*/ 389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1" h="787">
                  <a:moveTo>
                    <a:pt x="546" y="389"/>
                  </a:moveTo>
                  <a:cubicBezTo>
                    <a:pt x="507" y="487"/>
                    <a:pt x="507" y="487"/>
                    <a:pt x="507" y="487"/>
                  </a:cubicBezTo>
                  <a:cubicBezTo>
                    <a:pt x="504" y="497"/>
                    <a:pt x="495" y="502"/>
                    <a:pt x="485" y="502"/>
                  </a:cubicBezTo>
                  <a:cubicBezTo>
                    <a:pt x="466" y="502"/>
                    <a:pt x="466" y="502"/>
                    <a:pt x="466" y="502"/>
                  </a:cubicBezTo>
                  <a:cubicBezTo>
                    <a:pt x="445" y="587"/>
                    <a:pt x="445" y="587"/>
                    <a:pt x="445" y="587"/>
                  </a:cubicBezTo>
                  <a:cubicBezTo>
                    <a:pt x="420" y="602"/>
                    <a:pt x="420" y="602"/>
                    <a:pt x="420" y="602"/>
                  </a:cubicBezTo>
                  <a:cubicBezTo>
                    <a:pt x="419" y="688"/>
                    <a:pt x="419" y="688"/>
                    <a:pt x="419" y="688"/>
                  </a:cubicBezTo>
                  <a:cubicBezTo>
                    <a:pt x="292" y="787"/>
                    <a:pt x="292" y="787"/>
                    <a:pt x="292" y="787"/>
                  </a:cubicBezTo>
                  <a:cubicBezTo>
                    <a:pt x="258" y="787"/>
                    <a:pt x="258" y="787"/>
                    <a:pt x="258" y="787"/>
                  </a:cubicBezTo>
                  <a:cubicBezTo>
                    <a:pt x="131" y="688"/>
                    <a:pt x="131" y="688"/>
                    <a:pt x="131" y="688"/>
                  </a:cubicBezTo>
                  <a:cubicBezTo>
                    <a:pt x="130" y="602"/>
                    <a:pt x="130" y="602"/>
                    <a:pt x="130" y="602"/>
                  </a:cubicBezTo>
                  <a:cubicBezTo>
                    <a:pt x="105" y="587"/>
                    <a:pt x="105" y="587"/>
                    <a:pt x="105" y="587"/>
                  </a:cubicBezTo>
                  <a:cubicBezTo>
                    <a:pt x="85" y="502"/>
                    <a:pt x="85" y="502"/>
                    <a:pt x="85" y="502"/>
                  </a:cubicBezTo>
                  <a:cubicBezTo>
                    <a:pt x="65" y="502"/>
                    <a:pt x="65" y="502"/>
                    <a:pt x="65" y="502"/>
                  </a:cubicBezTo>
                  <a:cubicBezTo>
                    <a:pt x="55" y="502"/>
                    <a:pt x="46" y="497"/>
                    <a:pt x="43" y="487"/>
                  </a:cubicBezTo>
                  <a:cubicBezTo>
                    <a:pt x="4" y="389"/>
                    <a:pt x="4" y="389"/>
                    <a:pt x="4" y="389"/>
                  </a:cubicBezTo>
                  <a:cubicBezTo>
                    <a:pt x="0" y="378"/>
                    <a:pt x="5" y="364"/>
                    <a:pt x="17" y="359"/>
                  </a:cubicBezTo>
                  <a:cubicBezTo>
                    <a:pt x="31" y="353"/>
                    <a:pt x="53" y="361"/>
                    <a:pt x="55" y="376"/>
                  </a:cubicBezTo>
                  <a:cubicBezTo>
                    <a:pt x="41" y="238"/>
                    <a:pt x="41" y="238"/>
                    <a:pt x="41" y="238"/>
                  </a:cubicBezTo>
                  <a:cubicBezTo>
                    <a:pt x="61" y="74"/>
                    <a:pt x="61" y="74"/>
                    <a:pt x="61" y="74"/>
                  </a:cubicBezTo>
                  <a:cubicBezTo>
                    <a:pt x="213" y="0"/>
                    <a:pt x="213" y="0"/>
                    <a:pt x="213" y="0"/>
                  </a:cubicBezTo>
                  <a:cubicBezTo>
                    <a:pt x="337" y="0"/>
                    <a:pt x="337" y="0"/>
                    <a:pt x="337" y="0"/>
                  </a:cubicBezTo>
                  <a:cubicBezTo>
                    <a:pt x="489" y="74"/>
                    <a:pt x="489" y="74"/>
                    <a:pt x="489" y="74"/>
                  </a:cubicBezTo>
                  <a:cubicBezTo>
                    <a:pt x="509" y="238"/>
                    <a:pt x="509" y="238"/>
                    <a:pt x="509" y="238"/>
                  </a:cubicBezTo>
                  <a:cubicBezTo>
                    <a:pt x="495" y="376"/>
                    <a:pt x="495" y="376"/>
                    <a:pt x="495" y="376"/>
                  </a:cubicBezTo>
                  <a:cubicBezTo>
                    <a:pt x="497" y="361"/>
                    <a:pt x="519" y="353"/>
                    <a:pt x="533" y="359"/>
                  </a:cubicBezTo>
                  <a:cubicBezTo>
                    <a:pt x="545" y="364"/>
                    <a:pt x="551" y="378"/>
                    <a:pt x="546" y="389"/>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766">
              <a:extLst>
                <a:ext uri="{FF2B5EF4-FFF2-40B4-BE49-F238E27FC236}">
                  <a16:creationId xmlns:a16="http://schemas.microsoft.com/office/drawing/2014/main" id="{3B04B539-B649-0D8E-228B-C58E94CAEF51}"/>
                </a:ext>
              </a:extLst>
            </p:cNvPr>
            <p:cNvSpPr>
              <a:spLocks/>
            </p:cNvSpPr>
            <p:nvPr/>
          </p:nvSpPr>
          <p:spPr bwMode="gray">
            <a:xfrm>
              <a:off x="9694482" y="3615777"/>
              <a:ext cx="382559" cy="336323"/>
            </a:xfrm>
            <a:custGeom>
              <a:avLst/>
              <a:gdLst>
                <a:gd name="T0" fmla="*/ 513 w 513"/>
                <a:gd name="T1" fmla="*/ 261 h 451"/>
                <a:gd name="T2" fmla="*/ 498 w 513"/>
                <a:gd name="T3" fmla="*/ 412 h 451"/>
                <a:gd name="T4" fmla="*/ 490 w 513"/>
                <a:gd name="T5" fmla="*/ 451 h 451"/>
                <a:gd name="T6" fmla="*/ 488 w 513"/>
                <a:gd name="T7" fmla="*/ 451 h 451"/>
                <a:gd name="T8" fmla="*/ 412 w 513"/>
                <a:gd name="T9" fmla="*/ 151 h 451"/>
                <a:gd name="T10" fmla="*/ 198 w 513"/>
                <a:gd name="T11" fmla="*/ 229 h 451"/>
                <a:gd name="T12" fmla="*/ 101 w 513"/>
                <a:gd name="T13" fmla="*/ 151 h 451"/>
                <a:gd name="T14" fmla="*/ 25 w 513"/>
                <a:gd name="T15" fmla="*/ 451 h 451"/>
                <a:gd name="T16" fmla="*/ 23 w 513"/>
                <a:gd name="T17" fmla="*/ 451 h 451"/>
                <a:gd name="T18" fmla="*/ 15 w 513"/>
                <a:gd name="T19" fmla="*/ 412 h 451"/>
                <a:gd name="T20" fmla="*/ 0 w 513"/>
                <a:gd name="T21" fmla="*/ 261 h 451"/>
                <a:gd name="T22" fmla="*/ 22 w 513"/>
                <a:gd name="T23" fmla="*/ 81 h 451"/>
                <a:gd name="T24" fmla="*/ 189 w 513"/>
                <a:gd name="T25" fmla="*/ 0 h 451"/>
                <a:gd name="T26" fmla="*/ 325 w 513"/>
                <a:gd name="T27" fmla="*/ 0 h 451"/>
                <a:gd name="T28" fmla="*/ 491 w 513"/>
                <a:gd name="T29" fmla="*/ 81 h 451"/>
                <a:gd name="T30" fmla="*/ 513 w 513"/>
                <a:gd name="T31" fmla="*/ 261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3" h="451">
                  <a:moveTo>
                    <a:pt x="513" y="261"/>
                  </a:moveTo>
                  <a:lnTo>
                    <a:pt x="498" y="412"/>
                  </a:lnTo>
                  <a:lnTo>
                    <a:pt x="490" y="451"/>
                  </a:lnTo>
                  <a:lnTo>
                    <a:pt x="488" y="451"/>
                  </a:lnTo>
                  <a:lnTo>
                    <a:pt x="412" y="151"/>
                  </a:lnTo>
                  <a:lnTo>
                    <a:pt x="198" y="229"/>
                  </a:lnTo>
                  <a:lnTo>
                    <a:pt x="101" y="151"/>
                  </a:lnTo>
                  <a:lnTo>
                    <a:pt x="25" y="451"/>
                  </a:lnTo>
                  <a:lnTo>
                    <a:pt x="23" y="451"/>
                  </a:lnTo>
                  <a:lnTo>
                    <a:pt x="15" y="412"/>
                  </a:lnTo>
                  <a:lnTo>
                    <a:pt x="0" y="261"/>
                  </a:lnTo>
                  <a:lnTo>
                    <a:pt x="22" y="81"/>
                  </a:lnTo>
                  <a:lnTo>
                    <a:pt x="189" y="0"/>
                  </a:lnTo>
                  <a:lnTo>
                    <a:pt x="325" y="0"/>
                  </a:lnTo>
                  <a:lnTo>
                    <a:pt x="491" y="81"/>
                  </a:lnTo>
                  <a:lnTo>
                    <a:pt x="513" y="261"/>
                  </a:lnTo>
                  <a:close/>
                </a:path>
              </a:pathLst>
            </a:custGeom>
            <a:solidFill>
              <a:srgbClr val="050A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767">
              <a:extLst>
                <a:ext uri="{FF2B5EF4-FFF2-40B4-BE49-F238E27FC236}">
                  <a16:creationId xmlns:a16="http://schemas.microsoft.com/office/drawing/2014/main" id="{CCEC7D7A-3186-72C7-7D66-C3E49D695FBF}"/>
                </a:ext>
              </a:extLst>
            </p:cNvPr>
            <p:cNvSpPr>
              <a:spLocks/>
            </p:cNvSpPr>
            <p:nvPr/>
          </p:nvSpPr>
          <p:spPr bwMode="gray">
            <a:xfrm>
              <a:off x="9495373" y="4178801"/>
              <a:ext cx="780777" cy="944837"/>
            </a:xfrm>
            <a:custGeom>
              <a:avLst/>
              <a:gdLst>
                <a:gd name="T0" fmla="*/ 1047 w 1047"/>
                <a:gd name="T1" fmla="*/ 624 h 1267"/>
                <a:gd name="T2" fmla="*/ 1025 w 1047"/>
                <a:gd name="T3" fmla="*/ 623 h 1267"/>
                <a:gd name="T4" fmla="*/ 883 w 1047"/>
                <a:gd name="T5" fmla="*/ 618 h 1267"/>
                <a:gd name="T6" fmla="*/ 883 w 1047"/>
                <a:gd name="T7" fmla="*/ 1267 h 1267"/>
                <a:gd name="T8" fmla="*/ 165 w 1047"/>
                <a:gd name="T9" fmla="*/ 1267 h 1267"/>
                <a:gd name="T10" fmla="*/ 165 w 1047"/>
                <a:gd name="T11" fmla="*/ 618 h 1267"/>
                <a:gd name="T12" fmla="*/ 164 w 1047"/>
                <a:gd name="T13" fmla="*/ 618 h 1267"/>
                <a:gd name="T14" fmla="*/ 22 w 1047"/>
                <a:gd name="T15" fmla="*/ 623 h 1267"/>
                <a:gd name="T16" fmla="*/ 0 w 1047"/>
                <a:gd name="T17" fmla="*/ 624 h 1267"/>
                <a:gd name="T18" fmla="*/ 14 w 1047"/>
                <a:gd name="T19" fmla="*/ 273 h 1267"/>
                <a:gd name="T20" fmla="*/ 87 w 1047"/>
                <a:gd name="T21" fmla="*/ 133 h 1267"/>
                <a:gd name="T22" fmla="*/ 164 w 1047"/>
                <a:gd name="T23" fmla="*/ 96 h 1267"/>
                <a:gd name="T24" fmla="*/ 267 w 1047"/>
                <a:gd name="T25" fmla="*/ 47 h 1267"/>
                <a:gd name="T26" fmla="*/ 366 w 1047"/>
                <a:gd name="T27" fmla="*/ 0 h 1267"/>
                <a:gd name="T28" fmla="*/ 366 w 1047"/>
                <a:gd name="T29" fmla="*/ 0 h 1267"/>
                <a:gd name="T30" fmla="*/ 505 w 1047"/>
                <a:gd name="T31" fmla="*/ 108 h 1267"/>
                <a:gd name="T32" fmla="*/ 542 w 1047"/>
                <a:gd name="T33" fmla="*/ 108 h 1267"/>
                <a:gd name="T34" fmla="*/ 682 w 1047"/>
                <a:gd name="T35" fmla="*/ 0 h 1267"/>
                <a:gd name="T36" fmla="*/ 780 w 1047"/>
                <a:gd name="T37" fmla="*/ 47 h 1267"/>
                <a:gd name="T38" fmla="*/ 883 w 1047"/>
                <a:gd name="T39" fmla="*/ 97 h 1267"/>
                <a:gd name="T40" fmla="*/ 960 w 1047"/>
                <a:gd name="T41" fmla="*/ 133 h 1267"/>
                <a:gd name="T42" fmla="*/ 1034 w 1047"/>
                <a:gd name="T43" fmla="*/ 273 h 1267"/>
                <a:gd name="T44" fmla="*/ 1047 w 1047"/>
                <a:gd name="T45" fmla="*/ 624 h 1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7" h="1267">
                  <a:moveTo>
                    <a:pt x="1047" y="624"/>
                  </a:moveTo>
                  <a:lnTo>
                    <a:pt x="1025" y="623"/>
                  </a:lnTo>
                  <a:lnTo>
                    <a:pt x="883" y="618"/>
                  </a:lnTo>
                  <a:lnTo>
                    <a:pt x="883" y="1267"/>
                  </a:lnTo>
                  <a:lnTo>
                    <a:pt x="165" y="1267"/>
                  </a:lnTo>
                  <a:lnTo>
                    <a:pt x="165" y="618"/>
                  </a:lnTo>
                  <a:lnTo>
                    <a:pt x="164" y="618"/>
                  </a:lnTo>
                  <a:lnTo>
                    <a:pt x="22" y="623"/>
                  </a:lnTo>
                  <a:lnTo>
                    <a:pt x="0" y="624"/>
                  </a:lnTo>
                  <a:lnTo>
                    <a:pt x="14" y="273"/>
                  </a:lnTo>
                  <a:lnTo>
                    <a:pt x="87" y="133"/>
                  </a:lnTo>
                  <a:lnTo>
                    <a:pt x="164" y="96"/>
                  </a:lnTo>
                  <a:lnTo>
                    <a:pt x="267" y="47"/>
                  </a:lnTo>
                  <a:lnTo>
                    <a:pt x="366" y="0"/>
                  </a:lnTo>
                  <a:lnTo>
                    <a:pt x="366" y="0"/>
                  </a:lnTo>
                  <a:lnTo>
                    <a:pt x="505" y="108"/>
                  </a:lnTo>
                  <a:lnTo>
                    <a:pt x="542" y="108"/>
                  </a:lnTo>
                  <a:lnTo>
                    <a:pt x="682" y="0"/>
                  </a:lnTo>
                  <a:lnTo>
                    <a:pt x="780" y="47"/>
                  </a:lnTo>
                  <a:lnTo>
                    <a:pt x="883" y="97"/>
                  </a:lnTo>
                  <a:lnTo>
                    <a:pt x="960" y="133"/>
                  </a:lnTo>
                  <a:lnTo>
                    <a:pt x="1034" y="273"/>
                  </a:lnTo>
                  <a:lnTo>
                    <a:pt x="1047" y="624"/>
                  </a:ln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Line 768">
              <a:extLst>
                <a:ext uri="{FF2B5EF4-FFF2-40B4-BE49-F238E27FC236}">
                  <a16:creationId xmlns:a16="http://schemas.microsoft.com/office/drawing/2014/main" id="{BCE2C635-2723-C0F6-5206-BA72FB841173}"/>
                </a:ext>
              </a:extLst>
            </p:cNvPr>
            <p:cNvSpPr>
              <a:spLocks noChangeShapeType="1"/>
            </p:cNvSpPr>
            <p:nvPr/>
          </p:nvSpPr>
          <p:spPr bwMode="gray">
            <a:xfrm>
              <a:off x="10153851" y="463966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Line 769">
              <a:extLst>
                <a:ext uri="{FF2B5EF4-FFF2-40B4-BE49-F238E27FC236}">
                  <a16:creationId xmlns:a16="http://schemas.microsoft.com/office/drawing/2014/main" id="{1400EDB9-B987-5A9E-6BC0-9DE96440AA65}"/>
                </a:ext>
              </a:extLst>
            </p:cNvPr>
            <p:cNvSpPr>
              <a:spLocks noChangeShapeType="1"/>
            </p:cNvSpPr>
            <p:nvPr/>
          </p:nvSpPr>
          <p:spPr bwMode="gray">
            <a:xfrm>
              <a:off x="10153851" y="463966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770">
              <a:extLst>
                <a:ext uri="{FF2B5EF4-FFF2-40B4-BE49-F238E27FC236}">
                  <a16:creationId xmlns:a16="http://schemas.microsoft.com/office/drawing/2014/main" id="{F044B80F-DB44-6D25-0B23-B3CB98405F07}"/>
                </a:ext>
              </a:extLst>
            </p:cNvPr>
            <p:cNvSpPr>
              <a:spLocks/>
            </p:cNvSpPr>
            <p:nvPr/>
          </p:nvSpPr>
          <p:spPr bwMode="gray">
            <a:xfrm>
              <a:off x="9897320" y="6232537"/>
              <a:ext cx="205075" cy="106639"/>
            </a:xfrm>
            <a:custGeom>
              <a:avLst/>
              <a:gdLst>
                <a:gd name="T0" fmla="*/ 275 w 275"/>
                <a:gd name="T1" fmla="*/ 143 h 143"/>
                <a:gd name="T2" fmla="*/ 0 w 275"/>
                <a:gd name="T3" fmla="*/ 143 h 143"/>
                <a:gd name="T4" fmla="*/ 0 w 275"/>
                <a:gd name="T5" fmla="*/ 136 h 143"/>
                <a:gd name="T6" fmla="*/ 47 w 275"/>
                <a:gd name="T7" fmla="*/ 0 h 143"/>
                <a:gd name="T8" fmla="*/ 214 w 275"/>
                <a:gd name="T9" fmla="*/ 0 h 143"/>
                <a:gd name="T10" fmla="*/ 275 w 275"/>
                <a:gd name="T11" fmla="*/ 143 h 143"/>
              </a:gdLst>
              <a:ahLst/>
              <a:cxnLst>
                <a:cxn ang="0">
                  <a:pos x="T0" y="T1"/>
                </a:cxn>
                <a:cxn ang="0">
                  <a:pos x="T2" y="T3"/>
                </a:cxn>
                <a:cxn ang="0">
                  <a:pos x="T4" y="T5"/>
                </a:cxn>
                <a:cxn ang="0">
                  <a:pos x="T6" y="T7"/>
                </a:cxn>
                <a:cxn ang="0">
                  <a:pos x="T8" y="T9"/>
                </a:cxn>
                <a:cxn ang="0">
                  <a:pos x="T10" y="T11"/>
                </a:cxn>
              </a:cxnLst>
              <a:rect l="0" t="0" r="r" b="b"/>
              <a:pathLst>
                <a:path w="275" h="143">
                  <a:moveTo>
                    <a:pt x="275" y="143"/>
                  </a:moveTo>
                  <a:lnTo>
                    <a:pt x="0" y="143"/>
                  </a:lnTo>
                  <a:lnTo>
                    <a:pt x="0" y="136"/>
                  </a:lnTo>
                  <a:lnTo>
                    <a:pt x="47" y="0"/>
                  </a:lnTo>
                  <a:lnTo>
                    <a:pt x="214" y="0"/>
                  </a:lnTo>
                  <a:lnTo>
                    <a:pt x="275" y="1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771">
              <a:extLst>
                <a:ext uri="{FF2B5EF4-FFF2-40B4-BE49-F238E27FC236}">
                  <a16:creationId xmlns:a16="http://schemas.microsoft.com/office/drawing/2014/main" id="{8FF1BEEC-D1A4-A7F2-9031-DB0AF1D32C6F}"/>
                </a:ext>
              </a:extLst>
            </p:cNvPr>
            <p:cNvSpPr>
              <a:spLocks/>
            </p:cNvSpPr>
            <p:nvPr/>
          </p:nvSpPr>
          <p:spPr bwMode="gray">
            <a:xfrm>
              <a:off x="10143411" y="4639661"/>
              <a:ext cx="116334" cy="735288"/>
            </a:xfrm>
            <a:custGeom>
              <a:avLst/>
              <a:gdLst>
                <a:gd name="T0" fmla="*/ 116 w 156"/>
                <a:gd name="T1" fmla="*/ 636 h 986"/>
                <a:gd name="T2" fmla="*/ 152 w 156"/>
                <a:gd name="T3" fmla="*/ 736 h 986"/>
                <a:gd name="T4" fmla="*/ 71 w 156"/>
                <a:gd name="T5" fmla="*/ 986 h 986"/>
                <a:gd name="T6" fmla="*/ 8 w 156"/>
                <a:gd name="T7" fmla="*/ 986 h 986"/>
                <a:gd name="T8" fmla="*/ 0 w 156"/>
                <a:gd name="T9" fmla="*/ 985 h 986"/>
                <a:gd name="T10" fmla="*/ 14 w 156"/>
                <a:gd name="T11" fmla="*/ 648 h 986"/>
                <a:gd name="T12" fmla="*/ 14 w 156"/>
                <a:gd name="T13" fmla="*/ 648 h 986"/>
                <a:gd name="T14" fmla="*/ 14 w 156"/>
                <a:gd name="T15" fmla="*/ 0 h 986"/>
                <a:gd name="T16" fmla="*/ 156 w 156"/>
                <a:gd name="T17" fmla="*/ 5 h 986"/>
                <a:gd name="T18" fmla="*/ 144 w 156"/>
                <a:gd name="T19" fmla="*/ 206 h 986"/>
                <a:gd name="T20" fmla="*/ 116 w 156"/>
                <a:gd name="T21" fmla="*/ 636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986">
                  <a:moveTo>
                    <a:pt x="116" y="636"/>
                  </a:moveTo>
                  <a:lnTo>
                    <a:pt x="152" y="736"/>
                  </a:lnTo>
                  <a:lnTo>
                    <a:pt x="71" y="986"/>
                  </a:lnTo>
                  <a:lnTo>
                    <a:pt x="8" y="986"/>
                  </a:lnTo>
                  <a:lnTo>
                    <a:pt x="0" y="985"/>
                  </a:lnTo>
                  <a:lnTo>
                    <a:pt x="14" y="648"/>
                  </a:lnTo>
                  <a:lnTo>
                    <a:pt x="14" y="648"/>
                  </a:lnTo>
                  <a:lnTo>
                    <a:pt x="14" y="0"/>
                  </a:lnTo>
                  <a:lnTo>
                    <a:pt x="156" y="5"/>
                  </a:lnTo>
                  <a:lnTo>
                    <a:pt x="144" y="206"/>
                  </a:lnTo>
                  <a:lnTo>
                    <a:pt x="116" y="636"/>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Line 772">
              <a:extLst>
                <a:ext uri="{FF2B5EF4-FFF2-40B4-BE49-F238E27FC236}">
                  <a16:creationId xmlns:a16="http://schemas.microsoft.com/office/drawing/2014/main" id="{7697867F-186F-A8A9-E2B4-D9D8C9BA26CC}"/>
                </a:ext>
              </a:extLst>
            </p:cNvPr>
            <p:cNvSpPr>
              <a:spLocks noChangeShapeType="1"/>
            </p:cNvSpPr>
            <p:nvPr/>
          </p:nvSpPr>
          <p:spPr bwMode="gray">
            <a:xfrm>
              <a:off x="10259744"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Line 773">
              <a:extLst>
                <a:ext uri="{FF2B5EF4-FFF2-40B4-BE49-F238E27FC236}">
                  <a16:creationId xmlns:a16="http://schemas.microsoft.com/office/drawing/2014/main" id="{FCC87E80-D1D7-05EA-CD29-D85761389932}"/>
                </a:ext>
              </a:extLst>
            </p:cNvPr>
            <p:cNvSpPr>
              <a:spLocks noChangeShapeType="1"/>
            </p:cNvSpPr>
            <p:nvPr/>
          </p:nvSpPr>
          <p:spPr bwMode="gray">
            <a:xfrm>
              <a:off x="10259744"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774">
              <a:extLst>
                <a:ext uri="{FF2B5EF4-FFF2-40B4-BE49-F238E27FC236}">
                  <a16:creationId xmlns:a16="http://schemas.microsoft.com/office/drawing/2014/main" id="{681718B4-3971-78B7-0838-4529BD896874}"/>
                </a:ext>
              </a:extLst>
            </p:cNvPr>
            <p:cNvSpPr>
              <a:spLocks/>
            </p:cNvSpPr>
            <p:nvPr/>
          </p:nvSpPr>
          <p:spPr bwMode="gray">
            <a:xfrm>
              <a:off x="9511779" y="4639661"/>
              <a:ext cx="116334" cy="735288"/>
            </a:xfrm>
            <a:custGeom>
              <a:avLst/>
              <a:gdLst>
                <a:gd name="T0" fmla="*/ 156 w 156"/>
                <a:gd name="T1" fmla="*/ 985 h 986"/>
                <a:gd name="T2" fmla="*/ 156 w 156"/>
                <a:gd name="T3" fmla="*/ 985 h 986"/>
                <a:gd name="T4" fmla="*/ 150 w 156"/>
                <a:gd name="T5" fmla="*/ 986 h 986"/>
                <a:gd name="T6" fmla="*/ 85 w 156"/>
                <a:gd name="T7" fmla="*/ 986 h 986"/>
                <a:gd name="T8" fmla="*/ 4 w 156"/>
                <a:gd name="T9" fmla="*/ 736 h 986"/>
                <a:gd name="T10" fmla="*/ 39 w 156"/>
                <a:gd name="T11" fmla="*/ 636 h 986"/>
                <a:gd name="T12" fmla="*/ 12 w 156"/>
                <a:gd name="T13" fmla="*/ 206 h 986"/>
                <a:gd name="T14" fmla="*/ 0 w 156"/>
                <a:gd name="T15" fmla="*/ 5 h 986"/>
                <a:gd name="T16" fmla="*/ 142 w 156"/>
                <a:gd name="T17" fmla="*/ 0 h 986"/>
                <a:gd name="T18" fmla="*/ 143 w 156"/>
                <a:gd name="T19" fmla="*/ 0 h 986"/>
                <a:gd name="T20" fmla="*/ 143 w 156"/>
                <a:gd name="T21" fmla="*/ 648 h 986"/>
                <a:gd name="T22" fmla="*/ 142 w 156"/>
                <a:gd name="T23" fmla="*/ 648 h 986"/>
                <a:gd name="T24" fmla="*/ 156 w 156"/>
                <a:gd name="T25" fmla="*/ 985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986">
                  <a:moveTo>
                    <a:pt x="156" y="985"/>
                  </a:moveTo>
                  <a:lnTo>
                    <a:pt x="156" y="985"/>
                  </a:lnTo>
                  <a:lnTo>
                    <a:pt x="150" y="986"/>
                  </a:lnTo>
                  <a:lnTo>
                    <a:pt x="85" y="986"/>
                  </a:lnTo>
                  <a:lnTo>
                    <a:pt x="4" y="736"/>
                  </a:lnTo>
                  <a:lnTo>
                    <a:pt x="39" y="636"/>
                  </a:lnTo>
                  <a:lnTo>
                    <a:pt x="12" y="206"/>
                  </a:lnTo>
                  <a:lnTo>
                    <a:pt x="0" y="5"/>
                  </a:lnTo>
                  <a:lnTo>
                    <a:pt x="142" y="0"/>
                  </a:lnTo>
                  <a:lnTo>
                    <a:pt x="143" y="0"/>
                  </a:lnTo>
                  <a:lnTo>
                    <a:pt x="143" y="648"/>
                  </a:lnTo>
                  <a:lnTo>
                    <a:pt x="142" y="648"/>
                  </a:lnTo>
                  <a:lnTo>
                    <a:pt x="156" y="985"/>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Line 775">
              <a:extLst>
                <a:ext uri="{FF2B5EF4-FFF2-40B4-BE49-F238E27FC236}">
                  <a16:creationId xmlns:a16="http://schemas.microsoft.com/office/drawing/2014/main" id="{263101A4-6028-29CC-96F3-4DB84FFFC5EB}"/>
                </a:ext>
              </a:extLst>
            </p:cNvPr>
            <p:cNvSpPr>
              <a:spLocks noChangeShapeType="1"/>
            </p:cNvSpPr>
            <p:nvPr/>
          </p:nvSpPr>
          <p:spPr bwMode="gray">
            <a:xfrm>
              <a:off x="9511779"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Line 776">
              <a:extLst>
                <a:ext uri="{FF2B5EF4-FFF2-40B4-BE49-F238E27FC236}">
                  <a16:creationId xmlns:a16="http://schemas.microsoft.com/office/drawing/2014/main" id="{8BFA55DB-CE68-35F6-B014-C6AAB4FF6CB9}"/>
                </a:ext>
              </a:extLst>
            </p:cNvPr>
            <p:cNvSpPr>
              <a:spLocks noChangeShapeType="1"/>
            </p:cNvSpPr>
            <p:nvPr/>
          </p:nvSpPr>
          <p:spPr bwMode="gray">
            <a:xfrm>
              <a:off x="9511779"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777">
              <a:extLst>
                <a:ext uri="{FF2B5EF4-FFF2-40B4-BE49-F238E27FC236}">
                  <a16:creationId xmlns:a16="http://schemas.microsoft.com/office/drawing/2014/main" id="{A26D760C-D37F-5F34-1D73-F74FDB188AFC}"/>
                </a:ext>
              </a:extLst>
            </p:cNvPr>
            <p:cNvSpPr>
              <a:spLocks/>
            </p:cNvSpPr>
            <p:nvPr/>
          </p:nvSpPr>
          <p:spPr bwMode="gray">
            <a:xfrm>
              <a:off x="9617672" y="5122893"/>
              <a:ext cx="536178" cy="1216282"/>
            </a:xfrm>
            <a:custGeom>
              <a:avLst/>
              <a:gdLst>
                <a:gd name="T0" fmla="*/ 719 w 719"/>
                <a:gd name="T1" fmla="*/ 0 h 1631"/>
                <a:gd name="T2" fmla="*/ 705 w 719"/>
                <a:gd name="T3" fmla="*/ 337 h 1631"/>
                <a:gd name="T4" fmla="*/ 589 w 719"/>
                <a:gd name="T5" fmla="*/ 1488 h 1631"/>
                <a:gd name="T6" fmla="*/ 422 w 719"/>
                <a:gd name="T7" fmla="*/ 1488 h 1631"/>
                <a:gd name="T8" fmla="*/ 375 w 719"/>
                <a:gd name="T9" fmla="*/ 1624 h 1631"/>
                <a:gd name="T10" fmla="*/ 375 w 719"/>
                <a:gd name="T11" fmla="*/ 1631 h 1631"/>
                <a:gd name="T12" fmla="*/ 344 w 719"/>
                <a:gd name="T13" fmla="*/ 1631 h 1631"/>
                <a:gd name="T14" fmla="*/ 344 w 719"/>
                <a:gd name="T15" fmla="*/ 1624 h 1631"/>
                <a:gd name="T16" fmla="*/ 298 w 719"/>
                <a:gd name="T17" fmla="*/ 1488 h 1631"/>
                <a:gd name="T18" fmla="*/ 131 w 719"/>
                <a:gd name="T19" fmla="*/ 1488 h 1631"/>
                <a:gd name="T20" fmla="*/ 14 w 719"/>
                <a:gd name="T21" fmla="*/ 337 h 1631"/>
                <a:gd name="T22" fmla="*/ 14 w 719"/>
                <a:gd name="T23" fmla="*/ 337 h 1631"/>
                <a:gd name="T24" fmla="*/ 0 w 719"/>
                <a:gd name="T25" fmla="*/ 0 h 1631"/>
                <a:gd name="T26" fmla="*/ 719 w 719"/>
                <a:gd name="T27" fmla="*/ 0 h 1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9" h="1631">
                  <a:moveTo>
                    <a:pt x="719" y="0"/>
                  </a:moveTo>
                  <a:lnTo>
                    <a:pt x="705" y="337"/>
                  </a:lnTo>
                  <a:lnTo>
                    <a:pt x="589" y="1488"/>
                  </a:lnTo>
                  <a:lnTo>
                    <a:pt x="422" y="1488"/>
                  </a:lnTo>
                  <a:lnTo>
                    <a:pt x="375" y="1624"/>
                  </a:lnTo>
                  <a:lnTo>
                    <a:pt x="375" y="1631"/>
                  </a:lnTo>
                  <a:lnTo>
                    <a:pt x="344" y="1631"/>
                  </a:lnTo>
                  <a:lnTo>
                    <a:pt x="344" y="1624"/>
                  </a:lnTo>
                  <a:lnTo>
                    <a:pt x="298" y="1488"/>
                  </a:lnTo>
                  <a:lnTo>
                    <a:pt x="131" y="1488"/>
                  </a:lnTo>
                  <a:lnTo>
                    <a:pt x="14" y="337"/>
                  </a:lnTo>
                  <a:lnTo>
                    <a:pt x="14" y="337"/>
                  </a:lnTo>
                  <a:lnTo>
                    <a:pt x="0" y="0"/>
                  </a:lnTo>
                  <a:lnTo>
                    <a:pt x="719"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778">
              <a:extLst>
                <a:ext uri="{FF2B5EF4-FFF2-40B4-BE49-F238E27FC236}">
                  <a16:creationId xmlns:a16="http://schemas.microsoft.com/office/drawing/2014/main" id="{5E080041-E2A2-4152-5FE1-19C0A4F7D866}"/>
                </a:ext>
              </a:extLst>
            </p:cNvPr>
            <p:cNvSpPr>
              <a:spLocks/>
            </p:cNvSpPr>
            <p:nvPr/>
          </p:nvSpPr>
          <p:spPr bwMode="gray">
            <a:xfrm>
              <a:off x="9669128" y="6232537"/>
              <a:ext cx="205075" cy="106639"/>
            </a:xfrm>
            <a:custGeom>
              <a:avLst/>
              <a:gdLst>
                <a:gd name="T0" fmla="*/ 275 w 275"/>
                <a:gd name="T1" fmla="*/ 136 h 143"/>
                <a:gd name="T2" fmla="*/ 275 w 275"/>
                <a:gd name="T3" fmla="*/ 143 h 143"/>
                <a:gd name="T4" fmla="*/ 0 w 275"/>
                <a:gd name="T5" fmla="*/ 143 h 143"/>
                <a:gd name="T6" fmla="*/ 62 w 275"/>
                <a:gd name="T7" fmla="*/ 0 h 143"/>
                <a:gd name="T8" fmla="*/ 229 w 275"/>
                <a:gd name="T9" fmla="*/ 0 h 143"/>
                <a:gd name="T10" fmla="*/ 275 w 275"/>
                <a:gd name="T11" fmla="*/ 136 h 143"/>
              </a:gdLst>
              <a:ahLst/>
              <a:cxnLst>
                <a:cxn ang="0">
                  <a:pos x="T0" y="T1"/>
                </a:cxn>
                <a:cxn ang="0">
                  <a:pos x="T2" y="T3"/>
                </a:cxn>
                <a:cxn ang="0">
                  <a:pos x="T4" y="T5"/>
                </a:cxn>
                <a:cxn ang="0">
                  <a:pos x="T6" y="T7"/>
                </a:cxn>
                <a:cxn ang="0">
                  <a:pos x="T8" y="T9"/>
                </a:cxn>
                <a:cxn ang="0">
                  <a:pos x="T10" y="T11"/>
                </a:cxn>
              </a:cxnLst>
              <a:rect l="0" t="0" r="r" b="b"/>
              <a:pathLst>
                <a:path w="275" h="143">
                  <a:moveTo>
                    <a:pt x="275" y="136"/>
                  </a:moveTo>
                  <a:lnTo>
                    <a:pt x="275" y="143"/>
                  </a:lnTo>
                  <a:lnTo>
                    <a:pt x="0" y="143"/>
                  </a:lnTo>
                  <a:lnTo>
                    <a:pt x="62" y="0"/>
                  </a:lnTo>
                  <a:lnTo>
                    <a:pt x="229" y="0"/>
                  </a:lnTo>
                  <a:lnTo>
                    <a:pt x="275" y="136"/>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779">
              <a:extLst>
                <a:ext uri="{FF2B5EF4-FFF2-40B4-BE49-F238E27FC236}">
                  <a16:creationId xmlns:a16="http://schemas.microsoft.com/office/drawing/2014/main" id="{71E9278B-76AD-0898-B71D-D6F49C4CF994}"/>
                </a:ext>
              </a:extLst>
            </p:cNvPr>
            <p:cNvSpPr>
              <a:spLocks/>
            </p:cNvSpPr>
            <p:nvPr/>
          </p:nvSpPr>
          <p:spPr bwMode="gray">
            <a:xfrm>
              <a:off x="9877931" y="5346612"/>
              <a:ext cx="17152" cy="992564"/>
            </a:xfrm>
            <a:custGeom>
              <a:avLst/>
              <a:gdLst>
                <a:gd name="T0" fmla="*/ 0 w 23"/>
                <a:gd name="T1" fmla="*/ 1331 h 1331"/>
                <a:gd name="T2" fmla="*/ 0 w 23"/>
                <a:gd name="T3" fmla="*/ 0 h 1331"/>
                <a:gd name="T4" fmla="*/ 22 w 23"/>
                <a:gd name="T5" fmla="*/ 0 h 1331"/>
                <a:gd name="T6" fmla="*/ 23 w 23"/>
                <a:gd name="T7" fmla="*/ 1331 h 1331"/>
                <a:gd name="T8" fmla="*/ 0 w 23"/>
                <a:gd name="T9" fmla="*/ 1331 h 1331"/>
              </a:gdLst>
              <a:ahLst/>
              <a:cxnLst>
                <a:cxn ang="0">
                  <a:pos x="T0" y="T1"/>
                </a:cxn>
                <a:cxn ang="0">
                  <a:pos x="T2" y="T3"/>
                </a:cxn>
                <a:cxn ang="0">
                  <a:pos x="T4" y="T5"/>
                </a:cxn>
                <a:cxn ang="0">
                  <a:pos x="T6" y="T7"/>
                </a:cxn>
                <a:cxn ang="0">
                  <a:pos x="T8" y="T9"/>
                </a:cxn>
              </a:cxnLst>
              <a:rect l="0" t="0" r="r" b="b"/>
              <a:pathLst>
                <a:path w="23" h="1331">
                  <a:moveTo>
                    <a:pt x="0" y="1331"/>
                  </a:moveTo>
                  <a:lnTo>
                    <a:pt x="0" y="0"/>
                  </a:lnTo>
                  <a:lnTo>
                    <a:pt x="22" y="0"/>
                  </a:lnTo>
                  <a:lnTo>
                    <a:pt x="23" y="1331"/>
                  </a:lnTo>
                  <a:lnTo>
                    <a:pt x="0" y="1331"/>
                  </a:lnTo>
                  <a:close/>
                </a:path>
              </a:pathLst>
            </a:custGeom>
            <a:solidFill>
              <a:srgbClr val="006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805">
              <a:extLst>
                <a:ext uri="{FF2B5EF4-FFF2-40B4-BE49-F238E27FC236}">
                  <a16:creationId xmlns:a16="http://schemas.microsoft.com/office/drawing/2014/main" id="{69A3FF48-F159-AC8B-B12F-9097BA66BB04}"/>
                </a:ext>
              </a:extLst>
            </p:cNvPr>
            <p:cNvSpPr>
              <a:spLocks/>
            </p:cNvSpPr>
            <p:nvPr/>
          </p:nvSpPr>
          <p:spPr bwMode="gray">
            <a:xfrm>
              <a:off x="9617672" y="4213851"/>
              <a:ext cx="76810" cy="425811"/>
            </a:xfrm>
            <a:custGeom>
              <a:avLst/>
              <a:gdLst>
                <a:gd name="T0" fmla="*/ 103 w 103"/>
                <a:gd name="T1" fmla="*/ 0 h 571"/>
                <a:gd name="T2" fmla="*/ 103 w 103"/>
                <a:gd name="T3" fmla="*/ 571 h 571"/>
                <a:gd name="T4" fmla="*/ 0 w 103"/>
                <a:gd name="T5" fmla="*/ 571 h 571"/>
                <a:gd name="T6" fmla="*/ 0 w 103"/>
                <a:gd name="T7" fmla="*/ 49 h 571"/>
                <a:gd name="T8" fmla="*/ 103 w 103"/>
                <a:gd name="T9" fmla="*/ 0 h 571"/>
              </a:gdLst>
              <a:ahLst/>
              <a:cxnLst>
                <a:cxn ang="0">
                  <a:pos x="T0" y="T1"/>
                </a:cxn>
                <a:cxn ang="0">
                  <a:pos x="T2" y="T3"/>
                </a:cxn>
                <a:cxn ang="0">
                  <a:pos x="T4" y="T5"/>
                </a:cxn>
                <a:cxn ang="0">
                  <a:pos x="T6" y="T7"/>
                </a:cxn>
                <a:cxn ang="0">
                  <a:pos x="T8" y="T9"/>
                </a:cxn>
              </a:cxnLst>
              <a:rect l="0" t="0" r="r" b="b"/>
              <a:pathLst>
                <a:path w="103" h="571">
                  <a:moveTo>
                    <a:pt x="103" y="0"/>
                  </a:moveTo>
                  <a:lnTo>
                    <a:pt x="103" y="571"/>
                  </a:lnTo>
                  <a:lnTo>
                    <a:pt x="0" y="571"/>
                  </a:lnTo>
                  <a:lnTo>
                    <a:pt x="0" y="49"/>
                  </a:lnTo>
                  <a:lnTo>
                    <a:pt x="103"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806">
              <a:extLst>
                <a:ext uri="{FF2B5EF4-FFF2-40B4-BE49-F238E27FC236}">
                  <a16:creationId xmlns:a16="http://schemas.microsoft.com/office/drawing/2014/main" id="{8586F7C7-C47E-B961-AAF1-1C13B7B09D86}"/>
                </a:ext>
              </a:extLst>
            </p:cNvPr>
            <p:cNvSpPr>
              <a:spLocks/>
            </p:cNvSpPr>
            <p:nvPr/>
          </p:nvSpPr>
          <p:spPr bwMode="gray">
            <a:xfrm>
              <a:off x="10077041" y="4213851"/>
              <a:ext cx="76810" cy="429539"/>
            </a:xfrm>
            <a:custGeom>
              <a:avLst/>
              <a:gdLst>
                <a:gd name="T0" fmla="*/ 103 w 103"/>
                <a:gd name="T1" fmla="*/ 50 h 576"/>
                <a:gd name="T2" fmla="*/ 103 w 103"/>
                <a:gd name="T3" fmla="*/ 576 h 576"/>
                <a:gd name="T4" fmla="*/ 0 w 103"/>
                <a:gd name="T5" fmla="*/ 576 h 576"/>
                <a:gd name="T6" fmla="*/ 0 w 103"/>
                <a:gd name="T7" fmla="*/ 0 h 576"/>
                <a:gd name="T8" fmla="*/ 103 w 103"/>
                <a:gd name="T9" fmla="*/ 50 h 576"/>
              </a:gdLst>
              <a:ahLst/>
              <a:cxnLst>
                <a:cxn ang="0">
                  <a:pos x="T0" y="T1"/>
                </a:cxn>
                <a:cxn ang="0">
                  <a:pos x="T2" y="T3"/>
                </a:cxn>
                <a:cxn ang="0">
                  <a:pos x="T4" y="T5"/>
                </a:cxn>
                <a:cxn ang="0">
                  <a:pos x="T6" y="T7"/>
                </a:cxn>
                <a:cxn ang="0">
                  <a:pos x="T8" y="T9"/>
                </a:cxn>
              </a:cxnLst>
              <a:rect l="0" t="0" r="r" b="b"/>
              <a:pathLst>
                <a:path w="103" h="576">
                  <a:moveTo>
                    <a:pt x="103" y="50"/>
                  </a:moveTo>
                  <a:lnTo>
                    <a:pt x="103" y="576"/>
                  </a:lnTo>
                  <a:lnTo>
                    <a:pt x="0" y="576"/>
                  </a:lnTo>
                  <a:lnTo>
                    <a:pt x="0" y="0"/>
                  </a:lnTo>
                  <a:lnTo>
                    <a:pt x="103" y="5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807">
              <a:extLst>
                <a:ext uri="{FF2B5EF4-FFF2-40B4-BE49-F238E27FC236}">
                  <a16:creationId xmlns:a16="http://schemas.microsoft.com/office/drawing/2014/main" id="{AE981D9F-8743-EB69-6C87-81CEF2254DB4}"/>
                </a:ext>
              </a:extLst>
            </p:cNvPr>
            <p:cNvSpPr>
              <a:spLocks noChangeArrowheads="1"/>
            </p:cNvSpPr>
            <p:nvPr/>
          </p:nvSpPr>
          <p:spPr bwMode="gray">
            <a:xfrm>
              <a:off x="9618418" y="4604612"/>
              <a:ext cx="535433" cy="518281"/>
            </a:xfrm>
            <a:prstGeom prst="rect">
              <a:avLst/>
            </a:prstGeom>
            <a:solidFill>
              <a:srgbClr val="3C91A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808">
              <a:extLst>
                <a:ext uri="{FF2B5EF4-FFF2-40B4-BE49-F238E27FC236}">
                  <a16:creationId xmlns:a16="http://schemas.microsoft.com/office/drawing/2014/main" id="{FA6794FA-75D1-42EA-A1D5-6475B4C1A0D6}"/>
                </a:ext>
              </a:extLst>
            </p:cNvPr>
            <p:cNvSpPr>
              <a:spLocks noChangeArrowheads="1"/>
            </p:cNvSpPr>
            <p:nvPr/>
          </p:nvSpPr>
          <p:spPr bwMode="gray">
            <a:xfrm>
              <a:off x="9716854" y="4700065"/>
              <a:ext cx="338561" cy="16406"/>
            </a:xfrm>
            <a:prstGeom prst="rect">
              <a:avLst/>
            </a:prstGeom>
            <a:solidFill>
              <a:srgbClr val="00648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809">
              <a:extLst>
                <a:ext uri="{FF2B5EF4-FFF2-40B4-BE49-F238E27FC236}">
                  <a16:creationId xmlns:a16="http://schemas.microsoft.com/office/drawing/2014/main" id="{4E5D8A9F-3CD6-C836-FA5A-98AA54B1A4D8}"/>
                </a:ext>
              </a:extLst>
            </p:cNvPr>
            <p:cNvSpPr>
              <a:spLocks/>
            </p:cNvSpPr>
            <p:nvPr/>
          </p:nvSpPr>
          <p:spPr bwMode="gray">
            <a:xfrm>
              <a:off x="9666145" y="3534492"/>
              <a:ext cx="440725" cy="252802"/>
            </a:xfrm>
            <a:custGeom>
              <a:avLst/>
              <a:gdLst>
                <a:gd name="T0" fmla="*/ 539 w 539"/>
                <a:gd name="T1" fmla="*/ 291 h 309"/>
                <a:gd name="T2" fmla="*/ 539 w 539"/>
                <a:gd name="T3" fmla="*/ 309 h 309"/>
                <a:gd name="T4" fmla="*/ 0 w 539"/>
                <a:gd name="T5" fmla="*/ 309 h 309"/>
                <a:gd name="T6" fmla="*/ 0 w 539"/>
                <a:gd name="T7" fmla="*/ 291 h 309"/>
                <a:gd name="T8" fmla="*/ 0 w 539"/>
                <a:gd name="T9" fmla="*/ 270 h 309"/>
                <a:gd name="T10" fmla="*/ 245 w 539"/>
                <a:gd name="T11" fmla="*/ 30 h 309"/>
                <a:gd name="T12" fmla="*/ 245 w 539"/>
                <a:gd name="T13" fmla="*/ 0 h 309"/>
                <a:gd name="T14" fmla="*/ 293 w 539"/>
                <a:gd name="T15" fmla="*/ 0 h 309"/>
                <a:gd name="T16" fmla="*/ 293 w 539"/>
                <a:gd name="T17" fmla="*/ 30 h 309"/>
                <a:gd name="T18" fmla="*/ 538 w 539"/>
                <a:gd name="T19" fmla="*/ 270 h 309"/>
                <a:gd name="T20" fmla="*/ 539 w 539"/>
                <a:gd name="T21" fmla="*/ 2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9" h="309">
                  <a:moveTo>
                    <a:pt x="539" y="291"/>
                  </a:moveTo>
                  <a:cubicBezTo>
                    <a:pt x="539" y="309"/>
                    <a:pt x="539" y="309"/>
                    <a:pt x="539" y="309"/>
                  </a:cubicBezTo>
                  <a:cubicBezTo>
                    <a:pt x="0" y="309"/>
                    <a:pt x="0" y="309"/>
                    <a:pt x="0" y="309"/>
                  </a:cubicBezTo>
                  <a:cubicBezTo>
                    <a:pt x="0" y="291"/>
                    <a:pt x="0" y="291"/>
                    <a:pt x="0" y="291"/>
                  </a:cubicBezTo>
                  <a:cubicBezTo>
                    <a:pt x="0" y="284"/>
                    <a:pt x="0" y="277"/>
                    <a:pt x="0" y="270"/>
                  </a:cubicBezTo>
                  <a:cubicBezTo>
                    <a:pt x="9" y="121"/>
                    <a:pt x="113" y="43"/>
                    <a:pt x="245" y="30"/>
                  </a:cubicBezTo>
                  <a:cubicBezTo>
                    <a:pt x="245" y="0"/>
                    <a:pt x="245" y="0"/>
                    <a:pt x="245" y="0"/>
                  </a:cubicBezTo>
                  <a:cubicBezTo>
                    <a:pt x="293" y="0"/>
                    <a:pt x="293" y="0"/>
                    <a:pt x="293" y="0"/>
                  </a:cubicBezTo>
                  <a:cubicBezTo>
                    <a:pt x="293" y="30"/>
                    <a:pt x="293" y="30"/>
                    <a:pt x="293" y="30"/>
                  </a:cubicBezTo>
                  <a:cubicBezTo>
                    <a:pt x="424" y="43"/>
                    <a:pt x="529" y="121"/>
                    <a:pt x="538" y="270"/>
                  </a:cubicBezTo>
                  <a:cubicBezTo>
                    <a:pt x="539" y="277"/>
                    <a:pt x="539" y="284"/>
                    <a:pt x="539" y="291"/>
                  </a:cubicBez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810">
              <a:extLst>
                <a:ext uri="{FF2B5EF4-FFF2-40B4-BE49-F238E27FC236}">
                  <a16:creationId xmlns:a16="http://schemas.microsoft.com/office/drawing/2014/main" id="{F59E99B3-2929-08EA-3209-BC0E863155F3}"/>
                </a:ext>
              </a:extLst>
            </p:cNvPr>
            <p:cNvSpPr>
              <a:spLocks noChangeArrowheads="1"/>
            </p:cNvSpPr>
            <p:nvPr/>
          </p:nvSpPr>
          <p:spPr bwMode="gray">
            <a:xfrm>
              <a:off x="9644519" y="3777600"/>
              <a:ext cx="482486" cy="32066"/>
            </a:xfrm>
            <a:prstGeom prst="rect">
              <a:avLst/>
            </a:prstGeom>
            <a:solidFill>
              <a:srgbClr val="EB78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 name="Gruppieren 83">
            <a:extLst>
              <a:ext uri="{FF2B5EF4-FFF2-40B4-BE49-F238E27FC236}">
                <a16:creationId xmlns:a16="http://schemas.microsoft.com/office/drawing/2014/main" id="{341D6189-BAFB-93E4-7182-53A2955662E1}"/>
              </a:ext>
            </a:extLst>
          </p:cNvPr>
          <p:cNvGrpSpPr/>
          <p:nvPr/>
        </p:nvGrpSpPr>
        <p:grpSpPr bwMode="gray">
          <a:xfrm>
            <a:off x="1204250" y="1972364"/>
            <a:ext cx="236908" cy="732460"/>
            <a:chOff x="11786995" y="3627708"/>
            <a:chExt cx="778540" cy="2715942"/>
          </a:xfrm>
        </p:grpSpPr>
        <p:sp>
          <p:nvSpPr>
            <p:cNvPr id="50" name="Freeform 628">
              <a:extLst>
                <a:ext uri="{FF2B5EF4-FFF2-40B4-BE49-F238E27FC236}">
                  <a16:creationId xmlns:a16="http://schemas.microsoft.com/office/drawing/2014/main" id="{63FE5E9D-078E-A46A-8054-B57738793B51}"/>
                </a:ext>
              </a:extLst>
            </p:cNvPr>
            <p:cNvSpPr>
              <a:spLocks/>
            </p:cNvSpPr>
            <p:nvPr/>
          </p:nvSpPr>
          <p:spPr bwMode="gray">
            <a:xfrm>
              <a:off x="11952547" y="3627708"/>
              <a:ext cx="448928" cy="641326"/>
            </a:xfrm>
            <a:custGeom>
              <a:avLst/>
              <a:gdLst>
                <a:gd name="T0" fmla="*/ 544 w 549"/>
                <a:gd name="T1" fmla="*/ 387 h 784"/>
                <a:gd name="T2" fmla="*/ 506 w 549"/>
                <a:gd name="T3" fmla="*/ 485 h 784"/>
                <a:gd name="T4" fmla="*/ 484 w 549"/>
                <a:gd name="T5" fmla="*/ 500 h 784"/>
                <a:gd name="T6" fmla="*/ 464 w 549"/>
                <a:gd name="T7" fmla="*/ 500 h 784"/>
                <a:gd name="T8" fmla="*/ 444 w 549"/>
                <a:gd name="T9" fmla="*/ 585 h 784"/>
                <a:gd name="T10" fmla="*/ 419 w 549"/>
                <a:gd name="T11" fmla="*/ 599 h 784"/>
                <a:gd name="T12" fmla="*/ 417 w 549"/>
                <a:gd name="T13" fmla="*/ 685 h 784"/>
                <a:gd name="T14" fmla="*/ 291 w 549"/>
                <a:gd name="T15" fmla="*/ 784 h 784"/>
                <a:gd name="T16" fmla="*/ 257 w 549"/>
                <a:gd name="T17" fmla="*/ 784 h 784"/>
                <a:gd name="T18" fmla="*/ 131 w 549"/>
                <a:gd name="T19" fmla="*/ 685 h 784"/>
                <a:gd name="T20" fmla="*/ 129 w 549"/>
                <a:gd name="T21" fmla="*/ 599 h 784"/>
                <a:gd name="T22" fmla="*/ 104 w 549"/>
                <a:gd name="T23" fmla="*/ 585 h 784"/>
                <a:gd name="T24" fmla="*/ 84 w 549"/>
                <a:gd name="T25" fmla="*/ 500 h 784"/>
                <a:gd name="T26" fmla="*/ 65 w 549"/>
                <a:gd name="T27" fmla="*/ 500 h 784"/>
                <a:gd name="T28" fmla="*/ 42 w 549"/>
                <a:gd name="T29" fmla="*/ 485 h 784"/>
                <a:gd name="T30" fmla="*/ 4 w 549"/>
                <a:gd name="T31" fmla="*/ 387 h 784"/>
                <a:gd name="T32" fmla="*/ 17 w 549"/>
                <a:gd name="T33" fmla="*/ 357 h 784"/>
                <a:gd name="T34" fmla="*/ 55 w 549"/>
                <a:gd name="T35" fmla="*/ 374 h 784"/>
                <a:gd name="T36" fmla="*/ 41 w 549"/>
                <a:gd name="T37" fmla="*/ 237 h 784"/>
                <a:gd name="T38" fmla="*/ 61 w 549"/>
                <a:gd name="T39" fmla="*/ 73 h 784"/>
                <a:gd name="T40" fmla="*/ 212 w 549"/>
                <a:gd name="T41" fmla="*/ 0 h 784"/>
                <a:gd name="T42" fmla="*/ 336 w 549"/>
                <a:gd name="T43" fmla="*/ 0 h 784"/>
                <a:gd name="T44" fmla="*/ 488 w 549"/>
                <a:gd name="T45" fmla="*/ 73 h 784"/>
                <a:gd name="T46" fmla="*/ 508 w 549"/>
                <a:gd name="T47" fmla="*/ 237 h 784"/>
                <a:gd name="T48" fmla="*/ 493 w 549"/>
                <a:gd name="T49" fmla="*/ 374 h 784"/>
                <a:gd name="T50" fmla="*/ 531 w 549"/>
                <a:gd name="T51" fmla="*/ 357 h 784"/>
                <a:gd name="T52" fmla="*/ 544 w 549"/>
                <a:gd name="T53" fmla="*/ 387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9" h="784">
                  <a:moveTo>
                    <a:pt x="544" y="387"/>
                  </a:moveTo>
                  <a:cubicBezTo>
                    <a:pt x="506" y="485"/>
                    <a:pt x="506" y="485"/>
                    <a:pt x="506" y="485"/>
                  </a:cubicBezTo>
                  <a:cubicBezTo>
                    <a:pt x="502" y="495"/>
                    <a:pt x="493" y="500"/>
                    <a:pt x="484" y="500"/>
                  </a:cubicBezTo>
                  <a:cubicBezTo>
                    <a:pt x="464" y="500"/>
                    <a:pt x="464" y="500"/>
                    <a:pt x="464" y="500"/>
                  </a:cubicBezTo>
                  <a:cubicBezTo>
                    <a:pt x="444" y="585"/>
                    <a:pt x="444" y="585"/>
                    <a:pt x="444" y="585"/>
                  </a:cubicBezTo>
                  <a:cubicBezTo>
                    <a:pt x="419" y="599"/>
                    <a:pt x="419" y="599"/>
                    <a:pt x="419" y="599"/>
                  </a:cubicBezTo>
                  <a:cubicBezTo>
                    <a:pt x="417" y="685"/>
                    <a:pt x="417" y="685"/>
                    <a:pt x="417" y="685"/>
                  </a:cubicBezTo>
                  <a:cubicBezTo>
                    <a:pt x="291" y="784"/>
                    <a:pt x="291" y="784"/>
                    <a:pt x="291" y="784"/>
                  </a:cubicBezTo>
                  <a:cubicBezTo>
                    <a:pt x="257" y="784"/>
                    <a:pt x="257" y="784"/>
                    <a:pt x="257" y="784"/>
                  </a:cubicBezTo>
                  <a:cubicBezTo>
                    <a:pt x="131" y="685"/>
                    <a:pt x="131" y="685"/>
                    <a:pt x="131" y="685"/>
                  </a:cubicBezTo>
                  <a:cubicBezTo>
                    <a:pt x="129" y="599"/>
                    <a:pt x="129" y="599"/>
                    <a:pt x="129" y="599"/>
                  </a:cubicBezTo>
                  <a:cubicBezTo>
                    <a:pt x="104" y="585"/>
                    <a:pt x="104" y="585"/>
                    <a:pt x="104" y="585"/>
                  </a:cubicBezTo>
                  <a:cubicBezTo>
                    <a:pt x="84" y="500"/>
                    <a:pt x="84" y="500"/>
                    <a:pt x="84" y="500"/>
                  </a:cubicBezTo>
                  <a:cubicBezTo>
                    <a:pt x="65" y="500"/>
                    <a:pt x="65" y="500"/>
                    <a:pt x="65" y="500"/>
                  </a:cubicBezTo>
                  <a:cubicBezTo>
                    <a:pt x="55" y="500"/>
                    <a:pt x="46" y="495"/>
                    <a:pt x="42" y="485"/>
                  </a:cubicBezTo>
                  <a:cubicBezTo>
                    <a:pt x="4" y="387"/>
                    <a:pt x="4" y="387"/>
                    <a:pt x="4" y="387"/>
                  </a:cubicBezTo>
                  <a:cubicBezTo>
                    <a:pt x="0" y="376"/>
                    <a:pt x="5" y="362"/>
                    <a:pt x="17" y="357"/>
                  </a:cubicBezTo>
                  <a:cubicBezTo>
                    <a:pt x="31" y="351"/>
                    <a:pt x="53" y="359"/>
                    <a:pt x="55" y="374"/>
                  </a:cubicBezTo>
                  <a:cubicBezTo>
                    <a:pt x="41" y="237"/>
                    <a:pt x="41" y="237"/>
                    <a:pt x="41" y="237"/>
                  </a:cubicBezTo>
                  <a:cubicBezTo>
                    <a:pt x="61" y="73"/>
                    <a:pt x="61" y="73"/>
                    <a:pt x="61" y="73"/>
                  </a:cubicBezTo>
                  <a:cubicBezTo>
                    <a:pt x="212" y="0"/>
                    <a:pt x="212" y="0"/>
                    <a:pt x="212" y="0"/>
                  </a:cubicBezTo>
                  <a:cubicBezTo>
                    <a:pt x="336" y="0"/>
                    <a:pt x="336" y="0"/>
                    <a:pt x="336" y="0"/>
                  </a:cubicBezTo>
                  <a:cubicBezTo>
                    <a:pt x="488" y="73"/>
                    <a:pt x="488" y="73"/>
                    <a:pt x="488" y="73"/>
                  </a:cubicBezTo>
                  <a:cubicBezTo>
                    <a:pt x="508" y="237"/>
                    <a:pt x="508" y="237"/>
                    <a:pt x="508" y="237"/>
                  </a:cubicBezTo>
                  <a:cubicBezTo>
                    <a:pt x="493" y="374"/>
                    <a:pt x="493" y="374"/>
                    <a:pt x="493" y="374"/>
                  </a:cubicBezTo>
                  <a:cubicBezTo>
                    <a:pt x="496" y="359"/>
                    <a:pt x="517" y="351"/>
                    <a:pt x="531" y="357"/>
                  </a:cubicBezTo>
                  <a:cubicBezTo>
                    <a:pt x="543" y="362"/>
                    <a:pt x="549" y="376"/>
                    <a:pt x="544" y="38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724">
              <a:extLst>
                <a:ext uri="{FF2B5EF4-FFF2-40B4-BE49-F238E27FC236}">
                  <a16:creationId xmlns:a16="http://schemas.microsoft.com/office/drawing/2014/main" id="{30B950F1-2458-07C8-8DFE-C98F631D423A}"/>
                </a:ext>
              </a:extLst>
            </p:cNvPr>
            <p:cNvSpPr>
              <a:spLocks/>
            </p:cNvSpPr>
            <p:nvPr/>
          </p:nvSpPr>
          <p:spPr bwMode="gray">
            <a:xfrm>
              <a:off x="11986105" y="3627708"/>
              <a:ext cx="381813" cy="334832"/>
            </a:xfrm>
            <a:custGeom>
              <a:avLst/>
              <a:gdLst>
                <a:gd name="T0" fmla="*/ 512 w 512"/>
                <a:gd name="T1" fmla="*/ 260 h 449"/>
                <a:gd name="T2" fmla="*/ 496 w 512"/>
                <a:gd name="T3" fmla="*/ 411 h 449"/>
                <a:gd name="T4" fmla="*/ 489 w 512"/>
                <a:gd name="T5" fmla="*/ 449 h 449"/>
                <a:gd name="T6" fmla="*/ 487 w 512"/>
                <a:gd name="T7" fmla="*/ 449 h 449"/>
                <a:gd name="T8" fmla="*/ 411 w 512"/>
                <a:gd name="T9" fmla="*/ 151 h 449"/>
                <a:gd name="T10" fmla="*/ 197 w 512"/>
                <a:gd name="T11" fmla="*/ 227 h 449"/>
                <a:gd name="T12" fmla="*/ 101 w 512"/>
                <a:gd name="T13" fmla="*/ 151 h 449"/>
                <a:gd name="T14" fmla="*/ 25 w 512"/>
                <a:gd name="T15" fmla="*/ 449 h 449"/>
                <a:gd name="T16" fmla="*/ 23 w 512"/>
                <a:gd name="T17" fmla="*/ 449 h 449"/>
                <a:gd name="T18" fmla="*/ 15 w 512"/>
                <a:gd name="T19" fmla="*/ 411 h 449"/>
                <a:gd name="T20" fmla="*/ 0 w 512"/>
                <a:gd name="T21" fmla="*/ 260 h 449"/>
                <a:gd name="T22" fmla="*/ 22 w 512"/>
                <a:gd name="T23" fmla="*/ 80 h 449"/>
                <a:gd name="T24" fmla="*/ 187 w 512"/>
                <a:gd name="T25" fmla="*/ 0 h 449"/>
                <a:gd name="T26" fmla="*/ 323 w 512"/>
                <a:gd name="T27" fmla="*/ 0 h 449"/>
                <a:gd name="T28" fmla="*/ 490 w 512"/>
                <a:gd name="T29" fmla="*/ 80 h 449"/>
                <a:gd name="T30" fmla="*/ 512 w 512"/>
                <a:gd name="T31" fmla="*/ 26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449">
                  <a:moveTo>
                    <a:pt x="512" y="260"/>
                  </a:moveTo>
                  <a:lnTo>
                    <a:pt x="496" y="411"/>
                  </a:lnTo>
                  <a:lnTo>
                    <a:pt x="489" y="449"/>
                  </a:lnTo>
                  <a:lnTo>
                    <a:pt x="487" y="449"/>
                  </a:lnTo>
                  <a:lnTo>
                    <a:pt x="411" y="151"/>
                  </a:lnTo>
                  <a:lnTo>
                    <a:pt x="197" y="227"/>
                  </a:lnTo>
                  <a:lnTo>
                    <a:pt x="101" y="151"/>
                  </a:lnTo>
                  <a:lnTo>
                    <a:pt x="25" y="449"/>
                  </a:lnTo>
                  <a:lnTo>
                    <a:pt x="23" y="449"/>
                  </a:lnTo>
                  <a:lnTo>
                    <a:pt x="15" y="411"/>
                  </a:lnTo>
                  <a:lnTo>
                    <a:pt x="0" y="260"/>
                  </a:lnTo>
                  <a:lnTo>
                    <a:pt x="22" y="80"/>
                  </a:lnTo>
                  <a:lnTo>
                    <a:pt x="187" y="0"/>
                  </a:lnTo>
                  <a:lnTo>
                    <a:pt x="323" y="0"/>
                  </a:lnTo>
                  <a:lnTo>
                    <a:pt x="490" y="80"/>
                  </a:lnTo>
                  <a:lnTo>
                    <a:pt x="512" y="260"/>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725">
              <a:extLst>
                <a:ext uri="{FF2B5EF4-FFF2-40B4-BE49-F238E27FC236}">
                  <a16:creationId xmlns:a16="http://schemas.microsoft.com/office/drawing/2014/main" id="{7920E321-6F7D-AC34-F829-817B9435ADAD}"/>
                </a:ext>
              </a:extLst>
            </p:cNvPr>
            <p:cNvSpPr>
              <a:spLocks/>
            </p:cNvSpPr>
            <p:nvPr/>
          </p:nvSpPr>
          <p:spPr bwMode="gray">
            <a:xfrm>
              <a:off x="11786995" y="4188496"/>
              <a:ext cx="778540" cy="942600"/>
            </a:xfrm>
            <a:custGeom>
              <a:avLst/>
              <a:gdLst>
                <a:gd name="T0" fmla="*/ 1044 w 1044"/>
                <a:gd name="T1" fmla="*/ 623 h 1264"/>
                <a:gd name="T2" fmla="*/ 1022 w 1044"/>
                <a:gd name="T3" fmla="*/ 622 h 1264"/>
                <a:gd name="T4" fmla="*/ 881 w 1044"/>
                <a:gd name="T5" fmla="*/ 617 h 1264"/>
                <a:gd name="T6" fmla="*/ 881 w 1044"/>
                <a:gd name="T7" fmla="*/ 1264 h 1264"/>
                <a:gd name="T8" fmla="*/ 165 w 1044"/>
                <a:gd name="T9" fmla="*/ 1264 h 1264"/>
                <a:gd name="T10" fmla="*/ 165 w 1044"/>
                <a:gd name="T11" fmla="*/ 617 h 1264"/>
                <a:gd name="T12" fmla="*/ 164 w 1044"/>
                <a:gd name="T13" fmla="*/ 617 h 1264"/>
                <a:gd name="T14" fmla="*/ 22 w 1044"/>
                <a:gd name="T15" fmla="*/ 622 h 1264"/>
                <a:gd name="T16" fmla="*/ 0 w 1044"/>
                <a:gd name="T17" fmla="*/ 623 h 1264"/>
                <a:gd name="T18" fmla="*/ 14 w 1044"/>
                <a:gd name="T19" fmla="*/ 272 h 1264"/>
                <a:gd name="T20" fmla="*/ 87 w 1044"/>
                <a:gd name="T21" fmla="*/ 134 h 1264"/>
                <a:gd name="T22" fmla="*/ 366 w 1044"/>
                <a:gd name="T23" fmla="*/ 0 h 1264"/>
                <a:gd name="T24" fmla="*/ 366 w 1044"/>
                <a:gd name="T25" fmla="*/ 0 h 1264"/>
                <a:gd name="T26" fmla="*/ 504 w 1044"/>
                <a:gd name="T27" fmla="*/ 108 h 1264"/>
                <a:gd name="T28" fmla="*/ 541 w 1044"/>
                <a:gd name="T29" fmla="*/ 108 h 1264"/>
                <a:gd name="T30" fmla="*/ 679 w 1044"/>
                <a:gd name="T31" fmla="*/ 0 h 1264"/>
                <a:gd name="T32" fmla="*/ 958 w 1044"/>
                <a:gd name="T33" fmla="*/ 134 h 1264"/>
                <a:gd name="T34" fmla="*/ 1031 w 1044"/>
                <a:gd name="T35" fmla="*/ 272 h 1264"/>
                <a:gd name="T36" fmla="*/ 1044 w 1044"/>
                <a:gd name="T37" fmla="*/ 623 h 1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4" h="1264">
                  <a:moveTo>
                    <a:pt x="1044" y="623"/>
                  </a:moveTo>
                  <a:lnTo>
                    <a:pt x="1022" y="622"/>
                  </a:lnTo>
                  <a:lnTo>
                    <a:pt x="881" y="617"/>
                  </a:lnTo>
                  <a:lnTo>
                    <a:pt x="881" y="1264"/>
                  </a:lnTo>
                  <a:lnTo>
                    <a:pt x="165" y="1264"/>
                  </a:lnTo>
                  <a:lnTo>
                    <a:pt x="165" y="617"/>
                  </a:lnTo>
                  <a:lnTo>
                    <a:pt x="164" y="617"/>
                  </a:lnTo>
                  <a:lnTo>
                    <a:pt x="22" y="622"/>
                  </a:lnTo>
                  <a:lnTo>
                    <a:pt x="0" y="623"/>
                  </a:lnTo>
                  <a:lnTo>
                    <a:pt x="14" y="272"/>
                  </a:lnTo>
                  <a:lnTo>
                    <a:pt x="87" y="134"/>
                  </a:lnTo>
                  <a:lnTo>
                    <a:pt x="366" y="0"/>
                  </a:lnTo>
                  <a:lnTo>
                    <a:pt x="366" y="0"/>
                  </a:lnTo>
                  <a:lnTo>
                    <a:pt x="504" y="108"/>
                  </a:lnTo>
                  <a:lnTo>
                    <a:pt x="541" y="108"/>
                  </a:lnTo>
                  <a:lnTo>
                    <a:pt x="679" y="0"/>
                  </a:lnTo>
                  <a:lnTo>
                    <a:pt x="958" y="134"/>
                  </a:lnTo>
                  <a:lnTo>
                    <a:pt x="1031" y="272"/>
                  </a:lnTo>
                  <a:lnTo>
                    <a:pt x="1044" y="623"/>
                  </a:lnTo>
                  <a:close/>
                </a:path>
              </a:pathLst>
            </a:custGeom>
            <a:solidFill>
              <a:srgbClr val="AF23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lumMod val="95000"/>
                  </a:schemeClr>
                </a:solidFill>
              </a:endParaRPr>
            </a:p>
          </p:txBody>
        </p:sp>
        <p:sp>
          <p:nvSpPr>
            <p:cNvPr id="53" name="Line 726">
              <a:extLst>
                <a:ext uri="{FF2B5EF4-FFF2-40B4-BE49-F238E27FC236}">
                  <a16:creationId xmlns:a16="http://schemas.microsoft.com/office/drawing/2014/main" id="{7BBBAD7B-1B95-9667-F956-3FC4D5AC3644}"/>
                </a:ext>
              </a:extLst>
            </p:cNvPr>
            <p:cNvSpPr>
              <a:spLocks noChangeShapeType="1"/>
            </p:cNvSpPr>
            <p:nvPr/>
          </p:nvSpPr>
          <p:spPr bwMode="gray">
            <a:xfrm>
              <a:off x="12443982" y="464861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727">
              <a:extLst>
                <a:ext uri="{FF2B5EF4-FFF2-40B4-BE49-F238E27FC236}">
                  <a16:creationId xmlns:a16="http://schemas.microsoft.com/office/drawing/2014/main" id="{86E0FB07-A9F7-10AE-AFB9-C7D02189EF3E}"/>
                </a:ext>
              </a:extLst>
            </p:cNvPr>
            <p:cNvSpPr>
              <a:spLocks noChangeShapeType="1"/>
            </p:cNvSpPr>
            <p:nvPr/>
          </p:nvSpPr>
          <p:spPr bwMode="gray">
            <a:xfrm>
              <a:off x="12443982" y="464861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728">
              <a:extLst>
                <a:ext uri="{FF2B5EF4-FFF2-40B4-BE49-F238E27FC236}">
                  <a16:creationId xmlns:a16="http://schemas.microsoft.com/office/drawing/2014/main" id="{62E21264-F590-126E-7DD9-631366F4120E}"/>
                </a:ext>
              </a:extLst>
            </p:cNvPr>
            <p:cNvSpPr>
              <a:spLocks/>
            </p:cNvSpPr>
            <p:nvPr/>
          </p:nvSpPr>
          <p:spPr bwMode="gray">
            <a:xfrm>
              <a:off x="12188197" y="6237011"/>
              <a:ext cx="205075" cy="106639"/>
            </a:xfrm>
            <a:custGeom>
              <a:avLst/>
              <a:gdLst>
                <a:gd name="T0" fmla="*/ 275 w 275"/>
                <a:gd name="T1" fmla="*/ 143 h 143"/>
                <a:gd name="T2" fmla="*/ 0 w 275"/>
                <a:gd name="T3" fmla="*/ 143 h 143"/>
                <a:gd name="T4" fmla="*/ 0 w 275"/>
                <a:gd name="T5" fmla="*/ 135 h 143"/>
                <a:gd name="T6" fmla="*/ 47 w 275"/>
                <a:gd name="T7" fmla="*/ 0 h 143"/>
                <a:gd name="T8" fmla="*/ 214 w 275"/>
                <a:gd name="T9" fmla="*/ 0 h 143"/>
                <a:gd name="T10" fmla="*/ 275 w 275"/>
                <a:gd name="T11" fmla="*/ 143 h 143"/>
              </a:gdLst>
              <a:ahLst/>
              <a:cxnLst>
                <a:cxn ang="0">
                  <a:pos x="T0" y="T1"/>
                </a:cxn>
                <a:cxn ang="0">
                  <a:pos x="T2" y="T3"/>
                </a:cxn>
                <a:cxn ang="0">
                  <a:pos x="T4" y="T5"/>
                </a:cxn>
                <a:cxn ang="0">
                  <a:pos x="T6" y="T7"/>
                </a:cxn>
                <a:cxn ang="0">
                  <a:pos x="T8" y="T9"/>
                </a:cxn>
                <a:cxn ang="0">
                  <a:pos x="T10" y="T11"/>
                </a:cxn>
              </a:cxnLst>
              <a:rect l="0" t="0" r="r" b="b"/>
              <a:pathLst>
                <a:path w="275" h="143">
                  <a:moveTo>
                    <a:pt x="275" y="143"/>
                  </a:moveTo>
                  <a:lnTo>
                    <a:pt x="0" y="143"/>
                  </a:lnTo>
                  <a:lnTo>
                    <a:pt x="0" y="135"/>
                  </a:lnTo>
                  <a:lnTo>
                    <a:pt x="47" y="0"/>
                  </a:lnTo>
                  <a:lnTo>
                    <a:pt x="214" y="0"/>
                  </a:lnTo>
                  <a:lnTo>
                    <a:pt x="275" y="1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730">
              <a:extLst>
                <a:ext uri="{FF2B5EF4-FFF2-40B4-BE49-F238E27FC236}">
                  <a16:creationId xmlns:a16="http://schemas.microsoft.com/office/drawing/2014/main" id="{20F4CF26-50FB-AAF2-F01E-61CD9620CF09}"/>
                </a:ext>
              </a:extLst>
            </p:cNvPr>
            <p:cNvSpPr>
              <a:spLocks/>
            </p:cNvSpPr>
            <p:nvPr/>
          </p:nvSpPr>
          <p:spPr bwMode="gray">
            <a:xfrm>
              <a:off x="12433542" y="4648610"/>
              <a:ext cx="115588" cy="733051"/>
            </a:xfrm>
            <a:custGeom>
              <a:avLst/>
              <a:gdLst>
                <a:gd name="T0" fmla="*/ 116 w 155"/>
                <a:gd name="T1" fmla="*/ 634 h 983"/>
                <a:gd name="T2" fmla="*/ 152 w 155"/>
                <a:gd name="T3" fmla="*/ 734 h 983"/>
                <a:gd name="T4" fmla="*/ 71 w 155"/>
                <a:gd name="T5" fmla="*/ 983 h 983"/>
                <a:gd name="T6" fmla="*/ 7 w 155"/>
                <a:gd name="T7" fmla="*/ 983 h 983"/>
                <a:gd name="T8" fmla="*/ 0 w 155"/>
                <a:gd name="T9" fmla="*/ 983 h 983"/>
                <a:gd name="T10" fmla="*/ 14 w 155"/>
                <a:gd name="T11" fmla="*/ 647 h 983"/>
                <a:gd name="T12" fmla="*/ 14 w 155"/>
                <a:gd name="T13" fmla="*/ 647 h 983"/>
                <a:gd name="T14" fmla="*/ 14 w 155"/>
                <a:gd name="T15" fmla="*/ 0 h 983"/>
                <a:gd name="T16" fmla="*/ 155 w 155"/>
                <a:gd name="T17" fmla="*/ 5 h 983"/>
                <a:gd name="T18" fmla="*/ 143 w 155"/>
                <a:gd name="T19" fmla="*/ 205 h 983"/>
                <a:gd name="T20" fmla="*/ 116 w 155"/>
                <a:gd name="T21" fmla="*/ 63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5" h="983">
                  <a:moveTo>
                    <a:pt x="116" y="634"/>
                  </a:moveTo>
                  <a:lnTo>
                    <a:pt x="152" y="734"/>
                  </a:lnTo>
                  <a:lnTo>
                    <a:pt x="71" y="983"/>
                  </a:lnTo>
                  <a:lnTo>
                    <a:pt x="7" y="983"/>
                  </a:lnTo>
                  <a:lnTo>
                    <a:pt x="0" y="983"/>
                  </a:lnTo>
                  <a:lnTo>
                    <a:pt x="14" y="647"/>
                  </a:lnTo>
                  <a:lnTo>
                    <a:pt x="14" y="647"/>
                  </a:lnTo>
                  <a:lnTo>
                    <a:pt x="14" y="0"/>
                  </a:lnTo>
                  <a:lnTo>
                    <a:pt x="155" y="5"/>
                  </a:lnTo>
                  <a:lnTo>
                    <a:pt x="143" y="205"/>
                  </a:lnTo>
                  <a:lnTo>
                    <a:pt x="116" y="634"/>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731">
              <a:extLst>
                <a:ext uri="{FF2B5EF4-FFF2-40B4-BE49-F238E27FC236}">
                  <a16:creationId xmlns:a16="http://schemas.microsoft.com/office/drawing/2014/main" id="{F6D58BCB-71D7-1C8F-4589-4AEF10000B15}"/>
                </a:ext>
              </a:extLst>
            </p:cNvPr>
            <p:cNvSpPr>
              <a:spLocks/>
            </p:cNvSpPr>
            <p:nvPr/>
          </p:nvSpPr>
          <p:spPr bwMode="gray">
            <a:xfrm>
              <a:off x="12549129" y="4651593"/>
              <a:ext cx="0" cy="746"/>
            </a:xfrm>
            <a:custGeom>
              <a:avLst/>
              <a:gdLst>
                <a:gd name="T0" fmla="*/ 1 h 1"/>
                <a:gd name="T1" fmla="*/ 0 h 1"/>
                <a:gd name="T2" fmla="*/ 1 h 1"/>
              </a:gdLst>
              <a:ahLst/>
              <a:cxnLst>
                <a:cxn ang="0">
                  <a:pos x="0" y="T0"/>
                </a:cxn>
                <a:cxn ang="0">
                  <a:pos x="0" y="T1"/>
                </a:cxn>
                <a:cxn ang="0">
                  <a:pos x="0" y="T2"/>
                </a:cxn>
              </a:cxnLst>
              <a:rect l="0" t="0" r="r" b="b"/>
              <a:pathLst>
                <a:path h="1">
                  <a:moveTo>
                    <a:pt x="0" y="1"/>
                  </a:move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Line 732">
              <a:extLst>
                <a:ext uri="{FF2B5EF4-FFF2-40B4-BE49-F238E27FC236}">
                  <a16:creationId xmlns:a16="http://schemas.microsoft.com/office/drawing/2014/main" id="{DC9A4629-01B9-9BDC-F207-AC4D50B0199E}"/>
                </a:ext>
              </a:extLst>
            </p:cNvPr>
            <p:cNvSpPr>
              <a:spLocks noChangeShapeType="1"/>
            </p:cNvSpPr>
            <p:nvPr/>
          </p:nvSpPr>
          <p:spPr bwMode="gray">
            <a:xfrm flipV="1">
              <a:off x="12549129" y="4651593"/>
              <a:ext cx="0" cy="74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733">
              <a:extLst>
                <a:ext uri="{FF2B5EF4-FFF2-40B4-BE49-F238E27FC236}">
                  <a16:creationId xmlns:a16="http://schemas.microsoft.com/office/drawing/2014/main" id="{078D5B31-333B-6ADA-2E0B-E0F489F4FE4A}"/>
                </a:ext>
              </a:extLst>
            </p:cNvPr>
            <p:cNvSpPr>
              <a:spLocks/>
            </p:cNvSpPr>
            <p:nvPr/>
          </p:nvSpPr>
          <p:spPr bwMode="gray">
            <a:xfrm>
              <a:off x="11803401" y="4648610"/>
              <a:ext cx="116334" cy="733051"/>
            </a:xfrm>
            <a:custGeom>
              <a:avLst/>
              <a:gdLst>
                <a:gd name="T0" fmla="*/ 156 w 156"/>
                <a:gd name="T1" fmla="*/ 982 h 983"/>
                <a:gd name="T2" fmla="*/ 156 w 156"/>
                <a:gd name="T3" fmla="*/ 983 h 983"/>
                <a:gd name="T4" fmla="*/ 149 w 156"/>
                <a:gd name="T5" fmla="*/ 983 h 983"/>
                <a:gd name="T6" fmla="*/ 85 w 156"/>
                <a:gd name="T7" fmla="*/ 983 h 983"/>
                <a:gd name="T8" fmla="*/ 4 w 156"/>
                <a:gd name="T9" fmla="*/ 734 h 983"/>
                <a:gd name="T10" fmla="*/ 40 w 156"/>
                <a:gd name="T11" fmla="*/ 634 h 983"/>
                <a:gd name="T12" fmla="*/ 12 w 156"/>
                <a:gd name="T13" fmla="*/ 205 h 983"/>
                <a:gd name="T14" fmla="*/ 0 w 156"/>
                <a:gd name="T15" fmla="*/ 5 h 983"/>
                <a:gd name="T16" fmla="*/ 142 w 156"/>
                <a:gd name="T17" fmla="*/ 0 h 983"/>
                <a:gd name="T18" fmla="*/ 143 w 156"/>
                <a:gd name="T19" fmla="*/ 0 h 983"/>
                <a:gd name="T20" fmla="*/ 143 w 156"/>
                <a:gd name="T21" fmla="*/ 647 h 983"/>
                <a:gd name="T22" fmla="*/ 143 w 156"/>
                <a:gd name="T23" fmla="*/ 647 h 983"/>
                <a:gd name="T24" fmla="*/ 156 w 156"/>
                <a:gd name="T25" fmla="*/ 982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983">
                  <a:moveTo>
                    <a:pt x="156" y="982"/>
                  </a:moveTo>
                  <a:lnTo>
                    <a:pt x="156" y="983"/>
                  </a:lnTo>
                  <a:lnTo>
                    <a:pt x="149" y="983"/>
                  </a:lnTo>
                  <a:lnTo>
                    <a:pt x="85" y="983"/>
                  </a:lnTo>
                  <a:lnTo>
                    <a:pt x="4" y="734"/>
                  </a:lnTo>
                  <a:lnTo>
                    <a:pt x="40" y="634"/>
                  </a:lnTo>
                  <a:lnTo>
                    <a:pt x="12" y="205"/>
                  </a:lnTo>
                  <a:lnTo>
                    <a:pt x="0" y="5"/>
                  </a:lnTo>
                  <a:lnTo>
                    <a:pt x="142" y="0"/>
                  </a:lnTo>
                  <a:lnTo>
                    <a:pt x="143" y="0"/>
                  </a:lnTo>
                  <a:lnTo>
                    <a:pt x="143" y="647"/>
                  </a:lnTo>
                  <a:lnTo>
                    <a:pt x="143" y="647"/>
                  </a:lnTo>
                  <a:lnTo>
                    <a:pt x="156" y="982"/>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34">
              <a:extLst>
                <a:ext uri="{FF2B5EF4-FFF2-40B4-BE49-F238E27FC236}">
                  <a16:creationId xmlns:a16="http://schemas.microsoft.com/office/drawing/2014/main" id="{04B3281B-0687-6877-F7BE-F18C9818D80B}"/>
                </a:ext>
              </a:extLst>
            </p:cNvPr>
            <p:cNvSpPr>
              <a:spLocks/>
            </p:cNvSpPr>
            <p:nvPr/>
          </p:nvSpPr>
          <p:spPr bwMode="gray">
            <a:xfrm>
              <a:off x="11803401" y="4651593"/>
              <a:ext cx="0" cy="746"/>
            </a:xfrm>
            <a:custGeom>
              <a:avLst/>
              <a:gdLst>
                <a:gd name="T0" fmla="*/ 1 h 1"/>
                <a:gd name="T1" fmla="*/ 0 h 1"/>
                <a:gd name="T2" fmla="*/ 1 h 1"/>
              </a:gdLst>
              <a:ahLst/>
              <a:cxnLst>
                <a:cxn ang="0">
                  <a:pos x="0" y="T0"/>
                </a:cxn>
                <a:cxn ang="0">
                  <a:pos x="0" y="T1"/>
                </a:cxn>
                <a:cxn ang="0">
                  <a:pos x="0" y="T2"/>
                </a:cxn>
              </a:cxnLst>
              <a:rect l="0" t="0" r="r" b="b"/>
              <a:pathLst>
                <a:path h="1">
                  <a:moveTo>
                    <a:pt x="0" y="1"/>
                  </a:move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735">
              <a:extLst>
                <a:ext uri="{FF2B5EF4-FFF2-40B4-BE49-F238E27FC236}">
                  <a16:creationId xmlns:a16="http://schemas.microsoft.com/office/drawing/2014/main" id="{3A5B9AC4-361C-6767-060A-FD6578C4F117}"/>
                </a:ext>
              </a:extLst>
            </p:cNvPr>
            <p:cNvSpPr>
              <a:spLocks noChangeShapeType="1"/>
            </p:cNvSpPr>
            <p:nvPr/>
          </p:nvSpPr>
          <p:spPr bwMode="gray">
            <a:xfrm flipV="1">
              <a:off x="11803401" y="4651593"/>
              <a:ext cx="0" cy="74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736">
              <a:extLst>
                <a:ext uri="{FF2B5EF4-FFF2-40B4-BE49-F238E27FC236}">
                  <a16:creationId xmlns:a16="http://schemas.microsoft.com/office/drawing/2014/main" id="{3E30D931-C128-2BE9-5227-3D8AA733582F}"/>
                </a:ext>
              </a:extLst>
            </p:cNvPr>
            <p:cNvSpPr>
              <a:spLocks/>
            </p:cNvSpPr>
            <p:nvPr/>
          </p:nvSpPr>
          <p:spPr bwMode="gray">
            <a:xfrm>
              <a:off x="11910040" y="5131096"/>
              <a:ext cx="533941" cy="1212554"/>
            </a:xfrm>
            <a:custGeom>
              <a:avLst/>
              <a:gdLst>
                <a:gd name="T0" fmla="*/ 716 w 716"/>
                <a:gd name="T1" fmla="*/ 0 h 1626"/>
                <a:gd name="T2" fmla="*/ 702 w 716"/>
                <a:gd name="T3" fmla="*/ 336 h 1626"/>
                <a:gd name="T4" fmla="*/ 587 w 716"/>
                <a:gd name="T5" fmla="*/ 1483 h 1626"/>
                <a:gd name="T6" fmla="*/ 420 w 716"/>
                <a:gd name="T7" fmla="*/ 1483 h 1626"/>
                <a:gd name="T8" fmla="*/ 373 w 716"/>
                <a:gd name="T9" fmla="*/ 1618 h 1626"/>
                <a:gd name="T10" fmla="*/ 373 w 716"/>
                <a:gd name="T11" fmla="*/ 1626 h 1626"/>
                <a:gd name="T12" fmla="*/ 343 w 716"/>
                <a:gd name="T13" fmla="*/ 1626 h 1626"/>
                <a:gd name="T14" fmla="*/ 343 w 716"/>
                <a:gd name="T15" fmla="*/ 1618 h 1626"/>
                <a:gd name="T16" fmla="*/ 296 w 716"/>
                <a:gd name="T17" fmla="*/ 1483 h 1626"/>
                <a:gd name="T18" fmla="*/ 129 w 716"/>
                <a:gd name="T19" fmla="*/ 1483 h 1626"/>
                <a:gd name="T20" fmla="*/ 13 w 716"/>
                <a:gd name="T21" fmla="*/ 336 h 1626"/>
                <a:gd name="T22" fmla="*/ 13 w 716"/>
                <a:gd name="T23" fmla="*/ 335 h 1626"/>
                <a:gd name="T24" fmla="*/ 0 w 716"/>
                <a:gd name="T25" fmla="*/ 0 h 1626"/>
                <a:gd name="T26" fmla="*/ 716 w 716"/>
                <a:gd name="T27"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6" h="1626">
                  <a:moveTo>
                    <a:pt x="716" y="0"/>
                  </a:moveTo>
                  <a:lnTo>
                    <a:pt x="702" y="336"/>
                  </a:lnTo>
                  <a:lnTo>
                    <a:pt x="587" y="1483"/>
                  </a:lnTo>
                  <a:lnTo>
                    <a:pt x="420" y="1483"/>
                  </a:lnTo>
                  <a:lnTo>
                    <a:pt x="373" y="1618"/>
                  </a:lnTo>
                  <a:lnTo>
                    <a:pt x="373" y="1626"/>
                  </a:lnTo>
                  <a:lnTo>
                    <a:pt x="343" y="1626"/>
                  </a:lnTo>
                  <a:lnTo>
                    <a:pt x="343" y="1618"/>
                  </a:lnTo>
                  <a:lnTo>
                    <a:pt x="296" y="1483"/>
                  </a:lnTo>
                  <a:lnTo>
                    <a:pt x="129" y="1483"/>
                  </a:lnTo>
                  <a:lnTo>
                    <a:pt x="13" y="336"/>
                  </a:lnTo>
                  <a:lnTo>
                    <a:pt x="13" y="335"/>
                  </a:lnTo>
                  <a:lnTo>
                    <a:pt x="0" y="0"/>
                  </a:lnTo>
                  <a:lnTo>
                    <a:pt x="716"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738">
              <a:extLst>
                <a:ext uri="{FF2B5EF4-FFF2-40B4-BE49-F238E27FC236}">
                  <a16:creationId xmlns:a16="http://schemas.microsoft.com/office/drawing/2014/main" id="{66967480-EBDE-1862-26F0-68E97A98A41F}"/>
                </a:ext>
              </a:extLst>
            </p:cNvPr>
            <p:cNvSpPr>
              <a:spLocks/>
            </p:cNvSpPr>
            <p:nvPr/>
          </p:nvSpPr>
          <p:spPr bwMode="gray">
            <a:xfrm>
              <a:off x="11960750" y="6237011"/>
              <a:ext cx="205075" cy="106639"/>
            </a:xfrm>
            <a:custGeom>
              <a:avLst/>
              <a:gdLst>
                <a:gd name="T0" fmla="*/ 275 w 275"/>
                <a:gd name="T1" fmla="*/ 135 h 143"/>
                <a:gd name="T2" fmla="*/ 275 w 275"/>
                <a:gd name="T3" fmla="*/ 143 h 143"/>
                <a:gd name="T4" fmla="*/ 0 w 275"/>
                <a:gd name="T5" fmla="*/ 143 h 143"/>
                <a:gd name="T6" fmla="*/ 61 w 275"/>
                <a:gd name="T7" fmla="*/ 0 h 143"/>
                <a:gd name="T8" fmla="*/ 228 w 275"/>
                <a:gd name="T9" fmla="*/ 0 h 143"/>
                <a:gd name="T10" fmla="*/ 275 w 275"/>
                <a:gd name="T11" fmla="*/ 135 h 143"/>
              </a:gdLst>
              <a:ahLst/>
              <a:cxnLst>
                <a:cxn ang="0">
                  <a:pos x="T0" y="T1"/>
                </a:cxn>
                <a:cxn ang="0">
                  <a:pos x="T2" y="T3"/>
                </a:cxn>
                <a:cxn ang="0">
                  <a:pos x="T4" y="T5"/>
                </a:cxn>
                <a:cxn ang="0">
                  <a:pos x="T6" y="T7"/>
                </a:cxn>
                <a:cxn ang="0">
                  <a:pos x="T8" y="T9"/>
                </a:cxn>
                <a:cxn ang="0">
                  <a:pos x="T10" y="T11"/>
                </a:cxn>
              </a:cxnLst>
              <a:rect l="0" t="0" r="r" b="b"/>
              <a:pathLst>
                <a:path w="275" h="143">
                  <a:moveTo>
                    <a:pt x="275" y="135"/>
                  </a:moveTo>
                  <a:lnTo>
                    <a:pt x="275" y="143"/>
                  </a:lnTo>
                  <a:lnTo>
                    <a:pt x="0" y="143"/>
                  </a:lnTo>
                  <a:lnTo>
                    <a:pt x="61" y="0"/>
                  </a:lnTo>
                  <a:lnTo>
                    <a:pt x="228" y="0"/>
                  </a:lnTo>
                  <a:lnTo>
                    <a:pt x="275" y="135"/>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764">
              <a:extLst>
                <a:ext uri="{FF2B5EF4-FFF2-40B4-BE49-F238E27FC236}">
                  <a16:creationId xmlns:a16="http://schemas.microsoft.com/office/drawing/2014/main" id="{D5BBF66F-AAA4-AE70-F41B-9A6EA4EB8B42}"/>
                </a:ext>
              </a:extLst>
            </p:cNvPr>
            <p:cNvSpPr>
              <a:spLocks/>
            </p:cNvSpPr>
            <p:nvPr/>
          </p:nvSpPr>
          <p:spPr bwMode="gray">
            <a:xfrm>
              <a:off x="12168062" y="5353323"/>
              <a:ext cx="17152" cy="990327"/>
            </a:xfrm>
            <a:custGeom>
              <a:avLst/>
              <a:gdLst>
                <a:gd name="T0" fmla="*/ 0 w 23"/>
                <a:gd name="T1" fmla="*/ 1328 h 1328"/>
                <a:gd name="T2" fmla="*/ 0 w 23"/>
                <a:gd name="T3" fmla="*/ 0 h 1328"/>
                <a:gd name="T4" fmla="*/ 22 w 23"/>
                <a:gd name="T5" fmla="*/ 0 h 1328"/>
                <a:gd name="T6" fmla="*/ 23 w 23"/>
                <a:gd name="T7" fmla="*/ 1328 h 1328"/>
                <a:gd name="T8" fmla="*/ 0 w 23"/>
                <a:gd name="T9" fmla="*/ 1328 h 1328"/>
              </a:gdLst>
              <a:ahLst/>
              <a:cxnLst>
                <a:cxn ang="0">
                  <a:pos x="T0" y="T1"/>
                </a:cxn>
                <a:cxn ang="0">
                  <a:pos x="T2" y="T3"/>
                </a:cxn>
                <a:cxn ang="0">
                  <a:pos x="T4" y="T5"/>
                </a:cxn>
                <a:cxn ang="0">
                  <a:pos x="T6" y="T7"/>
                </a:cxn>
                <a:cxn ang="0">
                  <a:pos x="T8" y="T9"/>
                </a:cxn>
              </a:cxnLst>
              <a:rect l="0" t="0" r="r" b="b"/>
              <a:pathLst>
                <a:path w="23" h="1328">
                  <a:moveTo>
                    <a:pt x="0" y="1328"/>
                  </a:moveTo>
                  <a:lnTo>
                    <a:pt x="0" y="0"/>
                  </a:lnTo>
                  <a:lnTo>
                    <a:pt x="22" y="0"/>
                  </a:lnTo>
                  <a:lnTo>
                    <a:pt x="23" y="1328"/>
                  </a:lnTo>
                  <a:lnTo>
                    <a:pt x="0" y="1328"/>
                  </a:lnTo>
                  <a:close/>
                </a:path>
              </a:pathLst>
            </a:custGeom>
            <a:solidFill>
              <a:srgbClr val="006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Rectangle 11">
            <a:extLst>
              <a:ext uri="{FF2B5EF4-FFF2-40B4-BE49-F238E27FC236}">
                <a16:creationId xmlns:a16="http://schemas.microsoft.com/office/drawing/2014/main" id="{96D9D80D-3392-7AE7-A395-ADC7FE8D8501}"/>
              </a:ext>
            </a:extLst>
          </p:cNvPr>
          <p:cNvSpPr/>
          <p:nvPr/>
        </p:nvSpPr>
        <p:spPr>
          <a:xfrm>
            <a:off x="770562" y="2917859"/>
            <a:ext cx="2887037" cy="1847619"/>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6" name="Picture 65">
            <a:extLst>
              <a:ext uri="{FF2B5EF4-FFF2-40B4-BE49-F238E27FC236}">
                <a16:creationId xmlns:a16="http://schemas.microsoft.com/office/drawing/2014/main" id="{F1AC6604-EAB4-2767-37AE-DBC411C19361}"/>
              </a:ext>
            </a:extLst>
          </p:cNvPr>
          <p:cNvPicPr>
            <a:picLocks noChangeAspect="1"/>
          </p:cNvPicPr>
          <p:nvPr/>
        </p:nvPicPr>
        <p:blipFill>
          <a:blip r:embed="rId3"/>
          <a:stretch>
            <a:fillRect/>
          </a:stretch>
        </p:blipFill>
        <p:spPr>
          <a:xfrm>
            <a:off x="2218515" y="3106742"/>
            <a:ext cx="1303076" cy="944875"/>
          </a:xfrm>
          <a:prstGeom prst="rect">
            <a:avLst/>
          </a:prstGeom>
        </p:spPr>
      </p:pic>
      <p:sp>
        <p:nvSpPr>
          <p:cNvPr id="67" name="Title 1">
            <a:extLst>
              <a:ext uri="{FF2B5EF4-FFF2-40B4-BE49-F238E27FC236}">
                <a16:creationId xmlns:a16="http://schemas.microsoft.com/office/drawing/2014/main" id="{34DE66F7-3528-BDB8-B8C9-AA16661200A0}"/>
              </a:ext>
            </a:extLst>
          </p:cNvPr>
          <p:cNvSpPr txBox="1">
            <a:spLocks/>
          </p:cNvSpPr>
          <p:nvPr/>
        </p:nvSpPr>
        <p:spPr>
          <a:xfrm>
            <a:off x="954189" y="4055512"/>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chemeClr val="bg1"/>
                </a:solidFill>
              </a:rPr>
              <a:t>Pre-defined ontology</a:t>
            </a:r>
          </a:p>
          <a:p>
            <a:pPr marL="285750" indent="-285750">
              <a:buFont typeface="Wingdings" panose="05000000000000000000" pitchFamily="2" charset="2"/>
              <a:buChar char="Ø"/>
            </a:pPr>
            <a:r>
              <a:rPr lang="en-US" altLang="zh-CN" sz="1400" dirty="0">
                <a:solidFill>
                  <a:schemeClr val="bg1"/>
                </a:solidFill>
              </a:rPr>
              <a:t>Typical semantic template</a:t>
            </a:r>
            <a:endParaRPr lang="en-US" sz="1400" dirty="0">
              <a:solidFill>
                <a:schemeClr val="bg1"/>
              </a:solidFill>
            </a:endParaRPr>
          </a:p>
        </p:txBody>
      </p:sp>
      <p:pic>
        <p:nvPicPr>
          <p:cNvPr id="69" name="Picture 68">
            <a:extLst>
              <a:ext uri="{FF2B5EF4-FFF2-40B4-BE49-F238E27FC236}">
                <a16:creationId xmlns:a16="http://schemas.microsoft.com/office/drawing/2014/main" id="{3F195A24-49A3-BFA0-5C9C-C0CBA0F95657}"/>
              </a:ext>
            </a:extLst>
          </p:cNvPr>
          <p:cNvPicPr>
            <a:picLocks noChangeAspect="1"/>
          </p:cNvPicPr>
          <p:nvPr/>
        </p:nvPicPr>
        <p:blipFill>
          <a:blip r:embed="rId4"/>
          <a:stretch>
            <a:fillRect/>
          </a:stretch>
        </p:blipFill>
        <p:spPr>
          <a:xfrm>
            <a:off x="836646" y="3110637"/>
            <a:ext cx="1303076" cy="944875"/>
          </a:xfrm>
          <a:prstGeom prst="rect">
            <a:avLst/>
          </a:prstGeom>
        </p:spPr>
      </p:pic>
      <p:grpSp>
        <p:nvGrpSpPr>
          <p:cNvPr id="252" name="Group 251">
            <a:extLst>
              <a:ext uri="{FF2B5EF4-FFF2-40B4-BE49-F238E27FC236}">
                <a16:creationId xmlns:a16="http://schemas.microsoft.com/office/drawing/2014/main" id="{D64E1E0E-C665-AED4-481E-D1B8894C40C9}"/>
              </a:ext>
            </a:extLst>
          </p:cNvPr>
          <p:cNvGrpSpPr/>
          <p:nvPr/>
        </p:nvGrpSpPr>
        <p:grpSpPr>
          <a:xfrm>
            <a:off x="4188563" y="1484614"/>
            <a:ext cx="3590158" cy="4752638"/>
            <a:chOff x="4188563" y="1484614"/>
            <a:chExt cx="3590158" cy="4752638"/>
          </a:xfrm>
        </p:grpSpPr>
        <p:cxnSp>
          <p:nvCxnSpPr>
            <p:cNvPr id="70" name="Gerader Verbinder 491">
              <a:extLst>
                <a:ext uri="{FF2B5EF4-FFF2-40B4-BE49-F238E27FC236}">
                  <a16:creationId xmlns:a16="http://schemas.microsoft.com/office/drawing/2014/main" id="{FC87002F-9663-1142-DA8C-8692F9589023}"/>
                </a:ext>
              </a:extLst>
            </p:cNvPr>
            <p:cNvCxnSpPr>
              <a:cxnSpLocks/>
            </p:cNvCxnSpPr>
            <p:nvPr/>
          </p:nvCxnSpPr>
          <p:spPr bwMode="auto">
            <a:xfrm>
              <a:off x="7116572" y="2138378"/>
              <a:ext cx="0" cy="3204183"/>
            </a:xfrm>
            <a:prstGeom prst="line">
              <a:avLst/>
            </a:prstGeom>
            <a:solidFill>
              <a:schemeClr val="tx2"/>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1" name="Rechteck 3">
              <a:hlinkClick r:id="" action="ppaction://noaction"/>
              <a:extLst>
                <a:ext uri="{FF2B5EF4-FFF2-40B4-BE49-F238E27FC236}">
                  <a16:creationId xmlns:a16="http://schemas.microsoft.com/office/drawing/2014/main" id="{2DCBE913-B651-BE5F-CCDC-2BC5BED418D9}"/>
                </a:ext>
              </a:extLst>
            </p:cNvPr>
            <p:cNvSpPr>
              <a:spLocks/>
            </p:cNvSpPr>
            <p:nvPr/>
          </p:nvSpPr>
          <p:spPr bwMode="gray">
            <a:xfrm>
              <a:off x="4188563" y="1484614"/>
              <a:ext cx="3590158" cy="4752638"/>
            </a:xfrm>
            <a:prstGeom prst="rect">
              <a:avLst/>
            </a:prstGeom>
            <a:solidFill>
              <a:srgbClr val="DFE6ED"/>
            </a:solidFill>
            <a:ln w="31750">
              <a:noFill/>
              <a:miter lim="800000"/>
              <a:headEnd/>
              <a:tailEnd/>
            </a:ln>
            <a:extLst>
              <a:ext uri="{91240B29-F687-4F45-9708-019B960494DF}">
                <a14:hiddenLine xmlns:a14="http://schemas.microsoft.com/office/drawing/2010/main" w="31750">
                  <a:solidFill>
                    <a:srgbClr val="41AAAA"/>
                  </a:solidFill>
                  <a:miter lim="800000"/>
                  <a:headEnd/>
                  <a:tailEnd/>
                </a14:hiddenLine>
              </a:ext>
            </a:extLst>
          </p:spPr>
          <p:txBody>
            <a:bodyPr vert="horz" wrap="square" lIns="216000" tIns="180000" rIns="216000" bIns="180000" numCol="1" anchor="b" anchorCtr="0" compatLnSpc="1">
              <a:prstTxWarp prst="textNoShape">
                <a:avLst/>
              </a:prstTxWarp>
              <a:noAutofit/>
            </a:bodyPr>
            <a:lstStyle/>
            <a:p>
              <a:pPr>
                <a:spcBef>
                  <a:spcPts val="0"/>
                </a:spcBef>
                <a:spcAft>
                  <a:spcPts val="300"/>
                </a:spcAft>
                <a:buClr>
                  <a:schemeClr val="accent1"/>
                </a:buClr>
              </a:pPr>
              <a:br>
                <a:rPr lang="en-US" sz="1600" b="1" dirty="0">
                  <a:solidFill>
                    <a:schemeClr val="bg1"/>
                  </a:solidFill>
                  <a:cs typeface="Arial" pitchFamily="34" charset="0"/>
                </a:rPr>
              </a:br>
              <a:r>
                <a:rPr lang="en-US" sz="2000" b="1" dirty="0">
                  <a:solidFill>
                    <a:srgbClr val="41AAAA"/>
                  </a:solidFill>
                  <a:cs typeface="Arial" pitchFamily="34" charset="0"/>
                </a:rPr>
                <a:t>Knowledge based DaaS</a:t>
              </a:r>
            </a:p>
            <a:p>
              <a:pPr>
                <a:spcBef>
                  <a:spcPts val="0"/>
                </a:spcBef>
                <a:spcAft>
                  <a:spcPts val="300"/>
                </a:spcAft>
                <a:buClr>
                  <a:schemeClr val="accent1"/>
                </a:buClr>
              </a:pPr>
              <a:r>
                <a:rPr lang="en-US" sz="1400" dirty="0">
                  <a:cs typeface="Arial" pitchFamily="34" charset="0"/>
                </a:rPr>
                <a:t>Integrate domain knowledge and on-site real-time data to realize collaborative analysis and prediction</a:t>
              </a:r>
              <a:r>
                <a:rPr lang="en-US" sz="1400" dirty="0">
                  <a:solidFill>
                    <a:schemeClr val="tx1"/>
                  </a:solidFill>
                  <a:cs typeface="Arial" pitchFamily="34" charset="0"/>
                </a:rPr>
                <a:t>.</a:t>
              </a:r>
              <a:endParaRPr kumimoji="0" lang="en-US" sz="1400" i="0" u="none" strike="noStrike" kern="1200" cap="none" spc="0" normalizeH="0" baseline="0" noProof="0" dirty="0">
                <a:ln>
                  <a:noFill/>
                </a:ln>
                <a:solidFill>
                  <a:schemeClr val="tx1"/>
                </a:solidFill>
                <a:effectLst/>
                <a:uLnTx/>
                <a:uFillTx/>
                <a:cs typeface="Arial" pitchFamily="34" charset="0"/>
              </a:endParaRPr>
            </a:p>
          </p:txBody>
        </p:sp>
        <p:sp>
          <p:nvSpPr>
            <p:cNvPr id="72" name="Rechteck 66">
              <a:extLst>
                <a:ext uri="{FF2B5EF4-FFF2-40B4-BE49-F238E27FC236}">
                  <a16:creationId xmlns:a16="http://schemas.microsoft.com/office/drawing/2014/main" id="{77EE5FFB-F687-6BB1-2CC2-6AC450D11A8B}"/>
                </a:ext>
              </a:extLst>
            </p:cNvPr>
            <p:cNvSpPr>
              <a:spLocks/>
            </p:cNvSpPr>
            <p:nvPr/>
          </p:nvSpPr>
          <p:spPr bwMode="auto">
            <a:xfrm>
              <a:off x="4326891" y="1631915"/>
              <a:ext cx="3313503" cy="3289406"/>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112" name="Rectangle 111">
              <a:extLst>
                <a:ext uri="{FF2B5EF4-FFF2-40B4-BE49-F238E27FC236}">
                  <a16:creationId xmlns:a16="http://schemas.microsoft.com/office/drawing/2014/main" id="{8015AC2E-0219-5D1F-987A-D997EFAC7126}"/>
                </a:ext>
              </a:extLst>
            </p:cNvPr>
            <p:cNvSpPr/>
            <p:nvPr/>
          </p:nvSpPr>
          <p:spPr>
            <a:xfrm>
              <a:off x="4547963" y="2917859"/>
              <a:ext cx="2887037" cy="1847619"/>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2" name="Flowchart: Magnetic Disk 161">
              <a:extLst>
                <a:ext uri="{FF2B5EF4-FFF2-40B4-BE49-F238E27FC236}">
                  <a16:creationId xmlns:a16="http://schemas.microsoft.com/office/drawing/2014/main" id="{A83A7FCD-0572-F138-2CF4-F7425C999A4A}"/>
                </a:ext>
              </a:extLst>
            </p:cNvPr>
            <p:cNvSpPr/>
            <p:nvPr/>
          </p:nvSpPr>
          <p:spPr>
            <a:xfrm>
              <a:off x="5254855" y="3007843"/>
              <a:ext cx="838656" cy="858623"/>
            </a:xfrm>
            <a:prstGeom prst="flowChartMagneticDisk">
              <a:avLst/>
            </a:prstGeom>
            <a:solidFill>
              <a:srgbClr val="FFD732">
                <a:alpha val="61000"/>
              </a:srgbClr>
            </a:solidFill>
            <a:ln>
              <a:solidFill>
                <a:srgbClr val="F3F3F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4" name="Flowchart: Magnetic Disk 163">
              <a:extLst>
                <a:ext uri="{FF2B5EF4-FFF2-40B4-BE49-F238E27FC236}">
                  <a16:creationId xmlns:a16="http://schemas.microsoft.com/office/drawing/2014/main" id="{C878461D-8B7A-EAD7-8123-D62C1B3BE815}"/>
                </a:ext>
              </a:extLst>
            </p:cNvPr>
            <p:cNvSpPr/>
            <p:nvPr/>
          </p:nvSpPr>
          <p:spPr>
            <a:xfrm>
              <a:off x="6297082" y="3014038"/>
              <a:ext cx="995500" cy="858623"/>
            </a:xfrm>
            <a:prstGeom prst="flowChartMagneticDisk">
              <a:avLst/>
            </a:prstGeom>
            <a:solidFill>
              <a:srgbClr val="009999">
                <a:alpha val="61000"/>
              </a:srgbClr>
            </a:solidFill>
            <a:ln>
              <a:solidFill>
                <a:srgbClr val="F3F3F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66" name="Picture 165">
              <a:extLst>
                <a:ext uri="{FF2B5EF4-FFF2-40B4-BE49-F238E27FC236}">
                  <a16:creationId xmlns:a16="http://schemas.microsoft.com/office/drawing/2014/main" id="{D12835C7-0436-920C-7A7B-3CED9ECF836B}"/>
                </a:ext>
              </a:extLst>
            </p:cNvPr>
            <p:cNvPicPr>
              <a:picLocks noChangeAspect="1"/>
            </p:cNvPicPr>
            <p:nvPr/>
          </p:nvPicPr>
          <p:blipFill>
            <a:blip r:embed="rId5"/>
            <a:stretch>
              <a:fillRect/>
            </a:stretch>
          </p:blipFill>
          <p:spPr>
            <a:xfrm>
              <a:off x="5370184" y="1891577"/>
              <a:ext cx="1397232" cy="802267"/>
            </a:xfrm>
            <a:prstGeom prst="rect">
              <a:avLst/>
            </a:prstGeom>
          </p:spPr>
        </p:pic>
        <p:sp>
          <p:nvSpPr>
            <p:cNvPr id="168" name="cdtText Box 4 Id114692">
              <a:extLst>
                <a:ext uri="{FF2B5EF4-FFF2-40B4-BE49-F238E27FC236}">
                  <a16:creationId xmlns:a16="http://schemas.microsoft.com/office/drawing/2014/main" id="{2DBA5EEB-74E3-2505-E5B4-A45A2BBA7C3C}"/>
                </a:ext>
              </a:extLst>
            </p:cNvPr>
            <p:cNvSpPr txBox="1">
              <a:spLocks noChangeArrowheads="1"/>
            </p:cNvSpPr>
            <p:nvPr/>
          </p:nvSpPr>
          <p:spPr bwMode="auto">
            <a:xfrm>
              <a:off x="6738092" y="1992483"/>
              <a:ext cx="843857" cy="24002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3925" tIns="0" rIns="0" bIns="0" anchor="ctr" anchorCtr="0">
              <a:noAutofit/>
            </a:bodyPr>
            <a:lstStyle/>
            <a:p>
              <a:pPr defTabSz="914218" hangingPunct="0"/>
              <a:r>
                <a:rPr lang="en-US" altLang="zh-CN" sz="1000" b="1" kern="0" dirty="0" err="1">
                  <a:solidFill>
                    <a:srgbClr val="FFFFFF"/>
                  </a:solidFill>
                  <a:latin typeface="微软雅黑" panose="020B0503020204020204" pitchFamily="34" charset="-122"/>
                  <a:ea typeface="微软雅黑" panose="020B0503020204020204" pitchFamily="34" charset="-122"/>
                  <a:cs typeface="Arial"/>
                  <a:sym typeface="Arial"/>
                </a:rPr>
                <a:t>SiPlant</a:t>
              </a:r>
              <a:endParaRPr lang="en-US" altLang="zh-CN" sz="1000" b="1" kern="0" dirty="0">
                <a:solidFill>
                  <a:srgbClr val="FFFFFF"/>
                </a:solidFill>
                <a:latin typeface="微软雅黑" panose="020B0503020204020204" pitchFamily="34" charset="-122"/>
                <a:ea typeface="微软雅黑" panose="020B0503020204020204" pitchFamily="34" charset="-122"/>
                <a:cs typeface="Arial"/>
                <a:sym typeface="Arial"/>
              </a:endParaRPr>
            </a:p>
          </p:txBody>
        </p:sp>
        <p:sp>
          <p:nvSpPr>
            <p:cNvPr id="170" name="cdtText Box 4 Id114692">
              <a:extLst>
                <a:ext uri="{FF2B5EF4-FFF2-40B4-BE49-F238E27FC236}">
                  <a16:creationId xmlns:a16="http://schemas.microsoft.com/office/drawing/2014/main" id="{970D9BD2-7575-E7CC-B051-D8FC3E25FDD5}"/>
                </a:ext>
              </a:extLst>
            </p:cNvPr>
            <p:cNvSpPr txBox="1">
              <a:spLocks noChangeArrowheads="1"/>
            </p:cNvSpPr>
            <p:nvPr/>
          </p:nvSpPr>
          <p:spPr bwMode="auto">
            <a:xfrm>
              <a:off x="6738092" y="2273987"/>
              <a:ext cx="843857" cy="26564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3925" tIns="0" rIns="0" bIns="0" anchor="ctr" anchorCtr="0">
              <a:noAutofit/>
            </a:bodyPr>
            <a:lstStyle/>
            <a:p>
              <a:pPr defTabSz="914218" hangingPunct="0"/>
              <a:r>
                <a:rPr lang="en-US" altLang="zh-CN" sz="1000" b="1" kern="0" dirty="0" err="1">
                  <a:solidFill>
                    <a:srgbClr val="FFFFFF"/>
                  </a:solidFill>
                  <a:latin typeface="微软雅黑" panose="020B0503020204020204" pitchFamily="34" charset="-122"/>
                  <a:ea typeface="微软雅黑" panose="020B0503020204020204" pitchFamily="34" charset="-122"/>
                  <a:cs typeface="Arial"/>
                  <a:sym typeface="Arial"/>
                </a:rPr>
                <a:t>SiMove</a:t>
              </a:r>
              <a:endParaRPr lang="en-US" altLang="zh-CN" sz="1000" b="1" kern="0" dirty="0">
                <a:solidFill>
                  <a:srgbClr val="FFFFFF"/>
                </a:solidFill>
                <a:latin typeface="微软雅黑" panose="020B0503020204020204" pitchFamily="34" charset="-122"/>
                <a:ea typeface="微软雅黑" panose="020B0503020204020204" pitchFamily="34" charset="-122"/>
                <a:cs typeface="Arial"/>
                <a:sym typeface="Arial"/>
              </a:endParaRPr>
            </a:p>
          </p:txBody>
        </p:sp>
        <p:sp>
          <p:nvSpPr>
            <p:cNvPr id="171" name="cdtText Box 4 Id114692">
              <a:extLst>
                <a:ext uri="{FF2B5EF4-FFF2-40B4-BE49-F238E27FC236}">
                  <a16:creationId xmlns:a16="http://schemas.microsoft.com/office/drawing/2014/main" id="{E0E760CE-4E5B-D889-FD03-1975CF30BEAC}"/>
                </a:ext>
              </a:extLst>
            </p:cNvPr>
            <p:cNvSpPr txBox="1">
              <a:spLocks noChangeArrowheads="1"/>
            </p:cNvSpPr>
            <p:nvPr/>
          </p:nvSpPr>
          <p:spPr bwMode="auto">
            <a:xfrm>
              <a:off x="6741998" y="2581111"/>
              <a:ext cx="843858" cy="265642"/>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3925" tIns="0" rIns="0" bIns="0" anchor="ctr" anchorCtr="0">
              <a:noAutofit/>
            </a:bodyPr>
            <a:lstStyle/>
            <a:p>
              <a:pPr defTabSz="914218" hangingPunct="0"/>
              <a:r>
                <a:rPr lang="en-US" altLang="zh-CN" sz="1000" b="1" kern="0" dirty="0">
                  <a:solidFill>
                    <a:srgbClr val="FFFFFF"/>
                  </a:solidFill>
                  <a:latin typeface="微软雅黑" panose="020B0503020204020204" pitchFamily="34" charset="-122"/>
                  <a:ea typeface="微软雅黑" panose="020B0503020204020204" pitchFamily="34" charset="-122"/>
                  <a:cs typeface="Arial"/>
                  <a:sym typeface="Arial"/>
                </a:rPr>
                <a:t>…</a:t>
              </a:r>
            </a:p>
          </p:txBody>
        </p:sp>
        <p:sp>
          <p:nvSpPr>
            <p:cNvPr id="172" name="cdtText Box 4 Id114692">
              <a:extLst>
                <a:ext uri="{FF2B5EF4-FFF2-40B4-BE49-F238E27FC236}">
                  <a16:creationId xmlns:a16="http://schemas.microsoft.com/office/drawing/2014/main" id="{4CC52897-5734-ABEC-1729-F5EC44394CF1}"/>
                </a:ext>
              </a:extLst>
            </p:cNvPr>
            <p:cNvSpPr txBox="1">
              <a:spLocks noChangeArrowheads="1"/>
            </p:cNvSpPr>
            <p:nvPr/>
          </p:nvSpPr>
          <p:spPr bwMode="auto">
            <a:xfrm>
              <a:off x="6738092" y="1710372"/>
              <a:ext cx="843857" cy="240021"/>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w="9525" algn="ctr">
              <a:noFill/>
              <a:miter lim="800000"/>
              <a:headEnd/>
              <a:tailEnd/>
            </a:ln>
            <a:effectLst/>
          </p:spPr>
          <p:txBody>
            <a:bodyPr wrap="square" lIns="143925" tIns="0" rIns="0" bIns="0" anchor="ctr" anchorCtr="0">
              <a:noAutofit/>
            </a:bodyPr>
            <a:lstStyle/>
            <a:p>
              <a:pPr defTabSz="914218" hangingPunct="0"/>
              <a:r>
                <a:rPr lang="en-US" altLang="zh-CN" sz="1000" b="1" kern="0" dirty="0" err="1">
                  <a:solidFill>
                    <a:srgbClr val="FFFFFF"/>
                  </a:solidFill>
                  <a:latin typeface="微软雅黑" panose="020B0503020204020204" pitchFamily="34" charset="-122"/>
                  <a:ea typeface="微软雅黑" panose="020B0503020204020204" pitchFamily="34" charset="-122"/>
                  <a:cs typeface="Arial"/>
                  <a:sym typeface="Arial"/>
                </a:rPr>
                <a:t>TIAPortal</a:t>
              </a:r>
              <a:endParaRPr lang="en-US" altLang="zh-CN" sz="1000" b="1" kern="0" dirty="0">
                <a:solidFill>
                  <a:srgbClr val="FFFFFF"/>
                </a:solidFill>
                <a:latin typeface="微软雅黑" panose="020B0503020204020204" pitchFamily="34" charset="-122"/>
                <a:ea typeface="微软雅黑" panose="020B0503020204020204" pitchFamily="34" charset="-122"/>
                <a:cs typeface="Arial"/>
                <a:sym typeface="Arial"/>
              </a:endParaRPr>
            </a:p>
          </p:txBody>
        </p:sp>
        <p:pic>
          <p:nvPicPr>
            <p:cNvPr id="174" name="Picture 173">
              <a:extLst>
                <a:ext uri="{FF2B5EF4-FFF2-40B4-BE49-F238E27FC236}">
                  <a16:creationId xmlns:a16="http://schemas.microsoft.com/office/drawing/2014/main" id="{C3EFE380-4781-AF94-5A07-8A5C914366B4}"/>
                </a:ext>
              </a:extLst>
            </p:cNvPr>
            <p:cNvPicPr>
              <a:picLocks noChangeAspect="1"/>
            </p:cNvPicPr>
            <p:nvPr/>
          </p:nvPicPr>
          <p:blipFill>
            <a:blip r:embed="rId6"/>
            <a:stretch>
              <a:fillRect/>
            </a:stretch>
          </p:blipFill>
          <p:spPr>
            <a:xfrm>
              <a:off x="4480842" y="1891577"/>
              <a:ext cx="808762" cy="856604"/>
            </a:xfrm>
            <a:prstGeom prst="rect">
              <a:avLst/>
            </a:prstGeom>
          </p:spPr>
        </p:pic>
        <p:sp>
          <p:nvSpPr>
            <p:cNvPr id="175" name="Title 1">
              <a:extLst>
                <a:ext uri="{FF2B5EF4-FFF2-40B4-BE49-F238E27FC236}">
                  <a16:creationId xmlns:a16="http://schemas.microsoft.com/office/drawing/2014/main" id="{09F644C1-BC51-9D64-CACD-15F116D6CB32}"/>
                </a:ext>
              </a:extLst>
            </p:cNvPr>
            <p:cNvSpPr txBox="1">
              <a:spLocks/>
            </p:cNvSpPr>
            <p:nvPr/>
          </p:nvSpPr>
          <p:spPr>
            <a:xfrm>
              <a:off x="5273697" y="3124540"/>
              <a:ext cx="1449069"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sz="1200" dirty="0">
                  <a:solidFill>
                    <a:schemeClr val="bg1"/>
                  </a:solidFill>
                </a:rPr>
                <a:t>Knowledge </a:t>
              </a:r>
            </a:p>
            <a:p>
              <a:r>
                <a:rPr lang="en-US" altLang="zh-CN" sz="1200" dirty="0">
                  <a:solidFill>
                    <a:schemeClr val="bg1"/>
                  </a:solidFill>
                </a:rPr>
                <a:t>Graph DB</a:t>
              </a:r>
            </a:p>
          </p:txBody>
        </p:sp>
        <p:sp>
          <p:nvSpPr>
            <p:cNvPr id="176" name="Title 1">
              <a:extLst>
                <a:ext uri="{FF2B5EF4-FFF2-40B4-BE49-F238E27FC236}">
                  <a16:creationId xmlns:a16="http://schemas.microsoft.com/office/drawing/2014/main" id="{63597113-66E9-2331-2E6F-DC97B4C6C84A}"/>
                </a:ext>
              </a:extLst>
            </p:cNvPr>
            <p:cNvSpPr txBox="1">
              <a:spLocks/>
            </p:cNvSpPr>
            <p:nvPr/>
          </p:nvSpPr>
          <p:spPr>
            <a:xfrm>
              <a:off x="6247841" y="3144714"/>
              <a:ext cx="1449069"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gn="ctr"/>
              <a:r>
                <a:rPr lang="en-US" altLang="zh-CN" sz="1200" dirty="0">
                  <a:solidFill>
                    <a:schemeClr val="bg1"/>
                  </a:solidFill>
                </a:rPr>
                <a:t>Automation</a:t>
              </a:r>
            </a:p>
            <a:p>
              <a:pPr algn="ctr"/>
              <a:r>
                <a:rPr lang="en-US" altLang="zh-CN" sz="1200" dirty="0">
                  <a:solidFill>
                    <a:schemeClr val="bg1"/>
                  </a:solidFill>
                </a:rPr>
                <a:t>Data</a:t>
              </a:r>
            </a:p>
          </p:txBody>
        </p:sp>
        <p:sp>
          <p:nvSpPr>
            <p:cNvPr id="177" name="Oval 176">
              <a:extLst>
                <a:ext uri="{FF2B5EF4-FFF2-40B4-BE49-F238E27FC236}">
                  <a16:creationId xmlns:a16="http://schemas.microsoft.com/office/drawing/2014/main" id="{EB3543C5-4CEE-9D78-D3A0-1A37C53435DE}"/>
                </a:ext>
              </a:extLst>
            </p:cNvPr>
            <p:cNvSpPr/>
            <p:nvPr/>
          </p:nvSpPr>
          <p:spPr>
            <a:xfrm>
              <a:off x="5375585" y="3717867"/>
              <a:ext cx="1835518" cy="500724"/>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8" name="Arrow: Right 177">
              <a:extLst>
                <a:ext uri="{FF2B5EF4-FFF2-40B4-BE49-F238E27FC236}">
                  <a16:creationId xmlns:a16="http://schemas.microsoft.com/office/drawing/2014/main" id="{F74C379A-54AC-274B-F6D6-449358681FF3}"/>
                </a:ext>
              </a:extLst>
            </p:cNvPr>
            <p:cNvSpPr/>
            <p:nvPr/>
          </p:nvSpPr>
          <p:spPr>
            <a:xfrm rot="5400000">
              <a:off x="5503175" y="2803358"/>
              <a:ext cx="380171" cy="201319"/>
            </a:xfrm>
            <a:prstGeom prst="rightArrow">
              <a:avLst/>
            </a:prstGeom>
            <a:solidFill>
              <a:srgbClr val="00D7A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9" name="Arrow: Right 178">
              <a:extLst>
                <a:ext uri="{FF2B5EF4-FFF2-40B4-BE49-F238E27FC236}">
                  <a16:creationId xmlns:a16="http://schemas.microsoft.com/office/drawing/2014/main" id="{3CF414FB-30C5-902C-66D0-CA393AA6CF9E}"/>
                </a:ext>
              </a:extLst>
            </p:cNvPr>
            <p:cNvSpPr/>
            <p:nvPr/>
          </p:nvSpPr>
          <p:spPr>
            <a:xfrm rot="5400000">
              <a:off x="6571070" y="2790933"/>
              <a:ext cx="380171" cy="201319"/>
            </a:xfrm>
            <a:prstGeom prst="rightArrow">
              <a:avLst/>
            </a:prstGeom>
            <a:solidFill>
              <a:srgbClr val="00D7A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80" name="Grafik 38">
              <a:extLst>
                <a:ext uri="{FF2B5EF4-FFF2-40B4-BE49-F238E27FC236}">
                  <a16:creationId xmlns:a16="http://schemas.microsoft.com/office/drawing/2014/main" id="{08D1E1F6-4794-5ECF-5321-5C10DA90E4B5}"/>
                </a:ext>
              </a:extLst>
            </p:cNvPr>
            <p:cNvGrpSpPr>
              <a:grpSpLocks/>
            </p:cNvGrpSpPr>
            <p:nvPr/>
          </p:nvGrpSpPr>
          <p:grpSpPr>
            <a:xfrm>
              <a:off x="5208912" y="3868261"/>
              <a:ext cx="328219" cy="328332"/>
              <a:chOff x="4884022" y="2213847"/>
              <a:chExt cx="2432328" cy="2433161"/>
            </a:xfrm>
            <a:solidFill>
              <a:srgbClr val="AF235F"/>
            </a:solidFill>
          </p:grpSpPr>
          <p:sp>
            <p:nvSpPr>
              <p:cNvPr id="181" name="Freihandform: Form 40">
                <a:extLst>
                  <a:ext uri="{FF2B5EF4-FFF2-40B4-BE49-F238E27FC236}">
                    <a16:creationId xmlns:a16="http://schemas.microsoft.com/office/drawing/2014/main" id="{423E3F23-5803-FDAF-1B03-9247C31E5ABA}"/>
                  </a:ext>
                </a:extLst>
              </p:cNvPr>
              <p:cNvSpPr/>
              <p:nvPr/>
            </p:nvSpPr>
            <p:spPr>
              <a:xfrm>
                <a:off x="5209301" y="2539126"/>
                <a:ext cx="1781889" cy="1782603"/>
              </a:xfrm>
              <a:custGeom>
                <a:avLst/>
                <a:gdLst>
                  <a:gd name="connsiteX0" fmla="*/ 957501 w 1781889"/>
                  <a:gd name="connsiteY0" fmla="*/ 27861 h 1782603"/>
                  <a:gd name="connsiteX1" fmla="*/ 825103 w 1781889"/>
                  <a:gd name="connsiteY1" fmla="*/ 27861 h 1782603"/>
                  <a:gd name="connsiteX2" fmla="*/ 27861 w 1781889"/>
                  <a:gd name="connsiteY2" fmla="*/ 825103 h 1782603"/>
                  <a:gd name="connsiteX3" fmla="*/ 27861 w 1781889"/>
                  <a:gd name="connsiteY3" fmla="*/ 957501 h 1782603"/>
                  <a:gd name="connsiteX4" fmla="*/ 825103 w 1781889"/>
                  <a:gd name="connsiteY4" fmla="*/ 1754743 h 1782603"/>
                  <a:gd name="connsiteX5" fmla="*/ 957501 w 1781889"/>
                  <a:gd name="connsiteY5" fmla="*/ 1754743 h 1782603"/>
                  <a:gd name="connsiteX6" fmla="*/ 1754743 w 1781889"/>
                  <a:gd name="connsiteY6" fmla="*/ 957501 h 1782603"/>
                  <a:gd name="connsiteX7" fmla="*/ 1754743 w 1781889"/>
                  <a:gd name="connsiteY7" fmla="*/ 825103 h 1782603"/>
                  <a:gd name="connsiteX8" fmla="*/ 957501 w 1781889"/>
                  <a:gd name="connsiteY8" fmla="*/ 27861 h 1782603"/>
                  <a:gd name="connsiteX9" fmla="*/ 891778 w 1781889"/>
                  <a:gd name="connsiteY9" fmla="*/ 1404223 h 1782603"/>
                  <a:gd name="connsiteX10" fmla="*/ 773668 w 1781889"/>
                  <a:gd name="connsiteY10" fmla="*/ 1286113 h 1782603"/>
                  <a:gd name="connsiteX11" fmla="*/ 891778 w 1781889"/>
                  <a:gd name="connsiteY11" fmla="*/ 1168003 h 1782603"/>
                  <a:gd name="connsiteX12" fmla="*/ 1009888 w 1781889"/>
                  <a:gd name="connsiteY12" fmla="*/ 1286113 h 1782603"/>
                  <a:gd name="connsiteX13" fmla="*/ 891778 w 1781889"/>
                  <a:gd name="connsiteY13" fmla="*/ 1404223 h 1782603"/>
                  <a:gd name="connsiteX14" fmla="*/ 984171 w 1781889"/>
                  <a:gd name="connsiteY14" fmla="*/ 1067038 h 1782603"/>
                  <a:gd name="connsiteX15" fmla="*/ 799386 w 1781889"/>
                  <a:gd name="connsiteY15" fmla="*/ 1067038 h 1782603"/>
                  <a:gd name="connsiteX16" fmla="*/ 756523 w 1781889"/>
                  <a:gd name="connsiteY16" fmla="*/ 459343 h 1782603"/>
                  <a:gd name="connsiteX17" fmla="*/ 1027033 w 1781889"/>
                  <a:gd name="connsiteY17" fmla="*/ 459343 h 1782603"/>
                  <a:gd name="connsiteX18" fmla="*/ 984171 w 1781889"/>
                  <a:gd name="connsiteY18" fmla="*/ 1067038 h 1782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81889" h="1782603">
                    <a:moveTo>
                      <a:pt x="957501" y="27861"/>
                    </a:moveTo>
                    <a:cubicBezTo>
                      <a:pt x="920353" y="-9287"/>
                      <a:pt x="861298" y="-9287"/>
                      <a:pt x="825103" y="27861"/>
                    </a:cubicBezTo>
                    <a:lnTo>
                      <a:pt x="27861" y="825103"/>
                    </a:lnTo>
                    <a:cubicBezTo>
                      <a:pt x="-9287" y="862251"/>
                      <a:pt x="-9287" y="921306"/>
                      <a:pt x="27861" y="957501"/>
                    </a:cubicBezTo>
                    <a:lnTo>
                      <a:pt x="825103" y="1754743"/>
                    </a:lnTo>
                    <a:cubicBezTo>
                      <a:pt x="862251" y="1791891"/>
                      <a:pt x="921306" y="1791891"/>
                      <a:pt x="957501" y="1754743"/>
                    </a:cubicBezTo>
                    <a:lnTo>
                      <a:pt x="1754743" y="957501"/>
                    </a:lnTo>
                    <a:cubicBezTo>
                      <a:pt x="1790938" y="920353"/>
                      <a:pt x="1790938" y="861298"/>
                      <a:pt x="1754743" y="825103"/>
                    </a:cubicBezTo>
                    <a:lnTo>
                      <a:pt x="957501" y="27861"/>
                    </a:lnTo>
                    <a:close/>
                    <a:moveTo>
                      <a:pt x="891778" y="1404223"/>
                    </a:moveTo>
                    <a:cubicBezTo>
                      <a:pt x="823198" y="1404223"/>
                      <a:pt x="773668" y="1351836"/>
                      <a:pt x="773668" y="1286113"/>
                    </a:cubicBezTo>
                    <a:cubicBezTo>
                      <a:pt x="773668" y="1220391"/>
                      <a:pt x="823198" y="1168003"/>
                      <a:pt x="891778" y="1168003"/>
                    </a:cubicBezTo>
                    <a:cubicBezTo>
                      <a:pt x="960358" y="1168003"/>
                      <a:pt x="1009888" y="1220391"/>
                      <a:pt x="1009888" y="1286113"/>
                    </a:cubicBezTo>
                    <a:cubicBezTo>
                      <a:pt x="1009888" y="1351836"/>
                      <a:pt x="960358" y="1404223"/>
                      <a:pt x="891778" y="1404223"/>
                    </a:cubicBezTo>
                    <a:close/>
                    <a:moveTo>
                      <a:pt x="984171" y="1067038"/>
                    </a:moveTo>
                    <a:lnTo>
                      <a:pt x="799386" y="1067038"/>
                    </a:lnTo>
                    <a:lnTo>
                      <a:pt x="756523" y="459343"/>
                    </a:lnTo>
                    <a:lnTo>
                      <a:pt x="1027033" y="459343"/>
                    </a:lnTo>
                    <a:lnTo>
                      <a:pt x="984171" y="1067038"/>
                    </a:lnTo>
                    <a:close/>
                  </a:path>
                </a:pathLst>
              </a:custGeom>
              <a:grpFill/>
              <a:ln w="9525" cap="flat">
                <a:noFill/>
                <a:prstDash val="solid"/>
                <a:miter/>
              </a:ln>
            </p:spPr>
            <p:txBody>
              <a:bodyPr rtlCol="0" anchor="ctr"/>
              <a:lstStyle/>
              <a:p>
                <a:endParaRPr lang="en-US"/>
              </a:p>
            </p:txBody>
          </p:sp>
          <p:sp>
            <p:nvSpPr>
              <p:cNvPr id="182" name="Freihandform: Form 41">
                <a:extLst>
                  <a:ext uri="{FF2B5EF4-FFF2-40B4-BE49-F238E27FC236}">
                    <a16:creationId xmlns:a16="http://schemas.microsoft.com/office/drawing/2014/main" id="{8BF935B7-7795-5D07-40FB-D9C0B9B39EB4}"/>
                  </a:ext>
                </a:extLst>
              </p:cNvPr>
              <p:cNvSpPr/>
              <p:nvPr/>
            </p:nvSpPr>
            <p:spPr>
              <a:xfrm>
                <a:off x="4884022" y="2213847"/>
                <a:ext cx="2432328" cy="2433161"/>
              </a:xfrm>
              <a:custGeom>
                <a:avLst/>
                <a:gdLst>
                  <a:gd name="connsiteX0" fmla="*/ 2395299 w 2432328"/>
                  <a:gd name="connsiteY0" fmla="*/ 1126569 h 2433161"/>
                  <a:gd name="connsiteX1" fmla="*/ 1307544 w 2432328"/>
                  <a:gd name="connsiteY1" fmla="*/ 37862 h 2433161"/>
                  <a:gd name="connsiteX2" fmla="*/ 1126569 w 2432328"/>
                  <a:gd name="connsiteY2" fmla="*/ 37862 h 2433161"/>
                  <a:gd name="connsiteX3" fmla="*/ 37862 w 2432328"/>
                  <a:gd name="connsiteY3" fmla="*/ 1126569 h 2433161"/>
                  <a:gd name="connsiteX4" fmla="*/ 37862 w 2432328"/>
                  <a:gd name="connsiteY4" fmla="*/ 1307544 h 2433161"/>
                  <a:gd name="connsiteX5" fmla="*/ 1125617 w 2432328"/>
                  <a:gd name="connsiteY5" fmla="*/ 2395299 h 2433161"/>
                  <a:gd name="connsiteX6" fmla="*/ 1306592 w 2432328"/>
                  <a:gd name="connsiteY6" fmla="*/ 2395299 h 2433161"/>
                  <a:gd name="connsiteX7" fmla="*/ 2394347 w 2432328"/>
                  <a:gd name="connsiteY7" fmla="*/ 1307544 h 2433161"/>
                  <a:gd name="connsiteX8" fmla="*/ 2395299 w 2432328"/>
                  <a:gd name="connsiteY8" fmla="*/ 1126569 h 2433161"/>
                  <a:gd name="connsiteX9" fmla="*/ 2237185 w 2432328"/>
                  <a:gd name="connsiteY9" fmla="*/ 1295162 h 2433161"/>
                  <a:gd name="connsiteX10" fmla="*/ 1295162 w 2432328"/>
                  <a:gd name="connsiteY10" fmla="*/ 2237185 h 2433161"/>
                  <a:gd name="connsiteX11" fmla="*/ 1137999 w 2432328"/>
                  <a:gd name="connsiteY11" fmla="*/ 2237185 h 2433161"/>
                  <a:gd name="connsiteX12" fmla="*/ 195977 w 2432328"/>
                  <a:gd name="connsiteY12" fmla="*/ 1295162 h 2433161"/>
                  <a:gd name="connsiteX13" fmla="*/ 195977 w 2432328"/>
                  <a:gd name="connsiteY13" fmla="*/ 1137999 h 2433161"/>
                  <a:gd name="connsiteX14" fmla="*/ 1137999 w 2432328"/>
                  <a:gd name="connsiteY14" fmla="*/ 195977 h 2433161"/>
                  <a:gd name="connsiteX15" fmla="*/ 1295162 w 2432328"/>
                  <a:gd name="connsiteY15" fmla="*/ 195977 h 2433161"/>
                  <a:gd name="connsiteX16" fmla="*/ 2237185 w 2432328"/>
                  <a:gd name="connsiteY16" fmla="*/ 1137999 h 2433161"/>
                  <a:gd name="connsiteX17" fmla="*/ 2237185 w 2432328"/>
                  <a:gd name="connsiteY17" fmla="*/ 1295162 h 24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32328" h="2433161">
                    <a:moveTo>
                      <a:pt x="2395299" y="1126569"/>
                    </a:moveTo>
                    <a:lnTo>
                      <a:pt x="1307544" y="37862"/>
                    </a:lnTo>
                    <a:cubicBezTo>
                      <a:pt x="1257062" y="-12621"/>
                      <a:pt x="1176099" y="-12621"/>
                      <a:pt x="1126569" y="37862"/>
                    </a:cubicBezTo>
                    <a:lnTo>
                      <a:pt x="37862" y="1126569"/>
                    </a:lnTo>
                    <a:cubicBezTo>
                      <a:pt x="-12621" y="1177052"/>
                      <a:pt x="-12621" y="1258014"/>
                      <a:pt x="37862" y="1307544"/>
                    </a:cubicBezTo>
                    <a:lnTo>
                      <a:pt x="1125617" y="2395299"/>
                    </a:lnTo>
                    <a:cubicBezTo>
                      <a:pt x="1176099" y="2445782"/>
                      <a:pt x="1257062" y="2445782"/>
                      <a:pt x="1306592" y="2395299"/>
                    </a:cubicBezTo>
                    <a:lnTo>
                      <a:pt x="2394347" y="1307544"/>
                    </a:lnTo>
                    <a:cubicBezTo>
                      <a:pt x="2444830" y="1257062"/>
                      <a:pt x="2444830" y="1176099"/>
                      <a:pt x="2395299" y="1126569"/>
                    </a:cubicBezTo>
                    <a:close/>
                    <a:moveTo>
                      <a:pt x="2237185" y="1295162"/>
                    </a:moveTo>
                    <a:lnTo>
                      <a:pt x="1295162" y="2237185"/>
                    </a:lnTo>
                    <a:cubicBezTo>
                      <a:pt x="1252299" y="2280999"/>
                      <a:pt x="1181814" y="2280999"/>
                      <a:pt x="1137999" y="2237185"/>
                    </a:cubicBezTo>
                    <a:lnTo>
                      <a:pt x="195977" y="1295162"/>
                    </a:lnTo>
                    <a:cubicBezTo>
                      <a:pt x="152162" y="1252299"/>
                      <a:pt x="152162" y="1181814"/>
                      <a:pt x="195977" y="1137999"/>
                    </a:cubicBezTo>
                    <a:lnTo>
                      <a:pt x="1137999" y="195977"/>
                    </a:lnTo>
                    <a:cubicBezTo>
                      <a:pt x="1181814" y="152162"/>
                      <a:pt x="1251347" y="152162"/>
                      <a:pt x="1295162" y="195977"/>
                    </a:cubicBezTo>
                    <a:lnTo>
                      <a:pt x="2237185" y="1137999"/>
                    </a:lnTo>
                    <a:cubicBezTo>
                      <a:pt x="2280047" y="1181814"/>
                      <a:pt x="2280047" y="1251347"/>
                      <a:pt x="2237185" y="1295162"/>
                    </a:cubicBezTo>
                    <a:close/>
                  </a:path>
                </a:pathLst>
              </a:custGeom>
              <a:grpFill/>
              <a:ln w="9525" cap="flat">
                <a:noFill/>
                <a:prstDash val="solid"/>
                <a:miter/>
              </a:ln>
            </p:spPr>
            <p:txBody>
              <a:bodyPr rtlCol="0" anchor="ctr"/>
              <a:lstStyle/>
              <a:p>
                <a:endParaRPr lang="en-US"/>
              </a:p>
            </p:txBody>
          </p:sp>
        </p:grpSp>
        <p:sp>
          <p:nvSpPr>
            <p:cNvPr id="183" name="Title 1">
              <a:extLst>
                <a:ext uri="{FF2B5EF4-FFF2-40B4-BE49-F238E27FC236}">
                  <a16:creationId xmlns:a16="http://schemas.microsoft.com/office/drawing/2014/main" id="{95899DE8-D23C-056A-2019-DF0C4C58A36E}"/>
                </a:ext>
              </a:extLst>
            </p:cNvPr>
            <p:cNvSpPr txBox="1">
              <a:spLocks/>
            </p:cNvSpPr>
            <p:nvPr/>
          </p:nvSpPr>
          <p:spPr>
            <a:xfrm>
              <a:off x="5641710" y="3572441"/>
              <a:ext cx="1608790"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gn="ctr"/>
              <a:r>
                <a:rPr lang="en-US" altLang="zh-CN" sz="1200" dirty="0">
                  <a:solidFill>
                    <a:schemeClr val="bg1"/>
                  </a:solidFill>
                </a:rPr>
                <a:t>Abnormal Detection (DaaS)</a:t>
              </a:r>
            </a:p>
          </p:txBody>
        </p:sp>
        <p:sp>
          <p:nvSpPr>
            <p:cNvPr id="184" name="Title 1">
              <a:extLst>
                <a:ext uri="{FF2B5EF4-FFF2-40B4-BE49-F238E27FC236}">
                  <a16:creationId xmlns:a16="http://schemas.microsoft.com/office/drawing/2014/main" id="{4900056D-FDED-A5E2-36FD-E4ED7C5B3BD6}"/>
                </a:ext>
              </a:extLst>
            </p:cNvPr>
            <p:cNvSpPr txBox="1">
              <a:spLocks/>
            </p:cNvSpPr>
            <p:nvPr/>
          </p:nvSpPr>
          <p:spPr>
            <a:xfrm>
              <a:off x="4742163" y="4230406"/>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chemeClr val="bg1"/>
                  </a:solidFill>
                </a:rPr>
                <a:t>Enrich update capability</a:t>
              </a:r>
            </a:p>
            <a:p>
              <a:pPr marL="285750" indent="-285750">
                <a:buFont typeface="Wingdings" panose="05000000000000000000" pitchFamily="2" charset="2"/>
                <a:buChar char="Ø"/>
              </a:pPr>
              <a:r>
                <a:rPr lang="en-US" sz="1400" dirty="0">
                  <a:solidFill>
                    <a:schemeClr val="bg1"/>
                  </a:solidFill>
                </a:rPr>
                <a:t>Analyze </a:t>
              </a:r>
              <a:r>
                <a:rPr lang="en-US" altLang="zh-CN" sz="1400" dirty="0">
                  <a:solidFill>
                    <a:schemeClr val="bg1"/>
                  </a:solidFill>
                </a:rPr>
                <a:t>real-time data and association reference</a:t>
              </a:r>
              <a:endParaRPr lang="en-US" sz="1400" dirty="0">
                <a:solidFill>
                  <a:schemeClr val="bg1"/>
                </a:solidFill>
              </a:endParaRPr>
            </a:p>
          </p:txBody>
        </p:sp>
      </p:grpSp>
      <p:grpSp>
        <p:nvGrpSpPr>
          <p:cNvPr id="253" name="Group 252">
            <a:extLst>
              <a:ext uri="{FF2B5EF4-FFF2-40B4-BE49-F238E27FC236}">
                <a16:creationId xmlns:a16="http://schemas.microsoft.com/office/drawing/2014/main" id="{A47C1F4F-E97E-34CB-BFD3-C8915EA5BD83}"/>
              </a:ext>
            </a:extLst>
          </p:cNvPr>
          <p:cNvGrpSpPr/>
          <p:nvPr/>
        </p:nvGrpSpPr>
        <p:grpSpPr>
          <a:xfrm>
            <a:off x="7930649" y="1484614"/>
            <a:ext cx="4315473" cy="4752638"/>
            <a:chOff x="7930649" y="1484614"/>
            <a:chExt cx="4315473" cy="4752638"/>
          </a:xfrm>
        </p:grpSpPr>
        <p:cxnSp>
          <p:nvCxnSpPr>
            <p:cNvPr id="116" name="Gerader Verbinder 491">
              <a:extLst>
                <a:ext uri="{FF2B5EF4-FFF2-40B4-BE49-F238E27FC236}">
                  <a16:creationId xmlns:a16="http://schemas.microsoft.com/office/drawing/2014/main" id="{B9790AD6-308A-2261-C782-45B8E32F0095}"/>
                </a:ext>
              </a:extLst>
            </p:cNvPr>
            <p:cNvCxnSpPr>
              <a:cxnSpLocks/>
            </p:cNvCxnSpPr>
            <p:nvPr/>
          </p:nvCxnSpPr>
          <p:spPr bwMode="auto">
            <a:xfrm>
              <a:off x="10858658" y="2138378"/>
              <a:ext cx="0" cy="3204183"/>
            </a:xfrm>
            <a:prstGeom prst="line">
              <a:avLst/>
            </a:prstGeom>
            <a:solidFill>
              <a:schemeClr val="tx2"/>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17" name="Rechteck 3">
              <a:hlinkClick r:id="" action="ppaction://noaction"/>
              <a:extLst>
                <a:ext uri="{FF2B5EF4-FFF2-40B4-BE49-F238E27FC236}">
                  <a16:creationId xmlns:a16="http://schemas.microsoft.com/office/drawing/2014/main" id="{5745280C-0051-B19A-AB4F-ABE64773B755}"/>
                </a:ext>
              </a:extLst>
            </p:cNvPr>
            <p:cNvSpPr>
              <a:spLocks/>
            </p:cNvSpPr>
            <p:nvPr/>
          </p:nvSpPr>
          <p:spPr bwMode="gray">
            <a:xfrm>
              <a:off x="7930649" y="1484614"/>
              <a:ext cx="3590158" cy="4752638"/>
            </a:xfrm>
            <a:prstGeom prst="rect">
              <a:avLst/>
            </a:prstGeom>
            <a:solidFill>
              <a:srgbClr val="DFE6ED"/>
            </a:solidFill>
            <a:ln w="31750">
              <a:noFill/>
              <a:miter lim="800000"/>
              <a:headEnd/>
              <a:tailEnd/>
            </a:ln>
            <a:extLst>
              <a:ext uri="{91240B29-F687-4F45-9708-019B960494DF}">
                <a14:hiddenLine xmlns:a14="http://schemas.microsoft.com/office/drawing/2010/main" w="31750">
                  <a:solidFill>
                    <a:srgbClr val="41AAAA"/>
                  </a:solidFill>
                  <a:miter lim="800000"/>
                  <a:headEnd/>
                  <a:tailEnd/>
                </a14:hiddenLine>
              </a:ext>
            </a:extLst>
          </p:spPr>
          <p:txBody>
            <a:bodyPr vert="horz" wrap="square" lIns="216000" tIns="180000" rIns="216000" bIns="180000" numCol="1" anchor="b" anchorCtr="0" compatLnSpc="1">
              <a:prstTxWarp prst="textNoShape">
                <a:avLst/>
              </a:prstTxWarp>
              <a:noAutofit/>
            </a:bodyPr>
            <a:lstStyle/>
            <a:p>
              <a:pPr>
                <a:spcBef>
                  <a:spcPts val="0"/>
                </a:spcBef>
                <a:spcAft>
                  <a:spcPts val="300"/>
                </a:spcAft>
                <a:buClr>
                  <a:schemeClr val="accent1"/>
                </a:buClr>
              </a:pPr>
              <a:br>
                <a:rPr lang="en-US" sz="1600" b="1" dirty="0">
                  <a:solidFill>
                    <a:schemeClr val="bg1"/>
                  </a:solidFill>
                  <a:cs typeface="Arial" pitchFamily="34" charset="0"/>
                </a:rPr>
              </a:br>
              <a:r>
                <a:rPr lang="en-US" sz="2000" b="1" dirty="0">
                  <a:solidFill>
                    <a:srgbClr val="41AAAA"/>
                  </a:solidFill>
                  <a:cs typeface="Arial" pitchFamily="34" charset="0"/>
                </a:rPr>
                <a:t>Knowledge Repository</a:t>
              </a:r>
            </a:p>
            <a:p>
              <a:pPr>
                <a:spcBef>
                  <a:spcPts val="0"/>
                </a:spcBef>
                <a:spcAft>
                  <a:spcPts val="300"/>
                </a:spcAft>
                <a:buClr>
                  <a:schemeClr val="accent1"/>
                </a:buClr>
              </a:pPr>
              <a:r>
                <a:rPr lang="en-US" sz="1400" dirty="0">
                  <a:cs typeface="Arial" pitchFamily="34" charset="0"/>
                </a:rPr>
                <a:t>Manage knowledge models and provide the standard library services to end-customer</a:t>
              </a:r>
              <a:r>
                <a:rPr lang="en-US" sz="1400" dirty="0">
                  <a:solidFill>
                    <a:schemeClr val="tx1"/>
                  </a:solidFill>
                  <a:cs typeface="Arial" pitchFamily="34" charset="0"/>
                </a:rPr>
                <a:t>.</a:t>
              </a:r>
              <a:endParaRPr kumimoji="0" lang="en-US" sz="1400" i="0" u="none" strike="noStrike" kern="1200" cap="none" spc="0" normalizeH="0" baseline="0" noProof="0" dirty="0">
                <a:ln>
                  <a:noFill/>
                </a:ln>
                <a:solidFill>
                  <a:schemeClr val="tx1"/>
                </a:solidFill>
                <a:effectLst/>
                <a:uLnTx/>
                <a:uFillTx/>
                <a:cs typeface="Arial" pitchFamily="34" charset="0"/>
              </a:endParaRPr>
            </a:p>
          </p:txBody>
        </p:sp>
        <p:sp>
          <p:nvSpPr>
            <p:cNvPr id="118" name="Rechteck 66">
              <a:extLst>
                <a:ext uri="{FF2B5EF4-FFF2-40B4-BE49-F238E27FC236}">
                  <a16:creationId xmlns:a16="http://schemas.microsoft.com/office/drawing/2014/main" id="{D5C6FC3B-C501-6817-0A35-5755B6258C20}"/>
                </a:ext>
              </a:extLst>
            </p:cNvPr>
            <p:cNvSpPr>
              <a:spLocks/>
            </p:cNvSpPr>
            <p:nvPr/>
          </p:nvSpPr>
          <p:spPr bwMode="auto">
            <a:xfrm>
              <a:off x="8068977" y="1631915"/>
              <a:ext cx="3313503" cy="3289406"/>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sp>
          <p:nvSpPr>
            <p:cNvPr id="158" name="Rectangle 157">
              <a:extLst>
                <a:ext uri="{FF2B5EF4-FFF2-40B4-BE49-F238E27FC236}">
                  <a16:creationId xmlns:a16="http://schemas.microsoft.com/office/drawing/2014/main" id="{467C9309-06F0-D66F-61AB-A43F207D6582}"/>
                </a:ext>
              </a:extLst>
            </p:cNvPr>
            <p:cNvSpPr/>
            <p:nvPr/>
          </p:nvSpPr>
          <p:spPr>
            <a:xfrm>
              <a:off x="8290049" y="2917859"/>
              <a:ext cx="2887037" cy="1847619"/>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0" name="Title 1">
              <a:extLst>
                <a:ext uri="{FF2B5EF4-FFF2-40B4-BE49-F238E27FC236}">
                  <a16:creationId xmlns:a16="http://schemas.microsoft.com/office/drawing/2014/main" id="{7DB6083C-B915-0797-DCBB-80F7D7B70BB7}"/>
                </a:ext>
              </a:extLst>
            </p:cNvPr>
            <p:cNvSpPr txBox="1">
              <a:spLocks/>
            </p:cNvSpPr>
            <p:nvPr/>
          </p:nvSpPr>
          <p:spPr>
            <a:xfrm>
              <a:off x="8402517" y="4108214"/>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buFont typeface="Wingdings" panose="05000000000000000000" pitchFamily="2" charset="2"/>
                <a:buChar char="Ø"/>
              </a:pPr>
              <a:r>
                <a:rPr lang="en-US" altLang="zh-CN" sz="1400" dirty="0">
                  <a:solidFill>
                    <a:schemeClr val="bg1"/>
                  </a:solidFill>
                </a:rPr>
                <a:t>Standard device knowledge</a:t>
              </a:r>
            </a:p>
            <a:p>
              <a:pPr marL="285750" indent="-285750">
                <a:buFont typeface="Wingdings" panose="05000000000000000000" pitchFamily="2" charset="2"/>
                <a:buChar char="Ø"/>
              </a:pPr>
              <a:r>
                <a:rPr lang="en-US" altLang="zh-CN" sz="1400" dirty="0">
                  <a:solidFill>
                    <a:schemeClr val="bg1"/>
                  </a:solidFill>
                </a:rPr>
                <a:t>Diagnosis with iteration ability</a:t>
              </a:r>
              <a:endParaRPr lang="en-US" sz="1400" dirty="0">
                <a:solidFill>
                  <a:schemeClr val="bg1"/>
                </a:solidFill>
              </a:endParaRPr>
            </a:p>
          </p:txBody>
        </p:sp>
        <p:grpSp>
          <p:nvGrpSpPr>
            <p:cNvPr id="185" name="Gruppieren 141">
              <a:extLst>
                <a:ext uri="{FF2B5EF4-FFF2-40B4-BE49-F238E27FC236}">
                  <a16:creationId xmlns:a16="http://schemas.microsoft.com/office/drawing/2014/main" id="{837085E6-C329-5CE0-B6DA-610CA5E52C3C}"/>
                </a:ext>
              </a:extLst>
            </p:cNvPr>
            <p:cNvGrpSpPr>
              <a:grpSpLocks/>
            </p:cNvGrpSpPr>
            <p:nvPr/>
          </p:nvGrpSpPr>
          <p:grpSpPr bwMode="gray">
            <a:xfrm>
              <a:off x="8275775" y="1971024"/>
              <a:ext cx="268811" cy="698728"/>
              <a:chOff x="7204629" y="392063"/>
              <a:chExt cx="796985" cy="2816504"/>
            </a:xfrm>
          </p:grpSpPr>
          <p:sp>
            <p:nvSpPr>
              <p:cNvPr id="186" name="Freeform 5302">
                <a:extLst>
                  <a:ext uri="{FF2B5EF4-FFF2-40B4-BE49-F238E27FC236}">
                    <a16:creationId xmlns:a16="http://schemas.microsoft.com/office/drawing/2014/main" id="{FB6C0E77-4A06-941E-E60B-31BF61C135D6}"/>
                  </a:ext>
                </a:extLst>
              </p:cNvPr>
              <p:cNvSpPr>
                <a:spLocks/>
              </p:cNvSpPr>
              <p:nvPr/>
            </p:nvSpPr>
            <p:spPr bwMode="gray">
              <a:xfrm>
                <a:off x="7210201" y="1430507"/>
                <a:ext cx="122466" cy="793431"/>
              </a:xfrm>
              <a:custGeom>
                <a:avLst/>
                <a:gdLst>
                  <a:gd name="T0" fmla="*/ 4549 w 4549"/>
                  <a:gd name="T1" fmla="*/ 29438 h 29472"/>
                  <a:gd name="T2" fmla="*/ 4549 w 4549"/>
                  <a:gd name="T3" fmla="*/ 29438 h 29472"/>
                  <a:gd name="T4" fmla="*/ 2516 w 4549"/>
                  <a:gd name="T5" fmla="*/ 29472 h 29472"/>
                  <a:gd name="T6" fmla="*/ 207 w 4549"/>
                  <a:gd name="T7" fmla="*/ 22406 h 29472"/>
                  <a:gd name="T8" fmla="*/ 1206 w 4549"/>
                  <a:gd name="T9" fmla="*/ 19579 h 29472"/>
                  <a:gd name="T10" fmla="*/ 448 w 4549"/>
                  <a:gd name="T11" fmla="*/ 7377 h 29472"/>
                  <a:gd name="T12" fmla="*/ 0 w 4549"/>
                  <a:gd name="T13" fmla="*/ 0 h 29472"/>
                  <a:gd name="T14" fmla="*/ 4205 w 4549"/>
                  <a:gd name="T15" fmla="*/ 0 h 29472"/>
                  <a:gd name="T16" fmla="*/ 4170 w 4549"/>
                  <a:gd name="T17" fmla="*/ 1551 h 29472"/>
                  <a:gd name="T18" fmla="*/ 4170 w 4549"/>
                  <a:gd name="T19" fmla="*/ 19889 h 29472"/>
                  <a:gd name="T20" fmla="*/ 4549 w 4549"/>
                  <a:gd name="T21" fmla="*/ 29438 h 29472"/>
                  <a:gd name="T22" fmla="*/ 4549 w 4549"/>
                  <a:gd name="T23" fmla="*/ 29438 h 29472"/>
                  <a:gd name="T24" fmla="*/ 4549 w 4549"/>
                  <a:gd name="T25" fmla="*/ 29438 h 29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49" h="29472">
                    <a:moveTo>
                      <a:pt x="4549" y="29438"/>
                    </a:moveTo>
                    <a:lnTo>
                      <a:pt x="4549" y="29438"/>
                    </a:lnTo>
                    <a:lnTo>
                      <a:pt x="2516" y="29472"/>
                    </a:lnTo>
                    <a:lnTo>
                      <a:pt x="207" y="22406"/>
                    </a:lnTo>
                    <a:lnTo>
                      <a:pt x="1206" y="19579"/>
                    </a:lnTo>
                    <a:lnTo>
                      <a:pt x="448" y="7377"/>
                    </a:lnTo>
                    <a:lnTo>
                      <a:pt x="0" y="0"/>
                    </a:lnTo>
                    <a:lnTo>
                      <a:pt x="4205" y="0"/>
                    </a:lnTo>
                    <a:lnTo>
                      <a:pt x="4170" y="1551"/>
                    </a:lnTo>
                    <a:lnTo>
                      <a:pt x="4170" y="19889"/>
                    </a:lnTo>
                    <a:lnTo>
                      <a:pt x="4549" y="29438"/>
                    </a:lnTo>
                    <a:lnTo>
                      <a:pt x="4549" y="29438"/>
                    </a:lnTo>
                    <a:lnTo>
                      <a:pt x="4549" y="29438"/>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87" name="Freeform 5303">
                <a:extLst>
                  <a:ext uri="{FF2B5EF4-FFF2-40B4-BE49-F238E27FC236}">
                    <a16:creationId xmlns:a16="http://schemas.microsoft.com/office/drawing/2014/main" id="{2C6BDA32-567B-CA6D-D62D-B1C98BBC3494}"/>
                  </a:ext>
                </a:extLst>
              </p:cNvPr>
              <p:cNvSpPr>
                <a:spLocks/>
              </p:cNvSpPr>
              <p:nvPr/>
            </p:nvSpPr>
            <p:spPr bwMode="gray">
              <a:xfrm>
                <a:off x="7872659" y="1449998"/>
                <a:ext cx="121524" cy="773940"/>
              </a:xfrm>
              <a:custGeom>
                <a:avLst/>
                <a:gdLst>
                  <a:gd name="T0" fmla="*/ 3308 w 4514"/>
                  <a:gd name="T1" fmla="*/ 18855 h 28748"/>
                  <a:gd name="T2" fmla="*/ 4342 w 4514"/>
                  <a:gd name="T3" fmla="*/ 21682 h 28748"/>
                  <a:gd name="T4" fmla="*/ 2033 w 4514"/>
                  <a:gd name="T5" fmla="*/ 28748 h 28748"/>
                  <a:gd name="T6" fmla="*/ 0 w 4514"/>
                  <a:gd name="T7" fmla="*/ 28714 h 28748"/>
                  <a:gd name="T8" fmla="*/ 379 w 4514"/>
                  <a:gd name="T9" fmla="*/ 19165 h 28748"/>
                  <a:gd name="T10" fmla="*/ 379 w 4514"/>
                  <a:gd name="T11" fmla="*/ 19165 h 28748"/>
                  <a:gd name="T12" fmla="*/ 379 w 4514"/>
                  <a:gd name="T13" fmla="*/ 0 h 28748"/>
                  <a:gd name="T14" fmla="*/ 4514 w 4514"/>
                  <a:gd name="T15" fmla="*/ 0 h 28748"/>
                  <a:gd name="T16" fmla="*/ 4101 w 4514"/>
                  <a:gd name="T17" fmla="*/ 6653 h 28748"/>
                  <a:gd name="T18" fmla="*/ 3308 w 4514"/>
                  <a:gd name="T19" fmla="*/ 18855 h 28748"/>
                  <a:gd name="T20" fmla="*/ 3308 w 4514"/>
                  <a:gd name="T21" fmla="*/ 18855 h 28748"/>
                  <a:gd name="T22" fmla="*/ 3308 w 4514"/>
                  <a:gd name="T23" fmla="*/ 18855 h 28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14" h="28748">
                    <a:moveTo>
                      <a:pt x="3308" y="18855"/>
                    </a:moveTo>
                    <a:lnTo>
                      <a:pt x="4342" y="21682"/>
                    </a:lnTo>
                    <a:lnTo>
                      <a:pt x="2033" y="28748"/>
                    </a:lnTo>
                    <a:lnTo>
                      <a:pt x="0" y="28714"/>
                    </a:lnTo>
                    <a:lnTo>
                      <a:pt x="379" y="19165"/>
                    </a:lnTo>
                    <a:lnTo>
                      <a:pt x="379" y="19165"/>
                    </a:lnTo>
                    <a:lnTo>
                      <a:pt x="379" y="0"/>
                    </a:lnTo>
                    <a:lnTo>
                      <a:pt x="4514" y="0"/>
                    </a:lnTo>
                    <a:lnTo>
                      <a:pt x="4101" y="6653"/>
                    </a:lnTo>
                    <a:lnTo>
                      <a:pt x="3308" y="18855"/>
                    </a:lnTo>
                    <a:lnTo>
                      <a:pt x="3308" y="18855"/>
                    </a:lnTo>
                    <a:lnTo>
                      <a:pt x="3308" y="18855"/>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88" name="Freeform 5304">
                <a:extLst>
                  <a:ext uri="{FF2B5EF4-FFF2-40B4-BE49-F238E27FC236}">
                    <a16:creationId xmlns:a16="http://schemas.microsoft.com/office/drawing/2014/main" id="{EF2F0354-7CFB-4A34-86CA-74154081E352}"/>
                  </a:ext>
                </a:extLst>
              </p:cNvPr>
              <p:cNvSpPr>
                <a:spLocks/>
              </p:cNvSpPr>
              <p:nvPr/>
            </p:nvSpPr>
            <p:spPr bwMode="gray">
              <a:xfrm>
                <a:off x="7373507" y="444022"/>
                <a:ext cx="460170" cy="655189"/>
              </a:xfrm>
              <a:custGeom>
                <a:avLst/>
                <a:gdLst>
                  <a:gd name="T0" fmla="*/ 491 w 496"/>
                  <a:gd name="T1" fmla="*/ 333 h 706"/>
                  <a:gd name="T2" fmla="*/ 456 w 496"/>
                  <a:gd name="T3" fmla="*/ 421 h 706"/>
                  <a:gd name="T4" fmla="*/ 437 w 496"/>
                  <a:gd name="T5" fmla="*/ 435 h 706"/>
                  <a:gd name="T6" fmla="*/ 419 w 496"/>
                  <a:gd name="T7" fmla="*/ 435 h 706"/>
                  <a:gd name="T8" fmla="*/ 400 w 496"/>
                  <a:gd name="T9" fmla="*/ 511 h 706"/>
                  <a:gd name="T10" fmla="*/ 378 w 496"/>
                  <a:gd name="T11" fmla="*/ 524 h 706"/>
                  <a:gd name="T12" fmla="*/ 377 w 496"/>
                  <a:gd name="T13" fmla="*/ 618 h 706"/>
                  <a:gd name="T14" fmla="*/ 263 w 496"/>
                  <a:gd name="T15" fmla="*/ 706 h 706"/>
                  <a:gd name="T16" fmla="*/ 232 w 496"/>
                  <a:gd name="T17" fmla="*/ 706 h 706"/>
                  <a:gd name="T18" fmla="*/ 118 w 496"/>
                  <a:gd name="T19" fmla="*/ 613 h 706"/>
                  <a:gd name="T20" fmla="*/ 117 w 496"/>
                  <a:gd name="T21" fmla="*/ 524 h 706"/>
                  <a:gd name="T22" fmla="*/ 94 w 496"/>
                  <a:gd name="T23" fmla="*/ 511 h 706"/>
                  <a:gd name="T24" fmla="*/ 76 w 496"/>
                  <a:gd name="T25" fmla="*/ 435 h 706"/>
                  <a:gd name="T26" fmla="*/ 58 w 496"/>
                  <a:gd name="T27" fmla="*/ 435 h 706"/>
                  <a:gd name="T28" fmla="*/ 38 w 496"/>
                  <a:gd name="T29" fmla="*/ 421 h 706"/>
                  <a:gd name="T30" fmla="*/ 3 w 496"/>
                  <a:gd name="T31" fmla="*/ 333 h 706"/>
                  <a:gd name="T32" fmla="*/ 15 w 496"/>
                  <a:gd name="T33" fmla="*/ 306 h 706"/>
                  <a:gd name="T34" fmla="*/ 54 w 496"/>
                  <a:gd name="T35" fmla="*/ 321 h 706"/>
                  <a:gd name="T36" fmla="*/ 48 w 496"/>
                  <a:gd name="T37" fmla="*/ 196 h 706"/>
                  <a:gd name="T38" fmla="*/ 65 w 496"/>
                  <a:gd name="T39" fmla="*/ 63 h 706"/>
                  <a:gd name="T40" fmla="*/ 193 w 496"/>
                  <a:gd name="T41" fmla="*/ 1 h 706"/>
                  <a:gd name="T42" fmla="*/ 303 w 496"/>
                  <a:gd name="T43" fmla="*/ 0 h 706"/>
                  <a:gd name="T44" fmla="*/ 432 w 496"/>
                  <a:gd name="T45" fmla="*/ 60 h 706"/>
                  <a:gd name="T46" fmla="*/ 449 w 496"/>
                  <a:gd name="T47" fmla="*/ 200 h 706"/>
                  <a:gd name="T48" fmla="*/ 443 w 496"/>
                  <a:gd name="T49" fmla="*/ 321 h 706"/>
                  <a:gd name="T50" fmla="*/ 480 w 496"/>
                  <a:gd name="T51" fmla="*/ 306 h 706"/>
                  <a:gd name="T52" fmla="*/ 491 w 496"/>
                  <a:gd name="T53" fmla="*/ 333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6" h="706">
                    <a:moveTo>
                      <a:pt x="491" y="333"/>
                    </a:moveTo>
                    <a:cubicBezTo>
                      <a:pt x="456" y="421"/>
                      <a:pt x="456" y="421"/>
                      <a:pt x="456" y="421"/>
                    </a:cubicBezTo>
                    <a:cubicBezTo>
                      <a:pt x="454" y="430"/>
                      <a:pt x="446" y="435"/>
                      <a:pt x="437" y="435"/>
                    </a:cubicBezTo>
                    <a:cubicBezTo>
                      <a:pt x="419" y="435"/>
                      <a:pt x="419" y="435"/>
                      <a:pt x="419" y="435"/>
                    </a:cubicBezTo>
                    <a:cubicBezTo>
                      <a:pt x="400" y="511"/>
                      <a:pt x="400" y="511"/>
                      <a:pt x="400" y="511"/>
                    </a:cubicBezTo>
                    <a:cubicBezTo>
                      <a:pt x="378" y="524"/>
                      <a:pt x="378" y="524"/>
                      <a:pt x="378" y="524"/>
                    </a:cubicBezTo>
                    <a:cubicBezTo>
                      <a:pt x="377" y="618"/>
                      <a:pt x="377" y="618"/>
                      <a:pt x="377" y="618"/>
                    </a:cubicBezTo>
                    <a:cubicBezTo>
                      <a:pt x="263" y="706"/>
                      <a:pt x="263" y="706"/>
                      <a:pt x="263" y="706"/>
                    </a:cubicBezTo>
                    <a:cubicBezTo>
                      <a:pt x="232" y="706"/>
                      <a:pt x="232" y="706"/>
                      <a:pt x="232" y="706"/>
                    </a:cubicBezTo>
                    <a:cubicBezTo>
                      <a:pt x="118" y="613"/>
                      <a:pt x="118" y="613"/>
                      <a:pt x="118" y="613"/>
                    </a:cubicBezTo>
                    <a:cubicBezTo>
                      <a:pt x="117" y="524"/>
                      <a:pt x="117" y="524"/>
                      <a:pt x="117" y="524"/>
                    </a:cubicBezTo>
                    <a:cubicBezTo>
                      <a:pt x="94" y="511"/>
                      <a:pt x="94" y="511"/>
                      <a:pt x="94" y="511"/>
                    </a:cubicBezTo>
                    <a:cubicBezTo>
                      <a:pt x="76" y="435"/>
                      <a:pt x="76" y="435"/>
                      <a:pt x="76" y="435"/>
                    </a:cubicBezTo>
                    <a:cubicBezTo>
                      <a:pt x="58" y="435"/>
                      <a:pt x="58" y="435"/>
                      <a:pt x="58" y="435"/>
                    </a:cubicBezTo>
                    <a:cubicBezTo>
                      <a:pt x="49" y="435"/>
                      <a:pt x="41" y="430"/>
                      <a:pt x="38" y="421"/>
                    </a:cubicBezTo>
                    <a:cubicBezTo>
                      <a:pt x="3" y="333"/>
                      <a:pt x="3" y="333"/>
                      <a:pt x="3" y="333"/>
                    </a:cubicBezTo>
                    <a:cubicBezTo>
                      <a:pt x="0" y="323"/>
                      <a:pt x="4" y="310"/>
                      <a:pt x="15" y="306"/>
                    </a:cubicBezTo>
                    <a:cubicBezTo>
                      <a:pt x="28" y="301"/>
                      <a:pt x="54" y="307"/>
                      <a:pt x="54" y="321"/>
                    </a:cubicBezTo>
                    <a:cubicBezTo>
                      <a:pt x="50" y="227"/>
                      <a:pt x="48" y="196"/>
                      <a:pt x="48" y="196"/>
                    </a:cubicBezTo>
                    <a:cubicBezTo>
                      <a:pt x="65" y="63"/>
                      <a:pt x="65" y="63"/>
                      <a:pt x="65" y="63"/>
                    </a:cubicBezTo>
                    <a:cubicBezTo>
                      <a:pt x="193" y="1"/>
                      <a:pt x="193" y="1"/>
                      <a:pt x="193" y="1"/>
                    </a:cubicBezTo>
                    <a:cubicBezTo>
                      <a:pt x="303" y="0"/>
                      <a:pt x="303" y="0"/>
                      <a:pt x="303" y="0"/>
                    </a:cubicBezTo>
                    <a:cubicBezTo>
                      <a:pt x="432" y="60"/>
                      <a:pt x="432" y="60"/>
                      <a:pt x="432" y="60"/>
                    </a:cubicBezTo>
                    <a:cubicBezTo>
                      <a:pt x="449" y="200"/>
                      <a:pt x="449" y="200"/>
                      <a:pt x="449" y="200"/>
                    </a:cubicBezTo>
                    <a:cubicBezTo>
                      <a:pt x="443" y="321"/>
                      <a:pt x="443" y="321"/>
                      <a:pt x="443" y="321"/>
                    </a:cubicBezTo>
                    <a:cubicBezTo>
                      <a:pt x="445" y="308"/>
                      <a:pt x="467" y="301"/>
                      <a:pt x="480" y="306"/>
                    </a:cubicBezTo>
                    <a:cubicBezTo>
                      <a:pt x="491" y="310"/>
                      <a:pt x="496" y="323"/>
                      <a:pt x="491" y="333"/>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89" name="Freeform 5305">
                <a:extLst>
                  <a:ext uri="{FF2B5EF4-FFF2-40B4-BE49-F238E27FC236}">
                    <a16:creationId xmlns:a16="http://schemas.microsoft.com/office/drawing/2014/main" id="{34D2D4E1-3F15-F900-E2D1-2A0F55330C15}"/>
                  </a:ext>
                </a:extLst>
              </p:cNvPr>
              <p:cNvSpPr>
                <a:spLocks/>
              </p:cNvSpPr>
              <p:nvPr/>
            </p:nvSpPr>
            <p:spPr bwMode="gray">
              <a:xfrm>
                <a:off x="7407832" y="439391"/>
                <a:ext cx="389662" cy="331296"/>
              </a:xfrm>
              <a:custGeom>
                <a:avLst/>
                <a:gdLst>
                  <a:gd name="T0" fmla="*/ 14474 w 14474"/>
                  <a:gd name="T1" fmla="*/ 7032 h 12306"/>
                  <a:gd name="T2" fmla="*/ 14061 w 14474"/>
                  <a:gd name="T3" fmla="*/ 11237 h 12306"/>
                  <a:gd name="T4" fmla="*/ 13854 w 14474"/>
                  <a:gd name="T5" fmla="*/ 12306 h 12306"/>
                  <a:gd name="T6" fmla="*/ 13785 w 14474"/>
                  <a:gd name="T7" fmla="*/ 12306 h 12306"/>
                  <a:gd name="T8" fmla="*/ 11648 w 14474"/>
                  <a:gd name="T9" fmla="*/ 3999 h 12306"/>
                  <a:gd name="T10" fmla="*/ 5583 w 14474"/>
                  <a:gd name="T11" fmla="*/ 6170 h 12306"/>
                  <a:gd name="T12" fmla="*/ 2826 w 14474"/>
                  <a:gd name="T13" fmla="*/ 3999 h 12306"/>
                  <a:gd name="T14" fmla="*/ 689 w 14474"/>
                  <a:gd name="T15" fmla="*/ 12306 h 12306"/>
                  <a:gd name="T16" fmla="*/ 620 w 14474"/>
                  <a:gd name="T17" fmla="*/ 12306 h 12306"/>
                  <a:gd name="T18" fmla="*/ 413 w 14474"/>
                  <a:gd name="T19" fmla="*/ 11237 h 12306"/>
                  <a:gd name="T20" fmla="*/ 0 w 14474"/>
                  <a:gd name="T21" fmla="*/ 7032 h 12306"/>
                  <a:gd name="T22" fmla="*/ 792 w 14474"/>
                  <a:gd name="T23" fmla="*/ 2241 h 12306"/>
                  <a:gd name="T24" fmla="*/ 5307 w 14474"/>
                  <a:gd name="T25" fmla="*/ 0 h 12306"/>
                  <a:gd name="T26" fmla="*/ 9167 w 14474"/>
                  <a:gd name="T27" fmla="*/ 0 h 12306"/>
                  <a:gd name="T28" fmla="*/ 13750 w 14474"/>
                  <a:gd name="T29" fmla="*/ 2172 h 12306"/>
                  <a:gd name="T30" fmla="*/ 14474 w 14474"/>
                  <a:gd name="T31" fmla="*/ 7032 h 12306"/>
                  <a:gd name="T32" fmla="*/ 14474 w 14474"/>
                  <a:gd name="T33" fmla="*/ 7032 h 12306"/>
                  <a:gd name="T34" fmla="*/ 14474 w 14474"/>
                  <a:gd name="T35" fmla="*/ 7032 h 12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474" h="12306">
                    <a:moveTo>
                      <a:pt x="14474" y="7032"/>
                    </a:moveTo>
                    <a:lnTo>
                      <a:pt x="14061" y="11237"/>
                    </a:lnTo>
                    <a:lnTo>
                      <a:pt x="13854" y="12306"/>
                    </a:lnTo>
                    <a:lnTo>
                      <a:pt x="13785" y="12306"/>
                    </a:lnTo>
                    <a:lnTo>
                      <a:pt x="11648" y="3999"/>
                    </a:lnTo>
                    <a:lnTo>
                      <a:pt x="5583" y="6170"/>
                    </a:lnTo>
                    <a:lnTo>
                      <a:pt x="2826" y="3999"/>
                    </a:lnTo>
                    <a:lnTo>
                      <a:pt x="689" y="12306"/>
                    </a:lnTo>
                    <a:lnTo>
                      <a:pt x="620" y="12306"/>
                    </a:lnTo>
                    <a:lnTo>
                      <a:pt x="413" y="11237"/>
                    </a:lnTo>
                    <a:lnTo>
                      <a:pt x="0" y="7032"/>
                    </a:lnTo>
                    <a:lnTo>
                      <a:pt x="792" y="2241"/>
                    </a:lnTo>
                    <a:lnTo>
                      <a:pt x="5307" y="0"/>
                    </a:lnTo>
                    <a:lnTo>
                      <a:pt x="9167" y="0"/>
                    </a:lnTo>
                    <a:lnTo>
                      <a:pt x="13750" y="2172"/>
                    </a:lnTo>
                    <a:lnTo>
                      <a:pt x="14474" y="7032"/>
                    </a:lnTo>
                    <a:lnTo>
                      <a:pt x="14474" y="7032"/>
                    </a:lnTo>
                    <a:lnTo>
                      <a:pt x="14474" y="7032"/>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0" name="Freeform 5306">
                <a:extLst>
                  <a:ext uri="{FF2B5EF4-FFF2-40B4-BE49-F238E27FC236}">
                    <a16:creationId xmlns:a16="http://schemas.microsoft.com/office/drawing/2014/main" id="{5CE0FD4B-9D87-BFE2-C1BF-733125562E8E}"/>
                  </a:ext>
                </a:extLst>
              </p:cNvPr>
              <p:cNvSpPr>
                <a:spLocks/>
              </p:cNvSpPr>
              <p:nvPr/>
            </p:nvSpPr>
            <p:spPr bwMode="gray">
              <a:xfrm>
                <a:off x="7204629" y="1002697"/>
                <a:ext cx="796985" cy="964195"/>
              </a:xfrm>
              <a:custGeom>
                <a:avLst/>
                <a:gdLst>
                  <a:gd name="T0" fmla="*/ 24917 w 29604"/>
                  <a:gd name="T1" fmla="*/ 17683 h 35815"/>
                  <a:gd name="T2" fmla="*/ 24952 w 29604"/>
                  <a:gd name="T3" fmla="*/ 35815 h 35815"/>
                  <a:gd name="T4" fmla="*/ 4618 w 29604"/>
                  <a:gd name="T5" fmla="*/ 35815 h 35815"/>
                  <a:gd name="T6" fmla="*/ 4618 w 29604"/>
                  <a:gd name="T7" fmla="*/ 17683 h 35815"/>
                  <a:gd name="T8" fmla="*/ 0 w 29604"/>
                  <a:gd name="T9" fmla="*/ 17683 h 35815"/>
                  <a:gd name="T10" fmla="*/ 345 w 29604"/>
                  <a:gd name="T11" fmla="*/ 7721 h 35815"/>
                  <a:gd name="T12" fmla="*/ 2413 w 29604"/>
                  <a:gd name="T13" fmla="*/ 3757 h 35815"/>
                  <a:gd name="T14" fmla="*/ 10339 w 29604"/>
                  <a:gd name="T15" fmla="*/ 0 h 35815"/>
                  <a:gd name="T16" fmla="*/ 10339 w 29604"/>
                  <a:gd name="T17" fmla="*/ 0 h 35815"/>
                  <a:gd name="T18" fmla="*/ 14268 w 29604"/>
                  <a:gd name="T19" fmla="*/ 3033 h 35815"/>
                  <a:gd name="T20" fmla="*/ 15302 w 29604"/>
                  <a:gd name="T21" fmla="*/ 3033 h 35815"/>
                  <a:gd name="T22" fmla="*/ 19265 w 29604"/>
                  <a:gd name="T23" fmla="*/ 0 h 35815"/>
                  <a:gd name="T24" fmla="*/ 27192 w 29604"/>
                  <a:gd name="T25" fmla="*/ 3860 h 35815"/>
                  <a:gd name="T26" fmla="*/ 29225 w 29604"/>
                  <a:gd name="T27" fmla="*/ 7721 h 35815"/>
                  <a:gd name="T28" fmla="*/ 29604 w 29604"/>
                  <a:gd name="T29" fmla="*/ 17683 h 35815"/>
                  <a:gd name="T30" fmla="*/ 24917 w 29604"/>
                  <a:gd name="T31" fmla="*/ 17683 h 35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604" h="35815">
                    <a:moveTo>
                      <a:pt x="24917" y="17683"/>
                    </a:moveTo>
                    <a:lnTo>
                      <a:pt x="24952" y="35815"/>
                    </a:lnTo>
                    <a:lnTo>
                      <a:pt x="4618" y="35815"/>
                    </a:lnTo>
                    <a:lnTo>
                      <a:pt x="4618" y="17683"/>
                    </a:lnTo>
                    <a:lnTo>
                      <a:pt x="0" y="17683"/>
                    </a:lnTo>
                    <a:lnTo>
                      <a:pt x="345" y="7721"/>
                    </a:lnTo>
                    <a:lnTo>
                      <a:pt x="2413" y="3757"/>
                    </a:lnTo>
                    <a:lnTo>
                      <a:pt x="10339" y="0"/>
                    </a:lnTo>
                    <a:lnTo>
                      <a:pt x="10339" y="0"/>
                    </a:lnTo>
                    <a:lnTo>
                      <a:pt x="14268" y="3033"/>
                    </a:lnTo>
                    <a:lnTo>
                      <a:pt x="15302" y="3033"/>
                    </a:lnTo>
                    <a:lnTo>
                      <a:pt x="19265" y="0"/>
                    </a:lnTo>
                    <a:lnTo>
                      <a:pt x="27192" y="3860"/>
                    </a:lnTo>
                    <a:lnTo>
                      <a:pt x="29225" y="7721"/>
                    </a:lnTo>
                    <a:lnTo>
                      <a:pt x="29604" y="17683"/>
                    </a:lnTo>
                    <a:lnTo>
                      <a:pt x="24917" y="17683"/>
                    </a:lnTo>
                    <a:close/>
                  </a:path>
                </a:pathLst>
              </a:custGeom>
              <a:solidFill>
                <a:srgbClr val="ECEC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1" name="Freeform 5307">
                <a:extLst>
                  <a:ext uri="{FF2B5EF4-FFF2-40B4-BE49-F238E27FC236}">
                    <a16:creationId xmlns:a16="http://schemas.microsoft.com/office/drawing/2014/main" id="{20695D70-74E7-831C-7001-32D6F743E142}"/>
                  </a:ext>
                </a:extLst>
              </p:cNvPr>
              <p:cNvSpPr>
                <a:spLocks/>
              </p:cNvSpPr>
              <p:nvPr/>
            </p:nvSpPr>
            <p:spPr bwMode="gray">
              <a:xfrm>
                <a:off x="7329894" y="1037964"/>
                <a:ext cx="545538" cy="2170602"/>
              </a:xfrm>
              <a:custGeom>
                <a:avLst/>
                <a:gdLst>
                  <a:gd name="T0" fmla="*/ 17369 w 20264"/>
                  <a:gd name="T1" fmla="*/ 0 h 80627"/>
                  <a:gd name="T2" fmla="*/ 17369 w 20264"/>
                  <a:gd name="T3" fmla="*/ 8169 h 80627"/>
                  <a:gd name="T4" fmla="*/ 2895 w 20264"/>
                  <a:gd name="T5" fmla="*/ 8169 h 80627"/>
                  <a:gd name="T6" fmla="*/ 2895 w 20264"/>
                  <a:gd name="T7" fmla="*/ 0 h 80627"/>
                  <a:gd name="T8" fmla="*/ 0 w 20264"/>
                  <a:gd name="T9" fmla="*/ 1413 h 80627"/>
                  <a:gd name="T10" fmla="*/ 0 w 20264"/>
                  <a:gd name="T11" fmla="*/ 16132 h 80627"/>
                  <a:gd name="T12" fmla="*/ 0 w 20264"/>
                  <a:gd name="T13" fmla="*/ 34470 h 80627"/>
                  <a:gd name="T14" fmla="*/ 0 w 20264"/>
                  <a:gd name="T15" fmla="*/ 34470 h 80627"/>
                  <a:gd name="T16" fmla="*/ 379 w 20264"/>
                  <a:gd name="T17" fmla="*/ 44019 h 80627"/>
                  <a:gd name="T18" fmla="*/ 4101 w 20264"/>
                  <a:gd name="T19" fmla="*/ 80627 h 80627"/>
                  <a:gd name="T20" fmla="*/ 16232 w 20264"/>
                  <a:gd name="T21" fmla="*/ 80627 h 80627"/>
                  <a:gd name="T22" fmla="*/ 19885 w 20264"/>
                  <a:gd name="T23" fmla="*/ 44019 h 80627"/>
                  <a:gd name="T24" fmla="*/ 20264 w 20264"/>
                  <a:gd name="T25" fmla="*/ 34470 h 80627"/>
                  <a:gd name="T26" fmla="*/ 20264 w 20264"/>
                  <a:gd name="T27" fmla="*/ 34470 h 80627"/>
                  <a:gd name="T28" fmla="*/ 20264 w 20264"/>
                  <a:gd name="T29" fmla="*/ 16304 h 80627"/>
                  <a:gd name="T30" fmla="*/ 20264 w 20264"/>
                  <a:gd name="T31" fmla="*/ 1413 h 80627"/>
                  <a:gd name="T32" fmla="*/ 17369 w 20264"/>
                  <a:gd name="T33" fmla="*/ 0 h 80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264" h="80627">
                    <a:moveTo>
                      <a:pt x="17369" y="0"/>
                    </a:moveTo>
                    <a:lnTo>
                      <a:pt x="17369" y="8169"/>
                    </a:lnTo>
                    <a:lnTo>
                      <a:pt x="2895" y="8169"/>
                    </a:lnTo>
                    <a:lnTo>
                      <a:pt x="2895" y="0"/>
                    </a:lnTo>
                    <a:lnTo>
                      <a:pt x="0" y="1413"/>
                    </a:lnTo>
                    <a:lnTo>
                      <a:pt x="0" y="16132"/>
                    </a:lnTo>
                    <a:lnTo>
                      <a:pt x="0" y="34470"/>
                    </a:lnTo>
                    <a:lnTo>
                      <a:pt x="0" y="34470"/>
                    </a:lnTo>
                    <a:lnTo>
                      <a:pt x="379" y="44019"/>
                    </a:lnTo>
                    <a:lnTo>
                      <a:pt x="4101" y="80627"/>
                    </a:lnTo>
                    <a:lnTo>
                      <a:pt x="16232" y="80627"/>
                    </a:lnTo>
                    <a:lnTo>
                      <a:pt x="19885" y="44019"/>
                    </a:lnTo>
                    <a:lnTo>
                      <a:pt x="20264" y="34470"/>
                    </a:lnTo>
                    <a:lnTo>
                      <a:pt x="20264" y="34470"/>
                    </a:lnTo>
                    <a:lnTo>
                      <a:pt x="20264" y="16304"/>
                    </a:lnTo>
                    <a:lnTo>
                      <a:pt x="20264" y="1413"/>
                    </a:lnTo>
                    <a:lnTo>
                      <a:pt x="17369" y="0"/>
                    </a:ln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2" name="Freeform 5308">
                <a:extLst>
                  <a:ext uri="{FF2B5EF4-FFF2-40B4-BE49-F238E27FC236}">
                    <a16:creationId xmlns:a16="http://schemas.microsoft.com/office/drawing/2014/main" id="{C879717C-2EA6-3838-387D-51ECB7DBA1A7}"/>
                  </a:ext>
                </a:extLst>
              </p:cNvPr>
              <p:cNvSpPr>
                <a:spLocks/>
              </p:cNvSpPr>
              <p:nvPr/>
            </p:nvSpPr>
            <p:spPr bwMode="gray">
              <a:xfrm>
                <a:off x="7419893" y="1346054"/>
                <a:ext cx="346992" cy="17634"/>
              </a:xfrm>
              <a:custGeom>
                <a:avLst/>
                <a:gdLst>
                  <a:gd name="T0" fmla="*/ 0 w 12889"/>
                  <a:gd name="T1" fmla="*/ 0 h 655"/>
                  <a:gd name="T2" fmla="*/ 12889 w 12889"/>
                  <a:gd name="T3" fmla="*/ 0 h 655"/>
                  <a:gd name="T4" fmla="*/ 12889 w 12889"/>
                  <a:gd name="T5" fmla="*/ 655 h 655"/>
                  <a:gd name="T6" fmla="*/ 0 w 12889"/>
                  <a:gd name="T7" fmla="*/ 655 h 655"/>
                  <a:gd name="T8" fmla="*/ 0 w 12889"/>
                  <a:gd name="T9" fmla="*/ 0 h 655"/>
                  <a:gd name="T10" fmla="*/ 0 w 12889"/>
                  <a:gd name="T11" fmla="*/ 0 h 655"/>
                </a:gdLst>
                <a:ahLst/>
                <a:cxnLst>
                  <a:cxn ang="0">
                    <a:pos x="T0" y="T1"/>
                  </a:cxn>
                  <a:cxn ang="0">
                    <a:pos x="T2" y="T3"/>
                  </a:cxn>
                  <a:cxn ang="0">
                    <a:pos x="T4" y="T5"/>
                  </a:cxn>
                  <a:cxn ang="0">
                    <a:pos x="T6" y="T7"/>
                  </a:cxn>
                  <a:cxn ang="0">
                    <a:pos x="T8" y="T9"/>
                  </a:cxn>
                  <a:cxn ang="0">
                    <a:pos x="T10" y="T11"/>
                  </a:cxn>
                </a:cxnLst>
                <a:rect l="0" t="0" r="r" b="b"/>
                <a:pathLst>
                  <a:path w="12889" h="655">
                    <a:moveTo>
                      <a:pt x="0" y="0"/>
                    </a:moveTo>
                    <a:lnTo>
                      <a:pt x="12889" y="0"/>
                    </a:lnTo>
                    <a:lnTo>
                      <a:pt x="12889" y="655"/>
                    </a:lnTo>
                    <a:lnTo>
                      <a:pt x="0" y="655"/>
                    </a:lnTo>
                    <a:lnTo>
                      <a:pt x="0" y="0"/>
                    </a:lnTo>
                    <a:lnTo>
                      <a:pt x="0"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3" name="Freeform 5309">
                <a:extLst>
                  <a:ext uri="{FF2B5EF4-FFF2-40B4-BE49-F238E27FC236}">
                    <a16:creationId xmlns:a16="http://schemas.microsoft.com/office/drawing/2014/main" id="{6F1ABA93-F516-55F6-6257-F9301B593914}"/>
                  </a:ext>
                </a:extLst>
              </p:cNvPr>
              <p:cNvSpPr>
                <a:spLocks/>
              </p:cNvSpPr>
              <p:nvPr/>
            </p:nvSpPr>
            <p:spPr bwMode="gray">
              <a:xfrm>
                <a:off x="7507092" y="1349770"/>
                <a:ext cx="25064" cy="46386"/>
              </a:xfrm>
              <a:custGeom>
                <a:avLst/>
                <a:gdLst>
                  <a:gd name="T0" fmla="*/ 0 w 931"/>
                  <a:gd name="T1" fmla="*/ 0 h 1723"/>
                  <a:gd name="T2" fmla="*/ 931 w 931"/>
                  <a:gd name="T3" fmla="*/ 0 h 1723"/>
                  <a:gd name="T4" fmla="*/ 931 w 931"/>
                  <a:gd name="T5" fmla="*/ 1723 h 1723"/>
                  <a:gd name="T6" fmla="*/ 0 w 931"/>
                  <a:gd name="T7" fmla="*/ 1723 h 1723"/>
                  <a:gd name="T8" fmla="*/ 0 w 931"/>
                  <a:gd name="T9" fmla="*/ 0 h 1723"/>
                  <a:gd name="T10" fmla="*/ 0 w 931"/>
                  <a:gd name="T11" fmla="*/ 0 h 1723"/>
                  <a:gd name="T12" fmla="*/ 0 w 931"/>
                  <a:gd name="T13" fmla="*/ 0 h 1723"/>
                  <a:gd name="T14" fmla="*/ 0 w 931"/>
                  <a:gd name="T15" fmla="*/ 0 h 1723"/>
                  <a:gd name="T16" fmla="*/ 0 w 931"/>
                  <a:gd name="T17" fmla="*/ 0 h 1723"/>
                  <a:gd name="T18" fmla="*/ 0 w 931"/>
                  <a:gd name="T19" fmla="*/ 0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1" h="1723">
                    <a:moveTo>
                      <a:pt x="0" y="0"/>
                    </a:moveTo>
                    <a:lnTo>
                      <a:pt x="931" y="0"/>
                    </a:lnTo>
                    <a:lnTo>
                      <a:pt x="931" y="1723"/>
                    </a:lnTo>
                    <a:lnTo>
                      <a:pt x="0" y="1723"/>
                    </a:lnTo>
                    <a:lnTo>
                      <a:pt x="0" y="0"/>
                    </a:lnTo>
                    <a:lnTo>
                      <a:pt x="0" y="0"/>
                    </a:lnTo>
                    <a:lnTo>
                      <a:pt x="0" y="0"/>
                    </a:lnTo>
                    <a:lnTo>
                      <a:pt x="0" y="0"/>
                    </a:lnTo>
                    <a:lnTo>
                      <a:pt x="0" y="0"/>
                    </a:lnTo>
                    <a:lnTo>
                      <a:pt x="0" y="0"/>
                    </a:lnTo>
                    <a:close/>
                  </a:path>
                </a:pathLst>
              </a:custGeom>
              <a:solidFill>
                <a:srgbClr val="005F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4" name="Freeform 5310">
                <a:extLst>
                  <a:ext uri="{FF2B5EF4-FFF2-40B4-BE49-F238E27FC236}">
                    <a16:creationId xmlns:a16="http://schemas.microsoft.com/office/drawing/2014/main" id="{F8B03782-56C5-79FE-F491-97641CC44B6C}"/>
                  </a:ext>
                </a:extLst>
              </p:cNvPr>
              <p:cNvSpPr>
                <a:spLocks/>
              </p:cNvSpPr>
              <p:nvPr/>
            </p:nvSpPr>
            <p:spPr bwMode="gray">
              <a:xfrm>
                <a:off x="7419893" y="1396155"/>
                <a:ext cx="197604" cy="129008"/>
              </a:xfrm>
              <a:custGeom>
                <a:avLst/>
                <a:gdLst>
                  <a:gd name="T0" fmla="*/ 0 w 7340"/>
                  <a:gd name="T1" fmla="*/ 0 h 4792"/>
                  <a:gd name="T2" fmla="*/ 7340 w 7340"/>
                  <a:gd name="T3" fmla="*/ 0 h 4792"/>
                  <a:gd name="T4" fmla="*/ 7340 w 7340"/>
                  <a:gd name="T5" fmla="*/ 4792 h 4792"/>
                  <a:gd name="T6" fmla="*/ 0 w 7340"/>
                  <a:gd name="T7" fmla="*/ 4792 h 4792"/>
                  <a:gd name="T8" fmla="*/ 0 w 7340"/>
                  <a:gd name="T9" fmla="*/ 0 h 4792"/>
                  <a:gd name="T10" fmla="*/ 0 w 7340"/>
                  <a:gd name="T11" fmla="*/ 0 h 4792"/>
                  <a:gd name="T12" fmla="*/ 0 w 7340"/>
                  <a:gd name="T13" fmla="*/ 0 h 4792"/>
                  <a:gd name="T14" fmla="*/ 0 w 7340"/>
                  <a:gd name="T15" fmla="*/ 0 h 4792"/>
                  <a:gd name="T16" fmla="*/ 0 w 7340"/>
                  <a:gd name="T17" fmla="*/ 0 h 4792"/>
                  <a:gd name="T18" fmla="*/ 0 w 7340"/>
                  <a:gd name="T19" fmla="*/ 0 h 4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40" h="4792">
                    <a:moveTo>
                      <a:pt x="0" y="0"/>
                    </a:moveTo>
                    <a:lnTo>
                      <a:pt x="7340" y="0"/>
                    </a:lnTo>
                    <a:lnTo>
                      <a:pt x="7340" y="4792"/>
                    </a:lnTo>
                    <a:lnTo>
                      <a:pt x="0" y="4792"/>
                    </a:lnTo>
                    <a:lnTo>
                      <a:pt x="0" y="0"/>
                    </a:lnTo>
                    <a:lnTo>
                      <a:pt x="0" y="0"/>
                    </a:lnTo>
                    <a:lnTo>
                      <a:pt x="0" y="0"/>
                    </a:lnTo>
                    <a:lnTo>
                      <a:pt x="0" y="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5" name="Freeform 5311">
                <a:extLst>
                  <a:ext uri="{FF2B5EF4-FFF2-40B4-BE49-F238E27FC236}">
                    <a16:creationId xmlns:a16="http://schemas.microsoft.com/office/drawing/2014/main" id="{6E6E2BF0-3D2E-5D77-80D5-6DFE0237443A}"/>
                  </a:ext>
                </a:extLst>
              </p:cNvPr>
              <p:cNvSpPr>
                <a:spLocks/>
              </p:cNvSpPr>
              <p:nvPr/>
            </p:nvSpPr>
            <p:spPr bwMode="gray">
              <a:xfrm>
                <a:off x="7494116" y="1410074"/>
                <a:ext cx="86284" cy="25064"/>
              </a:xfrm>
              <a:custGeom>
                <a:avLst/>
                <a:gdLst>
                  <a:gd name="T0" fmla="*/ 0 w 3205"/>
                  <a:gd name="T1" fmla="*/ 0 h 931"/>
                  <a:gd name="T2" fmla="*/ 3205 w 3205"/>
                  <a:gd name="T3" fmla="*/ 0 h 931"/>
                  <a:gd name="T4" fmla="*/ 3205 w 3205"/>
                  <a:gd name="T5" fmla="*/ 931 h 931"/>
                  <a:gd name="T6" fmla="*/ 0 w 3205"/>
                  <a:gd name="T7" fmla="*/ 931 h 931"/>
                  <a:gd name="T8" fmla="*/ 0 w 3205"/>
                  <a:gd name="T9" fmla="*/ 0 h 931"/>
                  <a:gd name="T10" fmla="*/ 0 w 3205"/>
                  <a:gd name="T11" fmla="*/ 0 h 931"/>
                  <a:gd name="T12" fmla="*/ 0 w 3205"/>
                  <a:gd name="T13" fmla="*/ 0 h 931"/>
                  <a:gd name="T14" fmla="*/ 0 w 3205"/>
                  <a:gd name="T15" fmla="*/ 0 h 931"/>
                  <a:gd name="T16" fmla="*/ 0 w 3205"/>
                  <a:gd name="T17" fmla="*/ 0 h 931"/>
                  <a:gd name="T18" fmla="*/ 0 w 3205"/>
                  <a:gd name="T19" fmla="*/ 0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5" h="931">
                    <a:moveTo>
                      <a:pt x="0" y="0"/>
                    </a:moveTo>
                    <a:lnTo>
                      <a:pt x="3205" y="0"/>
                    </a:lnTo>
                    <a:lnTo>
                      <a:pt x="3205" y="931"/>
                    </a:lnTo>
                    <a:lnTo>
                      <a:pt x="0" y="931"/>
                    </a:lnTo>
                    <a:lnTo>
                      <a:pt x="0" y="0"/>
                    </a:lnTo>
                    <a:lnTo>
                      <a:pt x="0" y="0"/>
                    </a:lnTo>
                    <a:lnTo>
                      <a:pt x="0" y="0"/>
                    </a:lnTo>
                    <a:lnTo>
                      <a:pt x="0" y="0"/>
                    </a:lnTo>
                    <a:lnTo>
                      <a:pt x="0" y="0"/>
                    </a:lnTo>
                    <a:lnTo>
                      <a:pt x="0" y="0"/>
                    </a:lnTo>
                    <a:close/>
                  </a:path>
                </a:pathLst>
              </a:custGeom>
              <a:solidFill>
                <a:srgbClr val="4B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6" name="Freeform 5312">
                <a:extLst>
                  <a:ext uri="{FF2B5EF4-FFF2-40B4-BE49-F238E27FC236}">
                    <a16:creationId xmlns:a16="http://schemas.microsoft.com/office/drawing/2014/main" id="{42863F81-8C49-8A89-C7B3-C6C0599F85F5}"/>
                  </a:ext>
                </a:extLst>
              </p:cNvPr>
              <p:cNvSpPr>
                <a:spLocks/>
              </p:cNvSpPr>
              <p:nvPr/>
            </p:nvSpPr>
            <p:spPr bwMode="gray">
              <a:xfrm>
                <a:off x="7518237" y="1444426"/>
                <a:ext cx="85341" cy="12061"/>
              </a:xfrm>
              <a:custGeom>
                <a:avLst/>
                <a:gdLst>
                  <a:gd name="T0" fmla="*/ 0 w 3170"/>
                  <a:gd name="T1" fmla="*/ 0 h 448"/>
                  <a:gd name="T2" fmla="*/ 3170 w 3170"/>
                  <a:gd name="T3" fmla="*/ 0 h 448"/>
                  <a:gd name="T4" fmla="*/ 3170 w 3170"/>
                  <a:gd name="T5" fmla="*/ 448 h 448"/>
                  <a:gd name="T6" fmla="*/ 0 w 3170"/>
                  <a:gd name="T7" fmla="*/ 448 h 448"/>
                  <a:gd name="T8" fmla="*/ 0 w 3170"/>
                  <a:gd name="T9" fmla="*/ 0 h 448"/>
                  <a:gd name="T10" fmla="*/ 0 w 3170"/>
                  <a:gd name="T11" fmla="*/ 0 h 448"/>
                  <a:gd name="T12" fmla="*/ 0 w 3170"/>
                  <a:gd name="T13" fmla="*/ 0 h 448"/>
                  <a:gd name="T14" fmla="*/ 0 w 3170"/>
                  <a:gd name="T15" fmla="*/ 0 h 448"/>
                  <a:gd name="T16" fmla="*/ 0 w 3170"/>
                  <a:gd name="T17" fmla="*/ 0 h 448"/>
                  <a:gd name="T18" fmla="*/ 0 w 3170"/>
                  <a:gd name="T19"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70" h="448">
                    <a:moveTo>
                      <a:pt x="0" y="0"/>
                    </a:moveTo>
                    <a:lnTo>
                      <a:pt x="3170" y="0"/>
                    </a:lnTo>
                    <a:lnTo>
                      <a:pt x="3170" y="448"/>
                    </a:lnTo>
                    <a:lnTo>
                      <a:pt x="0" y="448"/>
                    </a:lnTo>
                    <a:lnTo>
                      <a:pt x="0" y="0"/>
                    </a:lnTo>
                    <a:lnTo>
                      <a:pt x="0" y="0"/>
                    </a:lnTo>
                    <a:lnTo>
                      <a:pt x="0" y="0"/>
                    </a:lnTo>
                    <a:lnTo>
                      <a:pt x="0" y="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7" name="Freeform 5313">
                <a:extLst>
                  <a:ext uri="{FF2B5EF4-FFF2-40B4-BE49-F238E27FC236}">
                    <a16:creationId xmlns:a16="http://schemas.microsoft.com/office/drawing/2014/main" id="{B3D1CE04-ED90-E09E-2003-83B72447EC2F}"/>
                  </a:ext>
                </a:extLst>
              </p:cNvPr>
              <p:cNvSpPr>
                <a:spLocks/>
              </p:cNvSpPr>
              <p:nvPr/>
            </p:nvSpPr>
            <p:spPr bwMode="gray">
              <a:xfrm>
                <a:off x="7670398" y="1143739"/>
                <a:ext cx="146588" cy="193027"/>
              </a:xfrm>
              <a:custGeom>
                <a:avLst/>
                <a:gdLst>
                  <a:gd name="T0" fmla="*/ 61 w 158"/>
                  <a:gd name="T1" fmla="*/ 0 h 208"/>
                  <a:gd name="T2" fmla="*/ 81 w 158"/>
                  <a:gd name="T3" fmla="*/ 8 h 208"/>
                  <a:gd name="T4" fmla="*/ 59 w 158"/>
                  <a:gd name="T5" fmla="*/ 66 h 208"/>
                  <a:gd name="T6" fmla="*/ 109 w 158"/>
                  <a:gd name="T7" fmla="*/ 85 h 208"/>
                  <a:gd name="T8" fmla="*/ 131 w 158"/>
                  <a:gd name="T9" fmla="*/ 27 h 208"/>
                  <a:gd name="T10" fmla="*/ 151 w 158"/>
                  <a:gd name="T11" fmla="*/ 34 h 208"/>
                  <a:gd name="T12" fmla="*/ 158 w 158"/>
                  <a:gd name="T13" fmla="*/ 89 h 208"/>
                  <a:gd name="T14" fmla="*/ 145 w 158"/>
                  <a:gd name="T15" fmla="*/ 122 h 208"/>
                  <a:gd name="T16" fmla="*/ 91 w 158"/>
                  <a:gd name="T17" fmla="*/ 150 h 208"/>
                  <a:gd name="T18" fmla="*/ 69 w 158"/>
                  <a:gd name="T19" fmla="*/ 208 h 208"/>
                  <a:gd name="T20" fmla="*/ 0 w 158"/>
                  <a:gd name="T21" fmla="*/ 208 h 208"/>
                  <a:gd name="T22" fmla="*/ 30 w 158"/>
                  <a:gd name="T23" fmla="*/ 127 h 208"/>
                  <a:gd name="T24" fmla="*/ 8 w 158"/>
                  <a:gd name="T25" fmla="*/ 71 h 208"/>
                  <a:gd name="T26" fmla="*/ 20 w 158"/>
                  <a:gd name="T27" fmla="*/ 37 h 208"/>
                  <a:gd name="T28" fmla="*/ 61 w 158"/>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8" h="208">
                    <a:moveTo>
                      <a:pt x="61" y="0"/>
                    </a:moveTo>
                    <a:cubicBezTo>
                      <a:pt x="67" y="3"/>
                      <a:pt x="74" y="5"/>
                      <a:pt x="81" y="8"/>
                    </a:cubicBezTo>
                    <a:cubicBezTo>
                      <a:pt x="74" y="27"/>
                      <a:pt x="66" y="47"/>
                      <a:pt x="59" y="66"/>
                    </a:cubicBezTo>
                    <a:cubicBezTo>
                      <a:pt x="76" y="72"/>
                      <a:pt x="93" y="78"/>
                      <a:pt x="109" y="85"/>
                    </a:cubicBezTo>
                    <a:cubicBezTo>
                      <a:pt x="117" y="65"/>
                      <a:pt x="124" y="46"/>
                      <a:pt x="131" y="27"/>
                    </a:cubicBezTo>
                    <a:cubicBezTo>
                      <a:pt x="138" y="29"/>
                      <a:pt x="145" y="32"/>
                      <a:pt x="151" y="34"/>
                    </a:cubicBezTo>
                    <a:cubicBezTo>
                      <a:pt x="151" y="34"/>
                      <a:pt x="151" y="34"/>
                      <a:pt x="158" y="89"/>
                    </a:cubicBezTo>
                    <a:cubicBezTo>
                      <a:pt x="153" y="100"/>
                      <a:pt x="149" y="111"/>
                      <a:pt x="145" y="122"/>
                    </a:cubicBezTo>
                    <a:cubicBezTo>
                      <a:pt x="127" y="132"/>
                      <a:pt x="109" y="141"/>
                      <a:pt x="91" y="150"/>
                    </a:cubicBezTo>
                    <a:cubicBezTo>
                      <a:pt x="83" y="169"/>
                      <a:pt x="76" y="189"/>
                      <a:pt x="69" y="208"/>
                    </a:cubicBezTo>
                    <a:cubicBezTo>
                      <a:pt x="0" y="208"/>
                      <a:pt x="0" y="208"/>
                      <a:pt x="0" y="208"/>
                    </a:cubicBezTo>
                    <a:cubicBezTo>
                      <a:pt x="30" y="127"/>
                      <a:pt x="30" y="127"/>
                      <a:pt x="30" y="127"/>
                    </a:cubicBezTo>
                    <a:cubicBezTo>
                      <a:pt x="23" y="109"/>
                      <a:pt x="15" y="90"/>
                      <a:pt x="8" y="71"/>
                    </a:cubicBezTo>
                    <a:cubicBezTo>
                      <a:pt x="12" y="60"/>
                      <a:pt x="16" y="48"/>
                      <a:pt x="20" y="37"/>
                    </a:cubicBezTo>
                    <a:cubicBezTo>
                      <a:pt x="34" y="25"/>
                      <a:pt x="47" y="13"/>
                      <a:pt x="61" y="0"/>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8" name="Freeform 5314">
                <a:extLst>
                  <a:ext uri="{FF2B5EF4-FFF2-40B4-BE49-F238E27FC236}">
                    <a16:creationId xmlns:a16="http://schemas.microsoft.com/office/drawing/2014/main" id="{66A7DC2E-739C-AA34-DB0C-177D28EE9E83}"/>
                  </a:ext>
                </a:extLst>
              </p:cNvPr>
              <p:cNvSpPr>
                <a:spLocks/>
              </p:cNvSpPr>
              <p:nvPr/>
            </p:nvSpPr>
            <p:spPr bwMode="gray">
              <a:xfrm>
                <a:off x="7614724" y="3099992"/>
                <a:ext cx="209692" cy="108575"/>
              </a:xfrm>
              <a:custGeom>
                <a:avLst/>
                <a:gdLst>
                  <a:gd name="T0" fmla="*/ 7789 w 7789"/>
                  <a:gd name="T1" fmla="*/ 4033 h 4033"/>
                  <a:gd name="T2" fmla="*/ 0 w 7789"/>
                  <a:gd name="T3" fmla="*/ 4033 h 4033"/>
                  <a:gd name="T4" fmla="*/ 0 w 7789"/>
                  <a:gd name="T5" fmla="*/ 3861 h 4033"/>
                  <a:gd name="T6" fmla="*/ 1310 w 7789"/>
                  <a:gd name="T7" fmla="*/ 0 h 4033"/>
                  <a:gd name="T8" fmla="*/ 6065 w 7789"/>
                  <a:gd name="T9" fmla="*/ 0 h 4033"/>
                  <a:gd name="T10" fmla="*/ 7789 w 7789"/>
                  <a:gd name="T11" fmla="*/ 4033 h 4033"/>
                  <a:gd name="T12" fmla="*/ 7789 w 7789"/>
                  <a:gd name="T13" fmla="*/ 4033 h 4033"/>
                  <a:gd name="T14" fmla="*/ 7789 w 7789"/>
                  <a:gd name="T15" fmla="*/ 4033 h 40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89" h="4033">
                    <a:moveTo>
                      <a:pt x="7789" y="4033"/>
                    </a:moveTo>
                    <a:lnTo>
                      <a:pt x="0" y="4033"/>
                    </a:lnTo>
                    <a:lnTo>
                      <a:pt x="0" y="3861"/>
                    </a:lnTo>
                    <a:lnTo>
                      <a:pt x="1310" y="0"/>
                    </a:lnTo>
                    <a:lnTo>
                      <a:pt x="6065" y="0"/>
                    </a:lnTo>
                    <a:lnTo>
                      <a:pt x="7789" y="4033"/>
                    </a:lnTo>
                    <a:lnTo>
                      <a:pt x="7789" y="4033"/>
                    </a:lnTo>
                    <a:lnTo>
                      <a:pt x="7789" y="403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199" name="Freeform 5315">
                <a:extLst>
                  <a:ext uri="{FF2B5EF4-FFF2-40B4-BE49-F238E27FC236}">
                    <a16:creationId xmlns:a16="http://schemas.microsoft.com/office/drawing/2014/main" id="{04867B94-378F-B788-0186-C3A96F171169}"/>
                  </a:ext>
                </a:extLst>
              </p:cNvPr>
              <p:cNvSpPr>
                <a:spLocks/>
              </p:cNvSpPr>
              <p:nvPr/>
            </p:nvSpPr>
            <p:spPr bwMode="gray">
              <a:xfrm>
                <a:off x="7380911" y="3099992"/>
                <a:ext cx="209692" cy="108575"/>
              </a:xfrm>
              <a:custGeom>
                <a:avLst/>
                <a:gdLst>
                  <a:gd name="T0" fmla="*/ 7789 w 7789"/>
                  <a:gd name="T1" fmla="*/ 3861 h 4033"/>
                  <a:gd name="T2" fmla="*/ 7789 w 7789"/>
                  <a:gd name="T3" fmla="*/ 4033 h 4033"/>
                  <a:gd name="T4" fmla="*/ 0 w 7789"/>
                  <a:gd name="T5" fmla="*/ 4033 h 4033"/>
                  <a:gd name="T6" fmla="*/ 1758 w 7789"/>
                  <a:gd name="T7" fmla="*/ 0 h 4033"/>
                  <a:gd name="T8" fmla="*/ 6514 w 7789"/>
                  <a:gd name="T9" fmla="*/ 0 h 4033"/>
                  <a:gd name="T10" fmla="*/ 7789 w 7789"/>
                  <a:gd name="T11" fmla="*/ 3861 h 4033"/>
                  <a:gd name="T12" fmla="*/ 7789 w 7789"/>
                  <a:gd name="T13" fmla="*/ 3861 h 4033"/>
                  <a:gd name="T14" fmla="*/ 7789 w 7789"/>
                  <a:gd name="T15" fmla="*/ 3861 h 40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89" h="4033">
                    <a:moveTo>
                      <a:pt x="7789" y="3861"/>
                    </a:moveTo>
                    <a:lnTo>
                      <a:pt x="7789" y="4033"/>
                    </a:lnTo>
                    <a:lnTo>
                      <a:pt x="0" y="4033"/>
                    </a:lnTo>
                    <a:lnTo>
                      <a:pt x="1758" y="0"/>
                    </a:lnTo>
                    <a:lnTo>
                      <a:pt x="6514" y="0"/>
                    </a:lnTo>
                    <a:lnTo>
                      <a:pt x="7789" y="3861"/>
                    </a:lnTo>
                    <a:lnTo>
                      <a:pt x="7789" y="3861"/>
                    </a:lnTo>
                    <a:lnTo>
                      <a:pt x="7789" y="3861"/>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0" name="Freeform 5316">
                <a:extLst>
                  <a:ext uri="{FF2B5EF4-FFF2-40B4-BE49-F238E27FC236}">
                    <a16:creationId xmlns:a16="http://schemas.microsoft.com/office/drawing/2014/main" id="{CDF746AA-06E6-6520-03D0-333F2662D1C3}"/>
                  </a:ext>
                </a:extLst>
              </p:cNvPr>
              <p:cNvSpPr>
                <a:spLocks/>
              </p:cNvSpPr>
              <p:nvPr/>
            </p:nvSpPr>
            <p:spPr bwMode="gray">
              <a:xfrm>
                <a:off x="7594318" y="2194244"/>
                <a:ext cx="18549" cy="1014323"/>
              </a:xfrm>
              <a:custGeom>
                <a:avLst/>
                <a:gdLst>
                  <a:gd name="T0" fmla="*/ 0 w 689"/>
                  <a:gd name="T1" fmla="*/ 37677 h 37677"/>
                  <a:gd name="T2" fmla="*/ 0 w 689"/>
                  <a:gd name="T3" fmla="*/ 0 h 37677"/>
                  <a:gd name="T4" fmla="*/ 655 w 689"/>
                  <a:gd name="T5" fmla="*/ 0 h 37677"/>
                  <a:gd name="T6" fmla="*/ 689 w 689"/>
                  <a:gd name="T7" fmla="*/ 37677 h 37677"/>
                  <a:gd name="T8" fmla="*/ 0 w 689"/>
                  <a:gd name="T9" fmla="*/ 37677 h 37677"/>
                  <a:gd name="T10" fmla="*/ 0 w 689"/>
                  <a:gd name="T11" fmla="*/ 37677 h 37677"/>
                  <a:gd name="T12" fmla="*/ 0 w 689"/>
                  <a:gd name="T13" fmla="*/ 37677 h 37677"/>
                </a:gdLst>
                <a:ahLst/>
                <a:cxnLst>
                  <a:cxn ang="0">
                    <a:pos x="T0" y="T1"/>
                  </a:cxn>
                  <a:cxn ang="0">
                    <a:pos x="T2" y="T3"/>
                  </a:cxn>
                  <a:cxn ang="0">
                    <a:pos x="T4" y="T5"/>
                  </a:cxn>
                  <a:cxn ang="0">
                    <a:pos x="T6" y="T7"/>
                  </a:cxn>
                  <a:cxn ang="0">
                    <a:pos x="T8" y="T9"/>
                  </a:cxn>
                  <a:cxn ang="0">
                    <a:pos x="T10" y="T11"/>
                  </a:cxn>
                  <a:cxn ang="0">
                    <a:pos x="T12" y="T13"/>
                  </a:cxn>
                </a:cxnLst>
                <a:rect l="0" t="0" r="r" b="b"/>
                <a:pathLst>
                  <a:path w="689" h="37677">
                    <a:moveTo>
                      <a:pt x="0" y="37677"/>
                    </a:moveTo>
                    <a:lnTo>
                      <a:pt x="0" y="0"/>
                    </a:lnTo>
                    <a:lnTo>
                      <a:pt x="655" y="0"/>
                    </a:lnTo>
                    <a:lnTo>
                      <a:pt x="689" y="37677"/>
                    </a:lnTo>
                    <a:lnTo>
                      <a:pt x="0" y="37677"/>
                    </a:lnTo>
                    <a:lnTo>
                      <a:pt x="0" y="37677"/>
                    </a:lnTo>
                    <a:lnTo>
                      <a:pt x="0" y="37677"/>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1" name="Freeform 5324">
                <a:extLst>
                  <a:ext uri="{FF2B5EF4-FFF2-40B4-BE49-F238E27FC236}">
                    <a16:creationId xmlns:a16="http://schemas.microsoft.com/office/drawing/2014/main" id="{28F9EBA3-B68B-9157-AC6B-7D6D0F69D29D}"/>
                  </a:ext>
                </a:extLst>
              </p:cNvPr>
              <p:cNvSpPr>
                <a:spLocks/>
              </p:cNvSpPr>
              <p:nvPr/>
            </p:nvSpPr>
            <p:spPr bwMode="gray">
              <a:xfrm>
                <a:off x="7379053" y="392063"/>
                <a:ext cx="442563" cy="268192"/>
              </a:xfrm>
              <a:custGeom>
                <a:avLst/>
                <a:gdLst>
                  <a:gd name="T0" fmla="*/ 15130 w 16439"/>
                  <a:gd name="T1" fmla="*/ 3895 h 9962"/>
                  <a:gd name="T2" fmla="*/ 13475 w 16439"/>
                  <a:gd name="T3" fmla="*/ 1861 h 9962"/>
                  <a:gd name="T4" fmla="*/ 11856 w 16439"/>
                  <a:gd name="T5" fmla="*/ 862 h 9962"/>
                  <a:gd name="T6" fmla="*/ 11959 w 16439"/>
                  <a:gd name="T7" fmla="*/ 586 h 9962"/>
                  <a:gd name="T8" fmla="*/ 10891 w 16439"/>
                  <a:gd name="T9" fmla="*/ 276 h 9962"/>
                  <a:gd name="T10" fmla="*/ 8719 w 16439"/>
                  <a:gd name="T11" fmla="*/ 0 h 9962"/>
                  <a:gd name="T12" fmla="*/ 7651 w 16439"/>
                  <a:gd name="T13" fmla="*/ 0 h 9962"/>
                  <a:gd name="T14" fmla="*/ 5446 w 16439"/>
                  <a:gd name="T15" fmla="*/ 276 h 9962"/>
                  <a:gd name="T16" fmla="*/ 4481 w 16439"/>
                  <a:gd name="T17" fmla="*/ 551 h 9962"/>
                  <a:gd name="T18" fmla="*/ 4549 w 16439"/>
                  <a:gd name="T19" fmla="*/ 793 h 9962"/>
                  <a:gd name="T20" fmla="*/ 2999 w 16439"/>
                  <a:gd name="T21" fmla="*/ 1861 h 9962"/>
                  <a:gd name="T22" fmla="*/ 1344 w 16439"/>
                  <a:gd name="T23" fmla="*/ 3792 h 9962"/>
                  <a:gd name="T24" fmla="*/ 0 w 16439"/>
                  <a:gd name="T25" fmla="*/ 8652 h 9962"/>
                  <a:gd name="T26" fmla="*/ 0 w 16439"/>
                  <a:gd name="T27" fmla="*/ 9962 h 9962"/>
                  <a:gd name="T28" fmla="*/ 16439 w 16439"/>
                  <a:gd name="T29" fmla="*/ 9962 h 9962"/>
                  <a:gd name="T30" fmla="*/ 16439 w 16439"/>
                  <a:gd name="T31" fmla="*/ 8652 h 9962"/>
                  <a:gd name="T32" fmla="*/ 15130 w 16439"/>
                  <a:gd name="T33" fmla="*/ 3895 h 9962"/>
                  <a:gd name="T34" fmla="*/ 15130 w 16439"/>
                  <a:gd name="T35" fmla="*/ 3895 h 9962"/>
                  <a:gd name="T36" fmla="*/ 15130 w 16439"/>
                  <a:gd name="T37" fmla="*/ 3895 h 9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439" h="9962">
                    <a:moveTo>
                      <a:pt x="15130" y="3895"/>
                    </a:moveTo>
                    <a:lnTo>
                      <a:pt x="13475" y="1861"/>
                    </a:lnTo>
                    <a:lnTo>
                      <a:pt x="11856" y="862"/>
                    </a:lnTo>
                    <a:lnTo>
                      <a:pt x="11959" y="586"/>
                    </a:lnTo>
                    <a:lnTo>
                      <a:pt x="10891" y="276"/>
                    </a:lnTo>
                    <a:lnTo>
                      <a:pt x="8719" y="0"/>
                    </a:lnTo>
                    <a:lnTo>
                      <a:pt x="7651" y="0"/>
                    </a:lnTo>
                    <a:lnTo>
                      <a:pt x="5446" y="276"/>
                    </a:lnTo>
                    <a:lnTo>
                      <a:pt x="4481" y="551"/>
                    </a:lnTo>
                    <a:lnTo>
                      <a:pt x="4549" y="793"/>
                    </a:lnTo>
                    <a:lnTo>
                      <a:pt x="2999" y="1861"/>
                    </a:lnTo>
                    <a:lnTo>
                      <a:pt x="1344" y="3792"/>
                    </a:lnTo>
                    <a:lnTo>
                      <a:pt x="0" y="8652"/>
                    </a:lnTo>
                    <a:lnTo>
                      <a:pt x="0" y="9962"/>
                    </a:lnTo>
                    <a:lnTo>
                      <a:pt x="16439" y="9962"/>
                    </a:lnTo>
                    <a:lnTo>
                      <a:pt x="16439" y="8652"/>
                    </a:lnTo>
                    <a:lnTo>
                      <a:pt x="15130" y="3895"/>
                    </a:lnTo>
                    <a:lnTo>
                      <a:pt x="15130" y="3895"/>
                    </a:lnTo>
                    <a:lnTo>
                      <a:pt x="15130" y="3895"/>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2" name="Freeform 5325">
                <a:extLst>
                  <a:ext uri="{FF2B5EF4-FFF2-40B4-BE49-F238E27FC236}">
                    <a16:creationId xmlns:a16="http://schemas.microsoft.com/office/drawing/2014/main" id="{3B8CE86F-A177-758B-B500-97B509185E88}"/>
                  </a:ext>
                </a:extLst>
              </p:cNvPr>
              <p:cNvSpPr>
                <a:spLocks/>
              </p:cNvSpPr>
              <p:nvPr/>
            </p:nvSpPr>
            <p:spPr bwMode="gray">
              <a:xfrm>
                <a:off x="7392056" y="670459"/>
                <a:ext cx="416584" cy="57531"/>
              </a:xfrm>
              <a:custGeom>
                <a:avLst/>
                <a:gdLst>
                  <a:gd name="T0" fmla="*/ 8616 w 15474"/>
                  <a:gd name="T1" fmla="*/ 0 h 2137"/>
                  <a:gd name="T2" fmla="*/ 6892 w 15474"/>
                  <a:gd name="T3" fmla="*/ 0 h 2137"/>
                  <a:gd name="T4" fmla="*/ 0 w 15474"/>
                  <a:gd name="T5" fmla="*/ 0 h 2137"/>
                  <a:gd name="T6" fmla="*/ 1861 w 15474"/>
                  <a:gd name="T7" fmla="*/ 1172 h 2137"/>
                  <a:gd name="T8" fmla="*/ 3412 w 15474"/>
                  <a:gd name="T9" fmla="*/ 1482 h 2137"/>
                  <a:gd name="T10" fmla="*/ 6892 w 15474"/>
                  <a:gd name="T11" fmla="*/ 2137 h 2137"/>
                  <a:gd name="T12" fmla="*/ 8616 w 15474"/>
                  <a:gd name="T13" fmla="*/ 2137 h 2137"/>
                  <a:gd name="T14" fmla="*/ 12096 w 15474"/>
                  <a:gd name="T15" fmla="*/ 1482 h 2137"/>
                  <a:gd name="T16" fmla="*/ 13613 w 15474"/>
                  <a:gd name="T17" fmla="*/ 1172 h 2137"/>
                  <a:gd name="T18" fmla="*/ 15474 w 15474"/>
                  <a:gd name="T19" fmla="*/ 0 h 2137"/>
                  <a:gd name="T20" fmla="*/ 8616 w 15474"/>
                  <a:gd name="T21" fmla="*/ 0 h 2137"/>
                  <a:gd name="T22" fmla="*/ 8616 w 15474"/>
                  <a:gd name="T23" fmla="*/ 0 h 2137"/>
                  <a:gd name="T24" fmla="*/ 8616 w 15474"/>
                  <a:gd name="T25" fmla="*/ 0 h 2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74" h="2137">
                    <a:moveTo>
                      <a:pt x="8616" y="0"/>
                    </a:moveTo>
                    <a:lnTo>
                      <a:pt x="6892" y="0"/>
                    </a:lnTo>
                    <a:lnTo>
                      <a:pt x="0" y="0"/>
                    </a:lnTo>
                    <a:lnTo>
                      <a:pt x="1861" y="1172"/>
                    </a:lnTo>
                    <a:lnTo>
                      <a:pt x="3412" y="1482"/>
                    </a:lnTo>
                    <a:lnTo>
                      <a:pt x="6892" y="2137"/>
                    </a:lnTo>
                    <a:lnTo>
                      <a:pt x="8616" y="2137"/>
                    </a:lnTo>
                    <a:lnTo>
                      <a:pt x="12096" y="1482"/>
                    </a:lnTo>
                    <a:lnTo>
                      <a:pt x="13613" y="1172"/>
                    </a:lnTo>
                    <a:lnTo>
                      <a:pt x="15474" y="0"/>
                    </a:lnTo>
                    <a:lnTo>
                      <a:pt x="8616" y="0"/>
                    </a:lnTo>
                    <a:lnTo>
                      <a:pt x="8616" y="0"/>
                    </a:lnTo>
                    <a:lnTo>
                      <a:pt x="8616"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3" name="Freeform 5326">
                <a:extLst>
                  <a:ext uri="{FF2B5EF4-FFF2-40B4-BE49-F238E27FC236}">
                    <a16:creationId xmlns:a16="http://schemas.microsoft.com/office/drawing/2014/main" id="{957FBF87-BB22-1ACB-113A-B9530E39CD54}"/>
                  </a:ext>
                </a:extLst>
              </p:cNvPr>
              <p:cNvSpPr>
                <a:spLocks/>
              </p:cNvSpPr>
              <p:nvPr/>
            </p:nvSpPr>
            <p:spPr bwMode="gray">
              <a:xfrm>
                <a:off x="7354931" y="596209"/>
                <a:ext cx="490806" cy="78907"/>
              </a:xfrm>
              <a:custGeom>
                <a:avLst/>
                <a:gdLst>
                  <a:gd name="T0" fmla="*/ 16784 w 18231"/>
                  <a:gd name="T1" fmla="*/ 0 h 2931"/>
                  <a:gd name="T2" fmla="*/ 16784 w 18231"/>
                  <a:gd name="T3" fmla="*/ 1827 h 2931"/>
                  <a:gd name="T4" fmla="*/ 1448 w 18231"/>
                  <a:gd name="T5" fmla="*/ 1827 h 2931"/>
                  <a:gd name="T6" fmla="*/ 1448 w 18231"/>
                  <a:gd name="T7" fmla="*/ 0 h 2931"/>
                  <a:gd name="T8" fmla="*/ 0 w 18231"/>
                  <a:gd name="T9" fmla="*/ 0 h 2931"/>
                  <a:gd name="T10" fmla="*/ 0 w 18231"/>
                  <a:gd name="T11" fmla="*/ 2931 h 2931"/>
                  <a:gd name="T12" fmla="*/ 18231 w 18231"/>
                  <a:gd name="T13" fmla="*/ 2931 h 2931"/>
                  <a:gd name="T14" fmla="*/ 18231 w 18231"/>
                  <a:gd name="T15" fmla="*/ 0 h 2931"/>
                  <a:gd name="T16" fmla="*/ 16784 w 18231"/>
                  <a:gd name="T17" fmla="*/ 0 h 2931"/>
                  <a:gd name="T18" fmla="*/ 16784 w 18231"/>
                  <a:gd name="T19" fmla="*/ 0 h 2931"/>
                  <a:gd name="T20" fmla="*/ 16784 w 18231"/>
                  <a:gd name="T21" fmla="*/ 0 h 2931"/>
                  <a:gd name="T22" fmla="*/ 16784 w 18231"/>
                  <a:gd name="T23" fmla="*/ 0 h 2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231" h="2931">
                    <a:moveTo>
                      <a:pt x="16784" y="0"/>
                    </a:moveTo>
                    <a:lnTo>
                      <a:pt x="16784" y="1827"/>
                    </a:lnTo>
                    <a:lnTo>
                      <a:pt x="1448" y="1827"/>
                    </a:lnTo>
                    <a:lnTo>
                      <a:pt x="1448" y="0"/>
                    </a:lnTo>
                    <a:lnTo>
                      <a:pt x="0" y="0"/>
                    </a:lnTo>
                    <a:lnTo>
                      <a:pt x="0" y="2931"/>
                    </a:lnTo>
                    <a:lnTo>
                      <a:pt x="18231" y="2931"/>
                    </a:lnTo>
                    <a:lnTo>
                      <a:pt x="18231" y="0"/>
                    </a:lnTo>
                    <a:lnTo>
                      <a:pt x="16784" y="0"/>
                    </a:lnTo>
                    <a:lnTo>
                      <a:pt x="16784" y="0"/>
                    </a:lnTo>
                    <a:lnTo>
                      <a:pt x="16784" y="0"/>
                    </a:lnTo>
                    <a:lnTo>
                      <a:pt x="16784" y="0"/>
                    </a:lnTo>
                    <a:close/>
                  </a:path>
                </a:pathLst>
              </a:custGeom>
              <a:solidFill>
                <a:srgbClr val="EB7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4" name="Freeform 5327">
                <a:extLst>
                  <a:ext uri="{FF2B5EF4-FFF2-40B4-BE49-F238E27FC236}">
                    <a16:creationId xmlns:a16="http://schemas.microsoft.com/office/drawing/2014/main" id="{868AB9C0-D010-EFC4-40A1-B901E169A5BE}"/>
                  </a:ext>
                </a:extLst>
              </p:cNvPr>
              <p:cNvSpPr>
                <a:spLocks/>
              </p:cNvSpPr>
              <p:nvPr/>
            </p:nvSpPr>
            <p:spPr bwMode="gray">
              <a:xfrm>
                <a:off x="7482970" y="410612"/>
                <a:ext cx="71450" cy="151272"/>
              </a:xfrm>
              <a:custGeom>
                <a:avLst/>
                <a:gdLst>
                  <a:gd name="T0" fmla="*/ 2516 w 2654"/>
                  <a:gd name="T1" fmla="*/ 5619 h 5619"/>
                  <a:gd name="T2" fmla="*/ 2654 w 2654"/>
                  <a:gd name="T3" fmla="*/ 5550 h 5619"/>
                  <a:gd name="T4" fmla="*/ 724 w 2654"/>
                  <a:gd name="T5" fmla="*/ 0 h 5619"/>
                  <a:gd name="T6" fmla="*/ 0 w 2654"/>
                  <a:gd name="T7" fmla="*/ 448 h 5619"/>
                  <a:gd name="T8" fmla="*/ 1206 w 2654"/>
                  <a:gd name="T9" fmla="*/ 2896 h 5619"/>
                  <a:gd name="T10" fmla="*/ 2516 w 2654"/>
                  <a:gd name="T11" fmla="*/ 5619 h 5619"/>
                  <a:gd name="T12" fmla="*/ 2516 w 2654"/>
                  <a:gd name="T13" fmla="*/ 5619 h 5619"/>
                  <a:gd name="T14" fmla="*/ 2516 w 2654"/>
                  <a:gd name="T15" fmla="*/ 5619 h 5619"/>
                  <a:gd name="T16" fmla="*/ 2516 w 2654"/>
                  <a:gd name="T17" fmla="*/ 5619 h 5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4" h="5619">
                    <a:moveTo>
                      <a:pt x="2516" y="5619"/>
                    </a:moveTo>
                    <a:lnTo>
                      <a:pt x="2654" y="5550"/>
                    </a:lnTo>
                    <a:lnTo>
                      <a:pt x="724" y="0"/>
                    </a:lnTo>
                    <a:lnTo>
                      <a:pt x="0" y="448"/>
                    </a:lnTo>
                    <a:lnTo>
                      <a:pt x="1206" y="2896"/>
                    </a:lnTo>
                    <a:lnTo>
                      <a:pt x="2516" y="5619"/>
                    </a:lnTo>
                    <a:lnTo>
                      <a:pt x="2516" y="5619"/>
                    </a:lnTo>
                    <a:lnTo>
                      <a:pt x="2516" y="5619"/>
                    </a:lnTo>
                    <a:lnTo>
                      <a:pt x="2516" y="5619"/>
                    </a:lnTo>
                    <a:close/>
                  </a:path>
                </a:pathLst>
              </a:custGeom>
              <a:solidFill>
                <a:srgbClr val="EB7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5" name="Freeform 5328">
                <a:extLst>
                  <a:ext uri="{FF2B5EF4-FFF2-40B4-BE49-F238E27FC236}">
                    <a16:creationId xmlns:a16="http://schemas.microsoft.com/office/drawing/2014/main" id="{0BC4F425-2EA2-7C0F-9406-DA342C110D24}"/>
                  </a:ext>
                </a:extLst>
              </p:cNvPr>
              <p:cNvSpPr>
                <a:spLocks/>
              </p:cNvSpPr>
              <p:nvPr/>
            </p:nvSpPr>
            <p:spPr bwMode="gray">
              <a:xfrm>
                <a:off x="7648134" y="410612"/>
                <a:ext cx="69565" cy="151272"/>
              </a:xfrm>
              <a:custGeom>
                <a:avLst/>
                <a:gdLst>
                  <a:gd name="T0" fmla="*/ 137 w 2584"/>
                  <a:gd name="T1" fmla="*/ 5619 h 5619"/>
                  <a:gd name="T2" fmla="*/ 0 w 2584"/>
                  <a:gd name="T3" fmla="*/ 5550 h 5619"/>
                  <a:gd name="T4" fmla="*/ 1895 w 2584"/>
                  <a:gd name="T5" fmla="*/ 0 h 5619"/>
                  <a:gd name="T6" fmla="*/ 2584 w 2584"/>
                  <a:gd name="T7" fmla="*/ 483 h 5619"/>
                  <a:gd name="T8" fmla="*/ 1413 w 2584"/>
                  <a:gd name="T9" fmla="*/ 2896 h 5619"/>
                  <a:gd name="T10" fmla="*/ 137 w 2584"/>
                  <a:gd name="T11" fmla="*/ 5619 h 5619"/>
                  <a:gd name="T12" fmla="*/ 137 w 2584"/>
                  <a:gd name="T13" fmla="*/ 5619 h 5619"/>
                  <a:gd name="T14" fmla="*/ 137 w 2584"/>
                  <a:gd name="T15" fmla="*/ 5619 h 5619"/>
                  <a:gd name="T16" fmla="*/ 137 w 2584"/>
                  <a:gd name="T17" fmla="*/ 5619 h 5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84" h="5619">
                    <a:moveTo>
                      <a:pt x="137" y="5619"/>
                    </a:moveTo>
                    <a:lnTo>
                      <a:pt x="0" y="5550"/>
                    </a:lnTo>
                    <a:lnTo>
                      <a:pt x="1895" y="0"/>
                    </a:lnTo>
                    <a:lnTo>
                      <a:pt x="2584" y="483"/>
                    </a:lnTo>
                    <a:lnTo>
                      <a:pt x="1413" y="2896"/>
                    </a:lnTo>
                    <a:lnTo>
                      <a:pt x="137" y="5619"/>
                    </a:lnTo>
                    <a:lnTo>
                      <a:pt x="137" y="5619"/>
                    </a:lnTo>
                    <a:lnTo>
                      <a:pt x="137" y="5619"/>
                    </a:lnTo>
                    <a:lnTo>
                      <a:pt x="137" y="5619"/>
                    </a:lnTo>
                    <a:close/>
                  </a:path>
                </a:pathLst>
              </a:custGeom>
              <a:solidFill>
                <a:srgbClr val="EB78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grpSp>
        <p:grpSp>
          <p:nvGrpSpPr>
            <p:cNvPr id="206" name="Gruppieren 56">
              <a:extLst>
                <a:ext uri="{FF2B5EF4-FFF2-40B4-BE49-F238E27FC236}">
                  <a16:creationId xmlns:a16="http://schemas.microsoft.com/office/drawing/2014/main" id="{BCBBCFD1-2C2E-9186-6B45-1D2A23A349A5}"/>
                </a:ext>
              </a:extLst>
            </p:cNvPr>
            <p:cNvGrpSpPr>
              <a:grpSpLocks/>
            </p:cNvGrpSpPr>
            <p:nvPr/>
          </p:nvGrpSpPr>
          <p:grpSpPr bwMode="gray">
            <a:xfrm>
              <a:off x="8709774" y="1967586"/>
              <a:ext cx="278335" cy="726257"/>
              <a:chOff x="4252365" y="3515100"/>
              <a:chExt cx="807434" cy="2563911"/>
            </a:xfrm>
          </p:grpSpPr>
          <p:sp>
            <p:nvSpPr>
              <p:cNvPr id="207" name="Freeform 2090">
                <a:extLst>
                  <a:ext uri="{FF2B5EF4-FFF2-40B4-BE49-F238E27FC236}">
                    <a16:creationId xmlns:a16="http://schemas.microsoft.com/office/drawing/2014/main" id="{5A1B50DF-7DD9-7B36-9688-81D41CAC9041}"/>
                  </a:ext>
                </a:extLst>
              </p:cNvPr>
              <p:cNvSpPr>
                <a:spLocks/>
              </p:cNvSpPr>
              <p:nvPr/>
            </p:nvSpPr>
            <p:spPr bwMode="gray">
              <a:xfrm>
                <a:off x="4898806" y="4908670"/>
                <a:ext cx="140285" cy="224824"/>
              </a:xfrm>
              <a:custGeom>
                <a:avLst/>
                <a:gdLst>
                  <a:gd name="T0" fmla="*/ 176 w 176"/>
                  <a:gd name="T1" fmla="*/ 4 h 282"/>
                  <a:gd name="T2" fmla="*/ 171 w 176"/>
                  <a:gd name="T3" fmla="*/ 32 h 282"/>
                  <a:gd name="T4" fmla="*/ 101 w 176"/>
                  <a:gd name="T5" fmla="*/ 232 h 282"/>
                  <a:gd name="T6" fmla="*/ 76 w 176"/>
                  <a:gd name="T7" fmla="*/ 282 h 282"/>
                  <a:gd name="T8" fmla="*/ 5 w 176"/>
                  <a:gd name="T9" fmla="*/ 282 h 282"/>
                  <a:gd name="T10" fmla="*/ 0 w 176"/>
                  <a:gd name="T11" fmla="*/ 282 h 282"/>
                  <a:gd name="T12" fmla="*/ 12 w 176"/>
                  <a:gd name="T13" fmla="*/ 156 h 282"/>
                  <a:gd name="T14" fmla="*/ 37 w 176"/>
                  <a:gd name="T15" fmla="*/ 120 h 282"/>
                  <a:gd name="T16" fmla="*/ 30 w 176"/>
                  <a:gd name="T17" fmla="*/ 0 h 282"/>
                  <a:gd name="T18" fmla="*/ 176 w 176"/>
                  <a:gd name="T19" fmla="*/ 4 h 282"/>
                  <a:gd name="T20" fmla="*/ 176 w 176"/>
                  <a:gd name="T21" fmla="*/ 4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6" h="282">
                    <a:moveTo>
                      <a:pt x="176" y="4"/>
                    </a:moveTo>
                    <a:cubicBezTo>
                      <a:pt x="171" y="32"/>
                      <a:pt x="171" y="32"/>
                      <a:pt x="171" y="32"/>
                    </a:cubicBezTo>
                    <a:cubicBezTo>
                      <a:pt x="157" y="101"/>
                      <a:pt x="133" y="169"/>
                      <a:pt x="101" y="232"/>
                    </a:cubicBezTo>
                    <a:cubicBezTo>
                      <a:pt x="76" y="282"/>
                      <a:pt x="76" y="282"/>
                      <a:pt x="76" y="282"/>
                    </a:cubicBezTo>
                    <a:cubicBezTo>
                      <a:pt x="5" y="282"/>
                      <a:pt x="5" y="282"/>
                      <a:pt x="5" y="282"/>
                    </a:cubicBezTo>
                    <a:cubicBezTo>
                      <a:pt x="0" y="282"/>
                      <a:pt x="0" y="282"/>
                      <a:pt x="0" y="282"/>
                    </a:cubicBezTo>
                    <a:cubicBezTo>
                      <a:pt x="12" y="156"/>
                      <a:pt x="12" y="156"/>
                      <a:pt x="12" y="156"/>
                    </a:cubicBezTo>
                    <a:cubicBezTo>
                      <a:pt x="37" y="120"/>
                      <a:pt x="37" y="120"/>
                      <a:pt x="37" y="120"/>
                    </a:cubicBezTo>
                    <a:cubicBezTo>
                      <a:pt x="30" y="0"/>
                      <a:pt x="30" y="0"/>
                      <a:pt x="30" y="0"/>
                    </a:cubicBezTo>
                    <a:cubicBezTo>
                      <a:pt x="176" y="4"/>
                      <a:pt x="176" y="4"/>
                      <a:pt x="176" y="4"/>
                    </a:cubicBezTo>
                    <a:cubicBezTo>
                      <a:pt x="176" y="4"/>
                      <a:pt x="176" y="4"/>
                      <a:pt x="176" y="4"/>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8" name="Freeform 2091">
                <a:extLst>
                  <a:ext uri="{FF2B5EF4-FFF2-40B4-BE49-F238E27FC236}">
                    <a16:creationId xmlns:a16="http://schemas.microsoft.com/office/drawing/2014/main" id="{41CE4EB7-0C96-6F88-F43D-F7FD3B7984A1}"/>
                  </a:ext>
                </a:extLst>
              </p:cNvPr>
              <p:cNvSpPr>
                <a:spLocks/>
              </p:cNvSpPr>
              <p:nvPr/>
            </p:nvSpPr>
            <p:spPr bwMode="gray">
              <a:xfrm>
                <a:off x="4273904" y="4908670"/>
                <a:ext cx="139476" cy="224824"/>
              </a:xfrm>
              <a:custGeom>
                <a:avLst/>
                <a:gdLst>
                  <a:gd name="T0" fmla="*/ 175 w 175"/>
                  <a:gd name="T1" fmla="*/ 282 h 282"/>
                  <a:gd name="T2" fmla="*/ 175 w 175"/>
                  <a:gd name="T3" fmla="*/ 282 h 282"/>
                  <a:gd name="T4" fmla="*/ 100 w 175"/>
                  <a:gd name="T5" fmla="*/ 282 h 282"/>
                  <a:gd name="T6" fmla="*/ 75 w 175"/>
                  <a:gd name="T7" fmla="*/ 232 h 282"/>
                  <a:gd name="T8" fmla="*/ 6 w 175"/>
                  <a:gd name="T9" fmla="*/ 32 h 282"/>
                  <a:gd name="T10" fmla="*/ 0 w 175"/>
                  <a:gd name="T11" fmla="*/ 4 h 282"/>
                  <a:gd name="T12" fmla="*/ 145 w 175"/>
                  <a:gd name="T13" fmla="*/ 0 h 282"/>
                  <a:gd name="T14" fmla="*/ 139 w 175"/>
                  <a:gd name="T15" fmla="*/ 120 h 282"/>
                  <a:gd name="T16" fmla="*/ 163 w 175"/>
                  <a:gd name="T17" fmla="*/ 156 h 282"/>
                  <a:gd name="T18" fmla="*/ 175 w 175"/>
                  <a:gd name="T19" fmla="*/ 282 h 282"/>
                  <a:gd name="T20" fmla="*/ 175 w 175"/>
                  <a:gd name="T21"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 h="282">
                    <a:moveTo>
                      <a:pt x="175" y="282"/>
                    </a:moveTo>
                    <a:cubicBezTo>
                      <a:pt x="175" y="282"/>
                      <a:pt x="175" y="282"/>
                      <a:pt x="175" y="282"/>
                    </a:cubicBezTo>
                    <a:cubicBezTo>
                      <a:pt x="100" y="282"/>
                      <a:pt x="100" y="282"/>
                      <a:pt x="100" y="282"/>
                    </a:cubicBezTo>
                    <a:cubicBezTo>
                      <a:pt x="75" y="232"/>
                      <a:pt x="75" y="232"/>
                      <a:pt x="75" y="232"/>
                    </a:cubicBezTo>
                    <a:cubicBezTo>
                      <a:pt x="43" y="169"/>
                      <a:pt x="21" y="101"/>
                      <a:pt x="6" y="32"/>
                    </a:cubicBezTo>
                    <a:cubicBezTo>
                      <a:pt x="0" y="4"/>
                      <a:pt x="0" y="4"/>
                      <a:pt x="0" y="4"/>
                    </a:cubicBezTo>
                    <a:cubicBezTo>
                      <a:pt x="145" y="0"/>
                      <a:pt x="145" y="0"/>
                      <a:pt x="145" y="0"/>
                    </a:cubicBezTo>
                    <a:cubicBezTo>
                      <a:pt x="139" y="120"/>
                      <a:pt x="139" y="120"/>
                      <a:pt x="139" y="120"/>
                    </a:cubicBezTo>
                    <a:cubicBezTo>
                      <a:pt x="163" y="156"/>
                      <a:pt x="163" y="156"/>
                      <a:pt x="163" y="156"/>
                    </a:cubicBezTo>
                    <a:cubicBezTo>
                      <a:pt x="175" y="282"/>
                      <a:pt x="175" y="282"/>
                      <a:pt x="175" y="282"/>
                    </a:cubicBezTo>
                    <a:cubicBezTo>
                      <a:pt x="175" y="282"/>
                      <a:pt x="175" y="282"/>
                      <a:pt x="175" y="282"/>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09" name="Freeform 2092">
                <a:extLst>
                  <a:ext uri="{FF2B5EF4-FFF2-40B4-BE49-F238E27FC236}">
                    <a16:creationId xmlns:a16="http://schemas.microsoft.com/office/drawing/2014/main" id="{223FA553-F79C-DE8B-3362-28CCDE6651D1}"/>
                  </a:ext>
                </a:extLst>
              </p:cNvPr>
              <p:cNvSpPr>
                <a:spLocks/>
              </p:cNvSpPr>
              <p:nvPr/>
            </p:nvSpPr>
            <p:spPr bwMode="gray">
              <a:xfrm>
                <a:off x="4403812" y="4831341"/>
                <a:ext cx="504539" cy="1247670"/>
              </a:xfrm>
              <a:custGeom>
                <a:avLst/>
                <a:gdLst>
                  <a:gd name="T0" fmla="*/ 22464 w 22464"/>
                  <a:gd name="T1" fmla="*/ 9264 h 55551"/>
                  <a:gd name="T2" fmla="*/ 22039 w 22464"/>
                  <a:gd name="T3" fmla="*/ 13737 h 55551"/>
                  <a:gd name="T4" fmla="*/ 18383 w 22464"/>
                  <a:gd name="T5" fmla="*/ 51078 h 55551"/>
                  <a:gd name="T6" fmla="*/ 17851 w 22464"/>
                  <a:gd name="T7" fmla="*/ 55551 h 55551"/>
                  <a:gd name="T8" fmla="*/ 4614 w 22464"/>
                  <a:gd name="T9" fmla="*/ 55551 h 55551"/>
                  <a:gd name="T10" fmla="*/ 4081 w 22464"/>
                  <a:gd name="T11" fmla="*/ 51078 h 55551"/>
                  <a:gd name="T12" fmla="*/ 426 w 22464"/>
                  <a:gd name="T13" fmla="*/ 13737 h 55551"/>
                  <a:gd name="T14" fmla="*/ 426 w 22464"/>
                  <a:gd name="T15" fmla="*/ 13737 h 55551"/>
                  <a:gd name="T16" fmla="*/ 0 w 22464"/>
                  <a:gd name="T17" fmla="*/ 9264 h 55551"/>
                  <a:gd name="T18" fmla="*/ 7843 w 22464"/>
                  <a:gd name="T19" fmla="*/ 8164 h 55551"/>
                  <a:gd name="T20" fmla="*/ 11250 w 22464"/>
                  <a:gd name="T21" fmla="*/ 0 h 55551"/>
                  <a:gd name="T22" fmla="*/ 14621 w 22464"/>
                  <a:gd name="T23" fmla="*/ 8164 h 55551"/>
                  <a:gd name="T24" fmla="*/ 22464 w 22464"/>
                  <a:gd name="T25" fmla="*/ 9264 h 55551"/>
                  <a:gd name="T26" fmla="*/ 22464 w 22464"/>
                  <a:gd name="T27" fmla="*/ 9264 h 55551"/>
                  <a:gd name="T28" fmla="*/ 22464 w 22464"/>
                  <a:gd name="T29" fmla="*/ 9264 h 55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64" h="55551">
                    <a:moveTo>
                      <a:pt x="22464" y="9264"/>
                    </a:moveTo>
                    <a:lnTo>
                      <a:pt x="22039" y="13737"/>
                    </a:lnTo>
                    <a:lnTo>
                      <a:pt x="18383" y="51078"/>
                    </a:lnTo>
                    <a:lnTo>
                      <a:pt x="17851" y="55551"/>
                    </a:lnTo>
                    <a:lnTo>
                      <a:pt x="4614" y="55551"/>
                    </a:lnTo>
                    <a:lnTo>
                      <a:pt x="4081" y="51078"/>
                    </a:lnTo>
                    <a:lnTo>
                      <a:pt x="426" y="13737"/>
                    </a:lnTo>
                    <a:lnTo>
                      <a:pt x="426" y="13737"/>
                    </a:lnTo>
                    <a:lnTo>
                      <a:pt x="0" y="9264"/>
                    </a:lnTo>
                    <a:lnTo>
                      <a:pt x="7843" y="8164"/>
                    </a:lnTo>
                    <a:lnTo>
                      <a:pt x="11250" y="0"/>
                    </a:lnTo>
                    <a:lnTo>
                      <a:pt x="14621" y="8164"/>
                    </a:lnTo>
                    <a:lnTo>
                      <a:pt x="22464" y="9264"/>
                    </a:lnTo>
                    <a:lnTo>
                      <a:pt x="22464" y="9264"/>
                    </a:lnTo>
                    <a:lnTo>
                      <a:pt x="22464" y="9264"/>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0" name="Freeform 2093">
                <a:extLst>
                  <a:ext uri="{FF2B5EF4-FFF2-40B4-BE49-F238E27FC236}">
                    <a16:creationId xmlns:a16="http://schemas.microsoft.com/office/drawing/2014/main" id="{05F308E9-38B0-B929-1C52-DFD26D0F196F}"/>
                  </a:ext>
                </a:extLst>
              </p:cNvPr>
              <p:cNvSpPr>
                <a:spLocks/>
              </p:cNvSpPr>
              <p:nvPr/>
            </p:nvSpPr>
            <p:spPr bwMode="gray">
              <a:xfrm>
                <a:off x="4403812" y="5013109"/>
                <a:ext cx="149066" cy="1065094"/>
              </a:xfrm>
              <a:custGeom>
                <a:avLst/>
                <a:gdLst>
                  <a:gd name="T0" fmla="*/ 6637 w 6637"/>
                  <a:gd name="T1" fmla="*/ 0 h 47422"/>
                  <a:gd name="T2" fmla="*/ 0 w 6637"/>
                  <a:gd name="T3" fmla="*/ 887 h 47422"/>
                  <a:gd name="T4" fmla="*/ 178 w 6637"/>
                  <a:gd name="T5" fmla="*/ 3230 h 47422"/>
                  <a:gd name="T6" fmla="*/ 4117 w 6637"/>
                  <a:gd name="T7" fmla="*/ 42559 h 47422"/>
                  <a:gd name="T8" fmla="*/ 4507 w 6637"/>
                  <a:gd name="T9" fmla="*/ 47422 h 47422"/>
                  <a:gd name="T10" fmla="*/ 6637 w 6637"/>
                  <a:gd name="T11" fmla="*/ 47422 h 47422"/>
                  <a:gd name="T12" fmla="*/ 6637 w 6637"/>
                  <a:gd name="T13" fmla="*/ 0 h 47422"/>
                </a:gdLst>
                <a:ahLst/>
                <a:cxnLst>
                  <a:cxn ang="0">
                    <a:pos x="T0" y="T1"/>
                  </a:cxn>
                  <a:cxn ang="0">
                    <a:pos x="T2" y="T3"/>
                  </a:cxn>
                  <a:cxn ang="0">
                    <a:pos x="T4" y="T5"/>
                  </a:cxn>
                  <a:cxn ang="0">
                    <a:pos x="T6" y="T7"/>
                  </a:cxn>
                  <a:cxn ang="0">
                    <a:pos x="T8" y="T9"/>
                  </a:cxn>
                  <a:cxn ang="0">
                    <a:pos x="T10" y="T11"/>
                  </a:cxn>
                  <a:cxn ang="0">
                    <a:pos x="T12" y="T13"/>
                  </a:cxn>
                </a:cxnLst>
                <a:rect l="0" t="0" r="r" b="b"/>
                <a:pathLst>
                  <a:path w="6637" h="47422">
                    <a:moveTo>
                      <a:pt x="6637" y="0"/>
                    </a:moveTo>
                    <a:lnTo>
                      <a:pt x="0" y="887"/>
                    </a:lnTo>
                    <a:lnTo>
                      <a:pt x="178" y="3230"/>
                    </a:lnTo>
                    <a:lnTo>
                      <a:pt x="4117" y="42559"/>
                    </a:lnTo>
                    <a:lnTo>
                      <a:pt x="4507" y="47422"/>
                    </a:lnTo>
                    <a:lnTo>
                      <a:pt x="6637" y="47422"/>
                    </a:lnTo>
                    <a:lnTo>
                      <a:pt x="6637"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1" name="Freeform 2094">
                <a:extLst>
                  <a:ext uri="{FF2B5EF4-FFF2-40B4-BE49-F238E27FC236}">
                    <a16:creationId xmlns:a16="http://schemas.microsoft.com/office/drawing/2014/main" id="{A5B8BC66-875B-380F-5FF4-7C00F82B29F3}"/>
                  </a:ext>
                </a:extLst>
              </p:cNvPr>
              <p:cNvSpPr>
                <a:spLocks/>
              </p:cNvSpPr>
              <p:nvPr/>
            </p:nvSpPr>
            <p:spPr bwMode="gray">
              <a:xfrm>
                <a:off x="4657294" y="4845693"/>
                <a:ext cx="109178" cy="1232510"/>
              </a:xfrm>
              <a:custGeom>
                <a:avLst/>
                <a:gdLst>
                  <a:gd name="T0" fmla="*/ 0 w 4861"/>
                  <a:gd name="T1" fmla="*/ 0 h 54876"/>
                  <a:gd name="T2" fmla="*/ 0 w 4861"/>
                  <a:gd name="T3" fmla="*/ 54876 h 54876"/>
                  <a:gd name="T4" fmla="*/ 4861 w 4861"/>
                  <a:gd name="T5" fmla="*/ 54876 h 54876"/>
                  <a:gd name="T6" fmla="*/ 4861 w 4861"/>
                  <a:gd name="T7" fmla="*/ 7738 h 54876"/>
                  <a:gd name="T8" fmla="*/ 0 w 4861"/>
                  <a:gd name="T9" fmla="*/ 0 h 54876"/>
                </a:gdLst>
                <a:ahLst/>
                <a:cxnLst>
                  <a:cxn ang="0">
                    <a:pos x="T0" y="T1"/>
                  </a:cxn>
                  <a:cxn ang="0">
                    <a:pos x="T2" y="T3"/>
                  </a:cxn>
                  <a:cxn ang="0">
                    <a:pos x="T4" y="T5"/>
                  </a:cxn>
                  <a:cxn ang="0">
                    <a:pos x="T6" y="T7"/>
                  </a:cxn>
                  <a:cxn ang="0">
                    <a:pos x="T8" y="T9"/>
                  </a:cxn>
                </a:cxnLst>
                <a:rect l="0" t="0" r="r" b="b"/>
                <a:pathLst>
                  <a:path w="4861" h="54876">
                    <a:moveTo>
                      <a:pt x="0" y="0"/>
                    </a:moveTo>
                    <a:lnTo>
                      <a:pt x="0" y="54876"/>
                    </a:lnTo>
                    <a:lnTo>
                      <a:pt x="4861" y="54876"/>
                    </a:lnTo>
                    <a:lnTo>
                      <a:pt x="4861" y="7738"/>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2" name="Freeform 2095">
                <a:extLst>
                  <a:ext uri="{FF2B5EF4-FFF2-40B4-BE49-F238E27FC236}">
                    <a16:creationId xmlns:a16="http://schemas.microsoft.com/office/drawing/2014/main" id="{AC6E1842-F4A4-B80F-79E1-6D7C19C22CC9}"/>
                  </a:ext>
                </a:extLst>
              </p:cNvPr>
              <p:cNvSpPr>
                <a:spLocks/>
              </p:cNvSpPr>
              <p:nvPr/>
            </p:nvSpPr>
            <p:spPr bwMode="gray">
              <a:xfrm>
                <a:off x="4532148" y="4068378"/>
                <a:ext cx="251079" cy="648148"/>
              </a:xfrm>
              <a:custGeom>
                <a:avLst/>
                <a:gdLst>
                  <a:gd name="T0" fmla="*/ 0 w 11179"/>
                  <a:gd name="T1" fmla="*/ 0 h 28858"/>
                  <a:gd name="T2" fmla="*/ 0 w 11179"/>
                  <a:gd name="T3" fmla="*/ 1527 h 28858"/>
                  <a:gd name="T4" fmla="*/ 5678 w 11179"/>
                  <a:gd name="T5" fmla="*/ 28858 h 28858"/>
                  <a:gd name="T6" fmla="*/ 11179 w 11179"/>
                  <a:gd name="T7" fmla="*/ 1456 h 28858"/>
                  <a:gd name="T8" fmla="*/ 11179 w 11179"/>
                  <a:gd name="T9" fmla="*/ 0 h 28858"/>
                  <a:gd name="T10" fmla="*/ 0 w 11179"/>
                  <a:gd name="T11" fmla="*/ 0 h 28858"/>
                </a:gdLst>
                <a:ahLst/>
                <a:cxnLst>
                  <a:cxn ang="0">
                    <a:pos x="T0" y="T1"/>
                  </a:cxn>
                  <a:cxn ang="0">
                    <a:pos x="T2" y="T3"/>
                  </a:cxn>
                  <a:cxn ang="0">
                    <a:pos x="T4" y="T5"/>
                  </a:cxn>
                  <a:cxn ang="0">
                    <a:pos x="T6" y="T7"/>
                  </a:cxn>
                  <a:cxn ang="0">
                    <a:pos x="T8" y="T9"/>
                  </a:cxn>
                  <a:cxn ang="0">
                    <a:pos x="T10" y="T11"/>
                  </a:cxn>
                </a:cxnLst>
                <a:rect l="0" t="0" r="r" b="b"/>
                <a:pathLst>
                  <a:path w="11179" h="28858">
                    <a:moveTo>
                      <a:pt x="0" y="0"/>
                    </a:moveTo>
                    <a:lnTo>
                      <a:pt x="0" y="1527"/>
                    </a:lnTo>
                    <a:lnTo>
                      <a:pt x="5678" y="28858"/>
                    </a:lnTo>
                    <a:lnTo>
                      <a:pt x="11179" y="1456"/>
                    </a:lnTo>
                    <a:lnTo>
                      <a:pt x="11179" y="0"/>
                    </a:lnTo>
                    <a:lnTo>
                      <a:pt x="0" y="0"/>
                    </a:lnTo>
                    <a:close/>
                  </a:path>
                </a:pathLst>
              </a:custGeom>
              <a:solidFill>
                <a:srgbClr val="ECEC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3" name="Freeform 2096">
                <a:extLst>
                  <a:ext uri="{FF2B5EF4-FFF2-40B4-BE49-F238E27FC236}">
                    <a16:creationId xmlns:a16="http://schemas.microsoft.com/office/drawing/2014/main" id="{663DFF68-990C-7AB5-5240-07D82658BF6B}"/>
                  </a:ext>
                </a:extLst>
              </p:cNvPr>
              <p:cNvSpPr>
                <a:spLocks/>
              </p:cNvSpPr>
              <p:nvPr/>
            </p:nvSpPr>
            <p:spPr bwMode="gray">
              <a:xfrm>
                <a:off x="4445273" y="3519884"/>
                <a:ext cx="423235" cy="611471"/>
              </a:xfrm>
              <a:custGeom>
                <a:avLst/>
                <a:gdLst>
                  <a:gd name="T0" fmla="*/ 526 w 531"/>
                  <a:gd name="T1" fmla="*/ 369 h 767"/>
                  <a:gd name="T2" fmla="*/ 489 w 531"/>
                  <a:gd name="T3" fmla="*/ 464 h 767"/>
                  <a:gd name="T4" fmla="*/ 468 w 531"/>
                  <a:gd name="T5" fmla="*/ 479 h 767"/>
                  <a:gd name="T6" fmla="*/ 448 w 531"/>
                  <a:gd name="T7" fmla="*/ 479 h 767"/>
                  <a:gd name="T8" fmla="*/ 429 w 531"/>
                  <a:gd name="T9" fmla="*/ 561 h 767"/>
                  <a:gd name="T10" fmla="*/ 405 w 531"/>
                  <a:gd name="T11" fmla="*/ 575 h 767"/>
                  <a:gd name="T12" fmla="*/ 403 w 531"/>
                  <a:gd name="T13" fmla="*/ 671 h 767"/>
                  <a:gd name="T14" fmla="*/ 281 w 531"/>
                  <a:gd name="T15" fmla="*/ 767 h 767"/>
                  <a:gd name="T16" fmla="*/ 249 w 531"/>
                  <a:gd name="T17" fmla="*/ 767 h 767"/>
                  <a:gd name="T18" fmla="*/ 127 w 531"/>
                  <a:gd name="T19" fmla="*/ 673 h 767"/>
                  <a:gd name="T20" fmla="*/ 125 w 531"/>
                  <a:gd name="T21" fmla="*/ 575 h 767"/>
                  <a:gd name="T22" fmla="*/ 101 w 531"/>
                  <a:gd name="T23" fmla="*/ 561 h 767"/>
                  <a:gd name="T24" fmla="*/ 81 w 531"/>
                  <a:gd name="T25" fmla="*/ 479 h 767"/>
                  <a:gd name="T26" fmla="*/ 63 w 531"/>
                  <a:gd name="T27" fmla="*/ 479 h 767"/>
                  <a:gd name="T28" fmla="*/ 41 w 531"/>
                  <a:gd name="T29" fmla="*/ 464 h 767"/>
                  <a:gd name="T30" fmla="*/ 4 w 531"/>
                  <a:gd name="T31" fmla="*/ 369 h 767"/>
                  <a:gd name="T32" fmla="*/ 16 w 531"/>
                  <a:gd name="T33" fmla="*/ 340 h 767"/>
                  <a:gd name="T34" fmla="*/ 58 w 531"/>
                  <a:gd name="T35" fmla="*/ 362 h 767"/>
                  <a:gd name="T36" fmla="*/ 48 w 531"/>
                  <a:gd name="T37" fmla="*/ 224 h 767"/>
                  <a:gd name="T38" fmla="*/ 67 w 531"/>
                  <a:gd name="T39" fmla="*/ 69 h 767"/>
                  <a:gd name="T40" fmla="*/ 206 w 531"/>
                  <a:gd name="T41" fmla="*/ 0 h 767"/>
                  <a:gd name="T42" fmla="*/ 324 w 531"/>
                  <a:gd name="T43" fmla="*/ 0 h 767"/>
                  <a:gd name="T44" fmla="*/ 466 w 531"/>
                  <a:gd name="T45" fmla="*/ 73 h 767"/>
                  <a:gd name="T46" fmla="*/ 490 w 531"/>
                  <a:gd name="T47" fmla="*/ 224 h 767"/>
                  <a:gd name="T48" fmla="*/ 477 w 531"/>
                  <a:gd name="T49" fmla="*/ 356 h 767"/>
                  <a:gd name="T50" fmla="*/ 513 w 531"/>
                  <a:gd name="T51" fmla="*/ 340 h 767"/>
                  <a:gd name="T52" fmla="*/ 526 w 531"/>
                  <a:gd name="T53" fmla="*/ 369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31" h="767">
                    <a:moveTo>
                      <a:pt x="526" y="369"/>
                    </a:moveTo>
                    <a:cubicBezTo>
                      <a:pt x="489" y="464"/>
                      <a:pt x="489" y="464"/>
                      <a:pt x="489" y="464"/>
                    </a:cubicBezTo>
                    <a:cubicBezTo>
                      <a:pt x="485" y="473"/>
                      <a:pt x="477" y="479"/>
                      <a:pt x="468" y="479"/>
                    </a:cubicBezTo>
                    <a:cubicBezTo>
                      <a:pt x="448" y="479"/>
                      <a:pt x="448" y="479"/>
                      <a:pt x="448" y="479"/>
                    </a:cubicBezTo>
                    <a:cubicBezTo>
                      <a:pt x="429" y="561"/>
                      <a:pt x="429" y="561"/>
                      <a:pt x="429" y="561"/>
                    </a:cubicBezTo>
                    <a:cubicBezTo>
                      <a:pt x="405" y="575"/>
                      <a:pt x="405" y="575"/>
                      <a:pt x="405" y="575"/>
                    </a:cubicBezTo>
                    <a:cubicBezTo>
                      <a:pt x="403" y="671"/>
                      <a:pt x="403" y="671"/>
                      <a:pt x="403" y="671"/>
                    </a:cubicBezTo>
                    <a:cubicBezTo>
                      <a:pt x="281" y="767"/>
                      <a:pt x="281" y="767"/>
                      <a:pt x="281" y="767"/>
                    </a:cubicBezTo>
                    <a:cubicBezTo>
                      <a:pt x="249" y="767"/>
                      <a:pt x="249" y="767"/>
                      <a:pt x="249" y="767"/>
                    </a:cubicBezTo>
                    <a:cubicBezTo>
                      <a:pt x="127" y="673"/>
                      <a:pt x="127" y="673"/>
                      <a:pt x="127" y="673"/>
                    </a:cubicBezTo>
                    <a:cubicBezTo>
                      <a:pt x="125" y="590"/>
                      <a:pt x="125" y="575"/>
                      <a:pt x="125" y="575"/>
                    </a:cubicBezTo>
                    <a:cubicBezTo>
                      <a:pt x="101" y="561"/>
                      <a:pt x="101" y="561"/>
                      <a:pt x="101" y="561"/>
                    </a:cubicBezTo>
                    <a:cubicBezTo>
                      <a:pt x="81" y="479"/>
                      <a:pt x="81" y="479"/>
                      <a:pt x="81" y="479"/>
                    </a:cubicBezTo>
                    <a:cubicBezTo>
                      <a:pt x="63" y="479"/>
                      <a:pt x="63" y="479"/>
                      <a:pt x="63" y="479"/>
                    </a:cubicBezTo>
                    <a:cubicBezTo>
                      <a:pt x="53" y="479"/>
                      <a:pt x="44" y="473"/>
                      <a:pt x="41" y="464"/>
                    </a:cubicBezTo>
                    <a:cubicBezTo>
                      <a:pt x="4" y="369"/>
                      <a:pt x="4" y="369"/>
                      <a:pt x="4" y="369"/>
                    </a:cubicBezTo>
                    <a:cubicBezTo>
                      <a:pt x="0" y="358"/>
                      <a:pt x="5" y="346"/>
                      <a:pt x="16" y="340"/>
                    </a:cubicBezTo>
                    <a:cubicBezTo>
                      <a:pt x="43" y="326"/>
                      <a:pt x="58" y="362"/>
                      <a:pt x="58" y="362"/>
                    </a:cubicBezTo>
                    <a:cubicBezTo>
                      <a:pt x="48" y="224"/>
                      <a:pt x="48" y="224"/>
                      <a:pt x="48" y="224"/>
                    </a:cubicBezTo>
                    <a:cubicBezTo>
                      <a:pt x="67" y="69"/>
                      <a:pt x="67" y="69"/>
                      <a:pt x="67" y="69"/>
                    </a:cubicBezTo>
                    <a:cubicBezTo>
                      <a:pt x="206" y="0"/>
                      <a:pt x="206" y="0"/>
                      <a:pt x="206" y="0"/>
                    </a:cubicBezTo>
                    <a:cubicBezTo>
                      <a:pt x="324" y="0"/>
                      <a:pt x="324" y="0"/>
                      <a:pt x="324" y="0"/>
                    </a:cubicBezTo>
                    <a:cubicBezTo>
                      <a:pt x="466" y="73"/>
                      <a:pt x="466" y="73"/>
                      <a:pt x="466" y="73"/>
                    </a:cubicBezTo>
                    <a:cubicBezTo>
                      <a:pt x="490" y="224"/>
                      <a:pt x="490" y="224"/>
                      <a:pt x="490" y="224"/>
                    </a:cubicBezTo>
                    <a:cubicBezTo>
                      <a:pt x="477" y="356"/>
                      <a:pt x="477" y="356"/>
                      <a:pt x="477" y="356"/>
                    </a:cubicBezTo>
                    <a:cubicBezTo>
                      <a:pt x="479" y="342"/>
                      <a:pt x="500" y="334"/>
                      <a:pt x="513" y="340"/>
                    </a:cubicBezTo>
                    <a:cubicBezTo>
                      <a:pt x="525" y="345"/>
                      <a:pt x="531" y="358"/>
                      <a:pt x="526" y="369"/>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4" name="Freeform 2097">
                <a:extLst>
                  <a:ext uri="{FF2B5EF4-FFF2-40B4-BE49-F238E27FC236}">
                    <a16:creationId xmlns:a16="http://schemas.microsoft.com/office/drawing/2014/main" id="{87F68A74-5070-1664-8591-C4D50F48B1F7}"/>
                  </a:ext>
                </a:extLst>
              </p:cNvPr>
              <p:cNvSpPr>
                <a:spLocks/>
              </p:cNvSpPr>
              <p:nvPr/>
            </p:nvSpPr>
            <p:spPr bwMode="gray">
              <a:xfrm>
                <a:off x="4477144" y="3515100"/>
                <a:ext cx="359471" cy="316505"/>
              </a:xfrm>
              <a:custGeom>
                <a:avLst/>
                <a:gdLst>
                  <a:gd name="T0" fmla="*/ 16005 w 16005"/>
                  <a:gd name="T1" fmla="*/ 8164 h 14092"/>
                  <a:gd name="T2" fmla="*/ 15544 w 16005"/>
                  <a:gd name="T3" fmla="*/ 12885 h 14092"/>
                  <a:gd name="T4" fmla="*/ 15296 w 16005"/>
                  <a:gd name="T5" fmla="*/ 14092 h 14092"/>
                  <a:gd name="T6" fmla="*/ 15296 w 16005"/>
                  <a:gd name="T7" fmla="*/ 14092 h 14092"/>
                  <a:gd name="T8" fmla="*/ 13166 w 16005"/>
                  <a:gd name="T9" fmla="*/ 5964 h 14092"/>
                  <a:gd name="T10" fmla="*/ 13770 w 16005"/>
                  <a:gd name="T11" fmla="*/ 4153 h 14092"/>
                  <a:gd name="T12" fmla="*/ 11534 w 16005"/>
                  <a:gd name="T13" fmla="*/ 2769 h 14092"/>
                  <a:gd name="T14" fmla="*/ 6778 w 16005"/>
                  <a:gd name="T15" fmla="*/ 4579 h 14092"/>
                  <a:gd name="T16" fmla="*/ 3407 w 16005"/>
                  <a:gd name="T17" fmla="*/ 4544 h 14092"/>
                  <a:gd name="T18" fmla="*/ 1952 w 16005"/>
                  <a:gd name="T19" fmla="*/ 4402 h 14092"/>
                  <a:gd name="T20" fmla="*/ 2733 w 16005"/>
                  <a:gd name="T21" fmla="*/ 6247 h 14092"/>
                  <a:gd name="T22" fmla="*/ 745 w 16005"/>
                  <a:gd name="T23" fmla="*/ 14092 h 14092"/>
                  <a:gd name="T24" fmla="*/ 745 w 16005"/>
                  <a:gd name="T25" fmla="*/ 14092 h 14092"/>
                  <a:gd name="T26" fmla="*/ 497 w 16005"/>
                  <a:gd name="T27" fmla="*/ 12885 h 14092"/>
                  <a:gd name="T28" fmla="*/ 0 w 16005"/>
                  <a:gd name="T29" fmla="*/ 8164 h 14092"/>
                  <a:gd name="T30" fmla="*/ 674 w 16005"/>
                  <a:gd name="T31" fmla="*/ 2520 h 14092"/>
                  <a:gd name="T32" fmla="*/ 5891 w 16005"/>
                  <a:gd name="T33" fmla="*/ 0 h 14092"/>
                  <a:gd name="T34" fmla="*/ 10150 w 16005"/>
                  <a:gd name="T35" fmla="*/ 0 h 14092"/>
                  <a:gd name="T36" fmla="*/ 15331 w 16005"/>
                  <a:gd name="T37" fmla="*/ 2520 h 14092"/>
                  <a:gd name="T38" fmla="*/ 16005 w 16005"/>
                  <a:gd name="T39" fmla="*/ 8164 h 14092"/>
                  <a:gd name="T40" fmla="*/ 16005 w 16005"/>
                  <a:gd name="T41" fmla="*/ 8164 h 14092"/>
                  <a:gd name="T42" fmla="*/ 16005 w 16005"/>
                  <a:gd name="T43" fmla="*/ 8164 h 14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005" h="14092">
                    <a:moveTo>
                      <a:pt x="16005" y="8164"/>
                    </a:moveTo>
                    <a:lnTo>
                      <a:pt x="15544" y="12885"/>
                    </a:lnTo>
                    <a:lnTo>
                      <a:pt x="15296" y="14092"/>
                    </a:lnTo>
                    <a:lnTo>
                      <a:pt x="15296" y="14092"/>
                    </a:lnTo>
                    <a:lnTo>
                      <a:pt x="13166" y="5964"/>
                    </a:lnTo>
                    <a:lnTo>
                      <a:pt x="13770" y="4153"/>
                    </a:lnTo>
                    <a:lnTo>
                      <a:pt x="11534" y="2769"/>
                    </a:lnTo>
                    <a:lnTo>
                      <a:pt x="6778" y="4579"/>
                    </a:lnTo>
                    <a:lnTo>
                      <a:pt x="3407" y="4544"/>
                    </a:lnTo>
                    <a:lnTo>
                      <a:pt x="1952" y="4402"/>
                    </a:lnTo>
                    <a:lnTo>
                      <a:pt x="2733" y="6247"/>
                    </a:lnTo>
                    <a:lnTo>
                      <a:pt x="745" y="14092"/>
                    </a:lnTo>
                    <a:lnTo>
                      <a:pt x="745" y="14092"/>
                    </a:lnTo>
                    <a:lnTo>
                      <a:pt x="497" y="12885"/>
                    </a:lnTo>
                    <a:lnTo>
                      <a:pt x="0" y="8164"/>
                    </a:lnTo>
                    <a:lnTo>
                      <a:pt x="674" y="2520"/>
                    </a:lnTo>
                    <a:lnTo>
                      <a:pt x="5891" y="0"/>
                    </a:lnTo>
                    <a:lnTo>
                      <a:pt x="10150" y="0"/>
                    </a:lnTo>
                    <a:lnTo>
                      <a:pt x="15331" y="2520"/>
                    </a:lnTo>
                    <a:lnTo>
                      <a:pt x="16005" y="8164"/>
                    </a:lnTo>
                    <a:lnTo>
                      <a:pt x="16005" y="8164"/>
                    </a:lnTo>
                    <a:lnTo>
                      <a:pt x="16005" y="8164"/>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5" name="Freeform 2098">
                <a:extLst>
                  <a:ext uri="{FF2B5EF4-FFF2-40B4-BE49-F238E27FC236}">
                    <a16:creationId xmlns:a16="http://schemas.microsoft.com/office/drawing/2014/main" id="{F909E187-B43E-58EA-F3F7-0A8AA1EB4B73}"/>
                  </a:ext>
                </a:extLst>
              </p:cNvPr>
              <p:cNvSpPr>
                <a:spLocks/>
              </p:cNvSpPr>
              <p:nvPr/>
            </p:nvSpPr>
            <p:spPr bwMode="gray">
              <a:xfrm>
                <a:off x="4669243" y="4044458"/>
                <a:ext cx="97229" cy="133951"/>
              </a:xfrm>
              <a:custGeom>
                <a:avLst/>
                <a:gdLst>
                  <a:gd name="T0" fmla="*/ 4329 w 4329"/>
                  <a:gd name="T1" fmla="*/ 2343 h 5964"/>
                  <a:gd name="T2" fmla="*/ 994 w 4329"/>
                  <a:gd name="T3" fmla="*/ 5964 h 5964"/>
                  <a:gd name="T4" fmla="*/ 0 w 4329"/>
                  <a:gd name="T5" fmla="*/ 3408 h 5964"/>
                  <a:gd name="T6" fmla="*/ 4329 w 4329"/>
                  <a:gd name="T7" fmla="*/ 0 h 5964"/>
                  <a:gd name="T8" fmla="*/ 4329 w 4329"/>
                  <a:gd name="T9" fmla="*/ 2343 h 5964"/>
                </a:gdLst>
                <a:ahLst/>
                <a:cxnLst>
                  <a:cxn ang="0">
                    <a:pos x="T0" y="T1"/>
                  </a:cxn>
                  <a:cxn ang="0">
                    <a:pos x="T2" y="T3"/>
                  </a:cxn>
                  <a:cxn ang="0">
                    <a:pos x="T4" y="T5"/>
                  </a:cxn>
                  <a:cxn ang="0">
                    <a:pos x="T6" y="T7"/>
                  </a:cxn>
                  <a:cxn ang="0">
                    <a:pos x="T8" y="T9"/>
                  </a:cxn>
                </a:cxnLst>
                <a:rect l="0" t="0" r="r" b="b"/>
                <a:pathLst>
                  <a:path w="4329" h="5964">
                    <a:moveTo>
                      <a:pt x="4329" y="2343"/>
                    </a:moveTo>
                    <a:lnTo>
                      <a:pt x="994" y="5964"/>
                    </a:lnTo>
                    <a:lnTo>
                      <a:pt x="0" y="3408"/>
                    </a:lnTo>
                    <a:lnTo>
                      <a:pt x="4329" y="0"/>
                    </a:lnTo>
                    <a:lnTo>
                      <a:pt x="4329" y="23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6" name="Freeform 2099">
                <a:extLst>
                  <a:ext uri="{FF2B5EF4-FFF2-40B4-BE49-F238E27FC236}">
                    <a16:creationId xmlns:a16="http://schemas.microsoft.com/office/drawing/2014/main" id="{8D47DE4D-03C9-BC78-19C5-3C18985C987F}"/>
                  </a:ext>
                </a:extLst>
              </p:cNvPr>
              <p:cNvSpPr>
                <a:spLocks/>
              </p:cNvSpPr>
              <p:nvPr/>
            </p:nvSpPr>
            <p:spPr bwMode="gray">
              <a:xfrm>
                <a:off x="4595103" y="4121001"/>
                <a:ext cx="129144" cy="516600"/>
              </a:xfrm>
              <a:custGeom>
                <a:avLst/>
                <a:gdLst>
                  <a:gd name="T0" fmla="*/ 5750 w 5750"/>
                  <a:gd name="T1" fmla="*/ 14873 h 23001"/>
                  <a:gd name="T2" fmla="*/ 2733 w 5750"/>
                  <a:gd name="T3" fmla="*/ 23001 h 23001"/>
                  <a:gd name="T4" fmla="*/ 0 w 5750"/>
                  <a:gd name="T5" fmla="*/ 14873 h 23001"/>
                  <a:gd name="T6" fmla="*/ 1491 w 5750"/>
                  <a:gd name="T7" fmla="*/ 4224 h 23001"/>
                  <a:gd name="T8" fmla="*/ 1136 w 5750"/>
                  <a:gd name="T9" fmla="*/ 2556 h 23001"/>
                  <a:gd name="T10" fmla="*/ 2130 w 5750"/>
                  <a:gd name="T11" fmla="*/ 0 h 23001"/>
                  <a:gd name="T12" fmla="*/ 3301 w 5750"/>
                  <a:gd name="T13" fmla="*/ 0 h 23001"/>
                  <a:gd name="T14" fmla="*/ 4295 w 5750"/>
                  <a:gd name="T15" fmla="*/ 2556 h 23001"/>
                  <a:gd name="T16" fmla="*/ 3940 w 5750"/>
                  <a:gd name="T17" fmla="*/ 4224 h 23001"/>
                  <a:gd name="T18" fmla="*/ 5750 w 5750"/>
                  <a:gd name="T19" fmla="*/ 14873 h 2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50" h="23001">
                    <a:moveTo>
                      <a:pt x="5750" y="14873"/>
                    </a:moveTo>
                    <a:lnTo>
                      <a:pt x="2733" y="23001"/>
                    </a:lnTo>
                    <a:lnTo>
                      <a:pt x="0" y="14873"/>
                    </a:lnTo>
                    <a:lnTo>
                      <a:pt x="1491" y="4224"/>
                    </a:lnTo>
                    <a:lnTo>
                      <a:pt x="1136" y="2556"/>
                    </a:lnTo>
                    <a:lnTo>
                      <a:pt x="2130" y="0"/>
                    </a:lnTo>
                    <a:lnTo>
                      <a:pt x="3301" y="0"/>
                    </a:lnTo>
                    <a:lnTo>
                      <a:pt x="4295" y="2556"/>
                    </a:lnTo>
                    <a:lnTo>
                      <a:pt x="3940" y="4224"/>
                    </a:lnTo>
                    <a:lnTo>
                      <a:pt x="5750" y="14873"/>
                    </a:ln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7" name="Freeform 2100">
                <a:extLst>
                  <a:ext uri="{FF2B5EF4-FFF2-40B4-BE49-F238E27FC236}">
                    <a16:creationId xmlns:a16="http://schemas.microsoft.com/office/drawing/2014/main" id="{F3E7BAAD-4E8A-44BB-F6DB-CEE6DC3DD2F9}"/>
                  </a:ext>
                </a:extLst>
              </p:cNvPr>
              <p:cNvSpPr>
                <a:spLocks/>
              </p:cNvSpPr>
              <p:nvPr/>
            </p:nvSpPr>
            <p:spPr bwMode="gray">
              <a:xfrm>
                <a:off x="4545691" y="4044458"/>
                <a:ext cx="97251" cy="133951"/>
              </a:xfrm>
              <a:custGeom>
                <a:avLst/>
                <a:gdLst>
                  <a:gd name="T0" fmla="*/ 3336 w 4330"/>
                  <a:gd name="T1" fmla="*/ 5964 h 5964"/>
                  <a:gd name="T2" fmla="*/ 71 w 4330"/>
                  <a:gd name="T3" fmla="*/ 2343 h 5964"/>
                  <a:gd name="T4" fmla="*/ 0 w 4330"/>
                  <a:gd name="T5" fmla="*/ 0 h 5964"/>
                  <a:gd name="T6" fmla="*/ 4330 w 4330"/>
                  <a:gd name="T7" fmla="*/ 3408 h 5964"/>
                  <a:gd name="T8" fmla="*/ 3336 w 4330"/>
                  <a:gd name="T9" fmla="*/ 5964 h 5964"/>
                </a:gdLst>
                <a:ahLst/>
                <a:cxnLst>
                  <a:cxn ang="0">
                    <a:pos x="T0" y="T1"/>
                  </a:cxn>
                  <a:cxn ang="0">
                    <a:pos x="T2" y="T3"/>
                  </a:cxn>
                  <a:cxn ang="0">
                    <a:pos x="T4" y="T5"/>
                  </a:cxn>
                  <a:cxn ang="0">
                    <a:pos x="T6" y="T7"/>
                  </a:cxn>
                  <a:cxn ang="0">
                    <a:pos x="T8" y="T9"/>
                  </a:cxn>
                </a:cxnLst>
                <a:rect l="0" t="0" r="r" b="b"/>
                <a:pathLst>
                  <a:path w="4330" h="5964">
                    <a:moveTo>
                      <a:pt x="3336" y="5964"/>
                    </a:moveTo>
                    <a:lnTo>
                      <a:pt x="71" y="2343"/>
                    </a:lnTo>
                    <a:lnTo>
                      <a:pt x="0" y="0"/>
                    </a:lnTo>
                    <a:lnTo>
                      <a:pt x="4330" y="3408"/>
                    </a:lnTo>
                    <a:lnTo>
                      <a:pt x="3336" y="59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18" name="Freeform 2101">
                <a:extLst>
                  <a:ext uri="{FF2B5EF4-FFF2-40B4-BE49-F238E27FC236}">
                    <a16:creationId xmlns:a16="http://schemas.microsoft.com/office/drawing/2014/main" id="{EA6C83A0-C3F9-DC20-28CA-ACEE02D10ED4}"/>
                  </a:ext>
                </a:extLst>
              </p:cNvPr>
              <p:cNvSpPr>
                <a:spLocks/>
              </p:cNvSpPr>
              <p:nvPr/>
            </p:nvSpPr>
            <p:spPr bwMode="gray">
              <a:xfrm>
                <a:off x="4252365" y="4044458"/>
                <a:ext cx="807434" cy="994165"/>
              </a:xfrm>
              <a:custGeom>
                <a:avLst/>
                <a:gdLst>
                  <a:gd name="T0" fmla="*/ 29846 w 35950"/>
                  <a:gd name="T1" fmla="*/ 38904 h 44264"/>
                  <a:gd name="T2" fmla="*/ 30095 w 35950"/>
                  <a:gd name="T3" fmla="*/ 42986 h 44264"/>
                  <a:gd name="T4" fmla="*/ 29207 w 35950"/>
                  <a:gd name="T5" fmla="*/ 44264 h 44264"/>
                  <a:gd name="T6" fmla="*/ 21364 w 35950"/>
                  <a:gd name="T7" fmla="*/ 43163 h 44264"/>
                  <a:gd name="T8" fmla="*/ 17993 w 35950"/>
                  <a:gd name="T9" fmla="*/ 35035 h 44264"/>
                  <a:gd name="T10" fmla="*/ 14586 w 35950"/>
                  <a:gd name="T11" fmla="*/ 43163 h 44264"/>
                  <a:gd name="T12" fmla="*/ 6743 w 35950"/>
                  <a:gd name="T13" fmla="*/ 44264 h 44264"/>
                  <a:gd name="T14" fmla="*/ 5892 w 35950"/>
                  <a:gd name="T15" fmla="*/ 42986 h 44264"/>
                  <a:gd name="T16" fmla="*/ 6104 w 35950"/>
                  <a:gd name="T17" fmla="*/ 38904 h 44264"/>
                  <a:gd name="T18" fmla="*/ 0 w 35950"/>
                  <a:gd name="T19" fmla="*/ 38868 h 44264"/>
                  <a:gd name="T20" fmla="*/ 1385 w 35950"/>
                  <a:gd name="T21" fmla="*/ 8519 h 44264"/>
                  <a:gd name="T22" fmla="*/ 4330 w 35950"/>
                  <a:gd name="T23" fmla="*/ 4189 h 44264"/>
                  <a:gd name="T24" fmla="*/ 9156 w 35950"/>
                  <a:gd name="T25" fmla="*/ 2059 h 44264"/>
                  <a:gd name="T26" fmla="*/ 9227 w 35950"/>
                  <a:gd name="T27" fmla="*/ 1527 h 44264"/>
                  <a:gd name="T28" fmla="*/ 13060 w 35950"/>
                  <a:gd name="T29" fmla="*/ 0 h 44264"/>
                  <a:gd name="T30" fmla="*/ 13131 w 35950"/>
                  <a:gd name="T31" fmla="*/ 2343 h 44264"/>
                  <a:gd name="T32" fmla="*/ 17993 w 35950"/>
                  <a:gd name="T33" fmla="*/ 26374 h 44264"/>
                  <a:gd name="T34" fmla="*/ 22855 w 35950"/>
                  <a:gd name="T35" fmla="*/ 2343 h 44264"/>
                  <a:gd name="T36" fmla="*/ 22890 w 35950"/>
                  <a:gd name="T37" fmla="*/ 0 h 44264"/>
                  <a:gd name="T38" fmla="*/ 26794 w 35950"/>
                  <a:gd name="T39" fmla="*/ 1527 h 44264"/>
                  <a:gd name="T40" fmla="*/ 26865 w 35950"/>
                  <a:gd name="T41" fmla="*/ 2059 h 44264"/>
                  <a:gd name="T42" fmla="*/ 31621 w 35950"/>
                  <a:gd name="T43" fmla="*/ 4189 h 44264"/>
                  <a:gd name="T44" fmla="*/ 34566 w 35950"/>
                  <a:gd name="T45" fmla="*/ 8519 h 44264"/>
                  <a:gd name="T46" fmla="*/ 35950 w 35950"/>
                  <a:gd name="T47" fmla="*/ 38868 h 44264"/>
                  <a:gd name="T48" fmla="*/ 29846 w 35950"/>
                  <a:gd name="T49" fmla="*/ 38904 h 44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950" h="44264">
                    <a:moveTo>
                      <a:pt x="29846" y="38904"/>
                    </a:moveTo>
                    <a:lnTo>
                      <a:pt x="30095" y="42986"/>
                    </a:lnTo>
                    <a:lnTo>
                      <a:pt x="29207" y="44264"/>
                    </a:lnTo>
                    <a:lnTo>
                      <a:pt x="21364" y="43163"/>
                    </a:lnTo>
                    <a:lnTo>
                      <a:pt x="17993" y="35035"/>
                    </a:lnTo>
                    <a:lnTo>
                      <a:pt x="14586" y="43163"/>
                    </a:lnTo>
                    <a:lnTo>
                      <a:pt x="6743" y="44264"/>
                    </a:lnTo>
                    <a:lnTo>
                      <a:pt x="5892" y="42986"/>
                    </a:lnTo>
                    <a:lnTo>
                      <a:pt x="6104" y="38904"/>
                    </a:lnTo>
                    <a:lnTo>
                      <a:pt x="0" y="38868"/>
                    </a:lnTo>
                    <a:lnTo>
                      <a:pt x="1385" y="8519"/>
                    </a:lnTo>
                    <a:lnTo>
                      <a:pt x="4330" y="4189"/>
                    </a:lnTo>
                    <a:lnTo>
                      <a:pt x="9156" y="2059"/>
                    </a:lnTo>
                    <a:lnTo>
                      <a:pt x="9227" y="1527"/>
                    </a:lnTo>
                    <a:lnTo>
                      <a:pt x="13060" y="0"/>
                    </a:lnTo>
                    <a:lnTo>
                      <a:pt x="13131" y="2343"/>
                    </a:lnTo>
                    <a:lnTo>
                      <a:pt x="17993" y="26374"/>
                    </a:lnTo>
                    <a:lnTo>
                      <a:pt x="22855" y="2343"/>
                    </a:lnTo>
                    <a:lnTo>
                      <a:pt x="22890" y="0"/>
                    </a:lnTo>
                    <a:lnTo>
                      <a:pt x="26794" y="1527"/>
                    </a:lnTo>
                    <a:lnTo>
                      <a:pt x="26865" y="2059"/>
                    </a:lnTo>
                    <a:lnTo>
                      <a:pt x="31621" y="4189"/>
                    </a:lnTo>
                    <a:lnTo>
                      <a:pt x="34566" y="8519"/>
                    </a:lnTo>
                    <a:lnTo>
                      <a:pt x="35950" y="38868"/>
                    </a:lnTo>
                    <a:lnTo>
                      <a:pt x="29846" y="38904"/>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p>
            </p:txBody>
          </p:sp>
          <p:sp>
            <p:nvSpPr>
              <p:cNvPr id="219" name="Freeform 2102">
                <a:extLst>
                  <a:ext uri="{FF2B5EF4-FFF2-40B4-BE49-F238E27FC236}">
                    <a16:creationId xmlns:a16="http://schemas.microsoft.com/office/drawing/2014/main" id="{6149820B-3083-3C39-3857-B64B8CDF2D6D}"/>
                  </a:ext>
                </a:extLst>
              </p:cNvPr>
              <p:cNvSpPr>
                <a:spLocks/>
              </p:cNvSpPr>
              <p:nvPr/>
            </p:nvSpPr>
            <p:spPr bwMode="gray">
              <a:xfrm>
                <a:off x="4648513" y="5120737"/>
                <a:ext cx="14352" cy="958274"/>
              </a:xfrm>
              <a:custGeom>
                <a:avLst/>
                <a:gdLst>
                  <a:gd name="T0" fmla="*/ 0 w 639"/>
                  <a:gd name="T1" fmla="*/ 0 h 42666"/>
                  <a:gd name="T2" fmla="*/ 639 w 639"/>
                  <a:gd name="T3" fmla="*/ 0 h 42666"/>
                  <a:gd name="T4" fmla="*/ 639 w 639"/>
                  <a:gd name="T5" fmla="*/ 42666 h 42666"/>
                  <a:gd name="T6" fmla="*/ 0 w 639"/>
                  <a:gd name="T7" fmla="*/ 42666 h 42666"/>
                  <a:gd name="T8" fmla="*/ 0 w 639"/>
                  <a:gd name="T9" fmla="*/ 0 h 42666"/>
                  <a:gd name="T10" fmla="*/ 0 w 639"/>
                  <a:gd name="T11" fmla="*/ 0 h 42666"/>
                </a:gdLst>
                <a:ahLst/>
                <a:cxnLst>
                  <a:cxn ang="0">
                    <a:pos x="T0" y="T1"/>
                  </a:cxn>
                  <a:cxn ang="0">
                    <a:pos x="T2" y="T3"/>
                  </a:cxn>
                  <a:cxn ang="0">
                    <a:pos x="T4" y="T5"/>
                  </a:cxn>
                  <a:cxn ang="0">
                    <a:pos x="T6" y="T7"/>
                  </a:cxn>
                  <a:cxn ang="0">
                    <a:pos x="T8" y="T9"/>
                  </a:cxn>
                  <a:cxn ang="0">
                    <a:pos x="T10" y="T11"/>
                  </a:cxn>
                </a:cxnLst>
                <a:rect l="0" t="0" r="r" b="b"/>
                <a:pathLst>
                  <a:path w="639" h="42666">
                    <a:moveTo>
                      <a:pt x="0" y="0"/>
                    </a:moveTo>
                    <a:lnTo>
                      <a:pt x="639" y="0"/>
                    </a:lnTo>
                    <a:lnTo>
                      <a:pt x="639" y="42666"/>
                    </a:lnTo>
                    <a:lnTo>
                      <a:pt x="0" y="42666"/>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0" name="Freeform 2103">
                <a:extLst>
                  <a:ext uri="{FF2B5EF4-FFF2-40B4-BE49-F238E27FC236}">
                    <a16:creationId xmlns:a16="http://schemas.microsoft.com/office/drawing/2014/main" id="{9F2EAE03-9857-AD58-E8CF-D720B266EEDC}"/>
                  </a:ext>
                </a:extLst>
              </p:cNvPr>
              <p:cNvSpPr>
                <a:spLocks noEditPoints="1"/>
              </p:cNvSpPr>
              <p:nvPr/>
            </p:nvSpPr>
            <p:spPr bwMode="gray">
              <a:xfrm>
                <a:off x="4497065" y="3742327"/>
                <a:ext cx="316438" cy="106011"/>
              </a:xfrm>
              <a:custGeom>
                <a:avLst/>
                <a:gdLst>
                  <a:gd name="T0" fmla="*/ 296 w 397"/>
                  <a:gd name="T1" fmla="*/ 133 h 133"/>
                  <a:gd name="T2" fmla="*/ 296 w 397"/>
                  <a:gd name="T3" fmla="*/ 133 h 133"/>
                  <a:gd name="T4" fmla="*/ 249 w 397"/>
                  <a:gd name="T5" fmla="*/ 120 h 133"/>
                  <a:gd name="T6" fmla="*/ 222 w 397"/>
                  <a:gd name="T7" fmla="*/ 90 h 133"/>
                  <a:gd name="T8" fmla="*/ 215 w 397"/>
                  <a:gd name="T9" fmla="*/ 72 h 133"/>
                  <a:gd name="T10" fmla="*/ 200 w 397"/>
                  <a:gd name="T11" fmla="*/ 48 h 133"/>
                  <a:gd name="T12" fmla="*/ 182 w 397"/>
                  <a:gd name="T13" fmla="*/ 72 h 133"/>
                  <a:gd name="T14" fmla="*/ 175 w 397"/>
                  <a:gd name="T15" fmla="*/ 90 h 133"/>
                  <a:gd name="T16" fmla="*/ 150 w 397"/>
                  <a:gd name="T17" fmla="*/ 120 h 133"/>
                  <a:gd name="T18" fmla="*/ 101 w 397"/>
                  <a:gd name="T19" fmla="*/ 133 h 133"/>
                  <a:gd name="T20" fmla="*/ 40 w 397"/>
                  <a:gd name="T21" fmla="*/ 117 h 133"/>
                  <a:gd name="T22" fmla="*/ 25 w 397"/>
                  <a:gd name="T23" fmla="*/ 84 h 133"/>
                  <a:gd name="T24" fmla="*/ 20 w 397"/>
                  <a:gd name="T25" fmla="*/ 63 h 133"/>
                  <a:gd name="T26" fmla="*/ 16 w 397"/>
                  <a:gd name="T27" fmla="*/ 45 h 133"/>
                  <a:gd name="T28" fmla="*/ 11 w 397"/>
                  <a:gd name="T29" fmla="*/ 41 h 133"/>
                  <a:gd name="T30" fmla="*/ 4 w 397"/>
                  <a:gd name="T31" fmla="*/ 34 h 133"/>
                  <a:gd name="T32" fmla="*/ 4 w 397"/>
                  <a:gd name="T33" fmla="*/ 29 h 133"/>
                  <a:gd name="T34" fmla="*/ 2 w 397"/>
                  <a:gd name="T35" fmla="*/ 16 h 133"/>
                  <a:gd name="T36" fmla="*/ 9 w 397"/>
                  <a:gd name="T37" fmla="*/ 5 h 133"/>
                  <a:gd name="T38" fmla="*/ 76 w 397"/>
                  <a:gd name="T39" fmla="*/ 0 h 133"/>
                  <a:gd name="T40" fmla="*/ 90 w 397"/>
                  <a:gd name="T41" fmla="*/ 0 h 133"/>
                  <a:gd name="T42" fmla="*/ 135 w 397"/>
                  <a:gd name="T43" fmla="*/ 5 h 133"/>
                  <a:gd name="T44" fmla="*/ 173 w 397"/>
                  <a:gd name="T45" fmla="*/ 14 h 133"/>
                  <a:gd name="T46" fmla="*/ 200 w 397"/>
                  <a:gd name="T47" fmla="*/ 18 h 133"/>
                  <a:gd name="T48" fmla="*/ 200 w 397"/>
                  <a:gd name="T49" fmla="*/ 18 h 133"/>
                  <a:gd name="T50" fmla="*/ 224 w 397"/>
                  <a:gd name="T51" fmla="*/ 14 h 133"/>
                  <a:gd name="T52" fmla="*/ 265 w 397"/>
                  <a:gd name="T53" fmla="*/ 5 h 133"/>
                  <a:gd name="T54" fmla="*/ 308 w 397"/>
                  <a:gd name="T55" fmla="*/ 0 h 133"/>
                  <a:gd name="T56" fmla="*/ 321 w 397"/>
                  <a:gd name="T57" fmla="*/ 0 h 133"/>
                  <a:gd name="T58" fmla="*/ 391 w 397"/>
                  <a:gd name="T59" fmla="*/ 5 h 133"/>
                  <a:gd name="T60" fmla="*/ 397 w 397"/>
                  <a:gd name="T61" fmla="*/ 16 h 133"/>
                  <a:gd name="T62" fmla="*/ 395 w 397"/>
                  <a:gd name="T63" fmla="*/ 29 h 133"/>
                  <a:gd name="T64" fmla="*/ 395 w 397"/>
                  <a:gd name="T65" fmla="*/ 34 h 133"/>
                  <a:gd name="T66" fmla="*/ 386 w 397"/>
                  <a:gd name="T67" fmla="*/ 41 h 133"/>
                  <a:gd name="T68" fmla="*/ 384 w 397"/>
                  <a:gd name="T69" fmla="*/ 45 h 133"/>
                  <a:gd name="T70" fmla="*/ 379 w 397"/>
                  <a:gd name="T71" fmla="*/ 63 h 133"/>
                  <a:gd name="T72" fmla="*/ 375 w 397"/>
                  <a:gd name="T73" fmla="*/ 84 h 133"/>
                  <a:gd name="T74" fmla="*/ 359 w 397"/>
                  <a:gd name="T75" fmla="*/ 117 h 133"/>
                  <a:gd name="T76" fmla="*/ 296 w 397"/>
                  <a:gd name="T77" fmla="*/ 133 h 133"/>
                  <a:gd name="T78" fmla="*/ 312 w 397"/>
                  <a:gd name="T79" fmla="*/ 16 h 133"/>
                  <a:gd name="T80" fmla="*/ 233 w 397"/>
                  <a:gd name="T81" fmla="*/ 32 h 133"/>
                  <a:gd name="T82" fmla="*/ 229 w 397"/>
                  <a:gd name="T83" fmla="*/ 57 h 133"/>
                  <a:gd name="T84" fmla="*/ 258 w 397"/>
                  <a:gd name="T85" fmla="*/ 111 h 133"/>
                  <a:gd name="T86" fmla="*/ 296 w 397"/>
                  <a:gd name="T87" fmla="*/ 120 h 133"/>
                  <a:gd name="T88" fmla="*/ 348 w 397"/>
                  <a:gd name="T89" fmla="*/ 108 h 133"/>
                  <a:gd name="T90" fmla="*/ 355 w 397"/>
                  <a:gd name="T91" fmla="*/ 25 h 133"/>
                  <a:gd name="T92" fmla="*/ 312 w 397"/>
                  <a:gd name="T93" fmla="*/ 16 h 133"/>
                  <a:gd name="T94" fmla="*/ 85 w 397"/>
                  <a:gd name="T95" fmla="*/ 16 h 133"/>
                  <a:gd name="T96" fmla="*/ 42 w 397"/>
                  <a:gd name="T97" fmla="*/ 25 h 133"/>
                  <a:gd name="T98" fmla="*/ 51 w 397"/>
                  <a:gd name="T99" fmla="*/ 108 h 133"/>
                  <a:gd name="T100" fmla="*/ 101 w 397"/>
                  <a:gd name="T101" fmla="*/ 120 h 133"/>
                  <a:gd name="T102" fmla="*/ 141 w 397"/>
                  <a:gd name="T103" fmla="*/ 111 h 133"/>
                  <a:gd name="T104" fmla="*/ 168 w 397"/>
                  <a:gd name="T105" fmla="*/ 57 h 133"/>
                  <a:gd name="T106" fmla="*/ 166 w 397"/>
                  <a:gd name="T107" fmla="*/ 32 h 133"/>
                  <a:gd name="T108" fmla="*/ 85 w 397"/>
                  <a:gd name="T109" fmla="*/ 16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7" h="133">
                    <a:moveTo>
                      <a:pt x="296" y="133"/>
                    </a:moveTo>
                    <a:cubicBezTo>
                      <a:pt x="296" y="133"/>
                      <a:pt x="296" y="133"/>
                      <a:pt x="296" y="133"/>
                    </a:cubicBezTo>
                    <a:cubicBezTo>
                      <a:pt x="276" y="133"/>
                      <a:pt x="258" y="129"/>
                      <a:pt x="249" y="120"/>
                    </a:cubicBezTo>
                    <a:cubicBezTo>
                      <a:pt x="245" y="117"/>
                      <a:pt x="231" y="106"/>
                      <a:pt x="222" y="90"/>
                    </a:cubicBezTo>
                    <a:cubicBezTo>
                      <a:pt x="220" y="84"/>
                      <a:pt x="218" y="79"/>
                      <a:pt x="215" y="72"/>
                    </a:cubicBezTo>
                    <a:cubicBezTo>
                      <a:pt x="211" y="57"/>
                      <a:pt x="206" y="48"/>
                      <a:pt x="200" y="48"/>
                    </a:cubicBezTo>
                    <a:cubicBezTo>
                      <a:pt x="191" y="48"/>
                      <a:pt x="188" y="57"/>
                      <a:pt x="182" y="72"/>
                    </a:cubicBezTo>
                    <a:cubicBezTo>
                      <a:pt x="180" y="79"/>
                      <a:pt x="177" y="84"/>
                      <a:pt x="175" y="90"/>
                    </a:cubicBezTo>
                    <a:cubicBezTo>
                      <a:pt x="168" y="106"/>
                      <a:pt x="155" y="117"/>
                      <a:pt x="150" y="120"/>
                    </a:cubicBezTo>
                    <a:cubicBezTo>
                      <a:pt x="139" y="129"/>
                      <a:pt x="121" y="133"/>
                      <a:pt x="101" y="133"/>
                    </a:cubicBezTo>
                    <a:cubicBezTo>
                      <a:pt x="76" y="133"/>
                      <a:pt x="51" y="126"/>
                      <a:pt x="40" y="117"/>
                    </a:cubicBezTo>
                    <a:cubicBezTo>
                      <a:pt x="31" y="108"/>
                      <a:pt x="27" y="95"/>
                      <a:pt x="25" y="84"/>
                    </a:cubicBezTo>
                    <a:cubicBezTo>
                      <a:pt x="22" y="79"/>
                      <a:pt x="20" y="72"/>
                      <a:pt x="20" y="63"/>
                    </a:cubicBezTo>
                    <a:cubicBezTo>
                      <a:pt x="18" y="57"/>
                      <a:pt x="16" y="50"/>
                      <a:pt x="16" y="45"/>
                    </a:cubicBezTo>
                    <a:cubicBezTo>
                      <a:pt x="13" y="41"/>
                      <a:pt x="13" y="41"/>
                      <a:pt x="11" y="41"/>
                    </a:cubicBezTo>
                    <a:cubicBezTo>
                      <a:pt x="9" y="41"/>
                      <a:pt x="4" y="38"/>
                      <a:pt x="4" y="34"/>
                    </a:cubicBezTo>
                    <a:cubicBezTo>
                      <a:pt x="4" y="29"/>
                      <a:pt x="4" y="29"/>
                      <a:pt x="4" y="29"/>
                    </a:cubicBezTo>
                    <a:cubicBezTo>
                      <a:pt x="2" y="25"/>
                      <a:pt x="2" y="20"/>
                      <a:pt x="2" y="16"/>
                    </a:cubicBezTo>
                    <a:cubicBezTo>
                      <a:pt x="0" y="11"/>
                      <a:pt x="4" y="7"/>
                      <a:pt x="9" y="5"/>
                    </a:cubicBezTo>
                    <a:cubicBezTo>
                      <a:pt x="27" y="0"/>
                      <a:pt x="63" y="0"/>
                      <a:pt x="76" y="0"/>
                    </a:cubicBezTo>
                    <a:cubicBezTo>
                      <a:pt x="81" y="0"/>
                      <a:pt x="85" y="0"/>
                      <a:pt x="90" y="0"/>
                    </a:cubicBezTo>
                    <a:cubicBezTo>
                      <a:pt x="105" y="0"/>
                      <a:pt x="121" y="2"/>
                      <a:pt x="135" y="5"/>
                    </a:cubicBezTo>
                    <a:cubicBezTo>
                      <a:pt x="150" y="7"/>
                      <a:pt x="162" y="11"/>
                      <a:pt x="173" y="14"/>
                    </a:cubicBezTo>
                    <a:cubicBezTo>
                      <a:pt x="184" y="16"/>
                      <a:pt x="193" y="18"/>
                      <a:pt x="200" y="18"/>
                    </a:cubicBezTo>
                    <a:cubicBezTo>
                      <a:pt x="200" y="18"/>
                      <a:pt x="200" y="18"/>
                      <a:pt x="200" y="18"/>
                    </a:cubicBezTo>
                    <a:cubicBezTo>
                      <a:pt x="206" y="18"/>
                      <a:pt x="215" y="16"/>
                      <a:pt x="224" y="14"/>
                    </a:cubicBezTo>
                    <a:cubicBezTo>
                      <a:pt x="236" y="11"/>
                      <a:pt x="249" y="7"/>
                      <a:pt x="265" y="5"/>
                    </a:cubicBezTo>
                    <a:cubicBezTo>
                      <a:pt x="278" y="2"/>
                      <a:pt x="294" y="0"/>
                      <a:pt x="308" y="0"/>
                    </a:cubicBezTo>
                    <a:cubicBezTo>
                      <a:pt x="312" y="0"/>
                      <a:pt x="317" y="0"/>
                      <a:pt x="321" y="0"/>
                    </a:cubicBezTo>
                    <a:cubicBezTo>
                      <a:pt x="337" y="0"/>
                      <a:pt x="373" y="0"/>
                      <a:pt x="391" y="5"/>
                    </a:cubicBezTo>
                    <a:cubicBezTo>
                      <a:pt x="395" y="7"/>
                      <a:pt x="397" y="11"/>
                      <a:pt x="397" y="16"/>
                    </a:cubicBezTo>
                    <a:cubicBezTo>
                      <a:pt x="397" y="20"/>
                      <a:pt x="395" y="25"/>
                      <a:pt x="395" y="29"/>
                    </a:cubicBezTo>
                    <a:cubicBezTo>
                      <a:pt x="395" y="34"/>
                      <a:pt x="395" y="34"/>
                      <a:pt x="395" y="34"/>
                    </a:cubicBezTo>
                    <a:cubicBezTo>
                      <a:pt x="393" y="38"/>
                      <a:pt x="391" y="41"/>
                      <a:pt x="386" y="41"/>
                    </a:cubicBezTo>
                    <a:cubicBezTo>
                      <a:pt x="386" y="41"/>
                      <a:pt x="384" y="41"/>
                      <a:pt x="384" y="45"/>
                    </a:cubicBezTo>
                    <a:cubicBezTo>
                      <a:pt x="384" y="50"/>
                      <a:pt x="382" y="57"/>
                      <a:pt x="379" y="63"/>
                    </a:cubicBezTo>
                    <a:cubicBezTo>
                      <a:pt x="377" y="72"/>
                      <a:pt x="375" y="79"/>
                      <a:pt x="375" y="84"/>
                    </a:cubicBezTo>
                    <a:cubicBezTo>
                      <a:pt x="373" y="95"/>
                      <a:pt x="368" y="108"/>
                      <a:pt x="359" y="117"/>
                    </a:cubicBezTo>
                    <a:cubicBezTo>
                      <a:pt x="346" y="126"/>
                      <a:pt x="321" y="133"/>
                      <a:pt x="296" y="133"/>
                    </a:cubicBezTo>
                    <a:close/>
                    <a:moveTo>
                      <a:pt x="312" y="16"/>
                    </a:moveTo>
                    <a:cubicBezTo>
                      <a:pt x="278" y="16"/>
                      <a:pt x="240" y="23"/>
                      <a:pt x="233" y="32"/>
                    </a:cubicBezTo>
                    <a:cubicBezTo>
                      <a:pt x="229" y="36"/>
                      <a:pt x="229" y="45"/>
                      <a:pt x="229" y="57"/>
                    </a:cubicBezTo>
                    <a:cubicBezTo>
                      <a:pt x="233" y="75"/>
                      <a:pt x="242" y="99"/>
                      <a:pt x="258" y="111"/>
                    </a:cubicBezTo>
                    <a:cubicBezTo>
                      <a:pt x="267" y="117"/>
                      <a:pt x="281" y="120"/>
                      <a:pt x="296" y="120"/>
                    </a:cubicBezTo>
                    <a:cubicBezTo>
                      <a:pt x="317" y="120"/>
                      <a:pt x="339" y="115"/>
                      <a:pt x="348" y="108"/>
                    </a:cubicBezTo>
                    <a:cubicBezTo>
                      <a:pt x="364" y="95"/>
                      <a:pt x="366" y="43"/>
                      <a:pt x="355" y="25"/>
                    </a:cubicBezTo>
                    <a:cubicBezTo>
                      <a:pt x="352" y="20"/>
                      <a:pt x="339" y="16"/>
                      <a:pt x="312" y="16"/>
                    </a:cubicBezTo>
                    <a:close/>
                    <a:moveTo>
                      <a:pt x="85" y="16"/>
                    </a:moveTo>
                    <a:cubicBezTo>
                      <a:pt x="58" y="16"/>
                      <a:pt x="47" y="20"/>
                      <a:pt x="42" y="25"/>
                    </a:cubicBezTo>
                    <a:cubicBezTo>
                      <a:pt x="31" y="43"/>
                      <a:pt x="36" y="95"/>
                      <a:pt x="51" y="108"/>
                    </a:cubicBezTo>
                    <a:cubicBezTo>
                      <a:pt x="60" y="115"/>
                      <a:pt x="81" y="120"/>
                      <a:pt x="101" y="120"/>
                    </a:cubicBezTo>
                    <a:cubicBezTo>
                      <a:pt x="119" y="120"/>
                      <a:pt x="132" y="117"/>
                      <a:pt x="141" y="111"/>
                    </a:cubicBezTo>
                    <a:cubicBezTo>
                      <a:pt x="155" y="99"/>
                      <a:pt x="166" y="75"/>
                      <a:pt x="168" y="57"/>
                    </a:cubicBezTo>
                    <a:cubicBezTo>
                      <a:pt x="171" y="45"/>
                      <a:pt x="168" y="36"/>
                      <a:pt x="166" y="32"/>
                    </a:cubicBezTo>
                    <a:cubicBezTo>
                      <a:pt x="159" y="23"/>
                      <a:pt x="121" y="16"/>
                      <a:pt x="85" y="16"/>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1" name="Freeform 2105">
                <a:extLst>
                  <a:ext uri="{FF2B5EF4-FFF2-40B4-BE49-F238E27FC236}">
                    <a16:creationId xmlns:a16="http://schemas.microsoft.com/office/drawing/2014/main" id="{E9358F26-E0E7-04FB-9F03-62EBE48B4DE6}"/>
                  </a:ext>
                </a:extLst>
              </p:cNvPr>
              <p:cNvSpPr>
                <a:spLocks/>
              </p:cNvSpPr>
              <p:nvPr/>
            </p:nvSpPr>
            <p:spPr bwMode="gray">
              <a:xfrm>
                <a:off x="4666840" y="5980142"/>
                <a:ext cx="194503" cy="98869"/>
              </a:xfrm>
              <a:custGeom>
                <a:avLst/>
                <a:gdLst>
                  <a:gd name="T0" fmla="*/ 8660 w 8660"/>
                  <a:gd name="T1" fmla="*/ 4402 h 4402"/>
                  <a:gd name="T2" fmla="*/ 0 w 8660"/>
                  <a:gd name="T3" fmla="*/ 4402 h 4402"/>
                  <a:gd name="T4" fmla="*/ 0 w 8660"/>
                  <a:gd name="T5" fmla="*/ 4153 h 4402"/>
                  <a:gd name="T6" fmla="*/ 1455 w 8660"/>
                  <a:gd name="T7" fmla="*/ 0 h 4402"/>
                  <a:gd name="T8" fmla="*/ 6708 w 8660"/>
                  <a:gd name="T9" fmla="*/ 0 h 4402"/>
                  <a:gd name="T10" fmla="*/ 8660 w 8660"/>
                  <a:gd name="T11" fmla="*/ 4402 h 4402"/>
                  <a:gd name="T12" fmla="*/ 8660 w 8660"/>
                  <a:gd name="T13" fmla="*/ 4402 h 4402"/>
                  <a:gd name="T14" fmla="*/ 8660 w 8660"/>
                  <a:gd name="T15" fmla="*/ 4402 h 44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60" h="4402">
                    <a:moveTo>
                      <a:pt x="8660" y="4402"/>
                    </a:moveTo>
                    <a:lnTo>
                      <a:pt x="0" y="4402"/>
                    </a:lnTo>
                    <a:lnTo>
                      <a:pt x="0" y="4153"/>
                    </a:lnTo>
                    <a:lnTo>
                      <a:pt x="1455" y="0"/>
                    </a:lnTo>
                    <a:lnTo>
                      <a:pt x="6708" y="0"/>
                    </a:lnTo>
                    <a:lnTo>
                      <a:pt x="8660" y="4402"/>
                    </a:lnTo>
                    <a:lnTo>
                      <a:pt x="8660" y="4402"/>
                    </a:lnTo>
                    <a:lnTo>
                      <a:pt x="8660" y="4402"/>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2" name="Freeform 2106">
                <a:extLst>
                  <a:ext uri="{FF2B5EF4-FFF2-40B4-BE49-F238E27FC236}">
                    <a16:creationId xmlns:a16="http://schemas.microsoft.com/office/drawing/2014/main" id="{0B60202E-6F7B-6881-3D4B-D2BF167C1E51}"/>
                  </a:ext>
                </a:extLst>
              </p:cNvPr>
              <p:cNvSpPr>
                <a:spLocks/>
              </p:cNvSpPr>
              <p:nvPr/>
            </p:nvSpPr>
            <p:spPr bwMode="gray">
              <a:xfrm>
                <a:off x="4452437" y="5980142"/>
                <a:ext cx="194480" cy="98869"/>
              </a:xfrm>
              <a:custGeom>
                <a:avLst/>
                <a:gdLst>
                  <a:gd name="T0" fmla="*/ 8659 w 8659"/>
                  <a:gd name="T1" fmla="*/ 4153 h 4402"/>
                  <a:gd name="T2" fmla="*/ 8659 w 8659"/>
                  <a:gd name="T3" fmla="*/ 4402 h 4402"/>
                  <a:gd name="T4" fmla="*/ 0 w 8659"/>
                  <a:gd name="T5" fmla="*/ 4402 h 4402"/>
                  <a:gd name="T6" fmla="*/ 1952 w 8659"/>
                  <a:gd name="T7" fmla="*/ 0 h 4402"/>
                  <a:gd name="T8" fmla="*/ 7133 w 8659"/>
                  <a:gd name="T9" fmla="*/ 0 h 4402"/>
                  <a:gd name="T10" fmla="*/ 8659 w 8659"/>
                  <a:gd name="T11" fmla="*/ 4153 h 4402"/>
                  <a:gd name="T12" fmla="*/ 8659 w 8659"/>
                  <a:gd name="T13" fmla="*/ 4153 h 4402"/>
                  <a:gd name="T14" fmla="*/ 8659 w 8659"/>
                  <a:gd name="T15" fmla="*/ 4153 h 44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59" h="4402">
                    <a:moveTo>
                      <a:pt x="8659" y="4153"/>
                    </a:moveTo>
                    <a:lnTo>
                      <a:pt x="8659" y="4402"/>
                    </a:lnTo>
                    <a:lnTo>
                      <a:pt x="0" y="4402"/>
                    </a:lnTo>
                    <a:lnTo>
                      <a:pt x="1952" y="0"/>
                    </a:lnTo>
                    <a:lnTo>
                      <a:pt x="7133" y="0"/>
                    </a:lnTo>
                    <a:lnTo>
                      <a:pt x="8659" y="4153"/>
                    </a:lnTo>
                    <a:lnTo>
                      <a:pt x="8659" y="4153"/>
                    </a:lnTo>
                    <a:lnTo>
                      <a:pt x="8659" y="415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3" name="Freeform 2107">
                <a:extLst>
                  <a:ext uri="{FF2B5EF4-FFF2-40B4-BE49-F238E27FC236}">
                    <a16:creationId xmlns:a16="http://schemas.microsoft.com/office/drawing/2014/main" id="{CD57286C-4146-FC23-0DD9-B10861727B05}"/>
                  </a:ext>
                </a:extLst>
              </p:cNvPr>
              <p:cNvSpPr>
                <a:spLocks/>
              </p:cNvSpPr>
              <p:nvPr/>
            </p:nvSpPr>
            <p:spPr bwMode="gray">
              <a:xfrm>
                <a:off x="4377511" y="4097890"/>
                <a:ext cx="559544" cy="949493"/>
              </a:xfrm>
              <a:custGeom>
                <a:avLst/>
                <a:gdLst>
                  <a:gd name="T0" fmla="*/ 24026 w 24913"/>
                  <a:gd name="T1" fmla="*/ 24811 h 42275"/>
                  <a:gd name="T2" fmla="*/ 24878 w 24913"/>
                  <a:gd name="T3" fmla="*/ 12459 h 42275"/>
                  <a:gd name="T4" fmla="*/ 24203 w 24913"/>
                  <a:gd name="T5" fmla="*/ 12423 h 42275"/>
                  <a:gd name="T6" fmla="*/ 23316 w 24913"/>
                  <a:gd name="T7" fmla="*/ 24811 h 42275"/>
                  <a:gd name="T8" fmla="*/ 24203 w 24913"/>
                  <a:gd name="T9" fmla="*/ 40571 h 42275"/>
                  <a:gd name="T10" fmla="*/ 23529 w 24913"/>
                  <a:gd name="T11" fmla="*/ 41565 h 42275"/>
                  <a:gd name="T12" fmla="*/ 16076 w 24913"/>
                  <a:gd name="T13" fmla="*/ 40500 h 42275"/>
                  <a:gd name="T14" fmla="*/ 12811 w 24913"/>
                  <a:gd name="T15" fmla="*/ 32620 h 42275"/>
                  <a:gd name="T16" fmla="*/ 12811 w 24913"/>
                  <a:gd name="T17" fmla="*/ 23995 h 42275"/>
                  <a:gd name="T18" fmla="*/ 12811 w 24913"/>
                  <a:gd name="T19" fmla="*/ 23995 h 42275"/>
                  <a:gd name="T20" fmla="*/ 17780 w 24913"/>
                  <a:gd name="T21" fmla="*/ 11997 h 42275"/>
                  <a:gd name="T22" fmla="*/ 21471 w 24913"/>
                  <a:gd name="T23" fmla="*/ 2129 h 42275"/>
                  <a:gd name="T24" fmla="*/ 20654 w 24913"/>
                  <a:gd name="T25" fmla="*/ 852 h 42275"/>
                  <a:gd name="T26" fmla="*/ 21435 w 24913"/>
                  <a:gd name="T27" fmla="*/ 674 h 42275"/>
                  <a:gd name="T28" fmla="*/ 21329 w 24913"/>
                  <a:gd name="T29" fmla="*/ 0 h 42275"/>
                  <a:gd name="T30" fmla="*/ 19483 w 24913"/>
                  <a:gd name="T31" fmla="*/ 284 h 42275"/>
                  <a:gd name="T32" fmla="*/ 20690 w 24913"/>
                  <a:gd name="T33" fmla="*/ 2200 h 42275"/>
                  <a:gd name="T34" fmla="*/ 17177 w 24913"/>
                  <a:gd name="T35" fmla="*/ 11749 h 42275"/>
                  <a:gd name="T36" fmla="*/ 12457 w 24913"/>
                  <a:gd name="T37" fmla="*/ 23072 h 42275"/>
                  <a:gd name="T38" fmla="*/ 4223 w 24913"/>
                  <a:gd name="T39" fmla="*/ 2200 h 42275"/>
                  <a:gd name="T40" fmla="*/ 5394 w 24913"/>
                  <a:gd name="T41" fmla="*/ 284 h 42275"/>
                  <a:gd name="T42" fmla="*/ 3549 w 24913"/>
                  <a:gd name="T43" fmla="*/ 0 h 42275"/>
                  <a:gd name="T44" fmla="*/ 3443 w 24913"/>
                  <a:gd name="T45" fmla="*/ 674 h 42275"/>
                  <a:gd name="T46" fmla="*/ 4259 w 24913"/>
                  <a:gd name="T47" fmla="*/ 852 h 42275"/>
                  <a:gd name="T48" fmla="*/ 3407 w 24913"/>
                  <a:gd name="T49" fmla="*/ 2129 h 42275"/>
                  <a:gd name="T50" fmla="*/ 12102 w 24913"/>
                  <a:gd name="T51" fmla="*/ 24101 h 42275"/>
                  <a:gd name="T52" fmla="*/ 12102 w 24913"/>
                  <a:gd name="T53" fmla="*/ 24066 h 42275"/>
                  <a:gd name="T54" fmla="*/ 12102 w 24913"/>
                  <a:gd name="T55" fmla="*/ 32585 h 42275"/>
                  <a:gd name="T56" fmla="*/ 8801 w 24913"/>
                  <a:gd name="T57" fmla="*/ 40500 h 42275"/>
                  <a:gd name="T58" fmla="*/ 1384 w 24913"/>
                  <a:gd name="T59" fmla="*/ 41565 h 42275"/>
                  <a:gd name="T60" fmla="*/ 710 w 24913"/>
                  <a:gd name="T61" fmla="*/ 40571 h 42275"/>
                  <a:gd name="T62" fmla="*/ 923 w 24913"/>
                  <a:gd name="T63" fmla="*/ 36383 h 42275"/>
                  <a:gd name="T64" fmla="*/ 1562 w 24913"/>
                  <a:gd name="T65" fmla="*/ 24811 h 42275"/>
                  <a:gd name="T66" fmla="*/ 1562 w 24913"/>
                  <a:gd name="T67" fmla="*/ 24811 h 42275"/>
                  <a:gd name="T68" fmla="*/ 710 w 24913"/>
                  <a:gd name="T69" fmla="*/ 12423 h 42275"/>
                  <a:gd name="T70" fmla="*/ 0 w 24913"/>
                  <a:gd name="T71" fmla="*/ 12459 h 42275"/>
                  <a:gd name="T72" fmla="*/ 852 w 24913"/>
                  <a:gd name="T73" fmla="*/ 24811 h 42275"/>
                  <a:gd name="T74" fmla="*/ 213 w 24913"/>
                  <a:gd name="T75" fmla="*/ 36312 h 42275"/>
                  <a:gd name="T76" fmla="*/ 0 w 24913"/>
                  <a:gd name="T77" fmla="*/ 40749 h 42275"/>
                  <a:gd name="T78" fmla="*/ 1065 w 24913"/>
                  <a:gd name="T79" fmla="*/ 42275 h 42275"/>
                  <a:gd name="T80" fmla="*/ 9263 w 24913"/>
                  <a:gd name="T81" fmla="*/ 41139 h 42275"/>
                  <a:gd name="T82" fmla="*/ 12457 w 24913"/>
                  <a:gd name="T83" fmla="*/ 33543 h 42275"/>
                  <a:gd name="T84" fmla="*/ 15615 w 24913"/>
                  <a:gd name="T85" fmla="*/ 41139 h 42275"/>
                  <a:gd name="T86" fmla="*/ 23848 w 24913"/>
                  <a:gd name="T87" fmla="*/ 42275 h 42275"/>
                  <a:gd name="T88" fmla="*/ 24913 w 24913"/>
                  <a:gd name="T89" fmla="*/ 40749 h 42275"/>
                  <a:gd name="T90" fmla="*/ 24026 w 24913"/>
                  <a:gd name="T91" fmla="*/ 24811 h 42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913" h="42275">
                    <a:moveTo>
                      <a:pt x="24026" y="24811"/>
                    </a:moveTo>
                    <a:lnTo>
                      <a:pt x="24878" y="12459"/>
                    </a:lnTo>
                    <a:lnTo>
                      <a:pt x="24203" y="12423"/>
                    </a:lnTo>
                    <a:lnTo>
                      <a:pt x="23316" y="24811"/>
                    </a:lnTo>
                    <a:lnTo>
                      <a:pt x="24203" y="40571"/>
                    </a:lnTo>
                    <a:lnTo>
                      <a:pt x="23529" y="41565"/>
                    </a:lnTo>
                    <a:lnTo>
                      <a:pt x="16076" y="40500"/>
                    </a:lnTo>
                    <a:lnTo>
                      <a:pt x="12811" y="32620"/>
                    </a:lnTo>
                    <a:lnTo>
                      <a:pt x="12811" y="23995"/>
                    </a:lnTo>
                    <a:lnTo>
                      <a:pt x="12811" y="23995"/>
                    </a:lnTo>
                    <a:lnTo>
                      <a:pt x="17780" y="11997"/>
                    </a:lnTo>
                    <a:lnTo>
                      <a:pt x="21471" y="2129"/>
                    </a:lnTo>
                    <a:lnTo>
                      <a:pt x="20654" y="852"/>
                    </a:lnTo>
                    <a:lnTo>
                      <a:pt x="21435" y="674"/>
                    </a:lnTo>
                    <a:lnTo>
                      <a:pt x="21329" y="0"/>
                    </a:lnTo>
                    <a:lnTo>
                      <a:pt x="19483" y="284"/>
                    </a:lnTo>
                    <a:lnTo>
                      <a:pt x="20690" y="2200"/>
                    </a:lnTo>
                    <a:lnTo>
                      <a:pt x="17177" y="11749"/>
                    </a:lnTo>
                    <a:lnTo>
                      <a:pt x="12457" y="23072"/>
                    </a:lnTo>
                    <a:lnTo>
                      <a:pt x="4223" y="2200"/>
                    </a:lnTo>
                    <a:lnTo>
                      <a:pt x="5394" y="284"/>
                    </a:lnTo>
                    <a:lnTo>
                      <a:pt x="3549" y="0"/>
                    </a:lnTo>
                    <a:lnTo>
                      <a:pt x="3443" y="674"/>
                    </a:lnTo>
                    <a:lnTo>
                      <a:pt x="4259" y="852"/>
                    </a:lnTo>
                    <a:lnTo>
                      <a:pt x="3407" y="2129"/>
                    </a:lnTo>
                    <a:lnTo>
                      <a:pt x="12102" y="24101"/>
                    </a:lnTo>
                    <a:lnTo>
                      <a:pt x="12102" y="24066"/>
                    </a:lnTo>
                    <a:lnTo>
                      <a:pt x="12102" y="32585"/>
                    </a:lnTo>
                    <a:lnTo>
                      <a:pt x="8801" y="40500"/>
                    </a:lnTo>
                    <a:lnTo>
                      <a:pt x="1384" y="41565"/>
                    </a:lnTo>
                    <a:lnTo>
                      <a:pt x="710" y="40571"/>
                    </a:lnTo>
                    <a:lnTo>
                      <a:pt x="923" y="36383"/>
                    </a:lnTo>
                    <a:lnTo>
                      <a:pt x="1562" y="24811"/>
                    </a:lnTo>
                    <a:lnTo>
                      <a:pt x="1562" y="24811"/>
                    </a:lnTo>
                    <a:lnTo>
                      <a:pt x="710" y="12423"/>
                    </a:lnTo>
                    <a:lnTo>
                      <a:pt x="0" y="12459"/>
                    </a:lnTo>
                    <a:lnTo>
                      <a:pt x="852" y="24811"/>
                    </a:lnTo>
                    <a:lnTo>
                      <a:pt x="213" y="36312"/>
                    </a:lnTo>
                    <a:lnTo>
                      <a:pt x="0" y="40749"/>
                    </a:lnTo>
                    <a:lnTo>
                      <a:pt x="1065" y="42275"/>
                    </a:lnTo>
                    <a:lnTo>
                      <a:pt x="9263" y="41139"/>
                    </a:lnTo>
                    <a:lnTo>
                      <a:pt x="12457" y="33543"/>
                    </a:lnTo>
                    <a:lnTo>
                      <a:pt x="15615" y="41139"/>
                    </a:lnTo>
                    <a:lnTo>
                      <a:pt x="23848" y="42275"/>
                    </a:lnTo>
                    <a:lnTo>
                      <a:pt x="24913" y="40749"/>
                    </a:lnTo>
                    <a:lnTo>
                      <a:pt x="24026" y="24811"/>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4" name="Freeform 2108">
                <a:extLst>
                  <a:ext uri="{FF2B5EF4-FFF2-40B4-BE49-F238E27FC236}">
                    <a16:creationId xmlns:a16="http://schemas.microsoft.com/office/drawing/2014/main" id="{00AB7816-0763-2225-75A6-6F8008F6F11D}"/>
                  </a:ext>
                </a:extLst>
              </p:cNvPr>
              <p:cNvSpPr>
                <a:spLocks/>
              </p:cNvSpPr>
              <p:nvPr/>
            </p:nvSpPr>
            <p:spPr bwMode="gray">
              <a:xfrm>
                <a:off x="4799173" y="4368150"/>
                <a:ext cx="92445" cy="15947"/>
              </a:xfrm>
              <a:custGeom>
                <a:avLst/>
                <a:gdLst>
                  <a:gd name="T0" fmla="*/ 0 w 4116"/>
                  <a:gd name="T1" fmla="*/ 0 h 710"/>
                  <a:gd name="T2" fmla="*/ 4116 w 4116"/>
                  <a:gd name="T3" fmla="*/ 0 h 710"/>
                  <a:gd name="T4" fmla="*/ 4116 w 4116"/>
                  <a:gd name="T5" fmla="*/ 710 h 710"/>
                  <a:gd name="T6" fmla="*/ 0 w 4116"/>
                  <a:gd name="T7" fmla="*/ 710 h 710"/>
                  <a:gd name="T8" fmla="*/ 0 w 4116"/>
                  <a:gd name="T9" fmla="*/ 0 h 710"/>
                  <a:gd name="T10" fmla="*/ 0 w 4116"/>
                  <a:gd name="T11" fmla="*/ 0 h 710"/>
                </a:gdLst>
                <a:ahLst/>
                <a:cxnLst>
                  <a:cxn ang="0">
                    <a:pos x="T0" y="T1"/>
                  </a:cxn>
                  <a:cxn ang="0">
                    <a:pos x="T2" y="T3"/>
                  </a:cxn>
                  <a:cxn ang="0">
                    <a:pos x="T4" y="T5"/>
                  </a:cxn>
                  <a:cxn ang="0">
                    <a:pos x="T6" y="T7"/>
                  </a:cxn>
                  <a:cxn ang="0">
                    <a:pos x="T8" y="T9"/>
                  </a:cxn>
                  <a:cxn ang="0">
                    <a:pos x="T10" y="T11"/>
                  </a:cxn>
                </a:cxnLst>
                <a:rect l="0" t="0" r="r" b="b"/>
                <a:pathLst>
                  <a:path w="4116" h="710">
                    <a:moveTo>
                      <a:pt x="0" y="0"/>
                    </a:moveTo>
                    <a:lnTo>
                      <a:pt x="4116" y="0"/>
                    </a:lnTo>
                    <a:lnTo>
                      <a:pt x="4116" y="710"/>
                    </a:lnTo>
                    <a:lnTo>
                      <a:pt x="0" y="71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5" name="Freeform 2109">
                <a:extLst>
                  <a:ext uri="{FF2B5EF4-FFF2-40B4-BE49-F238E27FC236}">
                    <a16:creationId xmlns:a16="http://schemas.microsoft.com/office/drawing/2014/main" id="{EB831E8E-696B-F073-5E0E-26E392C281DA}"/>
                  </a:ext>
                </a:extLst>
              </p:cNvPr>
              <p:cNvSpPr>
                <a:spLocks/>
              </p:cNvSpPr>
              <p:nvPr/>
            </p:nvSpPr>
            <p:spPr bwMode="gray">
              <a:xfrm>
                <a:off x="4808719" y="4364152"/>
                <a:ext cx="19944" cy="39080"/>
              </a:xfrm>
              <a:custGeom>
                <a:avLst/>
                <a:gdLst>
                  <a:gd name="T0" fmla="*/ 0 w 888"/>
                  <a:gd name="T1" fmla="*/ 0 h 1740"/>
                  <a:gd name="T2" fmla="*/ 888 w 888"/>
                  <a:gd name="T3" fmla="*/ 0 h 1740"/>
                  <a:gd name="T4" fmla="*/ 888 w 888"/>
                  <a:gd name="T5" fmla="*/ 1740 h 1740"/>
                  <a:gd name="T6" fmla="*/ 0 w 888"/>
                  <a:gd name="T7" fmla="*/ 1740 h 1740"/>
                  <a:gd name="T8" fmla="*/ 0 w 888"/>
                  <a:gd name="T9" fmla="*/ 0 h 1740"/>
                  <a:gd name="T10" fmla="*/ 0 w 888"/>
                  <a:gd name="T11" fmla="*/ 0 h 1740"/>
                  <a:gd name="T12" fmla="*/ 0 w 888"/>
                  <a:gd name="T13" fmla="*/ 0 h 1740"/>
                  <a:gd name="T14" fmla="*/ 0 w 888"/>
                  <a:gd name="T15" fmla="*/ 0 h 1740"/>
                  <a:gd name="T16" fmla="*/ 0 w 888"/>
                  <a:gd name="T17" fmla="*/ 0 h 1740"/>
                  <a:gd name="T18" fmla="*/ 0 w 888"/>
                  <a:gd name="T19" fmla="*/ 0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8" h="1740">
                    <a:moveTo>
                      <a:pt x="0" y="0"/>
                    </a:moveTo>
                    <a:lnTo>
                      <a:pt x="888" y="0"/>
                    </a:lnTo>
                    <a:lnTo>
                      <a:pt x="888" y="1740"/>
                    </a:lnTo>
                    <a:lnTo>
                      <a:pt x="0" y="1740"/>
                    </a:lnTo>
                    <a:lnTo>
                      <a:pt x="0" y="0"/>
                    </a:lnTo>
                    <a:lnTo>
                      <a:pt x="0" y="0"/>
                    </a:lnTo>
                    <a:lnTo>
                      <a:pt x="0" y="0"/>
                    </a:lnTo>
                    <a:lnTo>
                      <a:pt x="0" y="0"/>
                    </a:lnTo>
                    <a:lnTo>
                      <a:pt x="0" y="0"/>
                    </a:lnTo>
                    <a:lnTo>
                      <a:pt x="0" y="0"/>
                    </a:lnTo>
                    <a:close/>
                  </a:path>
                </a:pathLst>
              </a:custGeom>
              <a:solidFill>
                <a:srgbClr val="9BAF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6" name="Freeform 2110">
                <a:extLst>
                  <a:ext uri="{FF2B5EF4-FFF2-40B4-BE49-F238E27FC236}">
                    <a16:creationId xmlns:a16="http://schemas.microsoft.com/office/drawing/2014/main" id="{66065EE2-FA4A-E07C-BFDF-BDAB0270AD24}"/>
                  </a:ext>
                </a:extLst>
              </p:cNvPr>
              <p:cNvSpPr>
                <a:spLocks/>
              </p:cNvSpPr>
              <p:nvPr/>
            </p:nvSpPr>
            <p:spPr bwMode="gray">
              <a:xfrm>
                <a:off x="4737790" y="4403232"/>
                <a:ext cx="161801" cy="103630"/>
              </a:xfrm>
              <a:custGeom>
                <a:avLst/>
                <a:gdLst>
                  <a:gd name="T0" fmla="*/ 0 w 7204"/>
                  <a:gd name="T1" fmla="*/ 0 h 4614"/>
                  <a:gd name="T2" fmla="*/ 7204 w 7204"/>
                  <a:gd name="T3" fmla="*/ 0 h 4614"/>
                  <a:gd name="T4" fmla="*/ 7204 w 7204"/>
                  <a:gd name="T5" fmla="*/ 4614 h 4614"/>
                  <a:gd name="T6" fmla="*/ 0 w 7204"/>
                  <a:gd name="T7" fmla="*/ 4614 h 4614"/>
                  <a:gd name="T8" fmla="*/ 0 w 7204"/>
                  <a:gd name="T9" fmla="*/ 0 h 4614"/>
                  <a:gd name="T10" fmla="*/ 0 w 7204"/>
                  <a:gd name="T11" fmla="*/ 0 h 4614"/>
                  <a:gd name="T12" fmla="*/ 0 w 7204"/>
                  <a:gd name="T13" fmla="*/ 0 h 4614"/>
                  <a:gd name="T14" fmla="*/ 0 w 7204"/>
                  <a:gd name="T15" fmla="*/ 0 h 4614"/>
                  <a:gd name="T16" fmla="*/ 0 w 7204"/>
                  <a:gd name="T17" fmla="*/ 0 h 4614"/>
                  <a:gd name="T18" fmla="*/ 0 w 7204"/>
                  <a:gd name="T19" fmla="*/ 0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04" h="4614">
                    <a:moveTo>
                      <a:pt x="0" y="0"/>
                    </a:moveTo>
                    <a:lnTo>
                      <a:pt x="7204" y="0"/>
                    </a:lnTo>
                    <a:lnTo>
                      <a:pt x="7204" y="4614"/>
                    </a:lnTo>
                    <a:lnTo>
                      <a:pt x="0" y="4614"/>
                    </a:lnTo>
                    <a:lnTo>
                      <a:pt x="0" y="0"/>
                    </a:lnTo>
                    <a:lnTo>
                      <a:pt x="0" y="0"/>
                    </a:lnTo>
                    <a:lnTo>
                      <a:pt x="0" y="0"/>
                    </a:lnTo>
                    <a:lnTo>
                      <a:pt x="0" y="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7" name="Freeform 2111">
                <a:extLst>
                  <a:ext uri="{FF2B5EF4-FFF2-40B4-BE49-F238E27FC236}">
                    <a16:creationId xmlns:a16="http://schemas.microsoft.com/office/drawing/2014/main" id="{92E16141-981F-76BC-BCAA-59B3728AFA77}"/>
                  </a:ext>
                </a:extLst>
              </p:cNvPr>
              <p:cNvSpPr>
                <a:spLocks/>
              </p:cNvSpPr>
              <p:nvPr/>
            </p:nvSpPr>
            <p:spPr bwMode="gray">
              <a:xfrm>
                <a:off x="4798365" y="4414373"/>
                <a:ext cx="70928" cy="19944"/>
              </a:xfrm>
              <a:custGeom>
                <a:avLst/>
                <a:gdLst>
                  <a:gd name="T0" fmla="*/ 0 w 3158"/>
                  <a:gd name="T1" fmla="*/ 0 h 888"/>
                  <a:gd name="T2" fmla="*/ 3158 w 3158"/>
                  <a:gd name="T3" fmla="*/ 0 h 888"/>
                  <a:gd name="T4" fmla="*/ 3158 w 3158"/>
                  <a:gd name="T5" fmla="*/ 888 h 888"/>
                  <a:gd name="T6" fmla="*/ 0 w 3158"/>
                  <a:gd name="T7" fmla="*/ 888 h 888"/>
                  <a:gd name="T8" fmla="*/ 0 w 3158"/>
                  <a:gd name="T9" fmla="*/ 0 h 888"/>
                  <a:gd name="T10" fmla="*/ 0 w 3158"/>
                  <a:gd name="T11" fmla="*/ 0 h 888"/>
                  <a:gd name="T12" fmla="*/ 0 w 3158"/>
                  <a:gd name="T13" fmla="*/ 0 h 888"/>
                  <a:gd name="T14" fmla="*/ 0 w 3158"/>
                  <a:gd name="T15" fmla="*/ 0 h 888"/>
                  <a:gd name="T16" fmla="*/ 0 w 3158"/>
                  <a:gd name="T17" fmla="*/ 0 h 888"/>
                  <a:gd name="T18" fmla="*/ 0 w 315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58" h="888">
                    <a:moveTo>
                      <a:pt x="0" y="0"/>
                    </a:moveTo>
                    <a:lnTo>
                      <a:pt x="3158" y="0"/>
                    </a:lnTo>
                    <a:lnTo>
                      <a:pt x="3158" y="888"/>
                    </a:lnTo>
                    <a:lnTo>
                      <a:pt x="0" y="888"/>
                    </a:lnTo>
                    <a:lnTo>
                      <a:pt x="0" y="0"/>
                    </a:lnTo>
                    <a:lnTo>
                      <a:pt x="0" y="0"/>
                    </a:lnTo>
                    <a:lnTo>
                      <a:pt x="0" y="0"/>
                    </a:lnTo>
                    <a:lnTo>
                      <a:pt x="0" y="0"/>
                    </a:lnTo>
                    <a:lnTo>
                      <a:pt x="0" y="0"/>
                    </a:lnTo>
                    <a:lnTo>
                      <a:pt x="0" y="0"/>
                    </a:lnTo>
                    <a:close/>
                  </a:path>
                </a:pathLst>
              </a:custGeom>
              <a:solidFill>
                <a:srgbClr val="4B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sp>
            <p:nvSpPr>
              <p:cNvPr id="228" name="Freeform 2112">
                <a:extLst>
                  <a:ext uri="{FF2B5EF4-FFF2-40B4-BE49-F238E27FC236}">
                    <a16:creationId xmlns:a16="http://schemas.microsoft.com/office/drawing/2014/main" id="{332A781C-6FDA-8D92-AD5B-867036CE6001}"/>
                  </a:ext>
                </a:extLst>
              </p:cNvPr>
              <p:cNvSpPr>
                <a:spLocks/>
              </p:cNvSpPr>
              <p:nvPr/>
            </p:nvSpPr>
            <p:spPr bwMode="gray">
              <a:xfrm>
                <a:off x="4817501" y="4441482"/>
                <a:ext cx="70142" cy="10376"/>
              </a:xfrm>
              <a:custGeom>
                <a:avLst/>
                <a:gdLst>
                  <a:gd name="T0" fmla="*/ 0 w 3123"/>
                  <a:gd name="T1" fmla="*/ 0 h 462"/>
                  <a:gd name="T2" fmla="*/ 3123 w 3123"/>
                  <a:gd name="T3" fmla="*/ 0 h 462"/>
                  <a:gd name="T4" fmla="*/ 3123 w 3123"/>
                  <a:gd name="T5" fmla="*/ 462 h 462"/>
                  <a:gd name="T6" fmla="*/ 0 w 3123"/>
                  <a:gd name="T7" fmla="*/ 462 h 462"/>
                  <a:gd name="T8" fmla="*/ 0 w 3123"/>
                  <a:gd name="T9" fmla="*/ 0 h 462"/>
                  <a:gd name="T10" fmla="*/ 0 w 3123"/>
                  <a:gd name="T11" fmla="*/ 0 h 462"/>
                  <a:gd name="T12" fmla="*/ 0 w 3123"/>
                  <a:gd name="T13" fmla="*/ 0 h 462"/>
                  <a:gd name="T14" fmla="*/ 0 w 3123"/>
                  <a:gd name="T15" fmla="*/ 0 h 462"/>
                  <a:gd name="T16" fmla="*/ 0 w 3123"/>
                  <a:gd name="T17" fmla="*/ 0 h 462"/>
                  <a:gd name="T18" fmla="*/ 0 w 3123"/>
                  <a:gd name="T19"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23" h="462">
                    <a:moveTo>
                      <a:pt x="0" y="0"/>
                    </a:moveTo>
                    <a:lnTo>
                      <a:pt x="3123" y="0"/>
                    </a:lnTo>
                    <a:lnTo>
                      <a:pt x="3123" y="462"/>
                    </a:lnTo>
                    <a:lnTo>
                      <a:pt x="0" y="462"/>
                    </a:lnTo>
                    <a:lnTo>
                      <a:pt x="0" y="0"/>
                    </a:lnTo>
                    <a:lnTo>
                      <a:pt x="0" y="0"/>
                    </a:lnTo>
                    <a:lnTo>
                      <a:pt x="0" y="0"/>
                    </a:lnTo>
                    <a:lnTo>
                      <a:pt x="0" y="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a:p>
            </p:txBody>
          </p:sp>
        </p:grpSp>
        <p:pic>
          <p:nvPicPr>
            <p:cNvPr id="230" name="Picture 229">
              <a:extLst>
                <a:ext uri="{FF2B5EF4-FFF2-40B4-BE49-F238E27FC236}">
                  <a16:creationId xmlns:a16="http://schemas.microsoft.com/office/drawing/2014/main" id="{1F63798D-E0B8-C785-FEDF-B8FCFD42D520}"/>
                </a:ext>
              </a:extLst>
            </p:cNvPr>
            <p:cNvPicPr>
              <a:picLocks noChangeAspect="1"/>
            </p:cNvPicPr>
            <p:nvPr/>
          </p:nvPicPr>
          <p:blipFill>
            <a:blip r:embed="rId7"/>
            <a:stretch>
              <a:fillRect/>
            </a:stretch>
          </p:blipFill>
          <p:spPr>
            <a:xfrm>
              <a:off x="9168742" y="2024651"/>
              <a:ext cx="2072352" cy="623430"/>
            </a:xfrm>
            <a:prstGeom prst="rect">
              <a:avLst/>
            </a:prstGeom>
          </p:spPr>
        </p:pic>
        <p:pic>
          <p:nvPicPr>
            <p:cNvPr id="233" name="Graphic 232" descr="Database with solid fill">
              <a:extLst>
                <a:ext uri="{FF2B5EF4-FFF2-40B4-BE49-F238E27FC236}">
                  <a16:creationId xmlns:a16="http://schemas.microsoft.com/office/drawing/2014/main" id="{0A32E805-19A2-D714-F5F8-B1DC6CE142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68214" y="3299364"/>
              <a:ext cx="836753" cy="727586"/>
            </a:xfrm>
            <a:prstGeom prst="rect">
              <a:avLst/>
            </a:prstGeom>
          </p:spPr>
        </p:pic>
        <p:pic>
          <p:nvPicPr>
            <p:cNvPr id="235" name="Graphic 234" descr="Syncing cloud outline">
              <a:extLst>
                <a:ext uri="{FF2B5EF4-FFF2-40B4-BE49-F238E27FC236}">
                  <a16:creationId xmlns:a16="http://schemas.microsoft.com/office/drawing/2014/main" id="{CBC33804-AB52-3BB4-F719-3B7D43959E3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688501" y="3139599"/>
              <a:ext cx="1001529" cy="1001529"/>
            </a:xfrm>
            <a:prstGeom prst="rect">
              <a:avLst/>
            </a:prstGeom>
          </p:spPr>
        </p:pic>
        <p:sp>
          <p:nvSpPr>
            <p:cNvPr id="239" name="Arrow: Up-Down 238">
              <a:extLst>
                <a:ext uri="{FF2B5EF4-FFF2-40B4-BE49-F238E27FC236}">
                  <a16:creationId xmlns:a16="http://schemas.microsoft.com/office/drawing/2014/main" id="{248F79E8-8DF7-DDE1-F14E-145B8A0A278B}"/>
                </a:ext>
              </a:extLst>
            </p:cNvPr>
            <p:cNvSpPr/>
            <p:nvPr/>
          </p:nvSpPr>
          <p:spPr>
            <a:xfrm>
              <a:off x="9692302" y="2642816"/>
              <a:ext cx="222606" cy="518000"/>
            </a:xfrm>
            <a:prstGeom prst="upDownArrow">
              <a:avLst/>
            </a:prstGeom>
            <a:solidFill>
              <a:srgbClr val="00D7A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240" name="Title 1">
              <a:extLst>
                <a:ext uri="{FF2B5EF4-FFF2-40B4-BE49-F238E27FC236}">
                  <a16:creationId xmlns:a16="http://schemas.microsoft.com/office/drawing/2014/main" id="{9A6795B2-B0B5-591E-88FC-B0B515E10565}"/>
                </a:ext>
              </a:extLst>
            </p:cNvPr>
            <p:cNvSpPr txBox="1">
              <a:spLocks/>
            </p:cNvSpPr>
            <p:nvPr/>
          </p:nvSpPr>
          <p:spPr>
            <a:xfrm>
              <a:off x="9291375" y="2863619"/>
              <a:ext cx="295474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sz="1400" dirty="0">
                  <a:solidFill>
                    <a:schemeClr val="bg1"/>
                  </a:solidFill>
                </a:rPr>
                <a:t>Repository</a:t>
              </a:r>
            </a:p>
          </p:txBody>
        </p:sp>
      </p:grpSp>
      <p:cxnSp>
        <p:nvCxnSpPr>
          <p:cNvPr id="246" name="Connector: Elbow 245">
            <a:extLst>
              <a:ext uri="{FF2B5EF4-FFF2-40B4-BE49-F238E27FC236}">
                <a16:creationId xmlns:a16="http://schemas.microsoft.com/office/drawing/2014/main" id="{028F0222-90B3-9F0F-84D3-9EE86097E52D}"/>
              </a:ext>
            </a:extLst>
          </p:cNvPr>
          <p:cNvCxnSpPr>
            <a:cxnSpLocks/>
            <a:stCxn id="71" idx="0"/>
            <a:endCxn id="24" idx="0"/>
          </p:cNvCxnSpPr>
          <p:nvPr/>
        </p:nvCxnSpPr>
        <p:spPr>
          <a:xfrm rot="16200000" flipV="1">
            <a:off x="4094942" y="-404087"/>
            <a:ext cx="12700" cy="3777401"/>
          </a:xfrm>
          <a:prstGeom prst="bentConnector3">
            <a:avLst>
              <a:gd name="adj1" fmla="val 1800000"/>
            </a:avLst>
          </a:prstGeom>
          <a:ln w="19050">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47" name="Connector: Elbow 246">
            <a:extLst>
              <a:ext uri="{FF2B5EF4-FFF2-40B4-BE49-F238E27FC236}">
                <a16:creationId xmlns:a16="http://schemas.microsoft.com/office/drawing/2014/main" id="{0C14B147-F716-CD00-4C97-FFBE70D9AA94}"/>
              </a:ext>
            </a:extLst>
          </p:cNvPr>
          <p:cNvCxnSpPr>
            <a:cxnSpLocks/>
            <a:endCxn id="24" idx="0"/>
          </p:cNvCxnSpPr>
          <p:nvPr/>
        </p:nvCxnSpPr>
        <p:spPr>
          <a:xfrm rot="10800000">
            <a:off x="2206241" y="1484615"/>
            <a:ext cx="7695822" cy="16081"/>
          </a:xfrm>
          <a:prstGeom prst="bentConnector4">
            <a:avLst>
              <a:gd name="adj1" fmla="val 155"/>
              <a:gd name="adj2" fmla="val 2799353"/>
            </a:avLst>
          </a:prstGeom>
          <a:ln w="19050">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63" name="Arrow: Right 162">
            <a:extLst>
              <a:ext uri="{FF2B5EF4-FFF2-40B4-BE49-F238E27FC236}">
                <a16:creationId xmlns:a16="http://schemas.microsoft.com/office/drawing/2014/main" id="{F3F5939E-76E9-F3B4-1519-3360AF835176}"/>
              </a:ext>
            </a:extLst>
          </p:cNvPr>
          <p:cNvSpPr/>
          <p:nvPr/>
        </p:nvSpPr>
        <p:spPr>
          <a:xfrm>
            <a:off x="3617028" y="3632402"/>
            <a:ext cx="1161227" cy="267267"/>
          </a:xfrm>
          <a:prstGeom prst="rightArrow">
            <a:avLst/>
          </a:prstGeom>
          <a:solidFill>
            <a:srgbClr val="00D7A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1" name="Arrow: Right 230">
            <a:extLst>
              <a:ext uri="{FF2B5EF4-FFF2-40B4-BE49-F238E27FC236}">
                <a16:creationId xmlns:a16="http://schemas.microsoft.com/office/drawing/2014/main" id="{FA9E9588-ED5C-9A6C-3AE1-F0BD72305F80}"/>
              </a:ext>
            </a:extLst>
          </p:cNvPr>
          <p:cNvSpPr/>
          <p:nvPr/>
        </p:nvSpPr>
        <p:spPr>
          <a:xfrm>
            <a:off x="7478362" y="3626506"/>
            <a:ext cx="1070001" cy="295040"/>
          </a:xfrm>
          <a:prstGeom prst="rightArrow">
            <a:avLst/>
          </a:prstGeom>
          <a:solidFill>
            <a:srgbClr val="00D7A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extLst>
      <p:ext uri="{BB962C8B-B14F-4D97-AF65-F5344CB8AC3E}">
        <p14:creationId xmlns:p14="http://schemas.microsoft.com/office/powerpoint/2010/main" val="425022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500"/>
                                        <p:tgtEl>
                                          <p:spTgt spid="2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3"/>
                                        </p:tgtEl>
                                        <p:attrNameLst>
                                          <p:attrName>style.visibility</p:attrName>
                                        </p:attrNameLst>
                                      </p:cBhvr>
                                      <p:to>
                                        <p:strVal val="visible"/>
                                      </p:to>
                                    </p:set>
                                    <p:animEffect transition="in" filter="fade">
                                      <p:cBhvr>
                                        <p:cTn id="10" dur="500"/>
                                        <p:tgtEl>
                                          <p:spTgt spid="16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3"/>
                                        </p:tgtEl>
                                        <p:attrNameLst>
                                          <p:attrName>style.visibility</p:attrName>
                                        </p:attrNameLst>
                                      </p:cBhvr>
                                      <p:to>
                                        <p:strVal val="visible"/>
                                      </p:to>
                                    </p:set>
                                    <p:animEffect transition="in" filter="fade">
                                      <p:cBhvr>
                                        <p:cTn id="15" dur="500"/>
                                        <p:tgtEl>
                                          <p:spTgt spid="25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1"/>
                                        </p:tgtEl>
                                        <p:attrNameLst>
                                          <p:attrName>style.visibility</p:attrName>
                                        </p:attrNameLst>
                                      </p:cBhvr>
                                      <p:to>
                                        <p:strVal val="visible"/>
                                      </p:to>
                                    </p:set>
                                    <p:animEffect transition="in" filter="fade">
                                      <p:cBhvr>
                                        <p:cTn id="18" dur="500"/>
                                        <p:tgtEl>
                                          <p:spTgt spid="2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6"/>
                                        </p:tgtEl>
                                        <p:attrNameLst>
                                          <p:attrName>style.visibility</p:attrName>
                                        </p:attrNameLst>
                                      </p:cBhvr>
                                      <p:to>
                                        <p:strVal val="visible"/>
                                      </p:to>
                                    </p:set>
                                    <p:animEffect transition="in" filter="fade">
                                      <p:cBhvr>
                                        <p:cTn id="23" dur="500"/>
                                        <p:tgtEl>
                                          <p:spTgt spid="246"/>
                                        </p:tgtEl>
                                      </p:cBhvr>
                                    </p:animEffect>
                                  </p:childTnLst>
                                </p:cTn>
                              </p:par>
                              <p:par>
                                <p:cTn id="24" presetID="10" presetClass="entr" presetSubtype="0" fill="hold" nodeType="withEffect">
                                  <p:stCondLst>
                                    <p:cond delay="0"/>
                                  </p:stCondLst>
                                  <p:childTnLst>
                                    <p:set>
                                      <p:cBhvr>
                                        <p:cTn id="25" dur="1" fill="hold">
                                          <p:stCondLst>
                                            <p:cond delay="0"/>
                                          </p:stCondLst>
                                        </p:cTn>
                                        <p:tgtEl>
                                          <p:spTgt spid="247"/>
                                        </p:tgtEl>
                                        <p:attrNameLst>
                                          <p:attrName>style.visibility</p:attrName>
                                        </p:attrNameLst>
                                      </p:cBhvr>
                                      <p:to>
                                        <p:strVal val="visible"/>
                                      </p:to>
                                    </p:set>
                                    <p:animEffect transition="in" filter="fade">
                                      <p:cBhvr>
                                        <p:cTn id="26"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animBg="1"/>
      <p:bldP spid="2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191574"/>
            <a:ext cx="10726024" cy="576000"/>
          </a:xfrm>
        </p:spPr>
        <p:txBody>
          <a:bodyPr/>
          <a:lstStyle/>
          <a:p>
            <a:r>
              <a:rPr lang="en-US" altLang="zh-CN" sz="2800" dirty="0"/>
              <a:t>UseCase1- Modeling tool for pre-maintenance KG generation  </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13</a:t>
            </a:fld>
            <a:endParaRPr lang="en-US" dirty="0"/>
          </a:p>
        </p:txBody>
      </p:sp>
      <p:sp>
        <p:nvSpPr>
          <p:cNvPr id="5" name="Rectangle: Rounded Corners 4">
            <a:extLst>
              <a:ext uri="{FF2B5EF4-FFF2-40B4-BE49-F238E27FC236}">
                <a16:creationId xmlns:a16="http://schemas.microsoft.com/office/drawing/2014/main" id="{A03DB81A-365D-D5C9-2915-DD2E9E3D6FD0}"/>
              </a:ext>
            </a:extLst>
          </p:cNvPr>
          <p:cNvSpPr/>
          <p:nvPr/>
        </p:nvSpPr>
        <p:spPr>
          <a:xfrm>
            <a:off x="148484" y="1302374"/>
            <a:ext cx="3513923" cy="4456031"/>
          </a:xfrm>
          <a:prstGeom prst="roundRect">
            <a:avLst/>
          </a:prstGeom>
          <a:noFill/>
          <a:ln w="19050">
            <a:solidFill>
              <a:srgbClr val="CCCCD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TextBox 5">
            <a:extLst>
              <a:ext uri="{FF2B5EF4-FFF2-40B4-BE49-F238E27FC236}">
                <a16:creationId xmlns:a16="http://schemas.microsoft.com/office/drawing/2014/main" id="{00FCF3F5-232E-2BAB-2F4F-D35EA0AEFF3A}"/>
              </a:ext>
            </a:extLst>
          </p:cNvPr>
          <p:cNvSpPr txBox="1"/>
          <p:nvPr/>
        </p:nvSpPr>
        <p:spPr>
          <a:xfrm>
            <a:off x="1057827" y="1086930"/>
            <a:ext cx="1695236" cy="492443"/>
          </a:xfrm>
          <a:prstGeom prst="rect">
            <a:avLst/>
          </a:prstGeom>
          <a:solidFill>
            <a:schemeClr val="bg1"/>
          </a:solidFill>
        </p:spPr>
        <p:txBody>
          <a:bodyPr wrap="square" lIns="0" tIns="0" rIns="0" bIns="0" rtlCol="0">
            <a:spAutoFit/>
          </a:bodyPr>
          <a:lstStyle/>
          <a:p>
            <a:pPr algn="ctr"/>
            <a:r>
              <a:rPr lang="en-US" sz="1600" b="1" dirty="0">
                <a:solidFill>
                  <a:srgbClr val="009999"/>
                </a:solidFill>
              </a:rPr>
              <a:t>Engineering Specification</a:t>
            </a:r>
          </a:p>
        </p:txBody>
      </p:sp>
      <p:grpSp>
        <p:nvGrpSpPr>
          <p:cNvPr id="41" name="Gruppieren 55">
            <a:extLst>
              <a:ext uri="{FF2B5EF4-FFF2-40B4-BE49-F238E27FC236}">
                <a16:creationId xmlns:a16="http://schemas.microsoft.com/office/drawing/2014/main" id="{717F7032-15CD-FD51-9B20-F2D7D2C8CE82}"/>
              </a:ext>
            </a:extLst>
          </p:cNvPr>
          <p:cNvGrpSpPr/>
          <p:nvPr/>
        </p:nvGrpSpPr>
        <p:grpSpPr bwMode="gray">
          <a:xfrm>
            <a:off x="373555" y="2911252"/>
            <a:ext cx="293626" cy="732459"/>
            <a:chOff x="9495373" y="3534492"/>
            <a:chExt cx="780777" cy="2804684"/>
          </a:xfrm>
        </p:grpSpPr>
        <p:sp>
          <p:nvSpPr>
            <p:cNvPr id="42" name="Freeform 765">
              <a:extLst>
                <a:ext uri="{FF2B5EF4-FFF2-40B4-BE49-F238E27FC236}">
                  <a16:creationId xmlns:a16="http://schemas.microsoft.com/office/drawing/2014/main" id="{C08A0102-0083-ADF2-0CF3-F4BB4238D3E7}"/>
                </a:ext>
              </a:extLst>
            </p:cNvPr>
            <p:cNvSpPr>
              <a:spLocks/>
            </p:cNvSpPr>
            <p:nvPr/>
          </p:nvSpPr>
          <p:spPr bwMode="gray">
            <a:xfrm>
              <a:off x="9660925" y="3615777"/>
              <a:ext cx="450420" cy="643563"/>
            </a:xfrm>
            <a:custGeom>
              <a:avLst/>
              <a:gdLst>
                <a:gd name="T0" fmla="*/ 546 w 551"/>
                <a:gd name="T1" fmla="*/ 389 h 787"/>
                <a:gd name="T2" fmla="*/ 507 w 551"/>
                <a:gd name="T3" fmla="*/ 487 h 787"/>
                <a:gd name="T4" fmla="*/ 485 w 551"/>
                <a:gd name="T5" fmla="*/ 502 h 787"/>
                <a:gd name="T6" fmla="*/ 466 w 551"/>
                <a:gd name="T7" fmla="*/ 502 h 787"/>
                <a:gd name="T8" fmla="*/ 445 w 551"/>
                <a:gd name="T9" fmla="*/ 587 h 787"/>
                <a:gd name="T10" fmla="*/ 420 w 551"/>
                <a:gd name="T11" fmla="*/ 602 h 787"/>
                <a:gd name="T12" fmla="*/ 419 w 551"/>
                <a:gd name="T13" fmla="*/ 688 h 787"/>
                <a:gd name="T14" fmla="*/ 292 w 551"/>
                <a:gd name="T15" fmla="*/ 787 h 787"/>
                <a:gd name="T16" fmla="*/ 258 w 551"/>
                <a:gd name="T17" fmla="*/ 787 h 787"/>
                <a:gd name="T18" fmla="*/ 131 w 551"/>
                <a:gd name="T19" fmla="*/ 688 h 787"/>
                <a:gd name="T20" fmla="*/ 130 w 551"/>
                <a:gd name="T21" fmla="*/ 602 h 787"/>
                <a:gd name="T22" fmla="*/ 105 w 551"/>
                <a:gd name="T23" fmla="*/ 587 h 787"/>
                <a:gd name="T24" fmla="*/ 85 w 551"/>
                <a:gd name="T25" fmla="*/ 502 h 787"/>
                <a:gd name="T26" fmla="*/ 65 w 551"/>
                <a:gd name="T27" fmla="*/ 502 h 787"/>
                <a:gd name="T28" fmla="*/ 43 w 551"/>
                <a:gd name="T29" fmla="*/ 487 h 787"/>
                <a:gd name="T30" fmla="*/ 4 w 551"/>
                <a:gd name="T31" fmla="*/ 389 h 787"/>
                <a:gd name="T32" fmla="*/ 17 w 551"/>
                <a:gd name="T33" fmla="*/ 359 h 787"/>
                <a:gd name="T34" fmla="*/ 55 w 551"/>
                <a:gd name="T35" fmla="*/ 376 h 787"/>
                <a:gd name="T36" fmla="*/ 41 w 551"/>
                <a:gd name="T37" fmla="*/ 238 h 787"/>
                <a:gd name="T38" fmla="*/ 61 w 551"/>
                <a:gd name="T39" fmla="*/ 74 h 787"/>
                <a:gd name="T40" fmla="*/ 213 w 551"/>
                <a:gd name="T41" fmla="*/ 0 h 787"/>
                <a:gd name="T42" fmla="*/ 337 w 551"/>
                <a:gd name="T43" fmla="*/ 0 h 787"/>
                <a:gd name="T44" fmla="*/ 489 w 551"/>
                <a:gd name="T45" fmla="*/ 74 h 787"/>
                <a:gd name="T46" fmla="*/ 509 w 551"/>
                <a:gd name="T47" fmla="*/ 238 h 787"/>
                <a:gd name="T48" fmla="*/ 495 w 551"/>
                <a:gd name="T49" fmla="*/ 376 h 787"/>
                <a:gd name="T50" fmla="*/ 533 w 551"/>
                <a:gd name="T51" fmla="*/ 359 h 787"/>
                <a:gd name="T52" fmla="*/ 546 w 551"/>
                <a:gd name="T53" fmla="*/ 389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1" h="787">
                  <a:moveTo>
                    <a:pt x="546" y="389"/>
                  </a:moveTo>
                  <a:cubicBezTo>
                    <a:pt x="507" y="487"/>
                    <a:pt x="507" y="487"/>
                    <a:pt x="507" y="487"/>
                  </a:cubicBezTo>
                  <a:cubicBezTo>
                    <a:pt x="504" y="497"/>
                    <a:pt x="495" y="502"/>
                    <a:pt x="485" y="502"/>
                  </a:cubicBezTo>
                  <a:cubicBezTo>
                    <a:pt x="466" y="502"/>
                    <a:pt x="466" y="502"/>
                    <a:pt x="466" y="502"/>
                  </a:cubicBezTo>
                  <a:cubicBezTo>
                    <a:pt x="445" y="587"/>
                    <a:pt x="445" y="587"/>
                    <a:pt x="445" y="587"/>
                  </a:cubicBezTo>
                  <a:cubicBezTo>
                    <a:pt x="420" y="602"/>
                    <a:pt x="420" y="602"/>
                    <a:pt x="420" y="602"/>
                  </a:cubicBezTo>
                  <a:cubicBezTo>
                    <a:pt x="419" y="688"/>
                    <a:pt x="419" y="688"/>
                    <a:pt x="419" y="688"/>
                  </a:cubicBezTo>
                  <a:cubicBezTo>
                    <a:pt x="292" y="787"/>
                    <a:pt x="292" y="787"/>
                    <a:pt x="292" y="787"/>
                  </a:cubicBezTo>
                  <a:cubicBezTo>
                    <a:pt x="258" y="787"/>
                    <a:pt x="258" y="787"/>
                    <a:pt x="258" y="787"/>
                  </a:cubicBezTo>
                  <a:cubicBezTo>
                    <a:pt x="131" y="688"/>
                    <a:pt x="131" y="688"/>
                    <a:pt x="131" y="688"/>
                  </a:cubicBezTo>
                  <a:cubicBezTo>
                    <a:pt x="130" y="602"/>
                    <a:pt x="130" y="602"/>
                    <a:pt x="130" y="602"/>
                  </a:cubicBezTo>
                  <a:cubicBezTo>
                    <a:pt x="105" y="587"/>
                    <a:pt x="105" y="587"/>
                    <a:pt x="105" y="587"/>
                  </a:cubicBezTo>
                  <a:cubicBezTo>
                    <a:pt x="85" y="502"/>
                    <a:pt x="85" y="502"/>
                    <a:pt x="85" y="502"/>
                  </a:cubicBezTo>
                  <a:cubicBezTo>
                    <a:pt x="65" y="502"/>
                    <a:pt x="65" y="502"/>
                    <a:pt x="65" y="502"/>
                  </a:cubicBezTo>
                  <a:cubicBezTo>
                    <a:pt x="55" y="502"/>
                    <a:pt x="46" y="497"/>
                    <a:pt x="43" y="487"/>
                  </a:cubicBezTo>
                  <a:cubicBezTo>
                    <a:pt x="4" y="389"/>
                    <a:pt x="4" y="389"/>
                    <a:pt x="4" y="389"/>
                  </a:cubicBezTo>
                  <a:cubicBezTo>
                    <a:pt x="0" y="378"/>
                    <a:pt x="5" y="364"/>
                    <a:pt x="17" y="359"/>
                  </a:cubicBezTo>
                  <a:cubicBezTo>
                    <a:pt x="31" y="353"/>
                    <a:pt x="53" y="361"/>
                    <a:pt x="55" y="376"/>
                  </a:cubicBezTo>
                  <a:cubicBezTo>
                    <a:pt x="41" y="238"/>
                    <a:pt x="41" y="238"/>
                    <a:pt x="41" y="238"/>
                  </a:cubicBezTo>
                  <a:cubicBezTo>
                    <a:pt x="61" y="74"/>
                    <a:pt x="61" y="74"/>
                    <a:pt x="61" y="74"/>
                  </a:cubicBezTo>
                  <a:cubicBezTo>
                    <a:pt x="213" y="0"/>
                    <a:pt x="213" y="0"/>
                    <a:pt x="213" y="0"/>
                  </a:cubicBezTo>
                  <a:cubicBezTo>
                    <a:pt x="337" y="0"/>
                    <a:pt x="337" y="0"/>
                    <a:pt x="337" y="0"/>
                  </a:cubicBezTo>
                  <a:cubicBezTo>
                    <a:pt x="489" y="74"/>
                    <a:pt x="489" y="74"/>
                    <a:pt x="489" y="74"/>
                  </a:cubicBezTo>
                  <a:cubicBezTo>
                    <a:pt x="509" y="238"/>
                    <a:pt x="509" y="238"/>
                    <a:pt x="509" y="238"/>
                  </a:cubicBezTo>
                  <a:cubicBezTo>
                    <a:pt x="495" y="376"/>
                    <a:pt x="495" y="376"/>
                    <a:pt x="495" y="376"/>
                  </a:cubicBezTo>
                  <a:cubicBezTo>
                    <a:pt x="497" y="361"/>
                    <a:pt x="519" y="353"/>
                    <a:pt x="533" y="359"/>
                  </a:cubicBezTo>
                  <a:cubicBezTo>
                    <a:pt x="545" y="364"/>
                    <a:pt x="551" y="378"/>
                    <a:pt x="546" y="389"/>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766">
              <a:extLst>
                <a:ext uri="{FF2B5EF4-FFF2-40B4-BE49-F238E27FC236}">
                  <a16:creationId xmlns:a16="http://schemas.microsoft.com/office/drawing/2014/main" id="{1D15A41A-7B53-0266-9134-4DEE85F0DFC6}"/>
                </a:ext>
              </a:extLst>
            </p:cNvPr>
            <p:cNvSpPr>
              <a:spLocks/>
            </p:cNvSpPr>
            <p:nvPr/>
          </p:nvSpPr>
          <p:spPr bwMode="gray">
            <a:xfrm>
              <a:off x="9694482" y="3615777"/>
              <a:ext cx="382559" cy="336323"/>
            </a:xfrm>
            <a:custGeom>
              <a:avLst/>
              <a:gdLst>
                <a:gd name="T0" fmla="*/ 513 w 513"/>
                <a:gd name="T1" fmla="*/ 261 h 451"/>
                <a:gd name="T2" fmla="*/ 498 w 513"/>
                <a:gd name="T3" fmla="*/ 412 h 451"/>
                <a:gd name="T4" fmla="*/ 490 w 513"/>
                <a:gd name="T5" fmla="*/ 451 h 451"/>
                <a:gd name="T6" fmla="*/ 488 w 513"/>
                <a:gd name="T7" fmla="*/ 451 h 451"/>
                <a:gd name="T8" fmla="*/ 412 w 513"/>
                <a:gd name="T9" fmla="*/ 151 h 451"/>
                <a:gd name="T10" fmla="*/ 198 w 513"/>
                <a:gd name="T11" fmla="*/ 229 h 451"/>
                <a:gd name="T12" fmla="*/ 101 w 513"/>
                <a:gd name="T13" fmla="*/ 151 h 451"/>
                <a:gd name="T14" fmla="*/ 25 w 513"/>
                <a:gd name="T15" fmla="*/ 451 h 451"/>
                <a:gd name="T16" fmla="*/ 23 w 513"/>
                <a:gd name="T17" fmla="*/ 451 h 451"/>
                <a:gd name="T18" fmla="*/ 15 w 513"/>
                <a:gd name="T19" fmla="*/ 412 h 451"/>
                <a:gd name="T20" fmla="*/ 0 w 513"/>
                <a:gd name="T21" fmla="*/ 261 h 451"/>
                <a:gd name="T22" fmla="*/ 22 w 513"/>
                <a:gd name="T23" fmla="*/ 81 h 451"/>
                <a:gd name="T24" fmla="*/ 189 w 513"/>
                <a:gd name="T25" fmla="*/ 0 h 451"/>
                <a:gd name="T26" fmla="*/ 325 w 513"/>
                <a:gd name="T27" fmla="*/ 0 h 451"/>
                <a:gd name="T28" fmla="*/ 491 w 513"/>
                <a:gd name="T29" fmla="*/ 81 h 451"/>
                <a:gd name="T30" fmla="*/ 513 w 513"/>
                <a:gd name="T31" fmla="*/ 261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3" h="451">
                  <a:moveTo>
                    <a:pt x="513" y="261"/>
                  </a:moveTo>
                  <a:lnTo>
                    <a:pt x="498" y="412"/>
                  </a:lnTo>
                  <a:lnTo>
                    <a:pt x="490" y="451"/>
                  </a:lnTo>
                  <a:lnTo>
                    <a:pt x="488" y="451"/>
                  </a:lnTo>
                  <a:lnTo>
                    <a:pt x="412" y="151"/>
                  </a:lnTo>
                  <a:lnTo>
                    <a:pt x="198" y="229"/>
                  </a:lnTo>
                  <a:lnTo>
                    <a:pt x="101" y="151"/>
                  </a:lnTo>
                  <a:lnTo>
                    <a:pt x="25" y="451"/>
                  </a:lnTo>
                  <a:lnTo>
                    <a:pt x="23" y="451"/>
                  </a:lnTo>
                  <a:lnTo>
                    <a:pt x="15" y="412"/>
                  </a:lnTo>
                  <a:lnTo>
                    <a:pt x="0" y="261"/>
                  </a:lnTo>
                  <a:lnTo>
                    <a:pt x="22" y="81"/>
                  </a:lnTo>
                  <a:lnTo>
                    <a:pt x="189" y="0"/>
                  </a:lnTo>
                  <a:lnTo>
                    <a:pt x="325" y="0"/>
                  </a:lnTo>
                  <a:lnTo>
                    <a:pt x="491" y="81"/>
                  </a:lnTo>
                  <a:lnTo>
                    <a:pt x="513" y="261"/>
                  </a:lnTo>
                  <a:close/>
                </a:path>
              </a:pathLst>
            </a:custGeom>
            <a:solidFill>
              <a:srgbClr val="050A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767">
              <a:extLst>
                <a:ext uri="{FF2B5EF4-FFF2-40B4-BE49-F238E27FC236}">
                  <a16:creationId xmlns:a16="http://schemas.microsoft.com/office/drawing/2014/main" id="{DF44FC0E-F697-F2BF-5F58-CD3EB7F47D93}"/>
                </a:ext>
              </a:extLst>
            </p:cNvPr>
            <p:cNvSpPr>
              <a:spLocks/>
            </p:cNvSpPr>
            <p:nvPr/>
          </p:nvSpPr>
          <p:spPr bwMode="gray">
            <a:xfrm>
              <a:off x="9495373" y="4178801"/>
              <a:ext cx="780777" cy="944837"/>
            </a:xfrm>
            <a:custGeom>
              <a:avLst/>
              <a:gdLst>
                <a:gd name="T0" fmla="*/ 1047 w 1047"/>
                <a:gd name="T1" fmla="*/ 624 h 1267"/>
                <a:gd name="T2" fmla="*/ 1025 w 1047"/>
                <a:gd name="T3" fmla="*/ 623 h 1267"/>
                <a:gd name="T4" fmla="*/ 883 w 1047"/>
                <a:gd name="T5" fmla="*/ 618 h 1267"/>
                <a:gd name="T6" fmla="*/ 883 w 1047"/>
                <a:gd name="T7" fmla="*/ 1267 h 1267"/>
                <a:gd name="T8" fmla="*/ 165 w 1047"/>
                <a:gd name="T9" fmla="*/ 1267 h 1267"/>
                <a:gd name="T10" fmla="*/ 165 w 1047"/>
                <a:gd name="T11" fmla="*/ 618 h 1267"/>
                <a:gd name="T12" fmla="*/ 164 w 1047"/>
                <a:gd name="T13" fmla="*/ 618 h 1267"/>
                <a:gd name="T14" fmla="*/ 22 w 1047"/>
                <a:gd name="T15" fmla="*/ 623 h 1267"/>
                <a:gd name="T16" fmla="*/ 0 w 1047"/>
                <a:gd name="T17" fmla="*/ 624 h 1267"/>
                <a:gd name="T18" fmla="*/ 14 w 1047"/>
                <a:gd name="T19" fmla="*/ 273 h 1267"/>
                <a:gd name="T20" fmla="*/ 87 w 1047"/>
                <a:gd name="T21" fmla="*/ 133 h 1267"/>
                <a:gd name="T22" fmla="*/ 164 w 1047"/>
                <a:gd name="T23" fmla="*/ 96 h 1267"/>
                <a:gd name="T24" fmla="*/ 267 w 1047"/>
                <a:gd name="T25" fmla="*/ 47 h 1267"/>
                <a:gd name="T26" fmla="*/ 366 w 1047"/>
                <a:gd name="T27" fmla="*/ 0 h 1267"/>
                <a:gd name="T28" fmla="*/ 366 w 1047"/>
                <a:gd name="T29" fmla="*/ 0 h 1267"/>
                <a:gd name="T30" fmla="*/ 505 w 1047"/>
                <a:gd name="T31" fmla="*/ 108 h 1267"/>
                <a:gd name="T32" fmla="*/ 542 w 1047"/>
                <a:gd name="T33" fmla="*/ 108 h 1267"/>
                <a:gd name="T34" fmla="*/ 682 w 1047"/>
                <a:gd name="T35" fmla="*/ 0 h 1267"/>
                <a:gd name="T36" fmla="*/ 780 w 1047"/>
                <a:gd name="T37" fmla="*/ 47 h 1267"/>
                <a:gd name="T38" fmla="*/ 883 w 1047"/>
                <a:gd name="T39" fmla="*/ 97 h 1267"/>
                <a:gd name="T40" fmla="*/ 960 w 1047"/>
                <a:gd name="T41" fmla="*/ 133 h 1267"/>
                <a:gd name="T42" fmla="*/ 1034 w 1047"/>
                <a:gd name="T43" fmla="*/ 273 h 1267"/>
                <a:gd name="T44" fmla="*/ 1047 w 1047"/>
                <a:gd name="T45" fmla="*/ 624 h 1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7" h="1267">
                  <a:moveTo>
                    <a:pt x="1047" y="624"/>
                  </a:moveTo>
                  <a:lnTo>
                    <a:pt x="1025" y="623"/>
                  </a:lnTo>
                  <a:lnTo>
                    <a:pt x="883" y="618"/>
                  </a:lnTo>
                  <a:lnTo>
                    <a:pt x="883" y="1267"/>
                  </a:lnTo>
                  <a:lnTo>
                    <a:pt x="165" y="1267"/>
                  </a:lnTo>
                  <a:lnTo>
                    <a:pt x="165" y="618"/>
                  </a:lnTo>
                  <a:lnTo>
                    <a:pt x="164" y="618"/>
                  </a:lnTo>
                  <a:lnTo>
                    <a:pt x="22" y="623"/>
                  </a:lnTo>
                  <a:lnTo>
                    <a:pt x="0" y="624"/>
                  </a:lnTo>
                  <a:lnTo>
                    <a:pt x="14" y="273"/>
                  </a:lnTo>
                  <a:lnTo>
                    <a:pt x="87" y="133"/>
                  </a:lnTo>
                  <a:lnTo>
                    <a:pt x="164" y="96"/>
                  </a:lnTo>
                  <a:lnTo>
                    <a:pt x="267" y="47"/>
                  </a:lnTo>
                  <a:lnTo>
                    <a:pt x="366" y="0"/>
                  </a:lnTo>
                  <a:lnTo>
                    <a:pt x="366" y="0"/>
                  </a:lnTo>
                  <a:lnTo>
                    <a:pt x="505" y="108"/>
                  </a:lnTo>
                  <a:lnTo>
                    <a:pt x="542" y="108"/>
                  </a:lnTo>
                  <a:lnTo>
                    <a:pt x="682" y="0"/>
                  </a:lnTo>
                  <a:lnTo>
                    <a:pt x="780" y="47"/>
                  </a:lnTo>
                  <a:lnTo>
                    <a:pt x="883" y="97"/>
                  </a:lnTo>
                  <a:lnTo>
                    <a:pt x="960" y="133"/>
                  </a:lnTo>
                  <a:lnTo>
                    <a:pt x="1034" y="273"/>
                  </a:lnTo>
                  <a:lnTo>
                    <a:pt x="1047" y="624"/>
                  </a:ln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768">
              <a:extLst>
                <a:ext uri="{FF2B5EF4-FFF2-40B4-BE49-F238E27FC236}">
                  <a16:creationId xmlns:a16="http://schemas.microsoft.com/office/drawing/2014/main" id="{DE7390C7-6612-1872-5E25-F48C273DB5BD}"/>
                </a:ext>
              </a:extLst>
            </p:cNvPr>
            <p:cNvSpPr>
              <a:spLocks noChangeShapeType="1"/>
            </p:cNvSpPr>
            <p:nvPr/>
          </p:nvSpPr>
          <p:spPr bwMode="gray">
            <a:xfrm>
              <a:off x="10153851" y="463966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769">
              <a:extLst>
                <a:ext uri="{FF2B5EF4-FFF2-40B4-BE49-F238E27FC236}">
                  <a16:creationId xmlns:a16="http://schemas.microsoft.com/office/drawing/2014/main" id="{41BA2560-8B1F-3A07-4A85-491B3D757C58}"/>
                </a:ext>
              </a:extLst>
            </p:cNvPr>
            <p:cNvSpPr>
              <a:spLocks noChangeShapeType="1"/>
            </p:cNvSpPr>
            <p:nvPr/>
          </p:nvSpPr>
          <p:spPr bwMode="gray">
            <a:xfrm>
              <a:off x="10153851" y="463966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770">
              <a:extLst>
                <a:ext uri="{FF2B5EF4-FFF2-40B4-BE49-F238E27FC236}">
                  <a16:creationId xmlns:a16="http://schemas.microsoft.com/office/drawing/2014/main" id="{44AA8E76-7BA3-01E5-9AB3-990A5FC27DEC}"/>
                </a:ext>
              </a:extLst>
            </p:cNvPr>
            <p:cNvSpPr>
              <a:spLocks/>
            </p:cNvSpPr>
            <p:nvPr/>
          </p:nvSpPr>
          <p:spPr bwMode="gray">
            <a:xfrm>
              <a:off x="9897320" y="6232537"/>
              <a:ext cx="205075" cy="106639"/>
            </a:xfrm>
            <a:custGeom>
              <a:avLst/>
              <a:gdLst>
                <a:gd name="T0" fmla="*/ 275 w 275"/>
                <a:gd name="T1" fmla="*/ 143 h 143"/>
                <a:gd name="T2" fmla="*/ 0 w 275"/>
                <a:gd name="T3" fmla="*/ 143 h 143"/>
                <a:gd name="T4" fmla="*/ 0 w 275"/>
                <a:gd name="T5" fmla="*/ 136 h 143"/>
                <a:gd name="T6" fmla="*/ 47 w 275"/>
                <a:gd name="T7" fmla="*/ 0 h 143"/>
                <a:gd name="T8" fmla="*/ 214 w 275"/>
                <a:gd name="T9" fmla="*/ 0 h 143"/>
                <a:gd name="T10" fmla="*/ 275 w 275"/>
                <a:gd name="T11" fmla="*/ 143 h 143"/>
              </a:gdLst>
              <a:ahLst/>
              <a:cxnLst>
                <a:cxn ang="0">
                  <a:pos x="T0" y="T1"/>
                </a:cxn>
                <a:cxn ang="0">
                  <a:pos x="T2" y="T3"/>
                </a:cxn>
                <a:cxn ang="0">
                  <a:pos x="T4" y="T5"/>
                </a:cxn>
                <a:cxn ang="0">
                  <a:pos x="T6" y="T7"/>
                </a:cxn>
                <a:cxn ang="0">
                  <a:pos x="T8" y="T9"/>
                </a:cxn>
                <a:cxn ang="0">
                  <a:pos x="T10" y="T11"/>
                </a:cxn>
              </a:cxnLst>
              <a:rect l="0" t="0" r="r" b="b"/>
              <a:pathLst>
                <a:path w="275" h="143">
                  <a:moveTo>
                    <a:pt x="275" y="143"/>
                  </a:moveTo>
                  <a:lnTo>
                    <a:pt x="0" y="143"/>
                  </a:lnTo>
                  <a:lnTo>
                    <a:pt x="0" y="136"/>
                  </a:lnTo>
                  <a:lnTo>
                    <a:pt x="47" y="0"/>
                  </a:lnTo>
                  <a:lnTo>
                    <a:pt x="214" y="0"/>
                  </a:lnTo>
                  <a:lnTo>
                    <a:pt x="275" y="1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771">
              <a:extLst>
                <a:ext uri="{FF2B5EF4-FFF2-40B4-BE49-F238E27FC236}">
                  <a16:creationId xmlns:a16="http://schemas.microsoft.com/office/drawing/2014/main" id="{4DB91F5C-C1DA-E22E-D5EE-454A71A80B70}"/>
                </a:ext>
              </a:extLst>
            </p:cNvPr>
            <p:cNvSpPr>
              <a:spLocks/>
            </p:cNvSpPr>
            <p:nvPr/>
          </p:nvSpPr>
          <p:spPr bwMode="gray">
            <a:xfrm>
              <a:off x="10143411" y="4639661"/>
              <a:ext cx="116334" cy="735288"/>
            </a:xfrm>
            <a:custGeom>
              <a:avLst/>
              <a:gdLst>
                <a:gd name="T0" fmla="*/ 116 w 156"/>
                <a:gd name="T1" fmla="*/ 636 h 986"/>
                <a:gd name="T2" fmla="*/ 152 w 156"/>
                <a:gd name="T3" fmla="*/ 736 h 986"/>
                <a:gd name="T4" fmla="*/ 71 w 156"/>
                <a:gd name="T5" fmla="*/ 986 h 986"/>
                <a:gd name="T6" fmla="*/ 8 w 156"/>
                <a:gd name="T7" fmla="*/ 986 h 986"/>
                <a:gd name="T8" fmla="*/ 0 w 156"/>
                <a:gd name="T9" fmla="*/ 985 h 986"/>
                <a:gd name="T10" fmla="*/ 14 w 156"/>
                <a:gd name="T11" fmla="*/ 648 h 986"/>
                <a:gd name="T12" fmla="*/ 14 w 156"/>
                <a:gd name="T13" fmla="*/ 648 h 986"/>
                <a:gd name="T14" fmla="*/ 14 w 156"/>
                <a:gd name="T15" fmla="*/ 0 h 986"/>
                <a:gd name="T16" fmla="*/ 156 w 156"/>
                <a:gd name="T17" fmla="*/ 5 h 986"/>
                <a:gd name="T18" fmla="*/ 144 w 156"/>
                <a:gd name="T19" fmla="*/ 206 h 986"/>
                <a:gd name="T20" fmla="*/ 116 w 156"/>
                <a:gd name="T21" fmla="*/ 636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986">
                  <a:moveTo>
                    <a:pt x="116" y="636"/>
                  </a:moveTo>
                  <a:lnTo>
                    <a:pt x="152" y="736"/>
                  </a:lnTo>
                  <a:lnTo>
                    <a:pt x="71" y="986"/>
                  </a:lnTo>
                  <a:lnTo>
                    <a:pt x="8" y="986"/>
                  </a:lnTo>
                  <a:lnTo>
                    <a:pt x="0" y="985"/>
                  </a:lnTo>
                  <a:lnTo>
                    <a:pt x="14" y="648"/>
                  </a:lnTo>
                  <a:lnTo>
                    <a:pt x="14" y="648"/>
                  </a:lnTo>
                  <a:lnTo>
                    <a:pt x="14" y="0"/>
                  </a:lnTo>
                  <a:lnTo>
                    <a:pt x="156" y="5"/>
                  </a:lnTo>
                  <a:lnTo>
                    <a:pt x="144" y="206"/>
                  </a:lnTo>
                  <a:lnTo>
                    <a:pt x="116" y="636"/>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772">
              <a:extLst>
                <a:ext uri="{FF2B5EF4-FFF2-40B4-BE49-F238E27FC236}">
                  <a16:creationId xmlns:a16="http://schemas.microsoft.com/office/drawing/2014/main" id="{4B716654-30C5-436E-9FA9-3566C565097F}"/>
                </a:ext>
              </a:extLst>
            </p:cNvPr>
            <p:cNvSpPr>
              <a:spLocks noChangeShapeType="1"/>
            </p:cNvSpPr>
            <p:nvPr/>
          </p:nvSpPr>
          <p:spPr bwMode="gray">
            <a:xfrm>
              <a:off x="10259744"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773">
              <a:extLst>
                <a:ext uri="{FF2B5EF4-FFF2-40B4-BE49-F238E27FC236}">
                  <a16:creationId xmlns:a16="http://schemas.microsoft.com/office/drawing/2014/main" id="{FD082B9D-5B52-CAA1-BA87-DCF5FE4543FA}"/>
                </a:ext>
              </a:extLst>
            </p:cNvPr>
            <p:cNvSpPr>
              <a:spLocks noChangeShapeType="1"/>
            </p:cNvSpPr>
            <p:nvPr/>
          </p:nvSpPr>
          <p:spPr bwMode="gray">
            <a:xfrm>
              <a:off x="10259744"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774">
              <a:extLst>
                <a:ext uri="{FF2B5EF4-FFF2-40B4-BE49-F238E27FC236}">
                  <a16:creationId xmlns:a16="http://schemas.microsoft.com/office/drawing/2014/main" id="{FD610C32-7725-6DBF-7F17-EC91E49AA81C}"/>
                </a:ext>
              </a:extLst>
            </p:cNvPr>
            <p:cNvSpPr>
              <a:spLocks/>
            </p:cNvSpPr>
            <p:nvPr/>
          </p:nvSpPr>
          <p:spPr bwMode="gray">
            <a:xfrm>
              <a:off x="9511779" y="4639661"/>
              <a:ext cx="116334" cy="735288"/>
            </a:xfrm>
            <a:custGeom>
              <a:avLst/>
              <a:gdLst>
                <a:gd name="T0" fmla="*/ 156 w 156"/>
                <a:gd name="T1" fmla="*/ 985 h 986"/>
                <a:gd name="T2" fmla="*/ 156 w 156"/>
                <a:gd name="T3" fmla="*/ 985 h 986"/>
                <a:gd name="T4" fmla="*/ 150 w 156"/>
                <a:gd name="T5" fmla="*/ 986 h 986"/>
                <a:gd name="T6" fmla="*/ 85 w 156"/>
                <a:gd name="T7" fmla="*/ 986 h 986"/>
                <a:gd name="T8" fmla="*/ 4 w 156"/>
                <a:gd name="T9" fmla="*/ 736 h 986"/>
                <a:gd name="T10" fmla="*/ 39 w 156"/>
                <a:gd name="T11" fmla="*/ 636 h 986"/>
                <a:gd name="T12" fmla="*/ 12 w 156"/>
                <a:gd name="T13" fmla="*/ 206 h 986"/>
                <a:gd name="T14" fmla="*/ 0 w 156"/>
                <a:gd name="T15" fmla="*/ 5 h 986"/>
                <a:gd name="T16" fmla="*/ 142 w 156"/>
                <a:gd name="T17" fmla="*/ 0 h 986"/>
                <a:gd name="T18" fmla="*/ 143 w 156"/>
                <a:gd name="T19" fmla="*/ 0 h 986"/>
                <a:gd name="T20" fmla="*/ 143 w 156"/>
                <a:gd name="T21" fmla="*/ 648 h 986"/>
                <a:gd name="T22" fmla="*/ 142 w 156"/>
                <a:gd name="T23" fmla="*/ 648 h 986"/>
                <a:gd name="T24" fmla="*/ 156 w 156"/>
                <a:gd name="T25" fmla="*/ 985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986">
                  <a:moveTo>
                    <a:pt x="156" y="985"/>
                  </a:moveTo>
                  <a:lnTo>
                    <a:pt x="156" y="985"/>
                  </a:lnTo>
                  <a:lnTo>
                    <a:pt x="150" y="986"/>
                  </a:lnTo>
                  <a:lnTo>
                    <a:pt x="85" y="986"/>
                  </a:lnTo>
                  <a:lnTo>
                    <a:pt x="4" y="736"/>
                  </a:lnTo>
                  <a:lnTo>
                    <a:pt x="39" y="636"/>
                  </a:lnTo>
                  <a:lnTo>
                    <a:pt x="12" y="206"/>
                  </a:lnTo>
                  <a:lnTo>
                    <a:pt x="0" y="5"/>
                  </a:lnTo>
                  <a:lnTo>
                    <a:pt x="142" y="0"/>
                  </a:lnTo>
                  <a:lnTo>
                    <a:pt x="143" y="0"/>
                  </a:lnTo>
                  <a:lnTo>
                    <a:pt x="143" y="648"/>
                  </a:lnTo>
                  <a:lnTo>
                    <a:pt x="142" y="648"/>
                  </a:lnTo>
                  <a:lnTo>
                    <a:pt x="156" y="985"/>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Line 775">
              <a:extLst>
                <a:ext uri="{FF2B5EF4-FFF2-40B4-BE49-F238E27FC236}">
                  <a16:creationId xmlns:a16="http://schemas.microsoft.com/office/drawing/2014/main" id="{203EFBFB-F235-901E-9327-0F7B9695C70A}"/>
                </a:ext>
              </a:extLst>
            </p:cNvPr>
            <p:cNvSpPr>
              <a:spLocks noChangeShapeType="1"/>
            </p:cNvSpPr>
            <p:nvPr/>
          </p:nvSpPr>
          <p:spPr bwMode="gray">
            <a:xfrm>
              <a:off x="9511779"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776">
              <a:extLst>
                <a:ext uri="{FF2B5EF4-FFF2-40B4-BE49-F238E27FC236}">
                  <a16:creationId xmlns:a16="http://schemas.microsoft.com/office/drawing/2014/main" id="{065E9700-6023-D58E-CF5A-CF452C589A30}"/>
                </a:ext>
              </a:extLst>
            </p:cNvPr>
            <p:cNvSpPr>
              <a:spLocks noChangeShapeType="1"/>
            </p:cNvSpPr>
            <p:nvPr/>
          </p:nvSpPr>
          <p:spPr bwMode="gray">
            <a:xfrm>
              <a:off x="9511779" y="464339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777">
              <a:extLst>
                <a:ext uri="{FF2B5EF4-FFF2-40B4-BE49-F238E27FC236}">
                  <a16:creationId xmlns:a16="http://schemas.microsoft.com/office/drawing/2014/main" id="{C63FD7AC-4D92-2E45-E404-4E38EEF45726}"/>
                </a:ext>
              </a:extLst>
            </p:cNvPr>
            <p:cNvSpPr>
              <a:spLocks/>
            </p:cNvSpPr>
            <p:nvPr/>
          </p:nvSpPr>
          <p:spPr bwMode="gray">
            <a:xfrm>
              <a:off x="9617672" y="5122893"/>
              <a:ext cx="536178" cy="1216282"/>
            </a:xfrm>
            <a:custGeom>
              <a:avLst/>
              <a:gdLst>
                <a:gd name="T0" fmla="*/ 719 w 719"/>
                <a:gd name="T1" fmla="*/ 0 h 1631"/>
                <a:gd name="T2" fmla="*/ 705 w 719"/>
                <a:gd name="T3" fmla="*/ 337 h 1631"/>
                <a:gd name="T4" fmla="*/ 589 w 719"/>
                <a:gd name="T5" fmla="*/ 1488 h 1631"/>
                <a:gd name="T6" fmla="*/ 422 w 719"/>
                <a:gd name="T7" fmla="*/ 1488 h 1631"/>
                <a:gd name="T8" fmla="*/ 375 w 719"/>
                <a:gd name="T9" fmla="*/ 1624 h 1631"/>
                <a:gd name="T10" fmla="*/ 375 w 719"/>
                <a:gd name="T11" fmla="*/ 1631 h 1631"/>
                <a:gd name="T12" fmla="*/ 344 w 719"/>
                <a:gd name="T13" fmla="*/ 1631 h 1631"/>
                <a:gd name="T14" fmla="*/ 344 w 719"/>
                <a:gd name="T15" fmla="*/ 1624 h 1631"/>
                <a:gd name="T16" fmla="*/ 298 w 719"/>
                <a:gd name="T17" fmla="*/ 1488 h 1631"/>
                <a:gd name="T18" fmla="*/ 131 w 719"/>
                <a:gd name="T19" fmla="*/ 1488 h 1631"/>
                <a:gd name="T20" fmla="*/ 14 w 719"/>
                <a:gd name="T21" fmla="*/ 337 h 1631"/>
                <a:gd name="T22" fmla="*/ 14 w 719"/>
                <a:gd name="T23" fmla="*/ 337 h 1631"/>
                <a:gd name="T24" fmla="*/ 0 w 719"/>
                <a:gd name="T25" fmla="*/ 0 h 1631"/>
                <a:gd name="T26" fmla="*/ 719 w 719"/>
                <a:gd name="T27" fmla="*/ 0 h 1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9" h="1631">
                  <a:moveTo>
                    <a:pt x="719" y="0"/>
                  </a:moveTo>
                  <a:lnTo>
                    <a:pt x="705" y="337"/>
                  </a:lnTo>
                  <a:lnTo>
                    <a:pt x="589" y="1488"/>
                  </a:lnTo>
                  <a:lnTo>
                    <a:pt x="422" y="1488"/>
                  </a:lnTo>
                  <a:lnTo>
                    <a:pt x="375" y="1624"/>
                  </a:lnTo>
                  <a:lnTo>
                    <a:pt x="375" y="1631"/>
                  </a:lnTo>
                  <a:lnTo>
                    <a:pt x="344" y="1631"/>
                  </a:lnTo>
                  <a:lnTo>
                    <a:pt x="344" y="1624"/>
                  </a:lnTo>
                  <a:lnTo>
                    <a:pt x="298" y="1488"/>
                  </a:lnTo>
                  <a:lnTo>
                    <a:pt x="131" y="1488"/>
                  </a:lnTo>
                  <a:lnTo>
                    <a:pt x="14" y="337"/>
                  </a:lnTo>
                  <a:lnTo>
                    <a:pt x="14" y="337"/>
                  </a:lnTo>
                  <a:lnTo>
                    <a:pt x="0" y="0"/>
                  </a:lnTo>
                  <a:lnTo>
                    <a:pt x="719"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778">
              <a:extLst>
                <a:ext uri="{FF2B5EF4-FFF2-40B4-BE49-F238E27FC236}">
                  <a16:creationId xmlns:a16="http://schemas.microsoft.com/office/drawing/2014/main" id="{C1BA67EB-43A3-AAA4-8CA1-0065240BD386}"/>
                </a:ext>
              </a:extLst>
            </p:cNvPr>
            <p:cNvSpPr>
              <a:spLocks/>
            </p:cNvSpPr>
            <p:nvPr/>
          </p:nvSpPr>
          <p:spPr bwMode="gray">
            <a:xfrm>
              <a:off x="9669128" y="6232537"/>
              <a:ext cx="205075" cy="106639"/>
            </a:xfrm>
            <a:custGeom>
              <a:avLst/>
              <a:gdLst>
                <a:gd name="T0" fmla="*/ 275 w 275"/>
                <a:gd name="T1" fmla="*/ 136 h 143"/>
                <a:gd name="T2" fmla="*/ 275 w 275"/>
                <a:gd name="T3" fmla="*/ 143 h 143"/>
                <a:gd name="T4" fmla="*/ 0 w 275"/>
                <a:gd name="T5" fmla="*/ 143 h 143"/>
                <a:gd name="T6" fmla="*/ 62 w 275"/>
                <a:gd name="T7" fmla="*/ 0 h 143"/>
                <a:gd name="T8" fmla="*/ 229 w 275"/>
                <a:gd name="T9" fmla="*/ 0 h 143"/>
                <a:gd name="T10" fmla="*/ 275 w 275"/>
                <a:gd name="T11" fmla="*/ 136 h 143"/>
              </a:gdLst>
              <a:ahLst/>
              <a:cxnLst>
                <a:cxn ang="0">
                  <a:pos x="T0" y="T1"/>
                </a:cxn>
                <a:cxn ang="0">
                  <a:pos x="T2" y="T3"/>
                </a:cxn>
                <a:cxn ang="0">
                  <a:pos x="T4" y="T5"/>
                </a:cxn>
                <a:cxn ang="0">
                  <a:pos x="T6" y="T7"/>
                </a:cxn>
                <a:cxn ang="0">
                  <a:pos x="T8" y="T9"/>
                </a:cxn>
                <a:cxn ang="0">
                  <a:pos x="T10" y="T11"/>
                </a:cxn>
              </a:cxnLst>
              <a:rect l="0" t="0" r="r" b="b"/>
              <a:pathLst>
                <a:path w="275" h="143">
                  <a:moveTo>
                    <a:pt x="275" y="136"/>
                  </a:moveTo>
                  <a:lnTo>
                    <a:pt x="275" y="143"/>
                  </a:lnTo>
                  <a:lnTo>
                    <a:pt x="0" y="143"/>
                  </a:lnTo>
                  <a:lnTo>
                    <a:pt x="62" y="0"/>
                  </a:lnTo>
                  <a:lnTo>
                    <a:pt x="229" y="0"/>
                  </a:lnTo>
                  <a:lnTo>
                    <a:pt x="275" y="136"/>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779">
              <a:extLst>
                <a:ext uri="{FF2B5EF4-FFF2-40B4-BE49-F238E27FC236}">
                  <a16:creationId xmlns:a16="http://schemas.microsoft.com/office/drawing/2014/main" id="{D533C08E-3728-ECE1-06B3-7029BC16AE3E}"/>
                </a:ext>
              </a:extLst>
            </p:cNvPr>
            <p:cNvSpPr>
              <a:spLocks/>
            </p:cNvSpPr>
            <p:nvPr/>
          </p:nvSpPr>
          <p:spPr bwMode="gray">
            <a:xfrm>
              <a:off x="9877931" y="5346612"/>
              <a:ext cx="17152" cy="992564"/>
            </a:xfrm>
            <a:custGeom>
              <a:avLst/>
              <a:gdLst>
                <a:gd name="T0" fmla="*/ 0 w 23"/>
                <a:gd name="T1" fmla="*/ 1331 h 1331"/>
                <a:gd name="T2" fmla="*/ 0 w 23"/>
                <a:gd name="T3" fmla="*/ 0 h 1331"/>
                <a:gd name="T4" fmla="*/ 22 w 23"/>
                <a:gd name="T5" fmla="*/ 0 h 1331"/>
                <a:gd name="T6" fmla="*/ 23 w 23"/>
                <a:gd name="T7" fmla="*/ 1331 h 1331"/>
                <a:gd name="T8" fmla="*/ 0 w 23"/>
                <a:gd name="T9" fmla="*/ 1331 h 1331"/>
              </a:gdLst>
              <a:ahLst/>
              <a:cxnLst>
                <a:cxn ang="0">
                  <a:pos x="T0" y="T1"/>
                </a:cxn>
                <a:cxn ang="0">
                  <a:pos x="T2" y="T3"/>
                </a:cxn>
                <a:cxn ang="0">
                  <a:pos x="T4" y="T5"/>
                </a:cxn>
                <a:cxn ang="0">
                  <a:pos x="T6" y="T7"/>
                </a:cxn>
                <a:cxn ang="0">
                  <a:pos x="T8" y="T9"/>
                </a:cxn>
              </a:cxnLst>
              <a:rect l="0" t="0" r="r" b="b"/>
              <a:pathLst>
                <a:path w="23" h="1331">
                  <a:moveTo>
                    <a:pt x="0" y="1331"/>
                  </a:moveTo>
                  <a:lnTo>
                    <a:pt x="0" y="0"/>
                  </a:lnTo>
                  <a:lnTo>
                    <a:pt x="22" y="0"/>
                  </a:lnTo>
                  <a:lnTo>
                    <a:pt x="23" y="1331"/>
                  </a:lnTo>
                  <a:lnTo>
                    <a:pt x="0" y="1331"/>
                  </a:lnTo>
                  <a:close/>
                </a:path>
              </a:pathLst>
            </a:custGeom>
            <a:solidFill>
              <a:srgbClr val="006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805">
              <a:extLst>
                <a:ext uri="{FF2B5EF4-FFF2-40B4-BE49-F238E27FC236}">
                  <a16:creationId xmlns:a16="http://schemas.microsoft.com/office/drawing/2014/main" id="{8ECB3E57-E186-B32E-1F40-C5A135AC0239}"/>
                </a:ext>
              </a:extLst>
            </p:cNvPr>
            <p:cNvSpPr>
              <a:spLocks/>
            </p:cNvSpPr>
            <p:nvPr/>
          </p:nvSpPr>
          <p:spPr bwMode="gray">
            <a:xfrm>
              <a:off x="9617672" y="4213851"/>
              <a:ext cx="76810" cy="425811"/>
            </a:xfrm>
            <a:custGeom>
              <a:avLst/>
              <a:gdLst>
                <a:gd name="T0" fmla="*/ 103 w 103"/>
                <a:gd name="T1" fmla="*/ 0 h 571"/>
                <a:gd name="T2" fmla="*/ 103 w 103"/>
                <a:gd name="T3" fmla="*/ 571 h 571"/>
                <a:gd name="T4" fmla="*/ 0 w 103"/>
                <a:gd name="T5" fmla="*/ 571 h 571"/>
                <a:gd name="T6" fmla="*/ 0 w 103"/>
                <a:gd name="T7" fmla="*/ 49 h 571"/>
                <a:gd name="T8" fmla="*/ 103 w 103"/>
                <a:gd name="T9" fmla="*/ 0 h 571"/>
              </a:gdLst>
              <a:ahLst/>
              <a:cxnLst>
                <a:cxn ang="0">
                  <a:pos x="T0" y="T1"/>
                </a:cxn>
                <a:cxn ang="0">
                  <a:pos x="T2" y="T3"/>
                </a:cxn>
                <a:cxn ang="0">
                  <a:pos x="T4" y="T5"/>
                </a:cxn>
                <a:cxn ang="0">
                  <a:pos x="T6" y="T7"/>
                </a:cxn>
                <a:cxn ang="0">
                  <a:pos x="T8" y="T9"/>
                </a:cxn>
              </a:cxnLst>
              <a:rect l="0" t="0" r="r" b="b"/>
              <a:pathLst>
                <a:path w="103" h="571">
                  <a:moveTo>
                    <a:pt x="103" y="0"/>
                  </a:moveTo>
                  <a:lnTo>
                    <a:pt x="103" y="571"/>
                  </a:lnTo>
                  <a:lnTo>
                    <a:pt x="0" y="571"/>
                  </a:lnTo>
                  <a:lnTo>
                    <a:pt x="0" y="49"/>
                  </a:lnTo>
                  <a:lnTo>
                    <a:pt x="103"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806">
              <a:extLst>
                <a:ext uri="{FF2B5EF4-FFF2-40B4-BE49-F238E27FC236}">
                  <a16:creationId xmlns:a16="http://schemas.microsoft.com/office/drawing/2014/main" id="{DB4FC6A2-62CB-75D6-F5D5-1DFE3789CF41}"/>
                </a:ext>
              </a:extLst>
            </p:cNvPr>
            <p:cNvSpPr>
              <a:spLocks/>
            </p:cNvSpPr>
            <p:nvPr/>
          </p:nvSpPr>
          <p:spPr bwMode="gray">
            <a:xfrm>
              <a:off x="10077041" y="4213851"/>
              <a:ext cx="76810" cy="429539"/>
            </a:xfrm>
            <a:custGeom>
              <a:avLst/>
              <a:gdLst>
                <a:gd name="T0" fmla="*/ 103 w 103"/>
                <a:gd name="T1" fmla="*/ 50 h 576"/>
                <a:gd name="T2" fmla="*/ 103 w 103"/>
                <a:gd name="T3" fmla="*/ 576 h 576"/>
                <a:gd name="T4" fmla="*/ 0 w 103"/>
                <a:gd name="T5" fmla="*/ 576 h 576"/>
                <a:gd name="T6" fmla="*/ 0 w 103"/>
                <a:gd name="T7" fmla="*/ 0 h 576"/>
                <a:gd name="T8" fmla="*/ 103 w 103"/>
                <a:gd name="T9" fmla="*/ 50 h 576"/>
              </a:gdLst>
              <a:ahLst/>
              <a:cxnLst>
                <a:cxn ang="0">
                  <a:pos x="T0" y="T1"/>
                </a:cxn>
                <a:cxn ang="0">
                  <a:pos x="T2" y="T3"/>
                </a:cxn>
                <a:cxn ang="0">
                  <a:pos x="T4" y="T5"/>
                </a:cxn>
                <a:cxn ang="0">
                  <a:pos x="T6" y="T7"/>
                </a:cxn>
                <a:cxn ang="0">
                  <a:pos x="T8" y="T9"/>
                </a:cxn>
              </a:cxnLst>
              <a:rect l="0" t="0" r="r" b="b"/>
              <a:pathLst>
                <a:path w="103" h="576">
                  <a:moveTo>
                    <a:pt x="103" y="50"/>
                  </a:moveTo>
                  <a:lnTo>
                    <a:pt x="103" y="576"/>
                  </a:lnTo>
                  <a:lnTo>
                    <a:pt x="0" y="576"/>
                  </a:lnTo>
                  <a:lnTo>
                    <a:pt x="0" y="0"/>
                  </a:lnTo>
                  <a:lnTo>
                    <a:pt x="103" y="5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807">
              <a:extLst>
                <a:ext uri="{FF2B5EF4-FFF2-40B4-BE49-F238E27FC236}">
                  <a16:creationId xmlns:a16="http://schemas.microsoft.com/office/drawing/2014/main" id="{82C3B209-52E7-AA25-2097-7799A58F0F97}"/>
                </a:ext>
              </a:extLst>
            </p:cNvPr>
            <p:cNvSpPr>
              <a:spLocks noChangeArrowheads="1"/>
            </p:cNvSpPr>
            <p:nvPr/>
          </p:nvSpPr>
          <p:spPr bwMode="gray">
            <a:xfrm>
              <a:off x="9618418" y="4604612"/>
              <a:ext cx="535433" cy="518281"/>
            </a:xfrm>
            <a:prstGeom prst="rect">
              <a:avLst/>
            </a:prstGeom>
            <a:solidFill>
              <a:srgbClr val="3C91A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808">
              <a:extLst>
                <a:ext uri="{FF2B5EF4-FFF2-40B4-BE49-F238E27FC236}">
                  <a16:creationId xmlns:a16="http://schemas.microsoft.com/office/drawing/2014/main" id="{C9EE2CCF-DAC0-4E60-1717-D4E2115FDC7E}"/>
                </a:ext>
              </a:extLst>
            </p:cNvPr>
            <p:cNvSpPr>
              <a:spLocks noChangeArrowheads="1"/>
            </p:cNvSpPr>
            <p:nvPr/>
          </p:nvSpPr>
          <p:spPr bwMode="gray">
            <a:xfrm>
              <a:off x="9716854" y="4700065"/>
              <a:ext cx="338561" cy="16406"/>
            </a:xfrm>
            <a:prstGeom prst="rect">
              <a:avLst/>
            </a:prstGeom>
            <a:solidFill>
              <a:srgbClr val="00648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809">
              <a:extLst>
                <a:ext uri="{FF2B5EF4-FFF2-40B4-BE49-F238E27FC236}">
                  <a16:creationId xmlns:a16="http://schemas.microsoft.com/office/drawing/2014/main" id="{CA70BBAD-EEC3-1464-2940-204FEBE10F88}"/>
                </a:ext>
              </a:extLst>
            </p:cNvPr>
            <p:cNvSpPr>
              <a:spLocks/>
            </p:cNvSpPr>
            <p:nvPr/>
          </p:nvSpPr>
          <p:spPr bwMode="gray">
            <a:xfrm>
              <a:off x="9666145" y="3534492"/>
              <a:ext cx="440725" cy="252802"/>
            </a:xfrm>
            <a:custGeom>
              <a:avLst/>
              <a:gdLst>
                <a:gd name="T0" fmla="*/ 539 w 539"/>
                <a:gd name="T1" fmla="*/ 291 h 309"/>
                <a:gd name="T2" fmla="*/ 539 w 539"/>
                <a:gd name="T3" fmla="*/ 309 h 309"/>
                <a:gd name="T4" fmla="*/ 0 w 539"/>
                <a:gd name="T5" fmla="*/ 309 h 309"/>
                <a:gd name="T6" fmla="*/ 0 w 539"/>
                <a:gd name="T7" fmla="*/ 291 h 309"/>
                <a:gd name="T8" fmla="*/ 0 w 539"/>
                <a:gd name="T9" fmla="*/ 270 h 309"/>
                <a:gd name="T10" fmla="*/ 245 w 539"/>
                <a:gd name="T11" fmla="*/ 30 h 309"/>
                <a:gd name="T12" fmla="*/ 245 w 539"/>
                <a:gd name="T13" fmla="*/ 0 h 309"/>
                <a:gd name="T14" fmla="*/ 293 w 539"/>
                <a:gd name="T15" fmla="*/ 0 h 309"/>
                <a:gd name="T16" fmla="*/ 293 w 539"/>
                <a:gd name="T17" fmla="*/ 30 h 309"/>
                <a:gd name="T18" fmla="*/ 538 w 539"/>
                <a:gd name="T19" fmla="*/ 270 h 309"/>
                <a:gd name="T20" fmla="*/ 539 w 539"/>
                <a:gd name="T21" fmla="*/ 2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9" h="309">
                  <a:moveTo>
                    <a:pt x="539" y="291"/>
                  </a:moveTo>
                  <a:cubicBezTo>
                    <a:pt x="539" y="309"/>
                    <a:pt x="539" y="309"/>
                    <a:pt x="539" y="309"/>
                  </a:cubicBezTo>
                  <a:cubicBezTo>
                    <a:pt x="0" y="309"/>
                    <a:pt x="0" y="309"/>
                    <a:pt x="0" y="309"/>
                  </a:cubicBezTo>
                  <a:cubicBezTo>
                    <a:pt x="0" y="291"/>
                    <a:pt x="0" y="291"/>
                    <a:pt x="0" y="291"/>
                  </a:cubicBezTo>
                  <a:cubicBezTo>
                    <a:pt x="0" y="284"/>
                    <a:pt x="0" y="277"/>
                    <a:pt x="0" y="270"/>
                  </a:cubicBezTo>
                  <a:cubicBezTo>
                    <a:pt x="9" y="121"/>
                    <a:pt x="113" y="43"/>
                    <a:pt x="245" y="30"/>
                  </a:cubicBezTo>
                  <a:cubicBezTo>
                    <a:pt x="245" y="0"/>
                    <a:pt x="245" y="0"/>
                    <a:pt x="245" y="0"/>
                  </a:cubicBezTo>
                  <a:cubicBezTo>
                    <a:pt x="293" y="0"/>
                    <a:pt x="293" y="0"/>
                    <a:pt x="293" y="0"/>
                  </a:cubicBezTo>
                  <a:cubicBezTo>
                    <a:pt x="293" y="30"/>
                    <a:pt x="293" y="30"/>
                    <a:pt x="293" y="30"/>
                  </a:cubicBezTo>
                  <a:cubicBezTo>
                    <a:pt x="424" y="43"/>
                    <a:pt x="529" y="121"/>
                    <a:pt x="538" y="270"/>
                  </a:cubicBezTo>
                  <a:cubicBezTo>
                    <a:pt x="539" y="277"/>
                    <a:pt x="539" y="284"/>
                    <a:pt x="539" y="291"/>
                  </a:cubicBez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810">
              <a:extLst>
                <a:ext uri="{FF2B5EF4-FFF2-40B4-BE49-F238E27FC236}">
                  <a16:creationId xmlns:a16="http://schemas.microsoft.com/office/drawing/2014/main" id="{0311102F-D811-1315-0A40-4A3AAD1A04BB}"/>
                </a:ext>
              </a:extLst>
            </p:cNvPr>
            <p:cNvSpPr>
              <a:spLocks noChangeArrowheads="1"/>
            </p:cNvSpPr>
            <p:nvPr/>
          </p:nvSpPr>
          <p:spPr bwMode="gray">
            <a:xfrm>
              <a:off x="9644519" y="3777600"/>
              <a:ext cx="482486" cy="32066"/>
            </a:xfrm>
            <a:prstGeom prst="rect">
              <a:avLst/>
            </a:prstGeom>
            <a:solidFill>
              <a:srgbClr val="EB78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5" name="Rectangle: Rounded Corners 64">
            <a:extLst>
              <a:ext uri="{FF2B5EF4-FFF2-40B4-BE49-F238E27FC236}">
                <a16:creationId xmlns:a16="http://schemas.microsoft.com/office/drawing/2014/main" id="{39EB6460-378C-CC59-C743-CE4170B6E873}"/>
              </a:ext>
            </a:extLst>
          </p:cNvPr>
          <p:cNvSpPr/>
          <p:nvPr/>
        </p:nvSpPr>
        <p:spPr>
          <a:xfrm>
            <a:off x="4014725" y="1316511"/>
            <a:ext cx="4162550" cy="4456031"/>
          </a:xfrm>
          <a:prstGeom prst="roundRect">
            <a:avLst/>
          </a:prstGeom>
          <a:noFill/>
          <a:ln w="19050">
            <a:solidFill>
              <a:srgbClr val="CCCCD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6" name="TextBox 65">
            <a:extLst>
              <a:ext uri="{FF2B5EF4-FFF2-40B4-BE49-F238E27FC236}">
                <a16:creationId xmlns:a16="http://schemas.microsoft.com/office/drawing/2014/main" id="{221761AA-A2F0-11BA-1822-BD8BF72FD6B1}"/>
              </a:ext>
            </a:extLst>
          </p:cNvPr>
          <p:cNvSpPr txBox="1"/>
          <p:nvPr/>
        </p:nvSpPr>
        <p:spPr>
          <a:xfrm>
            <a:off x="5238866" y="1208789"/>
            <a:ext cx="1623317" cy="246221"/>
          </a:xfrm>
          <a:prstGeom prst="rect">
            <a:avLst/>
          </a:prstGeom>
          <a:solidFill>
            <a:schemeClr val="bg1"/>
          </a:solidFill>
        </p:spPr>
        <p:txBody>
          <a:bodyPr wrap="square" lIns="0" tIns="0" rIns="0" bIns="0" rtlCol="0">
            <a:spAutoFit/>
          </a:bodyPr>
          <a:lstStyle/>
          <a:p>
            <a:pPr algn="ctr"/>
            <a:r>
              <a:rPr lang="en-US" sz="1600" b="1" dirty="0">
                <a:solidFill>
                  <a:srgbClr val="009999"/>
                </a:solidFill>
              </a:rPr>
              <a:t>Modeling  Tool</a:t>
            </a:r>
          </a:p>
        </p:txBody>
      </p:sp>
      <p:sp>
        <p:nvSpPr>
          <p:cNvPr id="89" name="Rectangle: Rounded Corners 88">
            <a:extLst>
              <a:ext uri="{FF2B5EF4-FFF2-40B4-BE49-F238E27FC236}">
                <a16:creationId xmlns:a16="http://schemas.microsoft.com/office/drawing/2014/main" id="{328ADCA3-B0A3-DDD1-DE65-F17437D33E1A}"/>
              </a:ext>
            </a:extLst>
          </p:cNvPr>
          <p:cNvSpPr/>
          <p:nvPr/>
        </p:nvSpPr>
        <p:spPr>
          <a:xfrm>
            <a:off x="8501178" y="1319969"/>
            <a:ext cx="3513923" cy="4456031"/>
          </a:xfrm>
          <a:prstGeom prst="roundRect">
            <a:avLst/>
          </a:prstGeom>
          <a:noFill/>
          <a:ln w="19050">
            <a:solidFill>
              <a:srgbClr val="CCCCD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90" name="TextBox 89">
            <a:extLst>
              <a:ext uri="{FF2B5EF4-FFF2-40B4-BE49-F238E27FC236}">
                <a16:creationId xmlns:a16="http://schemas.microsoft.com/office/drawing/2014/main" id="{D032C37F-D421-1665-0AC0-6B2F22DB05C2}"/>
              </a:ext>
            </a:extLst>
          </p:cNvPr>
          <p:cNvSpPr txBox="1"/>
          <p:nvPr/>
        </p:nvSpPr>
        <p:spPr>
          <a:xfrm>
            <a:off x="9410521" y="1104525"/>
            <a:ext cx="1695236" cy="492443"/>
          </a:xfrm>
          <a:prstGeom prst="rect">
            <a:avLst/>
          </a:prstGeom>
          <a:solidFill>
            <a:schemeClr val="bg1"/>
          </a:solidFill>
        </p:spPr>
        <p:txBody>
          <a:bodyPr wrap="square" lIns="0" tIns="0" rIns="0" bIns="0" rtlCol="0">
            <a:spAutoFit/>
          </a:bodyPr>
          <a:lstStyle/>
          <a:p>
            <a:pPr algn="ctr"/>
            <a:r>
              <a:rPr lang="en-US" sz="1600" b="1" dirty="0">
                <a:solidFill>
                  <a:srgbClr val="009999"/>
                </a:solidFill>
              </a:rPr>
              <a:t>Graphical </a:t>
            </a:r>
          </a:p>
          <a:p>
            <a:pPr algn="ctr"/>
            <a:r>
              <a:rPr lang="en-US" altLang="zh-CN" sz="1600" b="1" dirty="0">
                <a:solidFill>
                  <a:srgbClr val="009999"/>
                </a:solidFill>
              </a:rPr>
              <a:t>Representation</a:t>
            </a:r>
            <a:endParaRPr lang="en-US" sz="1600" b="1" dirty="0">
              <a:solidFill>
                <a:srgbClr val="009999"/>
              </a:solidFill>
            </a:endParaRPr>
          </a:p>
        </p:txBody>
      </p:sp>
      <p:grpSp>
        <p:nvGrpSpPr>
          <p:cNvPr id="113" name="Gruppieren 83">
            <a:extLst>
              <a:ext uri="{FF2B5EF4-FFF2-40B4-BE49-F238E27FC236}">
                <a16:creationId xmlns:a16="http://schemas.microsoft.com/office/drawing/2014/main" id="{BADD9F35-81EB-B3AE-EF01-725FFBEB4B85}"/>
              </a:ext>
            </a:extLst>
          </p:cNvPr>
          <p:cNvGrpSpPr/>
          <p:nvPr/>
        </p:nvGrpSpPr>
        <p:grpSpPr bwMode="gray">
          <a:xfrm>
            <a:off x="391081" y="1680808"/>
            <a:ext cx="265701" cy="732460"/>
            <a:chOff x="11786995" y="3627708"/>
            <a:chExt cx="778540" cy="2715942"/>
          </a:xfrm>
        </p:grpSpPr>
        <p:sp>
          <p:nvSpPr>
            <p:cNvPr id="114" name="Freeform 628">
              <a:extLst>
                <a:ext uri="{FF2B5EF4-FFF2-40B4-BE49-F238E27FC236}">
                  <a16:creationId xmlns:a16="http://schemas.microsoft.com/office/drawing/2014/main" id="{21A441B6-4EA2-2406-1327-7AD5B3232049}"/>
                </a:ext>
              </a:extLst>
            </p:cNvPr>
            <p:cNvSpPr>
              <a:spLocks/>
            </p:cNvSpPr>
            <p:nvPr/>
          </p:nvSpPr>
          <p:spPr bwMode="gray">
            <a:xfrm>
              <a:off x="11952547" y="3627708"/>
              <a:ext cx="448928" cy="641326"/>
            </a:xfrm>
            <a:custGeom>
              <a:avLst/>
              <a:gdLst>
                <a:gd name="T0" fmla="*/ 544 w 549"/>
                <a:gd name="T1" fmla="*/ 387 h 784"/>
                <a:gd name="T2" fmla="*/ 506 w 549"/>
                <a:gd name="T3" fmla="*/ 485 h 784"/>
                <a:gd name="T4" fmla="*/ 484 w 549"/>
                <a:gd name="T5" fmla="*/ 500 h 784"/>
                <a:gd name="T6" fmla="*/ 464 w 549"/>
                <a:gd name="T7" fmla="*/ 500 h 784"/>
                <a:gd name="T8" fmla="*/ 444 w 549"/>
                <a:gd name="T9" fmla="*/ 585 h 784"/>
                <a:gd name="T10" fmla="*/ 419 w 549"/>
                <a:gd name="T11" fmla="*/ 599 h 784"/>
                <a:gd name="T12" fmla="*/ 417 w 549"/>
                <a:gd name="T13" fmla="*/ 685 h 784"/>
                <a:gd name="T14" fmla="*/ 291 w 549"/>
                <a:gd name="T15" fmla="*/ 784 h 784"/>
                <a:gd name="T16" fmla="*/ 257 w 549"/>
                <a:gd name="T17" fmla="*/ 784 h 784"/>
                <a:gd name="T18" fmla="*/ 131 w 549"/>
                <a:gd name="T19" fmla="*/ 685 h 784"/>
                <a:gd name="T20" fmla="*/ 129 w 549"/>
                <a:gd name="T21" fmla="*/ 599 h 784"/>
                <a:gd name="T22" fmla="*/ 104 w 549"/>
                <a:gd name="T23" fmla="*/ 585 h 784"/>
                <a:gd name="T24" fmla="*/ 84 w 549"/>
                <a:gd name="T25" fmla="*/ 500 h 784"/>
                <a:gd name="T26" fmla="*/ 65 w 549"/>
                <a:gd name="T27" fmla="*/ 500 h 784"/>
                <a:gd name="T28" fmla="*/ 42 w 549"/>
                <a:gd name="T29" fmla="*/ 485 h 784"/>
                <a:gd name="T30" fmla="*/ 4 w 549"/>
                <a:gd name="T31" fmla="*/ 387 h 784"/>
                <a:gd name="T32" fmla="*/ 17 w 549"/>
                <a:gd name="T33" fmla="*/ 357 h 784"/>
                <a:gd name="T34" fmla="*/ 55 w 549"/>
                <a:gd name="T35" fmla="*/ 374 h 784"/>
                <a:gd name="T36" fmla="*/ 41 w 549"/>
                <a:gd name="T37" fmla="*/ 237 h 784"/>
                <a:gd name="T38" fmla="*/ 61 w 549"/>
                <a:gd name="T39" fmla="*/ 73 h 784"/>
                <a:gd name="T40" fmla="*/ 212 w 549"/>
                <a:gd name="T41" fmla="*/ 0 h 784"/>
                <a:gd name="T42" fmla="*/ 336 w 549"/>
                <a:gd name="T43" fmla="*/ 0 h 784"/>
                <a:gd name="T44" fmla="*/ 488 w 549"/>
                <a:gd name="T45" fmla="*/ 73 h 784"/>
                <a:gd name="T46" fmla="*/ 508 w 549"/>
                <a:gd name="T47" fmla="*/ 237 h 784"/>
                <a:gd name="T48" fmla="*/ 493 w 549"/>
                <a:gd name="T49" fmla="*/ 374 h 784"/>
                <a:gd name="T50" fmla="*/ 531 w 549"/>
                <a:gd name="T51" fmla="*/ 357 h 784"/>
                <a:gd name="T52" fmla="*/ 544 w 549"/>
                <a:gd name="T53" fmla="*/ 387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9" h="784">
                  <a:moveTo>
                    <a:pt x="544" y="387"/>
                  </a:moveTo>
                  <a:cubicBezTo>
                    <a:pt x="506" y="485"/>
                    <a:pt x="506" y="485"/>
                    <a:pt x="506" y="485"/>
                  </a:cubicBezTo>
                  <a:cubicBezTo>
                    <a:pt x="502" y="495"/>
                    <a:pt x="493" y="500"/>
                    <a:pt x="484" y="500"/>
                  </a:cubicBezTo>
                  <a:cubicBezTo>
                    <a:pt x="464" y="500"/>
                    <a:pt x="464" y="500"/>
                    <a:pt x="464" y="500"/>
                  </a:cubicBezTo>
                  <a:cubicBezTo>
                    <a:pt x="444" y="585"/>
                    <a:pt x="444" y="585"/>
                    <a:pt x="444" y="585"/>
                  </a:cubicBezTo>
                  <a:cubicBezTo>
                    <a:pt x="419" y="599"/>
                    <a:pt x="419" y="599"/>
                    <a:pt x="419" y="599"/>
                  </a:cubicBezTo>
                  <a:cubicBezTo>
                    <a:pt x="417" y="685"/>
                    <a:pt x="417" y="685"/>
                    <a:pt x="417" y="685"/>
                  </a:cubicBezTo>
                  <a:cubicBezTo>
                    <a:pt x="291" y="784"/>
                    <a:pt x="291" y="784"/>
                    <a:pt x="291" y="784"/>
                  </a:cubicBezTo>
                  <a:cubicBezTo>
                    <a:pt x="257" y="784"/>
                    <a:pt x="257" y="784"/>
                    <a:pt x="257" y="784"/>
                  </a:cubicBezTo>
                  <a:cubicBezTo>
                    <a:pt x="131" y="685"/>
                    <a:pt x="131" y="685"/>
                    <a:pt x="131" y="685"/>
                  </a:cubicBezTo>
                  <a:cubicBezTo>
                    <a:pt x="129" y="599"/>
                    <a:pt x="129" y="599"/>
                    <a:pt x="129" y="599"/>
                  </a:cubicBezTo>
                  <a:cubicBezTo>
                    <a:pt x="104" y="585"/>
                    <a:pt x="104" y="585"/>
                    <a:pt x="104" y="585"/>
                  </a:cubicBezTo>
                  <a:cubicBezTo>
                    <a:pt x="84" y="500"/>
                    <a:pt x="84" y="500"/>
                    <a:pt x="84" y="500"/>
                  </a:cubicBezTo>
                  <a:cubicBezTo>
                    <a:pt x="65" y="500"/>
                    <a:pt x="65" y="500"/>
                    <a:pt x="65" y="500"/>
                  </a:cubicBezTo>
                  <a:cubicBezTo>
                    <a:pt x="55" y="500"/>
                    <a:pt x="46" y="495"/>
                    <a:pt x="42" y="485"/>
                  </a:cubicBezTo>
                  <a:cubicBezTo>
                    <a:pt x="4" y="387"/>
                    <a:pt x="4" y="387"/>
                    <a:pt x="4" y="387"/>
                  </a:cubicBezTo>
                  <a:cubicBezTo>
                    <a:pt x="0" y="376"/>
                    <a:pt x="5" y="362"/>
                    <a:pt x="17" y="357"/>
                  </a:cubicBezTo>
                  <a:cubicBezTo>
                    <a:pt x="31" y="351"/>
                    <a:pt x="53" y="359"/>
                    <a:pt x="55" y="374"/>
                  </a:cubicBezTo>
                  <a:cubicBezTo>
                    <a:pt x="41" y="237"/>
                    <a:pt x="41" y="237"/>
                    <a:pt x="41" y="237"/>
                  </a:cubicBezTo>
                  <a:cubicBezTo>
                    <a:pt x="61" y="73"/>
                    <a:pt x="61" y="73"/>
                    <a:pt x="61" y="73"/>
                  </a:cubicBezTo>
                  <a:cubicBezTo>
                    <a:pt x="212" y="0"/>
                    <a:pt x="212" y="0"/>
                    <a:pt x="212" y="0"/>
                  </a:cubicBezTo>
                  <a:cubicBezTo>
                    <a:pt x="336" y="0"/>
                    <a:pt x="336" y="0"/>
                    <a:pt x="336" y="0"/>
                  </a:cubicBezTo>
                  <a:cubicBezTo>
                    <a:pt x="488" y="73"/>
                    <a:pt x="488" y="73"/>
                    <a:pt x="488" y="73"/>
                  </a:cubicBezTo>
                  <a:cubicBezTo>
                    <a:pt x="508" y="237"/>
                    <a:pt x="508" y="237"/>
                    <a:pt x="508" y="237"/>
                  </a:cubicBezTo>
                  <a:cubicBezTo>
                    <a:pt x="493" y="374"/>
                    <a:pt x="493" y="374"/>
                    <a:pt x="493" y="374"/>
                  </a:cubicBezTo>
                  <a:cubicBezTo>
                    <a:pt x="496" y="359"/>
                    <a:pt x="517" y="351"/>
                    <a:pt x="531" y="357"/>
                  </a:cubicBezTo>
                  <a:cubicBezTo>
                    <a:pt x="543" y="362"/>
                    <a:pt x="549" y="376"/>
                    <a:pt x="544" y="38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24">
              <a:extLst>
                <a:ext uri="{FF2B5EF4-FFF2-40B4-BE49-F238E27FC236}">
                  <a16:creationId xmlns:a16="http://schemas.microsoft.com/office/drawing/2014/main" id="{32D153F5-BBC7-3D47-ED6D-2869508F5D33}"/>
                </a:ext>
              </a:extLst>
            </p:cNvPr>
            <p:cNvSpPr>
              <a:spLocks/>
            </p:cNvSpPr>
            <p:nvPr/>
          </p:nvSpPr>
          <p:spPr bwMode="gray">
            <a:xfrm>
              <a:off x="11986105" y="3627708"/>
              <a:ext cx="381813" cy="334832"/>
            </a:xfrm>
            <a:custGeom>
              <a:avLst/>
              <a:gdLst>
                <a:gd name="T0" fmla="*/ 512 w 512"/>
                <a:gd name="T1" fmla="*/ 260 h 449"/>
                <a:gd name="T2" fmla="*/ 496 w 512"/>
                <a:gd name="T3" fmla="*/ 411 h 449"/>
                <a:gd name="T4" fmla="*/ 489 w 512"/>
                <a:gd name="T5" fmla="*/ 449 h 449"/>
                <a:gd name="T6" fmla="*/ 487 w 512"/>
                <a:gd name="T7" fmla="*/ 449 h 449"/>
                <a:gd name="T8" fmla="*/ 411 w 512"/>
                <a:gd name="T9" fmla="*/ 151 h 449"/>
                <a:gd name="T10" fmla="*/ 197 w 512"/>
                <a:gd name="T11" fmla="*/ 227 h 449"/>
                <a:gd name="T12" fmla="*/ 101 w 512"/>
                <a:gd name="T13" fmla="*/ 151 h 449"/>
                <a:gd name="T14" fmla="*/ 25 w 512"/>
                <a:gd name="T15" fmla="*/ 449 h 449"/>
                <a:gd name="T16" fmla="*/ 23 w 512"/>
                <a:gd name="T17" fmla="*/ 449 h 449"/>
                <a:gd name="T18" fmla="*/ 15 w 512"/>
                <a:gd name="T19" fmla="*/ 411 h 449"/>
                <a:gd name="T20" fmla="*/ 0 w 512"/>
                <a:gd name="T21" fmla="*/ 260 h 449"/>
                <a:gd name="T22" fmla="*/ 22 w 512"/>
                <a:gd name="T23" fmla="*/ 80 h 449"/>
                <a:gd name="T24" fmla="*/ 187 w 512"/>
                <a:gd name="T25" fmla="*/ 0 h 449"/>
                <a:gd name="T26" fmla="*/ 323 w 512"/>
                <a:gd name="T27" fmla="*/ 0 h 449"/>
                <a:gd name="T28" fmla="*/ 490 w 512"/>
                <a:gd name="T29" fmla="*/ 80 h 449"/>
                <a:gd name="T30" fmla="*/ 512 w 512"/>
                <a:gd name="T31" fmla="*/ 26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449">
                  <a:moveTo>
                    <a:pt x="512" y="260"/>
                  </a:moveTo>
                  <a:lnTo>
                    <a:pt x="496" y="411"/>
                  </a:lnTo>
                  <a:lnTo>
                    <a:pt x="489" y="449"/>
                  </a:lnTo>
                  <a:lnTo>
                    <a:pt x="487" y="449"/>
                  </a:lnTo>
                  <a:lnTo>
                    <a:pt x="411" y="151"/>
                  </a:lnTo>
                  <a:lnTo>
                    <a:pt x="197" y="227"/>
                  </a:lnTo>
                  <a:lnTo>
                    <a:pt x="101" y="151"/>
                  </a:lnTo>
                  <a:lnTo>
                    <a:pt x="25" y="449"/>
                  </a:lnTo>
                  <a:lnTo>
                    <a:pt x="23" y="449"/>
                  </a:lnTo>
                  <a:lnTo>
                    <a:pt x="15" y="411"/>
                  </a:lnTo>
                  <a:lnTo>
                    <a:pt x="0" y="260"/>
                  </a:lnTo>
                  <a:lnTo>
                    <a:pt x="22" y="80"/>
                  </a:lnTo>
                  <a:lnTo>
                    <a:pt x="187" y="0"/>
                  </a:lnTo>
                  <a:lnTo>
                    <a:pt x="323" y="0"/>
                  </a:lnTo>
                  <a:lnTo>
                    <a:pt x="490" y="80"/>
                  </a:lnTo>
                  <a:lnTo>
                    <a:pt x="512" y="260"/>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725">
              <a:extLst>
                <a:ext uri="{FF2B5EF4-FFF2-40B4-BE49-F238E27FC236}">
                  <a16:creationId xmlns:a16="http://schemas.microsoft.com/office/drawing/2014/main" id="{9AFF03CD-5382-BABA-8CF9-213895602008}"/>
                </a:ext>
              </a:extLst>
            </p:cNvPr>
            <p:cNvSpPr>
              <a:spLocks/>
            </p:cNvSpPr>
            <p:nvPr/>
          </p:nvSpPr>
          <p:spPr bwMode="gray">
            <a:xfrm>
              <a:off x="11786995" y="4188496"/>
              <a:ext cx="778540" cy="942600"/>
            </a:xfrm>
            <a:custGeom>
              <a:avLst/>
              <a:gdLst>
                <a:gd name="T0" fmla="*/ 1044 w 1044"/>
                <a:gd name="T1" fmla="*/ 623 h 1264"/>
                <a:gd name="T2" fmla="*/ 1022 w 1044"/>
                <a:gd name="T3" fmla="*/ 622 h 1264"/>
                <a:gd name="T4" fmla="*/ 881 w 1044"/>
                <a:gd name="T5" fmla="*/ 617 h 1264"/>
                <a:gd name="T6" fmla="*/ 881 w 1044"/>
                <a:gd name="T7" fmla="*/ 1264 h 1264"/>
                <a:gd name="T8" fmla="*/ 165 w 1044"/>
                <a:gd name="T9" fmla="*/ 1264 h 1264"/>
                <a:gd name="T10" fmla="*/ 165 w 1044"/>
                <a:gd name="T11" fmla="*/ 617 h 1264"/>
                <a:gd name="T12" fmla="*/ 164 w 1044"/>
                <a:gd name="T13" fmla="*/ 617 h 1264"/>
                <a:gd name="T14" fmla="*/ 22 w 1044"/>
                <a:gd name="T15" fmla="*/ 622 h 1264"/>
                <a:gd name="T16" fmla="*/ 0 w 1044"/>
                <a:gd name="T17" fmla="*/ 623 h 1264"/>
                <a:gd name="T18" fmla="*/ 14 w 1044"/>
                <a:gd name="T19" fmla="*/ 272 h 1264"/>
                <a:gd name="T20" fmla="*/ 87 w 1044"/>
                <a:gd name="T21" fmla="*/ 134 h 1264"/>
                <a:gd name="T22" fmla="*/ 366 w 1044"/>
                <a:gd name="T23" fmla="*/ 0 h 1264"/>
                <a:gd name="T24" fmla="*/ 366 w 1044"/>
                <a:gd name="T25" fmla="*/ 0 h 1264"/>
                <a:gd name="T26" fmla="*/ 504 w 1044"/>
                <a:gd name="T27" fmla="*/ 108 h 1264"/>
                <a:gd name="T28" fmla="*/ 541 w 1044"/>
                <a:gd name="T29" fmla="*/ 108 h 1264"/>
                <a:gd name="T30" fmla="*/ 679 w 1044"/>
                <a:gd name="T31" fmla="*/ 0 h 1264"/>
                <a:gd name="T32" fmla="*/ 958 w 1044"/>
                <a:gd name="T33" fmla="*/ 134 h 1264"/>
                <a:gd name="T34" fmla="*/ 1031 w 1044"/>
                <a:gd name="T35" fmla="*/ 272 h 1264"/>
                <a:gd name="T36" fmla="*/ 1044 w 1044"/>
                <a:gd name="T37" fmla="*/ 623 h 1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4" h="1264">
                  <a:moveTo>
                    <a:pt x="1044" y="623"/>
                  </a:moveTo>
                  <a:lnTo>
                    <a:pt x="1022" y="622"/>
                  </a:lnTo>
                  <a:lnTo>
                    <a:pt x="881" y="617"/>
                  </a:lnTo>
                  <a:lnTo>
                    <a:pt x="881" y="1264"/>
                  </a:lnTo>
                  <a:lnTo>
                    <a:pt x="165" y="1264"/>
                  </a:lnTo>
                  <a:lnTo>
                    <a:pt x="165" y="617"/>
                  </a:lnTo>
                  <a:lnTo>
                    <a:pt x="164" y="617"/>
                  </a:lnTo>
                  <a:lnTo>
                    <a:pt x="22" y="622"/>
                  </a:lnTo>
                  <a:lnTo>
                    <a:pt x="0" y="623"/>
                  </a:lnTo>
                  <a:lnTo>
                    <a:pt x="14" y="272"/>
                  </a:lnTo>
                  <a:lnTo>
                    <a:pt x="87" y="134"/>
                  </a:lnTo>
                  <a:lnTo>
                    <a:pt x="366" y="0"/>
                  </a:lnTo>
                  <a:lnTo>
                    <a:pt x="366" y="0"/>
                  </a:lnTo>
                  <a:lnTo>
                    <a:pt x="504" y="108"/>
                  </a:lnTo>
                  <a:lnTo>
                    <a:pt x="541" y="108"/>
                  </a:lnTo>
                  <a:lnTo>
                    <a:pt x="679" y="0"/>
                  </a:lnTo>
                  <a:lnTo>
                    <a:pt x="958" y="134"/>
                  </a:lnTo>
                  <a:lnTo>
                    <a:pt x="1031" y="272"/>
                  </a:lnTo>
                  <a:lnTo>
                    <a:pt x="1044" y="623"/>
                  </a:lnTo>
                  <a:close/>
                </a:path>
              </a:pathLst>
            </a:custGeom>
            <a:solidFill>
              <a:srgbClr val="AF23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lumMod val="95000"/>
                  </a:schemeClr>
                </a:solidFill>
              </a:endParaRPr>
            </a:p>
          </p:txBody>
        </p:sp>
        <p:sp>
          <p:nvSpPr>
            <p:cNvPr id="117" name="Line 726">
              <a:extLst>
                <a:ext uri="{FF2B5EF4-FFF2-40B4-BE49-F238E27FC236}">
                  <a16:creationId xmlns:a16="http://schemas.microsoft.com/office/drawing/2014/main" id="{368E745B-4026-D326-4C05-41F7ACD1B804}"/>
                </a:ext>
              </a:extLst>
            </p:cNvPr>
            <p:cNvSpPr>
              <a:spLocks noChangeShapeType="1"/>
            </p:cNvSpPr>
            <p:nvPr/>
          </p:nvSpPr>
          <p:spPr bwMode="gray">
            <a:xfrm>
              <a:off x="12443982" y="464861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Line 727">
              <a:extLst>
                <a:ext uri="{FF2B5EF4-FFF2-40B4-BE49-F238E27FC236}">
                  <a16:creationId xmlns:a16="http://schemas.microsoft.com/office/drawing/2014/main" id="{5B3292AA-5067-C09C-5152-E8E7A775379D}"/>
                </a:ext>
              </a:extLst>
            </p:cNvPr>
            <p:cNvSpPr>
              <a:spLocks noChangeShapeType="1"/>
            </p:cNvSpPr>
            <p:nvPr/>
          </p:nvSpPr>
          <p:spPr bwMode="gray">
            <a:xfrm>
              <a:off x="12443982" y="464861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728">
              <a:extLst>
                <a:ext uri="{FF2B5EF4-FFF2-40B4-BE49-F238E27FC236}">
                  <a16:creationId xmlns:a16="http://schemas.microsoft.com/office/drawing/2014/main" id="{ACF33BE9-F3D0-7504-A093-37DE7911DF3D}"/>
                </a:ext>
              </a:extLst>
            </p:cNvPr>
            <p:cNvSpPr>
              <a:spLocks/>
            </p:cNvSpPr>
            <p:nvPr/>
          </p:nvSpPr>
          <p:spPr bwMode="gray">
            <a:xfrm>
              <a:off x="12188197" y="6237011"/>
              <a:ext cx="205075" cy="106639"/>
            </a:xfrm>
            <a:custGeom>
              <a:avLst/>
              <a:gdLst>
                <a:gd name="T0" fmla="*/ 275 w 275"/>
                <a:gd name="T1" fmla="*/ 143 h 143"/>
                <a:gd name="T2" fmla="*/ 0 w 275"/>
                <a:gd name="T3" fmla="*/ 143 h 143"/>
                <a:gd name="T4" fmla="*/ 0 w 275"/>
                <a:gd name="T5" fmla="*/ 135 h 143"/>
                <a:gd name="T6" fmla="*/ 47 w 275"/>
                <a:gd name="T7" fmla="*/ 0 h 143"/>
                <a:gd name="T8" fmla="*/ 214 w 275"/>
                <a:gd name="T9" fmla="*/ 0 h 143"/>
                <a:gd name="T10" fmla="*/ 275 w 275"/>
                <a:gd name="T11" fmla="*/ 143 h 143"/>
              </a:gdLst>
              <a:ahLst/>
              <a:cxnLst>
                <a:cxn ang="0">
                  <a:pos x="T0" y="T1"/>
                </a:cxn>
                <a:cxn ang="0">
                  <a:pos x="T2" y="T3"/>
                </a:cxn>
                <a:cxn ang="0">
                  <a:pos x="T4" y="T5"/>
                </a:cxn>
                <a:cxn ang="0">
                  <a:pos x="T6" y="T7"/>
                </a:cxn>
                <a:cxn ang="0">
                  <a:pos x="T8" y="T9"/>
                </a:cxn>
                <a:cxn ang="0">
                  <a:pos x="T10" y="T11"/>
                </a:cxn>
              </a:cxnLst>
              <a:rect l="0" t="0" r="r" b="b"/>
              <a:pathLst>
                <a:path w="275" h="143">
                  <a:moveTo>
                    <a:pt x="275" y="143"/>
                  </a:moveTo>
                  <a:lnTo>
                    <a:pt x="0" y="143"/>
                  </a:lnTo>
                  <a:lnTo>
                    <a:pt x="0" y="135"/>
                  </a:lnTo>
                  <a:lnTo>
                    <a:pt x="47" y="0"/>
                  </a:lnTo>
                  <a:lnTo>
                    <a:pt x="214" y="0"/>
                  </a:lnTo>
                  <a:lnTo>
                    <a:pt x="275" y="1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730">
              <a:extLst>
                <a:ext uri="{FF2B5EF4-FFF2-40B4-BE49-F238E27FC236}">
                  <a16:creationId xmlns:a16="http://schemas.microsoft.com/office/drawing/2014/main" id="{40FF3AB5-AE6A-FCA9-D52A-F01136E496B2}"/>
                </a:ext>
              </a:extLst>
            </p:cNvPr>
            <p:cNvSpPr>
              <a:spLocks/>
            </p:cNvSpPr>
            <p:nvPr/>
          </p:nvSpPr>
          <p:spPr bwMode="gray">
            <a:xfrm>
              <a:off x="12433542" y="4648610"/>
              <a:ext cx="115588" cy="733051"/>
            </a:xfrm>
            <a:custGeom>
              <a:avLst/>
              <a:gdLst>
                <a:gd name="T0" fmla="*/ 116 w 155"/>
                <a:gd name="T1" fmla="*/ 634 h 983"/>
                <a:gd name="T2" fmla="*/ 152 w 155"/>
                <a:gd name="T3" fmla="*/ 734 h 983"/>
                <a:gd name="T4" fmla="*/ 71 w 155"/>
                <a:gd name="T5" fmla="*/ 983 h 983"/>
                <a:gd name="T6" fmla="*/ 7 w 155"/>
                <a:gd name="T7" fmla="*/ 983 h 983"/>
                <a:gd name="T8" fmla="*/ 0 w 155"/>
                <a:gd name="T9" fmla="*/ 983 h 983"/>
                <a:gd name="T10" fmla="*/ 14 w 155"/>
                <a:gd name="T11" fmla="*/ 647 h 983"/>
                <a:gd name="T12" fmla="*/ 14 w 155"/>
                <a:gd name="T13" fmla="*/ 647 h 983"/>
                <a:gd name="T14" fmla="*/ 14 w 155"/>
                <a:gd name="T15" fmla="*/ 0 h 983"/>
                <a:gd name="T16" fmla="*/ 155 w 155"/>
                <a:gd name="T17" fmla="*/ 5 h 983"/>
                <a:gd name="T18" fmla="*/ 143 w 155"/>
                <a:gd name="T19" fmla="*/ 205 h 983"/>
                <a:gd name="T20" fmla="*/ 116 w 155"/>
                <a:gd name="T21" fmla="*/ 63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5" h="983">
                  <a:moveTo>
                    <a:pt x="116" y="634"/>
                  </a:moveTo>
                  <a:lnTo>
                    <a:pt x="152" y="734"/>
                  </a:lnTo>
                  <a:lnTo>
                    <a:pt x="71" y="983"/>
                  </a:lnTo>
                  <a:lnTo>
                    <a:pt x="7" y="983"/>
                  </a:lnTo>
                  <a:lnTo>
                    <a:pt x="0" y="983"/>
                  </a:lnTo>
                  <a:lnTo>
                    <a:pt x="14" y="647"/>
                  </a:lnTo>
                  <a:lnTo>
                    <a:pt x="14" y="647"/>
                  </a:lnTo>
                  <a:lnTo>
                    <a:pt x="14" y="0"/>
                  </a:lnTo>
                  <a:lnTo>
                    <a:pt x="155" y="5"/>
                  </a:lnTo>
                  <a:lnTo>
                    <a:pt x="143" y="205"/>
                  </a:lnTo>
                  <a:lnTo>
                    <a:pt x="116" y="634"/>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731">
              <a:extLst>
                <a:ext uri="{FF2B5EF4-FFF2-40B4-BE49-F238E27FC236}">
                  <a16:creationId xmlns:a16="http://schemas.microsoft.com/office/drawing/2014/main" id="{3BDD279C-0C99-7831-E786-BC730ABA98DC}"/>
                </a:ext>
              </a:extLst>
            </p:cNvPr>
            <p:cNvSpPr>
              <a:spLocks/>
            </p:cNvSpPr>
            <p:nvPr/>
          </p:nvSpPr>
          <p:spPr bwMode="gray">
            <a:xfrm>
              <a:off x="12549129" y="4651593"/>
              <a:ext cx="0" cy="746"/>
            </a:xfrm>
            <a:custGeom>
              <a:avLst/>
              <a:gdLst>
                <a:gd name="T0" fmla="*/ 1 h 1"/>
                <a:gd name="T1" fmla="*/ 0 h 1"/>
                <a:gd name="T2" fmla="*/ 1 h 1"/>
              </a:gdLst>
              <a:ahLst/>
              <a:cxnLst>
                <a:cxn ang="0">
                  <a:pos x="0" y="T0"/>
                </a:cxn>
                <a:cxn ang="0">
                  <a:pos x="0" y="T1"/>
                </a:cxn>
                <a:cxn ang="0">
                  <a:pos x="0" y="T2"/>
                </a:cxn>
              </a:cxnLst>
              <a:rect l="0" t="0" r="r" b="b"/>
              <a:pathLst>
                <a:path h="1">
                  <a:moveTo>
                    <a:pt x="0" y="1"/>
                  </a:move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Line 732">
              <a:extLst>
                <a:ext uri="{FF2B5EF4-FFF2-40B4-BE49-F238E27FC236}">
                  <a16:creationId xmlns:a16="http://schemas.microsoft.com/office/drawing/2014/main" id="{B2E69E56-D07C-4F73-7576-838FFC061D8F}"/>
                </a:ext>
              </a:extLst>
            </p:cNvPr>
            <p:cNvSpPr>
              <a:spLocks noChangeShapeType="1"/>
            </p:cNvSpPr>
            <p:nvPr/>
          </p:nvSpPr>
          <p:spPr bwMode="gray">
            <a:xfrm flipV="1">
              <a:off x="12549129" y="4651593"/>
              <a:ext cx="0" cy="74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733">
              <a:extLst>
                <a:ext uri="{FF2B5EF4-FFF2-40B4-BE49-F238E27FC236}">
                  <a16:creationId xmlns:a16="http://schemas.microsoft.com/office/drawing/2014/main" id="{C19031B4-FD3D-A704-85FB-933800066C5F}"/>
                </a:ext>
              </a:extLst>
            </p:cNvPr>
            <p:cNvSpPr>
              <a:spLocks/>
            </p:cNvSpPr>
            <p:nvPr/>
          </p:nvSpPr>
          <p:spPr bwMode="gray">
            <a:xfrm>
              <a:off x="11803401" y="4648610"/>
              <a:ext cx="116334" cy="733051"/>
            </a:xfrm>
            <a:custGeom>
              <a:avLst/>
              <a:gdLst>
                <a:gd name="T0" fmla="*/ 156 w 156"/>
                <a:gd name="T1" fmla="*/ 982 h 983"/>
                <a:gd name="T2" fmla="*/ 156 w 156"/>
                <a:gd name="T3" fmla="*/ 983 h 983"/>
                <a:gd name="T4" fmla="*/ 149 w 156"/>
                <a:gd name="T5" fmla="*/ 983 h 983"/>
                <a:gd name="T6" fmla="*/ 85 w 156"/>
                <a:gd name="T7" fmla="*/ 983 h 983"/>
                <a:gd name="T8" fmla="*/ 4 w 156"/>
                <a:gd name="T9" fmla="*/ 734 h 983"/>
                <a:gd name="T10" fmla="*/ 40 w 156"/>
                <a:gd name="T11" fmla="*/ 634 h 983"/>
                <a:gd name="T12" fmla="*/ 12 w 156"/>
                <a:gd name="T13" fmla="*/ 205 h 983"/>
                <a:gd name="T14" fmla="*/ 0 w 156"/>
                <a:gd name="T15" fmla="*/ 5 h 983"/>
                <a:gd name="T16" fmla="*/ 142 w 156"/>
                <a:gd name="T17" fmla="*/ 0 h 983"/>
                <a:gd name="T18" fmla="*/ 143 w 156"/>
                <a:gd name="T19" fmla="*/ 0 h 983"/>
                <a:gd name="T20" fmla="*/ 143 w 156"/>
                <a:gd name="T21" fmla="*/ 647 h 983"/>
                <a:gd name="T22" fmla="*/ 143 w 156"/>
                <a:gd name="T23" fmla="*/ 647 h 983"/>
                <a:gd name="T24" fmla="*/ 156 w 156"/>
                <a:gd name="T25" fmla="*/ 982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983">
                  <a:moveTo>
                    <a:pt x="156" y="982"/>
                  </a:moveTo>
                  <a:lnTo>
                    <a:pt x="156" y="983"/>
                  </a:lnTo>
                  <a:lnTo>
                    <a:pt x="149" y="983"/>
                  </a:lnTo>
                  <a:lnTo>
                    <a:pt x="85" y="983"/>
                  </a:lnTo>
                  <a:lnTo>
                    <a:pt x="4" y="734"/>
                  </a:lnTo>
                  <a:lnTo>
                    <a:pt x="40" y="634"/>
                  </a:lnTo>
                  <a:lnTo>
                    <a:pt x="12" y="205"/>
                  </a:lnTo>
                  <a:lnTo>
                    <a:pt x="0" y="5"/>
                  </a:lnTo>
                  <a:lnTo>
                    <a:pt x="142" y="0"/>
                  </a:lnTo>
                  <a:lnTo>
                    <a:pt x="143" y="0"/>
                  </a:lnTo>
                  <a:lnTo>
                    <a:pt x="143" y="647"/>
                  </a:lnTo>
                  <a:lnTo>
                    <a:pt x="143" y="647"/>
                  </a:lnTo>
                  <a:lnTo>
                    <a:pt x="156" y="982"/>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734">
              <a:extLst>
                <a:ext uri="{FF2B5EF4-FFF2-40B4-BE49-F238E27FC236}">
                  <a16:creationId xmlns:a16="http://schemas.microsoft.com/office/drawing/2014/main" id="{43B60662-89FD-E736-5016-108843EFD9C4}"/>
                </a:ext>
              </a:extLst>
            </p:cNvPr>
            <p:cNvSpPr>
              <a:spLocks/>
            </p:cNvSpPr>
            <p:nvPr/>
          </p:nvSpPr>
          <p:spPr bwMode="gray">
            <a:xfrm>
              <a:off x="11803401" y="4651593"/>
              <a:ext cx="0" cy="746"/>
            </a:xfrm>
            <a:custGeom>
              <a:avLst/>
              <a:gdLst>
                <a:gd name="T0" fmla="*/ 1 h 1"/>
                <a:gd name="T1" fmla="*/ 0 h 1"/>
                <a:gd name="T2" fmla="*/ 1 h 1"/>
              </a:gdLst>
              <a:ahLst/>
              <a:cxnLst>
                <a:cxn ang="0">
                  <a:pos x="0" y="T0"/>
                </a:cxn>
                <a:cxn ang="0">
                  <a:pos x="0" y="T1"/>
                </a:cxn>
                <a:cxn ang="0">
                  <a:pos x="0" y="T2"/>
                </a:cxn>
              </a:cxnLst>
              <a:rect l="0" t="0" r="r" b="b"/>
              <a:pathLst>
                <a:path h="1">
                  <a:moveTo>
                    <a:pt x="0" y="1"/>
                  </a:move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Line 735">
              <a:extLst>
                <a:ext uri="{FF2B5EF4-FFF2-40B4-BE49-F238E27FC236}">
                  <a16:creationId xmlns:a16="http://schemas.microsoft.com/office/drawing/2014/main" id="{6E821D35-2A82-EE03-AF76-830774E66CAF}"/>
                </a:ext>
              </a:extLst>
            </p:cNvPr>
            <p:cNvSpPr>
              <a:spLocks noChangeShapeType="1"/>
            </p:cNvSpPr>
            <p:nvPr/>
          </p:nvSpPr>
          <p:spPr bwMode="gray">
            <a:xfrm flipV="1">
              <a:off x="11803401" y="4651593"/>
              <a:ext cx="0" cy="74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736">
              <a:extLst>
                <a:ext uri="{FF2B5EF4-FFF2-40B4-BE49-F238E27FC236}">
                  <a16:creationId xmlns:a16="http://schemas.microsoft.com/office/drawing/2014/main" id="{5DB117D0-BFA6-A10F-E44B-BE7B312CE810}"/>
                </a:ext>
              </a:extLst>
            </p:cNvPr>
            <p:cNvSpPr>
              <a:spLocks/>
            </p:cNvSpPr>
            <p:nvPr/>
          </p:nvSpPr>
          <p:spPr bwMode="gray">
            <a:xfrm>
              <a:off x="11910040" y="5131096"/>
              <a:ext cx="533941" cy="1212554"/>
            </a:xfrm>
            <a:custGeom>
              <a:avLst/>
              <a:gdLst>
                <a:gd name="T0" fmla="*/ 716 w 716"/>
                <a:gd name="T1" fmla="*/ 0 h 1626"/>
                <a:gd name="T2" fmla="*/ 702 w 716"/>
                <a:gd name="T3" fmla="*/ 336 h 1626"/>
                <a:gd name="T4" fmla="*/ 587 w 716"/>
                <a:gd name="T5" fmla="*/ 1483 h 1626"/>
                <a:gd name="T6" fmla="*/ 420 w 716"/>
                <a:gd name="T7" fmla="*/ 1483 h 1626"/>
                <a:gd name="T8" fmla="*/ 373 w 716"/>
                <a:gd name="T9" fmla="*/ 1618 h 1626"/>
                <a:gd name="T10" fmla="*/ 373 w 716"/>
                <a:gd name="T11" fmla="*/ 1626 h 1626"/>
                <a:gd name="T12" fmla="*/ 343 w 716"/>
                <a:gd name="T13" fmla="*/ 1626 h 1626"/>
                <a:gd name="T14" fmla="*/ 343 w 716"/>
                <a:gd name="T15" fmla="*/ 1618 h 1626"/>
                <a:gd name="T16" fmla="*/ 296 w 716"/>
                <a:gd name="T17" fmla="*/ 1483 h 1626"/>
                <a:gd name="T18" fmla="*/ 129 w 716"/>
                <a:gd name="T19" fmla="*/ 1483 h 1626"/>
                <a:gd name="T20" fmla="*/ 13 w 716"/>
                <a:gd name="T21" fmla="*/ 336 h 1626"/>
                <a:gd name="T22" fmla="*/ 13 w 716"/>
                <a:gd name="T23" fmla="*/ 335 h 1626"/>
                <a:gd name="T24" fmla="*/ 0 w 716"/>
                <a:gd name="T25" fmla="*/ 0 h 1626"/>
                <a:gd name="T26" fmla="*/ 716 w 716"/>
                <a:gd name="T27"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6" h="1626">
                  <a:moveTo>
                    <a:pt x="716" y="0"/>
                  </a:moveTo>
                  <a:lnTo>
                    <a:pt x="702" y="336"/>
                  </a:lnTo>
                  <a:lnTo>
                    <a:pt x="587" y="1483"/>
                  </a:lnTo>
                  <a:lnTo>
                    <a:pt x="420" y="1483"/>
                  </a:lnTo>
                  <a:lnTo>
                    <a:pt x="373" y="1618"/>
                  </a:lnTo>
                  <a:lnTo>
                    <a:pt x="373" y="1626"/>
                  </a:lnTo>
                  <a:lnTo>
                    <a:pt x="343" y="1626"/>
                  </a:lnTo>
                  <a:lnTo>
                    <a:pt x="343" y="1618"/>
                  </a:lnTo>
                  <a:lnTo>
                    <a:pt x="296" y="1483"/>
                  </a:lnTo>
                  <a:lnTo>
                    <a:pt x="129" y="1483"/>
                  </a:lnTo>
                  <a:lnTo>
                    <a:pt x="13" y="336"/>
                  </a:lnTo>
                  <a:lnTo>
                    <a:pt x="13" y="335"/>
                  </a:lnTo>
                  <a:lnTo>
                    <a:pt x="0" y="0"/>
                  </a:lnTo>
                  <a:lnTo>
                    <a:pt x="716" y="0"/>
                  </a:lnTo>
                  <a:close/>
                </a:path>
              </a:pathLst>
            </a:custGeom>
            <a:solidFill>
              <a:srgbClr val="3C91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738">
              <a:extLst>
                <a:ext uri="{FF2B5EF4-FFF2-40B4-BE49-F238E27FC236}">
                  <a16:creationId xmlns:a16="http://schemas.microsoft.com/office/drawing/2014/main" id="{110B4BD8-7F3F-00F9-053E-2EBBDE5323E5}"/>
                </a:ext>
              </a:extLst>
            </p:cNvPr>
            <p:cNvSpPr>
              <a:spLocks/>
            </p:cNvSpPr>
            <p:nvPr/>
          </p:nvSpPr>
          <p:spPr bwMode="gray">
            <a:xfrm>
              <a:off x="11960750" y="6237011"/>
              <a:ext cx="205075" cy="106639"/>
            </a:xfrm>
            <a:custGeom>
              <a:avLst/>
              <a:gdLst>
                <a:gd name="T0" fmla="*/ 275 w 275"/>
                <a:gd name="T1" fmla="*/ 135 h 143"/>
                <a:gd name="T2" fmla="*/ 275 w 275"/>
                <a:gd name="T3" fmla="*/ 143 h 143"/>
                <a:gd name="T4" fmla="*/ 0 w 275"/>
                <a:gd name="T5" fmla="*/ 143 h 143"/>
                <a:gd name="T6" fmla="*/ 61 w 275"/>
                <a:gd name="T7" fmla="*/ 0 h 143"/>
                <a:gd name="T8" fmla="*/ 228 w 275"/>
                <a:gd name="T9" fmla="*/ 0 h 143"/>
                <a:gd name="T10" fmla="*/ 275 w 275"/>
                <a:gd name="T11" fmla="*/ 135 h 143"/>
              </a:gdLst>
              <a:ahLst/>
              <a:cxnLst>
                <a:cxn ang="0">
                  <a:pos x="T0" y="T1"/>
                </a:cxn>
                <a:cxn ang="0">
                  <a:pos x="T2" y="T3"/>
                </a:cxn>
                <a:cxn ang="0">
                  <a:pos x="T4" y="T5"/>
                </a:cxn>
                <a:cxn ang="0">
                  <a:pos x="T6" y="T7"/>
                </a:cxn>
                <a:cxn ang="0">
                  <a:pos x="T8" y="T9"/>
                </a:cxn>
                <a:cxn ang="0">
                  <a:pos x="T10" y="T11"/>
                </a:cxn>
              </a:cxnLst>
              <a:rect l="0" t="0" r="r" b="b"/>
              <a:pathLst>
                <a:path w="275" h="143">
                  <a:moveTo>
                    <a:pt x="275" y="135"/>
                  </a:moveTo>
                  <a:lnTo>
                    <a:pt x="275" y="143"/>
                  </a:lnTo>
                  <a:lnTo>
                    <a:pt x="0" y="143"/>
                  </a:lnTo>
                  <a:lnTo>
                    <a:pt x="61" y="0"/>
                  </a:lnTo>
                  <a:lnTo>
                    <a:pt x="228" y="0"/>
                  </a:lnTo>
                  <a:lnTo>
                    <a:pt x="275" y="135"/>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764">
              <a:extLst>
                <a:ext uri="{FF2B5EF4-FFF2-40B4-BE49-F238E27FC236}">
                  <a16:creationId xmlns:a16="http://schemas.microsoft.com/office/drawing/2014/main" id="{EF09A088-22CA-33CD-5AB4-1D498F761F02}"/>
                </a:ext>
              </a:extLst>
            </p:cNvPr>
            <p:cNvSpPr>
              <a:spLocks/>
            </p:cNvSpPr>
            <p:nvPr/>
          </p:nvSpPr>
          <p:spPr bwMode="gray">
            <a:xfrm>
              <a:off x="12168062" y="5353323"/>
              <a:ext cx="17152" cy="990327"/>
            </a:xfrm>
            <a:custGeom>
              <a:avLst/>
              <a:gdLst>
                <a:gd name="T0" fmla="*/ 0 w 23"/>
                <a:gd name="T1" fmla="*/ 1328 h 1328"/>
                <a:gd name="T2" fmla="*/ 0 w 23"/>
                <a:gd name="T3" fmla="*/ 0 h 1328"/>
                <a:gd name="T4" fmla="*/ 22 w 23"/>
                <a:gd name="T5" fmla="*/ 0 h 1328"/>
                <a:gd name="T6" fmla="*/ 23 w 23"/>
                <a:gd name="T7" fmla="*/ 1328 h 1328"/>
                <a:gd name="T8" fmla="*/ 0 w 23"/>
                <a:gd name="T9" fmla="*/ 1328 h 1328"/>
              </a:gdLst>
              <a:ahLst/>
              <a:cxnLst>
                <a:cxn ang="0">
                  <a:pos x="T0" y="T1"/>
                </a:cxn>
                <a:cxn ang="0">
                  <a:pos x="T2" y="T3"/>
                </a:cxn>
                <a:cxn ang="0">
                  <a:pos x="T4" y="T5"/>
                </a:cxn>
                <a:cxn ang="0">
                  <a:pos x="T6" y="T7"/>
                </a:cxn>
                <a:cxn ang="0">
                  <a:pos x="T8" y="T9"/>
                </a:cxn>
              </a:cxnLst>
              <a:rect l="0" t="0" r="r" b="b"/>
              <a:pathLst>
                <a:path w="23" h="1328">
                  <a:moveTo>
                    <a:pt x="0" y="1328"/>
                  </a:moveTo>
                  <a:lnTo>
                    <a:pt x="0" y="0"/>
                  </a:lnTo>
                  <a:lnTo>
                    <a:pt x="22" y="0"/>
                  </a:lnTo>
                  <a:lnTo>
                    <a:pt x="23" y="1328"/>
                  </a:lnTo>
                  <a:lnTo>
                    <a:pt x="0" y="1328"/>
                  </a:lnTo>
                  <a:close/>
                </a:path>
              </a:pathLst>
            </a:custGeom>
            <a:solidFill>
              <a:srgbClr val="0064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11" name="Picture 10">
            <a:extLst>
              <a:ext uri="{FF2B5EF4-FFF2-40B4-BE49-F238E27FC236}">
                <a16:creationId xmlns:a16="http://schemas.microsoft.com/office/drawing/2014/main" id="{C67B7E02-F4CE-064E-06F0-4DE33022B789}"/>
              </a:ext>
            </a:extLst>
          </p:cNvPr>
          <p:cNvPicPr>
            <a:picLocks noChangeAspect="1"/>
          </p:cNvPicPr>
          <p:nvPr/>
        </p:nvPicPr>
        <p:blipFill>
          <a:blip r:embed="rId2"/>
          <a:stretch>
            <a:fillRect/>
          </a:stretch>
        </p:blipFill>
        <p:spPr>
          <a:xfrm>
            <a:off x="788701" y="1742152"/>
            <a:ext cx="2569941" cy="656736"/>
          </a:xfrm>
          <a:prstGeom prst="rect">
            <a:avLst/>
          </a:prstGeom>
        </p:spPr>
      </p:pic>
      <p:sp>
        <p:nvSpPr>
          <p:cNvPr id="129" name="TextBox 128">
            <a:extLst>
              <a:ext uri="{FF2B5EF4-FFF2-40B4-BE49-F238E27FC236}">
                <a16:creationId xmlns:a16="http://schemas.microsoft.com/office/drawing/2014/main" id="{65469487-1AE7-E9A6-E085-3FEA820306B9}"/>
              </a:ext>
            </a:extLst>
          </p:cNvPr>
          <p:cNvSpPr txBox="1"/>
          <p:nvPr/>
        </p:nvSpPr>
        <p:spPr>
          <a:xfrm>
            <a:off x="597992" y="2540421"/>
            <a:ext cx="2769297" cy="184666"/>
          </a:xfrm>
          <a:prstGeom prst="rect">
            <a:avLst/>
          </a:prstGeom>
          <a:noFill/>
        </p:spPr>
        <p:txBody>
          <a:bodyPr wrap="square" lIns="0" tIns="0" rIns="0" bIns="0" rtlCol="0">
            <a:spAutoFit/>
          </a:bodyPr>
          <a:lstStyle/>
          <a:p>
            <a:pPr algn="ctr"/>
            <a:r>
              <a:rPr lang="en-US" altLang="zh-CN" sz="1200" b="1" dirty="0"/>
              <a:t>Components  and Design parameters</a:t>
            </a:r>
            <a:endParaRPr lang="en-US" sz="1200" b="1" dirty="0"/>
          </a:p>
        </p:txBody>
      </p:sp>
      <p:pic>
        <p:nvPicPr>
          <p:cNvPr id="131" name="Picture 130">
            <a:extLst>
              <a:ext uri="{FF2B5EF4-FFF2-40B4-BE49-F238E27FC236}">
                <a16:creationId xmlns:a16="http://schemas.microsoft.com/office/drawing/2014/main" id="{06B3BE6A-BEFD-FD48-7CD2-96E5D81AD753}"/>
              </a:ext>
            </a:extLst>
          </p:cNvPr>
          <p:cNvPicPr>
            <a:picLocks noChangeAspect="1"/>
          </p:cNvPicPr>
          <p:nvPr/>
        </p:nvPicPr>
        <p:blipFill>
          <a:blip r:embed="rId3"/>
          <a:stretch>
            <a:fillRect/>
          </a:stretch>
        </p:blipFill>
        <p:spPr>
          <a:xfrm>
            <a:off x="811049" y="2888314"/>
            <a:ext cx="2296972" cy="1119426"/>
          </a:xfrm>
          <a:prstGeom prst="rect">
            <a:avLst/>
          </a:prstGeom>
        </p:spPr>
      </p:pic>
      <p:pic>
        <p:nvPicPr>
          <p:cNvPr id="132" name="Picture 131">
            <a:extLst>
              <a:ext uri="{FF2B5EF4-FFF2-40B4-BE49-F238E27FC236}">
                <a16:creationId xmlns:a16="http://schemas.microsoft.com/office/drawing/2014/main" id="{B66079DE-A15B-975C-B7A6-1DFB72969BCC}"/>
              </a:ext>
            </a:extLst>
          </p:cNvPr>
          <p:cNvPicPr>
            <a:picLocks noChangeAspect="1"/>
          </p:cNvPicPr>
          <p:nvPr/>
        </p:nvPicPr>
        <p:blipFill>
          <a:blip r:embed="rId4"/>
          <a:stretch>
            <a:fillRect/>
          </a:stretch>
        </p:blipFill>
        <p:spPr>
          <a:xfrm>
            <a:off x="8833359" y="1956134"/>
            <a:ext cx="2978916" cy="2160045"/>
          </a:xfrm>
          <a:prstGeom prst="rect">
            <a:avLst/>
          </a:prstGeom>
        </p:spPr>
      </p:pic>
      <p:pic>
        <p:nvPicPr>
          <p:cNvPr id="13" name="Picture 12">
            <a:extLst>
              <a:ext uri="{FF2B5EF4-FFF2-40B4-BE49-F238E27FC236}">
                <a16:creationId xmlns:a16="http://schemas.microsoft.com/office/drawing/2014/main" id="{62CEB355-D750-E9DE-9C53-2A42489F5A5C}"/>
              </a:ext>
            </a:extLst>
          </p:cNvPr>
          <p:cNvPicPr>
            <a:picLocks noChangeAspect="1"/>
          </p:cNvPicPr>
          <p:nvPr/>
        </p:nvPicPr>
        <p:blipFill>
          <a:blip r:embed="rId5"/>
          <a:stretch>
            <a:fillRect/>
          </a:stretch>
        </p:blipFill>
        <p:spPr>
          <a:xfrm>
            <a:off x="1721669" y="2277065"/>
            <a:ext cx="1636966" cy="184666"/>
          </a:xfrm>
          <a:prstGeom prst="rect">
            <a:avLst/>
          </a:prstGeom>
        </p:spPr>
      </p:pic>
      <p:sp>
        <p:nvSpPr>
          <p:cNvPr id="130" name="TextBox 129">
            <a:extLst>
              <a:ext uri="{FF2B5EF4-FFF2-40B4-BE49-F238E27FC236}">
                <a16:creationId xmlns:a16="http://schemas.microsoft.com/office/drawing/2014/main" id="{59F5196B-CBBE-B328-97D3-117032448CD8}"/>
              </a:ext>
            </a:extLst>
          </p:cNvPr>
          <p:cNvSpPr txBox="1"/>
          <p:nvPr/>
        </p:nvSpPr>
        <p:spPr>
          <a:xfrm>
            <a:off x="1093786" y="3964747"/>
            <a:ext cx="1623317" cy="184666"/>
          </a:xfrm>
          <a:prstGeom prst="rect">
            <a:avLst/>
          </a:prstGeom>
          <a:noFill/>
        </p:spPr>
        <p:txBody>
          <a:bodyPr wrap="square" lIns="0" tIns="0" rIns="0" bIns="0" rtlCol="0">
            <a:spAutoFit/>
          </a:bodyPr>
          <a:lstStyle/>
          <a:p>
            <a:pPr algn="ctr"/>
            <a:r>
              <a:rPr lang="en-US" sz="1200" b="1" dirty="0"/>
              <a:t>Text Description</a:t>
            </a:r>
          </a:p>
        </p:txBody>
      </p:sp>
      <p:pic>
        <p:nvPicPr>
          <p:cNvPr id="17" name="Picture 16">
            <a:extLst>
              <a:ext uri="{FF2B5EF4-FFF2-40B4-BE49-F238E27FC236}">
                <a16:creationId xmlns:a16="http://schemas.microsoft.com/office/drawing/2014/main" id="{697C3C2D-CB74-FCFD-B337-1AC661DC70CF}"/>
              </a:ext>
            </a:extLst>
          </p:cNvPr>
          <p:cNvPicPr>
            <a:picLocks noChangeAspect="1"/>
          </p:cNvPicPr>
          <p:nvPr/>
        </p:nvPicPr>
        <p:blipFill>
          <a:blip r:embed="rId6"/>
          <a:stretch>
            <a:fillRect/>
          </a:stretch>
        </p:blipFill>
        <p:spPr>
          <a:xfrm>
            <a:off x="897653" y="4335955"/>
            <a:ext cx="2123764" cy="1017431"/>
          </a:xfrm>
          <a:prstGeom prst="rect">
            <a:avLst/>
          </a:prstGeom>
        </p:spPr>
      </p:pic>
      <p:sp>
        <p:nvSpPr>
          <p:cNvPr id="133" name="TextBox 132">
            <a:extLst>
              <a:ext uri="{FF2B5EF4-FFF2-40B4-BE49-F238E27FC236}">
                <a16:creationId xmlns:a16="http://schemas.microsoft.com/office/drawing/2014/main" id="{8E15D3D6-003C-86E5-2094-74470DDEC609}"/>
              </a:ext>
            </a:extLst>
          </p:cNvPr>
          <p:cNvSpPr txBox="1"/>
          <p:nvPr/>
        </p:nvSpPr>
        <p:spPr>
          <a:xfrm>
            <a:off x="1129746" y="5494914"/>
            <a:ext cx="1623317" cy="184666"/>
          </a:xfrm>
          <a:prstGeom prst="rect">
            <a:avLst/>
          </a:prstGeom>
          <a:noFill/>
        </p:spPr>
        <p:txBody>
          <a:bodyPr wrap="square" lIns="0" tIns="0" rIns="0" bIns="0" rtlCol="0">
            <a:spAutoFit/>
          </a:bodyPr>
          <a:lstStyle/>
          <a:p>
            <a:pPr algn="ctr"/>
            <a:r>
              <a:rPr lang="en-US" sz="1200" b="1" dirty="0"/>
              <a:t>Maintenance Report</a:t>
            </a:r>
          </a:p>
        </p:txBody>
      </p:sp>
      <p:sp>
        <p:nvSpPr>
          <p:cNvPr id="18" name="Arrow: Chevron 17">
            <a:extLst>
              <a:ext uri="{FF2B5EF4-FFF2-40B4-BE49-F238E27FC236}">
                <a16:creationId xmlns:a16="http://schemas.microsoft.com/office/drawing/2014/main" id="{D71D206D-5E4D-2EA1-17DF-B84271EBA5BB}"/>
              </a:ext>
            </a:extLst>
          </p:cNvPr>
          <p:cNvSpPr/>
          <p:nvPr/>
        </p:nvSpPr>
        <p:spPr>
          <a:xfrm>
            <a:off x="3729528" y="2180110"/>
            <a:ext cx="254383" cy="39423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tx1"/>
              </a:solidFill>
            </a:endParaRPr>
          </a:p>
        </p:txBody>
      </p:sp>
      <p:sp>
        <p:nvSpPr>
          <p:cNvPr id="134" name="Arrow: Chevron 133">
            <a:extLst>
              <a:ext uri="{FF2B5EF4-FFF2-40B4-BE49-F238E27FC236}">
                <a16:creationId xmlns:a16="http://schemas.microsoft.com/office/drawing/2014/main" id="{3BE80C88-290D-53D2-865A-D5778149B2A2}"/>
              </a:ext>
            </a:extLst>
          </p:cNvPr>
          <p:cNvSpPr/>
          <p:nvPr/>
        </p:nvSpPr>
        <p:spPr>
          <a:xfrm>
            <a:off x="3704761" y="3318767"/>
            <a:ext cx="254383" cy="39423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tx1"/>
              </a:solidFill>
            </a:endParaRPr>
          </a:p>
        </p:txBody>
      </p:sp>
      <p:sp>
        <p:nvSpPr>
          <p:cNvPr id="135" name="Arrow: Chevron 134">
            <a:extLst>
              <a:ext uri="{FF2B5EF4-FFF2-40B4-BE49-F238E27FC236}">
                <a16:creationId xmlns:a16="http://schemas.microsoft.com/office/drawing/2014/main" id="{334A6687-6335-9177-A3AD-3CACD6C8F8CD}"/>
              </a:ext>
            </a:extLst>
          </p:cNvPr>
          <p:cNvSpPr/>
          <p:nvPr/>
        </p:nvSpPr>
        <p:spPr>
          <a:xfrm>
            <a:off x="3702299" y="4515793"/>
            <a:ext cx="254383" cy="394233"/>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tx1"/>
              </a:solidFill>
            </a:endParaRPr>
          </a:p>
        </p:txBody>
      </p:sp>
      <p:sp>
        <p:nvSpPr>
          <p:cNvPr id="136" name="Rectangle 135">
            <a:extLst>
              <a:ext uri="{FF2B5EF4-FFF2-40B4-BE49-F238E27FC236}">
                <a16:creationId xmlns:a16="http://schemas.microsoft.com/office/drawing/2014/main" id="{F312A27A-19FC-3F04-28D5-B2CB946FBB6D}"/>
              </a:ext>
            </a:extLst>
          </p:cNvPr>
          <p:cNvSpPr/>
          <p:nvPr/>
        </p:nvSpPr>
        <p:spPr>
          <a:xfrm>
            <a:off x="4291603" y="1832046"/>
            <a:ext cx="3691417" cy="866385"/>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7" name="TextBox 136">
            <a:extLst>
              <a:ext uri="{FF2B5EF4-FFF2-40B4-BE49-F238E27FC236}">
                <a16:creationId xmlns:a16="http://schemas.microsoft.com/office/drawing/2014/main" id="{A9B515DA-9574-22D7-6086-ED7AE7614CBF}"/>
              </a:ext>
            </a:extLst>
          </p:cNvPr>
          <p:cNvSpPr txBox="1"/>
          <p:nvPr/>
        </p:nvSpPr>
        <p:spPr>
          <a:xfrm>
            <a:off x="4728529" y="1914749"/>
            <a:ext cx="3196936" cy="369332"/>
          </a:xfrm>
          <a:prstGeom prst="rect">
            <a:avLst/>
          </a:prstGeom>
          <a:noFill/>
        </p:spPr>
        <p:txBody>
          <a:bodyPr wrap="square" lIns="0" tIns="0" rIns="0" bIns="0" rtlCol="0">
            <a:spAutoFit/>
          </a:bodyPr>
          <a:lstStyle/>
          <a:p>
            <a:r>
              <a:rPr lang="en-US" altLang="zh-CN" sz="1200" b="1" dirty="0"/>
              <a:t>Script (SPARQL) import pattern forms maintenance knowledge ontology</a:t>
            </a:r>
            <a:endParaRPr lang="en-US" sz="1200" b="1" dirty="0"/>
          </a:p>
        </p:txBody>
      </p:sp>
      <p:pic>
        <p:nvPicPr>
          <p:cNvPr id="138" name="Graphic 137" descr="Checkbox Checked with solid fill">
            <a:extLst>
              <a:ext uri="{FF2B5EF4-FFF2-40B4-BE49-F238E27FC236}">
                <a16:creationId xmlns:a16="http://schemas.microsoft.com/office/drawing/2014/main" id="{670FEA54-BC85-A2FF-F376-F0B278453F4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6482" y="1875018"/>
            <a:ext cx="402047" cy="402047"/>
          </a:xfrm>
          <a:prstGeom prst="rect">
            <a:avLst/>
          </a:prstGeom>
        </p:spPr>
      </p:pic>
      <p:pic>
        <p:nvPicPr>
          <p:cNvPr id="139" name="Graphic 138" descr="Checkbox Checked with solid fill">
            <a:extLst>
              <a:ext uri="{FF2B5EF4-FFF2-40B4-BE49-F238E27FC236}">
                <a16:creationId xmlns:a16="http://schemas.microsoft.com/office/drawing/2014/main" id="{D1692E6A-1D46-F5EF-1065-53218A77A8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58132" y="6194375"/>
            <a:ext cx="402047" cy="402047"/>
          </a:xfrm>
          <a:prstGeom prst="rect">
            <a:avLst/>
          </a:prstGeom>
        </p:spPr>
      </p:pic>
      <p:pic>
        <p:nvPicPr>
          <p:cNvPr id="140" name="Graphic 139" descr="Checkbox Checked with solid fill">
            <a:extLst>
              <a:ext uri="{FF2B5EF4-FFF2-40B4-BE49-F238E27FC236}">
                <a16:creationId xmlns:a16="http://schemas.microsoft.com/office/drawing/2014/main" id="{ED0155A4-C811-55C2-24E7-5E287E831D4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43071" y="6224243"/>
            <a:ext cx="402047" cy="402047"/>
          </a:xfrm>
          <a:prstGeom prst="rect">
            <a:avLst/>
          </a:prstGeom>
        </p:spPr>
      </p:pic>
      <p:pic>
        <p:nvPicPr>
          <p:cNvPr id="141" name="Graphic 140" descr="Checkbox Checked with solid fill">
            <a:extLst>
              <a:ext uri="{FF2B5EF4-FFF2-40B4-BE49-F238E27FC236}">
                <a16:creationId xmlns:a16="http://schemas.microsoft.com/office/drawing/2014/main" id="{B51BCE34-3819-E711-2854-ED016C4BCD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6481" y="2291257"/>
            <a:ext cx="402047" cy="402047"/>
          </a:xfrm>
          <a:prstGeom prst="rect">
            <a:avLst/>
          </a:prstGeom>
        </p:spPr>
      </p:pic>
      <p:sp>
        <p:nvSpPr>
          <p:cNvPr id="142" name="TextBox 141">
            <a:extLst>
              <a:ext uri="{FF2B5EF4-FFF2-40B4-BE49-F238E27FC236}">
                <a16:creationId xmlns:a16="http://schemas.microsoft.com/office/drawing/2014/main" id="{3688B355-EB84-88D2-1574-9613398F951C}"/>
              </a:ext>
            </a:extLst>
          </p:cNvPr>
          <p:cNvSpPr txBox="1"/>
          <p:nvPr/>
        </p:nvSpPr>
        <p:spPr>
          <a:xfrm>
            <a:off x="4728528" y="2384509"/>
            <a:ext cx="3196936" cy="184666"/>
          </a:xfrm>
          <a:prstGeom prst="rect">
            <a:avLst/>
          </a:prstGeom>
          <a:noFill/>
        </p:spPr>
        <p:txBody>
          <a:bodyPr wrap="square" lIns="0" tIns="0" rIns="0" bIns="0" rtlCol="0">
            <a:spAutoFit/>
          </a:bodyPr>
          <a:lstStyle/>
          <a:p>
            <a:r>
              <a:rPr lang="en-US" altLang="zh-CN" sz="1200" b="1" dirty="0"/>
              <a:t>Support ontology edit by UX </a:t>
            </a:r>
            <a:endParaRPr lang="en-US" sz="1200" b="1" dirty="0"/>
          </a:p>
        </p:txBody>
      </p:sp>
      <p:sp>
        <p:nvSpPr>
          <p:cNvPr id="143" name="Rectangle 142">
            <a:extLst>
              <a:ext uri="{FF2B5EF4-FFF2-40B4-BE49-F238E27FC236}">
                <a16:creationId xmlns:a16="http://schemas.microsoft.com/office/drawing/2014/main" id="{2E6FD40B-1719-6D93-6B6C-88335AD9B4AB}"/>
              </a:ext>
            </a:extLst>
          </p:cNvPr>
          <p:cNvSpPr/>
          <p:nvPr/>
        </p:nvSpPr>
        <p:spPr>
          <a:xfrm>
            <a:off x="4291602" y="3021832"/>
            <a:ext cx="3691417" cy="1086368"/>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4" name="TextBox 143">
            <a:extLst>
              <a:ext uri="{FF2B5EF4-FFF2-40B4-BE49-F238E27FC236}">
                <a16:creationId xmlns:a16="http://schemas.microsoft.com/office/drawing/2014/main" id="{6308D74B-558E-364A-566D-1B2836D9C8C9}"/>
              </a:ext>
            </a:extLst>
          </p:cNvPr>
          <p:cNvSpPr txBox="1"/>
          <p:nvPr/>
        </p:nvSpPr>
        <p:spPr>
          <a:xfrm>
            <a:off x="4728528" y="3104535"/>
            <a:ext cx="3196936" cy="553998"/>
          </a:xfrm>
          <a:prstGeom prst="rect">
            <a:avLst/>
          </a:prstGeom>
          <a:noFill/>
        </p:spPr>
        <p:txBody>
          <a:bodyPr wrap="square" lIns="0" tIns="0" rIns="0" bIns="0" rtlCol="0">
            <a:spAutoFit/>
          </a:bodyPr>
          <a:lstStyle/>
          <a:p>
            <a:r>
              <a:rPr lang="en-US" sz="1200" b="1" dirty="0"/>
              <a:t>Semantic extraction by defined rules or templates (e.g. XXX</a:t>
            </a:r>
            <a:r>
              <a:rPr lang="zh-CN" altLang="en-US" sz="1200" b="1" dirty="0"/>
              <a:t>故障</a:t>
            </a:r>
            <a:r>
              <a:rPr lang="en-US" altLang="zh-CN" sz="1200" b="1" dirty="0"/>
              <a:t>/</a:t>
            </a:r>
            <a:r>
              <a:rPr lang="zh-CN" altLang="en-US" sz="1200" b="1" dirty="0"/>
              <a:t>异常</a:t>
            </a:r>
            <a:r>
              <a:rPr lang="en-US" altLang="zh-CN" sz="1200" b="1" dirty="0"/>
              <a:t>/</a:t>
            </a:r>
            <a:r>
              <a:rPr lang="zh-CN" altLang="en-US" sz="1200" b="1" dirty="0"/>
              <a:t>宕机</a:t>
            </a:r>
            <a:r>
              <a:rPr lang="en-US" altLang="zh-CN" sz="1200" b="1" dirty="0"/>
              <a:t>/</a:t>
            </a:r>
            <a:r>
              <a:rPr lang="zh-CN" altLang="en-US" sz="1200" b="1" dirty="0"/>
              <a:t>断电</a:t>
            </a:r>
            <a:r>
              <a:rPr lang="en-US" altLang="zh-CN" sz="1200" b="1" dirty="0"/>
              <a:t>…</a:t>
            </a:r>
            <a:r>
              <a:rPr lang="zh-CN" altLang="en-US" sz="1200" b="1" dirty="0"/>
              <a:t>导致</a:t>
            </a:r>
            <a:r>
              <a:rPr lang="en-US" altLang="zh-CN" sz="1200" b="1" dirty="0"/>
              <a:t>/</a:t>
            </a:r>
            <a:r>
              <a:rPr lang="zh-CN" altLang="en-US" sz="1200" b="1" dirty="0"/>
              <a:t>致使</a:t>
            </a:r>
            <a:r>
              <a:rPr lang="en-US" altLang="zh-CN" sz="1200" b="1" dirty="0"/>
              <a:t>/</a:t>
            </a:r>
            <a:r>
              <a:rPr lang="zh-CN" altLang="en-US" sz="1200" b="1" dirty="0"/>
              <a:t>损坏</a:t>
            </a:r>
            <a:r>
              <a:rPr lang="en-US" altLang="zh-CN" sz="1200" b="1" dirty="0"/>
              <a:t>/</a:t>
            </a:r>
            <a:r>
              <a:rPr lang="zh-CN" altLang="en-US" sz="1200" b="1" dirty="0"/>
              <a:t>表征</a:t>
            </a:r>
            <a:r>
              <a:rPr lang="en-US" altLang="zh-CN" sz="1200" b="1" dirty="0"/>
              <a:t>….XXX</a:t>
            </a:r>
            <a:r>
              <a:rPr lang="en-US" sz="1200" b="1" dirty="0"/>
              <a:t>) </a:t>
            </a:r>
          </a:p>
        </p:txBody>
      </p:sp>
      <p:pic>
        <p:nvPicPr>
          <p:cNvPr id="145" name="Graphic 144" descr="Checkbox Checked with solid fill">
            <a:extLst>
              <a:ext uri="{FF2B5EF4-FFF2-40B4-BE49-F238E27FC236}">
                <a16:creationId xmlns:a16="http://schemas.microsoft.com/office/drawing/2014/main" id="{1C8A6BCA-7E66-6226-0CF1-4CB4A9D782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6481" y="3064804"/>
            <a:ext cx="402047" cy="402047"/>
          </a:xfrm>
          <a:prstGeom prst="rect">
            <a:avLst/>
          </a:prstGeom>
        </p:spPr>
      </p:pic>
      <p:pic>
        <p:nvPicPr>
          <p:cNvPr id="146" name="Graphic 145" descr="Checkbox Checked with solid fill">
            <a:extLst>
              <a:ext uri="{FF2B5EF4-FFF2-40B4-BE49-F238E27FC236}">
                <a16:creationId xmlns:a16="http://schemas.microsoft.com/office/drawing/2014/main" id="{5A5733AE-E630-E284-B195-D59608CBCB9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6480" y="3635153"/>
            <a:ext cx="402047" cy="402047"/>
          </a:xfrm>
          <a:prstGeom prst="rect">
            <a:avLst/>
          </a:prstGeom>
        </p:spPr>
      </p:pic>
      <p:sp>
        <p:nvSpPr>
          <p:cNvPr id="147" name="TextBox 146">
            <a:extLst>
              <a:ext uri="{FF2B5EF4-FFF2-40B4-BE49-F238E27FC236}">
                <a16:creationId xmlns:a16="http://schemas.microsoft.com/office/drawing/2014/main" id="{BB572872-43A3-9840-DC82-66C3E83266DE}"/>
              </a:ext>
            </a:extLst>
          </p:cNvPr>
          <p:cNvSpPr txBox="1"/>
          <p:nvPr/>
        </p:nvSpPr>
        <p:spPr>
          <a:xfrm>
            <a:off x="4728527" y="3728405"/>
            <a:ext cx="3196936" cy="369332"/>
          </a:xfrm>
          <a:prstGeom prst="rect">
            <a:avLst/>
          </a:prstGeom>
          <a:noFill/>
        </p:spPr>
        <p:txBody>
          <a:bodyPr wrap="square" lIns="0" tIns="0" rIns="0" bIns="0" rtlCol="0">
            <a:spAutoFit/>
          </a:bodyPr>
          <a:lstStyle/>
          <a:p>
            <a:r>
              <a:rPr lang="en-US" altLang="zh-CN" sz="1200" b="1" dirty="0"/>
              <a:t>Extraction training by AI algorithms (Irregular input) </a:t>
            </a:r>
            <a:endParaRPr lang="en-US" sz="1200" b="1" dirty="0"/>
          </a:p>
        </p:txBody>
      </p:sp>
      <p:sp>
        <p:nvSpPr>
          <p:cNvPr id="148" name="Rectangle 147">
            <a:extLst>
              <a:ext uri="{FF2B5EF4-FFF2-40B4-BE49-F238E27FC236}">
                <a16:creationId xmlns:a16="http://schemas.microsoft.com/office/drawing/2014/main" id="{BFE92840-5561-0F88-A0F6-63255B546FAA}"/>
              </a:ext>
            </a:extLst>
          </p:cNvPr>
          <p:cNvSpPr/>
          <p:nvPr/>
        </p:nvSpPr>
        <p:spPr>
          <a:xfrm>
            <a:off x="4291601" y="4421328"/>
            <a:ext cx="3691417" cy="866385"/>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9" name="TextBox 148">
            <a:extLst>
              <a:ext uri="{FF2B5EF4-FFF2-40B4-BE49-F238E27FC236}">
                <a16:creationId xmlns:a16="http://schemas.microsoft.com/office/drawing/2014/main" id="{BBC09864-1013-D635-B701-207E09F54983}"/>
              </a:ext>
            </a:extLst>
          </p:cNvPr>
          <p:cNvSpPr txBox="1"/>
          <p:nvPr/>
        </p:nvSpPr>
        <p:spPr>
          <a:xfrm>
            <a:off x="4728526" y="4565373"/>
            <a:ext cx="3196936" cy="184666"/>
          </a:xfrm>
          <a:prstGeom prst="rect">
            <a:avLst/>
          </a:prstGeom>
          <a:noFill/>
        </p:spPr>
        <p:txBody>
          <a:bodyPr wrap="square" lIns="0" tIns="0" rIns="0" bIns="0" rtlCol="0">
            <a:spAutoFit/>
          </a:bodyPr>
          <a:lstStyle/>
          <a:p>
            <a:r>
              <a:rPr lang="en-US" altLang="zh-CN" sz="1200" b="1" dirty="0"/>
              <a:t>Script to trigger and event of entities </a:t>
            </a:r>
            <a:endParaRPr lang="en-US" sz="1200" b="1" dirty="0"/>
          </a:p>
        </p:txBody>
      </p:sp>
      <p:pic>
        <p:nvPicPr>
          <p:cNvPr id="150" name="Graphic 149" descr="Checkbox Checked with solid fill">
            <a:extLst>
              <a:ext uri="{FF2B5EF4-FFF2-40B4-BE49-F238E27FC236}">
                <a16:creationId xmlns:a16="http://schemas.microsoft.com/office/drawing/2014/main" id="{A5899EA3-5856-23DF-7677-621A4A6574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6480" y="4464300"/>
            <a:ext cx="402047" cy="402047"/>
          </a:xfrm>
          <a:prstGeom prst="rect">
            <a:avLst/>
          </a:prstGeom>
        </p:spPr>
      </p:pic>
      <p:pic>
        <p:nvPicPr>
          <p:cNvPr id="151" name="Graphic 150" descr="Checkbox Checked with solid fill">
            <a:extLst>
              <a:ext uri="{FF2B5EF4-FFF2-40B4-BE49-F238E27FC236}">
                <a16:creationId xmlns:a16="http://schemas.microsoft.com/office/drawing/2014/main" id="{A911C8E3-84B9-830B-539A-8706352C765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26479" y="4880539"/>
            <a:ext cx="402047" cy="402047"/>
          </a:xfrm>
          <a:prstGeom prst="rect">
            <a:avLst/>
          </a:prstGeom>
        </p:spPr>
      </p:pic>
      <p:sp>
        <p:nvSpPr>
          <p:cNvPr id="152" name="TextBox 151">
            <a:extLst>
              <a:ext uri="{FF2B5EF4-FFF2-40B4-BE49-F238E27FC236}">
                <a16:creationId xmlns:a16="http://schemas.microsoft.com/office/drawing/2014/main" id="{669B605C-C975-5311-E8DB-D31BBC692FA1}"/>
              </a:ext>
            </a:extLst>
          </p:cNvPr>
          <p:cNvSpPr txBox="1"/>
          <p:nvPr/>
        </p:nvSpPr>
        <p:spPr>
          <a:xfrm>
            <a:off x="4728526" y="4973791"/>
            <a:ext cx="3196936" cy="184666"/>
          </a:xfrm>
          <a:prstGeom prst="rect">
            <a:avLst/>
          </a:prstGeom>
          <a:noFill/>
        </p:spPr>
        <p:txBody>
          <a:bodyPr wrap="square" lIns="0" tIns="0" rIns="0" bIns="0" rtlCol="0">
            <a:spAutoFit/>
          </a:bodyPr>
          <a:lstStyle/>
          <a:p>
            <a:r>
              <a:rPr lang="en-US" altLang="zh-CN" sz="1200" b="1" dirty="0"/>
              <a:t>Support trigger and event edit by UX </a:t>
            </a:r>
            <a:endParaRPr lang="en-US" sz="1200" b="1" dirty="0"/>
          </a:p>
        </p:txBody>
      </p:sp>
      <p:sp>
        <p:nvSpPr>
          <p:cNvPr id="153" name="Rectangle 152">
            <a:extLst>
              <a:ext uri="{FF2B5EF4-FFF2-40B4-BE49-F238E27FC236}">
                <a16:creationId xmlns:a16="http://schemas.microsoft.com/office/drawing/2014/main" id="{D6ACFCDC-E99B-FD73-7B19-880846304356}"/>
              </a:ext>
            </a:extLst>
          </p:cNvPr>
          <p:cNvSpPr/>
          <p:nvPr/>
        </p:nvSpPr>
        <p:spPr>
          <a:xfrm>
            <a:off x="8579322" y="4396855"/>
            <a:ext cx="3338700" cy="1036415"/>
          </a:xfrm>
          <a:prstGeom prst="rect">
            <a:avLst/>
          </a:prstGeom>
          <a:solidFill>
            <a:srgbClr val="78CD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54" name="TextBox 153">
            <a:extLst>
              <a:ext uri="{FF2B5EF4-FFF2-40B4-BE49-F238E27FC236}">
                <a16:creationId xmlns:a16="http://schemas.microsoft.com/office/drawing/2014/main" id="{7766D385-93F6-CA3B-6DAE-BD726860D93A}"/>
              </a:ext>
            </a:extLst>
          </p:cNvPr>
          <p:cNvSpPr txBox="1"/>
          <p:nvPr/>
        </p:nvSpPr>
        <p:spPr>
          <a:xfrm>
            <a:off x="9016247" y="4458708"/>
            <a:ext cx="3202894" cy="369332"/>
          </a:xfrm>
          <a:prstGeom prst="rect">
            <a:avLst/>
          </a:prstGeom>
          <a:noFill/>
        </p:spPr>
        <p:txBody>
          <a:bodyPr wrap="square" lIns="0" tIns="0" rIns="0" bIns="0" rtlCol="0">
            <a:spAutoFit/>
          </a:bodyPr>
          <a:lstStyle/>
          <a:p>
            <a:r>
              <a:rPr lang="en-US" sz="1200" b="1" dirty="0"/>
              <a:t>Represent the graphic knowledge by </a:t>
            </a:r>
            <a:r>
              <a:rPr lang="en-US" sz="1200" b="1" dirty="0" err="1"/>
              <a:t>GraphDB</a:t>
            </a:r>
            <a:r>
              <a:rPr lang="en-US" sz="1200" b="1" dirty="0"/>
              <a:t> client</a:t>
            </a:r>
          </a:p>
        </p:txBody>
      </p:sp>
      <p:pic>
        <p:nvPicPr>
          <p:cNvPr id="155" name="Graphic 154" descr="Checkbox Checked with solid fill">
            <a:extLst>
              <a:ext uri="{FF2B5EF4-FFF2-40B4-BE49-F238E27FC236}">
                <a16:creationId xmlns:a16="http://schemas.microsoft.com/office/drawing/2014/main" id="{638EBE2D-B284-9100-203B-49373AFBA6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14201" y="4439827"/>
            <a:ext cx="402796" cy="402047"/>
          </a:xfrm>
          <a:prstGeom prst="rect">
            <a:avLst/>
          </a:prstGeom>
        </p:spPr>
      </p:pic>
      <p:pic>
        <p:nvPicPr>
          <p:cNvPr id="156" name="Graphic 155" descr="Checkbox Checked with solid fill">
            <a:extLst>
              <a:ext uri="{FF2B5EF4-FFF2-40B4-BE49-F238E27FC236}">
                <a16:creationId xmlns:a16="http://schemas.microsoft.com/office/drawing/2014/main" id="{8C050188-6504-0C1D-92D1-6AFB2CE029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14200" y="4856066"/>
            <a:ext cx="402796" cy="402047"/>
          </a:xfrm>
          <a:prstGeom prst="rect">
            <a:avLst/>
          </a:prstGeom>
        </p:spPr>
      </p:pic>
      <p:sp>
        <p:nvSpPr>
          <p:cNvPr id="157" name="TextBox 156">
            <a:extLst>
              <a:ext uri="{FF2B5EF4-FFF2-40B4-BE49-F238E27FC236}">
                <a16:creationId xmlns:a16="http://schemas.microsoft.com/office/drawing/2014/main" id="{D11552CE-DB58-8945-B43A-1E6AFAEA1D13}"/>
              </a:ext>
            </a:extLst>
          </p:cNvPr>
          <p:cNvSpPr txBox="1"/>
          <p:nvPr/>
        </p:nvSpPr>
        <p:spPr>
          <a:xfrm>
            <a:off x="9016247" y="4910138"/>
            <a:ext cx="3202894" cy="369332"/>
          </a:xfrm>
          <a:prstGeom prst="rect">
            <a:avLst/>
          </a:prstGeom>
          <a:noFill/>
        </p:spPr>
        <p:txBody>
          <a:bodyPr wrap="square" lIns="0" tIns="0" rIns="0" bIns="0" rtlCol="0">
            <a:spAutoFit/>
          </a:bodyPr>
          <a:lstStyle/>
          <a:p>
            <a:r>
              <a:rPr lang="en-US" altLang="zh-CN" sz="1200" b="1" dirty="0"/>
              <a:t>Develop customized front for semantic retrieval and other UX operations.  </a:t>
            </a:r>
            <a:endParaRPr lang="en-US" sz="1200" b="1" dirty="0"/>
          </a:p>
        </p:txBody>
      </p:sp>
      <p:sp>
        <p:nvSpPr>
          <p:cNvPr id="159" name="Isosceles Triangle 158">
            <a:extLst>
              <a:ext uri="{FF2B5EF4-FFF2-40B4-BE49-F238E27FC236}">
                <a16:creationId xmlns:a16="http://schemas.microsoft.com/office/drawing/2014/main" id="{DFF1F483-9D7C-2611-547E-14C05B03711B}"/>
              </a:ext>
            </a:extLst>
          </p:cNvPr>
          <p:cNvSpPr/>
          <p:nvPr/>
        </p:nvSpPr>
        <p:spPr>
          <a:xfrm rot="5400000">
            <a:off x="7665357" y="3274187"/>
            <a:ext cx="1381597" cy="26550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0" name="TextBox 159">
            <a:extLst>
              <a:ext uri="{FF2B5EF4-FFF2-40B4-BE49-F238E27FC236}">
                <a16:creationId xmlns:a16="http://schemas.microsoft.com/office/drawing/2014/main" id="{C07D2C09-DA58-EEAB-C14E-65CE14D97C38}"/>
              </a:ext>
            </a:extLst>
          </p:cNvPr>
          <p:cNvSpPr txBox="1"/>
          <p:nvPr/>
        </p:nvSpPr>
        <p:spPr>
          <a:xfrm>
            <a:off x="6106283" y="6268991"/>
            <a:ext cx="1819179" cy="369332"/>
          </a:xfrm>
          <a:prstGeom prst="rect">
            <a:avLst/>
          </a:prstGeom>
          <a:noFill/>
        </p:spPr>
        <p:txBody>
          <a:bodyPr wrap="square" lIns="0" tIns="0" rIns="0" bIns="0" rtlCol="0">
            <a:spAutoFit/>
          </a:bodyPr>
          <a:lstStyle/>
          <a:p>
            <a:r>
              <a:rPr lang="en-US" sz="1200" dirty="0"/>
              <a:t>First step, based on Semantic (CN) library </a:t>
            </a:r>
          </a:p>
        </p:txBody>
      </p:sp>
      <p:sp>
        <p:nvSpPr>
          <p:cNvPr id="161" name="TextBox 160">
            <a:extLst>
              <a:ext uri="{FF2B5EF4-FFF2-40B4-BE49-F238E27FC236}">
                <a16:creationId xmlns:a16="http://schemas.microsoft.com/office/drawing/2014/main" id="{35381587-9330-41CE-E776-164254446A79}"/>
              </a:ext>
            </a:extLst>
          </p:cNvPr>
          <p:cNvSpPr txBox="1"/>
          <p:nvPr/>
        </p:nvSpPr>
        <p:spPr>
          <a:xfrm>
            <a:off x="8295057" y="6224243"/>
            <a:ext cx="2281649" cy="553998"/>
          </a:xfrm>
          <a:prstGeom prst="rect">
            <a:avLst/>
          </a:prstGeom>
          <a:noFill/>
        </p:spPr>
        <p:txBody>
          <a:bodyPr wrap="square" lIns="0" tIns="0" rIns="0" bIns="0" rtlCol="0">
            <a:spAutoFit/>
          </a:bodyPr>
          <a:lstStyle/>
          <a:p>
            <a:r>
              <a:rPr lang="en-US" altLang="zh-CN" sz="1200" dirty="0"/>
              <a:t>Second step, focus on front-end UX operation and application requirements</a:t>
            </a:r>
            <a:endParaRPr lang="en-US" sz="1200" dirty="0"/>
          </a:p>
        </p:txBody>
      </p:sp>
      <p:pic>
        <p:nvPicPr>
          <p:cNvPr id="163" name="Picture 162">
            <a:extLst>
              <a:ext uri="{FF2B5EF4-FFF2-40B4-BE49-F238E27FC236}">
                <a16:creationId xmlns:a16="http://schemas.microsoft.com/office/drawing/2014/main" id="{9FB57FD4-BB65-701B-CC87-EB90CC3462D3}"/>
              </a:ext>
            </a:extLst>
          </p:cNvPr>
          <p:cNvPicPr>
            <a:picLocks noChangeAspect="1"/>
          </p:cNvPicPr>
          <p:nvPr/>
        </p:nvPicPr>
        <p:blipFill>
          <a:blip r:embed="rId11"/>
          <a:stretch>
            <a:fillRect/>
          </a:stretch>
        </p:blipFill>
        <p:spPr>
          <a:xfrm>
            <a:off x="10895849" y="1745932"/>
            <a:ext cx="899471" cy="261664"/>
          </a:xfrm>
          <a:prstGeom prst="rect">
            <a:avLst/>
          </a:prstGeom>
        </p:spPr>
      </p:pic>
      <p:pic>
        <p:nvPicPr>
          <p:cNvPr id="8" name="Graphic 7" descr="Comment Important with solid fill">
            <a:extLst>
              <a:ext uri="{FF2B5EF4-FFF2-40B4-BE49-F238E27FC236}">
                <a16:creationId xmlns:a16="http://schemas.microsoft.com/office/drawing/2014/main" id="{97935285-AB2C-0227-283F-9F0DEAA1A48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935729" y="3708000"/>
            <a:ext cx="362384" cy="362384"/>
          </a:xfrm>
          <a:prstGeom prst="rect">
            <a:avLst/>
          </a:prstGeom>
        </p:spPr>
      </p:pic>
    </p:spTree>
    <p:extLst>
      <p:ext uri="{BB962C8B-B14F-4D97-AF65-F5344CB8AC3E}">
        <p14:creationId xmlns:p14="http://schemas.microsoft.com/office/powerpoint/2010/main" val="1014870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554643" y="540895"/>
            <a:ext cx="10726024" cy="576000"/>
          </a:xfrm>
        </p:spPr>
        <p:txBody>
          <a:bodyPr/>
          <a:lstStyle/>
          <a:p>
            <a:r>
              <a:rPr lang="en-US" altLang="zh-CN" sz="2800" dirty="0"/>
              <a:t>UseCase1- Modeling tool for pre-maintenance KG generation </a:t>
            </a:r>
            <a:br>
              <a:rPr lang="en-US" altLang="zh-CN" sz="2800" dirty="0"/>
            </a:br>
            <a:r>
              <a:rPr lang="en-US" altLang="zh-CN" sz="2800" dirty="0"/>
              <a:t> Work scope </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14</a:t>
            </a:fld>
            <a:endParaRPr lang="en-US" dirty="0"/>
          </a:p>
        </p:txBody>
      </p:sp>
      <p:sp>
        <p:nvSpPr>
          <p:cNvPr id="86" name="Rechteck 7">
            <a:extLst>
              <a:ext uri="{FF2B5EF4-FFF2-40B4-BE49-F238E27FC236}">
                <a16:creationId xmlns:a16="http://schemas.microsoft.com/office/drawing/2014/main" id="{2D860A09-0BC8-30E4-41BB-99C810964D33}"/>
              </a:ext>
            </a:extLst>
          </p:cNvPr>
          <p:cNvSpPr>
            <a:spLocks/>
          </p:cNvSpPr>
          <p:nvPr/>
        </p:nvSpPr>
        <p:spPr bwMode="gray">
          <a:xfrm>
            <a:off x="451531" y="1472880"/>
            <a:ext cx="5116692" cy="3877985"/>
          </a:xfrm>
          <a:prstGeom prst="rect">
            <a:avLst/>
          </a:prstGeom>
        </p:spPr>
        <p:txBody>
          <a:bodyPr wrap="square" lIns="0" tIns="0" rIns="0" bIns="0">
            <a:spAutoFit/>
          </a:bodyPr>
          <a:lstStyle/>
          <a:p>
            <a:pPr>
              <a:spcBef>
                <a:spcPts val="0"/>
              </a:spcBef>
              <a:spcAft>
                <a:spcPts val="0"/>
              </a:spcAft>
            </a:pPr>
            <a:r>
              <a:rPr lang="en-US" altLang="zh-CN" sz="2200" dirty="0">
                <a:solidFill>
                  <a:srgbClr val="50BED7"/>
                </a:solidFill>
                <a:latin typeface="Arial"/>
                <a:ea typeface="Arial Unicode MS"/>
                <a:cs typeface="Arial Unicode MS"/>
              </a:rPr>
              <a:t>Step1 Proof of concept for semantic extraction and KG storage technology</a:t>
            </a:r>
            <a:br>
              <a:rPr lang="en-US" sz="1600" b="1" dirty="0">
                <a:solidFill>
                  <a:srgbClr val="0F8287"/>
                </a:solidFill>
                <a:latin typeface="Arial"/>
                <a:ea typeface="Arial Unicode MS"/>
                <a:cs typeface="Arial Unicode MS"/>
              </a:rPr>
            </a:br>
            <a:endParaRPr lang="en-US" sz="1600" b="1" dirty="0">
              <a:solidFill>
                <a:srgbClr val="0F8287"/>
              </a:solidFill>
              <a:latin typeface="Arial"/>
              <a:ea typeface="Arial Unicode MS"/>
              <a:cs typeface="Arial Unicode MS"/>
            </a:endParaRP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Build basic maintenance ontology and form SPARQL script templates.</a:t>
            </a: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Semantic extraction modules (realized and validated by KNIME) :</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Chinese-Semantic extraction library (</a:t>
            </a:r>
            <a:r>
              <a:rPr lang="en-US" altLang="zh-CN" sz="1600" dirty="0" err="1">
                <a:latin typeface="Arial"/>
                <a:ea typeface="Arial Unicode MS"/>
                <a:cs typeface="Arial Unicode MS"/>
              </a:rPr>
              <a:t>Jieba</a:t>
            </a:r>
            <a:r>
              <a:rPr lang="en-US" altLang="zh-CN" sz="1600" dirty="0">
                <a:latin typeface="Arial"/>
                <a:ea typeface="Arial Unicode MS"/>
                <a:cs typeface="Arial Unicode MS"/>
              </a:rPr>
              <a:t>, </a:t>
            </a:r>
            <a:r>
              <a:rPr lang="en-US" altLang="zh-CN" sz="1600" dirty="0" err="1">
                <a:latin typeface="Arial"/>
                <a:ea typeface="Arial Unicode MS"/>
                <a:cs typeface="Arial Unicode MS"/>
              </a:rPr>
              <a:t>HanLP</a:t>
            </a:r>
            <a:r>
              <a:rPr lang="en-US" altLang="zh-CN" sz="1600" dirty="0">
                <a:latin typeface="Arial"/>
                <a:ea typeface="Arial Unicode MS"/>
                <a:cs typeface="Arial Unicode MS"/>
              </a:rPr>
              <a:t>)</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Rules definition and extraction templates</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Maintenance report import and info capture</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Knowledge label module</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a:t>
            </a:r>
            <a:r>
              <a:rPr lang="en-US" altLang="zh-CN" sz="1600" dirty="0" err="1">
                <a:latin typeface="Arial"/>
                <a:ea typeface="Arial Unicode MS"/>
                <a:cs typeface="Arial Unicode MS"/>
              </a:rPr>
              <a:t>GraphDB</a:t>
            </a:r>
            <a:r>
              <a:rPr lang="en-US" altLang="zh-CN" sz="1600" dirty="0">
                <a:latin typeface="Arial"/>
                <a:ea typeface="Arial Unicode MS"/>
                <a:cs typeface="Arial Unicode MS"/>
              </a:rPr>
              <a:t> </a:t>
            </a:r>
            <a:r>
              <a:rPr lang="en-US" altLang="zh-CN" sz="1600" dirty="0" err="1">
                <a:latin typeface="Arial"/>
                <a:ea typeface="Arial Unicode MS"/>
                <a:cs typeface="Arial Unicode MS"/>
              </a:rPr>
              <a:t>rdf</a:t>
            </a:r>
            <a:r>
              <a:rPr lang="en-US" altLang="zh-CN" sz="1600" dirty="0">
                <a:latin typeface="Arial"/>
                <a:ea typeface="Arial Unicode MS"/>
                <a:cs typeface="Arial Unicode MS"/>
              </a:rPr>
              <a:t> storage module</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Present knowledge graph by </a:t>
            </a:r>
            <a:r>
              <a:rPr lang="en-US" altLang="zh-CN" sz="1600" dirty="0" err="1">
                <a:latin typeface="Arial"/>
                <a:ea typeface="Arial Unicode MS"/>
                <a:cs typeface="Arial Unicode MS"/>
              </a:rPr>
              <a:t>GraphDB</a:t>
            </a:r>
            <a:r>
              <a:rPr lang="en-US" altLang="zh-CN" sz="1600" dirty="0">
                <a:latin typeface="Arial"/>
                <a:ea typeface="Arial Unicode MS"/>
                <a:cs typeface="Arial Unicode MS"/>
              </a:rPr>
              <a:t> client, support knowledge retrieval     </a:t>
            </a:r>
          </a:p>
          <a:p>
            <a:pPr>
              <a:spcBef>
                <a:spcPts val="0"/>
              </a:spcBef>
              <a:spcAft>
                <a:spcPts val="0"/>
              </a:spcAft>
            </a:pPr>
            <a:endParaRPr lang="en-US" altLang="zh-CN" sz="1600" dirty="0">
              <a:solidFill>
                <a:schemeClr val="tx1"/>
              </a:solidFill>
              <a:latin typeface="Arial"/>
              <a:ea typeface="Arial Unicode MS"/>
              <a:cs typeface="Arial Unicode MS"/>
            </a:endParaRPr>
          </a:p>
        </p:txBody>
      </p:sp>
      <p:sp>
        <p:nvSpPr>
          <p:cNvPr id="87" name="Rechteck 7">
            <a:extLst>
              <a:ext uri="{FF2B5EF4-FFF2-40B4-BE49-F238E27FC236}">
                <a16:creationId xmlns:a16="http://schemas.microsoft.com/office/drawing/2014/main" id="{FFC027D2-0899-EF7F-6D76-4103224A8AD2}"/>
              </a:ext>
            </a:extLst>
          </p:cNvPr>
          <p:cNvSpPr>
            <a:spLocks/>
          </p:cNvSpPr>
          <p:nvPr/>
        </p:nvSpPr>
        <p:spPr bwMode="gray">
          <a:xfrm>
            <a:off x="6095999" y="1466281"/>
            <a:ext cx="5452153" cy="3385542"/>
          </a:xfrm>
          <a:prstGeom prst="rect">
            <a:avLst/>
          </a:prstGeom>
        </p:spPr>
        <p:txBody>
          <a:bodyPr wrap="square" lIns="0" tIns="0" rIns="0" bIns="0">
            <a:spAutoFit/>
          </a:bodyPr>
          <a:lstStyle/>
          <a:p>
            <a:pPr>
              <a:spcBef>
                <a:spcPts val="0"/>
              </a:spcBef>
              <a:spcAft>
                <a:spcPts val="0"/>
              </a:spcAft>
            </a:pPr>
            <a:r>
              <a:rPr lang="en-US" altLang="zh-CN" sz="2200" dirty="0">
                <a:solidFill>
                  <a:srgbClr val="50BED7"/>
                </a:solidFill>
                <a:latin typeface="Arial"/>
                <a:ea typeface="Arial Unicode MS"/>
                <a:cs typeface="Arial Unicode MS"/>
              </a:rPr>
              <a:t>Step2 Provide KG modeling tool to engineering</a:t>
            </a:r>
            <a:br>
              <a:rPr lang="en-US" sz="1600" b="1" dirty="0">
                <a:solidFill>
                  <a:srgbClr val="0F8287"/>
                </a:solidFill>
                <a:latin typeface="Arial"/>
                <a:ea typeface="Arial Unicode MS"/>
                <a:cs typeface="Arial Unicode MS"/>
              </a:rPr>
            </a:br>
            <a:endParaRPr lang="en-US" sz="1600" b="1" dirty="0">
              <a:solidFill>
                <a:srgbClr val="0F8287"/>
              </a:solidFill>
              <a:latin typeface="Arial"/>
              <a:ea typeface="Arial Unicode MS"/>
              <a:cs typeface="Arial Unicode MS"/>
            </a:endParaRP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Based on step1 modules to develop Python web-application</a:t>
            </a:r>
          </a:p>
          <a:p>
            <a:pPr marL="285750" indent="-285750">
              <a:spcBef>
                <a:spcPts val="0"/>
              </a:spcBef>
              <a:spcAft>
                <a:spcPts val="0"/>
              </a:spcAft>
              <a:buFont typeface="Wingdings" panose="05000000000000000000" pitchFamily="2" charset="2"/>
              <a:buChar char="Ø"/>
            </a:pPr>
            <a:r>
              <a:rPr lang="en-US" altLang="zh-CN" sz="1600" dirty="0" err="1">
                <a:solidFill>
                  <a:schemeClr val="tx1"/>
                </a:solidFill>
                <a:latin typeface="Arial"/>
                <a:ea typeface="Arial Unicode MS"/>
                <a:cs typeface="Arial Unicode MS"/>
              </a:rPr>
              <a:t>AntV</a:t>
            </a:r>
            <a:r>
              <a:rPr lang="en-US" altLang="zh-CN" sz="1600" dirty="0">
                <a:solidFill>
                  <a:schemeClr val="tx1"/>
                </a:solidFill>
                <a:latin typeface="Arial"/>
                <a:ea typeface="Arial Unicode MS"/>
                <a:cs typeface="Arial Unicode MS"/>
              </a:rPr>
              <a:t> G6</a:t>
            </a:r>
            <a:r>
              <a:rPr lang="en-US" altLang="zh-CN" sz="1600" dirty="0">
                <a:latin typeface="Arial"/>
                <a:ea typeface="Arial Unicode MS"/>
                <a:cs typeface="Arial Unicode MS"/>
              </a:rPr>
              <a:t>/X6</a:t>
            </a:r>
            <a:r>
              <a:rPr lang="en-US" altLang="zh-CN" sz="1600" dirty="0">
                <a:solidFill>
                  <a:schemeClr val="tx1"/>
                </a:solidFill>
                <a:latin typeface="Arial"/>
                <a:ea typeface="Arial Unicode MS"/>
                <a:cs typeface="Arial Unicode MS"/>
              </a:rPr>
              <a:t> front-end buildup to support UX operations:</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Support on-site engineers to edit or extend knowledge</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Knowledge retrieval and representation, incl knowledge nodes (entities) , prosperities and relationship </a:t>
            </a:r>
            <a:r>
              <a:rPr lang="en-US" sz="1600" dirty="0">
                <a:solidFill>
                  <a:schemeClr val="tx1"/>
                </a:solidFill>
              </a:rPr>
              <a:t>descriptions</a:t>
            </a:r>
          </a:p>
          <a:p>
            <a:pPr marL="365760" indent="-91440">
              <a:spcBef>
                <a:spcPts val="0"/>
              </a:spcBef>
              <a:spcAft>
                <a:spcPts val="0"/>
              </a:spcAft>
              <a:buFont typeface="Arial" panose="020B0604020202020204" pitchFamily="34" charset="0"/>
              <a:buChar char="•"/>
            </a:pPr>
            <a:r>
              <a:rPr lang="en-US" sz="1600" dirty="0"/>
              <a:t> Event and trigger reminder, edit and update.</a:t>
            </a:r>
            <a:endParaRPr lang="en-US" sz="1600" dirty="0">
              <a:solidFill>
                <a:schemeClr val="tx1"/>
              </a:solidFill>
            </a:endParaRP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Supplementary configuration of knowledge integration by drag-and-drop.</a:t>
            </a:r>
            <a:endParaRPr lang="en-US" altLang="zh-CN" sz="1600" dirty="0">
              <a:solidFill>
                <a:schemeClr val="tx1"/>
              </a:solidFill>
              <a:latin typeface="Arial"/>
              <a:ea typeface="Arial Unicode MS"/>
              <a:cs typeface="Arial Unicode MS"/>
            </a:endParaRPr>
          </a:p>
        </p:txBody>
      </p:sp>
      <p:pic>
        <p:nvPicPr>
          <p:cNvPr id="6" name="Picture 5">
            <a:extLst>
              <a:ext uri="{FF2B5EF4-FFF2-40B4-BE49-F238E27FC236}">
                <a16:creationId xmlns:a16="http://schemas.microsoft.com/office/drawing/2014/main" id="{B91AE910-19F7-BA13-30CE-5EC5DC4D2D33}"/>
              </a:ext>
            </a:extLst>
          </p:cNvPr>
          <p:cNvPicPr>
            <a:picLocks noChangeAspect="1"/>
          </p:cNvPicPr>
          <p:nvPr/>
        </p:nvPicPr>
        <p:blipFill>
          <a:blip r:embed="rId2"/>
          <a:stretch>
            <a:fillRect/>
          </a:stretch>
        </p:blipFill>
        <p:spPr>
          <a:xfrm>
            <a:off x="3422255" y="5107010"/>
            <a:ext cx="1496604" cy="1203790"/>
          </a:xfrm>
          <a:prstGeom prst="rect">
            <a:avLst/>
          </a:prstGeom>
        </p:spPr>
      </p:pic>
      <p:pic>
        <p:nvPicPr>
          <p:cNvPr id="8" name="Picture 7">
            <a:extLst>
              <a:ext uri="{FF2B5EF4-FFF2-40B4-BE49-F238E27FC236}">
                <a16:creationId xmlns:a16="http://schemas.microsoft.com/office/drawing/2014/main" id="{68745FB5-B853-BEDD-3304-D6029F2C8F45}"/>
              </a:ext>
            </a:extLst>
          </p:cNvPr>
          <p:cNvPicPr>
            <a:picLocks noChangeAspect="1"/>
          </p:cNvPicPr>
          <p:nvPr/>
        </p:nvPicPr>
        <p:blipFill>
          <a:blip r:embed="rId3"/>
          <a:stretch>
            <a:fillRect/>
          </a:stretch>
        </p:blipFill>
        <p:spPr>
          <a:xfrm>
            <a:off x="821933" y="5096594"/>
            <a:ext cx="2072546" cy="1304205"/>
          </a:xfrm>
          <a:prstGeom prst="rect">
            <a:avLst/>
          </a:prstGeom>
        </p:spPr>
      </p:pic>
      <p:pic>
        <p:nvPicPr>
          <p:cNvPr id="4098" name="Picture 2">
            <a:extLst>
              <a:ext uri="{FF2B5EF4-FFF2-40B4-BE49-F238E27FC236}">
                <a16:creationId xmlns:a16="http://schemas.microsoft.com/office/drawing/2014/main" id="{3767E3B0-1CE9-22EE-08F9-8EA4D39B4B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1362" y="4851823"/>
            <a:ext cx="2902109" cy="161278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96DCD84-68C9-8A7C-B501-B8D280C8DF60}"/>
              </a:ext>
            </a:extLst>
          </p:cNvPr>
          <p:cNvPicPr>
            <a:picLocks noChangeAspect="1"/>
          </p:cNvPicPr>
          <p:nvPr/>
        </p:nvPicPr>
        <p:blipFill>
          <a:blip r:embed="rId5"/>
          <a:stretch>
            <a:fillRect/>
          </a:stretch>
        </p:blipFill>
        <p:spPr>
          <a:xfrm>
            <a:off x="160746" y="5346432"/>
            <a:ext cx="1148832" cy="360418"/>
          </a:xfrm>
          <a:prstGeom prst="rect">
            <a:avLst/>
          </a:prstGeom>
        </p:spPr>
      </p:pic>
    </p:spTree>
    <p:extLst>
      <p:ext uri="{BB962C8B-B14F-4D97-AF65-F5344CB8AC3E}">
        <p14:creationId xmlns:p14="http://schemas.microsoft.com/office/powerpoint/2010/main" val="379230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82724" y="191574"/>
            <a:ext cx="10726024" cy="576000"/>
          </a:xfrm>
        </p:spPr>
        <p:txBody>
          <a:bodyPr/>
          <a:lstStyle/>
          <a:p>
            <a:r>
              <a:rPr lang="en-US" altLang="zh-CN" sz="2800" dirty="0"/>
              <a:t>UseCase2- Knowledge based Device as a Service</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15</a:t>
            </a:fld>
            <a:endParaRPr lang="en-US" dirty="0"/>
          </a:p>
        </p:txBody>
      </p:sp>
      <p:cxnSp>
        <p:nvCxnSpPr>
          <p:cNvPr id="8" name="Straight Connector 7">
            <a:extLst>
              <a:ext uri="{FF2B5EF4-FFF2-40B4-BE49-F238E27FC236}">
                <a16:creationId xmlns:a16="http://schemas.microsoft.com/office/drawing/2014/main" id="{6F7987BB-3014-4009-3E1B-25DED6BA9844}"/>
              </a:ext>
            </a:extLst>
          </p:cNvPr>
          <p:cNvCxnSpPr>
            <a:cxnSpLocks/>
          </p:cNvCxnSpPr>
          <p:nvPr/>
        </p:nvCxnSpPr>
        <p:spPr>
          <a:xfrm>
            <a:off x="1140431" y="5383656"/>
            <a:ext cx="9626886" cy="0"/>
          </a:xfrm>
          <a:prstGeom prst="line">
            <a:avLst/>
          </a:prstGeom>
          <a:ln w="9525">
            <a:solidFill>
              <a:schemeClr val="accent1"/>
            </a:solidFill>
            <a:prstDash val="dashDot"/>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86DE139-BCE0-B8A0-6B51-03F1665072D8}"/>
              </a:ext>
            </a:extLst>
          </p:cNvPr>
          <p:cNvSpPr txBox="1"/>
          <p:nvPr/>
        </p:nvSpPr>
        <p:spPr>
          <a:xfrm>
            <a:off x="230841" y="5438031"/>
            <a:ext cx="1819179" cy="369332"/>
          </a:xfrm>
          <a:prstGeom prst="rect">
            <a:avLst/>
          </a:prstGeom>
          <a:noFill/>
        </p:spPr>
        <p:txBody>
          <a:bodyPr wrap="square" lIns="0" tIns="0" rIns="0" bIns="0" rtlCol="0">
            <a:spAutoFit/>
          </a:bodyPr>
          <a:lstStyle/>
          <a:p>
            <a:r>
              <a:rPr lang="en-US" sz="1200" b="1" dirty="0"/>
              <a:t>Problem </a:t>
            </a:r>
          </a:p>
          <a:p>
            <a:r>
              <a:rPr lang="en-US" sz="1200" b="1" dirty="0"/>
              <a:t>Statement</a:t>
            </a:r>
          </a:p>
        </p:txBody>
      </p:sp>
      <p:sp>
        <p:nvSpPr>
          <p:cNvPr id="12" name="Rectangle: Rounded Corners 11">
            <a:extLst>
              <a:ext uri="{FF2B5EF4-FFF2-40B4-BE49-F238E27FC236}">
                <a16:creationId xmlns:a16="http://schemas.microsoft.com/office/drawing/2014/main" id="{A69461A4-6F19-76D9-ECBD-A7D8C2486812}"/>
              </a:ext>
            </a:extLst>
          </p:cNvPr>
          <p:cNvSpPr/>
          <p:nvPr/>
        </p:nvSpPr>
        <p:spPr>
          <a:xfrm>
            <a:off x="1335640" y="5441937"/>
            <a:ext cx="2797671" cy="868863"/>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zh-CN" altLang="en-US" sz="1200" dirty="0">
                <a:solidFill>
                  <a:schemeClr val="tx1"/>
                </a:solidFill>
              </a:rPr>
              <a:t>输送链床</a:t>
            </a:r>
            <a:r>
              <a:rPr lang="zh-CN" altLang="en-US" sz="1200" dirty="0">
                <a:solidFill>
                  <a:srgbClr val="FF0000"/>
                </a:solidFill>
              </a:rPr>
              <a:t>轴断裂</a:t>
            </a:r>
            <a:r>
              <a:rPr lang="zh-CN" altLang="en-US" sz="1200" dirty="0">
                <a:solidFill>
                  <a:schemeClr val="tx1"/>
                </a:solidFill>
              </a:rPr>
              <a:t>，</a:t>
            </a:r>
            <a:r>
              <a:rPr lang="en-US" altLang="zh-CN" sz="1200" dirty="0">
                <a:solidFill>
                  <a:srgbClr val="FF0000"/>
                </a:solidFill>
              </a:rPr>
              <a:t>1</a:t>
            </a:r>
            <a:r>
              <a:rPr lang="zh-CN" altLang="en-US" sz="1200" dirty="0">
                <a:solidFill>
                  <a:srgbClr val="FF0000"/>
                </a:solidFill>
              </a:rPr>
              <a:t>倍频振动</a:t>
            </a:r>
            <a:r>
              <a:rPr lang="zh-CN" altLang="en-US" sz="1200" dirty="0">
                <a:solidFill>
                  <a:schemeClr val="tx1"/>
                </a:solidFill>
              </a:rPr>
              <a:t>强烈，数值达到</a:t>
            </a:r>
            <a:r>
              <a:rPr lang="en-US" altLang="zh-CN" sz="1200" dirty="0">
                <a:solidFill>
                  <a:srgbClr val="FF0000"/>
                </a:solidFill>
              </a:rPr>
              <a:t>140mm/s2</a:t>
            </a:r>
            <a:r>
              <a:rPr lang="zh-CN" altLang="en-US" sz="1200" dirty="0">
                <a:solidFill>
                  <a:schemeClr val="tx1"/>
                </a:solidFill>
              </a:rPr>
              <a:t>；</a:t>
            </a:r>
            <a:r>
              <a:rPr lang="zh-CN" altLang="en-US" sz="1200" dirty="0">
                <a:solidFill>
                  <a:srgbClr val="FF0000"/>
                </a:solidFill>
              </a:rPr>
              <a:t>正常状态值</a:t>
            </a:r>
            <a:r>
              <a:rPr lang="zh-CN" altLang="en-US" sz="1200" dirty="0">
                <a:solidFill>
                  <a:schemeClr val="tx1"/>
                </a:solidFill>
              </a:rPr>
              <a:t>在</a:t>
            </a:r>
            <a:r>
              <a:rPr lang="en-US" altLang="zh-CN" sz="1200" dirty="0">
                <a:solidFill>
                  <a:srgbClr val="FF0000"/>
                </a:solidFill>
              </a:rPr>
              <a:t>10~15mm/s2</a:t>
            </a:r>
            <a:r>
              <a:rPr lang="zh-CN" altLang="en-US" sz="1200" dirty="0">
                <a:solidFill>
                  <a:schemeClr val="tx1"/>
                </a:solidFill>
              </a:rPr>
              <a:t>之间。</a:t>
            </a:r>
            <a:endParaRPr lang="en-US" sz="1200" dirty="0">
              <a:solidFill>
                <a:schemeClr val="tx1"/>
              </a:solidFill>
            </a:endParaRPr>
          </a:p>
        </p:txBody>
      </p:sp>
      <p:sp>
        <p:nvSpPr>
          <p:cNvPr id="92" name="Rectangle: Rounded Corners 91">
            <a:extLst>
              <a:ext uri="{FF2B5EF4-FFF2-40B4-BE49-F238E27FC236}">
                <a16:creationId xmlns:a16="http://schemas.microsoft.com/office/drawing/2014/main" id="{3C4E161F-7AA1-5068-9D2D-A5DD6847B437}"/>
              </a:ext>
            </a:extLst>
          </p:cNvPr>
          <p:cNvSpPr/>
          <p:nvPr/>
        </p:nvSpPr>
        <p:spPr>
          <a:xfrm>
            <a:off x="4586443" y="5438031"/>
            <a:ext cx="2739312" cy="868863"/>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zh-CN" altLang="en-US" sz="1200" dirty="0">
                <a:solidFill>
                  <a:schemeClr val="tx1"/>
                </a:solidFill>
              </a:rPr>
              <a:t>输送链床的</a:t>
            </a:r>
            <a:r>
              <a:rPr lang="zh-CN" altLang="en-US" sz="1200" dirty="0">
                <a:solidFill>
                  <a:srgbClr val="FF0000"/>
                </a:solidFill>
              </a:rPr>
              <a:t>电流</a:t>
            </a:r>
            <a:r>
              <a:rPr lang="zh-CN" altLang="en-US" sz="1200" dirty="0">
                <a:solidFill>
                  <a:schemeClr val="tx1"/>
                </a:solidFill>
              </a:rPr>
              <a:t>和</a:t>
            </a:r>
            <a:r>
              <a:rPr lang="zh-CN" altLang="en-US" sz="1200" dirty="0">
                <a:solidFill>
                  <a:srgbClr val="FF0000"/>
                </a:solidFill>
              </a:rPr>
              <a:t>速度表征相似</a:t>
            </a:r>
            <a:r>
              <a:rPr lang="zh-CN" altLang="en-US" sz="1200" dirty="0">
                <a:solidFill>
                  <a:schemeClr val="tx1"/>
                </a:solidFill>
              </a:rPr>
              <a:t>，</a:t>
            </a:r>
            <a:r>
              <a:rPr lang="zh-CN" altLang="en-US" sz="1200" dirty="0">
                <a:solidFill>
                  <a:srgbClr val="FF0000"/>
                </a:solidFill>
              </a:rPr>
              <a:t>强相关</a:t>
            </a:r>
            <a:r>
              <a:rPr lang="zh-CN" altLang="en-US" sz="1200" dirty="0">
                <a:solidFill>
                  <a:schemeClr val="tx1"/>
                </a:solidFill>
              </a:rPr>
              <a:t>。链床</a:t>
            </a:r>
            <a:r>
              <a:rPr lang="zh-CN" altLang="en-US" sz="1200" dirty="0">
                <a:solidFill>
                  <a:srgbClr val="FF0000"/>
                </a:solidFill>
              </a:rPr>
              <a:t>异常</a:t>
            </a:r>
            <a:r>
              <a:rPr lang="zh-CN" altLang="en-US" sz="1200" dirty="0">
                <a:solidFill>
                  <a:schemeClr val="tx1"/>
                </a:solidFill>
              </a:rPr>
              <a:t>时，托盘到达时</a:t>
            </a:r>
            <a:r>
              <a:rPr lang="zh-CN" altLang="en-US" sz="1200" dirty="0">
                <a:solidFill>
                  <a:srgbClr val="FF0000"/>
                </a:solidFill>
              </a:rPr>
              <a:t>电流值</a:t>
            </a:r>
            <a:r>
              <a:rPr lang="zh-CN" altLang="en-US" sz="1200" dirty="0">
                <a:solidFill>
                  <a:schemeClr val="tx1"/>
                </a:solidFill>
              </a:rPr>
              <a:t>有</a:t>
            </a:r>
            <a:r>
              <a:rPr lang="zh-CN" altLang="en-US" sz="1200" dirty="0">
                <a:solidFill>
                  <a:srgbClr val="FF0000"/>
                </a:solidFill>
              </a:rPr>
              <a:t>异常高值</a:t>
            </a:r>
            <a:r>
              <a:rPr lang="zh-CN" altLang="en-US" sz="1200" dirty="0">
                <a:solidFill>
                  <a:schemeClr val="tx1"/>
                </a:solidFill>
              </a:rPr>
              <a:t>，且具有</a:t>
            </a:r>
            <a:r>
              <a:rPr lang="zh-CN" altLang="en-US" sz="1200" dirty="0">
                <a:solidFill>
                  <a:srgbClr val="FF0000"/>
                </a:solidFill>
              </a:rPr>
              <a:t>周期性</a:t>
            </a:r>
            <a:r>
              <a:rPr lang="zh-CN" altLang="en-US" sz="1200" dirty="0">
                <a:solidFill>
                  <a:schemeClr val="tx1"/>
                </a:solidFill>
              </a:rPr>
              <a:t>。</a:t>
            </a:r>
            <a:endParaRPr lang="en-US" sz="1200" dirty="0">
              <a:solidFill>
                <a:schemeClr val="tx1"/>
              </a:solidFill>
            </a:endParaRPr>
          </a:p>
        </p:txBody>
      </p:sp>
      <p:sp>
        <p:nvSpPr>
          <p:cNvPr id="93" name="Rectangle: Rounded Corners 92">
            <a:extLst>
              <a:ext uri="{FF2B5EF4-FFF2-40B4-BE49-F238E27FC236}">
                <a16:creationId xmlns:a16="http://schemas.microsoft.com/office/drawing/2014/main" id="{0FD042FA-A13A-DF03-5EAC-7D458B9CFB92}"/>
              </a:ext>
            </a:extLst>
          </p:cNvPr>
          <p:cNvSpPr/>
          <p:nvPr/>
        </p:nvSpPr>
        <p:spPr>
          <a:xfrm>
            <a:off x="7778886" y="5438032"/>
            <a:ext cx="2635685" cy="868863"/>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200" dirty="0">
                <a:solidFill>
                  <a:srgbClr val="EF0137"/>
                </a:solidFill>
              </a:rPr>
              <a:t>PA08</a:t>
            </a:r>
            <a:r>
              <a:rPr lang="zh-CN" altLang="en-US" sz="1200" dirty="0">
                <a:solidFill>
                  <a:srgbClr val="EF0137"/>
                </a:solidFill>
              </a:rPr>
              <a:t>工位</a:t>
            </a:r>
            <a:r>
              <a:rPr lang="zh-CN" altLang="en-US" sz="1200" dirty="0">
                <a:solidFill>
                  <a:schemeClr val="tx1"/>
                </a:solidFill>
              </a:rPr>
              <a:t>的</a:t>
            </a:r>
            <a:r>
              <a:rPr lang="zh-CN" altLang="en-US" sz="1200" dirty="0">
                <a:solidFill>
                  <a:srgbClr val="EF0137"/>
                </a:solidFill>
              </a:rPr>
              <a:t>异常</a:t>
            </a:r>
            <a:r>
              <a:rPr lang="zh-CN" altLang="en-US" sz="1200" dirty="0">
                <a:solidFill>
                  <a:schemeClr val="tx1"/>
                </a:solidFill>
              </a:rPr>
              <a:t>会</a:t>
            </a:r>
            <a:r>
              <a:rPr lang="zh-CN" altLang="en-US" sz="1200" dirty="0">
                <a:solidFill>
                  <a:srgbClr val="EF0137"/>
                </a:solidFill>
              </a:rPr>
              <a:t>影响</a:t>
            </a:r>
            <a:r>
              <a:rPr lang="en-US" altLang="zh-CN" sz="1200" dirty="0">
                <a:solidFill>
                  <a:srgbClr val="EF0137"/>
                </a:solidFill>
              </a:rPr>
              <a:t>PA09</a:t>
            </a:r>
            <a:r>
              <a:rPr lang="zh-CN" altLang="en-US" sz="1200" dirty="0">
                <a:solidFill>
                  <a:schemeClr val="tx1"/>
                </a:solidFill>
              </a:rPr>
              <a:t>和</a:t>
            </a:r>
            <a:r>
              <a:rPr lang="en-US" altLang="zh-CN" sz="1200" dirty="0">
                <a:solidFill>
                  <a:srgbClr val="EF0137"/>
                </a:solidFill>
              </a:rPr>
              <a:t>PA10</a:t>
            </a:r>
            <a:r>
              <a:rPr lang="zh-CN" altLang="en-US" sz="1200" dirty="0">
                <a:solidFill>
                  <a:schemeClr val="tx1"/>
                </a:solidFill>
              </a:rPr>
              <a:t>工位</a:t>
            </a:r>
            <a:r>
              <a:rPr lang="zh-CN" altLang="en-US" sz="1200" dirty="0">
                <a:solidFill>
                  <a:srgbClr val="EF0137"/>
                </a:solidFill>
              </a:rPr>
              <a:t>振动</a:t>
            </a:r>
            <a:r>
              <a:rPr lang="zh-CN" altLang="en-US" sz="1200" dirty="0">
                <a:solidFill>
                  <a:schemeClr val="tx1"/>
                </a:solidFill>
              </a:rPr>
              <a:t>。</a:t>
            </a:r>
            <a:endParaRPr lang="en-US" sz="1200" dirty="0">
              <a:solidFill>
                <a:schemeClr val="tx1"/>
              </a:solidFill>
            </a:endParaRPr>
          </a:p>
        </p:txBody>
      </p:sp>
      <p:sp>
        <p:nvSpPr>
          <p:cNvPr id="95" name="Oval 94">
            <a:extLst>
              <a:ext uri="{FF2B5EF4-FFF2-40B4-BE49-F238E27FC236}">
                <a16:creationId xmlns:a16="http://schemas.microsoft.com/office/drawing/2014/main" id="{AA16958B-F480-31A9-998E-92C54DA43C67}"/>
              </a:ext>
            </a:extLst>
          </p:cNvPr>
          <p:cNvSpPr>
            <a:spLocks/>
          </p:cNvSpPr>
          <p:nvPr/>
        </p:nvSpPr>
        <p:spPr>
          <a:xfrm rot="16200000">
            <a:off x="5348273" y="3927191"/>
            <a:ext cx="179906" cy="179906"/>
          </a:xfrm>
          <a:prstGeom prst="ellipse">
            <a:avLst/>
          </a:prstGeom>
          <a:solidFill>
            <a:schemeClr val="bg2">
              <a:lumMod val="75000"/>
            </a:schemeClr>
          </a:solidFill>
          <a:ln w="12700" cap="flat" cmpd="sng" algn="ctr">
            <a:solidFill>
              <a:srgbClr val="44546A"/>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96" name="Oval 95">
            <a:extLst>
              <a:ext uri="{FF2B5EF4-FFF2-40B4-BE49-F238E27FC236}">
                <a16:creationId xmlns:a16="http://schemas.microsoft.com/office/drawing/2014/main" id="{4BE88F64-6580-D753-8B02-9C4CB65F76A2}"/>
              </a:ext>
            </a:extLst>
          </p:cNvPr>
          <p:cNvSpPr>
            <a:spLocks/>
          </p:cNvSpPr>
          <p:nvPr/>
        </p:nvSpPr>
        <p:spPr>
          <a:xfrm rot="16200000">
            <a:off x="5735504" y="4152688"/>
            <a:ext cx="179906" cy="179906"/>
          </a:xfrm>
          <a:prstGeom prst="ellipse">
            <a:avLst/>
          </a:prstGeom>
          <a:solidFill>
            <a:srgbClr val="FF0000"/>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97" name="Oval 96">
            <a:extLst>
              <a:ext uri="{FF2B5EF4-FFF2-40B4-BE49-F238E27FC236}">
                <a16:creationId xmlns:a16="http://schemas.microsoft.com/office/drawing/2014/main" id="{D3A327BC-56F9-2A17-CC6C-53AAAB30391F}"/>
              </a:ext>
            </a:extLst>
          </p:cNvPr>
          <p:cNvSpPr>
            <a:spLocks/>
          </p:cNvSpPr>
          <p:nvPr/>
        </p:nvSpPr>
        <p:spPr>
          <a:xfrm rot="16200000">
            <a:off x="5739161" y="4533805"/>
            <a:ext cx="179906" cy="179906"/>
          </a:xfrm>
          <a:prstGeom prst="ellipse">
            <a:avLst/>
          </a:prstGeom>
          <a:solidFill>
            <a:schemeClr val="bg2">
              <a:lumMod val="75000"/>
            </a:schemeClr>
          </a:solidFill>
          <a:ln w="12700" cap="flat" cmpd="sng" algn="ctr">
            <a:solidFill>
              <a:srgbClr val="44546A"/>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98" name="Oval 97">
            <a:extLst>
              <a:ext uri="{FF2B5EF4-FFF2-40B4-BE49-F238E27FC236}">
                <a16:creationId xmlns:a16="http://schemas.microsoft.com/office/drawing/2014/main" id="{C8578E8E-5820-286A-800F-A98D525CEB05}"/>
              </a:ext>
            </a:extLst>
          </p:cNvPr>
          <p:cNvSpPr>
            <a:spLocks/>
          </p:cNvSpPr>
          <p:nvPr/>
        </p:nvSpPr>
        <p:spPr>
          <a:xfrm rot="16200000">
            <a:off x="6127372" y="3917629"/>
            <a:ext cx="179906" cy="179906"/>
          </a:xfrm>
          <a:prstGeom prst="ellipse">
            <a:avLst/>
          </a:prstGeom>
          <a:solidFill>
            <a:schemeClr val="bg2">
              <a:lumMod val="75000"/>
            </a:schemeClr>
          </a:solidFill>
          <a:ln w="12700" cap="flat" cmpd="sng" algn="ctr">
            <a:solidFill>
              <a:srgbClr val="44546A"/>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99" name="Oval 98">
            <a:extLst>
              <a:ext uri="{FF2B5EF4-FFF2-40B4-BE49-F238E27FC236}">
                <a16:creationId xmlns:a16="http://schemas.microsoft.com/office/drawing/2014/main" id="{A985602A-2ABA-DC0F-081E-4E0C11F21A59}"/>
              </a:ext>
            </a:extLst>
          </p:cNvPr>
          <p:cNvSpPr>
            <a:spLocks/>
          </p:cNvSpPr>
          <p:nvPr/>
        </p:nvSpPr>
        <p:spPr>
          <a:xfrm rot="16200000">
            <a:off x="6652410" y="4156379"/>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00" name="Oval 99">
            <a:extLst>
              <a:ext uri="{FF2B5EF4-FFF2-40B4-BE49-F238E27FC236}">
                <a16:creationId xmlns:a16="http://schemas.microsoft.com/office/drawing/2014/main" id="{15ED66DC-A98C-3B87-B6F9-F3167979A903}"/>
              </a:ext>
            </a:extLst>
          </p:cNvPr>
          <p:cNvSpPr>
            <a:spLocks/>
          </p:cNvSpPr>
          <p:nvPr/>
        </p:nvSpPr>
        <p:spPr>
          <a:xfrm rot="16200000">
            <a:off x="6536877" y="3733084"/>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01" name="Oval 100">
            <a:extLst>
              <a:ext uri="{FF2B5EF4-FFF2-40B4-BE49-F238E27FC236}">
                <a16:creationId xmlns:a16="http://schemas.microsoft.com/office/drawing/2014/main" id="{C8FC7A0F-4FBC-D8DE-20FA-285EEBCB3007}"/>
              </a:ext>
            </a:extLst>
          </p:cNvPr>
          <p:cNvSpPr>
            <a:spLocks/>
          </p:cNvSpPr>
          <p:nvPr/>
        </p:nvSpPr>
        <p:spPr>
          <a:xfrm rot="16200000">
            <a:off x="5975534" y="4891418"/>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02" name="Oval 101">
            <a:extLst>
              <a:ext uri="{FF2B5EF4-FFF2-40B4-BE49-F238E27FC236}">
                <a16:creationId xmlns:a16="http://schemas.microsoft.com/office/drawing/2014/main" id="{D6922357-7FBE-5A2D-FB60-0AAA5F693009}"/>
              </a:ext>
            </a:extLst>
          </p:cNvPr>
          <p:cNvSpPr>
            <a:spLocks/>
          </p:cNvSpPr>
          <p:nvPr/>
        </p:nvSpPr>
        <p:spPr>
          <a:xfrm rot="16200000">
            <a:off x="5490549" y="4891418"/>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03" name="Oval 102">
            <a:extLst>
              <a:ext uri="{FF2B5EF4-FFF2-40B4-BE49-F238E27FC236}">
                <a16:creationId xmlns:a16="http://schemas.microsoft.com/office/drawing/2014/main" id="{4181CE87-4E1F-5577-38EA-831965A317AF}"/>
              </a:ext>
            </a:extLst>
          </p:cNvPr>
          <p:cNvSpPr>
            <a:spLocks/>
          </p:cNvSpPr>
          <p:nvPr/>
        </p:nvSpPr>
        <p:spPr>
          <a:xfrm rot="16200000">
            <a:off x="4825564" y="4154039"/>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04" name="Oval 103">
            <a:extLst>
              <a:ext uri="{FF2B5EF4-FFF2-40B4-BE49-F238E27FC236}">
                <a16:creationId xmlns:a16="http://schemas.microsoft.com/office/drawing/2014/main" id="{A402E1AA-2F1A-1B55-29C8-EC5D0F8F8789}"/>
              </a:ext>
            </a:extLst>
          </p:cNvPr>
          <p:cNvSpPr>
            <a:spLocks/>
          </p:cNvSpPr>
          <p:nvPr/>
        </p:nvSpPr>
        <p:spPr>
          <a:xfrm rot="16200000">
            <a:off x="4915519" y="3742461"/>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cxnSp>
        <p:nvCxnSpPr>
          <p:cNvPr id="106" name="Straight Connector 105">
            <a:extLst>
              <a:ext uri="{FF2B5EF4-FFF2-40B4-BE49-F238E27FC236}">
                <a16:creationId xmlns:a16="http://schemas.microsoft.com/office/drawing/2014/main" id="{B0564719-21A5-181D-FFB5-C6DA870C8E69}"/>
              </a:ext>
            </a:extLst>
          </p:cNvPr>
          <p:cNvCxnSpPr>
            <a:stCxn id="96" idx="2"/>
            <a:endCxn id="97" idx="6"/>
          </p:cNvCxnSpPr>
          <p:nvPr/>
        </p:nvCxnSpPr>
        <p:spPr>
          <a:xfrm>
            <a:off x="5825457" y="4332594"/>
            <a:ext cx="3656" cy="201211"/>
          </a:xfrm>
          <a:prstGeom prst="line">
            <a:avLst/>
          </a:prstGeom>
          <a:noFill/>
          <a:ln w="12700" cap="flat" cmpd="sng" algn="ctr">
            <a:solidFill>
              <a:srgbClr val="44546A"/>
            </a:solidFill>
            <a:prstDash val="solid"/>
            <a:miter lim="800000"/>
          </a:ln>
          <a:effectLst/>
        </p:spPr>
      </p:cxnSp>
      <p:cxnSp>
        <p:nvCxnSpPr>
          <p:cNvPr id="107" name="Straight Connector 106">
            <a:extLst>
              <a:ext uri="{FF2B5EF4-FFF2-40B4-BE49-F238E27FC236}">
                <a16:creationId xmlns:a16="http://schemas.microsoft.com/office/drawing/2014/main" id="{4D9B17DE-4FB5-C005-6DE4-E7371B84D359}"/>
              </a:ext>
            </a:extLst>
          </p:cNvPr>
          <p:cNvCxnSpPr>
            <a:cxnSpLocks/>
            <a:stCxn id="98" idx="1"/>
            <a:endCxn id="96" idx="5"/>
          </p:cNvCxnSpPr>
          <p:nvPr/>
        </p:nvCxnSpPr>
        <p:spPr>
          <a:xfrm flipH="1">
            <a:off x="5889064" y="4071190"/>
            <a:ext cx="264654" cy="107845"/>
          </a:xfrm>
          <a:prstGeom prst="line">
            <a:avLst/>
          </a:prstGeom>
          <a:noFill/>
          <a:ln w="12700" cap="flat" cmpd="sng" algn="ctr">
            <a:solidFill>
              <a:srgbClr val="44546A"/>
            </a:solidFill>
            <a:prstDash val="solid"/>
            <a:miter lim="800000"/>
          </a:ln>
          <a:effectLst/>
        </p:spPr>
      </p:cxnSp>
      <p:cxnSp>
        <p:nvCxnSpPr>
          <p:cNvPr id="108" name="Straight Connector 107">
            <a:extLst>
              <a:ext uri="{FF2B5EF4-FFF2-40B4-BE49-F238E27FC236}">
                <a16:creationId xmlns:a16="http://schemas.microsoft.com/office/drawing/2014/main" id="{F6BE3B0F-38A3-CDA4-781A-791FB92A36FF}"/>
              </a:ext>
            </a:extLst>
          </p:cNvPr>
          <p:cNvCxnSpPr>
            <a:cxnSpLocks/>
            <a:stCxn id="95" idx="3"/>
            <a:endCxn id="96" idx="7"/>
          </p:cNvCxnSpPr>
          <p:nvPr/>
        </p:nvCxnSpPr>
        <p:spPr>
          <a:xfrm>
            <a:off x="5501833" y="4080751"/>
            <a:ext cx="260018" cy="98283"/>
          </a:xfrm>
          <a:prstGeom prst="line">
            <a:avLst/>
          </a:prstGeom>
          <a:noFill/>
          <a:ln w="12700" cap="flat" cmpd="sng" algn="ctr">
            <a:solidFill>
              <a:srgbClr val="44546A"/>
            </a:solidFill>
            <a:prstDash val="solid"/>
            <a:miter lim="800000"/>
          </a:ln>
          <a:effectLst/>
        </p:spPr>
      </p:cxnSp>
      <p:cxnSp>
        <p:nvCxnSpPr>
          <p:cNvPr id="109" name="Straight Connector 108">
            <a:extLst>
              <a:ext uri="{FF2B5EF4-FFF2-40B4-BE49-F238E27FC236}">
                <a16:creationId xmlns:a16="http://schemas.microsoft.com/office/drawing/2014/main" id="{AC703716-FBF4-0151-84BA-8BC6B876BB1E}"/>
              </a:ext>
            </a:extLst>
          </p:cNvPr>
          <p:cNvCxnSpPr>
            <a:cxnSpLocks/>
            <a:stCxn id="104" idx="3"/>
            <a:endCxn id="95" idx="0"/>
          </p:cNvCxnSpPr>
          <p:nvPr/>
        </p:nvCxnSpPr>
        <p:spPr>
          <a:xfrm>
            <a:off x="5069078" y="3896021"/>
            <a:ext cx="279195" cy="121123"/>
          </a:xfrm>
          <a:prstGeom prst="line">
            <a:avLst/>
          </a:prstGeom>
          <a:noFill/>
          <a:ln w="12700" cap="flat" cmpd="sng" algn="ctr">
            <a:solidFill>
              <a:srgbClr val="44546A"/>
            </a:solidFill>
            <a:prstDash val="solid"/>
            <a:miter lim="800000"/>
          </a:ln>
          <a:effectLst/>
        </p:spPr>
      </p:cxnSp>
      <p:cxnSp>
        <p:nvCxnSpPr>
          <p:cNvPr id="110" name="Straight Connector 109">
            <a:extLst>
              <a:ext uri="{FF2B5EF4-FFF2-40B4-BE49-F238E27FC236}">
                <a16:creationId xmlns:a16="http://schemas.microsoft.com/office/drawing/2014/main" id="{47DE694E-3BDE-F34A-F1E4-A03C73592064}"/>
              </a:ext>
            </a:extLst>
          </p:cNvPr>
          <p:cNvCxnSpPr/>
          <p:nvPr/>
        </p:nvCxnSpPr>
        <p:spPr>
          <a:xfrm>
            <a:off x="5983236" y="4576179"/>
            <a:ext cx="0" cy="0"/>
          </a:xfrm>
          <a:prstGeom prst="line">
            <a:avLst/>
          </a:prstGeom>
          <a:noFill/>
          <a:ln w="6350" cap="flat" cmpd="sng" algn="ctr">
            <a:solidFill>
              <a:srgbClr val="4472C4"/>
            </a:solidFill>
            <a:prstDash val="solid"/>
            <a:miter lim="800000"/>
          </a:ln>
          <a:effectLst/>
        </p:spPr>
      </p:cxnSp>
      <p:cxnSp>
        <p:nvCxnSpPr>
          <p:cNvPr id="111" name="Straight Connector 110">
            <a:extLst>
              <a:ext uri="{FF2B5EF4-FFF2-40B4-BE49-F238E27FC236}">
                <a16:creationId xmlns:a16="http://schemas.microsoft.com/office/drawing/2014/main" id="{FC558BF8-CBD7-CCB1-44A8-F45E38B38B43}"/>
              </a:ext>
            </a:extLst>
          </p:cNvPr>
          <p:cNvCxnSpPr>
            <a:cxnSpLocks/>
            <a:stCxn id="97" idx="2"/>
            <a:endCxn id="102" idx="5"/>
          </p:cNvCxnSpPr>
          <p:nvPr/>
        </p:nvCxnSpPr>
        <p:spPr>
          <a:xfrm flipH="1">
            <a:off x="5644109" y="4713712"/>
            <a:ext cx="185005" cy="204053"/>
          </a:xfrm>
          <a:prstGeom prst="line">
            <a:avLst/>
          </a:prstGeom>
          <a:noFill/>
          <a:ln w="12700" cap="flat" cmpd="sng" algn="ctr">
            <a:solidFill>
              <a:srgbClr val="44546A"/>
            </a:solidFill>
            <a:prstDash val="solid"/>
            <a:miter lim="800000"/>
          </a:ln>
          <a:effectLst/>
        </p:spPr>
      </p:cxnSp>
      <p:cxnSp>
        <p:nvCxnSpPr>
          <p:cNvPr id="112" name="Straight Connector 111">
            <a:extLst>
              <a:ext uri="{FF2B5EF4-FFF2-40B4-BE49-F238E27FC236}">
                <a16:creationId xmlns:a16="http://schemas.microsoft.com/office/drawing/2014/main" id="{7FBA4B7E-0BBB-EBC5-D6F3-BD6A93D1F8A6}"/>
              </a:ext>
            </a:extLst>
          </p:cNvPr>
          <p:cNvCxnSpPr>
            <a:stCxn id="97" idx="2"/>
            <a:endCxn id="101" idx="7"/>
          </p:cNvCxnSpPr>
          <p:nvPr/>
        </p:nvCxnSpPr>
        <p:spPr>
          <a:xfrm>
            <a:off x="5829114" y="4713712"/>
            <a:ext cx="172767" cy="204053"/>
          </a:xfrm>
          <a:prstGeom prst="line">
            <a:avLst/>
          </a:prstGeom>
          <a:noFill/>
          <a:ln w="12700" cap="flat" cmpd="sng" algn="ctr">
            <a:solidFill>
              <a:srgbClr val="44546A"/>
            </a:solidFill>
            <a:prstDash val="solid"/>
            <a:miter lim="800000"/>
          </a:ln>
          <a:effectLst/>
        </p:spPr>
      </p:cxnSp>
      <p:cxnSp>
        <p:nvCxnSpPr>
          <p:cNvPr id="158" name="Straight Connector 157">
            <a:extLst>
              <a:ext uri="{FF2B5EF4-FFF2-40B4-BE49-F238E27FC236}">
                <a16:creationId xmlns:a16="http://schemas.microsoft.com/office/drawing/2014/main" id="{F09A75E7-FDE6-DEFB-D861-9B12082A4425}"/>
              </a:ext>
            </a:extLst>
          </p:cNvPr>
          <p:cNvCxnSpPr>
            <a:cxnSpLocks/>
            <a:stCxn id="98" idx="4"/>
            <a:endCxn id="100" idx="0"/>
          </p:cNvCxnSpPr>
          <p:nvPr/>
        </p:nvCxnSpPr>
        <p:spPr>
          <a:xfrm flipV="1">
            <a:off x="6307279" y="3823038"/>
            <a:ext cx="229598" cy="184545"/>
          </a:xfrm>
          <a:prstGeom prst="line">
            <a:avLst/>
          </a:prstGeom>
          <a:noFill/>
          <a:ln w="12700" cap="flat" cmpd="sng" algn="ctr">
            <a:solidFill>
              <a:srgbClr val="44546A"/>
            </a:solidFill>
            <a:prstDash val="solid"/>
            <a:miter lim="800000"/>
          </a:ln>
          <a:effectLst/>
        </p:spPr>
      </p:cxnSp>
      <p:cxnSp>
        <p:nvCxnSpPr>
          <p:cNvPr id="162" name="Straight Connector 161">
            <a:extLst>
              <a:ext uri="{FF2B5EF4-FFF2-40B4-BE49-F238E27FC236}">
                <a16:creationId xmlns:a16="http://schemas.microsoft.com/office/drawing/2014/main" id="{578DF29E-E62D-404E-3B66-F96BE9B0454C}"/>
              </a:ext>
            </a:extLst>
          </p:cNvPr>
          <p:cNvCxnSpPr>
            <a:stCxn id="95" idx="0"/>
            <a:endCxn id="103" idx="4"/>
          </p:cNvCxnSpPr>
          <p:nvPr/>
        </p:nvCxnSpPr>
        <p:spPr>
          <a:xfrm flipH="1">
            <a:off x="5005471" y="4017144"/>
            <a:ext cx="342802" cy="226848"/>
          </a:xfrm>
          <a:prstGeom prst="line">
            <a:avLst/>
          </a:prstGeom>
          <a:noFill/>
          <a:ln w="12700" cap="flat" cmpd="sng" algn="ctr">
            <a:solidFill>
              <a:srgbClr val="44546A"/>
            </a:solidFill>
            <a:prstDash val="solid"/>
            <a:miter lim="800000"/>
          </a:ln>
          <a:effectLst/>
        </p:spPr>
      </p:cxnSp>
      <p:cxnSp>
        <p:nvCxnSpPr>
          <p:cNvPr id="164" name="Straight Connector 163">
            <a:extLst>
              <a:ext uri="{FF2B5EF4-FFF2-40B4-BE49-F238E27FC236}">
                <a16:creationId xmlns:a16="http://schemas.microsoft.com/office/drawing/2014/main" id="{081621F1-C3A0-8A29-D66A-690A45BCAAEF}"/>
              </a:ext>
            </a:extLst>
          </p:cNvPr>
          <p:cNvCxnSpPr>
            <a:cxnSpLocks/>
            <a:stCxn id="98" idx="4"/>
            <a:endCxn id="99" idx="0"/>
          </p:cNvCxnSpPr>
          <p:nvPr/>
        </p:nvCxnSpPr>
        <p:spPr>
          <a:xfrm>
            <a:off x="6307279" y="4007582"/>
            <a:ext cx="345131" cy="238750"/>
          </a:xfrm>
          <a:prstGeom prst="line">
            <a:avLst/>
          </a:prstGeom>
          <a:noFill/>
          <a:ln w="12700" cap="flat" cmpd="sng" algn="ctr">
            <a:solidFill>
              <a:srgbClr val="44546A"/>
            </a:solidFill>
            <a:prstDash val="solid"/>
            <a:miter lim="800000"/>
          </a:ln>
          <a:effectLst/>
        </p:spPr>
      </p:cxnSp>
      <p:sp>
        <p:nvSpPr>
          <p:cNvPr id="165" name="TextBox 164">
            <a:extLst>
              <a:ext uri="{FF2B5EF4-FFF2-40B4-BE49-F238E27FC236}">
                <a16:creationId xmlns:a16="http://schemas.microsoft.com/office/drawing/2014/main" id="{F805EEC1-0F49-AA78-F832-A30B0F108D10}"/>
              </a:ext>
            </a:extLst>
          </p:cNvPr>
          <p:cNvSpPr txBox="1"/>
          <p:nvPr/>
        </p:nvSpPr>
        <p:spPr>
          <a:xfrm>
            <a:off x="5571790" y="3724809"/>
            <a:ext cx="1819179" cy="184666"/>
          </a:xfrm>
          <a:prstGeom prst="rect">
            <a:avLst/>
          </a:prstGeom>
          <a:noFill/>
        </p:spPr>
        <p:txBody>
          <a:bodyPr wrap="square" lIns="0" tIns="0" rIns="0" bIns="0" rtlCol="0">
            <a:spAutoFit/>
          </a:bodyPr>
          <a:lstStyle/>
          <a:p>
            <a:r>
              <a:rPr lang="zh-CN" altLang="en-US" sz="1200" dirty="0"/>
              <a:t>链床异常</a:t>
            </a:r>
            <a:endParaRPr lang="en-US" sz="1200" dirty="0"/>
          </a:p>
        </p:txBody>
      </p:sp>
      <p:cxnSp>
        <p:nvCxnSpPr>
          <p:cNvPr id="166" name="Straight Connector 165">
            <a:extLst>
              <a:ext uri="{FF2B5EF4-FFF2-40B4-BE49-F238E27FC236}">
                <a16:creationId xmlns:a16="http://schemas.microsoft.com/office/drawing/2014/main" id="{4E0A1EF0-6A73-08AD-6D9E-55D24894C041}"/>
              </a:ext>
            </a:extLst>
          </p:cNvPr>
          <p:cNvCxnSpPr>
            <a:cxnSpLocks/>
          </p:cNvCxnSpPr>
          <p:nvPr/>
        </p:nvCxnSpPr>
        <p:spPr>
          <a:xfrm>
            <a:off x="1137828" y="3296290"/>
            <a:ext cx="9626886" cy="0"/>
          </a:xfrm>
          <a:prstGeom prst="line">
            <a:avLst/>
          </a:prstGeom>
          <a:ln w="9525">
            <a:solidFill>
              <a:schemeClr val="accent1"/>
            </a:solidFill>
            <a:prstDash val="dashDot"/>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B791C4E4-FE1C-28EB-854E-7B91F19978A3}"/>
              </a:ext>
            </a:extLst>
          </p:cNvPr>
          <p:cNvSpPr txBox="1"/>
          <p:nvPr/>
        </p:nvSpPr>
        <p:spPr>
          <a:xfrm>
            <a:off x="2555193" y="1058409"/>
            <a:ext cx="1819179" cy="369332"/>
          </a:xfrm>
          <a:prstGeom prst="rect">
            <a:avLst/>
          </a:prstGeom>
          <a:noFill/>
        </p:spPr>
        <p:txBody>
          <a:bodyPr wrap="square" lIns="0" tIns="0" rIns="0" bIns="0" rtlCol="0">
            <a:spAutoFit/>
          </a:bodyPr>
          <a:lstStyle/>
          <a:p>
            <a:r>
              <a:rPr lang="en-US" altLang="zh-CN" sz="1200" b="1" dirty="0"/>
              <a:t>DaaS-</a:t>
            </a:r>
            <a:r>
              <a:rPr lang="en-US" altLang="zh-CN" sz="1200" b="1" dirty="0" err="1"/>
              <a:t>MaintLoop</a:t>
            </a:r>
            <a:endParaRPr lang="en-US" altLang="zh-CN" sz="1200" b="1" dirty="0"/>
          </a:p>
          <a:p>
            <a:r>
              <a:rPr lang="en-US" sz="1200" b="1" dirty="0"/>
              <a:t>Algorithms</a:t>
            </a:r>
            <a:r>
              <a:rPr lang="zh-CN" altLang="en-US" sz="1200" b="1" dirty="0"/>
              <a:t> </a:t>
            </a:r>
            <a:r>
              <a:rPr lang="en-US" altLang="zh-CN" sz="1200" b="1" dirty="0"/>
              <a:t>Layer</a:t>
            </a:r>
            <a:endParaRPr lang="en-US" sz="1200" b="1" dirty="0"/>
          </a:p>
        </p:txBody>
      </p:sp>
      <p:sp>
        <p:nvSpPr>
          <p:cNvPr id="169" name="Oval 168">
            <a:extLst>
              <a:ext uri="{FF2B5EF4-FFF2-40B4-BE49-F238E27FC236}">
                <a16:creationId xmlns:a16="http://schemas.microsoft.com/office/drawing/2014/main" id="{577A6338-5815-E4FC-CA59-920B81E57451}"/>
              </a:ext>
            </a:extLst>
          </p:cNvPr>
          <p:cNvSpPr>
            <a:spLocks/>
          </p:cNvSpPr>
          <p:nvPr/>
        </p:nvSpPr>
        <p:spPr>
          <a:xfrm rot="16200000">
            <a:off x="2548879" y="2294192"/>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170" name="TextBox 169">
            <a:extLst>
              <a:ext uri="{FF2B5EF4-FFF2-40B4-BE49-F238E27FC236}">
                <a16:creationId xmlns:a16="http://schemas.microsoft.com/office/drawing/2014/main" id="{04771191-793D-1EEE-00DA-48CAF538C48D}"/>
              </a:ext>
            </a:extLst>
          </p:cNvPr>
          <p:cNvSpPr txBox="1"/>
          <p:nvPr/>
        </p:nvSpPr>
        <p:spPr>
          <a:xfrm>
            <a:off x="2792743" y="2307357"/>
            <a:ext cx="1819179" cy="184666"/>
          </a:xfrm>
          <a:prstGeom prst="rect">
            <a:avLst/>
          </a:prstGeom>
          <a:noFill/>
        </p:spPr>
        <p:txBody>
          <a:bodyPr wrap="square" lIns="0" tIns="0" rIns="0" bIns="0" rtlCol="0">
            <a:spAutoFit/>
          </a:bodyPr>
          <a:lstStyle/>
          <a:p>
            <a:r>
              <a:rPr lang="en-US" sz="1200" dirty="0"/>
              <a:t>Threshold-SPC</a:t>
            </a:r>
          </a:p>
        </p:txBody>
      </p:sp>
      <p:sp>
        <p:nvSpPr>
          <p:cNvPr id="171" name="Oval 170">
            <a:extLst>
              <a:ext uri="{FF2B5EF4-FFF2-40B4-BE49-F238E27FC236}">
                <a16:creationId xmlns:a16="http://schemas.microsoft.com/office/drawing/2014/main" id="{C75C4500-A440-77B1-A19D-DDDDF90E6614}"/>
              </a:ext>
            </a:extLst>
          </p:cNvPr>
          <p:cNvSpPr>
            <a:spLocks/>
          </p:cNvSpPr>
          <p:nvPr/>
        </p:nvSpPr>
        <p:spPr>
          <a:xfrm rot="16200000">
            <a:off x="3524583" y="1809439"/>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172" name="TextBox 171">
            <a:extLst>
              <a:ext uri="{FF2B5EF4-FFF2-40B4-BE49-F238E27FC236}">
                <a16:creationId xmlns:a16="http://schemas.microsoft.com/office/drawing/2014/main" id="{63C61779-3C91-2830-7406-1B14BEDD97E4}"/>
              </a:ext>
            </a:extLst>
          </p:cNvPr>
          <p:cNvSpPr txBox="1"/>
          <p:nvPr/>
        </p:nvSpPr>
        <p:spPr>
          <a:xfrm>
            <a:off x="3763319" y="1814905"/>
            <a:ext cx="1819179" cy="184666"/>
          </a:xfrm>
          <a:prstGeom prst="rect">
            <a:avLst/>
          </a:prstGeom>
          <a:noFill/>
        </p:spPr>
        <p:txBody>
          <a:bodyPr wrap="square" lIns="0" tIns="0" rIns="0" bIns="0" rtlCol="0">
            <a:spAutoFit/>
          </a:bodyPr>
          <a:lstStyle/>
          <a:p>
            <a:r>
              <a:rPr lang="en-US" sz="1200" dirty="0"/>
              <a:t>SVM</a:t>
            </a:r>
          </a:p>
        </p:txBody>
      </p:sp>
      <p:sp>
        <p:nvSpPr>
          <p:cNvPr id="173" name="Oval 172">
            <a:extLst>
              <a:ext uri="{FF2B5EF4-FFF2-40B4-BE49-F238E27FC236}">
                <a16:creationId xmlns:a16="http://schemas.microsoft.com/office/drawing/2014/main" id="{8A133882-A87F-3C61-B907-93B3CF0571A1}"/>
              </a:ext>
            </a:extLst>
          </p:cNvPr>
          <p:cNvSpPr>
            <a:spLocks/>
          </p:cNvSpPr>
          <p:nvPr/>
        </p:nvSpPr>
        <p:spPr>
          <a:xfrm rot="16200000">
            <a:off x="3969815" y="2300877"/>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174" name="TextBox 173">
            <a:extLst>
              <a:ext uri="{FF2B5EF4-FFF2-40B4-BE49-F238E27FC236}">
                <a16:creationId xmlns:a16="http://schemas.microsoft.com/office/drawing/2014/main" id="{EEE59B07-3FED-2B28-34CB-355C82D14C1A}"/>
              </a:ext>
            </a:extLst>
          </p:cNvPr>
          <p:cNvSpPr txBox="1"/>
          <p:nvPr/>
        </p:nvSpPr>
        <p:spPr>
          <a:xfrm>
            <a:off x="4228617" y="2316622"/>
            <a:ext cx="1819179" cy="184666"/>
          </a:xfrm>
          <a:prstGeom prst="rect">
            <a:avLst/>
          </a:prstGeom>
          <a:noFill/>
        </p:spPr>
        <p:txBody>
          <a:bodyPr wrap="square" lIns="0" tIns="0" rIns="0" bIns="0" rtlCol="0">
            <a:spAutoFit/>
          </a:bodyPr>
          <a:lstStyle/>
          <a:p>
            <a:r>
              <a:rPr lang="en-US" sz="1200" dirty="0"/>
              <a:t>K-Means</a:t>
            </a:r>
          </a:p>
        </p:txBody>
      </p:sp>
      <p:sp>
        <p:nvSpPr>
          <p:cNvPr id="15" name="Rectangle: Rounded Corners 14">
            <a:extLst>
              <a:ext uri="{FF2B5EF4-FFF2-40B4-BE49-F238E27FC236}">
                <a16:creationId xmlns:a16="http://schemas.microsoft.com/office/drawing/2014/main" id="{25B42880-9169-AF7E-AE80-AD5EA5CE6D70}"/>
              </a:ext>
            </a:extLst>
          </p:cNvPr>
          <p:cNvSpPr/>
          <p:nvPr/>
        </p:nvSpPr>
        <p:spPr>
          <a:xfrm>
            <a:off x="1263721" y="2648339"/>
            <a:ext cx="9277564" cy="556904"/>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b="1" dirty="0">
                <a:solidFill>
                  <a:schemeClr val="tx1"/>
                </a:solidFill>
              </a:rPr>
              <a:t>Schema Configuration*</a:t>
            </a:r>
          </a:p>
        </p:txBody>
      </p:sp>
      <p:sp>
        <p:nvSpPr>
          <p:cNvPr id="175" name="TextBox 174">
            <a:extLst>
              <a:ext uri="{FF2B5EF4-FFF2-40B4-BE49-F238E27FC236}">
                <a16:creationId xmlns:a16="http://schemas.microsoft.com/office/drawing/2014/main" id="{4A070BF0-C998-D0AC-8600-A451D0319EE0}"/>
              </a:ext>
            </a:extLst>
          </p:cNvPr>
          <p:cNvSpPr txBox="1"/>
          <p:nvPr/>
        </p:nvSpPr>
        <p:spPr>
          <a:xfrm>
            <a:off x="259059" y="4046250"/>
            <a:ext cx="1819179" cy="184666"/>
          </a:xfrm>
          <a:prstGeom prst="rect">
            <a:avLst/>
          </a:prstGeom>
          <a:noFill/>
        </p:spPr>
        <p:txBody>
          <a:bodyPr wrap="square" lIns="0" tIns="0" rIns="0" bIns="0" rtlCol="0">
            <a:spAutoFit/>
          </a:bodyPr>
          <a:lstStyle/>
          <a:p>
            <a:r>
              <a:rPr lang="en-US" sz="1200" b="1" dirty="0"/>
              <a:t>Modeling Tool</a:t>
            </a:r>
          </a:p>
        </p:txBody>
      </p:sp>
      <p:sp>
        <p:nvSpPr>
          <p:cNvPr id="194" name="Oval 193">
            <a:extLst>
              <a:ext uri="{FF2B5EF4-FFF2-40B4-BE49-F238E27FC236}">
                <a16:creationId xmlns:a16="http://schemas.microsoft.com/office/drawing/2014/main" id="{B7D5A06A-FEEC-AECA-2616-E8053DB7B860}"/>
              </a:ext>
            </a:extLst>
          </p:cNvPr>
          <p:cNvSpPr>
            <a:spLocks/>
          </p:cNvSpPr>
          <p:nvPr/>
        </p:nvSpPr>
        <p:spPr>
          <a:xfrm rot="16200000">
            <a:off x="2881565" y="3942445"/>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95" name="Oval 194">
            <a:extLst>
              <a:ext uri="{FF2B5EF4-FFF2-40B4-BE49-F238E27FC236}">
                <a16:creationId xmlns:a16="http://schemas.microsoft.com/office/drawing/2014/main" id="{3388CC35-27DB-F120-2121-BE584186A340}"/>
              </a:ext>
            </a:extLst>
          </p:cNvPr>
          <p:cNvSpPr>
            <a:spLocks/>
          </p:cNvSpPr>
          <p:nvPr/>
        </p:nvSpPr>
        <p:spPr>
          <a:xfrm rot="16200000">
            <a:off x="3268796" y="4167942"/>
            <a:ext cx="179906" cy="179906"/>
          </a:xfrm>
          <a:prstGeom prst="ellipse">
            <a:avLst/>
          </a:prstGeom>
          <a:solidFill>
            <a:srgbClr val="9999A9"/>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96" name="Oval 195">
            <a:extLst>
              <a:ext uri="{FF2B5EF4-FFF2-40B4-BE49-F238E27FC236}">
                <a16:creationId xmlns:a16="http://schemas.microsoft.com/office/drawing/2014/main" id="{64983A9A-AF13-2635-3EFD-13F8B138F6C0}"/>
              </a:ext>
            </a:extLst>
          </p:cNvPr>
          <p:cNvSpPr>
            <a:spLocks/>
          </p:cNvSpPr>
          <p:nvPr/>
        </p:nvSpPr>
        <p:spPr>
          <a:xfrm rot="16200000">
            <a:off x="3272453" y="4549059"/>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97" name="Oval 196">
            <a:extLst>
              <a:ext uri="{FF2B5EF4-FFF2-40B4-BE49-F238E27FC236}">
                <a16:creationId xmlns:a16="http://schemas.microsoft.com/office/drawing/2014/main" id="{8EAF2DDA-DD00-5D8E-35D6-DB6AB4F354D3}"/>
              </a:ext>
            </a:extLst>
          </p:cNvPr>
          <p:cNvSpPr>
            <a:spLocks/>
          </p:cNvSpPr>
          <p:nvPr/>
        </p:nvSpPr>
        <p:spPr>
          <a:xfrm rot="16200000">
            <a:off x="3660664" y="393288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98" name="Oval 197">
            <a:extLst>
              <a:ext uri="{FF2B5EF4-FFF2-40B4-BE49-F238E27FC236}">
                <a16:creationId xmlns:a16="http://schemas.microsoft.com/office/drawing/2014/main" id="{2DB6AAE4-88C0-C39D-117A-7655B85E9480}"/>
              </a:ext>
            </a:extLst>
          </p:cNvPr>
          <p:cNvSpPr>
            <a:spLocks/>
          </p:cNvSpPr>
          <p:nvPr/>
        </p:nvSpPr>
        <p:spPr>
          <a:xfrm rot="16200000">
            <a:off x="4185702" y="417163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199" name="Oval 198">
            <a:extLst>
              <a:ext uri="{FF2B5EF4-FFF2-40B4-BE49-F238E27FC236}">
                <a16:creationId xmlns:a16="http://schemas.microsoft.com/office/drawing/2014/main" id="{EF88BE81-5258-2FF8-9D3C-C7298702B2F3}"/>
              </a:ext>
            </a:extLst>
          </p:cNvPr>
          <p:cNvSpPr>
            <a:spLocks/>
          </p:cNvSpPr>
          <p:nvPr/>
        </p:nvSpPr>
        <p:spPr>
          <a:xfrm rot="16200000">
            <a:off x="4070169" y="3748338"/>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00" name="Oval 199">
            <a:extLst>
              <a:ext uri="{FF2B5EF4-FFF2-40B4-BE49-F238E27FC236}">
                <a16:creationId xmlns:a16="http://schemas.microsoft.com/office/drawing/2014/main" id="{FAFD4FC8-80D0-005B-20EF-B0273C2B2222}"/>
              </a:ext>
            </a:extLst>
          </p:cNvPr>
          <p:cNvSpPr>
            <a:spLocks/>
          </p:cNvSpPr>
          <p:nvPr/>
        </p:nvSpPr>
        <p:spPr>
          <a:xfrm rot="16200000">
            <a:off x="3508826" y="4906672"/>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01" name="Oval 200">
            <a:extLst>
              <a:ext uri="{FF2B5EF4-FFF2-40B4-BE49-F238E27FC236}">
                <a16:creationId xmlns:a16="http://schemas.microsoft.com/office/drawing/2014/main" id="{FE8799CE-6403-64FF-F60C-4403814A4F21}"/>
              </a:ext>
            </a:extLst>
          </p:cNvPr>
          <p:cNvSpPr>
            <a:spLocks/>
          </p:cNvSpPr>
          <p:nvPr/>
        </p:nvSpPr>
        <p:spPr>
          <a:xfrm rot="16200000">
            <a:off x="3023841" y="4906672"/>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02" name="Oval 201">
            <a:extLst>
              <a:ext uri="{FF2B5EF4-FFF2-40B4-BE49-F238E27FC236}">
                <a16:creationId xmlns:a16="http://schemas.microsoft.com/office/drawing/2014/main" id="{B33CA17F-E99A-9F42-93B6-BC4054983BE3}"/>
              </a:ext>
            </a:extLst>
          </p:cNvPr>
          <p:cNvSpPr>
            <a:spLocks/>
          </p:cNvSpPr>
          <p:nvPr/>
        </p:nvSpPr>
        <p:spPr>
          <a:xfrm rot="16200000">
            <a:off x="2358856" y="416929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03" name="Oval 202">
            <a:extLst>
              <a:ext uri="{FF2B5EF4-FFF2-40B4-BE49-F238E27FC236}">
                <a16:creationId xmlns:a16="http://schemas.microsoft.com/office/drawing/2014/main" id="{BFEB5A10-1550-8B5A-CE17-2F6AD8FA78D1}"/>
              </a:ext>
            </a:extLst>
          </p:cNvPr>
          <p:cNvSpPr>
            <a:spLocks/>
          </p:cNvSpPr>
          <p:nvPr/>
        </p:nvSpPr>
        <p:spPr>
          <a:xfrm rot="16200000">
            <a:off x="2448811" y="3757715"/>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cxnSp>
        <p:nvCxnSpPr>
          <p:cNvPr id="204" name="Straight Connector 203">
            <a:extLst>
              <a:ext uri="{FF2B5EF4-FFF2-40B4-BE49-F238E27FC236}">
                <a16:creationId xmlns:a16="http://schemas.microsoft.com/office/drawing/2014/main" id="{EEE65D3A-D746-88DC-1E45-B8EC6FC1684B}"/>
              </a:ext>
            </a:extLst>
          </p:cNvPr>
          <p:cNvCxnSpPr>
            <a:stCxn id="195" idx="2"/>
            <a:endCxn id="196" idx="6"/>
          </p:cNvCxnSpPr>
          <p:nvPr/>
        </p:nvCxnSpPr>
        <p:spPr>
          <a:xfrm>
            <a:off x="3358749" y="4347848"/>
            <a:ext cx="3656" cy="201211"/>
          </a:xfrm>
          <a:prstGeom prst="line">
            <a:avLst/>
          </a:prstGeom>
          <a:noFill/>
          <a:ln w="12700" cap="flat" cmpd="sng" algn="ctr">
            <a:solidFill>
              <a:schemeClr val="bg1">
                <a:lumMod val="85000"/>
              </a:schemeClr>
            </a:solidFill>
            <a:prstDash val="solid"/>
            <a:miter lim="800000"/>
          </a:ln>
          <a:effectLst/>
        </p:spPr>
      </p:cxnSp>
      <p:cxnSp>
        <p:nvCxnSpPr>
          <p:cNvPr id="205" name="Straight Connector 204">
            <a:extLst>
              <a:ext uri="{FF2B5EF4-FFF2-40B4-BE49-F238E27FC236}">
                <a16:creationId xmlns:a16="http://schemas.microsoft.com/office/drawing/2014/main" id="{9686725C-591B-5B0A-B672-5A7DC9E0B682}"/>
              </a:ext>
            </a:extLst>
          </p:cNvPr>
          <p:cNvCxnSpPr>
            <a:cxnSpLocks/>
            <a:stCxn id="197" idx="1"/>
            <a:endCxn id="195" idx="5"/>
          </p:cNvCxnSpPr>
          <p:nvPr/>
        </p:nvCxnSpPr>
        <p:spPr>
          <a:xfrm flipH="1">
            <a:off x="3422356" y="4086444"/>
            <a:ext cx="264654" cy="107845"/>
          </a:xfrm>
          <a:prstGeom prst="line">
            <a:avLst/>
          </a:prstGeom>
          <a:noFill/>
          <a:ln w="12700" cap="flat" cmpd="sng" algn="ctr">
            <a:solidFill>
              <a:schemeClr val="bg1">
                <a:lumMod val="85000"/>
              </a:schemeClr>
            </a:solidFill>
            <a:prstDash val="solid"/>
            <a:miter lim="800000"/>
          </a:ln>
          <a:effectLst/>
        </p:spPr>
      </p:cxnSp>
      <p:cxnSp>
        <p:nvCxnSpPr>
          <p:cNvPr id="206" name="Straight Connector 205">
            <a:extLst>
              <a:ext uri="{FF2B5EF4-FFF2-40B4-BE49-F238E27FC236}">
                <a16:creationId xmlns:a16="http://schemas.microsoft.com/office/drawing/2014/main" id="{111E9AF6-5BF1-7249-B698-4C602A0C7314}"/>
              </a:ext>
            </a:extLst>
          </p:cNvPr>
          <p:cNvCxnSpPr>
            <a:cxnSpLocks/>
            <a:stCxn id="194" idx="3"/>
            <a:endCxn id="195" idx="7"/>
          </p:cNvCxnSpPr>
          <p:nvPr/>
        </p:nvCxnSpPr>
        <p:spPr>
          <a:xfrm>
            <a:off x="3035125" y="4096005"/>
            <a:ext cx="260018" cy="98283"/>
          </a:xfrm>
          <a:prstGeom prst="line">
            <a:avLst/>
          </a:prstGeom>
          <a:noFill/>
          <a:ln w="12700" cap="flat" cmpd="sng" algn="ctr">
            <a:solidFill>
              <a:schemeClr val="bg1">
                <a:lumMod val="85000"/>
              </a:schemeClr>
            </a:solidFill>
            <a:prstDash val="solid"/>
            <a:miter lim="800000"/>
          </a:ln>
          <a:effectLst/>
        </p:spPr>
      </p:cxnSp>
      <p:cxnSp>
        <p:nvCxnSpPr>
          <p:cNvPr id="207" name="Straight Connector 206">
            <a:extLst>
              <a:ext uri="{FF2B5EF4-FFF2-40B4-BE49-F238E27FC236}">
                <a16:creationId xmlns:a16="http://schemas.microsoft.com/office/drawing/2014/main" id="{C2FAEF99-C20F-DBA5-ACCC-BC938121DFD8}"/>
              </a:ext>
            </a:extLst>
          </p:cNvPr>
          <p:cNvCxnSpPr>
            <a:cxnSpLocks/>
            <a:stCxn id="203" idx="3"/>
            <a:endCxn id="194" idx="0"/>
          </p:cNvCxnSpPr>
          <p:nvPr/>
        </p:nvCxnSpPr>
        <p:spPr>
          <a:xfrm>
            <a:off x="2602370" y="3911275"/>
            <a:ext cx="279195" cy="121123"/>
          </a:xfrm>
          <a:prstGeom prst="line">
            <a:avLst/>
          </a:prstGeom>
          <a:noFill/>
          <a:ln w="12700" cap="flat" cmpd="sng" algn="ctr">
            <a:solidFill>
              <a:schemeClr val="bg1">
                <a:lumMod val="85000"/>
              </a:schemeClr>
            </a:solidFill>
            <a:prstDash val="solid"/>
            <a:miter lim="800000"/>
          </a:ln>
          <a:effectLst/>
        </p:spPr>
      </p:cxnSp>
      <p:cxnSp>
        <p:nvCxnSpPr>
          <p:cNvPr id="208" name="Straight Connector 207">
            <a:extLst>
              <a:ext uri="{FF2B5EF4-FFF2-40B4-BE49-F238E27FC236}">
                <a16:creationId xmlns:a16="http://schemas.microsoft.com/office/drawing/2014/main" id="{9BB5998D-00CB-9870-AC46-05518EB7A37F}"/>
              </a:ext>
            </a:extLst>
          </p:cNvPr>
          <p:cNvCxnSpPr/>
          <p:nvPr/>
        </p:nvCxnSpPr>
        <p:spPr>
          <a:xfrm>
            <a:off x="3516528" y="4591433"/>
            <a:ext cx="0" cy="0"/>
          </a:xfrm>
          <a:prstGeom prst="line">
            <a:avLst/>
          </a:prstGeom>
          <a:noFill/>
          <a:ln w="6350" cap="flat" cmpd="sng" algn="ctr">
            <a:solidFill>
              <a:schemeClr val="bg1">
                <a:lumMod val="85000"/>
              </a:schemeClr>
            </a:solidFill>
            <a:prstDash val="solid"/>
            <a:miter lim="800000"/>
          </a:ln>
          <a:effectLst/>
        </p:spPr>
      </p:cxnSp>
      <p:cxnSp>
        <p:nvCxnSpPr>
          <p:cNvPr id="209" name="Straight Connector 208">
            <a:extLst>
              <a:ext uri="{FF2B5EF4-FFF2-40B4-BE49-F238E27FC236}">
                <a16:creationId xmlns:a16="http://schemas.microsoft.com/office/drawing/2014/main" id="{94CCEE2D-73B4-C8EB-5407-B2AD475581F4}"/>
              </a:ext>
            </a:extLst>
          </p:cNvPr>
          <p:cNvCxnSpPr>
            <a:cxnSpLocks/>
            <a:stCxn id="196" idx="2"/>
            <a:endCxn id="201" idx="5"/>
          </p:cNvCxnSpPr>
          <p:nvPr/>
        </p:nvCxnSpPr>
        <p:spPr>
          <a:xfrm flipH="1">
            <a:off x="3177401" y="4728966"/>
            <a:ext cx="185005" cy="204053"/>
          </a:xfrm>
          <a:prstGeom prst="line">
            <a:avLst/>
          </a:prstGeom>
          <a:noFill/>
          <a:ln w="12700" cap="flat" cmpd="sng" algn="ctr">
            <a:solidFill>
              <a:schemeClr val="bg1">
                <a:lumMod val="85000"/>
              </a:schemeClr>
            </a:solidFill>
            <a:prstDash val="solid"/>
            <a:miter lim="800000"/>
          </a:ln>
          <a:effectLst/>
        </p:spPr>
      </p:cxnSp>
      <p:cxnSp>
        <p:nvCxnSpPr>
          <p:cNvPr id="210" name="Straight Connector 209">
            <a:extLst>
              <a:ext uri="{FF2B5EF4-FFF2-40B4-BE49-F238E27FC236}">
                <a16:creationId xmlns:a16="http://schemas.microsoft.com/office/drawing/2014/main" id="{42EBD105-1387-7B7D-C8EB-25CA903C1345}"/>
              </a:ext>
            </a:extLst>
          </p:cNvPr>
          <p:cNvCxnSpPr>
            <a:stCxn id="196" idx="2"/>
            <a:endCxn id="200" idx="7"/>
          </p:cNvCxnSpPr>
          <p:nvPr/>
        </p:nvCxnSpPr>
        <p:spPr>
          <a:xfrm>
            <a:off x="3362406" y="4728966"/>
            <a:ext cx="172767" cy="204053"/>
          </a:xfrm>
          <a:prstGeom prst="line">
            <a:avLst/>
          </a:prstGeom>
          <a:noFill/>
          <a:ln w="12700" cap="flat" cmpd="sng" algn="ctr">
            <a:solidFill>
              <a:schemeClr val="bg1">
                <a:lumMod val="85000"/>
              </a:schemeClr>
            </a:solidFill>
            <a:prstDash val="solid"/>
            <a:miter lim="800000"/>
          </a:ln>
          <a:effectLst/>
        </p:spPr>
      </p:cxnSp>
      <p:cxnSp>
        <p:nvCxnSpPr>
          <p:cNvPr id="211" name="Straight Connector 210">
            <a:extLst>
              <a:ext uri="{FF2B5EF4-FFF2-40B4-BE49-F238E27FC236}">
                <a16:creationId xmlns:a16="http://schemas.microsoft.com/office/drawing/2014/main" id="{37646321-88F9-E231-B8D8-A40D1C8EB921}"/>
              </a:ext>
            </a:extLst>
          </p:cNvPr>
          <p:cNvCxnSpPr>
            <a:cxnSpLocks/>
            <a:stCxn id="197" idx="4"/>
            <a:endCxn id="199" idx="0"/>
          </p:cNvCxnSpPr>
          <p:nvPr/>
        </p:nvCxnSpPr>
        <p:spPr>
          <a:xfrm flipV="1">
            <a:off x="3840571" y="3838292"/>
            <a:ext cx="229598" cy="184545"/>
          </a:xfrm>
          <a:prstGeom prst="line">
            <a:avLst/>
          </a:prstGeom>
          <a:noFill/>
          <a:ln w="12700" cap="flat" cmpd="sng" algn="ctr">
            <a:solidFill>
              <a:schemeClr val="bg1">
                <a:lumMod val="85000"/>
              </a:schemeClr>
            </a:solidFill>
            <a:prstDash val="solid"/>
            <a:miter lim="800000"/>
          </a:ln>
          <a:effectLst/>
        </p:spPr>
      </p:cxnSp>
      <p:cxnSp>
        <p:nvCxnSpPr>
          <p:cNvPr id="212" name="Straight Connector 211">
            <a:extLst>
              <a:ext uri="{FF2B5EF4-FFF2-40B4-BE49-F238E27FC236}">
                <a16:creationId xmlns:a16="http://schemas.microsoft.com/office/drawing/2014/main" id="{820F83F1-9521-3BC6-0E9C-D3A99A40EFDD}"/>
              </a:ext>
            </a:extLst>
          </p:cNvPr>
          <p:cNvCxnSpPr>
            <a:stCxn id="194" idx="0"/>
            <a:endCxn id="202" idx="4"/>
          </p:cNvCxnSpPr>
          <p:nvPr/>
        </p:nvCxnSpPr>
        <p:spPr>
          <a:xfrm flipH="1">
            <a:off x="2538763" y="4032398"/>
            <a:ext cx="342802" cy="226848"/>
          </a:xfrm>
          <a:prstGeom prst="line">
            <a:avLst/>
          </a:prstGeom>
          <a:noFill/>
          <a:ln w="12700" cap="flat" cmpd="sng" algn="ctr">
            <a:solidFill>
              <a:schemeClr val="bg1">
                <a:lumMod val="85000"/>
              </a:schemeClr>
            </a:solidFill>
            <a:prstDash val="solid"/>
            <a:miter lim="800000"/>
          </a:ln>
          <a:effectLst/>
        </p:spPr>
      </p:cxnSp>
      <p:cxnSp>
        <p:nvCxnSpPr>
          <p:cNvPr id="213" name="Straight Connector 212">
            <a:extLst>
              <a:ext uri="{FF2B5EF4-FFF2-40B4-BE49-F238E27FC236}">
                <a16:creationId xmlns:a16="http://schemas.microsoft.com/office/drawing/2014/main" id="{CA7606BF-ECF9-F6DF-D9E8-D5591BD08CFF}"/>
              </a:ext>
            </a:extLst>
          </p:cNvPr>
          <p:cNvCxnSpPr>
            <a:cxnSpLocks/>
            <a:stCxn id="197" idx="4"/>
            <a:endCxn id="198" idx="0"/>
          </p:cNvCxnSpPr>
          <p:nvPr/>
        </p:nvCxnSpPr>
        <p:spPr>
          <a:xfrm>
            <a:off x="3840571" y="4022836"/>
            <a:ext cx="345131" cy="238750"/>
          </a:xfrm>
          <a:prstGeom prst="line">
            <a:avLst/>
          </a:prstGeom>
          <a:noFill/>
          <a:ln w="12700" cap="flat" cmpd="sng" algn="ctr">
            <a:solidFill>
              <a:schemeClr val="bg1">
                <a:lumMod val="85000"/>
              </a:schemeClr>
            </a:solidFill>
            <a:prstDash val="solid"/>
            <a:miter lim="800000"/>
          </a:ln>
          <a:effectLst/>
        </p:spPr>
      </p:cxnSp>
      <p:sp>
        <p:nvSpPr>
          <p:cNvPr id="214" name="TextBox 213">
            <a:extLst>
              <a:ext uri="{FF2B5EF4-FFF2-40B4-BE49-F238E27FC236}">
                <a16:creationId xmlns:a16="http://schemas.microsoft.com/office/drawing/2014/main" id="{388F9577-0C02-5B75-84EC-B760F059FEEA}"/>
              </a:ext>
            </a:extLst>
          </p:cNvPr>
          <p:cNvSpPr txBox="1"/>
          <p:nvPr/>
        </p:nvSpPr>
        <p:spPr>
          <a:xfrm>
            <a:off x="3166247" y="3822713"/>
            <a:ext cx="597072" cy="184666"/>
          </a:xfrm>
          <a:prstGeom prst="rect">
            <a:avLst/>
          </a:prstGeom>
          <a:noFill/>
          <a:ln>
            <a:noFill/>
          </a:ln>
        </p:spPr>
        <p:txBody>
          <a:bodyPr wrap="square" lIns="0" tIns="0" rIns="0" bIns="0" rtlCol="0">
            <a:spAutoFit/>
          </a:bodyPr>
          <a:lstStyle/>
          <a:p>
            <a:r>
              <a:rPr lang="en-US" altLang="zh-CN" sz="1200" dirty="0"/>
              <a:t>FEMA</a:t>
            </a:r>
            <a:endParaRPr lang="en-US" sz="1200" dirty="0"/>
          </a:p>
        </p:txBody>
      </p:sp>
      <p:sp>
        <p:nvSpPr>
          <p:cNvPr id="19" name="Arc 18">
            <a:extLst>
              <a:ext uri="{FF2B5EF4-FFF2-40B4-BE49-F238E27FC236}">
                <a16:creationId xmlns:a16="http://schemas.microsoft.com/office/drawing/2014/main" id="{517EE8CE-87ED-993E-B19A-4516CD4941C6}"/>
              </a:ext>
            </a:extLst>
          </p:cNvPr>
          <p:cNvSpPr/>
          <p:nvPr/>
        </p:nvSpPr>
        <p:spPr>
          <a:xfrm>
            <a:off x="3422356" y="3532343"/>
            <a:ext cx="2232768" cy="261723"/>
          </a:xfrm>
          <a:prstGeom prst="arc">
            <a:avLst>
              <a:gd name="adj1" fmla="val 10784650"/>
              <a:gd name="adj2" fmla="val 0"/>
            </a:avLst>
          </a:prstGeom>
          <a:ln w="9525">
            <a:solidFill>
              <a:schemeClr val="bg1">
                <a:lumMod val="85000"/>
              </a:schemeClr>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5" name="TextBox 214">
            <a:extLst>
              <a:ext uri="{FF2B5EF4-FFF2-40B4-BE49-F238E27FC236}">
                <a16:creationId xmlns:a16="http://schemas.microsoft.com/office/drawing/2014/main" id="{D03C36A1-B29C-B8BB-DC1C-295394340470}"/>
              </a:ext>
            </a:extLst>
          </p:cNvPr>
          <p:cNvSpPr txBox="1"/>
          <p:nvPr/>
        </p:nvSpPr>
        <p:spPr>
          <a:xfrm>
            <a:off x="2686216" y="5167342"/>
            <a:ext cx="1524972" cy="184666"/>
          </a:xfrm>
          <a:prstGeom prst="rect">
            <a:avLst/>
          </a:prstGeom>
          <a:noFill/>
        </p:spPr>
        <p:txBody>
          <a:bodyPr wrap="square" lIns="0" tIns="0" rIns="0" bIns="0" rtlCol="0">
            <a:spAutoFit/>
          </a:bodyPr>
          <a:lstStyle/>
          <a:p>
            <a:r>
              <a:rPr lang="en-US" altLang="zh-CN" sz="1200" dirty="0"/>
              <a:t>Domain Knowledge</a:t>
            </a:r>
            <a:endParaRPr lang="en-US" sz="1200" dirty="0"/>
          </a:p>
        </p:txBody>
      </p:sp>
      <p:sp>
        <p:nvSpPr>
          <p:cNvPr id="216" name="TextBox 215">
            <a:extLst>
              <a:ext uri="{FF2B5EF4-FFF2-40B4-BE49-F238E27FC236}">
                <a16:creationId xmlns:a16="http://schemas.microsoft.com/office/drawing/2014/main" id="{F08C9059-BB26-3A71-3BE1-05840F0E02F3}"/>
              </a:ext>
            </a:extLst>
          </p:cNvPr>
          <p:cNvSpPr txBox="1"/>
          <p:nvPr/>
        </p:nvSpPr>
        <p:spPr>
          <a:xfrm>
            <a:off x="8115037" y="5161930"/>
            <a:ext cx="2372672" cy="184666"/>
          </a:xfrm>
          <a:prstGeom prst="rect">
            <a:avLst/>
          </a:prstGeom>
          <a:noFill/>
        </p:spPr>
        <p:txBody>
          <a:bodyPr wrap="square" lIns="0" tIns="0" rIns="0" bIns="0" rtlCol="0">
            <a:spAutoFit/>
          </a:bodyPr>
          <a:lstStyle/>
          <a:p>
            <a:r>
              <a:rPr lang="en-US" sz="1200" dirty="0"/>
              <a:t>Automation Error Code</a:t>
            </a:r>
          </a:p>
        </p:txBody>
      </p:sp>
      <p:cxnSp>
        <p:nvCxnSpPr>
          <p:cNvPr id="217" name="Straight Connector 216">
            <a:extLst>
              <a:ext uri="{FF2B5EF4-FFF2-40B4-BE49-F238E27FC236}">
                <a16:creationId xmlns:a16="http://schemas.microsoft.com/office/drawing/2014/main" id="{C5B07BA2-B9FC-CE7B-170E-78348FA572D1}"/>
              </a:ext>
            </a:extLst>
          </p:cNvPr>
          <p:cNvCxnSpPr>
            <a:cxnSpLocks/>
          </p:cNvCxnSpPr>
          <p:nvPr/>
        </p:nvCxnSpPr>
        <p:spPr>
          <a:xfrm>
            <a:off x="2358215" y="1104208"/>
            <a:ext cx="0" cy="1295009"/>
          </a:xfrm>
          <a:prstGeom prst="line">
            <a:avLst/>
          </a:prstGeom>
          <a:ln w="9525">
            <a:solidFill>
              <a:schemeClr val="accent1"/>
            </a:solidFill>
            <a:prstDash val="dashDot"/>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18" name="Rectangle: Rounded Corners 217">
            <a:extLst>
              <a:ext uri="{FF2B5EF4-FFF2-40B4-BE49-F238E27FC236}">
                <a16:creationId xmlns:a16="http://schemas.microsoft.com/office/drawing/2014/main" id="{79FEA1E2-22E1-253D-D5D1-61A18CB32D71}"/>
              </a:ext>
            </a:extLst>
          </p:cNvPr>
          <p:cNvSpPr/>
          <p:nvPr/>
        </p:nvSpPr>
        <p:spPr>
          <a:xfrm>
            <a:off x="1273083" y="1060313"/>
            <a:ext cx="960955" cy="1448938"/>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50000"/>
              </a:lnSpc>
            </a:pPr>
            <a:endParaRPr lang="en-US" sz="1400" b="1" dirty="0">
              <a:solidFill>
                <a:schemeClr val="tx1"/>
              </a:solidFill>
            </a:endParaRPr>
          </a:p>
        </p:txBody>
      </p:sp>
      <p:sp>
        <p:nvSpPr>
          <p:cNvPr id="219" name="TextBox 218">
            <a:extLst>
              <a:ext uri="{FF2B5EF4-FFF2-40B4-BE49-F238E27FC236}">
                <a16:creationId xmlns:a16="http://schemas.microsoft.com/office/drawing/2014/main" id="{8F055EF7-7723-0492-35F2-B05F28F73D19}"/>
              </a:ext>
            </a:extLst>
          </p:cNvPr>
          <p:cNvSpPr txBox="1"/>
          <p:nvPr/>
        </p:nvSpPr>
        <p:spPr>
          <a:xfrm>
            <a:off x="230841" y="2143550"/>
            <a:ext cx="1819179" cy="369332"/>
          </a:xfrm>
          <a:prstGeom prst="rect">
            <a:avLst/>
          </a:prstGeom>
          <a:noFill/>
        </p:spPr>
        <p:txBody>
          <a:bodyPr wrap="square" lIns="0" tIns="0" rIns="0" bIns="0" rtlCol="0">
            <a:spAutoFit/>
          </a:bodyPr>
          <a:lstStyle/>
          <a:p>
            <a:r>
              <a:rPr lang="en-US" sz="1200" b="1" dirty="0"/>
              <a:t>DaaS-</a:t>
            </a:r>
          </a:p>
          <a:p>
            <a:r>
              <a:rPr lang="en-US" sz="1200" b="1" dirty="0" err="1"/>
              <a:t>MaintLoop</a:t>
            </a:r>
            <a:endParaRPr lang="en-US" sz="1200" b="1" dirty="0"/>
          </a:p>
        </p:txBody>
      </p:sp>
      <p:sp>
        <p:nvSpPr>
          <p:cNvPr id="220" name="Oval 219">
            <a:extLst>
              <a:ext uri="{FF2B5EF4-FFF2-40B4-BE49-F238E27FC236}">
                <a16:creationId xmlns:a16="http://schemas.microsoft.com/office/drawing/2014/main" id="{74F03612-0CA9-90BA-60D2-1246C2DB8FE3}"/>
              </a:ext>
            </a:extLst>
          </p:cNvPr>
          <p:cNvSpPr>
            <a:spLocks/>
          </p:cNvSpPr>
          <p:nvPr/>
        </p:nvSpPr>
        <p:spPr>
          <a:xfrm rot="16200000">
            <a:off x="5016148" y="2320536"/>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221" name="TextBox 220">
            <a:extLst>
              <a:ext uri="{FF2B5EF4-FFF2-40B4-BE49-F238E27FC236}">
                <a16:creationId xmlns:a16="http://schemas.microsoft.com/office/drawing/2014/main" id="{30A11184-8F7F-78FF-17AF-4AF7CE3D0CCA}"/>
              </a:ext>
            </a:extLst>
          </p:cNvPr>
          <p:cNvSpPr txBox="1"/>
          <p:nvPr/>
        </p:nvSpPr>
        <p:spPr>
          <a:xfrm>
            <a:off x="5285224" y="2326007"/>
            <a:ext cx="2338200" cy="184666"/>
          </a:xfrm>
          <a:prstGeom prst="rect">
            <a:avLst/>
          </a:prstGeom>
          <a:noFill/>
        </p:spPr>
        <p:txBody>
          <a:bodyPr wrap="square" lIns="0" tIns="0" rIns="0" bIns="0" rtlCol="0">
            <a:spAutoFit/>
          </a:bodyPr>
          <a:lstStyle/>
          <a:p>
            <a:r>
              <a:rPr lang="en-US" sz="1200" dirty="0"/>
              <a:t>Linear Regression Forecasting</a:t>
            </a:r>
          </a:p>
        </p:txBody>
      </p:sp>
      <p:sp>
        <p:nvSpPr>
          <p:cNvPr id="222" name="TextBox 221">
            <a:extLst>
              <a:ext uri="{FF2B5EF4-FFF2-40B4-BE49-F238E27FC236}">
                <a16:creationId xmlns:a16="http://schemas.microsoft.com/office/drawing/2014/main" id="{19612017-4B81-7326-2D67-D64A00CC17DE}"/>
              </a:ext>
            </a:extLst>
          </p:cNvPr>
          <p:cNvSpPr txBox="1"/>
          <p:nvPr/>
        </p:nvSpPr>
        <p:spPr>
          <a:xfrm>
            <a:off x="5902503" y="1825394"/>
            <a:ext cx="1819179" cy="184666"/>
          </a:xfrm>
          <a:prstGeom prst="rect">
            <a:avLst/>
          </a:prstGeom>
          <a:noFill/>
        </p:spPr>
        <p:txBody>
          <a:bodyPr wrap="square" lIns="0" tIns="0" rIns="0" bIns="0" rtlCol="0">
            <a:spAutoFit/>
          </a:bodyPr>
          <a:lstStyle/>
          <a:p>
            <a:r>
              <a:rPr lang="en-US" sz="1200" dirty="0"/>
              <a:t>GBRT</a:t>
            </a:r>
          </a:p>
        </p:txBody>
      </p:sp>
      <p:sp>
        <p:nvSpPr>
          <p:cNvPr id="223" name="TextBox 222">
            <a:extLst>
              <a:ext uri="{FF2B5EF4-FFF2-40B4-BE49-F238E27FC236}">
                <a16:creationId xmlns:a16="http://schemas.microsoft.com/office/drawing/2014/main" id="{96238F36-42A0-7FF2-E0D9-66E21BBF6D00}"/>
              </a:ext>
            </a:extLst>
          </p:cNvPr>
          <p:cNvSpPr txBox="1"/>
          <p:nvPr/>
        </p:nvSpPr>
        <p:spPr>
          <a:xfrm>
            <a:off x="7911832" y="2324335"/>
            <a:ext cx="2338200" cy="184666"/>
          </a:xfrm>
          <a:prstGeom prst="rect">
            <a:avLst/>
          </a:prstGeom>
          <a:noFill/>
        </p:spPr>
        <p:txBody>
          <a:bodyPr wrap="square" lIns="0" tIns="0" rIns="0" bIns="0" rtlCol="0">
            <a:spAutoFit/>
          </a:bodyPr>
          <a:lstStyle/>
          <a:p>
            <a:r>
              <a:rPr lang="en-US" sz="1200" b="0" i="0" dirty="0">
                <a:solidFill>
                  <a:srgbClr val="333333"/>
                </a:solidFill>
                <a:effectLst/>
                <a:latin typeface="Arial" panose="020B0604020202020204" pitchFamily="34" charset="0"/>
              </a:rPr>
              <a:t>Decision Tree</a:t>
            </a:r>
            <a:endParaRPr lang="en-US" sz="1200" dirty="0"/>
          </a:p>
        </p:txBody>
      </p:sp>
      <p:sp>
        <p:nvSpPr>
          <p:cNvPr id="224" name="Oval 223">
            <a:extLst>
              <a:ext uri="{FF2B5EF4-FFF2-40B4-BE49-F238E27FC236}">
                <a16:creationId xmlns:a16="http://schemas.microsoft.com/office/drawing/2014/main" id="{098D09EF-A502-DB50-446E-E92EAF27AA0B}"/>
              </a:ext>
            </a:extLst>
          </p:cNvPr>
          <p:cNvSpPr>
            <a:spLocks/>
          </p:cNvSpPr>
          <p:nvPr/>
        </p:nvSpPr>
        <p:spPr>
          <a:xfrm rot="16200000">
            <a:off x="5481837" y="1829470"/>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225" name="TextBox 224">
            <a:extLst>
              <a:ext uri="{FF2B5EF4-FFF2-40B4-BE49-F238E27FC236}">
                <a16:creationId xmlns:a16="http://schemas.microsoft.com/office/drawing/2014/main" id="{BF36A2FB-A3A6-A3FE-4405-4CB5B72ED0FB}"/>
              </a:ext>
            </a:extLst>
          </p:cNvPr>
          <p:cNvSpPr txBox="1"/>
          <p:nvPr/>
        </p:nvSpPr>
        <p:spPr>
          <a:xfrm>
            <a:off x="1386537" y="1560412"/>
            <a:ext cx="1819179" cy="369332"/>
          </a:xfrm>
          <a:prstGeom prst="rect">
            <a:avLst/>
          </a:prstGeom>
          <a:noFill/>
        </p:spPr>
        <p:txBody>
          <a:bodyPr wrap="square" lIns="0" tIns="0" rIns="0" bIns="0" rtlCol="0">
            <a:spAutoFit/>
          </a:bodyPr>
          <a:lstStyle/>
          <a:p>
            <a:r>
              <a:rPr lang="en-US" altLang="zh-CN" sz="1200" b="1" dirty="0"/>
              <a:t>Data</a:t>
            </a:r>
          </a:p>
          <a:p>
            <a:r>
              <a:rPr lang="en-US" sz="1200" b="1" dirty="0"/>
              <a:t>Collection</a:t>
            </a:r>
          </a:p>
        </p:txBody>
      </p:sp>
      <p:sp>
        <p:nvSpPr>
          <p:cNvPr id="226" name="Oval 225">
            <a:extLst>
              <a:ext uri="{FF2B5EF4-FFF2-40B4-BE49-F238E27FC236}">
                <a16:creationId xmlns:a16="http://schemas.microsoft.com/office/drawing/2014/main" id="{10ED88C2-DB0F-82F3-BF2F-7B7FF88AC30F}"/>
              </a:ext>
            </a:extLst>
          </p:cNvPr>
          <p:cNvSpPr>
            <a:spLocks/>
          </p:cNvSpPr>
          <p:nvPr/>
        </p:nvSpPr>
        <p:spPr>
          <a:xfrm rot="16200000">
            <a:off x="8254635" y="3941875"/>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27" name="Oval 226">
            <a:extLst>
              <a:ext uri="{FF2B5EF4-FFF2-40B4-BE49-F238E27FC236}">
                <a16:creationId xmlns:a16="http://schemas.microsoft.com/office/drawing/2014/main" id="{E7C8276C-5B4A-3E01-D618-E3427294D004}"/>
              </a:ext>
            </a:extLst>
          </p:cNvPr>
          <p:cNvSpPr>
            <a:spLocks/>
          </p:cNvSpPr>
          <p:nvPr/>
        </p:nvSpPr>
        <p:spPr>
          <a:xfrm rot="16200000">
            <a:off x="8641866" y="4167372"/>
            <a:ext cx="179906" cy="179906"/>
          </a:xfrm>
          <a:prstGeom prst="ellipse">
            <a:avLst/>
          </a:prstGeom>
          <a:solidFill>
            <a:srgbClr val="9999A9"/>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28" name="Oval 227">
            <a:extLst>
              <a:ext uri="{FF2B5EF4-FFF2-40B4-BE49-F238E27FC236}">
                <a16:creationId xmlns:a16="http://schemas.microsoft.com/office/drawing/2014/main" id="{4E81EC7A-EBB5-DFAC-814A-36484DCCF75B}"/>
              </a:ext>
            </a:extLst>
          </p:cNvPr>
          <p:cNvSpPr>
            <a:spLocks/>
          </p:cNvSpPr>
          <p:nvPr/>
        </p:nvSpPr>
        <p:spPr>
          <a:xfrm rot="16200000">
            <a:off x="8645523" y="4548489"/>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29" name="Oval 228">
            <a:extLst>
              <a:ext uri="{FF2B5EF4-FFF2-40B4-BE49-F238E27FC236}">
                <a16:creationId xmlns:a16="http://schemas.microsoft.com/office/drawing/2014/main" id="{47460F8B-28C3-68C3-B7B7-1AEFF50A8113}"/>
              </a:ext>
            </a:extLst>
          </p:cNvPr>
          <p:cNvSpPr>
            <a:spLocks/>
          </p:cNvSpPr>
          <p:nvPr/>
        </p:nvSpPr>
        <p:spPr>
          <a:xfrm rot="16200000">
            <a:off x="9033734" y="393231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0" name="Oval 229">
            <a:extLst>
              <a:ext uri="{FF2B5EF4-FFF2-40B4-BE49-F238E27FC236}">
                <a16:creationId xmlns:a16="http://schemas.microsoft.com/office/drawing/2014/main" id="{A047E537-0A63-505C-49D4-F23E017DC00E}"/>
              </a:ext>
            </a:extLst>
          </p:cNvPr>
          <p:cNvSpPr>
            <a:spLocks/>
          </p:cNvSpPr>
          <p:nvPr/>
        </p:nvSpPr>
        <p:spPr>
          <a:xfrm rot="16200000">
            <a:off x="9558772" y="417106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1" name="Oval 230">
            <a:extLst>
              <a:ext uri="{FF2B5EF4-FFF2-40B4-BE49-F238E27FC236}">
                <a16:creationId xmlns:a16="http://schemas.microsoft.com/office/drawing/2014/main" id="{0D8F3389-7254-DD08-CCC5-9EAA920A47ED}"/>
              </a:ext>
            </a:extLst>
          </p:cNvPr>
          <p:cNvSpPr>
            <a:spLocks/>
          </p:cNvSpPr>
          <p:nvPr/>
        </p:nvSpPr>
        <p:spPr>
          <a:xfrm rot="16200000">
            <a:off x="9443239" y="3747768"/>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2" name="Oval 231">
            <a:extLst>
              <a:ext uri="{FF2B5EF4-FFF2-40B4-BE49-F238E27FC236}">
                <a16:creationId xmlns:a16="http://schemas.microsoft.com/office/drawing/2014/main" id="{26AA22B4-A2D2-5099-59E9-990CB8D24AD8}"/>
              </a:ext>
            </a:extLst>
          </p:cNvPr>
          <p:cNvSpPr>
            <a:spLocks/>
          </p:cNvSpPr>
          <p:nvPr/>
        </p:nvSpPr>
        <p:spPr>
          <a:xfrm rot="16200000">
            <a:off x="8881896" y="4906102"/>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3" name="Oval 232">
            <a:extLst>
              <a:ext uri="{FF2B5EF4-FFF2-40B4-BE49-F238E27FC236}">
                <a16:creationId xmlns:a16="http://schemas.microsoft.com/office/drawing/2014/main" id="{211C1BCC-6309-6147-CC37-8393D88D50DD}"/>
              </a:ext>
            </a:extLst>
          </p:cNvPr>
          <p:cNvSpPr>
            <a:spLocks/>
          </p:cNvSpPr>
          <p:nvPr/>
        </p:nvSpPr>
        <p:spPr>
          <a:xfrm rot="16200000">
            <a:off x="8396911" y="4906102"/>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4" name="Oval 233">
            <a:extLst>
              <a:ext uri="{FF2B5EF4-FFF2-40B4-BE49-F238E27FC236}">
                <a16:creationId xmlns:a16="http://schemas.microsoft.com/office/drawing/2014/main" id="{0C1274C5-2A72-D18D-4177-986F4B8E9B4C}"/>
              </a:ext>
            </a:extLst>
          </p:cNvPr>
          <p:cNvSpPr>
            <a:spLocks/>
          </p:cNvSpPr>
          <p:nvPr/>
        </p:nvSpPr>
        <p:spPr>
          <a:xfrm rot="16200000">
            <a:off x="7731926" y="4168723"/>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35" name="Oval 234">
            <a:extLst>
              <a:ext uri="{FF2B5EF4-FFF2-40B4-BE49-F238E27FC236}">
                <a16:creationId xmlns:a16="http://schemas.microsoft.com/office/drawing/2014/main" id="{19511C7F-7B05-55D0-EDDA-6CC0B726990C}"/>
              </a:ext>
            </a:extLst>
          </p:cNvPr>
          <p:cNvSpPr>
            <a:spLocks/>
          </p:cNvSpPr>
          <p:nvPr/>
        </p:nvSpPr>
        <p:spPr>
          <a:xfrm rot="16200000">
            <a:off x="7821881" y="3757145"/>
            <a:ext cx="179906" cy="179906"/>
          </a:xfrm>
          <a:prstGeom prst="ellipse">
            <a:avLst/>
          </a:prstGeom>
          <a:solidFill>
            <a:schemeClr val="bg1">
              <a:lumMod val="95000"/>
            </a:schemeClr>
          </a:solidFill>
          <a:ln w="12700" cap="flat" cmpd="sng" algn="ctr">
            <a:solidFill>
              <a:schemeClr val="bg1">
                <a:lumMod val="8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cxnSp>
        <p:nvCxnSpPr>
          <p:cNvPr id="236" name="Straight Connector 235">
            <a:extLst>
              <a:ext uri="{FF2B5EF4-FFF2-40B4-BE49-F238E27FC236}">
                <a16:creationId xmlns:a16="http://schemas.microsoft.com/office/drawing/2014/main" id="{34C6BFF6-4E7C-6D86-9E78-D9AC56013196}"/>
              </a:ext>
            </a:extLst>
          </p:cNvPr>
          <p:cNvCxnSpPr>
            <a:cxnSpLocks/>
            <a:stCxn id="227" idx="2"/>
            <a:endCxn id="228" idx="6"/>
          </p:cNvCxnSpPr>
          <p:nvPr/>
        </p:nvCxnSpPr>
        <p:spPr>
          <a:xfrm>
            <a:off x="8731819" y="4347278"/>
            <a:ext cx="3656" cy="201211"/>
          </a:xfrm>
          <a:prstGeom prst="line">
            <a:avLst/>
          </a:prstGeom>
          <a:noFill/>
          <a:ln w="12700" cap="flat" cmpd="sng" algn="ctr">
            <a:solidFill>
              <a:schemeClr val="bg1">
                <a:lumMod val="85000"/>
              </a:schemeClr>
            </a:solidFill>
            <a:prstDash val="solid"/>
            <a:miter lim="800000"/>
          </a:ln>
          <a:effectLst/>
        </p:spPr>
      </p:cxnSp>
      <p:cxnSp>
        <p:nvCxnSpPr>
          <p:cNvPr id="237" name="Straight Connector 236">
            <a:extLst>
              <a:ext uri="{FF2B5EF4-FFF2-40B4-BE49-F238E27FC236}">
                <a16:creationId xmlns:a16="http://schemas.microsoft.com/office/drawing/2014/main" id="{3E2EA2BF-7CFA-9BAA-2649-945A6DCFC647}"/>
              </a:ext>
            </a:extLst>
          </p:cNvPr>
          <p:cNvCxnSpPr>
            <a:cxnSpLocks/>
            <a:stCxn id="229" idx="1"/>
            <a:endCxn id="227" idx="5"/>
          </p:cNvCxnSpPr>
          <p:nvPr/>
        </p:nvCxnSpPr>
        <p:spPr>
          <a:xfrm flipH="1">
            <a:off x="8795426" y="4085874"/>
            <a:ext cx="264654" cy="107845"/>
          </a:xfrm>
          <a:prstGeom prst="line">
            <a:avLst/>
          </a:prstGeom>
          <a:noFill/>
          <a:ln w="12700" cap="flat" cmpd="sng" algn="ctr">
            <a:solidFill>
              <a:schemeClr val="bg1">
                <a:lumMod val="85000"/>
              </a:schemeClr>
            </a:solidFill>
            <a:prstDash val="solid"/>
            <a:miter lim="800000"/>
          </a:ln>
          <a:effectLst/>
        </p:spPr>
      </p:cxnSp>
      <p:cxnSp>
        <p:nvCxnSpPr>
          <p:cNvPr id="238" name="Straight Connector 237">
            <a:extLst>
              <a:ext uri="{FF2B5EF4-FFF2-40B4-BE49-F238E27FC236}">
                <a16:creationId xmlns:a16="http://schemas.microsoft.com/office/drawing/2014/main" id="{77D842C8-D393-8617-6E01-083BC57F8332}"/>
              </a:ext>
            </a:extLst>
          </p:cNvPr>
          <p:cNvCxnSpPr>
            <a:cxnSpLocks/>
            <a:stCxn id="226" idx="3"/>
            <a:endCxn id="227" idx="7"/>
          </p:cNvCxnSpPr>
          <p:nvPr/>
        </p:nvCxnSpPr>
        <p:spPr>
          <a:xfrm>
            <a:off x="8408195" y="4095435"/>
            <a:ext cx="260018" cy="98283"/>
          </a:xfrm>
          <a:prstGeom prst="line">
            <a:avLst/>
          </a:prstGeom>
          <a:noFill/>
          <a:ln w="12700" cap="flat" cmpd="sng" algn="ctr">
            <a:solidFill>
              <a:schemeClr val="bg1">
                <a:lumMod val="85000"/>
              </a:schemeClr>
            </a:solidFill>
            <a:prstDash val="solid"/>
            <a:miter lim="800000"/>
          </a:ln>
          <a:effectLst/>
        </p:spPr>
      </p:cxnSp>
      <p:cxnSp>
        <p:nvCxnSpPr>
          <p:cNvPr id="239" name="Straight Connector 238">
            <a:extLst>
              <a:ext uri="{FF2B5EF4-FFF2-40B4-BE49-F238E27FC236}">
                <a16:creationId xmlns:a16="http://schemas.microsoft.com/office/drawing/2014/main" id="{D7185209-E0BC-B9C9-8218-877BBD9B7B30}"/>
              </a:ext>
            </a:extLst>
          </p:cNvPr>
          <p:cNvCxnSpPr>
            <a:cxnSpLocks/>
            <a:stCxn id="235" idx="3"/>
            <a:endCxn id="226" idx="0"/>
          </p:cNvCxnSpPr>
          <p:nvPr/>
        </p:nvCxnSpPr>
        <p:spPr>
          <a:xfrm>
            <a:off x="7975440" y="3910705"/>
            <a:ext cx="279195" cy="121123"/>
          </a:xfrm>
          <a:prstGeom prst="line">
            <a:avLst/>
          </a:prstGeom>
          <a:noFill/>
          <a:ln w="12700" cap="flat" cmpd="sng" algn="ctr">
            <a:solidFill>
              <a:schemeClr val="bg1">
                <a:lumMod val="85000"/>
              </a:schemeClr>
            </a:solidFill>
            <a:prstDash val="solid"/>
            <a:miter lim="800000"/>
          </a:ln>
          <a:effectLst/>
        </p:spPr>
      </p:cxnSp>
      <p:cxnSp>
        <p:nvCxnSpPr>
          <p:cNvPr id="240" name="Straight Connector 239">
            <a:extLst>
              <a:ext uri="{FF2B5EF4-FFF2-40B4-BE49-F238E27FC236}">
                <a16:creationId xmlns:a16="http://schemas.microsoft.com/office/drawing/2014/main" id="{23C57EA3-5AB5-3F68-ABBD-189766B7F4D0}"/>
              </a:ext>
            </a:extLst>
          </p:cNvPr>
          <p:cNvCxnSpPr/>
          <p:nvPr/>
        </p:nvCxnSpPr>
        <p:spPr>
          <a:xfrm>
            <a:off x="8889598" y="4590863"/>
            <a:ext cx="0" cy="0"/>
          </a:xfrm>
          <a:prstGeom prst="line">
            <a:avLst/>
          </a:prstGeom>
          <a:noFill/>
          <a:ln w="6350" cap="flat" cmpd="sng" algn="ctr">
            <a:solidFill>
              <a:schemeClr val="bg1">
                <a:lumMod val="85000"/>
              </a:schemeClr>
            </a:solidFill>
            <a:prstDash val="solid"/>
            <a:miter lim="800000"/>
          </a:ln>
          <a:effectLst/>
        </p:spPr>
      </p:cxnSp>
      <p:cxnSp>
        <p:nvCxnSpPr>
          <p:cNvPr id="241" name="Straight Connector 240">
            <a:extLst>
              <a:ext uri="{FF2B5EF4-FFF2-40B4-BE49-F238E27FC236}">
                <a16:creationId xmlns:a16="http://schemas.microsoft.com/office/drawing/2014/main" id="{9421F882-0AB0-1FA7-B044-DAC1F2CC700C}"/>
              </a:ext>
            </a:extLst>
          </p:cNvPr>
          <p:cNvCxnSpPr>
            <a:cxnSpLocks/>
            <a:stCxn id="228" idx="2"/>
            <a:endCxn id="233" idx="5"/>
          </p:cNvCxnSpPr>
          <p:nvPr/>
        </p:nvCxnSpPr>
        <p:spPr>
          <a:xfrm flipH="1">
            <a:off x="8550471" y="4728396"/>
            <a:ext cx="185005" cy="204053"/>
          </a:xfrm>
          <a:prstGeom prst="line">
            <a:avLst/>
          </a:prstGeom>
          <a:noFill/>
          <a:ln w="12700" cap="flat" cmpd="sng" algn="ctr">
            <a:solidFill>
              <a:schemeClr val="bg1">
                <a:lumMod val="85000"/>
              </a:schemeClr>
            </a:solidFill>
            <a:prstDash val="solid"/>
            <a:miter lim="800000"/>
          </a:ln>
          <a:effectLst/>
        </p:spPr>
      </p:cxnSp>
      <p:cxnSp>
        <p:nvCxnSpPr>
          <p:cNvPr id="242" name="Straight Connector 241">
            <a:extLst>
              <a:ext uri="{FF2B5EF4-FFF2-40B4-BE49-F238E27FC236}">
                <a16:creationId xmlns:a16="http://schemas.microsoft.com/office/drawing/2014/main" id="{906916C7-6C77-F43B-80DD-5E21067A621F}"/>
              </a:ext>
            </a:extLst>
          </p:cNvPr>
          <p:cNvCxnSpPr>
            <a:stCxn id="228" idx="2"/>
            <a:endCxn id="232" idx="7"/>
          </p:cNvCxnSpPr>
          <p:nvPr/>
        </p:nvCxnSpPr>
        <p:spPr>
          <a:xfrm>
            <a:off x="8735476" y="4728396"/>
            <a:ext cx="172767" cy="204053"/>
          </a:xfrm>
          <a:prstGeom prst="line">
            <a:avLst/>
          </a:prstGeom>
          <a:noFill/>
          <a:ln w="12700" cap="flat" cmpd="sng" algn="ctr">
            <a:solidFill>
              <a:schemeClr val="bg1">
                <a:lumMod val="85000"/>
              </a:schemeClr>
            </a:solidFill>
            <a:prstDash val="solid"/>
            <a:miter lim="800000"/>
          </a:ln>
          <a:effectLst/>
        </p:spPr>
      </p:cxnSp>
      <p:cxnSp>
        <p:nvCxnSpPr>
          <p:cNvPr id="243" name="Straight Connector 242">
            <a:extLst>
              <a:ext uri="{FF2B5EF4-FFF2-40B4-BE49-F238E27FC236}">
                <a16:creationId xmlns:a16="http://schemas.microsoft.com/office/drawing/2014/main" id="{57D311B4-67E9-B502-12AC-F69A4EE09880}"/>
              </a:ext>
            </a:extLst>
          </p:cNvPr>
          <p:cNvCxnSpPr>
            <a:cxnSpLocks/>
            <a:stCxn id="229" idx="4"/>
            <a:endCxn id="231" idx="0"/>
          </p:cNvCxnSpPr>
          <p:nvPr/>
        </p:nvCxnSpPr>
        <p:spPr>
          <a:xfrm flipV="1">
            <a:off x="9213641" y="3837722"/>
            <a:ext cx="229598" cy="184545"/>
          </a:xfrm>
          <a:prstGeom prst="line">
            <a:avLst/>
          </a:prstGeom>
          <a:noFill/>
          <a:ln w="12700" cap="flat" cmpd="sng" algn="ctr">
            <a:solidFill>
              <a:schemeClr val="bg1">
                <a:lumMod val="85000"/>
              </a:schemeClr>
            </a:solidFill>
            <a:prstDash val="solid"/>
            <a:miter lim="800000"/>
          </a:ln>
          <a:effectLst/>
        </p:spPr>
      </p:cxnSp>
      <p:cxnSp>
        <p:nvCxnSpPr>
          <p:cNvPr id="244" name="Straight Connector 243">
            <a:extLst>
              <a:ext uri="{FF2B5EF4-FFF2-40B4-BE49-F238E27FC236}">
                <a16:creationId xmlns:a16="http://schemas.microsoft.com/office/drawing/2014/main" id="{2C9FF3FA-FFDA-AB66-F530-E090B8A0424C}"/>
              </a:ext>
            </a:extLst>
          </p:cNvPr>
          <p:cNvCxnSpPr>
            <a:stCxn id="226" idx="0"/>
            <a:endCxn id="234" idx="4"/>
          </p:cNvCxnSpPr>
          <p:nvPr/>
        </p:nvCxnSpPr>
        <p:spPr>
          <a:xfrm flipH="1">
            <a:off x="7911833" y="4031828"/>
            <a:ext cx="342802" cy="226848"/>
          </a:xfrm>
          <a:prstGeom prst="line">
            <a:avLst/>
          </a:prstGeom>
          <a:noFill/>
          <a:ln w="12700" cap="flat" cmpd="sng" algn="ctr">
            <a:solidFill>
              <a:schemeClr val="bg1">
                <a:lumMod val="85000"/>
              </a:schemeClr>
            </a:solidFill>
            <a:prstDash val="solid"/>
            <a:miter lim="800000"/>
          </a:ln>
          <a:effectLst/>
        </p:spPr>
      </p:cxnSp>
      <p:cxnSp>
        <p:nvCxnSpPr>
          <p:cNvPr id="245" name="Straight Connector 244">
            <a:extLst>
              <a:ext uri="{FF2B5EF4-FFF2-40B4-BE49-F238E27FC236}">
                <a16:creationId xmlns:a16="http://schemas.microsoft.com/office/drawing/2014/main" id="{B00492FB-6D46-919E-9A5E-B1E2BC3F52EA}"/>
              </a:ext>
            </a:extLst>
          </p:cNvPr>
          <p:cNvCxnSpPr>
            <a:cxnSpLocks/>
            <a:stCxn id="229" idx="4"/>
            <a:endCxn id="230" idx="0"/>
          </p:cNvCxnSpPr>
          <p:nvPr/>
        </p:nvCxnSpPr>
        <p:spPr>
          <a:xfrm>
            <a:off x="9213641" y="4022266"/>
            <a:ext cx="345131" cy="238750"/>
          </a:xfrm>
          <a:prstGeom prst="line">
            <a:avLst/>
          </a:prstGeom>
          <a:noFill/>
          <a:ln w="12700" cap="flat" cmpd="sng" algn="ctr">
            <a:solidFill>
              <a:schemeClr val="bg1">
                <a:lumMod val="85000"/>
              </a:schemeClr>
            </a:solidFill>
            <a:prstDash val="solid"/>
            <a:miter lim="800000"/>
          </a:ln>
          <a:effectLst/>
        </p:spPr>
      </p:cxnSp>
      <p:sp>
        <p:nvSpPr>
          <p:cNvPr id="246" name="TextBox 245">
            <a:extLst>
              <a:ext uri="{FF2B5EF4-FFF2-40B4-BE49-F238E27FC236}">
                <a16:creationId xmlns:a16="http://schemas.microsoft.com/office/drawing/2014/main" id="{63BD8415-72BD-E801-B157-6CB257830296}"/>
              </a:ext>
            </a:extLst>
          </p:cNvPr>
          <p:cNvSpPr txBox="1"/>
          <p:nvPr/>
        </p:nvSpPr>
        <p:spPr>
          <a:xfrm>
            <a:off x="8394525" y="3605761"/>
            <a:ext cx="974741" cy="369332"/>
          </a:xfrm>
          <a:prstGeom prst="rect">
            <a:avLst/>
          </a:prstGeom>
          <a:noFill/>
        </p:spPr>
        <p:txBody>
          <a:bodyPr wrap="square" lIns="0" tIns="0" rIns="0" bIns="0" rtlCol="0">
            <a:spAutoFit/>
          </a:bodyPr>
          <a:lstStyle/>
          <a:p>
            <a:r>
              <a:rPr lang="en-US" altLang="zh-CN" sz="1200" dirty="0"/>
              <a:t>Automation Monitoring</a:t>
            </a:r>
            <a:endParaRPr lang="en-US" sz="1200" dirty="0"/>
          </a:p>
        </p:txBody>
      </p:sp>
      <p:sp>
        <p:nvSpPr>
          <p:cNvPr id="247" name="Arc 246">
            <a:extLst>
              <a:ext uri="{FF2B5EF4-FFF2-40B4-BE49-F238E27FC236}">
                <a16:creationId xmlns:a16="http://schemas.microsoft.com/office/drawing/2014/main" id="{9F6C5769-DE7C-B2C2-2C6D-270D14361285}"/>
              </a:ext>
            </a:extLst>
          </p:cNvPr>
          <p:cNvSpPr/>
          <p:nvPr/>
        </p:nvSpPr>
        <p:spPr>
          <a:xfrm>
            <a:off x="6221255" y="3520991"/>
            <a:ext cx="2232768" cy="261723"/>
          </a:xfrm>
          <a:prstGeom prst="arc">
            <a:avLst>
              <a:gd name="adj1" fmla="val 10784650"/>
              <a:gd name="adj2" fmla="val 0"/>
            </a:avLst>
          </a:prstGeom>
          <a:ln w="9525">
            <a:solidFill>
              <a:schemeClr val="bg1">
                <a:lumMod val="85000"/>
              </a:schemeClr>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8" name="TextBox 247">
            <a:extLst>
              <a:ext uri="{FF2B5EF4-FFF2-40B4-BE49-F238E27FC236}">
                <a16:creationId xmlns:a16="http://schemas.microsoft.com/office/drawing/2014/main" id="{AE8E614D-C7CF-7C18-8693-6D1D8B63955A}"/>
              </a:ext>
            </a:extLst>
          </p:cNvPr>
          <p:cNvSpPr txBox="1"/>
          <p:nvPr/>
        </p:nvSpPr>
        <p:spPr>
          <a:xfrm>
            <a:off x="5472514" y="5167342"/>
            <a:ext cx="1524972" cy="184666"/>
          </a:xfrm>
          <a:prstGeom prst="rect">
            <a:avLst/>
          </a:prstGeom>
          <a:noFill/>
        </p:spPr>
        <p:txBody>
          <a:bodyPr wrap="square" lIns="0" tIns="0" rIns="0" bIns="0" rtlCol="0">
            <a:spAutoFit/>
          </a:bodyPr>
          <a:lstStyle/>
          <a:p>
            <a:r>
              <a:rPr lang="en-US" sz="1200" dirty="0"/>
              <a:t>Site Setup</a:t>
            </a:r>
          </a:p>
        </p:txBody>
      </p:sp>
      <p:sp>
        <p:nvSpPr>
          <p:cNvPr id="249" name="Oval 248">
            <a:extLst>
              <a:ext uri="{FF2B5EF4-FFF2-40B4-BE49-F238E27FC236}">
                <a16:creationId xmlns:a16="http://schemas.microsoft.com/office/drawing/2014/main" id="{A09B3843-A3A1-B9C2-F5CA-2AC04EFA35A4}"/>
              </a:ext>
            </a:extLst>
          </p:cNvPr>
          <p:cNvSpPr>
            <a:spLocks/>
          </p:cNvSpPr>
          <p:nvPr/>
        </p:nvSpPr>
        <p:spPr>
          <a:xfrm rot="16200000">
            <a:off x="7620919" y="2308537"/>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sp>
        <p:nvSpPr>
          <p:cNvPr id="250" name="TextBox 249">
            <a:extLst>
              <a:ext uri="{FF2B5EF4-FFF2-40B4-BE49-F238E27FC236}">
                <a16:creationId xmlns:a16="http://schemas.microsoft.com/office/drawing/2014/main" id="{D4A1B7C5-33D9-BEA2-AE3C-C88EA2F8E50E}"/>
              </a:ext>
            </a:extLst>
          </p:cNvPr>
          <p:cNvSpPr txBox="1"/>
          <p:nvPr/>
        </p:nvSpPr>
        <p:spPr>
          <a:xfrm>
            <a:off x="7609144" y="1808709"/>
            <a:ext cx="2338200" cy="184666"/>
          </a:xfrm>
          <a:prstGeom prst="rect">
            <a:avLst/>
          </a:prstGeom>
          <a:noFill/>
        </p:spPr>
        <p:txBody>
          <a:bodyPr wrap="square" lIns="0" tIns="0" rIns="0" bIns="0" rtlCol="0">
            <a:spAutoFit/>
          </a:bodyPr>
          <a:lstStyle/>
          <a:p>
            <a:r>
              <a:rPr lang="en-US" altLang="zh-CN" sz="1200" b="0" i="0" dirty="0">
                <a:solidFill>
                  <a:srgbClr val="333333"/>
                </a:solidFill>
                <a:effectLst/>
                <a:latin typeface="Arial" panose="020B0604020202020204" pitchFamily="34" charset="0"/>
              </a:rPr>
              <a:t>Neural network</a:t>
            </a:r>
            <a:endParaRPr lang="en-US" sz="1200" dirty="0"/>
          </a:p>
        </p:txBody>
      </p:sp>
      <p:sp>
        <p:nvSpPr>
          <p:cNvPr id="251" name="Oval 250">
            <a:extLst>
              <a:ext uri="{FF2B5EF4-FFF2-40B4-BE49-F238E27FC236}">
                <a16:creationId xmlns:a16="http://schemas.microsoft.com/office/drawing/2014/main" id="{227D7456-094C-0712-DCE8-EA9F8CCE4D3B}"/>
              </a:ext>
            </a:extLst>
          </p:cNvPr>
          <p:cNvSpPr>
            <a:spLocks/>
          </p:cNvSpPr>
          <p:nvPr/>
        </p:nvSpPr>
        <p:spPr>
          <a:xfrm rot="16200000">
            <a:off x="7318231" y="1792911"/>
            <a:ext cx="179906" cy="179906"/>
          </a:xfrm>
          <a:prstGeom prst="ellipse">
            <a:avLst/>
          </a:prstGeom>
          <a:solidFill>
            <a:schemeClr val="bg2">
              <a:lumMod val="75000"/>
            </a:schemeClr>
          </a:solidFill>
          <a:ln w="12700" cap="flat" cmpd="sng" algn="ctr">
            <a:solidFill>
              <a:srgbClr val="4472C4">
                <a:shade val="50000"/>
              </a:srgbClr>
            </a:solidFill>
            <a:prstDash val="solid"/>
            <a:miter lim="800000"/>
          </a:ln>
          <a:effectLst/>
        </p:spPr>
        <p:txBody>
          <a:bodyPr rtlCol="0" anchor="ctr"/>
          <a:lstStyle/>
          <a:p>
            <a:pPr algn="ctr" defTabSz="913943">
              <a:defRPr/>
            </a:pPr>
            <a:endParaRPr lang="de-DE" sz="1799" kern="0" dirty="0">
              <a:solidFill>
                <a:prstClr val="white"/>
              </a:solidFill>
              <a:latin typeface="Calibri" panose="020F0502020204030204"/>
            </a:endParaRPr>
          </a:p>
        </p:txBody>
      </p:sp>
      <p:cxnSp>
        <p:nvCxnSpPr>
          <p:cNvPr id="252" name="Straight Connector 251">
            <a:extLst>
              <a:ext uri="{FF2B5EF4-FFF2-40B4-BE49-F238E27FC236}">
                <a16:creationId xmlns:a16="http://schemas.microsoft.com/office/drawing/2014/main" id="{E337D3B9-9F96-11E4-A369-119438A2F9C9}"/>
              </a:ext>
            </a:extLst>
          </p:cNvPr>
          <p:cNvCxnSpPr>
            <a:cxnSpLocks/>
          </p:cNvCxnSpPr>
          <p:nvPr/>
        </p:nvCxnSpPr>
        <p:spPr>
          <a:xfrm>
            <a:off x="9033734" y="1193434"/>
            <a:ext cx="0" cy="1295009"/>
          </a:xfrm>
          <a:prstGeom prst="line">
            <a:avLst/>
          </a:prstGeom>
          <a:ln w="9525">
            <a:solidFill>
              <a:schemeClr val="accent1"/>
            </a:solidFill>
            <a:prstDash val="dashDot"/>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53" name="Rectangle: Rounded Corners 252">
            <a:extLst>
              <a:ext uri="{FF2B5EF4-FFF2-40B4-BE49-F238E27FC236}">
                <a16:creationId xmlns:a16="http://schemas.microsoft.com/office/drawing/2014/main" id="{897189F7-844E-A18F-2BD8-4A9BC45EB61F}"/>
              </a:ext>
            </a:extLst>
          </p:cNvPr>
          <p:cNvSpPr/>
          <p:nvPr/>
        </p:nvSpPr>
        <p:spPr>
          <a:xfrm>
            <a:off x="9114180" y="1011473"/>
            <a:ext cx="1290883" cy="482492"/>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50000"/>
              </a:lnSpc>
            </a:pPr>
            <a:endParaRPr lang="en-US" sz="1400" b="1" dirty="0">
              <a:solidFill>
                <a:schemeClr val="tx1"/>
              </a:solidFill>
            </a:endParaRPr>
          </a:p>
        </p:txBody>
      </p:sp>
      <p:sp>
        <p:nvSpPr>
          <p:cNvPr id="254" name="Rectangle: Rounded Corners 253">
            <a:extLst>
              <a:ext uri="{FF2B5EF4-FFF2-40B4-BE49-F238E27FC236}">
                <a16:creationId xmlns:a16="http://schemas.microsoft.com/office/drawing/2014/main" id="{F8B38FCE-959B-1E52-743C-922186486754}"/>
              </a:ext>
            </a:extLst>
          </p:cNvPr>
          <p:cNvSpPr/>
          <p:nvPr/>
        </p:nvSpPr>
        <p:spPr>
          <a:xfrm>
            <a:off x="9100763" y="1561165"/>
            <a:ext cx="1290883" cy="482492"/>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50000"/>
              </a:lnSpc>
            </a:pPr>
            <a:endParaRPr lang="en-US" sz="1400" b="1" dirty="0">
              <a:solidFill>
                <a:schemeClr val="tx1"/>
              </a:solidFill>
            </a:endParaRPr>
          </a:p>
        </p:txBody>
      </p:sp>
      <p:sp>
        <p:nvSpPr>
          <p:cNvPr id="255" name="TextBox 254">
            <a:extLst>
              <a:ext uri="{FF2B5EF4-FFF2-40B4-BE49-F238E27FC236}">
                <a16:creationId xmlns:a16="http://schemas.microsoft.com/office/drawing/2014/main" id="{D8690089-5F19-C6EE-9D33-10A62DE89B5A}"/>
              </a:ext>
            </a:extLst>
          </p:cNvPr>
          <p:cNvSpPr txBox="1"/>
          <p:nvPr/>
        </p:nvSpPr>
        <p:spPr>
          <a:xfrm>
            <a:off x="9213640" y="1156525"/>
            <a:ext cx="1819179" cy="184666"/>
          </a:xfrm>
          <a:prstGeom prst="rect">
            <a:avLst/>
          </a:prstGeom>
          <a:noFill/>
        </p:spPr>
        <p:txBody>
          <a:bodyPr wrap="square" lIns="0" tIns="0" rIns="0" bIns="0" rtlCol="0">
            <a:spAutoFit/>
          </a:bodyPr>
          <a:lstStyle/>
          <a:p>
            <a:r>
              <a:rPr lang="en-US" altLang="zh-CN" sz="1200" b="1" dirty="0"/>
              <a:t>Alarm </a:t>
            </a:r>
            <a:r>
              <a:rPr lang="en-US" altLang="zh-CN" sz="1200" b="1" dirty="0" err="1"/>
              <a:t>Mgmt</a:t>
            </a:r>
            <a:endParaRPr lang="en-US" sz="1200" b="1" dirty="0"/>
          </a:p>
        </p:txBody>
      </p:sp>
      <p:sp>
        <p:nvSpPr>
          <p:cNvPr id="256" name="TextBox 255">
            <a:extLst>
              <a:ext uri="{FF2B5EF4-FFF2-40B4-BE49-F238E27FC236}">
                <a16:creationId xmlns:a16="http://schemas.microsoft.com/office/drawing/2014/main" id="{F613B673-383D-ECDC-838D-58DFE459F54D}"/>
              </a:ext>
            </a:extLst>
          </p:cNvPr>
          <p:cNvSpPr txBox="1"/>
          <p:nvPr/>
        </p:nvSpPr>
        <p:spPr>
          <a:xfrm>
            <a:off x="9221931" y="1720667"/>
            <a:ext cx="1819179" cy="184666"/>
          </a:xfrm>
          <a:prstGeom prst="rect">
            <a:avLst/>
          </a:prstGeom>
          <a:noFill/>
        </p:spPr>
        <p:txBody>
          <a:bodyPr wrap="square" lIns="0" tIns="0" rIns="0" bIns="0" rtlCol="0">
            <a:spAutoFit/>
          </a:bodyPr>
          <a:lstStyle/>
          <a:p>
            <a:r>
              <a:rPr lang="en-US" altLang="zh-CN" sz="1200" b="1" dirty="0"/>
              <a:t>Sample </a:t>
            </a:r>
            <a:r>
              <a:rPr lang="en-US" altLang="zh-CN" sz="1200" b="1" dirty="0" err="1"/>
              <a:t>Mgmt</a:t>
            </a:r>
            <a:endParaRPr lang="en-US" sz="1200" b="1" dirty="0"/>
          </a:p>
        </p:txBody>
      </p:sp>
      <p:sp>
        <p:nvSpPr>
          <p:cNvPr id="257" name="Rectangle: Rounded Corners 256">
            <a:extLst>
              <a:ext uri="{FF2B5EF4-FFF2-40B4-BE49-F238E27FC236}">
                <a16:creationId xmlns:a16="http://schemas.microsoft.com/office/drawing/2014/main" id="{83A7B7E7-467F-80B1-AE55-CB0240F834A7}"/>
              </a:ext>
            </a:extLst>
          </p:cNvPr>
          <p:cNvSpPr/>
          <p:nvPr/>
        </p:nvSpPr>
        <p:spPr>
          <a:xfrm>
            <a:off x="9114180" y="2111881"/>
            <a:ext cx="1290883" cy="482492"/>
          </a:xfrm>
          <a:prstGeom prst="roundRect">
            <a:avLst/>
          </a:prstGeom>
          <a:solidFill>
            <a:srgbClr val="E5E5E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lnSpc>
                <a:spcPct val="150000"/>
              </a:lnSpc>
            </a:pPr>
            <a:endParaRPr lang="en-US" sz="1400" b="1" dirty="0">
              <a:solidFill>
                <a:schemeClr val="tx1"/>
              </a:solidFill>
            </a:endParaRPr>
          </a:p>
        </p:txBody>
      </p:sp>
      <p:sp>
        <p:nvSpPr>
          <p:cNvPr id="258" name="TextBox 257">
            <a:extLst>
              <a:ext uri="{FF2B5EF4-FFF2-40B4-BE49-F238E27FC236}">
                <a16:creationId xmlns:a16="http://schemas.microsoft.com/office/drawing/2014/main" id="{0BBCB812-5A16-07B2-FB55-0124A8940CB1}"/>
              </a:ext>
            </a:extLst>
          </p:cNvPr>
          <p:cNvSpPr txBox="1"/>
          <p:nvPr/>
        </p:nvSpPr>
        <p:spPr>
          <a:xfrm>
            <a:off x="9235348" y="2271383"/>
            <a:ext cx="1819179" cy="184666"/>
          </a:xfrm>
          <a:prstGeom prst="rect">
            <a:avLst/>
          </a:prstGeom>
          <a:noFill/>
        </p:spPr>
        <p:txBody>
          <a:bodyPr wrap="square" lIns="0" tIns="0" rIns="0" bIns="0" rtlCol="0">
            <a:spAutoFit/>
          </a:bodyPr>
          <a:lstStyle/>
          <a:p>
            <a:r>
              <a:rPr lang="en-US" altLang="zh-CN" sz="1200" b="1" dirty="0"/>
              <a:t>Reports</a:t>
            </a:r>
            <a:endParaRPr lang="en-US" sz="1200" b="1" dirty="0"/>
          </a:p>
        </p:txBody>
      </p:sp>
      <p:sp>
        <p:nvSpPr>
          <p:cNvPr id="259" name="TextBox 258">
            <a:extLst>
              <a:ext uri="{FF2B5EF4-FFF2-40B4-BE49-F238E27FC236}">
                <a16:creationId xmlns:a16="http://schemas.microsoft.com/office/drawing/2014/main" id="{0C2E8F0C-F6CB-6E68-3032-417986C7D17E}"/>
              </a:ext>
            </a:extLst>
          </p:cNvPr>
          <p:cNvSpPr txBox="1"/>
          <p:nvPr/>
        </p:nvSpPr>
        <p:spPr>
          <a:xfrm>
            <a:off x="4445505" y="6475550"/>
            <a:ext cx="5705362" cy="369332"/>
          </a:xfrm>
          <a:prstGeom prst="rect">
            <a:avLst/>
          </a:prstGeom>
          <a:noFill/>
        </p:spPr>
        <p:txBody>
          <a:bodyPr wrap="square" lIns="0" tIns="0" rIns="0" bIns="0" rtlCol="0">
            <a:spAutoFit/>
          </a:bodyPr>
          <a:lstStyle/>
          <a:p>
            <a:r>
              <a:rPr lang="en-US" altLang="zh-CN" sz="1200" dirty="0"/>
              <a:t>DaaS-</a:t>
            </a:r>
            <a:r>
              <a:rPr lang="en-US" altLang="zh-CN" sz="1200" dirty="0" err="1"/>
              <a:t>MaintLoop</a:t>
            </a:r>
            <a:r>
              <a:rPr lang="en-US" altLang="zh-CN" sz="1200" dirty="0"/>
              <a:t> Schema</a:t>
            </a:r>
            <a:r>
              <a:rPr lang="en-US" sz="1200" dirty="0"/>
              <a:t>*: </a:t>
            </a:r>
            <a:r>
              <a:rPr lang="en-US" altLang="zh-CN" sz="1200" dirty="0"/>
              <a:t>The core module for site configuration, samples and matching the selected algorithms</a:t>
            </a:r>
            <a:endParaRPr lang="en-US" sz="1200" dirty="0"/>
          </a:p>
        </p:txBody>
      </p:sp>
      <p:sp>
        <p:nvSpPr>
          <p:cNvPr id="267" name="Oval 266">
            <a:extLst>
              <a:ext uri="{FF2B5EF4-FFF2-40B4-BE49-F238E27FC236}">
                <a16:creationId xmlns:a16="http://schemas.microsoft.com/office/drawing/2014/main" id="{BEB0AB15-AFF4-7F8E-13B6-902DE2869171}"/>
              </a:ext>
            </a:extLst>
          </p:cNvPr>
          <p:cNvSpPr>
            <a:spLocks/>
          </p:cNvSpPr>
          <p:nvPr/>
        </p:nvSpPr>
        <p:spPr>
          <a:xfrm rot="15203075">
            <a:off x="6505956" y="4469588"/>
            <a:ext cx="179906" cy="179906"/>
          </a:xfrm>
          <a:prstGeom prst="ellipse">
            <a:avLst/>
          </a:prstGeom>
          <a:solidFill>
            <a:schemeClr val="accent4">
              <a:lumMod val="40000"/>
              <a:lumOff val="60000"/>
            </a:schemeClr>
          </a:solidFill>
          <a:ln w="12700" cap="flat" cmpd="sng" algn="ctr">
            <a:solidFill>
              <a:schemeClr val="accent2">
                <a:lumMod val="7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68" name="Oval 267">
            <a:extLst>
              <a:ext uri="{FF2B5EF4-FFF2-40B4-BE49-F238E27FC236}">
                <a16:creationId xmlns:a16="http://schemas.microsoft.com/office/drawing/2014/main" id="{CCBD0944-FE6C-7D16-EBEB-F8AB2694CE93}"/>
              </a:ext>
            </a:extLst>
          </p:cNvPr>
          <p:cNvSpPr>
            <a:spLocks/>
          </p:cNvSpPr>
          <p:nvPr/>
        </p:nvSpPr>
        <p:spPr>
          <a:xfrm rot="15203075">
            <a:off x="6845261" y="4763056"/>
            <a:ext cx="179906" cy="179906"/>
          </a:xfrm>
          <a:prstGeom prst="ellipse">
            <a:avLst/>
          </a:prstGeom>
          <a:solidFill>
            <a:schemeClr val="accent4">
              <a:lumMod val="40000"/>
              <a:lumOff val="60000"/>
            </a:schemeClr>
          </a:solidFill>
          <a:ln w="12700" cap="flat" cmpd="sng" algn="ctr">
            <a:solidFill>
              <a:schemeClr val="accent2">
                <a:lumMod val="7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sp>
        <p:nvSpPr>
          <p:cNvPr id="269" name="Oval 268">
            <a:extLst>
              <a:ext uri="{FF2B5EF4-FFF2-40B4-BE49-F238E27FC236}">
                <a16:creationId xmlns:a16="http://schemas.microsoft.com/office/drawing/2014/main" id="{6401A444-3336-613D-73B8-57E94C38CB1D}"/>
              </a:ext>
            </a:extLst>
          </p:cNvPr>
          <p:cNvSpPr>
            <a:spLocks/>
          </p:cNvSpPr>
          <p:nvPr/>
        </p:nvSpPr>
        <p:spPr>
          <a:xfrm rot="15203075">
            <a:off x="6435711" y="4905440"/>
            <a:ext cx="179906" cy="179906"/>
          </a:xfrm>
          <a:prstGeom prst="ellipse">
            <a:avLst/>
          </a:prstGeom>
          <a:solidFill>
            <a:schemeClr val="accent4">
              <a:lumMod val="40000"/>
              <a:lumOff val="60000"/>
            </a:schemeClr>
          </a:solidFill>
          <a:ln w="12700" cap="flat" cmpd="sng" algn="ctr">
            <a:solidFill>
              <a:schemeClr val="accent2">
                <a:lumMod val="75000"/>
              </a:schemeClr>
            </a:solidFill>
            <a:prstDash val="solid"/>
            <a:miter lim="800000"/>
          </a:ln>
          <a:effectLst/>
        </p:spPr>
        <p:txBody>
          <a:bodyPr rtlCol="0" anchor="ctr"/>
          <a:lstStyle/>
          <a:p>
            <a:pPr algn="ctr" defTabSz="913943">
              <a:defRPr/>
            </a:pPr>
            <a:endParaRPr lang="de-DE" sz="1799" kern="0">
              <a:solidFill>
                <a:prstClr val="white"/>
              </a:solidFill>
              <a:latin typeface="Calibri" panose="020F0502020204030204"/>
            </a:endParaRPr>
          </a:p>
        </p:txBody>
      </p:sp>
      <p:cxnSp>
        <p:nvCxnSpPr>
          <p:cNvPr id="270" name="Straight Connector 269">
            <a:extLst>
              <a:ext uri="{FF2B5EF4-FFF2-40B4-BE49-F238E27FC236}">
                <a16:creationId xmlns:a16="http://schemas.microsoft.com/office/drawing/2014/main" id="{E5E2D492-698A-DFBC-112F-9C9049DF1F34}"/>
              </a:ext>
            </a:extLst>
          </p:cNvPr>
          <p:cNvCxnSpPr>
            <a:cxnSpLocks/>
            <a:stCxn id="96" idx="4"/>
            <a:endCxn id="267" idx="7"/>
          </p:cNvCxnSpPr>
          <p:nvPr/>
        </p:nvCxnSpPr>
        <p:spPr>
          <a:xfrm>
            <a:off x="5915410" y="4242641"/>
            <a:ext cx="601361" cy="274138"/>
          </a:xfrm>
          <a:prstGeom prst="line">
            <a:avLst/>
          </a:prstGeom>
          <a:noFill/>
          <a:ln w="12700" cap="flat" cmpd="sng" algn="ctr">
            <a:solidFill>
              <a:schemeClr val="accent2">
                <a:lumMod val="75000"/>
              </a:schemeClr>
            </a:solidFill>
            <a:prstDash val="solid"/>
            <a:miter lim="800000"/>
          </a:ln>
          <a:effectLst/>
        </p:spPr>
      </p:cxnSp>
      <p:cxnSp>
        <p:nvCxnSpPr>
          <p:cNvPr id="271" name="Straight Connector 270">
            <a:extLst>
              <a:ext uri="{FF2B5EF4-FFF2-40B4-BE49-F238E27FC236}">
                <a16:creationId xmlns:a16="http://schemas.microsoft.com/office/drawing/2014/main" id="{8F9514FF-8B4D-B138-7C2A-2F95711F388C}"/>
              </a:ext>
            </a:extLst>
          </p:cNvPr>
          <p:cNvCxnSpPr>
            <a:cxnSpLocks/>
          </p:cNvCxnSpPr>
          <p:nvPr/>
        </p:nvCxnSpPr>
        <p:spPr>
          <a:xfrm rot="20603075">
            <a:off x="6828362" y="4656145"/>
            <a:ext cx="0" cy="0"/>
          </a:xfrm>
          <a:prstGeom prst="line">
            <a:avLst/>
          </a:prstGeom>
          <a:noFill/>
          <a:ln w="6350" cap="flat" cmpd="sng" algn="ctr">
            <a:solidFill>
              <a:schemeClr val="bg1">
                <a:lumMod val="85000"/>
              </a:schemeClr>
            </a:solidFill>
            <a:prstDash val="solid"/>
            <a:miter lim="800000"/>
          </a:ln>
          <a:effectLst/>
        </p:spPr>
      </p:cxnSp>
      <p:cxnSp>
        <p:nvCxnSpPr>
          <p:cNvPr id="272" name="Straight Connector 271">
            <a:extLst>
              <a:ext uri="{FF2B5EF4-FFF2-40B4-BE49-F238E27FC236}">
                <a16:creationId xmlns:a16="http://schemas.microsoft.com/office/drawing/2014/main" id="{5D179F8F-03C9-8840-C2CE-DC494E55AD45}"/>
              </a:ext>
            </a:extLst>
          </p:cNvPr>
          <p:cNvCxnSpPr>
            <a:cxnSpLocks/>
            <a:stCxn id="267" idx="1"/>
            <a:endCxn id="269" idx="6"/>
          </p:cNvCxnSpPr>
          <p:nvPr/>
        </p:nvCxnSpPr>
        <p:spPr>
          <a:xfrm flipH="1">
            <a:off x="6499942" y="4638679"/>
            <a:ext cx="53205" cy="270517"/>
          </a:xfrm>
          <a:prstGeom prst="line">
            <a:avLst/>
          </a:prstGeom>
          <a:noFill/>
          <a:ln w="12700" cap="flat" cmpd="sng" algn="ctr">
            <a:solidFill>
              <a:schemeClr val="accent2">
                <a:lumMod val="75000"/>
              </a:schemeClr>
            </a:solidFill>
            <a:prstDash val="solid"/>
            <a:miter lim="800000"/>
          </a:ln>
          <a:effectLst/>
        </p:spPr>
      </p:cxnSp>
      <p:cxnSp>
        <p:nvCxnSpPr>
          <p:cNvPr id="273" name="Straight Connector 272">
            <a:extLst>
              <a:ext uri="{FF2B5EF4-FFF2-40B4-BE49-F238E27FC236}">
                <a16:creationId xmlns:a16="http://schemas.microsoft.com/office/drawing/2014/main" id="{543DE8EA-DE83-51E2-9EF9-97A6683826F7}"/>
              </a:ext>
            </a:extLst>
          </p:cNvPr>
          <p:cNvCxnSpPr>
            <a:cxnSpLocks/>
            <a:stCxn id="267" idx="3"/>
          </p:cNvCxnSpPr>
          <p:nvPr/>
        </p:nvCxnSpPr>
        <p:spPr>
          <a:xfrm>
            <a:off x="6675047" y="4602303"/>
            <a:ext cx="179201" cy="192530"/>
          </a:xfrm>
          <a:prstGeom prst="line">
            <a:avLst/>
          </a:prstGeom>
          <a:noFill/>
          <a:ln w="12700" cap="flat" cmpd="sng" algn="ctr">
            <a:solidFill>
              <a:schemeClr val="accent2">
                <a:lumMod val="75000"/>
              </a:schemeClr>
            </a:solidFill>
            <a:prstDash val="solid"/>
            <a:miter lim="800000"/>
          </a:ln>
          <a:effectLst/>
        </p:spPr>
      </p:cxnSp>
    </p:spTree>
    <p:extLst>
      <p:ext uri="{BB962C8B-B14F-4D97-AF65-F5344CB8AC3E}">
        <p14:creationId xmlns:p14="http://schemas.microsoft.com/office/powerpoint/2010/main" val="316367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12"/>
                                        </p:tgtEl>
                                        <p:attrNameLst>
                                          <p:attrName>stroke.color</p:attrName>
                                        </p:attrNameLst>
                                      </p:cBhvr>
                                      <p:to>
                                        <a:srgbClr val="00FFB9"/>
                                      </p:to>
                                    </p:animClr>
                                    <p:set>
                                      <p:cBhvr>
                                        <p:cTn id="7" dur="2000" fill="hold"/>
                                        <p:tgtEl>
                                          <p:spTgt spid="12"/>
                                        </p:tgtEl>
                                        <p:attrNameLst>
                                          <p:attrName>stroke.on</p:attrName>
                                        </p:attrNameLst>
                                      </p:cBhvr>
                                      <p:to>
                                        <p:strVal val="true"/>
                                      </p:to>
                                    </p:set>
                                  </p:childTnLst>
                                </p:cTn>
                              </p:par>
                            </p:childTnLst>
                          </p:cTn>
                        </p:par>
                        <p:par>
                          <p:cTn id="8" fill="hold">
                            <p:stCondLst>
                              <p:cond delay="2000"/>
                            </p:stCondLst>
                            <p:childTnLst>
                              <p:par>
                                <p:cTn id="9" presetID="1" presetClass="emph" presetSubtype="6" repeatCount="3000" fill="hold" nodeType="afterEffect">
                                  <p:stCondLst>
                                    <p:cond delay="0"/>
                                  </p:stCondLst>
                                  <p:childTnLst>
                                    <p:animClr clrSpc="hsl" dir="cw">
                                      <p:cBhvr>
                                        <p:cTn id="10" dur="1000" fill="hold"/>
                                        <p:tgtEl>
                                          <p:spTgt spid="104"/>
                                        </p:tgtEl>
                                        <p:attrNameLst>
                                          <p:attrName>fillcolor</p:attrName>
                                        </p:attrNameLst>
                                      </p:cBhvr>
                                      <p:to>
                                        <a:srgbClr val="00D7A0"/>
                                      </p:to>
                                    </p:animClr>
                                    <p:set>
                                      <p:cBhvr>
                                        <p:cTn id="11" dur="1000" fill="hold"/>
                                        <p:tgtEl>
                                          <p:spTgt spid="104"/>
                                        </p:tgtEl>
                                        <p:attrNameLst>
                                          <p:attrName>fill.type</p:attrName>
                                        </p:attrNameLst>
                                      </p:cBhvr>
                                      <p:to>
                                        <p:strVal val="solid"/>
                                      </p:to>
                                    </p:set>
                                    <p:set>
                                      <p:cBhvr>
                                        <p:cTn id="12" dur="1000" fill="hold"/>
                                        <p:tgtEl>
                                          <p:spTgt spid="104"/>
                                        </p:tgtEl>
                                        <p:attrNameLst>
                                          <p:attrName>fill.on</p:attrName>
                                        </p:attrNameLst>
                                      </p:cBhvr>
                                      <p:to>
                                        <p:strVal val="true"/>
                                      </p:to>
                                    </p:set>
                                  </p:childTnLst>
                                </p:cTn>
                              </p:par>
                              <p:par>
                                <p:cTn id="13" presetID="1" presetClass="emph" presetSubtype="2" repeatCount="3000" fill="hold" nodeType="withEffect">
                                  <p:stCondLst>
                                    <p:cond delay="0"/>
                                  </p:stCondLst>
                                  <p:childTnLst>
                                    <p:animClr clrSpc="rgb" dir="cw">
                                      <p:cBhvr>
                                        <p:cTn id="14" dur="1000" fill="hold"/>
                                        <p:tgtEl>
                                          <p:spTgt spid="95"/>
                                        </p:tgtEl>
                                        <p:attrNameLst>
                                          <p:attrName>fillcolor</p:attrName>
                                        </p:attrNameLst>
                                      </p:cBhvr>
                                      <p:to>
                                        <a:srgbClr val="00D7A0"/>
                                      </p:to>
                                    </p:animClr>
                                    <p:set>
                                      <p:cBhvr>
                                        <p:cTn id="15" dur="1000" fill="hold"/>
                                        <p:tgtEl>
                                          <p:spTgt spid="95"/>
                                        </p:tgtEl>
                                        <p:attrNameLst>
                                          <p:attrName>fill.type</p:attrName>
                                        </p:attrNameLst>
                                      </p:cBhvr>
                                      <p:to>
                                        <p:strVal val="solid"/>
                                      </p:to>
                                    </p:set>
                                    <p:set>
                                      <p:cBhvr>
                                        <p:cTn id="16" dur="1000" fill="hold"/>
                                        <p:tgtEl>
                                          <p:spTgt spid="95"/>
                                        </p:tgtEl>
                                        <p:attrNameLst>
                                          <p:attrName>fill.on</p:attrName>
                                        </p:attrNameLst>
                                      </p:cBhvr>
                                      <p:to>
                                        <p:strVal val="true"/>
                                      </p:to>
                                    </p:set>
                                  </p:childTnLst>
                                </p:cTn>
                              </p:par>
                              <p:par>
                                <p:cTn id="17" presetID="1" presetClass="emph" presetSubtype="2" repeatCount="3000" fill="hold" nodeType="withEffect">
                                  <p:stCondLst>
                                    <p:cond delay="0"/>
                                  </p:stCondLst>
                                  <p:childTnLst>
                                    <p:animClr clrSpc="rgb" dir="cw">
                                      <p:cBhvr>
                                        <p:cTn id="18" dur="1000" fill="hold"/>
                                        <p:tgtEl>
                                          <p:spTgt spid="103"/>
                                        </p:tgtEl>
                                        <p:attrNameLst>
                                          <p:attrName>fillcolor</p:attrName>
                                        </p:attrNameLst>
                                      </p:cBhvr>
                                      <p:to>
                                        <a:srgbClr val="00D7A0"/>
                                      </p:to>
                                    </p:animClr>
                                    <p:set>
                                      <p:cBhvr>
                                        <p:cTn id="19" dur="1000" fill="hold"/>
                                        <p:tgtEl>
                                          <p:spTgt spid="103"/>
                                        </p:tgtEl>
                                        <p:attrNameLst>
                                          <p:attrName>fill.type</p:attrName>
                                        </p:attrNameLst>
                                      </p:cBhvr>
                                      <p:to>
                                        <p:strVal val="solid"/>
                                      </p:to>
                                    </p:set>
                                    <p:set>
                                      <p:cBhvr>
                                        <p:cTn id="20" dur="1000" fill="hold"/>
                                        <p:tgtEl>
                                          <p:spTgt spid="103"/>
                                        </p:tgtEl>
                                        <p:attrNameLst>
                                          <p:attrName>fill.on</p:attrName>
                                        </p:attrNameLst>
                                      </p:cBhvr>
                                      <p:to>
                                        <p:strVal val="true"/>
                                      </p:to>
                                    </p:set>
                                  </p:childTnLst>
                                </p:cTn>
                              </p:par>
                            </p:childTnLst>
                          </p:cTn>
                        </p:par>
                        <p:par>
                          <p:cTn id="21" fill="hold">
                            <p:stCondLst>
                              <p:cond delay="5000"/>
                            </p:stCondLst>
                            <p:childTnLst>
                              <p:par>
                                <p:cTn id="22" presetID="1" presetClass="emph" presetSubtype="2" repeatCount="2000" fill="hold" nodeType="afterEffect">
                                  <p:stCondLst>
                                    <p:cond delay="0"/>
                                  </p:stCondLst>
                                  <p:childTnLst>
                                    <p:animClr clrSpc="rgb" dir="cw">
                                      <p:cBhvr>
                                        <p:cTn id="23" dur="1000" fill="hold"/>
                                        <p:tgtEl>
                                          <p:spTgt spid="169"/>
                                        </p:tgtEl>
                                        <p:attrNameLst>
                                          <p:attrName>fillcolor</p:attrName>
                                        </p:attrNameLst>
                                      </p:cBhvr>
                                      <p:to>
                                        <a:schemeClr val="accent2"/>
                                      </p:to>
                                    </p:animClr>
                                    <p:set>
                                      <p:cBhvr>
                                        <p:cTn id="24" dur="1000" fill="hold"/>
                                        <p:tgtEl>
                                          <p:spTgt spid="169"/>
                                        </p:tgtEl>
                                        <p:attrNameLst>
                                          <p:attrName>fill.type</p:attrName>
                                        </p:attrNameLst>
                                      </p:cBhvr>
                                      <p:to>
                                        <p:strVal val="solid"/>
                                      </p:to>
                                    </p:set>
                                    <p:set>
                                      <p:cBhvr>
                                        <p:cTn id="25" dur="1000" fill="hold"/>
                                        <p:tgtEl>
                                          <p:spTgt spid="169"/>
                                        </p:tgtEl>
                                        <p:attrNameLst>
                                          <p:attrName>fill.on</p:attrName>
                                        </p:attrNameLst>
                                      </p:cBhvr>
                                      <p:to>
                                        <p:strVal val="true"/>
                                      </p:to>
                                    </p:set>
                                  </p:childTnLst>
                                </p:cTn>
                              </p:par>
                              <p:par>
                                <p:cTn id="26" presetID="1" presetClass="emph" presetSubtype="2" repeatCount="2000" fill="hold" nodeType="withEffect">
                                  <p:stCondLst>
                                    <p:cond delay="0"/>
                                  </p:stCondLst>
                                  <p:childTnLst>
                                    <p:animClr clrSpc="rgb" dir="cw">
                                      <p:cBhvr>
                                        <p:cTn id="27" dur="1000" fill="hold"/>
                                        <p:tgtEl>
                                          <p:spTgt spid="173"/>
                                        </p:tgtEl>
                                        <p:attrNameLst>
                                          <p:attrName>fillcolor</p:attrName>
                                        </p:attrNameLst>
                                      </p:cBhvr>
                                      <p:to>
                                        <a:schemeClr val="accent2"/>
                                      </p:to>
                                    </p:animClr>
                                    <p:set>
                                      <p:cBhvr>
                                        <p:cTn id="28" dur="1000" fill="hold"/>
                                        <p:tgtEl>
                                          <p:spTgt spid="173"/>
                                        </p:tgtEl>
                                        <p:attrNameLst>
                                          <p:attrName>fill.type</p:attrName>
                                        </p:attrNameLst>
                                      </p:cBhvr>
                                      <p:to>
                                        <p:strVal val="solid"/>
                                      </p:to>
                                    </p:set>
                                    <p:set>
                                      <p:cBhvr>
                                        <p:cTn id="29" dur="1000" fill="hold"/>
                                        <p:tgtEl>
                                          <p:spTgt spid="173"/>
                                        </p:tgtEl>
                                        <p:attrNameLst>
                                          <p:attrName>fill.on</p:attrName>
                                        </p:attrNameLst>
                                      </p:cBhvr>
                                      <p:to>
                                        <p:strVal val="true"/>
                                      </p:to>
                                    </p:set>
                                  </p:childTnLst>
                                </p:cTn>
                              </p:par>
                            </p:childTnLst>
                          </p:cTn>
                        </p:par>
                        <p:par>
                          <p:cTn id="30" fill="hold">
                            <p:stCondLst>
                              <p:cond delay="7000"/>
                            </p:stCondLst>
                            <p:childTnLst>
                              <p:par>
                                <p:cTn id="31" presetID="1" presetClass="emph" presetSubtype="6" repeatCount="2000" fill="hold" nodeType="afterEffect">
                                  <p:stCondLst>
                                    <p:cond delay="0"/>
                                  </p:stCondLst>
                                  <p:childTnLst>
                                    <p:animClr clrSpc="hsl" dir="cw">
                                      <p:cBhvr>
                                        <p:cTn id="32" dur="1000" fill="hold"/>
                                        <p:tgtEl>
                                          <p:spTgt spid="171"/>
                                        </p:tgtEl>
                                        <p:attrNameLst>
                                          <p:attrName>fillcolor</p:attrName>
                                        </p:attrNameLst>
                                      </p:cBhvr>
                                      <p:to>
                                        <a:schemeClr val="accent2"/>
                                      </p:to>
                                    </p:animClr>
                                    <p:set>
                                      <p:cBhvr>
                                        <p:cTn id="33" dur="1000" fill="hold"/>
                                        <p:tgtEl>
                                          <p:spTgt spid="171"/>
                                        </p:tgtEl>
                                        <p:attrNameLst>
                                          <p:attrName>fill.type</p:attrName>
                                        </p:attrNameLst>
                                      </p:cBhvr>
                                      <p:to>
                                        <p:strVal val="solid"/>
                                      </p:to>
                                    </p:set>
                                    <p:set>
                                      <p:cBhvr>
                                        <p:cTn id="34" dur="1000" fill="hold"/>
                                        <p:tgtEl>
                                          <p:spTgt spid="171"/>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7" presetClass="emph" presetSubtype="2" fill="hold" nodeType="clickEffect">
                                  <p:stCondLst>
                                    <p:cond delay="0"/>
                                  </p:stCondLst>
                                  <p:childTnLst>
                                    <p:animClr clrSpc="rgb" dir="cw">
                                      <p:cBhvr>
                                        <p:cTn id="38" dur="2000" fill="hold"/>
                                        <p:tgtEl>
                                          <p:spTgt spid="92"/>
                                        </p:tgtEl>
                                        <p:attrNameLst>
                                          <p:attrName>stroke.color</p:attrName>
                                        </p:attrNameLst>
                                      </p:cBhvr>
                                      <p:to>
                                        <a:srgbClr val="FFC000"/>
                                      </p:to>
                                    </p:animClr>
                                    <p:set>
                                      <p:cBhvr>
                                        <p:cTn id="39" dur="2000" fill="hold"/>
                                        <p:tgtEl>
                                          <p:spTgt spid="92"/>
                                        </p:tgtEl>
                                        <p:attrNameLst>
                                          <p:attrName>stroke.on</p:attrName>
                                        </p:attrNameLst>
                                      </p:cBhvr>
                                      <p:to>
                                        <p:strVal val="true"/>
                                      </p:to>
                                    </p:set>
                                  </p:childTnLst>
                                </p:cTn>
                              </p:par>
                            </p:childTnLst>
                          </p:cTn>
                        </p:par>
                        <p:par>
                          <p:cTn id="40" fill="hold">
                            <p:stCondLst>
                              <p:cond delay="2000"/>
                            </p:stCondLst>
                            <p:childTnLst>
                              <p:par>
                                <p:cTn id="41" presetID="1" presetClass="emph" presetSubtype="2" repeatCount="3000" fill="hold" nodeType="afterEffect">
                                  <p:stCondLst>
                                    <p:cond delay="0"/>
                                  </p:stCondLst>
                                  <p:childTnLst>
                                    <p:animClr clrSpc="rgb" dir="cw">
                                      <p:cBhvr>
                                        <p:cTn id="42" dur="1000" fill="hold"/>
                                        <p:tgtEl>
                                          <p:spTgt spid="97"/>
                                        </p:tgtEl>
                                        <p:attrNameLst>
                                          <p:attrName>fillcolor</p:attrName>
                                        </p:attrNameLst>
                                      </p:cBhvr>
                                      <p:to>
                                        <a:srgbClr val="FF9000"/>
                                      </p:to>
                                    </p:animClr>
                                    <p:set>
                                      <p:cBhvr>
                                        <p:cTn id="43" dur="1000" fill="hold"/>
                                        <p:tgtEl>
                                          <p:spTgt spid="97"/>
                                        </p:tgtEl>
                                        <p:attrNameLst>
                                          <p:attrName>fill.type</p:attrName>
                                        </p:attrNameLst>
                                      </p:cBhvr>
                                      <p:to>
                                        <p:strVal val="solid"/>
                                      </p:to>
                                    </p:set>
                                    <p:set>
                                      <p:cBhvr>
                                        <p:cTn id="44" dur="1000" fill="hold"/>
                                        <p:tgtEl>
                                          <p:spTgt spid="97"/>
                                        </p:tgtEl>
                                        <p:attrNameLst>
                                          <p:attrName>fill.on</p:attrName>
                                        </p:attrNameLst>
                                      </p:cBhvr>
                                      <p:to>
                                        <p:strVal val="true"/>
                                      </p:to>
                                    </p:set>
                                  </p:childTnLst>
                                </p:cTn>
                              </p:par>
                              <p:par>
                                <p:cTn id="45" presetID="1" presetClass="emph" presetSubtype="2" repeatCount="3000" fill="hold" nodeType="withEffect">
                                  <p:stCondLst>
                                    <p:cond delay="0"/>
                                  </p:stCondLst>
                                  <p:childTnLst>
                                    <p:animClr clrSpc="rgb" dir="cw">
                                      <p:cBhvr>
                                        <p:cTn id="46" dur="1000" fill="hold"/>
                                        <p:tgtEl>
                                          <p:spTgt spid="102"/>
                                        </p:tgtEl>
                                        <p:attrNameLst>
                                          <p:attrName>fillcolor</p:attrName>
                                        </p:attrNameLst>
                                      </p:cBhvr>
                                      <p:to>
                                        <a:srgbClr val="FF9000"/>
                                      </p:to>
                                    </p:animClr>
                                    <p:set>
                                      <p:cBhvr>
                                        <p:cTn id="47" dur="1000" fill="hold"/>
                                        <p:tgtEl>
                                          <p:spTgt spid="102"/>
                                        </p:tgtEl>
                                        <p:attrNameLst>
                                          <p:attrName>fill.type</p:attrName>
                                        </p:attrNameLst>
                                      </p:cBhvr>
                                      <p:to>
                                        <p:strVal val="solid"/>
                                      </p:to>
                                    </p:set>
                                    <p:set>
                                      <p:cBhvr>
                                        <p:cTn id="48" dur="1000" fill="hold"/>
                                        <p:tgtEl>
                                          <p:spTgt spid="102"/>
                                        </p:tgtEl>
                                        <p:attrNameLst>
                                          <p:attrName>fill.on</p:attrName>
                                        </p:attrNameLst>
                                      </p:cBhvr>
                                      <p:to>
                                        <p:strVal val="true"/>
                                      </p:to>
                                    </p:set>
                                  </p:childTnLst>
                                </p:cTn>
                              </p:par>
                              <p:par>
                                <p:cTn id="49" presetID="1" presetClass="emph" presetSubtype="2" repeatCount="3000" fill="hold" nodeType="withEffect">
                                  <p:stCondLst>
                                    <p:cond delay="0"/>
                                  </p:stCondLst>
                                  <p:childTnLst>
                                    <p:animClr clrSpc="rgb" dir="cw">
                                      <p:cBhvr>
                                        <p:cTn id="50" dur="1000" fill="hold"/>
                                        <p:tgtEl>
                                          <p:spTgt spid="101"/>
                                        </p:tgtEl>
                                        <p:attrNameLst>
                                          <p:attrName>fillcolor</p:attrName>
                                        </p:attrNameLst>
                                      </p:cBhvr>
                                      <p:to>
                                        <a:srgbClr val="FF9000"/>
                                      </p:to>
                                    </p:animClr>
                                    <p:set>
                                      <p:cBhvr>
                                        <p:cTn id="51" dur="1000" fill="hold"/>
                                        <p:tgtEl>
                                          <p:spTgt spid="101"/>
                                        </p:tgtEl>
                                        <p:attrNameLst>
                                          <p:attrName>fill.type</p:attrName>
                                        </p:attrNameLst>
                                      </p:cBhvr>
                                      <p:to>
                                        <p:strVal val="solid"/>
                                      </p:to>
                                    </p:set>
                                    <p:set>
                                      <p:cBhvr>
                                        <p:cTn id="52" dur="1000" fill="hold"/>
                                        <p:tgtEl>
                                          <p:spTgt spid="101"/>
                                        </p:tgtEl>
                                        <p:attrNameLst>
                                          <p:attrName>fill.on</p:attrName>
                                        </p:attrNameLst>
                                      </p:cBhvr>
                                      <p:to>
                                        <p:strVal val="true"/>
                                      </p:to>
                                    </p:set>
                                  </p:childTnLst>
                                </p:cTn>
                              </p:par>
                            </p:childTnLst>
                          </p:cTn>
                        </p:par>
                        <p:par>
                          <p:cTn id="53" fill="hold">
                            <p:stCondLst>
                              <p:cond delay="5000"/>
                            </p:stCondLst>
                            <p:childTnLst>
                              <p:par>
                                <p:cTn id="54" presetID="1" presetClass="emph" presetSubtype="2" repeatCount="2000" fill="hold" nodeType="afterEffect">
                                  <p:stCondLst>
                                    <p:cond delay="0"/>
                                  </p:stCondLst>
                                  <p:childTnLst>
                                    <p:animClr clrSpc="rgb" dir="cw">
                                      <p:cBhvr>
                                        <p:cTn id="55" dur="1000" fill="hold"/>
                                        <p:tgtEl>
                                          <p:spTgt spid="220"/>
                                        </p:tgtEl>
                                        <p:attrNameLst>
                                          <p:attrName>fillcolor</p:attrName>
                                        </p:attrNameLst>
                                      </p:cBhvr>
                                      <p:to>
                                        <a:srgbClr val="FFC000"/>
                                      </p:to>
                                    </p:animClr>
                                    <p:set>
                                      <p:cBhvr>
                                        <p:cTn id="56" dur="1000" fill="hold"/>
                                        <p:tgtEl>
                                          <p:spTgt spid="220"/>
                                        </p:tgtEl>
                                        <p:attrNameLst>
                                          <p:attrName>fill.type</p:attrName>
                                        </p:attrNameLst>
                                      </p:cBhvr>
                                      <p:to>
                                        <p:strVal val="solid"/>
                                      </p:to>
                                    </p:set>
                                    <p:set>
                                      <p:cBhvr>
                                        <p:cTn id="57" dur="1000" fill="hold"/>
                                        <p:tgtEl>
                                          <p:spTgt spid="220"/>
                                        </p:tgtEl>
                                        <p:attrNameLst>
                                          <p:attrName>fill.on</p:attrName>
                                        </p:attrNameLst>
                                      </p:cBhvr>
                                      <p:to>
                                        <p:strVal val="true"/>
                                      </p:to>
                                    </p:set>
                                  </p:childTnLst>
                                </p:cTn>
                              </p:par>
                            </p:childTnLst>
                          </p:cTn>
                        </p:par>
                        <p:par>
                          <p:cTn id="58" fill="hold">
                            <p:stCondLst>
                              <p:cond delay="7000"/>
                            </p:stCondLst>
                            <p:childTnLst>
                              <p:par>
                                <p:cTn id="59" presetID="1" presetClass="emph" presetSubtype="2" repeatCount="2000" fill="hold" nodeType="afterEffect">
                                  <p:stCondLst>
                                    <p:cond delay="0"/>
                                  </p:stCondLst>
                                  <p:childTnLst>
                                    <p:animClr clrSpc="rgb" dir="cw">
                                      <p:cBhvr>
                                        <p:cTn id="60" dur="1000" fill="hold"/>
                                        <p:tgtEl>
                                          <p:spTgt spid="224"/>
                                        </p:tgtEl>
                                        <p:attrNameLst>
                                          <p:attrName>fillcolor</p:attrName>
                                        </p:attrNameLst>
                                      </p:cBhvr>
                                      <p:to>
                                        <a:srgbClr val="FFC000"/>
                                      </p:to>
                                    </p:animClr>
                                    <p:set>
                                      <p:cBhvr>
                                        <p:cTn id="61" dur="1000" fill="hold"/>
                                        <p:tgtEl>
                                          <p:spTgt spid="224"/>
                                        </p:tgtEl>
                                        <p:attrNameLst>
                                          <p:attrName>fill.type</p:attrName>
                                        </p:attrNameLst>
                                      </p:cBhvr>
                                      <p:to>
                                        <p:strVal val="solid"/>
                                      </p:to>
                                    </p:set>
                                    <p:set>
                                      <p:cBhvr>
                                        <p:cTn id="62" dur="1000" fill="hold"/>
                                        <p:tgtEl>
                                          <p:spTgt spid="224"/>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7" presetClass="emph" presetSubtype="2" fill="hold" nodeType="clickEffect">
                                  <p:stCondLst>
                                    <p:cond delay="0"/>
                                  </p:stCondLst>
                                  <p:childTnLst>
                                    <p:animClr clrSpc="rgb" dir="cw">
                                      <p:cBhvr>
                                        <p:cTn id="66" dur="2000" fill="hold"/>
                                        <p:tgtEl>
                                          <p:spTgt spid="93"/>
                                        </p:tgtEl>
                                        <p:attrNameLst>
                                          <p:attrName>stroke.color</p:attrName>
                                        </p:attrNameLst>
                                      </p:cBhvr>
                                      <p:to>
                                        <a:srgbClr val="AF235F"/>
                                      </p:to>
                                    </p:animClr>
                                    <p:set>
                                      <p:cBhvr>
                                        <p:cTn id="67" dur="2000" fill="hold"/>
                                        <p:tgtEl>
                                          <p:spTgt spid="93"/>
                                        </p:tgtEl>
                                        <p:attrNameLst>
                                          <p:attrName>stroke.on</p:attrName>
                                        </p:attrNameLst>
                                      </p:cBhvr>
                                      <p:to>
                                        <p:strVal val="true"/>
                                      </p:to>
                                    </p:set>
                                  </p:childTnLst>
                                </p:cTn>
                              </p:par>
                            </p:childTnLst>
                          </p:cTn>
                        </p:par>
                        <p:par>
                          <p:cTn id="68" fill="hold">
                            <p:stCondLst>
                              <p:cond delay="2000"/>
                            </p:stCondLst>
                            <p:childTnLst>
                              <p:par>
                                <p:cTn id="69" presetID="1" presetClass="emph" presetSubtype="10" repeatCount="3000" fill="hold" nodeType="afterEffect">
                                  <p:stCondLst>
                                    <p:cond delay="0"/>
                                  </p:stCondLst>
                                  <p:childTnLst>
                                    <p:animClr clrSpc="hsl" dir="ccw">
                                      <p:cBhvr>
                                        <p:cTn id="70" dur="1000" fill="hold"/>
                                        <p:tgtEl>
                                          <p:spTgt spid="100"/>
                                        </p:tgtEl>
                                        <p:attrNameLst>
                                          <p:attrName>fillcolor</p:attrName>
                                        </p:attrNameLst>
                                      </p:cBhvr>
                                      <p:to>
                                        <a:srgbClr val="8989FE"/>
                                      </p:to>
                                    </p:animClr>
                                    <p:set>
                                      <p:cBhvr>
                                        <p:cTn id="71" dur="1000" fill="hold"/>
                                        <p:tgtEl>
                                          <p:spTgt spid="100"/>
                                        </p:tgtEl>
                                        <p:attrNameLst>
                                          <p:attrName>fill.type</p:attrName>
                                        </p:attrNameLst>
                                      </p:cBhvr>
                                      <p:to>
                                        <p:strVal val="solid"/>
                                      </p:to>
                                    </p:set>
                                    <p:set>
                                      <p:cBhvr>
                                        <p:cTn id="72" dur="1000" fill="hold"/>
                                        <p:tgtEl>
                                          <p:spTgt spid="100"/>
                                        </p:tgtEl>
                                        <p:attrNameLst>
                                          <p:attrName>fill.on</p:attrName>
                                        </p:attrNameLst>
                                      </p:cBhvr>
                                      <p:to>
                                        <p:strVal val="true"/>
                                      </p:to>
                                    </p:set>
                                  </p:childTnLst>
                                </p:cTn>
                              </p:par>
                              <p:par>
                                <p:cTn id="73" presetID="1" presetClass="emph" presetSubtype="10" repeatCount="3000" fill="hold" nodeType="withEffect">
                                  <p:stCondLst>
                                    <p:cond delay="0"/>
                                  </p:stCondLst>
                                  <p:childTnLst>
                                    <p:animClr clrSpc="hsl" dir="ccw">
                                      <p:cBhvr>
                                        <p:cTn id="74" dur="1000" fill="hold"/>
                                        <p:tgtEl>
                                          <p:spTgt spid="99"/>
                                        </p:tgtEl>
                                        <p:attrNameLst>
                                          <p:attrName>fillcolor</p:attrName>
                                        </p:attrNameLst>
                                      </p:cBhvr>
                                      <p:to>
                                        <a:srgbClr val="8989FE"/>
                                      </p:to>
                                    </p:animClr>
                                    <p:set>
                                      <p:cBhvr>
                                        <p:cTn id="75" dur="1000" fill="hold"/>
                                        <p:tgtEl>
                                          <p:spTgt spid="99"/>
                                        </p:tgtEl>
                                        <p:attrNameLst>
                                          <p:attrName>fill.type</p:attrName>
                                        </p:attrNameLst>
                                      </p:cBhvr>
                                      <p:to>
                                        <p:strVal val="solid"/>
                                      </p:to>
                                    </p:set>
                                    <p:set>
                                      <p:cBhvr>
                                        <p:cTn id="76" dur="1000" fill="hold"/>
                                        <p:tgtEl>
                                          <p:spTgt spid="99"/>
                                        </p:tgtEl>
                                        <p:attrNameLst>
                                          <p:attrName>fill.on</p:attrName>
                                        </p:attrNameLst>
                                      </p:cBhvr>
                                      <p:to>
                                        <p:strVal val="true"/>
                                      </p:to>
                                    </p:set>
                                  </p:childTnLst>
                                </p:cTn>
                              </p:par>
                              <p:par>
                                <p:cTn id="77" presetID="1" presetClass="emph" presetSubtype="10" repeatCount="3000" fill="hold" nodeType="withEffect">
                                  <p:stCondLst>
                                    <p:cond delay="0"/>
                                  </p:stCondLst>
                                  <p:childTnLst>
                                    <p:animClr clrSpc="hsl" dir="ccw">
                                      <p:cBhvr>
                                        <p:cTn id="78" dur="1000" fill="hold"/>
                                        <p:tgtEl>
                                          <p:spTgt spid="98"/>
                                        </p:tgtEl>
                                        <p:attrNameLst>
                                          <p:attrName>fillcolor</p:attrName>
                                        </p:attrNameLst>
                                      </p:cBhvr>
                                      <p:to>
                                        <a:srgbClr val="8989FE"/>
                                      </p:to>
                                    </p:animClr>
                                    <p:set>
                                      <p:cBhvr>
                                        <p:cTn id="79" dur="1000" fill="hold"/>
                                        <p:tgtEl>
                                          <p:spTgt spid="98"/>
                                        </p:tgtEl>
                                        <p:attrNameLst>
                                          <p:attrName>fill.type</p:attrName>
                                        </p:attrNameLst>
                                      </p:cBhvr>
                                      <p:to>
                                        <p:strVal val="solid"/>
                                      </p:to>
                                    </p:set>
                                    <p:set>
                                      <p:cBhvr>
                                        <p:cTn id="80" dur="1000" fill="hold"/>
                                        <p:tgtEl>
                                          <p:spTgt spid="98"/>
                                        </p:tgtEl>
                                        <p:attrNameLst>
                                          <p:attrName>fill.on</p:attrName>
                                        </p:attrNameLst>
                                      </p:cBhvr>
                                      <p:to>
                                        <p:strVal val="true"/>
                                      </p:to>
                                    </p:set>
                                  </p:childTnLst>
                                </p:cTn>
                              </p:par>
                            </p:childTnLst>
                          </p:cTn>
                        </p:par>
                        <p:par>
                          <p:cTn id="81" fill="hold">
                            <p:stCondLst>
                              <p:cond delay="5000"/>
                            </p:stCondLst>
                            <p:childTnLst>
                              <p:par>
                                <p:cTn id="82" presetID="1" presetClass="emph" presetSubtype="10" repeatCount="3000" fill="hold" nodeType="afterEffect">
                                  <p:stCondLst>
                                    <p:cond delay="0"/>
                                  </p:stCondLst>
                                  <p:childTnLst>
                                    <p:animClr clrSpc="hsl" dir="ccw">
                                      <p:cBhvr>
                                        <p:cTn id="83" dur="1000" fill="hold"/>
                                        <p:tgtEl>
                                          <p:spTgt spid="249"/>
                                        </p:tgtEl>
                                        <p:attrNameLst>
                                          <p:attrName>fillcolor</p:attrName>
                                        </p:attrNameLst>
                                      </p:cBhvr>
                                      <p:to>
                                        <a:srgbClr val="8989FE"/>
                                      </p:to>
                                    </p:animClr>
                                    <p:set>
                                      <p:cBhvr>
                                        <p:cTn id="84" dur="1000" fill="hold"/>
                                        <p:tgtEl>
                                          <p:spTgt spid="249"/>
                                        </p:tgtEl>
                                        <p:attrNameLst>
                                          <p:attrName>fill.type</p:attrName>
                                        </p:attrNameLst>
                                      </p:cBhvr>
                                      <p:to>
                                        <p:strVal val="solid"/>
                                      </p:to>
                                    </p:set>
                                    <p:set>
                                      <p:cBhvr>
                                        <p:cTn id="85" dur="1000" fill="hold"/>
                                        <p:tgtEl>
                                          <p:spTgt spid="249"/>
                                        </p:tgtEl>
                                        <p:attrNameLst>
                                          <p:attrName>fill.on</p:attrName>
                                        </p:attrNameLst>
                                      </p:cBhvr>
                                      <p:to>
                                        <p:strVal val="true"/>
                                      </p:to>
                                    </p:set>
                                  </p:childTnLst>
                                </p:cTn>
                              </p:par>
                            </p:childTnLst>
                          </p:cTn>
                        </p:par>
                        <p:par>
                          <p:cTn id="86" fill="hold">
                            <p:stCondLst>
                              <p:cond delay="8000"/>
                            </p:stCondLst>
                            <p:childTnLst>
                              <p:par>
                                <p:cTn id="87" presetID="1" presetClass="emph" presetSubtype="10" repeatCount="3000" fill="hold" nodeType="afterEffect">
                                  <p:stCondLst>
                                    <p:cond delay="0"/>
                                  </p:stCondLst>
                                  <p:childTnLst>
                                    <p:animClr clrSpc="hsl" dir="ccw">
                                      <p:cBhvr>
                                        <p:cTn id="88" dur="1000" fill="hold"/>
                                        <p:tgtEl>
                                          <p:spTgt spid="251"/>
                                        </p:tgtEl>
                                        <p:attrNameLst>
                                          <p:attrName>fillcolor</p:attrName>
                                        </p:attrNameLst>
                                      </p:cBhvr>
                                      <p:to>
                                        <a:srgbClr val="8989FE"/>
                                      </p:to>
                                    </p:animClr>
                                    <p:set>
                                      <p:cBhvr>
                                        <p:cTn id="89" dur="1000" fill="hold"/>
                                        <p:tgtEl>
                                          <p:spTgt spid="251"/>
                                        </p:tgtEl>
                                        <p:attrNameLst>
                                          <p:attrName>fill.type</p:attrName>
                                        </p:attrNameLst>
                                      </p:cBhvr>
                                      <p:to>
                                        <p:strVal val="solid"/>
                                      </p:to>
                                    </p:set>
                                    <p:set>
                                      <p:cBhvr>
                                        <p:cTn id="90" dur="1000" fill="hold"/>
                                        <p:tgtEl>
                                          <p:spTgt spid="251"/>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7" presetClass="emph" presetSubtype="6" repeatCount="2000" fill="hold" nodeType="clickEffect">
                                  <p:stCondLst>
                                    <p:cond delay="0"/>
                                  </p:stCondLst>
                                  <p:childTnLst>
                                    <p:animClr clrSpc="hsl" dir="cw">
                                      <p:cBhvr>
                                        <p:cTn id="94" dur="1000" fill="hold"/>
                                        <p:tgtEl>
                                          <p:spTgt spid="254"/>
                                        </p:tgtEl>
                                        <p:attrNameLst>
                                          <p:attrName>stroke.color</p:attrName>
                                        </p:attrNameLst>
                                      </p:cBhvr>
                                      <p:to>
                                        <a:srgbClr val="3FC7FF"/>
                                      </p:to>
                                    </p:animClr>
                                    <p:set>
                                      <p:cBhvr>
                                        <p:cTn id="95" dur="1000" fill="hold"/>
                                        <p:tgtEl>
                                          <p:spTgt spid="254"/>
                                        </p:tgtEl>
                                        <p:attrNameLst>
                                          <p:attrName>stroke.on</p:attrName>
                                        </p:attrNameLst>
                                      </p:cBhvr>
                                      <p:to>
                                        <p:strVal val="true"/>
                                      </p:to>
                                    </p:set>
                                  </p:childTnLst>
                                </p:cTn>
                              </p:par>
                            </p:childTnLst>
                          </p:cTn>
                        </p:par>
                        <p:par>
                          <p:cTn id="96" fill="hold">
                            <p:stCondLst>
                              <p:cond delay="2000"/>
                            </p:stCondLst>
                            <p:childTnLst>
                              <p:par>
                                <p:cTn id="97" presetID="10" presetClass="entr" presetSubtype="0" fill="hold" nodeType="afterEffect">
                                  <p:stCondLst>
                                    <p:cond delay="0"/>
                                  </p:stCondLst>
                                  <p:childTnLst>
                                    <p:set>
                                      <p:cBhvr>
                                        <p:cTn id="98" dur="1" fill="hold">
                                          <p:stCondLst>
                                            <p:cond delay="0"/>
                                          </p:stCondLst>
                                        </p:cTn>
                                        <p:tgtEl>
                                          <p:spTgt spid="270"/>
                                        </p:tgtEl>
                                        <p:attrNameLst>
                                          <p:attrName>style.visibility</p:attrName>
                                        </p:attrNameLst>
                                      </p:cBhvr>
                                      <p:to>
                                        <p:strVal val="visible"/>
                                      </p:to>
                                    </p:set>
                                    <p:animEffect transition="in" filter="fade">
                                      <p:cBhvr>
                                        <p:cTn id="99" dur="500"/>
                                        <p:tgtEl>
                                          <p:spTgt spid="270"/>
                                        </p:tgtEl>
                                      </p:cBhvr>
                                    </p:animEffect>
                                  </p:childTnLst>
                                </p:cTn>
                              </p:par>
                              <p:par>
                                <p:cTn id="100" presetID="10" presetClass="entr" presetSubtype="0" fill="hold" nodeType="withEffect">
                                  <p:stCondLst>
                                    <p:cond delay="0"/>
                                  </p:stCondLst>
                                  <p:childTnLst>
                                    <p:set>
                                      <p:cBhvr>
                                        <p:cTn id="101" dur="1" fill="hold">
                                          <p:stCondLst>
                                            <p:cond delay="0"/>
                                          </p:stCondLst>
                                        </p:cTn>
                                        <p:tgtEl>
                                          <p:spTgt spid="272"/>
                                        </p:tgtEl>
                                        <p:attrNameLst>
                                          <p:attrName>style.visibility</p:attrName>
                                        </p:attrNameLst>
                                      </p:cBhvr>
                                      <p:to>
                                        <p:strVal val="visible"/>
                                      </p:to>
                                    </p:set>
                                    <p:animEffect transition="in" filter="fade">
                                      <p:cBhvr>
                                        <p:cTn id="102" dur="500"/>
                                        <p:tgtEl>
                                          <p:spTgt spid="272"/>
                                        </p:tgtEl>
                                      </p:cBhvr>
                                    </p:animEffect>
                                  </p:childTnLst>
                                </p:cTn>
                              </p:par>
                              <p:par>
                                <p:cTn id="103" presetID="10" presetClass="entr" presetSubtype="0" fill="hold" nodeType="withEffect">
                                  <p:stCondLst>
                                    <p:cond delay="0"/>
                                  </p:stCondLst>
                                  <p:childTnLst>
                                    <p:set>
                                      <p:cBhvr>
                                        <p:cTn id="104" dur="1" fill="hold">
                                          <p:stCondLst>
                                            <p:cond delay="0"/>
                                          </p:stCondLst>
                                        </p:cTn>
                                        <p:tgtEl>
                                          <p:spTgt spid="273"/>
                                        </p:tgtEl>
                                        <p:attrNameLst>
                                          <p:attrName>style.visibility</p:attrName>
                                        </p:attrNameLst>
                                      </p:cBhvr>
                                      <p:to>
                                        <p:strVal val="visible"/>
                                      </p:to>
                                    </p:set>
                                    <p:animEffect transition="in" filter="fade">
                                      <p:cBhvr>
                                        <p:cTn id="105" dur="500"/>
                                        <p:tgtEl>
                                          <p:spTgt spid="273"/>
                                        </p:tgtEl>
                                      </p:cBhvr>
                                    </p:animEffect>
                                  </p:childTnLst>
                                </p:cTn>
                              </p:par>
                              <p:par>
                                <p:cTn id="106" presetID="10" presetClass="entr" presetSubtype="0" repeatCount="3000" fill="hold" grpId="0" nodeType="withEffect">
                                  <p:stCondLst>
                                    <p:cond delay="0"/>
                                  </p:stCondLst>
                                  <p:childTnLst>
                                    <p:set>
                                      <p:cBhvr>
                                        <p:cTn id="107" dur="1" fill="hold">
                                          <p:stCondLst>
                                            <p:cond delay="0"/>
                                          </p:stCondLst>
                                        </p:cTn>
                                        <p:tgtEl>
                                          <p:spTgt spid="267"/>
                                        </p:tgtEl>
                                        <p:attrNameLst>
                                          <p:attrName>style.visibility</p:attrName>
                                        </p:attrNameLst>
                                      </p:cBhvr>
                                      <p:to>
                                        <p:strVal val="visible"/>
                                      </p:to>
                                    </p:set>
                                    <p:animEffect transition="in" filter="fade">
                                      <p:cBhvr>
                                        <p:cTn id="108" dur="1000"/>
                                        <p:tgtEl>
                                          <p:spTgt spid="267"/>
                                        </p:tgtEl>
                                      </p:cBhvr>
                                    </p:animEffect>
                                  </p:childTnLst>
                                </p:cTn>
                              </p:par>
                              <p:par>
                                <p:cTn id="109" presetID="10" presetClass="entr" presetSubtype="0" repeatCount="3000" fill="hold" grpId="0" nodeType="withEffect">
                                  <p:stCondLst>
                                    <p:cond delay="0"/>
                                  </p:stCondLst>
                                  <p:childTnLst>
                                    <p:set>
                                      <p:cBhvr>
                                        <p:cTn id="110" dur="1" fill="hold">
                                          <p:stCondLst>
                                            <p:cond delay="0"/>
                                          </p:stCondLst>
                                        </p:cTn>
                                        <p:tgtEl>
                                          <p:spTgt spid="268"/>
                                        </p:tgtEl>
                                        <p:attrNameLst>
                                          <p:attrName>style.visibility</p:attrName>
                                        </p:attrNameLst>
                                      </p:cBhvr>
                                      <p:to>
                                        <p:strVal val="visible"/>
                                      </p:to>
                                    </p:set>
                                    <p:animEffect transition="in" filter="fade">
                                      <p:cBhvr>
                                        <p:cTn id="111" dur="1000"/>
                                        <p:tgtEl>
                                          <p:spTgt spid="268"/>
                                        </p:tgtEl>
                                      </p:cBhvr>
                                    </p:animEffect>
                                  </p:childTnLst>
                                </p:cTn>
                              </p:par>
                              <p:par>
                                <p:cTn id="112" presetID="10" presetClass="entr" presetSubtype="0" repeatCount="3000" fill="hold" grpId="0" nodeType="withEffect">
                                  <p:stCondLst>
                                    <p:cond delay="0"/>
                                  </p:stCondLst>
                                  <p:childTnLst>
                                    <p:set>
                                      <p:cBhvr>
                                        <p:cTn id="113" dur="1" fill="hold">
                                          <p:stCondLst>
                                            <p:cond delay="0"/>
                                          </p:stCondLst>
                                        </p:cTn>
                                        <p:tgtEl>
                                          <p:spTgt spid="269"/>
                                        </p:tgtEl>
                                        <p:attrNameLst>
                                          <p:attrName>style.visibility</p:attrName>
                                        </p:attrNameLst>
                                      </p:cBhvr>
                                      <p:to>
                                        <p:strVal val="visible"/>
                                      </p:to>
                                    </p:set>
                                    <p:animEffect transition="in" filter="fade">
                                      <p:cBhvr>
                                        <p:cTn id="114" dur="10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animBg="1"/>
      <p:bldP spid="268" grpId="0" animBg="1"/>
      <p:bldP spid="26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585466" y="510073"/>
            <a:ext cx="10726024" cy="576000"/>
          </a:xfrm>
        </p:spPr>
        <p:txBody>
          <a:bodyPr/>
          <a:lstStyle/>
          <a:p>
            <a:r>
              <a:rPr lang="en-US" altLang="zh-CN" sz="2800" dirty="0"/>
              <a:t>UseCase2- Knowledge based Device as a Service</a:t>
            </a:r>
            <a:br>
              <a:rPr lang="en-US" altLang="zh-CN" sz="2800" dirty="0"/>
            </a:br>
            <a:r>
              <a:rPr lang="en-US" altLang="zh-CN" sz="2800" dirty="0"/>
              <a:t> Work scope </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16</a:t>
            </a:fld>
            <a:endParaRPr lang="en-US" dirty="0"/>
          </a:p>
        </p:txBody>
      </p:sp>
      <p:sp>
        <p:nvSpPr>
          <p:cNvPr id="114" name="Rechteck 7">
            <a:extLst>
              <a:ext uri="{FF2B5EF4-FFF2-40B4-BE49-F238E27FC236}">
                <a16:creationId xmlns:a16="http://schemas.microsoft.com/office/drawing/2014/main" id="{64742ED4-6353-97F7-1B90-DED3B22F2DE9}"/>
              </a:ext>
            </a:extLst>
          </p:cNvPr>
          <p:cNvSpPr>
            <a:spLocks/>
          </p:cNvSpPr>
          <p:nvPr/>
        </p:nvSpPr>
        <p:spPr bwMode="gray">
          <a:xfrm>
            <a:off x="411162" y="1472879"/>
            <a:ext cx="5644470" cy="3877985"/>
          </a:xfrm>
          <a:prstGeom prst="rect">
            <a:avLst/>
          </a:prstGeom>
        </p:spPr>
        <p:txBody>
          <a:bodyPr wrap="square" lIns="0" tIns="0" rIns="0" bIns="0">
            <a:spAutoFit/>
          </a:bodyPr>
          <a:lstStyle/>
          <a:p>
            <a:pPr>
              <a:spcBef>
                <a:spcPts val="0"/>
              </a:spcBef>
              <a:spcAft>
                <a:spcPts val="0"/>
              </a:spcAft>
            </a:pPr>
            <a:r>
              <a:rPr lang="en-US" altLang="zh-CN" sz="2200" dirty="0">
                <a:solidFill>
                  <a:srgbClr val="50BED7"/>
                </a:solidFill>
                <a:latin typeface="Arial"/>
                <a:ea typeface="Arial Unicode MS"/>
                <a:cs typeface="Arial Unicode MS"/>
              </a:rPr>
              <a:t>Step1 Proof of concept to config algorithms selection and parameters definition</a:t>
            </a:r>
            <a:br>
              <a:rPr lang="en-US" sz="1600" b="1" dirty="0">
                <a:solidFill>
                  <a:srgbClr val="0F8287"/>
                </a:solidFill>
                <a:latin typeface="Arial"/>
                <a:ea typeface="Arial Unicode MS"/>
                <a:cs typeface="Arial Unicode MS"/>
              </a:rPr>
            </a:br>
            <a:endParaRPr lang="en-US" sz="1600" b="1" dirty="0">
              <a:solidFill>
                <a:srgbClr val="0F8287"/>
              </a:solidFill>
              <a:latin typeface="Arial"/>
              <a:ea typeface="Arial Unicode MS"/>
              <a:cs typeface="Arial Unicode MS"/>
            </a:endParaRP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Rebuild DaaS-</a:t>
            </a:r>
            <a:r>
              <a:rPr lang="en-US" altLang="zh-CN" sz="1600" dirty="0" err="1">
                <a:latin typeface="Arial"/>
                <a:ea typeface="Arial Unicode MS"/>
                <a:cs typeface="Arial Unicode MS"/>
              </a:rPr>
              <a:t>MaintLoop</a:t>
            </a:r>
            <a:r>
              <a:rPr lang="en-US" altLang="zh-CN" sz="1600" dirty="0">
                <a:latin typeface="Arial"/>
                <a:ea typeface="Arial Unicode MS"/>
                <a:cs typeface="Arial Unicode MS"/>
              </a:rPr>
              <a:t> schema configuration, add </a:t>
            </a:r>
            <a:r>
              <a:rPr lang="en-US" altLang="zh-CN" sz="1600" b="1" dirty="0">
                <a:latin typeface="Arial"/>
                <a:ea typeface="Arial Unicode MS"/>
                <a:cs typeface="Arial Unicode MS"/>
              </a:rPr>
              <a:t>context broker</a:t>
            </a:r>
            <a:r>
              <a:rPr lang="en-US" altLang="zh-CN" sz="1600" dirty="0">
                <a:latin typeface="Arial"/>
                <a:ea typeface="Arial Unicode MS"/>
                <a:cs typeface="Arial Unicode MS"/>
              </a:rPr>
              <a:t> and </a:t>
            </a:r>
            <a:r>
              <a:rPr lang="en-US" altLang="zh-CN" sz="1600" b="1" dirty="0">
                <a:latin typeface="Arial"/>
                <a:ea typeface="Arial Unicode MS"/>
                <a:cs typeface="Arial Unicode MS"/>
              </a:rPr>
              <a:t>context</a:t>
            </a:r>
            <a:r>
              <a:rPr lang="en-US" altLang="zh-CN" sz="1600" dirty="0">
                <a:latin typeface="Arial"/>
                <a:ea typeface="Arial Unicode MS"/>
                <a:cs typeface="Arial Unicode MS"/>
              </a:rPr>
              <a:t> </a:t>
            </a:r>
            <a:r>
              <a:rPr lang="en-US" altLang="zh-CN" sz="1600" b="1" dirty="0">
                <a:latin typeface="Arial"/>
                <a:ea typeface="Arial Unicode MS"/>
                <a:cs typeface="Arial Unicode MS"/>
              </a:rPr>
              <a:t>analysis</a:t>
            </a:r>
            <a:r>
              <a:rPr lang="en-US" altLang="zh-CN" sz="1600" dirty="0">
                <a:latin typeface="Arial"/>
                <a:ea typeface="Arial Unicode MS"/>
                <a:cs typeface="Arial Unicode MS"/>
              </a:rPr>
              <a:t> modules to support knowledge extraction.</a:t>
            </a: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Select algorithms and configure parameters based on knowledge:</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Friendly design to show which station have pre-experience and knowledge and support presentation.</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a:t>
            </a:r>
            <a:r>
              <a:rPr lang="en-US" altLang="zh-CN" sz="1600" b="1" dirty="0">
                <a:latin typeface="Arial"/>
                <a:ea typeface="Arial Unicode MS"/>
                <a:cs typeface="Arial Unicode MS"/>
              </a:rPr>
              <a:t>Arrange algorithms </a:t>
            </a:r>
            <a:r>
              <a:rPr lang="en-US" altLang="zh-CN" sz="1600" dirty="0">
                <a:latin typeface="Arial"/>
                <a:ea typeface="Arial Unicode MS"/>
                <a:cs typeface="Arial Unicode MS"/>
              </a:rPr>
              <a:t>to stations (</a:t>
            </a:r>
            <a:r>
              <a:rPr lang="en-US" altLang="zh-CN" sz="1600" b="1" dirty="0">
                <a:latin typeface="Arial"/>
                <a:ea typeface="Arial Unicode MS"/>
                <a:cs typeface="Arial Unicode MS"/>
              </a:rPr>
              <a:t>provide the score </a:t>
            </a:r>
            <a:r>
              <a:rPr lang="en-US" altLang="zh-CN" sz="1600" dirty="0">
                <a:latin typeface="Arial"/>
                <a:ea typeface="Arial Unicode MS"/>
                <a:cs typeface="Arial Unicode MS"/>
              </a:rPr>
              <a:t>based on </a:t>
            </a:r>
            <a:r>
              <a:rPr lang="en-US" altLang="zh-CN" sz="1600" dirty="0" err="1">
                <a:latin typeface="Arial"/>
                <a:ea typeface="Arial Unicode MS"/>
                <a:cs typeface="Arial Unicode MS"/>
              </a:rPr>
              <a:t>MaintLoop</a:t>
            </a:r>
            <a:r>
              <a:rPr lang="en-US" altLang="zh-CN" sz="1600" dirty="0">
                <a:latin typeface="Arial"/>
                <a:ea typeface="Arial Unicode MS"/>
                <a:cs typeface="Arial Unicode MS"/>
              </a:rPr>
              <a:t> history samples data).</a:t>
            </a:r>
          </a:p>
          <a:p>
            <a:pPr marL="365760" indent="-91440">
              <a:spcBef>
                <a:spcPts val="0"/>
              </a:spcBef>
              <a:spcAft>
                <a:spcPts val="0"/>
              </a:spcAft>
              <a:buFont typeface="Arial" panose="020B0604020202020204" pitchFamily="34" charset="0"/>
              <a:buChar char="•"/>
            </a:pPr>
            <a:r>
              <a:rPr lang="en-US" altLang="zh-CN" sz="1600" dirty="0">
                <a:ea typeface="Arial Unicode MS"/>
                <a:cs typeface="Arial Unicode MS"/>
              </a:rPr>
              <a:t>Support </a:t>
            </a:r>
            <a:r>
              <a:rPr lang="en-US" altLang="zh-CN" sz="1600" b="1" dirty="0">
                <a:ea typeface="Arial Unicode MS"/>
                <a:cs typeface="Arial Unicode MS"/>
              </a:rPr>
              <a:t>automatic matching </a:t>
            </a:r>
            <a:r>
              <a:rPr lang="en-US" altLang="zh-CN" sz="1600" dirty="0">
                <a:ea typeface="Arial Unicode MS"/>
                <a:cs typeface="Arial Unicode MS"/>
              </a:rPr>
              <a:t>and </a:t>
            </a:r>
            <a:r>
              <a:rPr lang="en-US" altLang="zh-CN" sz="1600" b="1" dirty="0">
                <a:ea typeface="Arial Unicode MS"/>
                <a:cs typeface="Arial Unicode MS"/>
              </a:rPr>
              <a:t>manually definition </a:t>
            </a:r>
            <a:r>
              <a:rPr lang="en-US" altLang="zh-CN" sz="1600" dirty="0">
                <a:ea typeface="Arial Unicode MS"/>
                <a:cs typeface="Arial Unicode MS"/>
              </a:rPr>
              <a:t>for the knowledge value or parameters to algorithms.</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Logs for knowledge based algorithm score.</a:t>
            </a:r>
          </a:p>
        </p:txBody>
      </p:sp>
      <p:sp>
        <p:nvSpPr>
          <p:cNvPr id="115" name="Rechteck 7">
            <a:extLst>
              <a:ext uri="{FF2B5EF4-FFF2-40B4-BE49-F238E27FC236}">
                <a16:creationId xmlns:a16="http://schemas.microsoft.com/office/drawing/2014/main" id="{E75158B5-7A50-1F4E-E643-C6D4CAD8DC64}"/>
              </a:ext>
            </a:extLst>
          </p:cNvPr>
          <p:cNvSpPr>
            <a:spLocks/>
          </p:cNvSpPr>
          <p:nvPr/>
        </p:nvSpPr>
        <p:spPr bwMode="gray">
          <a:xfrm>
            <a:off x="6521845" y="1472879"/>
            <a:ext cx="5426999" cy="3877985"/>
          </a:xfrm>
          <a:prstGeom prst="rect">
            <a:avLst/>
          </a:prstGeom>
        </p:spPr>
        <p:txBody>
          <a:bodyPr wrap="square" lIns="0" tIns="0" rIns="0" bIns="0">
            <a:spAutoFit/>
          </a:bodyPr>
          <a:lstStyle/>
          <a:p>
            <a:pPr>
              <a:spcBef>
                <a:spcPts val="0"/>
              </a:spcBef>
              <a:spcAft>
                <a:spcPts val="0"/>
              </a:spcAft>
            </a:pPr>
            <a:r>
              <a:rPr lang="en-US" altLang="zh-CN" sz="2200" dirty="0">
                <a:solidFill>
                  <a:srgbClr val="50BED7"/>
                </a:solidFill>
                <a:latin typeface="Arial"/>
                <a:ea typeface="Arial Unicode MS"/>
                <a:cs typeface="Arial Unicode MS"/>
              </a:rPr>
              <a:t>Step2 Proof of concept to enrich knowledge graph by Sample Label and feedback.</a:t>
            </a:r>
            <a:br>
              <a:rPr lang="en-US" sz="1600" b="1" dirty="0">
                <a:solidFill>
                  <a:srgbClr val="0F8287"/>
                </a:solidFill>
                <a:latin typeface="Arial"/>
                <a:ea typeface="Arial Unicode MS"/>
                <a:cs typeface="Arial Unicode MS"/>
              </a:rPr>
            </a:br>
            <a:endParaRPr lang="en-US" sz="1600" b="1" dirty="0">
              <a:solidFill>
                <a:srgbClr val="0F8287"/>
              </a:solidFill>
              <a:latin typeface="Arial"/>
              <a:ea typeface="Arial Unicode MS"/>
              <a:cs typeface="Arial Unicode MS"/>
            </a:endParaRP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Make up for the lack of prior knowledge, </a:t>
            </a:r>
            <a:r>
              <a:rPr lang="en-US" altLang="zh-CN" sz="1600" dirty="0" err="1">
                <a:latin typeface="Arial"/>
                <a:ea typeface="Arial Unicode MS"/>
                <a:cs typeface="Arial Unicode MS"/>
              </a:rPr>
              <a:t>MaintLoop</a:t>
            </a:r>
            <a:r>
              <a:rPr lang="en-US" altLang="zh-CN" sz="1600" dirty="0">
                <a:latin typeface="Arial"/>
                <a:ea typeface="Arial Unicode MS"/>
                <a:cs typeface="Arial Unicode MS"/>
              </a:rPr>
              <a:t>-Sample Management can help user to check the on-site abnormal and data features to accumulate know-how.</a:t>
            </a:r>
          </a:p>
          <a:p>
            <a:pPr marL="285750" indent="-285750">
              <a:spcBef>
                <a:spcPts val="0"/>
              </a:spcBef>
              <a:spcAft>
                <a:spcPts val="0"/>
              </a:spcAft>
              <a:buFont typeface="Wingdings" panose="05000000000000000000" pitchFamily="2" charset="2"/>
              <a:buChar char="Ø"/>
            </a:pPr>
            <a:r>
              <a:rPr lang="en-US" altLang="zh-CN" sz="1600" dirty="0">
                <a:latin typeface="Arial"/>
                <a:ea typeface="Arial Unicode MS"/>
                <a:cs typeface="Arial Unicode MS"/>
              </a:rPr>
              <a:t>Enrich the knowledge graph by sample label and feedback comments:</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Extract context info of labels and feedback comments as entities to integration with Modeling Tool.</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Capture data features or calculate statistics features for maintenance knowledge. </a:t>
            </a:r>
          </a:p>
          <a:p>
            <a:pPr marL="365760" indent="-91440">
              <a:spcBef>
                <a:spcPts val="0"/>
              </a:spcBef>
              <a:spcAft>
                <a:spcPts val="0"/>
              </a:spcAft>
              <a:buFont typeface="Arial" panose="020B0604020202020204" pitchFamily="34" charset="0"/>
              <a:buChar char="•"/>
            </a:pPr>
            <a:r>
              <a:rPr lang="en-US" altLang="zh-CN" sz="1600" dirty="0">
                <a:latin typeface="Arial"/>
                <a:ea typeface="Arial Unicode MS"/>
                <a:cs typeface="Arial Unicode MS"/>
              </a:rPr>
              <a:t> Enhance the correlation relationship based on the feedback and data</a:t>
            </a:r>
            <a:r>
              <a:rPr lang="en-US" altLang="zh-CN" sz="1600" dirty="0">
                <a:ea typeface="Arial Unicode MS"/>
                <a:cs typeface="Arial Unicode MS"/>
              </a:rPr>
              <a:t>. (e.g. “</a:t>
            </a:r>
            <a:r>
              <a:rPr lang="zh-CN" altLang="en-US" sz="1600" dirty="0">
                <a:ea typeface="Arial Unicode MS"/>
                <a:cs typeface="Arial Unicode MS"/>
              </a:rPr>
              <a:t>此次故障由</a:t>
            </a:r>
            <a:r>
              <a:rPr lang="zh-CN" altLang="en-US" sz="1600" dirty="0">
                <a:solidFill>
                  <a:srgbClr val="FF0000"/>
                </a:solidFill>
                <a:ea typeface="Arial Unicode MS"/>
                <a:cs typeface="Arial Unicode MS"/>
              </a:rPr>
              <a:t>尼龙条磨损</a:t>
            </a:r>
            <a:r>
              <a:rPr lang="zh-CN" altLang="en-US" sz="1600" dirty="0">
                <a:ea typeface="Arial Unicode MS"/>
                <a:cs typeface="Arial Unicode MS"/>
              </a:rPr>
              <a:t>引起，致使</a:t>
            </a:r>
            <a:r>
              <a:rPr lang="zh-CN" altLang="en-US" sz="1600" dirty="0">
                <a:solidFill>
                  <a:srgbClr val="FF0000"/>
                </a:solidFill>
                <a:ea typeface="Arial Unicode MS"/>
                <a:cs typeface="Arial Unicode MS"/>
              </a:rPr>
              <a:t>链条</a:t>
            </a:r>
            <a:r>
              <a:rPr lang="zh-CN" altLang="en-US" sz="1600" dirty="0">
                <a:ea typeface="Arial Unicode MS"/>
                <a:cs typeface="Arial Unicode MS"/>
              </a:rPr>
              <a:t>振动</a:t>
            </a:r>
            <a:r>
              <a:rPr lang="zh-CN" altLang="en-US" sz="1600" dirty="0">
                <a:solidFill>
                  <a:srgbClr val="FF0000"/>
                </a:solidFill>
                <a:ea typeface="Arial Unicode MS"/>
                <a:cs typeface="Arial Unicode MS"/>
              </a:rPr>
              <a:t>异常</a:t>
            </a:r>
            <a:r>
              <a:rPr lang="en-US" altLang="zh-CN" sz="1600" dirty="0">
                <a:ea typeface="Arial Unicode MS"/>
                <a:cs typeface="Arial Unicode MS"/>
              </a:rPr>
              <a:t>”)</a:t>
            </a:r>
          </a:p>
        </p:txBody>
      </p:sp>
      <p:pic>
        <p:nvPicPr>
          <p:cNvPr id="6" name="Picture 5">
            <a:extLst>
              <a:ext uri="{FF2B5EF4-FFF2-40B4-BE49-F238E27FC236}">
                <a16:creationId xmlns:a16="http://schemas.microsoft.com/office/drawing/2014/main" id="{6A6050FF-A46E-05B9-1392-14EC8A32E60C}"/>
              </a:ext>
            </a:extLst>
          </p:cNvPr>
          <p:cNvPicPr>
            <a:picLocks noChangeAspect="1"/>
          </p:cNvPicPr>
          <p:nvPr/>
        </p:nvPicPr>
        <p:blipFill>
          <a:blip r:embed="rId2"/>
          <a:stretch>
            <a:fillRect/>
          </a:stretch>
        </p:blipFill>
        <p:spPr>
          <a:xfrm>
            <a:off x="633572" y="5385121"/>
            <a:ext cx="1122815" cy="1026966"/>
          </a:xfrm>
          <a:prstGeom prst="rect">
            <a:avLst/>
          </a:prstGeom>
        </p:spPr>
      </p:pic>
      <p:pic>
        <p:nvPicPr>
          <p:cNvPr id="9" name="Picture 8">
            <a:extLst>
              <a:ext uri="{FF2B5EF4-FFF2-40B4-BE49-F238E27FC236}">
                <a16:creationId xmlns:a16="http://schemas.microsoft.com/office/drawing/2014/main" id="{5BB2ACDE-1B0B-F352-E5DA-8CDACD89B693}"/>
              </a:ext>
            </a:extLst>
          </p:cNvPr>
          <p:cNvPicPr>
            <a:picLocks noChangeAspect="1"/>
          </p:cNvPicPr>
          <p:nvPr/>
        </p:nvPicPr>
        <p:blipFill>
          <a:blip r:embed="rId3"/>
          <a:stretch>
            <a:fillRect/>
          </a:stretch>
        </p:blipFill>
        <p:spPr>
          <a:xfrm>
            <a:off x="1978797" y="5350864"/>
            <a:ext cx="3351345" cy="932283"/>
          </a:xfrm>
          <a:prstGeom prst="rect">
            <a:avLst/>
          </a:prstGeom>
        </p:spPr>
      </p:pic>
      <p:pic>
        <p:nvPicPr>
          <p:cNvPr id="14" name="Picture 13">
            <a:extLst>
              <a:ext uri="{FF2B5EF4-FFF2-40B4-BE49-F238E27FC236}">
                <a16:creationId xmlns:a16="http://schemas.microsoft.com/office/drawing/2014/main" id="{EE91615F-A455-83F6-277B-6F0E7E05A996}"/>
              </a:ext>
            </a:extLst>
          </p:cNvPr>
          <p:cNvPicPr>
            <a:picLocks noChangeAspect="1"/>
          </p:cNvPicPr>
          <p:nvPr/>
        </p:nvPicPr>
        <p:blipFill>
          <a:blip r:embed="rId4"/>
          <a:stretch>
            <a:fillRect/>
          </a:stretch>
        </p:blipFill>
        <p:spPr>
          <a:xfrm>
            <a:off x="9551358" y="5479804"/>
            <a:ext cx="1149390" cy="932283"/>
          </a:xfrm>
          <a:prstGeom prst="rect">
            <a:avLst/>
          </a:prstGeom>
        </p:spPr>
      </p:pic>
      <p:pic>
        <p:nvPicPr>
          <p:cNvPr id="17" name="Picture 16">
            <a:extLst>
              <a:ext uri="{FF2B5EF4-FFF2-40B4-BE49-F238E27FC236}">
                <a16:creationId xmlns:a16="http://schemas.microsoft.com/office/drawing/2014/main" id="{11CAB62A-DCE7-5BC7-9197-7E55A832A89C}"/>
              </a:ext>
            </a:extLst>
          </p:cNvPr>
          <p:cNvPicPr>
            <a:picLocks noChangeAspect="1"/>
          </p:cNvPicPr>
          <p:nvPr/>
        </p:nvPicPr>
        <p:blipFill>
          <a:blip r:embed="rId5"/>
          <a:stretch>
            <a:fillRect/>
          </a:stretch>
        </p:blipFill>
        <p:spPr>
          <a:xfrm>
            <a:off x="7329108" y="5479804"/>
            <a:ext cx="1772024" cy="932283"/>
          </a:xfrm>
          <a:prstGeom prst="rect">
            <a:avLst/>
          </a:prstGeom>
        </p:spPr>
      </p:pic>
    </p:spTree>
    <p:extLst>
      <p:ext uri="{BB962C8B-B14F-4D97-AF65-F5344CB8AC3E}">
        <p14:creationId xmlns:p14="http://schemas.microsoft.com/office/powerpoint/2010/main" val="205993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p:txBody>
          <a:bodyPr/>
          <a:lstStyle/>
          <a:p>
            <a:r>
              <a:rPr lang="en-US" altLang="zh-CN" sz="2800" dirty="0"/>
              <a:t>Outline</a:t>
            </a: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17</a:t>
            </a:fld>
            <a:endParaRPr lang="en-US" dirty="0"/>
          </a:p>
        </p:txBody>
      </p:sp>
      <p:pic>
        <p:nvPicPr>
          <p:cNvPr id="6" name="Graphic 5" descr="Badge 1 with solid fill">
            <a:extLst>
              <a:ext uri="{FF2B5EF4-FFF2-40B4-BE49-F238E27FC236}">
                <a16:creationId xmlns:a16="http://schemas.microsoft.com/office/drawing/2014/main" id="{A6FFC941-2BF7-64B3-4007-60F6C5A67F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7112" y="1879255"/>
            <a:ext cx="597190" cy="597190"/>
          </a:xfrm>
          <a:prstGeom prst="rect">
            <a:avLst/>
          </a:prstGeom>
        </p:spPr>
      </p:pic>
      <p:sp>
        <p:nvSpPr>
          <p:cNvPr id="7" name="Title 1">
            <a:extLst>
              <a:ext uri="{FF2B5EF4-FFF2-40B4-BE49-F238E27FC236}">
                <a16:creationId xmlns:a16="http://schemas.microsoft.com/office/drawing/2014/main" id="{6FFCE9AA-15BE-B791-C118-3C24BE90A5A1}"/>
              </a:ext>
            </a:extLst>
          </p:cNvPr>
          <p:cNvSpPr txBox="1">
            <a:spLocks/>
          </p:cNvSpPr>
          <p:nvPr/>
        </p:nvSpPr>
        <p:spPr>
          <a:xfrm>
            <a:off x="2103924" y="1764858"/>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Background and</a:t>
            </a:r>
            <a:r>
              <a:rPr lang="zh-CN" altLang="en-US" dirty="0">
                <a:solidFill>
                  <a:schemeClr val="tx1"/>
                </a:solidFill>
              </a:rPr>
              <a:t> </a:t>
            </a:r>
            <a:r>
              <a:rPr lang="en-US" altLang="zh-CN" dirty="0">
                <a:solidFill>
                  <a:schemeClr val="tx1"/>
                </a:solidFill>
              </a:rPr>
              <a:t>Business</a:t>
            </a:r>
            <a:r>
              <a:rPr lang="zh-CN" altLang="en-US" dirty="0">
                <a:solidFill>
                  <a:schemeClr val="tx1"/>
                </a:solidFill>
              </a:rPr>
              <a:t> </a:t>
            </a:r>
            <a:r>
              <a:rPr lang="en-US" altLang="zh-CN" dirty="0">
                <a:solidFill>
                  <a:schemeClr val="tx1"/>
                </a:solidFill>
              </a:rPr>
              <a:t>Scenarios</a:t>
            </a:r>
            <a:endParaRPr lang="en-US" dirty="0">
              <a:solidFill>
                <a:schemeClr val="tx1"/>
              </a:solidFill>
            </a:endParaRPr>
          </a:p>
        </p:txBody>
      </p:sp>
      <p:sp>
        <p:nvSpPr>
          <p:cNvPr id="9" name="Title 1">
            <a:extLst>
              <a:ext uri="{FF2B5EF4-FFF2-40B4-BE49-F238E27FC236}">
                <a16:creationId xmlns:a16="http://schemas.microsoft.com/office/drawing/2014/main" id="{9D84E2AE-5751-0523-F16D-095A19880C12}"/>
              </a:ext>
            </a:extLst>
          </p:cNvPr>
          <p:cNvSpPr txBox="1">
            <a:spLocks/>
          </p:cNvSpPr>
          <p:nvPr/>
        </p:nvSpPr>
        <p:spPr>
          <a:xfrm>
            <a:off x="2103924" y="275731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dirty="0">
                <a:solidFill>
                  <a:schemeClr val="tx1"/>
                </a:solidFill>
              </a:rPr>
              <a:t>Use-Cases and Technical Solution</a:t>
            </a:r>
          </a:p>
        </p:txBody>
      </p:sp>
      <p:pic>
        <p:nvPicPr>
          <p:cNvPr id="11" name="Graphic 10" descr="Badge with solid fill">
            <a:extLst>
              <a:ext uri="{FF2B5EF4-FFF2-40B4-BE49-F238E27FC236}">
                <a16:creationId xmlns:a16="http://schemas.microsoft.com/office/drawing/2014/main" id="{8746D5A4-C359-4693-3CC3-4CE041E65B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7112" y="2831810"/>
            <a:ext cx="597190" cy="597190"/>
          </a:xfrm>
          <a:prstGeom prst="rect">
            <a:avLst/>
          </a:prstGeom>
        </p:spPr>
      </p:pic>
      <p:sp>
        <p:nvSpPr>
          <p:cNvPr id="12" name="Title 1">
            <a:extLst>
              <a:ext uri="{FF2B5EF4-FFF2-40B4-BE49-F238E27FC236}">
                <a16:creationId xmlns:a16="http://schemas.microsoft.com/office/drawing/2014/main" id="{FB41AC21-00DD-D47B-D275-528C546DD1E4}"/>
              </a:ext>
            </a:extLst>
          </p:cNvPr>
          <p:cNvSpPr txBox="1">
            <a:spLocks/>
          </p:cNvSpPr>
          <p:nvPr/>
        </p:nvSpPr>
        <p:spPr>
          <a:xfrm>
            <a:off x="2103923" y="3732377"/>
            <a:ext cx="9863997" cy="576000"/>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r>
              <a:rPr lang="en-US" altLang="zh-CN" dirty="0">
                <a:solidFill>
                  <a:schemeClr val="tx1"/>
                </a:solidFill>
              </a:rPr>
              <a:t>Summary and Q&amp;A</a:t>
            </a:r>
            <a:endParaRPr lang="en-US" dirty="0">
              <a:solidFill>
                <a:schemeClr val="tx1"/>
              </a:solidFill>
            </a:endParaRPr>
          </a:p>
        </p:txBody>
      </p:sp>
      <p:pic>
        <p:nvPicPr>
          <p:cNvPr id="15" name="Graphic 14" descr="Badge 3 with solid fill">
            <a:extLst>
              <a:ext uri="{FF2B5EF4-FFF2-40B4-BE49-F238E27FC236}">
                <a16:creationId xmlns:a16="http://schemas.microsoft.com/office/drawing/2014/main" id="{E34DBBAF-8DC1-A462-C98A-91E218029E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57111" y="3816802"/>
            <a:ext cx="597190" cy="597190"/>
          </a:xfrm>
          <a:prstGeom prst="rect">
            <a:avLst/>
          </a:prstGeom>
        </p:spPr>
      </p:pic>
    </p:spTree>
    <p:extLst>
      <p:ext uri="{BB962C8B-B14F-4D97-AF65-F5344CB8AC3E}">
        <p14:creationId xmlns:p14="http://schemas.microsoft.com/office/powerpoint/2010/main" val="126922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11163" y="694558"/>
            <a:ext cx="10726024" cy="576000"/>
          </a:xfrm>
        </p:spPr>
        <p:txBody>
          <a:bodyPr/>
          <a:lstStyle/>
          <a:p>
            <a:r>
              <a:rPr lang="en-US" altLang="zh-CN" sz="2800" dirty="0"/>
              <a:t>Summary</a:t>
            </a:r>
            <a:br>
              <a:rPr lang="en-US" sz="2800" dirty="0"/>
            </a:b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18</a:t>
            </a:fld>
            <a:endParaRPr lang="en-US" dirty="0"/>
          </a:p>
        </p:txBody>
      </p:sp>
      <p:pic>
        <p:nvPicPr>
          <p:cNvPr id="6" name="Picture 5">
            <a:extLst>
              <a:ext uri="{FF2B5EF4-FFF2-40B4-BE49-F238E27FC236}">
                <a16:creationId xmlns:a16="http://schemas.microsoft.com/office/drawing/2014/main" id="{2667B7C3-3368-2106-BEB4-DB478EB333AE}"/>
              </a:ext>
            </a:extLst>
          </p:cNvPr>
          <p:cNvPicPr>
            <a:picLocks noChangeAspect="1"/>
          </p:cNvPicPr>
          <p:nvPr/>
        </p:nvPicPr>
        <p:blipFill>
          <a:blip r:embed="rId2"/>
          <a:stretch>
            <a:fillRect/>
          </a:stretch>
        </p:blipFill>
        <p:spPr>
          <a:xfrm>
            <a:off x="1089448" y="1319187"/>
            <a:ext cx="4090160" cy="2471492"/>
          </a:xfrm>
          <a:prstGeom prst="rect">
            <a:avLst/>
          </a:prstGeom>
        </p:spPr>
      </p:pic>
      <p:sp>
        <p:nvSpPr>
          <p:cNvPr id="104" name="Freeform 1599">
            <a:extLst>
              <a:ext uri="{FF2B5EF4-FFF2-40B4-BE49-F238E27FC236}">
                <a16:creationId xmlns:a16="http://schemas.microsoft.com/office/drawing/2014/main" id="{0AFBAA37-9297-8CF9-3DD8-1B9FC4151F0C}"/>
              </a:ext>
            </a:extLst>
          </p:cNvPr>
          <p:cNvSpPr/>
          <p:nvPr/>
        </p:nvSpPr>
        <p:spPr>
          <a:xfrm>
            <a:off x="735162" y="1708594"/>
            <a:ext cx="3278243" cy="2113352"/>
          </a:xfrm>
          <a:custGeom>
            <a:avLst/>
            <a:gdLst/>
            <a:ahLst/>
            <a:cxnLst/>
            <a:rect l="0" t="0" r="0" b="0"/>
            <a:pathLst>
              <a:path w="2723365" h="1390100">
                <a:moveTo>
                  <a:pt x="208250" y="1169423"/>
                </a:moveTo>
                <a:cubicBezTo>
                  <a:pt x="643679" y="1323202"/>
                  <a:pt x="1210229" y="1331890"/>
                  <a:pt x="1619716" y="1258041"/>
                </a:cubicBezTo>
                <a:cubicBezTo>
                  <a:pt x="2191173" y="1158996"/>
                  <a:pt x="2663065" y="1035625"/>
                  <a:pt x="2671478" y="768030"/>
                </a:cubicBezTo>
                <a:cubicBezTo>
                  <a:pt x="2679893" y="500436"/>
                  <a:pt x="2183460" y="177238"/>
                  <a:pt x="1363787" y="119027"/>
                </a:cubicBezTo>
                <a:cubicBezTo>
                  <a:pt x="452258" y="54736"/>
                  <a:pt x="51887" y="490011"/>
                  <a:pt x="51887" y="629021"/>
                </a:cubicBezTo>
                <a:cubicBezTo>
                  <a:pt x="51887" y="768030"/>
                  <a:pt x="276263" y="896615"/>
                  <a:pt x="547619" y="931367"/>
                </a:cubicBezTo>
                <a:cubicBezTo>
                  <a:pt x="196329" y="986103"/>
                  <a:pt x="0" y="792357"/>
                  <a:pt x="0" y="629021"/>
                </a:cubicBezTo>
                <a:cubicBezTo>
                  <a:pt x="0" y="465684"/>
                  <a:pt x="331657" y="0"/>
                  <a:pt x="1367993" y="59079"/>
                </a:cubicBezTo>
                <a:cubicBezTo>
                  <a:pt x="2007465" y="95570"/>
                  <a:pt x="2723365" y="376196"/>
                  <a:pt x="2719159" y="768030"/>
                </a:cubicBezTo>
                <a:cubicBezTo>
                  <a:pt x="2714951" y="1159864"/>
                  <a:pt x="2014478" y="1256303"/>
                  <a:pt x="1595876" y="1323202"/>
                </a:cubicBezTo>
                <a:cubicBezTo>
                  <a:pt x="1177273" y="1390100"/>
                  <a:pt x="387750" y="1372724"/>
                  <a:pt x="208250" y="1169423"/>
                </a:cubicBezTo>
                <a:close/>
                <a:moveTo>
                  <a:pt x="-316407" y="5489562"/>
                </a:moveTo>
              </a:path>
            </a:pathLst>
          </a:custGeom>
          <a:solidFill>
            <a:srgbClr val="00D7A0"/>
          </a:solidFill>
          <a:ln w="20116800">
            <a:noFill/>
          </a:ln>
        </p:spPr>
        <p:style>
          <a:lnRef idx="2">
            <a:schemeClr val="accent1">
              <a:shade val="50000"/>
            </a:schemeClr>
          </a:lnRef>
          <a:fillRef idx="1">
            <a:schemeClr val="accent1"/>
          </a:fillRef>
          <a:effectRef idx="0">
            <a:schemeClr val="accent1"/>
          </a:effectRef>
          <a:fontRef idx="minor">
            <a:schemeClr val="lt1"/>
          </a:fontRef>
        </p:style>
      </p:sp>
      <p:pic>
        <p:nvPicPr>
          <p:cNvPr id="106" name="Picture 105">
            <a:extLst>
              <a:ext uri="{FF2B5EF4-FFF2-40B4-BE49-F238E27FC236}">
                <a16:creationId xmlns:a16="http://schemas.microsoft.com/office/drawing/2014/main" id="{A18A649D-CD62-15C3-648D-9311E313F70C}"/>
              </a:ext>
            </a:extLst>
          </p:cNvPr>
          <p:cNvPicPr>
            <a:picLocks noChangeAspect="1"/>
          </p:cNvPicPr>
          <p:nvPr/>
        </p:nvPicPr>
        <p:blipFill>
          <a:blip r:embed="rId3"/>
          <a:stretch>
            <a:fillRect/>
          </a:stretch>
        </p:blipFill>
        <p:spPr>
          <a:xfrm>
            <a:off x="5667160" y="1319187"/>
            <a:ext cx="4840231" cy="2844242"/>
          </a:xfrm>
          <a:prstGeom prst="rect">
            <a:avLst/>
          </a:prstGeom>
        </p:spPr>
      </p:pic>
      <p:sp>
        <p:nvSpPr>
          <p:cNvPr id="107" name="Freeform 1599">
            <a:extLst>
              <a:ext uri="{FF2B5EF4-FFF2-40B4-BE49-F238E27FC236}">
                <a16:creationId xmlns:a16="http://schemas.microsoft.com/office/drawing/2014/main" id="{BDE6B7FA-66E0-0351-C3FC-B76F4171209B}"/>
              </a:ext>
            </a:extLst>
          </p:cNvPr>
          <p:cNvSpPr/>
          <p:nvPr/>
        </p:nvSpPr>
        <p:spPr>
          <a:xfrm>
            <a:off x="7353300" y="1968500"/>
            <a:ext cx="927100" cy="701312"/>
          </a:xfrm>
          <a:custGeom>
            <a:avLst/>
            <a:gdLst/>
            <a:ahLst/>
            <a:cxnLst/>
            <a:rect l="0" t="0" r="0" b="0"/>
            <a:pathLst>
              <a:path w="2723365" h="1390100">
                <a:moveTo>
                  <a:pt x="208250" y="1169423"/>
                </a:moveTo>
                <a:cubicBezTo>
                  <a:pt x="643679" y="1323202"/>
                  <a:pt x="1210229" y="1331890"/>
                  <a:pt x="1619716" y="1258041"/>
                </a:cubicBezTo>
                <a:cubicBezTo>
                  <a:pt x="2191173" y="1158996"/>
                  <a:pt x="2663065" y="1035625"/>
                  <a:pt x="2671478" y="768030"/>
                </a:cubicBezTo>
                <a:cubicBezTo>
                  <a:pt x="2679893" y="500436"/>
                  <a:pt x="2183460" y="177238"/>
                  <a:pt x="1363787" y="119027"/>
                </a:cubicBezTo>
                <a:cubicBezTo>
                  <a:pt x="452258" y="54736"/>
                  <a:pt x="51887" y="490011"/>
                  <a:pt x="51887" y="629021"/>
                </a:cubicBezTo>
                <a:cubicBezTo>
                  <a:pt x="51887" y="768030"/>
                  <a:pt x="276263" y="896615"/>
                  <a:pt x="547619" y="931367"/>
                </a:cubicBezTo>
                <a:cubicBezTo>
                  <a:pt x="196329" y="986103"/>
                  <a:pt x="0" y="792357"/>
                  <a:pt x="0" y="629021"/>
                </a:cubicBezTo>
                <a:cubicBezTo>
                  <a:pt x="0" y="465684"/>
                  <a:pt x="331657" y="0"/>
                  <a:pt x="1367993" y="59079"/>
                </a:cubicBezTo>
                <a:cubicBezTo>
                  <a:pt x="2007465" y="95570"/>
                  <a:pt x="2723365" y="376196"/>
                  <a:pt x="2719159" y="768030"/>
                </a:cubicBezTo>
                <a:cubicBezTo>
                  <a:pt x="2714951" y="1159864"/>
                  <a:pt x="2014478" y="1256303"/>
                  <a:pt x="1595876" y="1323202"/>
                </a:cubicBezTo>
                <a:cubicBezTo>
                  <a:pt x="1177273" y="1390100"/>
                  <a:pt x="387750" y="1372724"/>
                  <a:pt x="208250" y="1169423"/>
                </a:cubicBezTo>
                <a:close/>
                <a:moveTo>
                  <a:pt x="-316407" y="5489562"/>
                </a:moveTo>
              </a:path>
            </a:pathLst>
          </a:custGeom>
          <a:solidFill>
            <a:srgbClr val="00D7A0"/>
          </a:solidFill>
          <a:ln w="38100">
            <a:solidFill>
              <a:srgbClr val="00D7A0">
                <a:alpha val="50000"/>
              </a:srgbClr>
            </a:solidFill>
          </a:ln>
        </p:spPr>
        <p:style>
          <a:lnRef idx="2">
            <a:schemeClr val="accent1">
              <a:shade val="50000"/>
            </a:schemeClr>
          </a:lnRef>
          <a:fillRef idx="1">
            <a:schemeClr val="accent1"/>
          </a:fillRef>
          <a:effectRef idx="0">
            <a:schemeClr val="accent1"/>
          </a:effectRef>
          <a:fontRef idx="minor">
            <a:schemeClr val="lt1"/>
          </a:fontRef>
        </p:style>
      </p:sp>
      <p:sp>
        <p:nvSpPr>
          <p:cNvPr id="108" name="Title 1">
            <a:extLst>
              <a:ext uri="{FF2B5EF4-FFF2-40B4-BE49-F238E27FC236}">
                <a16:creationId xmlns:a16="http://schemas.microsoft.com/office/drawing/2014/main" id="{2F78B99D-55EF-B79F-AFCC-903A4C5D2F95}"/>
              </a:ext>
            </a:extLst>
          </p:cNvPr>
          <p:cNvSpPr txBox="1">
            <a:spLocks/>
          </p:cNvSpPr>
          <p:nvPr/>
        </p:nvSpPr>
        <p:spPr>
          <a:xfrm>
            <a:off x="411162" y="4909007"/>
            <a:ext cx="11528171" cy="1077075"/>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marL="285750" indent="-285750">
              <a:lnSpc>
                <a:spcPct val="150000"/>
              </a:lnSpc>
              <a:buFont typeface="Wingdings" panose="05000000000000000000" pitchFamily="2" charset="2"/>
              <a:buChar char="q"/>
            </a:pPr>
            <a:r>
              <a:rPr lang="en-US" sz="1800" b="0" dirty="0">
                <a:solidFill>
                  <a:schemeClr val="tx1"/>
                </a:solidFill>
              </a:rPr>
              <a:t>Aggregate industry knowledge and make it editable and visualized.</a:t>
            </a:r>
          </a:p>
          <a:p>
            <a:pPr marL="285750" indent="-285750">
              <a:lnSpc>
                <a:spcPct val="150000"/>
              </a:lnSpc>
              <a:buFont typeface="Wingdings" panose="05000000000000000000" pitchFamily="2" charset="2"/>
              <a:buChar char="q"/>
            </a:pPr>
            <a:r>
              <a:rPr lang="en-US" sz="1800" b="0" dirty="0">
                <a:solidFill>
                  <a:schemeClr val="tx1"/>
                </a:solidFill>
              </a:rPr>
              <a:t>Combined with existing D</a:t>
            </a:r>
            <a:r>
              <a:rPr lang="en-US" altLang="zh-CN" sz="1800" b="0" dirty="0">
                <a:solidFill>
                  <a:schemeClr val="tx1"/>
                </a:solidFill>
              </a:rPr>
              <a:t>aa</a:t>
            </a:r>
            <a:r>
              <a:rPr lang="en-US" sz="1800" b="0" dirty="0">
                <a:solidFill>
                  <a:schemeClr val="tx1"/>
                </a:solidFill>
              </a:rPr>
              <a:t>S, </a:t>
            </a:r>
            <a:r>
              <a:rPr lang="en-US" altLang="zh-CN" sz="1800" b="0" dirty="0">
                <a:solidFill>
                  <a:schemeClr val="tx1"/>
                </a:solidFill>
              </a:rPr>
              <a:t>enhanced knowledge-based configuration,</a:t>
            </a:r>
            <a:r>
              <a:rPr lang="zh-CN" altLang="en-US" sz="1800" b="0" dirty="0">
                <a:solidFill>
                  <a:schemeClr val="tx1"/>
                </a:solidFill>
              </a:rPr>
              <a:t> </a:t>
            </a:r>
            <a:r>
              <a:rPr lang="en-US" altLang="zh-CN" sz="1800" b="0" dirty="0">
                <a:solidFill>
                  <a:schemeClr val="tx1"/>
                </a:solidFill>
              </a:rPr>
              <a:t>monitoring</a:t>
            </a:r>
            <a:r>
              <a:rPr lang="zh-CN" altLang="en-US" sz="1800" b="0" dirty="0">
                <a:solidFill>
                  <a:schemeClr val="tx1"/>
                </a:solidFill>
              </a:rPr>
              <a:t> </a:t>
            </a:r>
            <a:r>
              <a:rPr lang="en-US" altLang="zh-CN" sz="1800" b="0" dirty="0">
                <a:solidFill>
                  <a:schemeClr val="tx1"/>
                </a:solidFill>
              </a:rPr>
              <a:t>and</a:t>
            </a:r>
            <a:r>
              <a:rPr lang="zh-CN" altLang="en-US" sz="1800" b="0" dirty="0">
                <a:solidFill>
                  <a:schemeClr val="tx1"/>
                </a:solidFill>
              </a:rPr>
              <a:t> </a:t>
            </a:r>
            <a:r>
              <a:rPr lang="en-US" altLang="zh-CN" sz="1800" b="0" dirty="0">
                <a:solidFill>
                  <a:schemeClr val="tx1"/>
                </a:solidFill>
              </a:rPr>
              <a:t>predictive analysis.</a:t>
            </a:r>
          </a:p>
          <a:p>
            <a:pPr marL="285750" indent="-285750">
              <a:lnSpc>
                <a:spcPct val="150000"/>
              </a:lnSpc>
              <a:buFont typeface="Wingdings" panose="05000000000000000000" pitchFamily="2" charset="2"/>
              <a:buChar char="q"/>
            </a:pPr>
            <a:r>
              <a:rPr lang="en-US" sz="1800" b="0" dirty="0">
                <a:solidFill>
                  <a:schemeClr val="tx1"/>
                </a:solidFill>
              </a:rPr>
              <a:t>Current status focus on manufacturing staff and engineer scenario. In the future, with the verification of the knowledge models, build the knowledge repository by </a:t>
            </a:r>
            <a:r>
              <a:rPr lang="en-US" sz="1800" b="0" dirty="0" err="1">
                <a:solidFill>
                  <a:schemeClr val="tx1"/>
                </a:solidFill>
              </a:rPr>
              <a:t>MLOps</a:t>
            </a:r>
            <a:r>
              <a:rPr lang="en-US" sz="1800" b="0" dirty="0">
                <a:solidFill>
                  <a:schemeClr val="tx1"/>
                </a:solidFill>
              </a:rPr>
              <a:t>.</a:t>
            </a:r>
          </a:p>
        </p:txBody>
      </p:sp>
    </p:spTree>
    <p:extLst>
      <p:ext uri="{BB962C8B-B14F-4D97-AF65-F5344CB8AC3E}">
        <p14:creationId xmlns:p14="http://schemas.microsoft.com/office/powerpoint/2010/main" val="3380528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735162" y="715107"/>
            <a:ext cx="10726024" cy="576000"/>
          </a:xfrm>
        </p:spPr>
        <p:txBody>
          <a:bodyPr/>
          <a:lstStyle/>
          <a:p>
            <a:r>
              <a:rPr lang="en-US" altLang="zh-CN" sz="2800" dirty="0"/>
              <a:t>Risk</a:t>
            </a:r>
            <a:br>
              <a:rPr lang="en-US" sz="2800" dirty="0"/>
            </a:b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19</a:t>
            </a:fld>
            <a:endParaRPr lang="en-US" dirty="0"/>
          </a:p>
        </p:txBody>
      </p:sp>
      <p:sp>
        <p:nvSpPr>
          <p:cNvPr id="108" name="Title 1">
            <a:extLst>
              <a:ext uri="{FF2B5EF4-FFF2-40B4-BE49-F238E27FC236}">
                <a16:creationId xmlns:a16="http://schemas.microsoft.com/office/drawing/2014/main" id="{2F78B99D-55EF-B79F-AFCC-903A4C5D2F95}"/>
              </a:ext>
            </a:extLst>
          </p:cNvPr>
          <p:cNvSpPr txBox="1">
            <a:spLocks/>
          </p:cNvSpPr>
          <p:nvPr/>
        </p:nvSpPr>
        <p:spPr>
          <a:xfrm>
            <a:off x="2270591" y="1397136"/>
            <a:ext cx="11528171" cy="760168"/>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sz="1800" b="0" dirty="0">
                <a:solidFill>
                  <a:schemeClr val="tx1"/>
                </a:solidFill>
              </a:rPr>
              <a:t>Knowledge is expensive~ it’s</a:t>
            </a:r>
            <a:r>
              <a:rPr lang="zh-CN" altLang="en-US" sz="1800" b="0" dirty="0">
                <a:solidFill>
                  <a:schemeClr val="tx1"/>
                </a:solidFill>
              </a:rPr>
              <a:t> </a:t>
            </a:r>
            <a:r>
              <a:rPr lang="en-US" altLang="zh-CN" sz="1800" b="0" dirty="0">
                <a:solidFill>
                  <a:schemeClr val="tx1"/>
                </a:solidFill>
              </a:rPr>
              <a:t>much</a:t>
            </a:r>
            <a:r>
              <a:rPr lang="zh-CN" altLang="en-US" sz="1800" b="0" dirty="0">
                <a:solidFill>
                  <a:schemeClr val="tx1"/>
                </a:solidFill>
              </a:rPr>
              <a:t> </a:t>
            </a:r>
            <a:r>
              <a:rPr lang="en-US" altLang="zh-CN" sz="1800" b="0" dirty="0">
                <a:solidFill>
                  <a:schemeClr val="tx1"/>
                </a:solidFill>
              </a:rPr>
              <a:t>more</a:t>
            </a:r>
            <a:r>
              <a:rPr lang="zh-CN" altLang="en-US" sz="1800" b="0" dirty="0">
                <a:solidFill>
                  <a:schemeClr val="tx1"/>
                </a:solidFill>
              </a:rPr>
              <a:t> </a:t>
            </a:r>
            <a:r>
              <a:rPr lang="en-US" altLang="zh-CN" sz="1800" b="0" dirty="0">
                <a:solidFill>
                  <a:schemeClr val="tx1"/>
                </a:solidFill>
              </a:rPr>
              <a:t>expensive than data!!!</a:t>
            </a:r>
          </a:p>
          <a:p>
            <a:pPr>
              <a:lnSpc>
                <a:spcPct val="150000"/>
              </a:lnSpc>
            </a:pPr>
            <a:r>
              <a:rPr lang="en-US" altLang="zh-CN" sz="1800" b="0" dirty="0">
                <a:solidFill>
                  <a:schemeClr val="tx1"/>
                </a:solidFill>
              </a:rPr>
              <a:t>Very difficult to get </a:t>
            </a:r>
            <a:r>
              <a:rPr lang="en-US" altLang="zh-CN" sz="1800" b="0" dirty="0">
                <a:solidFill>
                  <a:srgbClr val="FF0000"/>
                </a:solidFill>
              </a:rPr>
              <a:t>REALLY useful </a:t>
            </a:r>
            <a:r>
              <a:rPr lang="en-US" altLang="zh-CN" sz="1800" b="0" dirty="0">
                <a:solidFill>
                  <a:schemeClr val="tx1"/>
                </a:solidFill>
              </a:rPr>
              <a:t>knowledge.</a:t>
            </a:r>
          </a:p>
        </p:txBody>
      </p:sp>
      <p:pic>
        <p:nvPicPr>
          <p:cNvPr id="7" name="Graphic 6" descr="Radioactive with solid fill">
            <a:extLst>
              <a:ext uri="{FF2B5EF4-FFF2-40B4-BE49-F238E27FC236}">
                <a16:creationId xmlns:a16="http://schemas.microsoft.com/office/drawing/2014/main" id="{33A2B174-A14F-1A3A-54C6-E57AB51697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0814" y="1291107"/>
            <a:ext cx="749818" cy="749818"/>
          </a:xfrm>
          <a:prstGeom prst="rect">
            <a:avLst/>
          </a:prstGeom>
        </p:spPr>
      </p:pic>
      <p:pic>
        <p:nvPicPr>
          <p:cNvPr id="9" name="Graphic 8" descr="Blueprint with solid fill">
            <a:extLst>
              <a:ext uri="{FF2B5EF4-FFF2-40B4-BE49-F238E27FC236}">
                <a16:creationId xmlns:a16="http://schemas.microsoft.com/office/drawing/2014/main" id="{CDDB05E0-1EA3-9F80-E5F2-A2D60EA76B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0814" y="2818017"/>
            <a:ext cx="749818" cy="749818"/>
          </a:xfrm>
          <a:prstGeom prst="rect">
            <a:avLst/>
          </a:prstGeom>
        </p:spPr>
      </p:pic>
      <p:sp>
        <p:nvSpPr>
          <p:cNvPr id="14" name="Title 1">
            <a:extLst>
              <a:ext uri="{FF2B5EF4-FFF2-40B4-BE49-F238E27FC236}">
                <a16:creationId xmlns:a16="http://schemas.microsoft.com/office/drawing/2014/main" id="{22FC9C8D-079A-127E-A995-C41BBE3BE470}"/>
              </a:ext>
            </a:extLst>
          </p:cNvPr>
          <p:cNvSpPr txBox="1">
            <a:spLocks/>
          </p:cNvSpPr>
          <p:nvPr/>
        </p:nvSpPr>
        <p:spPr>
          <a:xfrm>
            <a:off x="522467" y="2025972"/>
            <a:ext cx="1748124" cy="460329"/>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sz="1800" b="0" dirty="0">
                <a:solidFill>
                  <a:schemeClr val="tx1"/>
                </a:solidFill>
              </a:rPr>
              <a:t>Identification</a:t>
            </a:r>
          </a:p>
        </p:txBody>
      </p:sp>
      <p:sp>
        <p:nvSpPr>
          <p:cNvPr id="15" name="Title 1">
            <a:extLst>
              <a:ext uri="{FF2B5EF4-FFF2-40B4-BE49-F238E27FC236}">
                <a16:creationId xmlns:a16="http://schemas.microsoft.com/office/drawing/2014/main" id="{E0AAA0DB-7D2B-2646-66E9-07F9EF0A507D}"/>
              </a:ext>
            </a:extLst>
          </p:cNvPr>
          <p:cNvSpPr txBox="1">
            <a:spLocks/>
          </p:cNvSpPr>
          <p:nvPr/>
        </p:nvSpPr>
        <p:spPr>
          <a:xfrm>
            <a:off x="730814" y="3429000"/>
            <a:ext cx="1748124" cy="460329"/>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sz="1800" b="0" dirty="0">
                <a:solidFill>
                  <a:schemeClr val="tx1"/>
                </a:solidFill>
              </a:rPr>
              <a:t>Planning</a:t>
            </a:r>
          </a:p>
        </p:txBody>
      </p:sp>
      <p:sp>
        <p:nvSpPr>
          <p:cNvPr id="16" name="Title 1">
            <a:extLst>
              <a:ext uri="{FF2B5EF4-FFF2-40B4-BE49-F238E27FC236}">
                <a16:creationId xmlns:a16="http://schemas.microsoft.com/office/drawing/2014/main" id="{708B1015-2494-E874-8F62-13365B801AFC}"/>
              </a:ext>
            </a:extLst>
          </p:cNvPr>
          <p:cNvSpPr txBox="1">
            <a:spLocks/>
          </p:cNvSpPr>
          <p:nvPr/>
        </p:nvSpPr>
        <p:spPr>
          <a:xfrm>
            <a:off x="2270591" y="3187751"/>
            <a:ext cx="9190595" cy="760168"/>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sz="1800" b="0" dirty="0">
                <a:solidFill>
                  <a:schemeClr val="tx1"/>
                </a:solidFill>
              </a:rPr>
              <a:t>Focus on</a:t>
            </a:r>
            <a:r>
              <a:rPr lang="zh-CN" altLang="en-US" sz="1800" b="0" dirty="0">
                <a:solidFill>
                  <a:schemeClr val="tx1"/>
                </a:solidFill>
              </a:rPr>
              <a:t> </a:t>
            </a:r>
            <a:r>
              <a:rPr lang="en-US" altLang="zh-CN" sz="1800" b="0" dirty="0">
                <a:solidFill>
                  <a:schemeClr val="accent2"/>
                </a:solidFill>
              </a:rPr>
              <a:t>maintenance</a:t>
            </a:r>
            <a:r>
              <a:rPr lang="zh-CN" altLang="en-US" sz="1800" b="0" dirty="0">
                <a:solidFill>
                  <a:schemeClr val="accent2"/>
                </a:solidFill>
              </a:rPr>
              <a:t> </a:t>
            </a:r>
            <a:r>
              <a:rPr lang="en-US" altLang="zh-CN" sz="1800" b="0" dirty="0">
                <a:solidFill>
                  <a:schemeClr val="accent2"/>
                </a:solidFill>
              </a:rPr>
              <a:t>ontology </a:t>
            </a:r>
            <a:r>
              <a:rPr lang="en-US" altLang="zh-CN" sz="1800" b="0" dirty="0">
                <a:solidFill>
                  <a:schemeClr val="tx1"/>
                </a:solidFill>
              </a:rPr>
              <a:t>features around it. </a:t>
            </a:r>
          </a:p>
          <a:p>
            <a:pPr>
              <a:lnSpc>
                <a:spcPct val="150000"/>
              </a:lnSpc>
            </a:pPr>
            <a:r>
              <a:rPr lang="en-US" altLang="zh-CN" sz="1800" b="0" dirty="0">
                <a:solidFill>
                  <a:schemeClr val="tx1"/>
                </a:solidFill>
              </a:rPr>
              <a:t>The initial interaction is based on </a:t>
            </a:r>
            <a:r>
              <a:rPr lang="en-US" altLang="zh-CN" sz="1800" b="0" dirty="0">
                <a:solidFill>
                  <a:schemeClr val="accent2"/>
                </a:solidFill>
              </a:rPr>
              <a:t>KNIME</a:t>
            </a:r>
            <a:r>
              <a:rPr lang="en-US" altLang="zh-CN" sz="1800" b="0" dirty="0">
                <a:solidFill>
                  <a:schemeClr val="tx1"/>
                </a:solidFill>
              </a:rPr>
              <a:t> , and invite the internal experienced engineers to try and give suggestions. </a:t>
            </a:r>
          </a:p>
        </p:txBody>
      </p:sp>
      <p:pic>
        <p:nvPicPr>
          <p:cNvPr id="11" name="Graphic 10" descr="Stopwatch 75% outline">
            <a:extLst>
              <a:ext uri="{FF2B5EF4-FFF2-40B4-BE49-F238E27FC236}">
                <a16:creationId xmlns:a16="http://schemas.microsoft.com/office/drawing/2014/main" id="{B1722CF9-0F13-F76B-DEC9-184B3B654D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0091" y="4474273"/>
            <a:ext cx="810541" cy="810541"/>
          </a:xfrm>
          <a:prstGeom prst="rect">
            <a:avLst/>
          </a:prstGeom>
        </p:spPr>
      </p:pic>
      <p:sp>
        <p:nvSpPr>
          <p:cNvPr id="19" name="Title 1">
            <a:extLst>
              <a:ext uri="{FF2B5EF4-FFF2-40B4-BE49-F238E27FC236}">
                <a16:creationId xmlns:a16="http://schemas.microsoft.com/office/drawing/2014/main" id="{75A3F217-7F24-640C-D8BB-525374ACE3DA}"/>
              </a:ext>
            </a:extLst>
          </p:cNvPr>
          <p:cNvSpPr txBox="1">
            <a:spLocks/>
          </p:cNvSpPr>
          <p:nvPr/>
        </p:nvSpPr>
        <p:spPr>
          <a:xfrm>
            <a:off x="730814" y="5635259"/>
            <a:ext cx="1676201" cy="460329"/>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00000"/>
              </a:lnSpc>
            </a:pPr>
            <a:r>
              <a:rPr lang="en-US" altLang="zh-CN" sz="1800" b="0" dirty="0">
                <a:solidFill>
                  <a:schemeClr val="tx1"/>
                </a:solidFill>
              </a:rPr>
              <a:t>Execution and</a:t>
            </a:r>
          </a:p>
          <a:p>
            <a:pPr>
              <a:lnSpc>
                <a:spcPct val="100000"/>
              </a:lnSpc>
            </a:pPr>
            <a:r>
              <a:rPr lang="en-US" altLang="zh-CN" sz="1800" b="0" dirty="0">
                <a:solidFill>
                  <a:schemeClr val="tx1"/>
                </a:solidFill>
              </a:rPr>
              <a:t>Control</a:t>
            </a:r>
          </a:p>
        </p:txBody>
      </p:sp>
      <p:sp>
        <p:nvSpPr>
          <p:cNvPr id="20" name="Title 1">
            <a:extLst>
              <a:ext uri="{FF2B5EF4-FFF2-40B4-BE49-F238E27FC236}">
                <a16:creationId xmlns:a16="http://schemas.microsoft.com/office/drawing/2014/main" id="{F4942D5D-74F0-7944-163F-2C1AE4F42345}"/>
              </a:ext>
            </a:extLst>
          </p:cNvPr>
          <p:cNvSpPr txBox="1">
            <a:spLocks/>
          </p:cNvSpPr>
          <p:nvPr/>
        </p:nvSpPr>
        <p:spPr>
          <a:xfrm>
            <a:off x="2270591" y="5382725"/>
            <a:ext cx="9483046" cy="760168"/>
          </a:xfrm>
          <a:prstGeom prst="rect">
            <a:avLst/>
          </a:prstGeom>
        </p:spPr>
        <p:txBody>
          <a:bodyPr vert="horz" lIns="0" tIns="0" rIns="324000" bIns="14400" rtlCol="0" anchor="b" anchorCtr="0">
            <a:noAutofit/>
          </a:bodyPr>
          <a:lst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a:lstStyle>
          <a:p>
            <a:pPr>
              <a:lnSpc>
                <a:spcPct val="150000"/>
              </a:lnSpc>
            </a:pPr>
            <a:r>
              <a:rPr lang="en-US" altLang="zh-CN" sz="1800" b="0" dirty="0">
                <a:solidFill>
                  <a:schemeClr val="tx1"/>
                </a:solidFill>
              </a:rPr>
              <a:t>Collect more maintenance reports from various factories. Currently, FAW-VW and BBAC EMS maintenance-report are referenced. Pay attention to maintenance module in </a:t>
            </a:r>
            <a:r>
              <a:rPr lang="en-US" altLang="zh-CN" sz="1800" b="0" dirty="0" err="1">
                <a:solidFill>
                  <a:schemeClr val="tx1"/>
                </a:solidFill>
              </a:rPr>
              <a:t>SiPlant</a:t>
            </a:r>
            <a:r>
              <a:rPr lang="en-US" altLang="zh-CN" sz="1800" b="0" dirty="0">
                <a:solidFill>
                  <a:schemeClr val="tx1"/>
                </a:solidFill>
              </a:rPr>
              <a:t> and IIH module of HMI for future integration.</a:t>
            </a:r>
          </a:p>
          <a:p>
            <a:pPr>
              <a:lnSpc>
                <a:spcPct val="150000"/>
              </a:lnSpc>
            </a:pPr>
            <a:r>
              <a:rPr lang="en-US" altLang="zh-CN" sz="1800" b="0" dirty="0">
                <a:solidFill>
                  <a:schemeClr val="tx1"/>
                </a:solidFill>
              </a:rPr>
              <a:t>Milestone Demo.</a:t>
            </a:r>
          </a:p>
        </p:txBody>
      </p:sp>
    </p:spTree>
    <p:extLst>
      <p:ext uri="{BB962C8B-B14F-4D97-AF65-F5344CB8AC3E}">
        <p14:creationId xmlns:p14="http://schemas.microsoft.com/office/powerpoint/2010/main" val="2518891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66939-DF7A-8D09-E085-5256817F4FB0}"/>
              </a:ext>
            </a:extLst>
          </p:cNvPr>
          <p:cNvSpPr>
            <a:spLocks noGrp="1"/>
          </p:cNvSpPr>
          <p:nvPr>
            <p:ph type="title"/>
          </p:nvPr>
        </p:nvSpPr>
        <p:spPr>
          <a:xfrm>
            <a:off x="411163" y="694558"/>
            <a:ext cx="10726024" cy="576000"/>
          </a:xfrm>
        </p:spPr>
        <p:txBody>
          <a:bodyPr/>
          <a:lstStyle/>
          <a:p>
            <a:r>
              <a:rPr lang="en-US" altLang="zh-CN" sz="2800" dirty="0"/>
              <a:t>Thanks</a:t>
            </a:r>
            <a:r>
              <a:rPr lang="zh-CN" altLang="en-US" sz="2800" dirty="0"/>
              <a:t>！</a:t>
            </a:r>
            <a:br>
              <a:rPr lang="en-US" sz="2800" dirty="0"/>
            </a:br>
            <a:endParaRPr lang="en-US" sz="2800" dirty="0"/>
          </a:p>
        </p:txBody>
      </p:sp>
      <p:sp>
        <p:nvSpPr>
          <p:cNvPr id="3" name="Footer Placeholder 2">
            <a:extLst>
              <a:ext uri="{FF2B5EF4-FFF2-40B4-BE49-F238E27FC236}">
                <a16:creationId xmlns:a16="http://schemas.microsoft.com/office/drawing/2014/main" id="{1D017C04-B7B9-BFF8-FBCB-0498DD6BA221}"/>
              </a:ext>
            </a:extLst>
          </p:cNvPr>
          <p:cNvSpPr>
            <a:spLocks noGrp="1"/>
          </p:cNvSpPr>
          <p:nvPr>
            <p:ph type="ftr" sz="quarter" idx="10"/>
          </p:nvPr>
        </p:nvSpPr>
        <p:spPr/>
        <p:txBody>
          <a:bodyPr/>
          <a:lstStyle/>
          <a:p>
            <a:r>
              <a:rPr lang="en-US" altLang="zh-CN" dirty="0"/>
              <a:t>R</a:t>
            </a:r>
            <a:r>
              <a:rPr lang="en-US" dirty="0"/>
              <a:t>estricted | © Siemens Ltd., China 2022 | T CED INW | 2022-08</a:t>
            </a:r>
          </a:p>
        </p:txBody>
      </p:sp>
      <p:sp>
        <p:nvSpPr>
          <p:cNvPr id="4" name="Slide Number Placeholder 3">
            <a:extLst>
              <a:ext uri="{FF2B5EF4-FFF2-40B4-BE49-F238E27FC236}">
                <a16:creationId xmlns:a16="http://schemas.microsoft.com/office/drawing/2014/main" id="{57DF5D4F-1B85-26F3-9A96-A201C6510F7B}"/>
              </a:ext>
            </a:extLst>
          </p:cNvPr>
          <p:cNvSpPr>
            <a:spLocks noGrp="1"/>
          </p:cNvSpPr>
          <p:nvPr>
            <p:ph type="sldNum" sz="quarter" idx="11"/>
          </p:nvPr>
        </p:nvSpPr>
        <p:spPr/>
        <p:txBody>
          <a:bodyPr/>
          <a:lstStyle/>
          <a:p>
            <a:r>
              <a:rPr lang="en-US"/>
              <a:t>Page </a:t>
            </a:r>
            <a:fld id="{15EBE321-CBB1-4E91-BD14-37C8D44326FB}" type="slidenum">
              <a:rPr lang="en-US" smtClean="0"/>
              <a:pPr/>
              <a:t>20</a:t>
            </a:fld>
            <a:endParaRPr lang="en-US" dirty="0"/>
          </a:p>
        </p:txBody>
      </p:sp>
      <p:grpSp>
        <p:nvGrpSpPr>
          <p:cNvPr id="13" name="Gruppieren 134">
            <a:extLst>
              <a:ext uri="{FF2B5EF4-FFF2-40B4-BE49-F238E27FC236}">
                <a16:creationId xmlns:a16="http://schemas.microsoft.com/office/drawing/2014/main" id="{5BF51C08-C5D6-8BE7-FE53-9DB52D1B379D}"/>
              </a:ext>
            </a:extLst>
          </p:cNvPr>
          <p:cNvGrpSpPr/>
          <p:nvPr/>
        </p:nvGrpSpPr>
        <p:grpSpPr bwMode="gray">
          <a:xfrm>
            <a:off x="6517656" y="4717448"/>
            <a:ext cx="5690584" cy="1659238"/>
            <a:chOff x="3846455" y="4452590"/>
            <a:chExt cx="6087317" cy="2155882"/>
          </a:xfrm>
        </p:grpSpPr>
        <p:sp>
          <p:nvSpPr>
            <p:cNvPr id="14" name="Rectangle 1622">
              <a:extLst>
                <a:ext uri="{FF2B5EF4-FFF2-40B4-BE49-F238E27FC236}">
                  <a16:creationId xmlns:a16="http://schemas.microsoft.com/office/drawing/2014/main" id="{5BA4BB8C-A7AF-90D7-A01F-5623F7F63986}"/>
                </a:ext>
              </a:extLst>
            </p:cNvPr>
            <p:cNvSpPr>
              <a:spLocks noChangeArrowheads="1"/>
            </p:cNvSpPr>
            <p:nvPr/>
          </p:nvSpPr>
          <p:spPr bwMode="gray">
            <a:xfrm>
              <a:off x="3846455" y="6343439"/>
              <a:ext cx="6087317" cy="265033"/>
            </a:xfrm>
            <a:prstGeom prst="rect">
              <a:avLst/>
            </a:prstGeom>
            <a:solidFill>
              <a:srgbClr val="DFE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 name="Rectangle 1623">
              <a:extLst>
                <a:ext uri="{FF2B5EF4-FFF2-40B4-BE49-F238E27FC236}">
                  <a16:creationId xmlns:a16="http://schemas.microsoft.com/office/drawing/2014/main" id="{891441CA-5B13-18AB-96B3-A540A1799D58}"/>
                </a:ext>
              </a:extLst>
            </p:cNvPr>
            <p:cNvSpPr>
              <a:spLocks noChangeArrowheads="1"/>
            </p:cNvSpPr>
            <p:nvPr/>
          </p:nvSpPr>
          <p:spPr bwMode="gray">
            <a:xfrm>
              <a:off x="3846455" y="6343439"/>
              <a:ext cx="6087317" cy="64099"/>
            </a:xfrm>
            <a:prstGeom prst="rect">
              <a:avLst/>
            </a:prstGeom>
            <a:solidFill>
              <a:srgbClr val="BECD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 name="Freeform 1997">
              <a:extLst>
                <a:ext uri="{FF2B5EF4-FFF2-40B4-BE49-F238E27FC236}">
                  <a16:creationId xmlns:a16="http://schemas.microsoft.com/office/drawing/2014/main" id="{C5F0D4E0-DFF5-9586-F514-479B9B08B100}"/>
                </a:ext>
              </a:extLst>
            </p:cNvPr>
            <p:cNvSpPr>
              <a:spLocks/>
            </p:cNvSpPr>
            <p:nvPr/>
          </p:nvSpPr>
          <p:spPr bwMode="gray">
            <a:xfrm>
              <a:off x="8706101" y="5468223"/>
              <a:ext cx="166130" cy="26705"/>
            </a:xfrm>
            <a:custGeom>
              <a:avLst/>
              <a:gdLst>
                <a:gd name="T0" fmla="*/ 548 w 4846"/>
                <a:gd name="T1" fmla="*/ 0 h 779"/>
                <a:gd name="T2" fmla="*/ 0 w 4846"/>
                <a:gd name="T3" fmla="*/ 750 h 779"/>
                <a:gd name="T4" fmla="*/ 4846 w 4846"/>
                <a:gd name="T5" fmla="*/ 779 h 779"/>
                <a:gd name="T6" fmla="*/ 4846 w 4846"/>
                <a:gd name="T7" fmla="*/ 29 h 779"/>
                <a:gd name="T8" fmla="*/ 548 w 4846"/>
                <a:gd name="T9" fmla="*/ 0 h 779"/>
              </a:gdLst>
              <a:ahLst/>
              <a:cxnLst>
                <a:cxn ang="0">
                  <a:pos x="T0" y="T1"/>
                </a:cxn>
                <a:cxn ang="0">
                  <a:pos x="T2" y="T3"/>
                </a:cxn>
                <a:cxn ang="0">
                  <a:pos x="T4" y="T5"/>
                </a:cxn>
                <a:cxn ang="0">
                  <a:pos x="T6" y="T7"/>
                </a:cxn>
                <a:cxn ang="0">
                  <a:pos x="T8" y="T9"/>
                </a:cxn>
              </a:cxnLst>
              <a:rect l="0" t="0" r="r" b="b"/>
              <a:pathLst>
                <a:path w="4846" h="779">
                  <a:moveTo>
                    <a:pt x="548" y="0"/>
                  </a:moveTo>
                  <a:lnTo>
                    <a:pt x="0" y="750"/>
                  </a:lnTo>
                  <a:lnTo>
                    <a:pt x="4846" y="779"/>
                  </a:lnTo>
                  <a:lnTo>
                    <a:pt x="4846" y="29"/>
                  </a:lnTo>
                  <a:lnTo>
                    <a:pt x="548"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 name="Freeform 1998">
              <a:extLst>
                <a:ext uri="{FF2B5EF4-FFF2-40B4-BE49-F238E27FC236}">
                  <a16:creationId xmlns:a16="http://schemas.microsoft.com/office/drawing/2014/main" id="{EB1E0AB4-9ACB-6B64-73AF-9B4F5F9BE9AD}"/>
                </a:ext>
              </a:extLst>
            </p:cNvPr>
            <p:cNvSpPr>
              <a:spLocks/>
            </p:cNvSpPr>
            <p:nvPr/>
          </p:nvSpPr>
          <p:spPr bwMode="gray">
            <a:xfrm>
              <a:off x="8872231" y="5469219"/>
              <a:ext cx="27700" cy="25711"/>
            </a:xfrm>
            <a:custGeom>
              <a:avLst/>
              <a:gdLst>
                <a:gd name="T0" fmla="*/ 0 w 808"/>
                <a:gd name="T1" fmla="*/ 0 h 750"/>
                <a:gd name="T2" fmla="*/ 808 w 808"/>
                <a:gd name="T3" fmla="*/ 346 h 750"/>
                <a:gd name="T4" fmla="*/ 0 w 808"/>
                <a:gd name="T5" fmla="*/ 750 h 750"/>
                <a:gd name="T6" fmla="*/ 0 w 808"/>
                <a:gd name="T7" fmla="*/ 0 h 750"/>
              </a:gdLst>
              <a:ahLst/>
              <a:cxnLst>
                <a:cxn ang="0">
                  <a:pos x="T0" y="T1"/>
                </a:cxn>
                <a:cxn ang="0">
                  <a:pos x="T2" y="T3"/>
                </a:cxn>
                <a:cxn ang="0">
                  <a:pos x="T4" y="T5"/>
                </a:cxn>
                <a:cxn ang="0">
                  <a:pos x="T6" y="T7"/>
                </a:cxn>
              </a:cxnLst>
              <a:rect l="0" t="0" r="r" b="b"/>
              <a:pathLst>
                <a:path w="808" h="750">
                  <a:moveTo>
                    <a:pt x="0" y="0"/>
                  </a:moveTo>
                  <a:lnTo>
                    <a:pt x="808" y="346"/>
                  </a:lnTo>
                  <a:lnTo>
                    <a:pt x="0" y="750"/>
                  </a:lnTo>
                  <a:lnTo>
                    <a:pt x="0" y="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8" name="Freeform 1999">
              <a:extLst>
                <a:ext uri="{FF2B5EF4-FFF2-40B4-BE49-F238E27FC236}">
                  <a16:creationId xmlns:a16="http://schemas.microsoft.com/office/drawing/2014/main" id="{1F07FA92-AF9A-91B1-4AAA-9BB559E5DCC9}"/>
                </a:ext>
              </a:extLst>
            </p:cNvPr>
            <p:cNvSpPr>
              <a:spLocks/>
            </p:cNvSpPr>
            <p:nvPr/>
          </p:nvSpPr>
          <p:spPr bwMode="gray">
            <a:xfrm>
              <a:off x="5741719" y="5774807"/>
              <a:ext cx="534933" cy="55365"/>
            </a:xfrm>
            <a:custGeom>
              <a:avLst/>
              <a:gdLst>
                <a:gd name="T0" fmla="*/ 485 w 541"/>
                <a:gd name="T1" fmla="*/ 0 h 56"/>
                <a:gd name="T2" fmla="*/ 56 w 541"/>
                <a:gd name="T3" fmla="*/ 0 h 56"/>
                <a:gd name="T4" fmla="*/ 0 w 541"/>
                <a:gd name="T5" fmla="*/ 56 h 56"/>
                <a:gd name="T6" fmla="*/ 541 w 541"/>
                <a:gd name="T7" fmla="*/ 56 h 56"/>
                <a:gd name="T8" fmla="*/ 485 w 541"/>
                <a:gd name="T9" fmla="*/ 0 h 56"/>
              </a:gdLst>
              <a:ahLst/>
              <a:cxnLst>
                <a:cxn ang="0">
                  <a:pos x="T0" y="T1"/>
                </a:cxn>
                <a:cxn ang="0">
                  <a:pos x="T2" y="T3"/>
                </a:cxn>
                <a:cxn ang="0">
                  <a:pos x="T4" y="T5"/>
                </a:cxn>
                <a:cxn ang="0">
                  <a:pos x="T6" y="T7"/>
                </a:cxn>
                <a:cxn ang="0">
                  <a:pos x="T8" y="T9"/>
                </a:cxn>
              </a:cxnLst>
              <a:rect l="0" t="0" r="r" b="b"/>
              <a:pathLst>
                <a:path w="541" h="56">
                  <a:moveTo>
                    <a:pt x="485" y="0"/>
                  </a:moveTo>
                  <a:cubicBezTo>
                    <a:pt x="56" y="0"/>
                    <a:pt x="56" y="0"/>
                    <a:pt x="56" y="0"/>
                  </a:cubicBezTo>
                  <a:cubicBezTo>
                    <a:pt x="25" y="0"/>
                    <a:pt x="0" y="25"/>
                    <a:pt x="0" y="56"/>
                  </a:cubicBezTo>
                  <a:cubicBezTo>
                    <a:pt x="541" y="56"/>
                    <a:pt x="541" y="56"/>
                    <a:pt x="541" y="56"/>
                  </a:cubicBezTo>
                  <a:cubicBezTo>
                    <a:pt x="541" y="25"/>
                    <a:pt x="516" y="0"/>
                    <a:pt x="485"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9" name="Freeform 2000">
              <a:extLst>
                <a:ext uri="{FF2B5EF4-FFF2-40B4-BE49-F238E27FC236}">
                  <a16:creationId xmlns:a16="http://schemas.microsoft.com/office/drawing/2014/main" id="{04A20284-17E3-C90A-8265-0097F115766B}"/>
                </a:ext>
              </a:extLst>
            </p:cNvPr>
            <p:cNvSpPr>
              <a:spLocks/>
            </p:cNvSpPr>
            <p:nvPr/>
          </p:nvSpPr>
          <p:spPr bwMode="gray">
            <a:xfrm>
              <a:off x="5741719" y="5830171"/>
              <a:ext cx="534933" cy="37573"/>
            </a:xfrm>
            <a:custGeom>
              <a:avLst/>
              <a:gdLst>
                <a:gd name="T0" fmla="*/ 0 w 15604"/>
                <a:gd name="T1" fmla="*/ 0 h 1096"/>
                <a:gd name="T2" fmla="*/ 15604 w 15604"/>
                <a:gd name="T3" fmla="*/ 0 h 1096"/>
                <a:gd name="T4" fmla="*/ 15604 w 15604"/>
                <a:gd name="T5" fmla="*/ 1096 h 1096"/>
                <a:gd name="T6" fmla="*/ 0 w 15604"/>
                <a:gd name="T7" fmla="*/ 1096 h 1096"/>
                <a:gd name="T8" fmla="*/ 0 w 15604"/>
                <a:gd name="T9" fmla="*/ 0 h 1096"/>
                <a:gd name="T10" fmla="*/ 0 w 15604"/>
                <a:gd name="T11" fmla="*/ 0 h 1096"/>
              </a:gdLst>
              <a:ahLst/>
              <a:cxnLst>
                <a:cxn ang="0">
                  <a:pos x="T0" y="T1"/>
                </a:cxn>
                <a:cxn ang="0">
                  <a:pos x="T2" y="T3"/>
                </a:cxn>
                <a:cxn ang="0">
                  <a:pos x="T4" y="T5"/>
                </a:cxn>
                <a:cxn ang="0">
                  <a:pos x="T6" y="T7"/>
                </a:cxn>
                <a:cxn ang="0">
                  <a:pos x="T8" y="T9"/>
                </a:cxn>
                <a:cxn ang="0">
                  <a:pos x="T10" y="T11"/>
                </a:cxn>
              </a:cxnLst>
              <a:rect l="0" t="0" r="r" b="b"/>
              <a:pathLst>
                <a:path w="15604" h="1096">
                  <a:moveTo>
                    <a:pt x="0" y="0"/>
                  </a:moveTo>
                  <a:lnTo>
                    <a:pt x="15604" y="0"/>
                  </a:lnTo>
                  <a:lnTo>
                    <a:pt x="15604"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0" name="Freeform 2001">
              <a:extLst>
                <a:ext uri="{FF2B5EF4-FFF2-40B4-BE49-F238E27FC236}">
                  <a16:creationId xmlns:a16="http://schemas.microsoft.com/office/drawing/2014/main" id="{BF802048-29F2-E382-8D72-7D2B65BBC2B5}"/>
                </a:ext>
              </a:extLst>
            </p:cNvPr>
            <p:cNvSpPr>
              <a:spLocks/>
            </p:cNvSpPr>
            <p:nvPr/>
          </p:nvSpPr>
          <p:spPr bwMode="gray">
            <a:xfrm>
              <a:off x="5756563"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1" name="Freeform 2002">
              <a:extLst>
                <a:ext uri="{FF2B5EF4-FFF2-40B4-BE49-F238E27FC236}">
                  <a16:creationId xmlns:a16="http://schemas.microsoft.com/office/drawing/2014/main" id="{815BE76C-0DEB-F49B-F124-515D6FC5F302}"/>
                </a:ext>
              </a:extLst>
            </p:cNvPr>
            <p:cNvSpPr>
              <a:spLocks/>
            </p:cNvSpPr>
            <p:nvPr/>
          </p:nvSpPr>
          <p:spPr bwMode="gray">
            <a:xfrm>
              <a:off x="5741719"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2" name="Freeform 2003">
              <a:extLst>
                <a:ext uri="{FF2B5EF4-FFF2-40B4-BE49-F238E27FC236}">
                  <a16:creationId xmlns:a16="http://schemas.microsoft.com/office/drawing/2014/main" id="{048BE32C-8675-10AB-E05E-AA4C0BEFA83D}"/>
                </a:ext>
              </a:extLst>
            </p:cNvPr>
            <p:cNvSpPr>
              <a:spLocks/>
            </p:cNvSpPr>
            <p:nvPr/>
          </p:nvSpPr>
          <p:spPr bwMode="gray">
            <a:xfrm>
              <a:off x="6245010"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3" name="Freeform 2004">
              <a:extLst>
                <a:ext uri="{FF2B5EF4-FFF2-40B4-BE49-F238E27FC236}">
                  <a16:creationId xmlns:a16="http://schemas.microsoft.com/office/drawing/2014/main" id="{E5EBC06C-DD17-4293-5431-1639B1EC6E7D}"/>
                </a:ext>
              </a:extLst>
            </p:cNvPr>
            <p:cNvSpPr>
              <a:spLocks/>
            </p:cNvSpPr>
            <p:nvPr/>
          </p:nvSpPr>
          <p:spPr bwMode="gray">
            <a:xfrm>
              <a:off x="5741719" y="5246696"/>
              <a:ext cx="534933" cy="208673"/>
            </a:xfrm>
            <a:custGeom>
              <a:avLst/>
              <a:gdLst>
                <a:gd name="T0" fmla="*/ 404 w 541"/>
                <a:gd name="T1" fmla="*/ 0 h 211"/>
                <a:gd name="T2" fmla="*/ 136 w 541"/>
                <a:gd name="T3" fmla="*/ 0 h 211"/>
                <a:gd name="T4" fmla="*/ 0 w 541"/>
                <a:gd name="T5" fmla="*/ 119 h 211"/>
                <a:gd name="T6" fmla="*/ 0 w 541"/>
                <a:gd name="T7" fmla="*/ 211 h 211"/>
                <a:gd name="T8" fmla="*/ 541 w 541"/>
                <a:gd name="T9" fmla="*/ 211 h 211"/>
                <a:gd name="T10" fmla="*/ 541 w 541"/>
                <a:gd name="T11" fmla="*/ 119 h 211"/>
                <a:gd name="T12" fmla="*/ 404 w 541"/>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1" h="211">
                  <a:moveTo>
                    <a:pt x="404" y="0"/>
                  </a:moveTo>
                  <a:cubicBezTo>
                    <a:pt x="136" y="0"/>
                    <a:pt x="136" y="0"/>
                    <a:pt x="136" y="0"/>
                  </a:cubicBezTo>
                  <a:cubicBezTo>
                    <a:pt x="61" y="0"/>
                    <a:pt x="0" y="53"/>
                    <a:pt x="0" y="119"/>
                  </a:cubicBezTo>
                  <a:cubicBezTo>
                    <a:pt x="0" y="211"/>
                    <a:pt x="0" y="211"/>
                    <a:pt x="0" y="211"/>
                  </a:cubicBezTo>
                  <a:cubicBezTo>
                    <a:pt x="541" y="211"/>
                    <a:pt x="541" y="211"/>
                    <a:pt x="541" y="211"/>
                  </a:cubicBezTo>
                  <a:cubicBezTo>
                    <a:pt x="541" y="119"/>
                    <a:pt x="541" y="119"/>
                    <a:pt x="541" y="119"/>
                  </a:cubicBezTo>
                  <a:cubicBezTo>
                    <a:pt x="541" y="53"/>
                    <a:pt x="479" y="0"/>
                    <a:pt x="404"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4" name="Freeform 2005">
              <a:extLst>
                <a:ext uri="{FF2B5EF4-FFF2-40B4-BE49-F238E27FC236}">
                  <a16:creationId xmlns:a16="http://schemas.microsoft.com/office/drawing/2014/main" id="{F000A62B-553F-84D2-5842-E8626A2160EF}"/>
                </a:ext>
              </a:extLst>
            </p:cNvPr>
            <p:cNvSpPr>
              <a:spLocks/>
            </p:cNvSpPr>
            <p:nvPr/>
          </p:nvSpPr>
          <p:spPr bwMode="gray">
            <a:xfrm>
              <a:off x="5903872" y="4895649"/>
              <a:ext cx="209633" cy="477648"/>
            </a:xfrm>
            <a:custGeom>
              <a:avLst/>
              <a:gdLst>
                <a:gd name="T0" fmla="*/ 0 w 6115"/>
                <a:gd name="T1" fmla="*/ 0 h 13933"/>
                <a:gd name="T2" fmla="*/ 0 w 6115"/>
                <a:gd name="T3" fmla="*/ 836 h 13933"/>
                <a:gd name="T4" fmla="*/ 1298 w 6115"/>
                <a:gd name="T5" fmla="*/ 7846 h 13933"/>
                <a:gd name="T6" fmla="*/ 2279 w 6115"/>
                <a:gd name="T7" fmla="*/ 11913 h 13933"/>
                <a:gd name="T8" fmla="*/ 3115 w 6115"/>
                <a:gd name="T9" fmla="*/ 13933 h 13933"/>
                <a:gd name="T10" fmla="*/ 4010 w 6115"/>
                <a:gd name="T11" fmla="*/ 12000 h 13933"/>
                <a:gd name="T12" fmla="*/ 6115 w 6115"/>
                <a:gd name="T13" fmla="*/ 778 h 13933"/>
                <a:gd name="T14" fmla="*/ 6115 w 6115"/>
                <a:gd name="T15" fmla="*/ 0 h 13933"/>
                <a:gd name="T16" fmla="*/ 0 w 6115"/>
                <a:gd name="T17" fmla="*/ 0 h 13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15" h="13933">
                  <a:moveTo>
                    <a:pt x="0" y="0"/>
                  </a:moveTo>
                  <a:lnTo>
                    <a:pt x="0" y="836"/>
                  </a:lnTo>
                  <a:lnTo>
                    <a:pt x="1298" y="7846"/>
                  </a:lnTo>
                  <a:lnTo>
                    <a:pt x="2279" y="11913"/>
                  </a:lnTo>
                  <a:lnTo>
                    <a:pt x="3115" y="13933"/>
                  </a:lnTo>
                  <a:lnTo>
                    <a:pt x="4010" y="12000"/>
                  </a:lnTo>
                  <a:lnTo>
                    <a:pt x="6115" y="778"/>
                  </a:lnTo>
                  <a:lnTo>
                    <a:pt x="6115" y="0"/>
                  </a:lnTo>
                  <a:lnTo>
                    <a:pt x="0" y="0"/>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5" name="Freeform 2006">
              <a:extLst>
                <a:ext uri="{FF2B5EF4-FFF2-40B4-BE49-F238E27FC236}">
                  <a16:creationId xmlns:a16="http://schemas.microsoft.com/office/drawing/2014/main" id="{AA5339EB-3F0F-EB9A-9140-04C7D3F3F49D}"/>
                </a:ext>
              </a:extLst>
            </p:cNvPr>
            <p:cNvSpPr>
              <a:spLocks/>
            </p:cNvSpPr>
            <p:nvPr/>
          </p:nvSpPr>
          <p:spPr bwMode="gray">
            <a:xfrm>
              <a:off x="5831709" y="4456533"/>
              <a:ext cx="353000" cy="510320"/>
            </a:xfrm>
            <a:custGeom>
              <a:avLst/>
              <a:gdLst>
                <a:gd name="T0" fmla="*/ 354 w 357"/>
                <a:gd name="T1" fmla="*/ 248 h 516"/>
                <a:gd name="T2" fmla="*/ 329 w 357"/>
                <a:gd name="T3" fmla="*/ 312 h 516"/>
                <a:gd name="T4" fmla="*/ 315 w 357"/>
                <a:gd name="T5" fmla="*/ 322 h 516"/>
                <a:gd name="T6" fmla="*/ 302 w 357"/>
                <a:gd name="T7" fmla="*/ 322 h 516"/>
                <a:gd name="T8" fmla="*/ 289 w 357"/>
                <a:gd name="T9" fmla="*/ 377 h 516"/>
                <a:gd name="T10" fmla="*/ 272 w 357"/>
                <a:gd name="T11" fmla="*/ 386 h 516"/>
                <a:gd name="T12" fmla="*/ 271 w 357"/>
                <a:gd name="T13" fmla="*/ 452 h 516"/>
                <a:gd name="T14" fmla="*/ 189 w 357"/>
                <a:gd name="T15" fmla="*/ 516 h 516"/>
                <a:gd name="T16" fmla="*/ 168 w 357"/>
                <a:gd name="T17" fmla="*/ 516 h 516"/>
                <a:gd name="T18" fmla="*/ 85 w 357"/>
                <a:gd name="T19" fmla="*/ 453 h 516"/>
                <a:gd name="T20" fmla="*/ 84 w 357"/>
                <a:gd name="T21" fmla="*/ 386 h 516"/>
                <a:gd name="T22" fmla="*/ 68 w 357"/>
                <a:gd name="T23" fmla="*/ 377 h 516"/>
                <a:gd name="T24" fmla="*/ 55 w 357"/>
                <a:gd name="T25" fmla="*/ 322 h 516"/>
                <a:gd name="T26" fmla="*/ 42 w 357"/>
                <a:gd name="T27" fmla="*/ 322 h 516"/>
                <a:gd name="T28" fmla="*/ 27 w 357"/>
                <a:gd name="T29" fmla="*/ 312 h 516"/>
                <a:gd name="T30" fmla="*/ 3 w 357"/>
                <a:gd name="T31" fmla="*/ 248 h 516"/>
                <a:gd name="T32" fmla="*/ 11 w 357"/>
                <a:gd name="T33" fmla="*/ 229 h 516"/>
                <a:gd name="T34" fmla="*/ 39 w 357"/>
                <a:gd name="T35" fmla="*/ 244 h 516"/>
                <a:gd name="T36" fmla="*/ 32 w 357"/>
                <a:gd name="T37" fmla="*/ 150 h 516"/>
                <a:gd name="T38" fmla="*/ 45 w 357"/>
                <a:gd name="T39" fmla="*/ 46 h 516"/>
                <a:gd name="T40" fmla="*/ 138 w 357"/>
                <a:gd name="T41" fmla="*/ 0 h 516"/>
                <a:gd name="T42" fmla="*/ 218 w 357"/>
                <a:gd name="T43" fmla="*/ 0 h 516"/>
                <a:gd name="T44" fmla="*/ 313 w 357"/>
                <a:gd name="T45" fmla="*/ 49 h 516"/>
                <a:gd name="T46" fmla="*/ 330 w 357"/>
                <a:gd name="T47" fmla="*/ 150 h 516"/>
                <a:gd name="T48" fmla="*/ 321 w 357"/>
                <a:gd name="T49" fmla="*/ 240 h 516"/>
                <a:gd name="T50" fmla="*/ 345 w 357"/>
                <a:gd name="T51" fmla="*/ 229 h 516"/>
                <a:gd name="T52" fmla="*/ 354 w 357"/>
                <a:gd name="T53" fmla="*/ 248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7" h="516">
                  <a:moveTo>
                    <a:pt x="354" y="248"/>
                  </a:moveTo>
                  <a:cubicBezTo>
                    <a:pt x="329" y="312"/>
                    <a:pt x="329" y="312"/>
                    <a:pt x="329" y="312"/>
                  </a:cubicBezTo>
                  <a:cubicBezTo>
                    <a:pt x="326" y="318"/>
                    <a:pt x="321" y="322"/>
                    <a:pt x="315" y="322"/>
                  </a:cubicBezTo>
                  <a:cubicBezTo>
                    <a:pt x="302" y="322"/>
                    <a:pt x="302" y="322"/>
                    <a:pt x="302" y="322"/>
                  </a:cubicBezTo>
                  <a:cubicBezTo>
                    <a:pt x="289" y="377"/>
                    <a:pt x="289" y="377"/>
                    <a:pt x="289" y="377"/>
                  </a:cubicBezTo>
                  <a:cubicBezTo>
                    <a:pt x="272" y="386"/>
                    <a:pt x="272" y="386"/>
                    <a:pt x="272" y="386"/>
                  </a:cubicBezTo>
                  <a:cubicBezTo>
                    <a:pt x="271" y="452"/>
                    <a:pt x="271" y="452"/>
                    <a:pt x="271" y="452"/>
                  </a:cubicBezTo>
                  <a:cubicBezTo>
                    <a:pt x="189" y="516"/>
                    <a:pt x="189" y="516"/>
                    <a:pt x="189" y="516"/>
                  </a:cubicBezTo>
                  <a:cubicBezTo>
                    <a:pt x="168" y="516"/>
                    <a:pt x="168" y="516"/>
                    <a:pt x="168" y="516"/>
                  </a:cubicBezTo>
                  <a:cubicBezTo>
                    <a:pt x="85" y="453"/>
                    <a:pt x="85" y="453"/>
                    <a:pt x="85" y="453"/>
                  </a:cubicBezTo>
                  <a:cubicBezTo>
                    <a:pt x="84" y="397"/>
                    <a:pt x="84" y="386"/>
                    <a:pt x="84" y="386"/>
                  </a:cubicBezTo>
                  <a:cubicBezTo>
                    <a:pt x="68" y="377"/>
                    <a:pt x="68" y="377"/>
                    <a:pt x="68" y="377"/>
                  </a:cubicBezTo>
                  <a:cubicBezTo>
                    <a:pt x="55" y="322"/>
                    <a:pt x="55" y="322"/>
                    <a:pt x="55" y="322"/>
                  </a:cubicBezTo>
                  <a:cubicBezTo>
                    <a:pt x="42" y="322"/>
                    <a:pt x="42" y="322"/>
                    <a:pt x="42" y="322"/>
                  </a:cubicBezTo>
                  <a:cubicBezTo>
                    <a:pt x="36" y="322"/>
                    <a:pt x="30" y="318"/>
                    <a:pt x="27" y="312"/>
                  </a:cubicBezTo>
                  <a:cubicBezTo>
                    <a:pt x="3" y="248"/>
                    <a:pt x="3" y="248"/>
                    <a:pt x="3" y="248"/>
                  </a:cubicBezTo>
                  <a:cubicBezTo>
                    <a:pt x="0" y="241"/>
                    <a:pt x="4" y="233"/>
                    <a:pt x="11" y="229"/>
                  </a:cubicBezTo>
                  <a:cubicBezTo>
                    <a:pt x="29" y="219"/>
                    <a:pt x="39" y="244"/>
                    <a:pt x="39" y="244"/>
                  </a:cubicBezTo>
                  <a:cubicBezTo>
                    <a:pt x="32" y="150"/>
                    <a:pt x="32" y="150"/>
                    <a:pt x="32" y="150"/>
                  </a:cubicBezTo>
                  <a:cubicBezTo>
                    <a:pt x="45" y="46"/>
                    <a:pt x="45" y="46"/>
                    <a:pt x="45" y="46"/>
                  </a:cubicBezTo>
                  <a:cubicBezTo>
                    <a:pt x="138" y="0"/>
                    <a:pt x="138" y="0"/>
                    <a:pt x="138" y="0"/>
                  </a:cubicBezTo>
                  <a:cubicBezTo>
                    <a:pt x="218" y="0"/>
                    <a:pt x="218" y="0"/>
                    <a:pt x="218" y="0"/>
                  </a:cubicBezTo>
                  <a:cubicBezTo>
                    <a:pt x="313" y="49"/>
                    <a:pt x="313" y="49"/>
                    <a:pt x="313" y="49"/>
                  </a:cubicBezTo>
                  <a:cubicBezTo>
                    <a:pt x="330" y="150"/>
                    <a:pt x="330" y="150"/>
                    <a:pt x="330" y="150"/>
                  </a:cubicBezTo>
                  <a:cubicBezTo>
                    <a:pt x="321" y="240"/>
                    <a:pt x="321" y="240"/>
                    <a:pt x="321" y="240"/>
                  </a:cubicBezTo>
                  <a:cubicBezTo>
                    <a:pt x="323" y="230"/>
                    <a:pt x="336" y="225"/>
                    <a:pt x="345" y="229"/>
                  </a:cubicBezTo>
                  <a:cubicBezTo>
                    <a:pt x="353" y="232"/>
                    <a:pt x="357" y="241"/>
                    <a:pt x="354" y="248"/>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6" name="Freeform 2007">
              <a:extLst>
                <a:ext uri="{FF2B5EF4-FFF2-40B4-BE49-F238E27FC236}">
                  <a16:creationId xmlns:a16="http://schemas.microsoft.com/office/drawing/2014/main" id="{5CCD4E78-3242-FF28-6769-1DE4F6B4C730}"/>
                </a:ext>
              </a:extLst>
            </p:cNvPr>
            <p:cNvSpPr>
              <a:spLocks/>
            </p:cNvSpPr>
            <p:nvPr/>
          </p:nvSpPr>
          <p:spPr bwMode="gray">
            <a:xfrm>
              <a:off x="5858415" y="4452590"/>
              <a:ext cx="299589" cy="264038"/>
            </a:xfrm>
            <a:custGeom>
              <a:avLst/>
              <a:gdLst>
                <a:gd name="T0" fmla="*/ 8739 w 8739"/>
                <a:gd name="T1" fmla="*/ 4471 h 7702"/>
                <a:gd name="T2" fmla="*/ 8479 w 8739"/>
                <a:gd name="T3" fmla="*/ 7039 h 7702"/>
                <a:gd name="T4" fmla="*/ 8364 w 8739"/>
                <a:gd name="T5" fmla="*/ 7702 h 7702"/>
                <a:gd name="T6" fmla="*/ 8364 w 8739"/>
                <a:gd name="T7" fmla="*/ 7702 h 7702"/>
                <a:gd name="T8" fmla="*/ 7210 w 8739"/>
                <a:gd name="T9" fmla="*/ 3260 h 7702"/>
                <a:gd name="T10" fmla="*/ 7528 w 8739"/>
                <a:gd name="T11" fmla="*/ 2250 h 7702"/>
                <a:gd name="T12" fmla="*/ 6287 w 8739"/>
                <a:gd name="T13" fmla="*/ 1500 h 7702"/>
                <a:gd name="T14" fmla="*/ 3720 w 8739"/>
                <a:gd name="T15" fmla="*/ 2510 h 7702"/>
                <a:gd name="T16" fmla="*/ 1846 w 8739"/>
                <a:gd name="T17" fmla="*/ 2481 h 7702"/>
                <a:gd name="T18" fmla="*/ 1067 w 8739"/>
                <a:gd name="T19" fmla="*/ 2394 h 7702"/>
                <a:gd name="T20" fmla="*/ 1500 w 8739"/>
                <a:gd name="T21" fmla="*/ 3404 h 7702"/>
                <a:gd name="T22" fmla="*/ 403 w 8739"/>
                <a:gd name="T23" fmla="*/ 7702 h 7702"/>
                <a:gd name="T24" fmla="*/ 403 w 8739"/>
                <a:gd name="T25" fmla="*/ 7702 h 7702"/>
                <a:gd name="T26" fmla="*/ 259 w 8739"/>
                <a:gd name="T27" fmla="*/ 7039 h 7702"/>
                <a:gd name="T28" fmla="*/ 0 w 8739"/>
                <a:gd name="T29" fmla="*/ 4471 h 7702"/>
                <a:gd name="T30" fmla="*/ 375 w 8739"/>
                <a:gd name="T31" fmla="*/ 1356 h 7702"/>
                <a:gd name="T32" fmla="*/ 3201 w 8739"/>
                <a:gd name="T33" fmla="*/ 0 h 7702"/>
                <a:gd name="T34" fmla="*/ 5538 w 8739"/>
                <a:gd name="T35" fmla="*/ 0 h 7702"/>
                <a:gd name="T36" fmla="*/ 8393 w 8739"/>
                <a:gd name="T37" fmla="*/ 1356 h 7702"/>
                <a:gd name="T38" fmla="*/ 8739 w 8739"/>
                <a:gd name="T39" fmla="*/ 4471 h 7702"/>
                <a:gd name="T40" fmla="*/ 8739 w 8739"/>
                <a:gd name="T41" fmla="*/ 4471 h 7702"/>
                <a:gd name="T42" fmla="*/ 8739 w 8739"/>
                <a:gd name="T43" fmla="*/ 4471 h 7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739" h="7702">
                  <a:moveTo>
                    <a:pt x="8739" y="4471"/>
                  </a:moveTo>
                  <a:lnTo>
                    <a:pt x="8479" y="7039"/>
                  </a:lnTo>
                  <a:lnTo>
                    <a:pt x="8364" y="7702"/>
                  </a:lnTo>
                  <a:lnTo>
                    <a:pt x="8364" y="7702"/>
                  </a:lnTo>
                  <a:lnTo>
                    <a:pt x="7210" y="3260"/>
                  </a:lnTo>
                  <a:lnTo>
                    <a:pt x="7528" y="2250"/>
                  </a:lnTo>
                  <a:lnTo>
                    <a:pt x="6287" y="1500"/>
                  </a:lnTo>
                  <a:lnTo>
                    <a:pt x="3720" y="2510"/>
                  </a:lnTo>
                  <a:lnTo>
                    <a:pt x="1846" y="2481"/>
                  </a:lnTo>
                  <a:lnTo>
                    <a:pt x="1067" y="2394"/>
                  </a:lnTo>
                  <a:lnTo>
                    <a:pt x="1500" y="3404"/>
                  </a:lnTo>
                  <a:lnTo>
                    <a:pt x="403" y="7702"/>
                  </a:lnTo>
                  <a:lnTo>
                    <a:pt x="403" y="7702"/>
                  </a:lnTo>
                  <a:lnTo>
                    <a:pt x="259" y="7039"/>
                  </a:lnTo>
                  <a:lnTo>
                    <a:pt x="0" y="4471"/>
                  </a:lnTo>
                  <a:lnTo>
                    <a:pt x="375" y="1356"/>
                  </a:lnTo>
                  <a:lnTo>
                    <a:pt x="3201" y="0"/>
                  </a:lnTo>
                  <a:lnTo>
                    <a:pt x="5538" y="0"/>
                  </a:lnTo>
                  <a:lnTo>
                    <a:pt x="8393" y="1356"/>
                  </a:lnTo>
                  <a:lnTo>
                    <a:pt x="8739" y="4471"/>
                  </a:lnTo>
                  <a:lnTo>
                    <a:pt x="8739" y="4471"/>
                  </a:lnTo>
                  <a:lnTo>
                    <a:pt x="8739" y="4471"/>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7" name="Freeform 2008">
              <a:extLst>
                <a:ext uri="{FF2B5EF4-FFF2-40B4-BE49-F238E27FC236}">
                  <a16:creationId xmlns:a16="http://schemas.microsoft.com/office/drawing/2014/main" id="{3E061D59-FC27-FA7D-6A07-07BE16479BA6}"/>
                </a:ext>
              </a:extLst>
            </p:cNvPr>
            <p:cNvSpPr>
              <a:spLocks/>
            </p:cNvSpPr>
            <p:nvPr/>
          </p:nvSpPr>
          <p:spPr bwMode="gray">
            <a:xfrm>
              <a:off x="6018579" y="4875867"/>
              <a:ext cx="81077" cy="111725"/>
            </a:xfrm>
            <a:custGeom>
              <a:avLst/>
              <a:gdLst>
                <a:gd name="T0" fmla="*/ 2365 w 2365"/>
                <a:gd name="T1" fmla="*/ 1269 h 3259"/>
                <a:gd name="T2" fmla="*/ 548 w 2365"/>
                <a:gd name="T3" fmla="*/ 3259 h 3259"/>
                <a:gd name="T4" fmla="*/ 0 w 2365"/>
                <a:gd name="T5" fmla="*/ 1846 h 3259"/>
                <a:gd name="T6" fmla="*/ 2365 w 2365"/>
                <a:gd name="T7" fmla="*/ 0 h 3259"/>
                <a:gd name="T8" fmla="*/ 2365 w 2365"/>
                <a:gd name="T9" fmla="*/ 1269 h 3259"/>
              </a:gdLst>
              <a:ahLst/>
              <a:cxnLst>
                <a:cxn ang="0">
                  <a:pos x="T0" y="T1"/>
                </a:cxn>
                <a:cxn ang="0">
                  <a:pos x="T2" y="T3"/>
                </a:cxn>
                <a:cxn ang="0">
                  <a:pos x="T4" y="T5"/>
                </a:cxn>
                <a:cxn ang="0">
                  <a:pos x="T6" y="T7"/>
                </a:cxn>
                <a:cxn ang="0">
                  <a:pos x="T8" y="T9"/>
                </a:cxn>
              </a:cxnLst>
              <a:rect l="0" t="0" r="r" b="b"/>
              <a:pathLst>
                <a:path w="2365" h="3259">
                  <a:moveTo>
                    <a:pt x="2365" y="1269"/>
                  </a:moveTo>
                  <a:lnTo>
                    <a:pt x="548" y="3259"/>
                  </a:lnTo>
                  <a:lnTo>
                    <a:pt x="0" y="1846"/>
                  </a:lnTo>
                  <a:lnTo>
                    <a:pt x="2365" y="0"/>
                  </a:lnTo>
                  <a:lnTo>
                    <a:pt x="2365" y="12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8" name="Freeform 2009">
              <a:extLst>
                <a:ext uri="{FF2B5EF4-FFF2-40B4-BE49-F238E27FC236}">
                  <a16:creationId xmlns:a16="http://schemas.microsoft.com/office/drawing/2014/main" id="{6CCA387F-0D8E-9E42-CB4C-4BB717EC4A8E}"/>
                </a:ext>
              </a:extLst>
            </p:cNvPr>
            <p:cNvSpPr>
              <a:spLocks/>
            </p:cNvSpPr>
            <p:nvPr/>
          </p:nvSpPr>
          <p:spPr bwMode="gray">
            <a:xfrm>
              <a:off x="5956289" y="4939153"/>
              <a:ext cx="107782" cy="431163"/>
            </a:xfrm>
            <a:custGeom>
              <a:avLst/>
              <a:gdLst>
                <a:gd name="T0" fmla="*/ 3144 w 3144"/>
                <a:gd name="T1" fmla="*/ 8135 h 12577"/>
                <a:gd name="T2" fmla="*/ 1500 w 3144"/>
                <a:gd name="T3" fmla="*/ 12577 h 12577"/>
                <a:gd name="T4" fmla="*/ 0 w 3144"/>
                <a:gd name="T5" fmla="*/ 8135 h 12577"/>
                <a:gd name="T6" fmla="*/ 837 w 3144"/>
                <a:gd name="T7" fmla="*/ 2336 h 12577"/>
                <a:gd name="T8" fmla="*/ 635 w 3144"/>
                <a:gd name="T9" fmla="*/ 1413 h 12577"/>
                <a:gd name="T10" fmla="*/ 1183 w 3144"/>
                <a:gd name="T11" fmla="*/ 0 h 12577"/>
                <a:gd name="T12" fmla="*/ 1817 w 3144"/>
                <a:gd name="T13" fmla="*/ 0 h 12577"/>
                <a:gd name="T14" fmla="*/ 2365 w 3144"/>
                <a:gd name="T15" fmla="*/ 1413 h 12577"/>
                <a:gd name="T16" fmla="*/ 2163 w 3144"/>
                <a:gd name="T17" fmla="*/ 2336 h 12577"/>
                <a:gd name="T18" fmla="*/ 3144 w 3144"/>
                <a:gd name="T19" fmla="*/ 8135 h 12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44" h="12577">
                  <a:moveTo>
                    <a:pt x="3144" y="8135"/>
                  </a:moveTo>
                  <a:lnTo>
                    <a:pt x="1500" y="12577"/>
                  </a:lnTo>
                  <a:lnTo>
                    <a:pt x="0" y="8135"/>
                  </a:lnTo>
                  <a:lnTo>
                    <a:pt x="837" y="2336"/>
                  </a:lnTo>
                  <a:lnTo>
                    <a:pt x="635" y="1413"/>
                  </a:lnTo>
                  <a:lnTo>
                    <a:pt x="1183" y="0"/>
                  </a:lnTo>
                  <a:lnTo>
                    <a:pt x="1817" y="0"/>
                  </a:lnTo>
                  <a:lnTo>
                    <a:pt x="2365" y="1413"/>
                  </a:lnTo>
                  <a:lnTo>
                    <a:pt x="2163" y="2336"/>
                  </a:lnTo>
                  <a:lnTo>
                    <a:pt x="3144" y="8135"/>
                  </a:lnTo>
                  <a:close/>
                </a:path>
              </a:pathLst>
            </a:custGeom>
            <a:solidFill>
              <a:srgbClr val="41AA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29" name="Freeform 2010">
              <a:extLst>
                <a:ext uri="{FF2B5EF4-FFF2-40B4-BE49-F238E27FC236}">
                  <a16:creationId xmlns:a16="http://schemas.microsoft.com/office/drawing/2014/main" id="{A9A280F8-4F56-DEF2-69CB-B58D890A0C0D}"/>
                </a:ext>
              </a:extLst>
            </p:cNvPr>
            <p:cNvSpPr>
              <a:spLocks/>
            </p:cNvSpPr>
            <p:nvPr/>
          </p:nvSpPr>
          <p:spPr bwMode="gray">
            <a:xfrm>
              <a:off x="5915768" y="4875867"/>
              <a:ext cx="81077" cy="111725"/>
            </a:xfrm>
            <a:custGeom>
              <a:avLst/>
              <a:gdLst>
                <a:gd name="T0" fmla="*/ 1817 w 2365"/>
                <a:gd name="T1" fmla="*/ 3259 h 3259"/>
                <a:gd name="T2" fmla="*/ 28 w 2365"/>
                <a:gd name="T3" fmla="*/ 1269 h 3259"/>
                <a:gd name="T4" fmla="*/ 0 w 2365"/>
                <a:gd name="T5" fmla="*/ 0 h 3259"/>
                <a:gd name="T6" fmla="*/ 2365 w 2365"/>
                <a:gd name="T7" fmla="*/ 1846 h 3259"/>
                <a:gd name="T8" fmla="*/ 1817 w 2365"/>
                <a:gd name="T9" fmla="*/ 3259 h 3259"/>
              </a:gdLst>
              <a:ahLst/>
              <a:cxnLst>
                <a:cxn ang="0">
                  <a:pos x="T0" y="T1"/>
                </a:cxn>
                <a:cxn ang="0">
                  <a:pos x="T2" y="T3"/>
                </a:cxn>
                <a:cxn ang="0">
                  <a:pos x="T4" y="T5"/>
                </a:cxn>
                <a:cxn ang="0">
                  <a:pos x="T6" y="T7"/>
                </a:cxn>
                <a:cxn ang="0">
                  <a:pos x="T8" y="T9"/>
                </a:cxn>
              </a:cxnLst>
              <a:rect l="0" t="0" r="r" b="b"/>
              <a:pathLst>
                <a:path w="2365" h="3259">
                  <a:moveTo>
                    <a:pt x="1817" y="3259"/>
                  </a:moveTo>
                  <a:lnTo>
                    <a:pt x="28" y="1269"/>
                  </a:lnTo>
                  <a:lnTo>
                    <a:pt x="0" y="0"/>
                  </a:lnTo>
                  <a:lnTo>
                    <a:pt x="2365" y="1846"/>
                  </a:lnTo>
                  <a:lnTo>
                    <a:pt x="1817" y="32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0" name="Freeform 2011">
              <a:extLst>
                <a:ext uri="{FF2B5EF4-FFF2-40B4-BE49-F238E27FC236}">
                  <a16:creationId xmlns:a16="http://schemas.microsoft.com/office/drawing/2014/main" id="{97FBE3CD-3A6B-FDBC-3393-07F627B0D4DB}"/>
                </a:ext>
              </a:extLst>
            </p:cNvPr>
            <p:cNvSpPr>
              <a:spLocks/>
            </p:cNvSpPr>
            <p:nvPr/>
          </p:nvSpPr>
          <p:spPr bwMode="gray">
            <a:xfrm>
              <a:off x="5681417" y="4875867"/>
              <a:ext cx="651594" cy="829723"/>
            </a:xfrm>
            <a:custGeom>
              <a:avLst/>
              <a:gdLst>
                <a:gd name="T0" fmla="*/ 16152 w 19007"/>
                <a:gd name="T1" fmla="*/ 17943 h 24203"/>
                <a:gd name="T2" fmla="*/ 16123 w 19007"/>
                <a:gd name="T3" fmla="*/ 23510 h 24203"/>
                <a:gd name="T4" fmla="*/ 15661 w 19007"/>
                <a:gd name="T5" fmla="*/ 24203 h 24203"/>
                <a:gd name="T6" fmla="*/ 3374 w 19007"/>
                <a:gd name="T7" fmla="*/ 24203 h 24203"/>
                <a:gd name="T8" fmla="*/ 2913 w 19007"/>
                <a:gd name="T9" fmla="*/ 23510 h 24203"/>
                <a:gd name="T10" fmla="*/ 2884 w 19007"/>
                <a:gd name="T11" fmla="*/ 17885 h 24203"/>
                <a:gd name="T12" fmla="*/ 1211 w 19007"/>
                <a:gd name="T13" fmla="*/ 17077 h 24203"/>
                <a:gd name="T14" fmla="*/ 0 w 19007"/>
                <a:gd name="T15" fmla="*/ 14741 h 24203"/>
                <a:gd name="T16" fmla="*/ 432 w 19007"/>
                <a:gd name="T17" fmla="*/ 4644 h 24203"/>
                <a:gd name="T18" fmla="*/ 2048 w 19007"/>
                <a:gd name="T19" fmla="*/ 2279 h 24203"/>
                <a:gd name="T20" fmla="*/ 4701 w 19007"/>
                <a:gd name="T21" fmla="*/ 1096 h 24203"/>
                <a:gd name="T22" fmla="*/ 4730 w 19007"/>
                <a:gd name="T23" fmla="*/ 836 h 24203"/>
                <a:gd name="T24" fmla="*/ 6836 w 19007"/>
                <a:gd name="T25" fmla="*/ 0 h 24203"/>
                <a:gd name="T26" fmla="*/ 6864 w 19007"/>
                <a:gd name="T27" fmla="*/ 1269 h 24203"/>
                <a:gd name="T28" fmla="*/ 8191 w 19007"/>
                <a:gd name="T29" fmla="*/ 8740 h 24203"/>
                <a:gd name="T30" fmla="*/ 9518 w 19007"/>
                <a:gd name="T31" fmla="*/ 14423 h 24203"/>
                <a:gd name="T32" fmla="*/ 10874 w 19007"/>
                <a:gd name="T33" fmla="*/ 8740 h 24203"/>
                <a:gd name="T34" fmla="*/ 10874 w 19007"/>
                <a:gd name="T35" fmla="*/ 8711 h 24203"/>
                <a:gd name="T36" fmla="*/ 12172 w 19007"/>
                <a:gd name="T37" fmla="*/ 1269 h 24203"/>
                <a:gd name="T38" fmla="*/ 12200 w 19007"/>
                <a:gd name="T39" fmla="*/ 0 h 24203"/>
                <a:gd name="T40" fmla="*/ 14335 w 19007"/>
                <a:gd name="T41" fmla="*/ 836 h 24203"/>
                <a:gd name="T42" fmla="*/ 14364 w 19007"/>
                <a:gd name="T43" fmla="*/ 1096 h 24203"/>
                <a:gd name="T44" fmla="*/ 16988 w 19007"/>
                <a:gd name="T45" fmla="*/ 2279 h 24203"/>
                <a:gd name="T46" fmla="*/ 18575 w 19007"/>
                <a:gd name="T47" fmla="*/ 4644 h 24203"/>
                <a:gd name="T48" fmla="*/ 19007 w 19007"/>
                <a:gd name="T49" fmla="*/ 14741 h 24203"/>
                <a:gd name="T50" fmla="*/ 17854 w 19007"/>
                <a:gd name="T51" fmla="*/ 17077 h 24203"/>
                <a:gd name="T52" fmla="*/ 16152 w 19007"/>
                <a:gd name="T53" fmla="*/ 17943 h 24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007" h="24203">
                  <a:moveTo>
                    <a:pt x="16152" y="17943"/>
                  </a:moveTo>
                  <a:lnTo>
                    <a:pt x="16123" y="23510"/>
                  </a:lnTo>
                  <a:lnTo>
                    <a:pt x="15661" y="24203"/>
                  </a:lnTo>
                  <a:lnTo>
                    <a:pt x="3374" y="24203"/>
                  </a:lnTo>
                  <a:lnTo>
                    <a:pt x="2913" y="23510"/>
                  </a:lnTo>
                  <a:lnTo>
                    <a:pt x="2884" y="17885"/>
                  </a:lnTo>
                  <a:lnTo>
                    <a:pt x="1211" y="17077"/>
                  </a:lnTo>
                  <a:lnTo>
                    <a:pt x="0" y="14741"/>
                  </a:lnTo>
                  <a:lnTo>
                    <a:pt x="432" y="4644"/>
                  </a:lnTo>
                  <a:lnTo>
                    <a:pt x="2048" y="2279"/>
                  </a:lnTo>
                  <a:lnTo>
                    <a:pt x="4701" y="1096"/>
                  </a:lnTo>
                  <a:lnTo>
                    <a:pt x="4730" y="836"/>
                  </a:lnTo>
                  <a:lnTo>
                    <a:pt x="6836" y="0"/>
                  </a:lnTo>
                  <a:lnTo>
                    <a:pt x="6864" y="1269"/>
                  </a:lnTo>
                  <a:lnTo>
                    <a:pt x="8191" y="8740"/>
                  </a:lnTo>
                  <a:lnTo>
                    <a:pt x="9518" y="14423"/>
                  </a:lnTo>
                  <a:lnTo>
                    <a:pt x="10874" y="8740"/>
                  </a:lnTo>
                  <a:lnTo>
                    <a:pt x="10874" y="8711"/>
                  </a:lnTo>
                  <a:lnTo>
                    <a:pt x="12172" y="1269"/>
                  </a:lnTo>
                  <a:lnTo>
                    <a:pt x="12200" y="0"/>
                  </a:lnTo>
                  <a:lnTo>
                    <a:pt x="14335" y="836"/>
                  </a:lnTo>
                  <a:lnTo>
                    <a:pt x="14364" y="1096"/>
                  </a:lnTo>
                  <a:lnTo>
                    <a:pt x="16988" y="2279"/>
                  </a:lnTo>
                  <a:lnTo>
                    <a:pt x="18575" y="4644"/>
                  </a:lnTo>
                  <a:lnTo>
                    <a:pt x="19007" y="14741"/>
                  </a:lnTo>
                  <a:lnTo>
                    <a:pt x="17854" y="17077"/>
                  </a:lnTo>
                  <a:lnTo>
                    <a:pt x="16152" y="17943"/>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1" name="Line 2012">
              <a:extLst>
                <a:ext uri="{FF2B5EF4-FFF2-40B4-BE49-F238E27FC236}">
                  <a16:creationId xmlns:a16="http://schemas.microsoft.com/office/drawing/2014/main" id="{973CD658-F847-ADB7-1B3E-E52B68207D21}"/>
                </a:ext>
              </a:extLst>
            </p:cNvPr>
            <p:cNvSpPr>
              <a:spLocks noChangeShapeType="1"/>
            </p:cNvSpPr>
            <p:nvPr/>
          </p:nvSpPr>
          <p:spPr bwMode="gray">
            <a:xfrm>
              <a:off x="5795130" y="5491946"/>
              <a:ext cx="0" cy="0"/>
            </a:xfrm>
            <a:prstGeom prst="line">
              <a:avLst/>
            </a:prstGeom>
            <a:noFill/>
            <a:ln w="595313" cap="flat">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2" name="Freeform 2013">
              <a:extLst>
                <a:ext uri="{FF2B5EF4-FFF2-40B4-BE49-F238E27FC236}">
                  <a16:creationId xmlns:a16="http://schemas.microsoft.com/office/drawing/2014/main" id="{C98BA8B5-6DEA-0BAB-425A-E07838766FFC}"/>
                </a:ext>
              </a:extLst>
            </p:cNvPr>
            <p:cNvSpPr>
              <a:spLocks/>
            </p:cNvSpPr>
            <p:nvPr/>
          </p:nvSpPr>
          <p:spPr bwMode="gray">
            <a:xfrm>
              <a:off x="5784228" y="5577994"/>
              <a:ext cx="446932" cy="196812"/>
            </a:xfrm>
            <a:custGeom>
              <a:avLst/>
              <a:gdLst>
                <a:gd name="T0" fmla="*/ 429 w 452"/>
                <a:gd name="T1" fmla="*/ 199 h 199"/>
                <a:gd name="T2" fmla="*/ 23 w 452"/>
                <a:gd name="T3" fmla="*/ 199 h 199"/>
                <a:gd name="T4" fmla="*/ 0 w 452"/>
                <a:gd name="T5" fmla="*/ 176 h 199"/>
                <a:gd name="T6" fmla="*/ 0 w 452"/>
                <a:gd name="T7" fmla="*/ 0 h 199"/>
                <a:gd name="T8" fmla="*/ 452 w 452"/>
                <a:gd name="T9" fmla="*/ 0 h 199"/>
                <a:gd name="T10" fmla="*/ 452 w 452"/>
                <a:gd name="T11" fmla="*/ 176 h 199"/>
                <a:gd name="T12" fmla="*/ 429 w 45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52" h="199">
                  <a:moveTo>
                    <a:pt x="429" y="199"/>
                  </a:moveTo>
                  <a:cubicBezTo>
                    <a:pt x="23" y="199"/>
                    <a:pt x="23" y="199"/>
                    <a:pt x="23" y="199"/>
                  </a:cubicBezTo>
                  <a:cubicBezTo>
                    <a:pt x="14" y="190"/>
                    <a:pt x="9" y="185"/>
                    <a:pt x="0" y="176"/>
                  </a:cubicBezTo>
                  <a:cubicBezTo>
                    <a:pt x="0" y="0"/>
                    <a:pt x="0" y="0"/>
                    <a:pt x="0" y="0"/>
                  </a:cubicBezTo>
                  <a:cubicBezTo>
                    <a:pt x="452" y="0"/>
                    <a:pt x="452" y="0"/>
                    <a:pt x="452" y="0"/>
                  </a:cubicBezTo>
                  <a:cubicBezTo>
                    <a:pt x="452" y="176"/>
                    <a:pt x="452" y="176"/>
                    <a:pt x="452" y="176"/>
                  </a:cubicBezTo>
                  <a:cubicBezTo>
                    <a:pt x="443" y="185"/>
                    <a:pt x="438" y="190"/>
                    <a:pt x="429" y="199"/>
                  </a:cubicBez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3" name="Freeform 2014">
              <a:extLst>
                <a:ext uri="{FF2B5EF4-FFF2-40B4-BE49-F238E27FC236}">
                  <a16:creationId xmlns:a16="http://schemas.microsoft.com/office/drawing/2014/main" id="{C3608054-595E-40C3-2434-B436B1F3FFC9}"/>
                </a:ext>
              </a:extLst>
            </p:cNvPr>
            <p:cNvSpPr>
              <a:spLocks/>
            </p:cNvSpPr>
            <p:nvPr/>
          </p:nvSpPr>
          <p:spPr bwMode="gray">
            <a:xfrm>
              <a:off x="5797084" y="5609636"/>
              <a:ext cx="189853" cy="729860"/>
            </a:xfrm>
            <a:custGeom>
              <a:avLst/>
              <a:gdLst>
                <a:gd name="T0" fmla="*/ 0 w 192"/>
                <a:gd name="T1" fmla="*/ 47 h 738"/>
                <a:gd name="T2" fmla="*/ 0 w 192"/>
                <a:gd name="T3" fmla="*/ 95 h 738"/>
                <a:gd name="T4" fmla="*/ 0 w 192"/>
                <a:gd name="T5" fmla="*/ 98 h 738"/>
                <a:gd name="T6" fmla="*/ 61 w 192"/>
                <a:gd name="T7" fmla="*/ 738 h 738"/>
                <a:gd name="T8" fmla="*/ 192 w 192"/>
                <a:gd name="T9" fmla="*/ 738 h 738"/>
                <a:gd name="T10" fmla="*/ 192 w 192"/>
                <a:gd name="T11" fmla="*/ 37 h 738"/>
                <a:gd name="T12" fmla="*/ 155 w 192"/>
                <a:gd name="T13" fmla="*/ 0 h 738"/>
                <a:gd name="T14" fmla="*/ 47 w 192"/>
                <a:gd name="T15" fmla="*/ 0 h 738"/>
                <a:gd name="T16" fmla="*/ 0 w 192"/>
                <a:gd name="T17" fmla="*/ 47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 h="738">
                  <a:moveTo>
                    <a:pt x="0" y="47"/>
                  </a:moveTo>
                  <a:cubicBezTo>
                    <a:pt x="0" y="95"/>
                    <a:pt x="0" y="95"/>
                    <a:pt x="0" y="95"/>
                  </a:cubicBezTo>
                  <a:cubicBezTo>
                    <a:pt x="0" y="96"/>
                    <a:pt x="0" y="97"/>
                    <a:pt x="0" y="98"/>
                  </a:cubicBezTo>
                  <a:cubicBezTo>
                    <a:pt x="61" y="738"/>
                    <a:pt x="61" y="738"/>
                    <a:pt x="61" y="738"/>
                  </a:cubicBezTo>
                  <a:cubicBezTo>
                    <a:pt x="192" y="738"/>
                    <a:pt x="192" y="738"/>
                    <a:pt x="192" y="738"/>
                  </a:cubicBezTo>
                  <a:cubicBezTo>
                    <a:pt x="192" y="37"/>
                    <a:pt x="192" y="37"/>
                    <a:pt x="192" y="37"/>
                  </a:cubicBezTo>
                  <a:cubicBezTo>
                    <a:pt x="177" y="23"/>
                    <a:pt x="169" y="14"/>
                    <a:pt x="155" y="0"/>
                  </a:cubicBezTo>
                  <a:cubicBezTo>
                    <a:pt x="47" y="0"/>
                    <a:pt x="47" y="0"/>
                    <a:pt x="47" y="0"/>
                  </a:cubicBezTo>
                  <a:cubicBezTo>
                    <a:pt x="28" y="18"/>
                    <a:pt x="18" y="28"/>
                    <a:pt x="0" y="47"/>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4" name="Freeform 2015">
              <a:extLst>
                <a:ext uri="{FF2B5EF4-FFF2-40B4-BE49-F238E27FC236}">
                  <a16:creationId xmlns:a16="http://schemas.microsoft.com/office/drawing/2014/main" id="{D05B0ECA-F820-D308-5546-642798EF0DD6}"/>
                </a:ext>
              </a:extLst>
            </p:cNvPr>
            <p:cNvSpPr>
              <a:spLocks/>
            </p:cNvSpPr>
            <p:nvPr/>
          </p:nvSpPr>
          <p:spPr bwMode="gray">
            <a:xfrm>
              <a:off x="6026497" y="5609636"/>
              <a:ext cx="191806" cy="729860"/>
            </a:xfrm>
            <a:custGeom>
              <a:avLst/>
              <a:gdLst>
                <a:gd name="T0" fmla="*/ 0 w 194"/>
                <a:gd name="T1" fmla="*/ 35 h 738"/>
                <a:gd name="T2" fmla="*/ 0 w 194"/>
                <a:gd name="T3" fmla="*/ 738 h 738"/>
                <a:gd name="T4" fmla="*/ 131 w 194"/>
                <a:gd name="T5" fmla="*/ 738 h 738"/>
                <a:gd name="T6" fmla="*/ 194 w 194"/>
                <a:gd name="T7" fmla="*/ 98 h 738"/>
                <a:gd name="T8" fmla="*/ 194 w 194"/>
                <a:gd name="T9" fmla="*/ 95 h 738"/>
                <a:gd name="T10" fmla="*/ 194 w 194"/>
                <a:gd name="T11" fmla="*/ 45 h 738"/>
                <a:gd name="T12" fmla="*/ 149 w 194"/>
                <a:gd name="T13" fmla="*/ 0 h 738"/>
                <a:gd name="T14" fmla="*/ 35 w 194"/>
                <a:gd name="T15" fmla="*/ 0 h 738"/>
                <a:gd name="T16" fmla="*/ 0 w 194"/>
                <a:gd name="T17" fmla="*/ 35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738">
                  <a:moveTo>
                    <a:pt x="0" y="35"/>
                  </a:moveTo>
                  <a:cubicBezTo>
                    <a:pt x="0" y="738"/>
                    <a:pt x="0" y="738"/>
                    <a:pt x="0" y="738"/>
                  </a:cubicBezTo>
                  <a:cubicBezTo>
                    <a:pt x="131" y="738"/>
                    <a:pt x="131" y="738"/>
                    <a:pt x="131" y="738"/>
                  </a:cubicBezTo>
                  <a:cubicBezTo>
                    <a:pt x="194" y="98"/>
                    <a:pt x="194" y="98"/>
                    <a:pt x="194" y="98"/>
                  </a:cubicBezTo>
                  <a:cubicBezTo>
                    <a:pt x="194" y="97"/>
                    <a:pt x="194" y="96"/>
                    <a:pt x="194" y="95"/>
                  </a:cubicBezTo>
                  <a:cubicBezTo>
                    <a:pt x="194" y="45"/>
                    <a:pt x="194" y="45"/>
                    <a:pt x="194" y="45"/>
                  </a:cubicBezTo>
                  <a:cubicBezTo>
                    <a:pt x="177" y="27"/>
                    <a:pt x="167" y="17"/>
                    <a:pt x="149" y="0"/>
                  </a:cubicBezTo>
                  <a:cubicBezTo>
                    <a:pt x="35" y="0"/>
                    <a:pt x="35" y="0"/>
                    <a:pt x="35" y="0"/>
                  </a:cubicBezTo>
                  <a:cubicBezTo>
                    <a:pt x="21" y="14"/>
                    <a:pt x="13" y="21"/>
                    <a:pt x="0" y="35"/>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5" name="Freeform 2016">
              <a:extLst>
                <a:ext uri="{FF2B5EF4-FFF2-40B4-BE49-F238E27FC236}">
                  <a16:creationId xmlns:a16="http://schemas.microsoft.com/office/drawing/2014/main" id="{868DD6E0-0358-F9D0-46F8-2F1BACDDDE7F}"/>
                </a:ext>
              </a:extLst>
            </p:cNvPr>
            <p:cNvSpPr>
              <a:spLocks/>
            </p:cNvSpPr>
            <p:nvPr/>
          </p:nvSpPr>
          <p:spPr bwMode="gray">
            <a:xfrm>
              <a:off x="6029446" y="6255436"/>
              <a:ext cx="174049" cy="84058"/>
            </a:xfrm>
            <a:custGeom>
              <a:avLst/>
              <a:gdLst>
                <a:gd name="T0" fmla="*/ 5077 w 5077"/>
                <a:gd name="T1" fmla="*/ 2452 h 2452"/>
                <a:gd name="T2" fmla="*/ 0 w 5077"/>
                <a:gd name="T3" fmla="*/ 2452 h 2452"/>
                <a:gd name="T4" fmla="*/ 0 w 5077"/>
                <a:gd name="T5" fmla="*/ 2336 h 2452"/>
                <a:gd name="T6" fmla="*/ 895 w 5077"/>
                <a:gd name="T7" fmla="*/ 0 h 2452"/>
                <a:gd name="T8" fmla="*/ 3952 w 5077"/>
                <a:gd name="T9" fmla="*/ 0 h 2452"/>
                <a:gd name="T10" fmla="*/ 5077 w 5077"/>
                <a:gd name="T11" fmla="*/ 2452 h 2452"/>
                <a:gd name="T12" fmla="*/ 5077 w 5077"/>
                <a:gd name="T13" fmla="*/ 2452 h 2452"/>
                <a:gd name="T14" fmla="*/ 5077 w 5077"/>
                <a:gd name="T15" fmla="*/ 2452 h 2452"/>
                <a:gd name="T16" fmla="*/ 5077 w 5077"/>
                <a:gd name="T17" fmla="*/ 2452 h 2452"/>
                <a:gd name="T18" fmla="*/ 5077 w 5077"/>
                <a:gd name="T19" fmla="*/ 2452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77" h="2452">
                  <a:moveTo>
                    <a:pt x="5077" y="2452"/>
                  </a:moveTo>
                  <a:lnTo>
                    <a:pt x="0" y="2452"/>
                  </a:lnTo>
                  <a:lnTo>
                    <a:pt x="0" y="2336"/>
                  </a:lnTo>
                  <a:lnTo>
                    <a:pt x="895" y="0"/>
                  </a:lnTo>
                  <a:lnTo>
                    <a:pt x="3952" y="0"/>
                  </a:lnTo>
                  <a:lnTo>
                    <a:pt x="5077" y="2452"/>
                  </a:lnTo>
                  <a:lnTo>
                    <a:pt x="5077" y="2452"/>
                  </a:lnTo>
                  <a:lnTo>
                    <a:pt x="5077" y="2452"/>
                  </a:lnTo>
                  <a:lnTo>
                    <a:pt x="5077" y="2452"/>
                  </a:lnTo>
                  <a:lnTo>
                    <a:pt x="5077" y="24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6" name="Freeform 2017">
              <a:extLst>
                <a:ext uri="{FF2B5EF4-FFF2-40B4-BE49-F238E27FC236}">
                  <a16:creationId xmlns:a16="http://schemas.microsoft.com/office/drawing/2014/main" id="{48A5E005-C993-E873-B2BE-F5FB5213B6DC}"/>
                </a:ext>
              </a:extLst>
            </p:cNvPr>
            <p:cNvSpPr>
              <a:spLocks/>
            </p:cNvSpPr>
            <p:nvPr/>
          </p:nvSpPr>
          <p:spPr bwMode="gray">
            <a:xfrm>
              <a:off x="5810934" y="6255436"/>
              <a:ext cx="173054" cy="84058"/>
            </a:xfrm>
            <a:custGeom>
              <a:avLst/>
              <a:gdLst>
                <a:gd name="T0" fmla="*/ 5048 w 5048"/>
                <a:gd name="T1" fmla="*/ 2336 h 2452"/>
                <a:gd name="T2" fmla="*/ 5048 w 5048"/>
                <a:gd name="T3" fmla="*/ 2452 h 2452"/>
                <a:gd name="T4" fmla="*/ 0 w 5048"/>
                <a:gd name="T5" fmla="*/ 2452 h 2452"/>
                <a:gd name="T6" fmla="*/ 1096 w 5048"/>
                <a:gd name="T7" fmla="*/ 0 h 2452"/>
                <a:gd name="T8" fmla="*/ 4182 w 5048"/>
                <a:gd name="T9" fmla="*/ 0 h 2452"/>
                <a:gd name="T10" fmla="*/ 5048 w 5048"/>
                <a:gd name="T11" fmla="*/ 2336 h 2452"/>
                <a:gd name="T12" fmla="*/ 5048 w 5048"/>
                <a:gd name="T13" fmla="*/ 2336 h 2452"/>
                <a:gd name="T14" fmla="*/ 5048 w 5048"/>
                <a:gd name="T15" fmla="*/ 2336 h 2452"/>
                <a:gd name="T16" fmla="*/ 5048 w 5048"/>
                <a:gd name="T17" fmla="*/ 2336 h 2452"/>
                <a:gd name="T18" fmla="*/ 5048 w 5048"/>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8" h="2452">
                  <a:moveTo>
                    <a:pt x="5048" y="2336"/>
                  </a:moveTo>
                  <a:lnTo>
                    <a:pt x="5048" y="2452"/>
                  </a:lnTo>
                  <a:lnTo>
                    <a:pt x="0" y="2452"/>
                  </a:lnTo>
                  <a:lnTo>
                    <a:pt x="1096" y="0"/>
                  </a:lnTo>
                  <a:lnTo>
                    <a:pt x="4182" y="0"/>
                  </a:lnTo>
                  <a:lnTo>
                    <a:pt x="5048" y="2336"/>
                  </a:lnTo>
                  <a:lnTo>
                    <a:pt x="5048" y="2336"/>
                  </a:lnTo>
                  <a:lnTo>
                    <a:pt x="5048" y="2336"/>
                  </a:lnTo>
                  <a:lnTo>
                    <a:pt x="5048" y="2336"/>
                  </a:lnTo>
                  <a:lnTo>
                    <a:pt x="5048"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7" name="Freeform 2018">
              <a:extLst>
                <a:ext uri="{FF2B5EF4-FFF2-40B4-BE49-F238E27FC236}">
                  <a16:creationId xmlns:a16="http://schemas.microsoft.com/office/drawing/2014/main" id="{0301E93C-EBB1-C548-4C73-96D6A56F733C}"/>
                </a:ext>
              </a:extLst>
            </p:cNvPr>
            <p:cNvSpPr>
              <a:spLocks/>
            </p:cNvSpPr>
            <p:nvPr/>
          </p:nvSpPr>
          <p:spPr bwMode="gray">
            <a:xfrm>
              <a:off x="6212375" y="5152762"/>
              <a:ext cx="29688" cy="368873"/>
            </a:xfrm>
            <a:custGeom>
              <a:avLst/>
              <a:gdLst>
                <a:gd name="T0" fmla="*/ 606 w 866"/>
                <a:gd name="T1" fmla="*/ 10760 h 10760"/>
                <a:gd name="T2" fmla="*/ 375 w 866"/>
                <a:gd name="T3" fmla="*/ 6779 h 10760"/>
                <a:gd name="T4" fmla="*/ 866 w 866"/>
                <a:gd name="T5" fmla="*/ 29 h 10760"/>
                <a:gd name="T6" fmla="*/ 491 w 866"/>
                <a:gd name="T7" fmla="*/ 0 h 10760"/>
                <a:gd name="T8" fmla="*/ 0 w 866"/>
                <a:gd name="T9" fmla="*/ 6779 h 10760"/>
                <a:gd name="T10" fmla="*/ 145 w 866"/>
                <a:gd name="T11" fmla="*/ 10760 h 10760"/>
                <a:gd name="T12" fmla="*/ 606 w 866"/>
                <a:gd name="T13" fmla="*/ 10760 h 10760"/>
              </a:gdLst>
              <a:ahLst/>
              <a:cxnLst>
                <a:cxn ang="0">
                  <a:pos x="T0" y="T1"/>
                </a:cxn>
                <a:cxn ang="0">
                  <a:pos x="T2" y="T3"/>
                </a:cxn>
                <a:cxn ang="0">
                  <a:pos x="T4" y="T5"/>
                </a:cxn>
                <a:cxn ang="0">
                  <a:pos x="T6" y="T7"/>
                </a:cxn>
                <a:cxn ang="0">
                  <a:pos x="T8" y="T9"/>
                </a:cxn>
                <a:cxn ang="0">
                  <a:pos x="T10" y="T11"/>
                </a:cxn>
                <a:cxn ang="0">
                  <a:pos x="T12" y="T13"/>
                </a:cxn>
              </a:cxnLst>
              <a:rect l="0" t="0" r="r" b="b"/>
              <a:pathLst>
                <a:path w="866" h="10760">
                  <a:moveTo>
                    <a:pt x="606" y="10760"/>
                  </a:moveTo>
                  <a:lnTo>
                    <a:pt x="375" y="6779"/>
                  </a:lnTo>
                  <a:lnTo>
                    <a:pt x="866" y="29"/>
                  </a:lnTo>
                  <a:lnTo>
                    <a:pt x="491" y="0"/>
                  </a:lnTo>
                  <a:lnTo>
                    <a:pt x="0" y="6779"/>
                  </a:lnTo>
                  <a:lnTo>
                    <a:pt x="145" y="10760"/>
                  </a:lnTo>
                  <a:lnTo>
                    <a:pt x="606" y="1076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8" name="Freeform 2019">
              <a:extLst>
                <a:ext uri="{FF2B5EF4-FFF2-40B4-BE49-F238E27FC236}">
                  <a16:creationId xmlns:a16="http://schemas.microsoft.com/office/drawing/2014/main" id="{0F78AC53-F934-5C27-8DC1-FB5C9816682A}"/>
                </a:ext>
              </a:extLst>
            </p:cNvPr>
            <p:cNvSpPr>
              <a:spLocks/>
            </p:cNvSpPr>
            <p:nvPr/>
          </p:nvSpPr>
          <p:spPr bwMode="gray">
            <a:xfrm>
              <a:off x="5838633" y="4920366"/>
              <a:ext cx="339150" cy="601269"/>
            </a:xfrm>
            <a:custGeom>
              <a:avLst/>
              <a:gdLst>
                <a:gd name="T0" fmla="*/ 4759 w 9893"/>
                <a:gd name="T1" fmla="*/ 13154 h 17539"/>
                <a:gd name="T2" fmla="*/ 4759 w 9893"/>
                <a:gd name="T3" fmla="*/ 13154 h 17539"/>
                <a:gd name="T4" fmla="*/ 4759 w 9893"/>
                <a:gd name="T5" fmla="*/ 17539 h 17539"/>
                <a:gd name="T6" fmla="*/ 5163 w 9893"/>
                <a:gd name="T7" fmla="*/ 17539 h 17539"/>
                <a:gd name="T8" fmla="*/ 5163 w 9893"/>
                <a:gd name="T9" fmla="*/ 13125 h 17539"/>
                <a:gd name="T10" fmla="*/ 5134 w 9893"/>
                <a:gd name="T11" fmla="*/ 13125 h 17539"/>
                <a:gd name="T12" fmla="*/ 7874 w 9893"/>
                <a:gd name="T13" fmla="*/ 6548 h 17539"/>
                <a:gd name="T14" fmla="*/ 9893 w 9893"/>
                <a:gd name="T15" fmla="*/ 1154 h 17539"/>
                <a:gd name="T16" fmla="*/ 9431 w 9893"/>
                <a:gd name="T17" fmla="*/ 461 h 17539"/>
                <a:gd name="T18" fmla="*/ 9864 w 9893"/>
                <a:gd name="T19" fmla="*/ 375 h 17539"/>
                <a:gd name="T20" fmla="*/ 9806 w 9893"/>
                <a:gd name="T21" fmla="*/ 0 h 17539"/>
                <a:gd name="T22" fmla="*/ 8797 w 9893"/>
                <a:gd name="T23" fmla="*/ 144 h 17539"/>
                <a:gd name="T24" fmla="*/ 9460 w 9893"/>
                <a:gd name="T25" fmla="*/ 1182 h 17539"/>
                <a:gd name="T26" fmla="*/ 7528 w 9893"/>
                <a:gd name="T27" fmla="*/ 6433 h 17539"/>
                <a:gd name="T28" fmla="*/ 4961 w 9893"/>
                <a:gd name="T29" fmla="*/ 12606 h 17539"/>
                <a:gd name="T30" fmla="*/ 461 w 9893"/>
                <a:gd name="T31" fmla="*/ 1182 h 17539"/>
                <a:gd name="T32" fmla="*/ 1096 w 9893"/>
                <a:gd name="T33" fmla="*/ 144 h 17539"/>
                <a:gd name="T34" fmla="*/ 86 w 9893"/>
                <a:gd name="T35" fmla="*/ 0 h 17539"/>
                <a:gd name="T36" fmla="*/ 29 w 9893"/>
                <a:gd name="T37" fmla="*/ 375 h 17539"/>
                <a:gd name="T38" fmla="*/ 461 w 9893"/>
                <a:gd name="T39" fmla="*/ 461 h 17539"/>
                <a:gd name="T40" fmla="*/ 0 w 9893"/>
                <a:gd name="T41" fmla="*/ 1154 h 17539"/>
                <a:gd name="T42" fmla="*/ 4759 w 9893"/>
                <a:gd name="T43" fmla="*/ 13154 h 17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893" h="17539">
                  <a:moveTo>
                    <a:pt x="4759" y="13154"/>
                  </a:moveTo>
                  <a:lnTo>
                    <a:pt x="4759" y="13154"/>
                  </a:lnTo>
                  <a:lnTo>
                    <a:pt x="4759" y="17539"/>
                  </a:lnTo>
                  <a:lnTo>
                    <a:pt x="5163" y="17539"/>
                  </a:lnTo>
                  <a:lnTo>
                    <a:pt x="5163" y="13125"/>
                  </a:lnTo>
                  <a:lnTo>
                    <a:pt x="5134" y="13125"/>
                  </a:lnTo>
                  <a:lnTo>
                    <a:pt x="7874" y="6548"/>
                  </a:lnTo>
                  <a:lnTo>
                    <a:pt x="9893" y="1154"/>
                  </a:lnTo>
                  <a:lnTo>
                    <a:pt x="9431" y="461"/>
                  </a:lnTo>
                  <a:lnTo>
                    <a:pt x="9864" y="375"/>
                  </a:lnTo>
                  <a:lnTo>
                    <a:pt x="9806" y="0"/>
                  </a:lnTo>
                  <a:lnTo>
                    <a:pt x="8797" y="144"/>
                  </a:lnTo>
                  <a:lnTo>
                    <a:pt x="9460" y="1182"/>
                  </a:lnTo>
                  <a:lnTo>
                    <a:pt x="7528" y="6433"/>
                  </a:lnTo>
                  <a:lnTo>
                    <a:pt x="4961" y="12606"/>
                  </a:lnTo>
                  <a:lnTo>
                    <a:pt x="461" y="1182"/>
                  </a:lnTo>
                  <a:lnTo>
                    <a:pt x="1096" y="144"/>
                  </a:lnTo>
                  <a:lnTo>
                    <a:pt x="86" y="0"/>
                  </a:lnTo>
                  <a:lnTo>
                    <a:pt x="29" y="375"/>
                  </a:lnTo>
                  <a:lnTo>
                    <a:pt x="461" y="461"/>
                  </a:lnTo>
                  <a:lnTo>
                    <a:pt x="0" y="1154"/>
                  </a:lnTo>
                  <a:lnTo>
                    <a:pt x="4759" y="13154"/>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39" name="Freeform 2020">
              <a:extLst>
                <a:ext uri="{FF2B5EF4-FFF2-40B4-BE49-F238E27FC236}">
                  <a16:creationId xmlns:a16="http://schemas.microsoft.com/office/drawing/2014/main" id="{375D3CE8-A0BC-2A9B-F023-CE1D6BF4E5ED}"/>
                </a:ext>
              </a:extLst>
            </p:cNvPr>
            <p:cNvSpPr>
              <a:spLocks/>
            </p:cNvSpPr>
            <p:nvPr/>
          </p:nvSpPr>
          <p:spPr bwMode="gray">
            <a:xfrm>
              <a:off x="5775349" y="5152762"/>
              <a:ext cx="29654" cy="368873"/>
            </a:xfrm>
            <a:custGeom>
              <a:avLst/>
              <a:gdLst>
                <a:gd name="T0" fmla="*/ 231 w 865"/>
                <a:gd name="T1" fmla="*/ 10760 h 10760"/>
                <a:gd name="T2" fmla="*/ 634 w 865"/>
                <a:gd name="T3" fmla="*/ 10760 h 10760"/>
                <a:gd name="T4" fmla="*/ 865 w 865"/>
                <a:gd name="T5" fmla="*/ 6779 h 10760"/>
                <a:gd name="T6" fmla="*/ 865 w 865"/>
                <a:gd name="T7" fmla="*/ 6779 h 10760"/>
                <a:gd name="T8" fmla="*/ 375 w 865"/>
                <a:gd name="T9" fmla="*/ 0 h 10760"/>
                <a:gd name="T10" fmla="*/ 0 w 865"/>
                <a:gd name="T11" fmla="*/ 29 h 10760"/>
                <a:gd name="T12" fmla="*/ 461 w 865"/>
                <a:gd name="T13" fmla="*/ 6779 h 10760"/>
                <a:gd name="T14" fmla="*/ 231 w 865"/>
                <a:gd name="T15" fmla="*/ 10760 h 107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5" h="10760">
                  <a:moveTo>
                    <a:pt x="231" y="10760"/>
                  </a:moveTo>
                  <a:lnTo>
                    <a:pt x="634" y="10760"/>
                  </a:lnTo>
                  <a:lnTo>
                    <a:pt x="865" y="6779"/>
                  </a:lnTo>
                  <a:lnTo>
                    <a:pt x="865" y="6779"/>
                  </a:lnTo>
                  <a:lnTo>
                    <a:pt x="375" y="0"/>
                  </a:lnTo>
                  <a:lnTo>
                    <a:pt x="0" y="29"/>
                  </a:lnTo>
                  <a:lnTo>
                    <a:pt x="461" y="6779"/>
                  </a:lnTo>
                  <a:lnTo>
                    <a:pt x="231" y="1076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0" name="Freeform 2021">
              <a:extLst>
                <a:ext uri="{FF2B5EF4-FFF2-40B4-BE49-F238E27FC236}">
                  <a16:creationId xmlns:a16="http://schemas.microsoft.com/office/drawing/2014/main" id="{1D9D3612-C0C8-396F-D4B5-6F7F3F626D9B}"/>
                </a:ext>
              </a:extLst>
            </p:cNvPr>
            <p:cNvSpPr>
              <a:spLocks/>
            </p:cNvSpPr>
            <p:nvPr/>
          </p:nvSpPr>
          <p:spPr bwMode="gray">
            <a:xfrm>
              <a:off x="5777338" y="5340661"/>
              <a:ext cx="464725" cy="140419"/>
            </a:xfrm>
            <a:custGeom>
              <a:avLst/>
              <a:gdLst>
                <a:gd name="T0" fmla="*/ 13354 w 13556"/>
                <a:gd name="T1" fmla="*/ 0 h 4096"/>
                <a:gd name="T2" fmla="*/ 9922 w 13556"/>
                <a:gd name="T3" fmla="*/ 2538 h 4096"/>
                <a:gd name="T4" fmla="*/ 3691 w 13556"/>
                <a:gd name="T5" fmla="*/ 2538 h 4096"/>
                <a:gd name="T6" fmla="*/ 173 w 13556"/>
                <a:gd name="T7" fmla="*/ 0 h 4096"/>
                <a:gd name="T8" fmla="*/ 144 w 13556"/>
                <a:gd name="T9" fmla="*/ 606 h 4096"/>
                <a:gd name="T10" fmla="*/ 86 w 13556"/>
                <a:gd name="T11" fmla="*/ 1356 h 4096"/>
                <a:gd name="T12" fmla="*/ 0 w 13556"/>
                <a:gd name="T13" fmla="*/ 4096 h 4096"/>
                <a:gd name="T14" fmla="*/ 13556 w 13556"/>
                <a:gd name="T15" fmla="*/ 4067 h 4096"/>
                <a:gd name="T16" fmla="*/ 13412 w 13556"/>
                <a:gd name="T17" fmla="*/ 1327 h 4096"/>
                <a:gd name="T18" fmla="*/ 13354 w 13556"/>
                <a:gd name="T19" fmla="*/ 0 h 4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56" h="4096">
                  <a:moveTo>
                    <a:pt x="13354" y="0"/>
                  </a:moveTo>
                  <a:lnTo>
                    <a:pt x="9922" y="2538"/>
                  </a:lnTo>
                  <a:lnTo>
                    <a:pt x="3691" y="2538"/>
                  </a:lnTo>
                  <a:lnTo>
                    <a:pt x="173" y="0"/>
                  </a:lnTo>
                  <a:lnTo>
                    <a:pt x="144" y="606"/>
                  </a:lnTo>
                  <a:lnTo>
                    <a:pt x="86" y="1356"/>
                  </a:lnTo>
                  <a:lnTo>
                    <a:pt x="0" y="4096"/>
                  </a:lnTo>
                  <a:lnTo>
                    <a:pt x="13556" y="4067"/>
                  </a:lnTo>
                  <a:lnTo>
                    <a:pt x="13412" y="1327"/>
                  </a:lnTo>
                  <a:lnTo>
                    <a:pt x="13354"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1" name="Freeform 2022">
              <a:extLst>
                <a:ext uri="{FF2B5EF4-FFF2-40B4-BE49-F238E27FC236}">
                  <a16:creationId xmlns:a16="http://schemas.microsoft.com/office/drawing/2014/main" id="{692EF9A2-67BC-4F45-AB1D-36B685A1D08E}"/>
                </a:ext>
              </a:extLst>
            </p:cNvPr>
            <p:cNvSpPr>
              <a:spLocks/>
            </p:cNvSpPr>
            <p:nvPr/>
          </p:nvSpPr>
          <p:spPr bwMode="gray">
            <a:xfrm>
              <a:off x="6032428" y="5420743"/>
              <a:ext cx="138430" cy="60336"/>
            </a:xfrm>
            <a:custGeom>
              <a:avLst/>
              <a:gdLst>
                <a:gd name="T0" fmla="*/ 4038 w 4038"/>
                <a:gd name="T1" fmla="*/ 1760 h 1760"/>
                <a:gd name="T2" fmla="*/ 0 w 4038"/>
                <a:gd name="T3" fmla="*/ 1760 h 1760"/>
                <a:gd name="T4" fmla="*/ 0 w 4038"/>
                <a:gd name="T5" fmla="*/ 1674 h 1760"/>
                <a:gd name="T6" fmla="*/ 692 w 4038"/>
                <a:gd name="T7" fmla="*/ 0 h 1760"/>
                <a:gd name="T8" fmla="*/ 3144 w 4038"/>
                <a:gd name="T9" fmla="*/ 0 h 1760"/>
                <a:gd name="T10" fmla="*/ 4038 w 4038"/>
                <a:gd name="T11" fmla="*/ 1760 h 1760"/>
                <a:gd name="T12" fmla="*/ 4038 w 4038"/>
                <a:gd name="T13" fmla="*/ 1760 h 1760"/>
                <a:gd name="T14" fmla="*/ 4038 w 4038"/>
                <a:gd name="T15" fmla="*/ 1760 h 1760"/>
                <a:gd name="T16" fmla="*/ 4038 w 4038"/>
                <a:gd name="T17" fmla="*/ 1760 h 1760"/>
                <a:gd name="T18" fmla="*/ 4038 w 4038"/>
                <a:gd name="T19" fmla="*/ 1760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8" h="1760">
                  <a:moveTo>
                    <a:pt x="4038" y="1760"/>
                  </a:moveTo>
                  <a:lnTo>
                    <a:pt x="0" y="1760"/>
                  </a:lnTo>
                  <a:lnTo>
                    <a:pt x="0" y="1674"/>
                  </a:lnTo>
                  <a:lnTo>
                    <a:pt x="692" y="0"/>
                  </a:lnTo>
                  <a:lnTo>
                    <a:pt x="3144" y="0"/>
                  </a:lnTo>
                  <a:lnTo>
                    <a:pt x="4038" y="1760"/>
                  </a:lnTo>
                  <a:lnTo>
                    <a:pt x="4038" y="1760"/>
                  </a:lnTo>
                  <a:lnTo>
                    <a:pt x="4038" y="1760"/>
                  </a:lnTo>
                  <a:lnTo>
                    <a:pt x="4038" y="1760"/>
                  </a:lnTo>
                  <a:lnTo>
                    <a:pt x="4038" y="1760"/>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2" name="Freeform 2024">
              <a:extLst>
                <a:ext uri="{FF2B5EF4-FFF2-40B4-BE49-F238E27FC236}">
                  <a16:creationId xmlns:a16="http://schemas.microsoft.com/office/drawing/2014/main" id="{B7C70F18-F650-E839-8427-E00E4545DB3A}"/>
                </a:ext>
              </a:extLst>
            </p:cNvPr>
            <p:cNvSpPr>
              <a:spLocks/>
            </p:cNvSpPr>
            <p:nvPr/>
          </p:nvSpPr>
          <p:spPr bwMode="gray">
            <a:xfrm>
              <a:off x="5844564" y="5420743"/>
              <a:ext cx="139425" cy="60336"/>
            </a:xfrm>
            <a:custGeom>
              <a:avLst/>
              <a:gdLst>
                <a:gd name="T0" fmla="*/ 4067 w 4067"/>
                <a:gd name="T1" fmla="*/ 1674 h 1760"/>
                <a:gd name="T2" fmla="*/ 4067 w 4067"/>
                <a:gd name="T3" fmla="*/ 1760 h 1760"/>
                <a:gd name="T4" fmla="*/ 0 w 4067"/>
                <a:gd name="T5" fmla="*/ 1760 h 1760"/>
                <a:gd name="T6" fmla="*/ 894 w 4067"/>
                <a:gd name="T7" fmla="*/ 0 h 1760"/>
                <a:gd name="T8" fmla="*/ 3346 w 4067"/>
                <a:gd name="T9" fmla="*/ 0 h 1760"/>
                <a:gd name="T10" fmla="*/ 4067 w 4067"/>
                <a:gd name="T11" fmla="*/ 1674 h 1760"/>
                <a:gd name="T12" fmla="*/ 4067 w 4067"/>
                <a:gd name="T13" fmla="*/ 1674 h 1760"/>
                <a:gd name="T14" fmla="*/ 4067 w 4067"/>
                <a:gd name="T15" fmla="*/ 1674 h 1760"/>
                <a:gd name="T16" fmla="*/ 4067 w 4067"/>
                <a:gd name="T17" fmla="*/ 1674 h 1760"/>
                <a:gd name="T18" fmla="*/ 4067 w 4067"/>
                <a:gd name="T19" fmla="*/ 1674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67" h="1760">
                  <a:moveTo>
                    <a:pt x="4067" y="1674"/>
                  </a:moveTo>
                  <a:lnTo>
                    <a:pt x="4067" y="1760"/>
                  </a:lnTo>
                  <a:lnTo>
                    <a:pt x="0" y="1760"/>
                  </a:lnTo>
                  <a:lnTo>
                    <a:pt x="894" y="0"/>
                  </a:lnTo>
                  <a:lnTo>
                    <a:pt x="3346" y="0"/>
                  </a:lnTo>
                  <a:lnTo>
                    <a:pt x="4067" y="1674"/>
                  </a:lnTo>
                  <a:lnTo>
                    <a:pt x="4067" y="1674"/>
                  </a:lnTo>
                  <a:lnTo>
                    <a:pt x="4067" y="1674"/>
                  </a:lnTo>
                  <a:lnTo>
                    <a:pt x="4067" y="1674"/>
                  </a:lnTo>
                  <a:lnTo>
                    <a:pt x="4067" y="167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3" name="Rectangle 2025">
              <a:extLst>
                <a:ext uri="{FF2B5EF4-FFF2-40B4-BE49-F238E27FC236}">
                  <a16:creationId xmlns:a16="http://schemas.microsoft.com/office/drawing/2014/main" id="{6992DBD7-6951-18C2-330B-B5576098A451}"/>
                </a:ext>
              </a:extLst>
            </p:cNvPr>
            <p:cNvSpPr>
              <a:spLocks noChangeArrowheads="1"/>
            </p:cNvSpPr>
            <p:nvPr/>
          </p:nvSpPr>
          <p:spPr bwMode="gray">
            <a:xfrm>
              <a:off x="6002775" y="5427669"/>
              <a:ext cx="12856" cy="52417"/>
            </a:xfrm>
            <a:prstGeom prst="rect">
              <a:avLst/>
            </a:prstGeom>
            <a:solidFill>
              <a:srgbClr val="2D373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4" name="Freeform 2026">
              <a:extLst>
                <a:ext uri="{FF2B5EF4-FFF2-40B4-BE49-F238E27FC236}">
                  <a16:creationId xmlns:a16="http://schemas.microsoft.com/office/drawing/2014/main" id="{A338AF26-0290-DC7E-51A3-1E02B2D2F118}"/>
                </a:ext>
              </a:extLst>
            </p:cNvPr>
            <p:cNvSpPr>
              <a:spLocks/>
            </p:cNvSpPr>
            <p:nvPr/>
          </p:nvSpPr>
          <p:spPr bwMode="gray">
            <a:xfrm>
              <a:off x="5704145" y="5446488"/>
              <a:ext cx="607131" cy="48441"/>
            </a:xfrm>
            <a:custGeom>
              <a:avLst/>
              <a:gdLst>
                <a:gd name="T0" fmla="*/ 614 w 614"/>
                <a:gd name="T1" fmla="*/ 49 h 49"/>
                <a:gd name="T2" fmla="*/ 0 w 614"/>
                <a:gd name="T3" fmla="*/ 49 h 49"/>
                <a:gd name="T4" fmla="*/ 0 w 614"/>
                <a:gd name="T5" fmla="*/ 45 h 49"/>
                <a:gd name="T6" fmla="*/ 45 w 614"/>
                <a:gd name="T7" fmla="*/ 0 h 49"/>
                <a:gd name="T8" fmla="*/ 569 w 614"/>
                <a:gd name="T9" fmla="*/ 0 h 49"/>
                <a:gd name="T10" fmla="*/ 614 w 614"/>
                <a:gd name="T11" fmla="*/ 45 h 49"/>
                <a:gd name="T12" fmla="*/ 614 w 614"/>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614" h="49">
                  <a:moveTo>
                    <a:pt x="614" y="49"/>
                  </a:moveTo>
                  <a:cubicBezTo>
                    <a:pt x="0" y="49"/>
                    <a:pt x="0" y="49"/>
                    <a:pt x="0" y="49"/>
                  </a:cubicBezTo>
                  <a:cubicBezTo>
                    <a:pt x="0" y="45"/>
                    <a:pt x="0" y="45"/>
                    <a:pt x="0" y="45"/>
                  </a:cubicBezTo>
                  <a:cubicBezTo>
                    <a:pt x="17" y="27"/>
                    <a:pt x="27" y="17"/>
                    <a:pt x="45" y="0"/>
                  </a:cubicBezTo>
                  <a:cubicBezTo>
                    <a:pt x="569" y="0"/>
                    <a:pt x="569" y="0"/>
                    <a:pt x="569" y="0"/>
                  </a:cubicBezTo>
                  <a:cubicBezTo>
                    <a:pt x="587" y="17"/>
                    <a:pt x="596" y="27"/>
                    <a:pt x="614" y="45"/>
                  </a:cubicBezTo>
                  <a:lnTo>
                    <a:pt x="614" y="49"/>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5" name="Freeform 2027">
              <a:extLst>
                <a:ext uri="{FF2B5EF4-FFF2-40B4-BE49-F238E27FC236}">
                  <a16:creationId xmlns:a16="http://schemas.microsoft.com/office/drawing/2014/main" id="{4EAE0C4F-052F-360C-B694-5A1D21903015}"/>
                </a:ext>
              </a:extLst>
            </p:cNvPr>
            <p:cNvSpPr>
              <a:spLocks/>
            </p:cNvSpPr>
            <p:nvPr/>
          </p:nvSpPr>
          <p:spPr bwMode="gray">
            <a:xfrm>
              <a:off x="5738771" y="5087490"/>
              <a:ext cx="537882" cy="382722"/>
            </a:xfrm>
            <a:custGeom>
              <a:avLst/>
              <a:gdLst>
                <a:gd name="T0" fmla="*/ 521 w 544"/>
                <a:gd name="T1" fmla="*/ 387 h 387"/>
                <a:gd name="T2" fmla="*/ 23 w 544"/>
                <a:gd name="T3" fmla="*/ 387 h 387"/>
                <a:gd name="T4" fmla="*/ 0 w 544"/>
                <a:gd name="T5" fmla="*/ 364 h 387"/>
                <a:gd name="T6" fmla="*/ 0 w 544"/>
                <a:gd name="T7" fmla="*/ 24 h 387"/>
                <a:gd name="T8" fmla="*/ 23 w 544"/>
                <a:gd name="T9" fmla="*/ 0 h 387"/>
                <a:gd name="T10" fmla="*/ 521 w 544"/>
                <a:gd name="T11" fmla="*/ 0 h 387"/>
                <a:gd name="T12" fmla="*/ 544 w 544"/>
                <a:gd name="T13" fmla="*/ 24 h 387"/>
                <a:gd name="T14" fmla="*/ 544 w 544"/>
                <a:gd name="T15" fmla="*/ 364 h 387"/>
                <a:gd name="T16" fmla="*/ 521 w 544"/>
                <a:gd name="T17" fmla="*/ 38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4" h="387">
                  <a:moveTo>
                    <a:pt x="521" y="387"/>
                  </a:moveTo>
                  <a:cubicBezTo>
                    <a:pt x="23" y="387"/>
                    <a:pt x="23" y="387"/>
                    <a:pt x="23" y="387"/>
                  </a:cubicBezTo>
                  <a:cubicBezTo>
                    <a:pt x="10" y="387"/>
                    <a:pt x="0" y="377"/>
                    <a:pt x="0" y="364"/>
                  </a:cubicBezTo>
                  <a:cubicBezTo>
                    <a:pt x="0" y="24"/>
                    <a:pt x="0" y="24"/>
                    <a:pt x="0" y="24"/>
                  </a:cubicBezTo>
                  <a:cubicBezTo>
                    <a:pt x="0" y="11"/>
                    <a:pt x="10" y="0"/>
                    <a:pt x="23" y="0"/>
                  </a:cubicBezTo>
                  <a:cubicBezTo>
                    <a:pt x="521" y="0"/>
                    <a:pt x="521" y="0"/>
                    <a:pt x="521" y="0"/>
                  </a:cubicBezTo>
                  <a:cubicBezTo>
                    <a:pt x="534" y="0"/>
                    <a:pt x="544" y="11"/>
                    <a:pt x="544" y="24"/>
                  </a:cubicBezTo>
                  <a:cubicBezTo>
                    <a:pt x="544" y="364"/>
                    <a:pt x="544" y="364"/>
                    <a:pt x="544" y="364"/>
                  </a:cubicBezTo>
                  <a:cubicBezTo>
                    <a:pt x="544" y="377"/>
                    <a:pt x="534" y="387"/>
                    <a:pt x="521" y="387"/>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6" name="Oval 2028">
              <a:extLst>
                <a:ext uri="{FF2B5EF4-FFF2-40B4-BE49-F238E27FC236}">
                  <a16:creationId xmlns:a16="http://schemas.microsoft.com/office/drawing/2014/main" id="{F8E65ABE-4BED-94C6-5C52-72ED53A26AF7}"/>
                </a:ext>
              </a:extLst>
            </p:cNvPr>
            <p:cNvSpPr>
              <a:spLocks noChangeArrowheads="1"/>
            </p:cNvSpPr>
            <p:nvPr/>
          </p:nvSpPr>
          <p:spPr bwMode="gray">
            <a:xfrm>
              <a:off x="5957283" y="5198255"/>
              <a:ext cx="104800" cy="104833"/>
            </a:xfrm>
            <a:prstGeom prst="ellipse">
              <a:avLst/>
            </a:prstGeom>
            <a:solidFill>
              <a:srgbClr val="879B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7" name="Freeform 2029">
              <a:extLst>
                <a:ext uri="{FF2B5EF4-FFF2-40B4-BE49-F238E27FC236}">
                  <a16:creationId xmlns:a16="http://schemas.microsoft.com/office/drawing/2014/main" id="{9B539682-BB32-46C0-5429-3D45B18568A7}"/>
                </a:ext>
              </a:extLst>
            </p:cNvPr>
            <p:cNvSpPr>
              <a:spLocks/>
            </p:cNvSpPr>
            <p:nvPr/>
          </p:nvSpPr>
          <p:spPr bwMode="gray">
            <a:xfrm>
              <a:off x="6557489" y="5774807"/>
              <a:ext cx="534933" cy="55365"/>
            </a:xfrm>
            <a:custGeom>
              <a:avLst/>
              <a:gdLst>
                <a:gd name="T0" fmla="*/ 486 w 541"/>
                <a:gd name="T1" fmla="*/ 0 h 56"/>
                <a:gd name="T2" fmla="*/ 56 w 541"/>
                <a:gd name="T3" fmla="*/ 0 h 56"/>
                <a:gd name="T4" fmla="*/ 0 w 541"/>
                <a:gd name="T5" fmla="*/ 56 h 56"/>
                <a:gd name="T6" fmla="*/ 541 w 541"/>
                <a:gd name="T7" fmla="*/ 56 h 56"/>
                <a:gd name="T8" fmla="*/ 486 w 541"/>
                <a:gd name="T9" fmla="*/ 0 h 56"/>
              </a:gdLst>
              <a:ahLst/>
              <a:cxnLst>
                <a:cxn ang="0">
                  <a:pos x="T0" y="T1"/>
                </a:cxn>
                <a:cxn ang="0">
                  <a:pos x="T2" y="T3"/>
                </a:cxn>
                <a:cxn ang="0">
                  <a:pos x="T4" y="T5"/>
                </a:cxn>
                <a:cxn ang="0">
                  <a:pos x="T6" y="T7"/>
                </a:cxn>
                <a:cxn ang="0">
                  <a:pos x="T8" y="T9"/>
                </a:cxn>
              </a:cxnLst>
              <a:rect l="0" t="0" r="r" b="b"/>
              <a:pathLst>
                <a:path w="541" h="56">
                  <a:moveTo>
                    <a:pt x="486" y="0"/>
                  </a:moveTo>
                  <a:cubicBezTo>
                    <a:pt x="56" y="0"/>
                    <a:pt x="56" y="0"/>
                    <a:pt x="56" y="0"/>
                  </a:cubicBezTo>
                  <a:cubicBezTo>
                    <a:pt x="25" y="0"/>
                    <a:pt x="0" y="25"/>
                    <a:pt x="0" y="56"/>
                  </a:cubicBezTo>
                  <a:cubicBezTo>
                    <a:pt x="541" y="56"/>
                    <a:pt x="541" y="56"/>
                    <a:pt x="541" y="56"/>
                  </a:cubicBezTo>
                  <a:cubicBezTo>
                    <a:pt x="541" y="25"/>
                    <a:pt x="516" y="0"/>
                    <a:pt x="486"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8" name="Freeform 2030">
              <a:extLst>
                <a:ext uri="{FF2B5EF4-FFF2-40B4-BE49-F238E27FC236}">
                  <a16:creationId xmlns:a16="http://schemas.microsoft.com/office/drawing/2014/main" id="{141C6292-3F80-DBEA-8C1B-8B3415C95885}"/>
                </a:ext>
              </a:extLst>
            </p:cNvPr>
            <p:cNvSpPr>
              <a:spLocks/>
            </p:cNvSpPr>
            <p:nvPr/>
          </p:nvSpPr>
          <p:spPr bwMode="gray">
            <a:xfrm>
              <a:off x="6557489" y="5830171"/>
              <a:ext cx="534933" cy="37573"/>
            </a:xfrm>
            <a:custGeom>
              <a:avLst/>
              <a:gdLst>
                <a:gd name="T0" fmla="*/ 0 w 15604"/>
                <a:gd name="T1" fmla="*/ 0 h 1096"/>
                <a:gd name="T2" fmla="*/ 15604 w 15604"/>
                <a:gd name="T3" fmla="*/ 0 h 1096"/>
                <a:gd name="T4" fmla="*/ 15604 w 15604"/>
                <a:gd name="T5" fmla="*/ 1096 h 1096"/>
                <a:gd name="T6" fmla="*/ 0 w 15604"/>
                <a:gd name="T7" fmla="*/ 1096 h 1096"/>
                <a:gd name="T8" fmla="*/ 0 w 15604"/>
                <a:gd name="T9" fmla="*/ 0 h 1096"/>
                <a:gd name="T10" fmla="*/ 0 w 15604"/>
                <a:gd name="T11" fmla="*/ 0 h 1096"/>
              </a:gdLst>
              <a:ahLst/>
              <a:cxnLst>
                <a:cxn ang="0">
                  <a:pos x="T0" y="T1"/>
                </a:cxn>
                <a:cxn ang="0">
                  <a:pos x="T2" y="T3"/>
                </a:cxn>
                <a:cxn ang="0">
                  <a:pos x="T4" y="T5"/>
                </a:cxn>
                <a:cxn ang="0">
                  <a:pos x="T6" y="T7"/>
                </a:cxn>
                <a:cxn ang="0">
                  <a:pos x="T8" y="T9"/>
                </a:cxn>
                <a:cxn ang="0">
                  <a:pos x="T10" y="T11"/>
                </a:cxn>
              </a:cxnLst>
              <a:rect l="0" t="0" r="r" b="b"/>
              <a:pathLst>
                <a:path w="15604" h="1096">
                  <a:moveTo>
                    <a:pt x="0" y="0"/>
                  </a:moveTo>
                  <a:lnTo>
                    <a:pt x="15604" y="0"/>
                  </a:lnTo>
                  <a:lnTo>
                    <a:pt x="15604"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49" name="Freeform 2031">
              <a:extLst>
                <a:ext uri="{FF2B5EF4-FFF2-40B4-BE49-F238E27FC236}">
                  <a16:creationId xmlns:a16="http://schemas.microsoft.com/office/drawing/2014/main" id="{6AB95D1A-9015-EC48-4B86-7A783F0A3638}"/>
                </a:ext>
              </a:extLst>
            </p:cNvPr>
            <p:cNvSpPr>
              <a:spLocks/>
            </p:cNvSpPr>
            <p:nvPr/>
          </p:nvSpPr>
          <p:spPr bwMode="gray">
            <a:xfrm>
              <a:off x="6573292"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0" name="Freeform 2032">
              <a:extLst>
                <a:ext uri="{FF2B5EF4-FFF2-40B4-BE49-F238E27FC236}">
                  <a16:creationId xmlns:a16="http://schemas.microsoft.com/office/drawing/2014/main" id="{25D07F0A-3881-4772-F6C2-E4CA3AA36A4B}"/>
                </a:ext>
              </a:extLst>
            </p:cNvPr>
            <p:cNvSpPr>
              <a:spLocks/>
            </p:cNvSpPr>
            <p:nvPr/>
          </p:nvSpPr>
          <p:spPr bwMode="gray">
            <a:xfrm>
              <a:off x="6557489" y="5455367"/>
              <a:ext cx="32602" cy="884129"/>
            </a:xfrm>
            <a:custGeom>
              <a:avLst/>
              <a:gdLst>
                <a:gd name="T0" fmla="*/ 0 w 951"/>
                <a:gd name="T1" fmla="*/ 0 h 25790"/>
                <a:gd name="T2" fmla="*/ 951 w 951"/>
                <a:gd name="T3" fmla="*/ 0 h 25790"/>
                <a:gd name="T4" fmla="*/ 951 w 951"/>
                <a:gd name="T5" fmla="*/ 25790 h 25790"/>
                <a:gd name="T6" fmla="*/ 0 w 951"/>
                <a:gd name="T7" fmla="*/ 25790 h 25790"/>
                <a:gd name="T8" fmla="*/ 0 w 951"/>
                <a:gd name="T9" fmla="*/ 0 h 25790"/>
                <a:gd name="T10" fmla="*/ 0 w 951"/>
                <a:gd name="T11" fmla="*/ 0 h 25790"/>
              </a:gdLst>
              <a:ahLst/>
              <a:cxnLst>
                <a:cxn ang="0">
                  <a:pos x="T0" y="T1"/>
                </a:cxn>
                <a:cxn ang="0">
                  <a:pos x="T2" y="T3"/>
                </a:cxn>
                <a:cxn ang="0">
                  <a:pos x="T4" y="T5"/>
                </a:cxn>
                <a:cxn ang="0">
                  <a:pos x="T6" y="T7"/>
                </a:cxn>
                <a:cxn ang="0">
                  <a:pos x="T8" y="T9"/>
                </a:cxn>
                <a:cxn ang="0">
                  <a:pos x="T10" y="T11"/>
                </a:cxn>
              </a:cxnLst>
              <a:rect l="0" t="0" r="r" b="b"/>
              <a:pathLst>
                <a:path w="951" h="25790">
                  <a:moveTo>
                    <a:pt x="0" y="0"/>
                  </a:moveTo>
                  <a:lnTo>
                    <a:pt x="951" y="0"/>
                  </a:lnTo>
                  <a:lnTo>
                    <a:pt x="951"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1" name="Freeform 2033">
              <a:extLst>
                <a:ext uri="{FF2B5EF4-FFF2-40B4-BE49-F238E27FC236}">
                  <a16:creationId xmlns:a16="http://schemas.microsoft.com/office/drawing/2014/main" id="{A05D0B46-D623-41DE-A9F8-158402752FA5}"/>
                </a:ext>
              </a:extLst>
            </p:cNvPr>
            <p:cNvSpPr>
              <a:spLocks/>
            </p:cNvSpPr>
            <p:nvPr/>
          </p:nvSpPr>
          <p:spPr bwMode="gray">
            <a:xfrm>
              <a:off x="7060780"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2" name="Freeform 2034">
              <a:extLst>
                <a:ext uri="{FF2B5EF4-FFF2-40B4-BE49-F238E27FC236}">
                  <a16:creationId xmlns:a16="http://schemas.microsoft.com/office/drawing/2014/main" id="{15DEA413-29C3-6B42-E3A6-8CC7D76211B6}"/>
                </a:ext>
              </a:extLst>
            </p:cNvPr>
            <p:cNvSpPr>
              <a:spLocks/>
            </p:cNvSpPr>
            <p:nvPr/>
          </p:nvSpPr>
          <p:spPr bwMode="gray">
            <a:xfrm>
              <a:off x="6557489" y="5246696"/>
              <a:ext cx="534933" cy="208673"/>
            </a:xfrm>
            <a:custGeom>
              <a:avLst/>
              <a:gdLst>
                <a:gd name="T0" fmla="*/ 405 w 541"/>
                <a:gd name="T1" fmla="*/ 0 h 211"/>
                <a:gd name="T2" fmla="*/ 137 w 541"/>
                <a:gd name="T3" fmla="*/ 0 h 211"/>
                <a:gd name="T4" fmla="*/ 0 w 541"/>
                <a:gd name="T5" fmla="*/ 119 h 211"/>
                <a:gd name="T6" fmla="*/ 0 w 541"/>
                <a:gd name="T7" fmla="*/ 211 h 211"/>
                <a:gd name="T8" fmla="*/ 541 w 541"/>
                <a:gd name="T9" fmla="*/ 211 h 211"/>
                <a:gd name="T10" fmla="*/ 541 w 541"/>
                <a:gd name="T11" fmla="*/ 119 h 211"/>
                <a:gd name="T12" fmla="*/ 405 w 541"/>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1" h="211">
                  <a:moveTo>
                    <a:pt x="405" y="0"/>
                  </a:moveTo>
                  <a:cubicBezTo>
                    <a:pt x="137" y="0"/>
                    <a:pt x="137" y="0"/>
                    <a:pt x="137" y="0"/>
                  </a:cubicBezTo>
                  <a:cubicBezTo>
                    <a:pt x="61" y="0"/>
                    <a:pt x="0" y="53"/>
                    <a:pt x="0" y="119"/>
                  </a:cubicBezTo>
                  <a:cubicBezTo>
                    <a:pt x="0" y="211"/>
                    <a:pt x="0" y="211"/>
                    <a:pt x="0" y="211"/>
                  </a:cubicBezTo>
                  <a:cubicBezTo>
                    <a:pt x="541" y="211"/>
                    <a:pt x="541" y="211"/>
                    <a:pt x="541" y="211"/>
                  </a:cubicBezTo>
                  <a:cubicBezTo>
                    <a:pt x="541" y="119"/>
                    <a:pt x="541" y="119"/>
                    <a:pt x="541" y="119"/>
                  </a:cubicBezTo>
                  <a:cubicBezTo>
                    <a:pt x="541" y="53"/>
                    <a:pt x="480" y="0"/>
                    <a:pt x="405" y="0"/>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3" name="Freeform 2035">
              <a:extLst>
                <a:ext uri="{FF2B5EF4-FFF2-40B4-BE49-F238E27FC236}">
                  <a16:creationId xmlns:a16="http://schemas.microsoft.com/office/drawing/2014/main" id="{49046E31-88AF-8BE0-2776-AE008432864C}"/>
                </a:ext>
              </a:extLst>
            </p:cNvPr>
            <p:cNvSpPr>
              <a:spLocks/>
            </p:cNvSpPr>
            <p:nvPr/>
          </p:nvSpPr>
          <p:spPr bwMode="gray">
            <a:xfrm>
              <a:off x="6512992" y="5161641"/>
              <a:ext cx="124580" cy="330305"/>
            </a:xfrm>
            <a:custGeom>
              <a:avLst/>
              <a:gdLst>
                <a:gd name="T0" fmla="*/ 403 w 3634"/>
                <a:gd name="T1" fmla="*/ 6030 h 9635"/>
                <a:gd name="T2" fmla="*/ 0 w 3634"/>
                <a:gd name="T3" fmla="*/ 0 h 9635"/>
                <a:gd name="T4" fmla="*/ 3115 w 3634"/>
                <a:gd name="T5" fmla="*/ 0 h 9635"/>
                <a:gd name="T6" fmla="*/ 2971 w 3634"/>
                <a:gd name="T7" fmla="*/ 4818 h 9635"/>
                <a:gd name="T8" fmla="*/ 3634 w 3634"/>
                <a:gd name="T9" fmla="*/ 7212 h 9635"/>
                <a:gd name="T10" fmla="*/ 2884 w 3634"/>
                <a:gd name="T11" fmla="*/ 9635 h 9635"/>
                <a:gd name="T12" fmla="*/ 1673 w 3634"/>
                <a:gd name="T13" fmla="*/ 8453 h 9635"/>
                <a:gd name="T14" fmla="*/ 403 w 3634"/>
                <a:gd name="T15" fmla="*/ 6030 h 9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34" h="9635">
                  <a:moveTo>
                    <a:pt x="403" y="6030"/>
                  </a:moveTo>
                  <a:lnTo>
                    <a:pt x="0" y="0"/>
                  </a:lnTo>
                  <a:lnTo>
                    <a:pt x="3115" y="0"/>
                  </a:lnTo>
                  <a:lnTo>
                    <a:pt x="2971" y="4818"/>
                  </a:lnTo>
                  <a:lnTo>
                    <a:pt x="3634" y="7212"/>
                  </a:lnTo>
                  <a:lnTo>
                    <a:pt x="2884" y="9635"/>
                  </a:lnTo>
                  <a:lnTo>
                    <a:pt x="1673" y="8453"/>
                  </a:lnTo>
                  <a:lnTo>
                    <a:pt x="403" y="603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4" name="Freeform 2036">
              <a:extLst>
                <a:ext uri="{FF2B5EF4-FFF2-40B4-BE49-F238E27FC236}">
                  <a16:creationId xmlns:a16="http://schemas.microsoft.com/office/drawing/2014/main" id="{07310468-87C0-45EE-0101-E8AEA8F4B8D6}"/>
                </a:ext>
              </a:extLst>
            </p:cNvPr>
            <p:cNvSpPr>
              <a:spLocks/>
            </p:cNvSpPr>
            <p:nvPr/>
          </p:nvSpPr>
          <p:spPr bwMode="gray">
            <a:xfrm>
              <a:off x="7024167" y="5161641"/>
              <a:ext cx="118684" cy="330305"/>
            </a:xfrm>
            <a:custGeom>
              <a:avLst/>
              <a:gdLst>
                <a:gd name="T0" fmla="*/ 3289 w 3462"/>
                <a:gd name="T1" fmla="*/ 6030 h 9635"/>
                <a:gd name="T2" fmla="*/ 3462 w 3462"/>
                <a:gd name="T3" fmla="*/ 0 h 9635"/>
                <a:gd name="T4" fmla="*/ 231 w 3462"/>
                <a:gd name="T5" fmla="*/ 0 h 9635"/>
                <a:gd name="T6" fmla="*/ 779 w 3462"/>
                <a:gd name="T7" fmla="*/ 4818 h 9635"/>
                <a:gd name="T8" fmla="*/ 0 w 3462"/>
                <a:gd name="T9" fmla="*/ 7385 h 9635"/>
                <a:gd name="T10" fmla="*/ 520 w 3462"/>
                <a:gd name="T11" fmla="*/ 9635 h 9635"/>
                <a:gd name="T12" fmla="*/ 2048 w 3462"/>
                <a:gd name="T13" fmla="*/ 8453 h 9635"/>
                <a:gd name="T14" fmla="*/ 3289 w 3462"/>
                <a:gd name="T15" fmla="*/ 6030 h 9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62" h="9635">
                  <a:moveTo>
                    <a:pt x="3289" y="6030"/>
                  </a:moveTo>
                  <a:lnTo>
                    <a:pt x="3462" y="0"/>
                  </a:lnTo>
                  <a:lnTo>
                    <a:pt x="231" y="0"/>
                  </a:lnTo>
                  <a:lnTo>
                    <a:pt x="779" y="4818"/>
                  </a:lnTo>
                  <a:lnTo>
                    <a:pt x="0" y="7385"/>
                  </a:lnTo>
                  <a:lnTo>
                    <a:pt x="520" y="9635"/>
                  </a:lnTo>
                  <a:lnTo>
                    <a:pt x="2048" y="8453"/>
                  </a:lnTo>
                  <a:lnTo>
                    <a:pt x="3289" y="603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5" name="Freeform 2037">
              <a:extLst>
                <a:ext uri="{FF2B5EF4-FFF2-40B4-BE49-F238E27FC236}">
                  <a16:creationId xmlns:a16="http://schemas.microsoft.com/office/drawing/2014/main" id="{BF8B18A0-BE69-30F2-AD47-D33C3794EB00}"/>
                </a:ext>
              </a:extLst>
            </p:cNvPr>
            <p:cNvSpPr>
              <a:spLocks/>
            </p:cNvSpPr>
            <p:nvPr/>
          </p:nvSpPr>
          <p:spPr bwMode="gray">
            <a:xfrm>
              <a:off x="6608876" y="5577994"/>
              <a:ext cx="438052" cy="196812"/>
            </a:xfrm>
            <a:custGeom>
              <a:avLst/>
              <a:gdLst>
                <a:gd name="T0" fmla="*/ 399 w 443"/>
                <a:gd name="T1" fmla="*/ 199 h 199"/>
                <a:gd name="T2" fmla="*/ 42 w 443"/>
                <a:gd name="T3" fmla="*/ 199 h 199"/>
                <a:gd name="T4" fmla="*/ 25 w 443"/>
                <a:gd name="T5" fmla="*/ 184 h 199"/>
                <a:gd name="T6" fmla="*/ 0 w 443"/>
                <a:gd name="T7" fmla="*/ 0 h 199"/>
                <a:gd name="T8" fmla="*/ 443 w 443"/>
                <a:gd name="T9" fmla="*/ 0 h 199"/>
                <a:gd name="T10" fmla="*/ 416 w 443"/>
                <a:gd name="T11" fmla="*/ 184 h 199"/>
                <a:gd name="T12" fmla="*/ 399 w 443"/>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43" h="199">
                  <a:moveTo>
                    <a:pt x="399" y="199"/>
                  </a:moveTo>
                  <a:cubicBezTo>
                    <a:pt x="42" y="199"/>
                    <a:pt x="42" y="199"/>
                    <a:pt x="42" y="199"/>
                  </a:cubicBezTo>
                  <a:cubicBezTo>
                    <a:pt x="36" y="193"/>
                    <a:pt x="31" y="189"/>
                    <a:pt x="25" y="184"/>
                  </a:cubicBezTo>
                  <a:cubicBezTo>
                    <a:pt x="0" y="0"/>
                    <a:pt x="0" y="0"/>
                    <a:pt x="0" y="0"/>
                  </a:cubicBezTo>
                  <a:cubicBezTo>
                    <a:pt x="443" y="0"/>
                    <a:pt x="443" y="0"/>
                    <a:pt x="443" y="0"/>
                  </a:cubicBezTo>
                  <a:cubicBezTo>
                    <a:pt x="416" y="184"/>
                    <a:pt x="416" y="184"/>
                    <a:pt x="416" y="184"/>
                  </a:cubicBezTo>
                  <a:cubicBezTo>
                    <a:pt x="410" y="190"/>
                    <a:pt x="406" y="193"/>
                    <a:pt x="399" y="199"/>
                  </a:cubicBezTo>
                  <a:close/>
                </a:path>
              </a:pathLst>
            </a:custGeom>
            <a:solidFill>
              <a:srgbClr val="0055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6" name="Freeform 2038">
              <a:extLst>
                <a:ext uri="{FF2B5EF4-FFF2-40B4-BE49-F238E27FC236}">
                  <a16:creationId xmlns:a16="http://schemas.microsoft.com/office/drawing/2014/main" id="{7CE11CB5-AB19-519E-9F4D-AEFCA0DC83F5}"/>
                </a:ext>
              </a:extLst>
            </p:cNvPr>
            <p:cNvSpPr>
              <a:spLocks/>
            </p:cNvSpPr>
            <p:nvPr/>
          </p:nvSpPr>
          <p:spPr bwMode="gray">
            <a:xfrm>
              <a:off x="6608876" y="4501030"/>
              <a:ext cx="434111" cy="392630"/>
            </a:xfrm>
            <a:custGeom>
              <a:avLst/>
              <a:gdLst>
                <a:gd name="T0" fmla="*/ 395 w 439"/>
                <a:gd name="T1" fmla="*/ 125 h 397"/>
                <a:gd name="T2" fmla="*/ 220 w 439"/>
                <a:gd name="T3" fmla="*/ 0 h 397"/>
                <a:gd name="T4" fmla="*/ 219 w 439"/>
                <a:gd name="T5" fmla="*/ 0 h 397"/>
                <a:gd name="T6" fmla="*/ 44 w 439"/>
                <a:gd name="T7" fmla="*/ 125 h 397"/>
                <a:gd name="T8" fmla="*/ 8 w 439"/>
                <a:gd name="T9" fmla="*/ 356 h 397"/>
                <a:gd name="T10" fmla="*/ 130 w 439"/>
                <a:gd name="T11" fmla="*/ 392 h 397"/>
                <a:gd name="T12" fmla="*/ 225 w 439"/>
                <a:gd name="T13" fmla="*/ 397 h 397"/>
                <a:gd name="T14" fmla="*/ 353 w 439"/>
                <a:gd name="T15" fmla="*/ 386 h 397"/>
                <a:gd name="T16" fmla="*/ 432 w 439"/>
                <a:gd name="T17" fmla="*/ 356 h 397"/>
                <a:gd name="T18" fmla="*/ 395 w 439"/>
                <a:gd name="T19" fmla="*/ 125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9" h="397">
                  <a:moveTo>
                    <a:pt x="395" y="125"/>
                  </a:moveTo>
                  <a:cubicBezTo>
                    <a:pt x="350" y="0"/>
                    <a:pt x="220" y="0"/>
                    <a:pt x="220" y="0"/>
                  </a:cubicBezTo>
                  <a:cubicBezTo>
                    <a:pt x="220" y="0"/>
                    <a:pt x="220" y="0"/>
                    <a:pt x="219" y="0"/>
                  </a:cubicBezTo>
                  <a:cubicBezTo>
                    <a:pt x="219" y="0"/>
                    <a:pt x="89" y="0"/>
                    <a:pt x="44" y="125"/>
                  </a:cubicBezTo>
                  <a:cubicBezTo>
                    <a:pt x="0" y="247"/>
                    <a:pt x="8" y="356"/>
                    <a:pt x="8" y="356"/>
                  </a:cubicBezTo>
                  <a:cubicBezTo>
                    <a:pt x="44" y="384"/>
                    <a:pt x="111" y="390"/>
                    <a:pt x="130" y="392"/>
                  </a:cubicBezTo>
                  <a:cubicBezTo>
                    <a:pt x="158" y="395"/>
                    <a:pt x="190" y="397"/>
                    <a:pt x="225" y="397"/>
                  </a:cubicBezTo>
                  <a:cubicBezTo>
                    <a:pt x="276" y="397"/>
                    <a:pt x="322" y="393"/>
                    <a:pt x="353" y="386"/>
                  </a:cubicBezTo>
                  <a:cubicBezTo>
                    <a:pt x="379" y="381"/>
                    <a:pt x="410" y="372"/>
                    <a:pt x="432" y="356"/>
                  </a:cubicBezTo>
                  <a:cubicBezTo>
                    <a:pt x="432" y="356"/>
                    <a:pt x="439" y="247"/>
                    <a:pt x="395" y="125"/>
                  </a:cubicBez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7" name="Freeform 2039">
              <a:extLst>
                <a:ext uri="{FF2B5EF4-FFF2-40B4-BE49-F238E27FC236}">
                  <a16:creationId xmlns:a16="http://schemas.microsoft.com/office/drawing/2014/main" id="{237744CB-FEF1-5EC4-083C-9AC8C5040FC4}"/>
                </a:ext>
              </a:extLst>
            </p:cNvPr>
            <p:cNvSpPr>
              <a:spLocks/>
            </p:cNvSpPr>
            <p:nvPr/>
          </p:nvSpPr>
          <p:spPr bwMode="gray">
            <a:xfrm>
              <a:off x="6648438" y="4606859"/>
              <a:ext cx="355983" cy="382722"/>
            </a:xfrm>
            <a:custGeom>
              <a:avLst/>
              <a:gdLst>
                <a:gd name="T0" fmla="*/ 347 w 360"/>
                <a:gd name="T1" fmla="*/ 73 h 387"/>
                <a:gd name="T2" fmla="*/ 327 w 360"/>
                <a:gd name="T3" fmla="*/ 84 h 387"/>
                <a:gd name="T4" fmla="*/ 316 w 360"/>
                <a:gd name="T5" fmla="*/ 125 h 387"/>
                <a:gd name="T6" fmla="*/ 303 w 360"/>
                <a:gd name="T7" fmla="*/ 120 h 387"/>
                <a:gd name="T8" fmla="*/ 307 w 360"/>
                <a:gd name="T9" fmla="*/ 89 h 387"/>
                <a:gd name="T10" fmla="*/ 291 w 360"/>
                <a:gd name="T11" fmla="*/ 0 h 387"/>
                <a:gd name="T12" fmla="*/ 188 w 360"/>
                <a:gd name="T13" fmla="*/ 53 h 387"/>
                <a:gd name="T14" fmla="*/ 179 w 360"/>
                <a:gd name="T15" fmla="*/ 2 h 387"/>
                <a:gd name="T16" fmla="*/ 177 w 360"/>
                <a:gd name="T17" fmla="*/ 6 h 387"/>
                <a:gd name="T18" fmla="*/ 54 w 360"/>
                <a:gd name="T19" fmla="*/ 79 h 387"/>
                <a:gd name="T20" fmla="*/ 51 w 360"/>
                <a:gd name="T21" fmla="*/ 80 h 387"/>
                <a:gd name="T22" fmla="*/ 55 w 360"/>
                <a:gd name="T23" fmla="*/ 120 h 387"/>
                <a:gd name="T24" fmla="*/ 43 w 360"/>
                <a:gd name="T25" fmla="*/ 124 h 387"/>
                <a:gd name="T26" fmla="*/ 33 w 360"/>
                <a:gd name="T27" fmla="*/ 84 h 387"/>
                <a:gd name="T28" fmla="*/ 14 w 360"/>
                <a:gd name="T29" fmla="*/ 73 h 387"/>
                <a:gd name="T30" fmla="*/ 8 w 360"/>
                <a:gd name="T31" fmla="*/ 99 h 387"/>
                <a:gd name="T32" fmla="*/ 32 w 360"/>
                <a:gd name="T33" fmla="*/ 158 h 387"/>
                <a:gd name="T34" fmla="*/ 46 w 360"/>
                <a:gd name="T35" fmla="*/ 168 h 387"/>
                <a:gd name="T36" fmla="*/ 51 w 360"/>
                <a:gd name="T37" fmla="*/ 168 h 387"/>
                <a:gd name="T38" fmla="*/ 51 w 360"/>
                <a:gd name="T39" fmla="*/ 168 h 387"/>
                <a:gd name="T40" fmla="*/ 51 w 360"/>
                <a:gd name="T41" fmla="*/ 168 h 387"/>
                <a:gd name="T42" fmla="*/ 51 w 360"/>
                <a:gd name="T43" fmla="*/ 168 h 387"/>
                <a:gd name="T44" fmla="*/ 85 w 360"/>
                <a:gd name="T45" fmla="*/ 243 h 387"/>
                <a:gd name="T46" fmla="*/ 100 w 360"/>
                <a:gd name="T47" fmla="*/ 259 h 387"/>
                <a:gd name="T48" fmla="*/ 100 w 360"/>
                <a:gd name="T49" fmla="*/ 260 h 387"/>
                <a:gd name="T50" fmla="*/ 100 w 360"/>
                <a:gd name="T51" fmla="*/ 260 h 387"/>
                <a:gd name="T52" fmla="*/ 101 w 360"/>
                <a:gd name="T53" fmla="*/ 325 h 387"/>
                <a:gd name="T54" fmla="*/ 168 w 360"/>
                <a:gd name="T55" fmla="*/ 387 h 387"/>
                <a:gd name="T56" fmla="*/ 190 w 360"/>
                <a:gd name="T57" fmla="*/ 387 h 387"/>
                <a:gd name="T58" fmla="*/ 258 w 360"/>
                <a:gd name="T59" fmla="*/ 323 h 387"/>
                <a:gd name="T60" fmla="*/ 259 w 360"/>
                <a:gd name="T61" fmla="*/ 277 h 387"/>
                <a:gd name="T62" fmla="*/ 259 w 360"/>
                <a:gd name="T63" fmla="*/ 259 h 387"/>
                <a:gd name="T64" fmla="*/ 308 w 360"/>
                <a:gd name="T65" fmla="*/ 168 h 387"/>
                <a:gd name="T66" fmla="*/ 308 w 360"/>
                <a:gd name="T67" fmla="*/ 168 h 387"/>
                <a:gd name="T68" fmla="*/ 315 w 360"/>
                <a:gd name="T69" fmla="*/ 168 h 387"/>
                <a:gd name="T70" fmla="*/ 328 w 360"/>
                <a:gd name="T71" fmla="*/ 158 h 387"/>
                <a:gd name="T72" fmla="*/ 352 w 360"/>
                <a:gd name="T73" fmla="*/ 99 h 387"/>
                <a:gd name="T74" fmla="*/ 347 w 360"/>
                <a:gd name="T75" fmla="*/ 73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387">
                  <a:moveTo>
                    <a:pt x="347" y="73"/>
                  </a:moveTo>
                  <a:cubicBezTo>
                    <a:pt x="338" y="70"/>
                    <a:pt x="329" y="74"/>
                    <a:pt x="327" y="84"/>
                  </a:cubicBezTo>
                  <a:cubicBezTo>
                    <a:pt x="327" y="84"/>
                    <a:pt x="327" y="84"/>
                    <a:pt x="316" y="125"/>
                  </a:cubicBezTo>
                  <a:cubicBezTo>
                    <a:pt x="303" y="120"/>
                    <a:pt x="303" y="120"/>
                    <a:pt x="303" y="120"/>
                  </a:cubicBezTo>
                  <a:cubicBezTo>
                    <a:pt x="307" y="89"/>
                    <a:pt x="307" y="89"/>
                    <a:pt x="307" y="89"/>
                  </a:cubicBezTo>
                  <a:cubicBezTo>
                    <a:pt x="308" y="40"/>
                    <a:pt x="291" y="0"/>
                    <a:pt x="291" y="0"/>
                  </a:cubicBezTo>
                  <a:cubicBezTo>
                    <a:pt x="260" y="46"/>
                    <a:pt x="188" y="53"/>
                    <a:pt x="188" y="53"/>
                  </a:cubicBezTo>
                  <a:cubicBezTo>
                    <a:pt x="179" y="2"/>
                    <a:pt x="179" y="2"/>
                    <a:pt x="179" y="2"/>
                  </a:cubicBezTo>
                  <a:cubicBezTo>
                    <a:pt x="179" y="2"/>
                    <a:pt x="178" y="4"/>
                    <a:pt x="177" y="6"/>
                  </a:cubicBezTo>
                  <a:cubicBezTo>
                    <a:pt x="148" y="47"/>
                    <a:pt x="103" y="73"/>
                    <a:pt x="54" y="79"/>
                  </a:cubicBezTo>
                  <a:cubicBezTo>
                    <a:pt x="51" y="80"/>
                    <a:pt x="51" y="80"/>
                    <a:pt x="51" y="80"/>
                  </a:cubicBezTo>
                  <a:cubicBezTo>
                    <a:pt x="55" y="120"/>
                    <a:pt x="55" y="120"/>
                    <a:pt x="55" y="120"/>
                  </a:cubicBezTo>
                  <a:cubicBezTo>
                    <a:pt x="49" y="122"/>
                    <a:pt x="45" y="124"/>
                    <a:pt x="43" y="124"/>
                  </a:cubicBezTo>
                  <a:cubicBezTo>
                    <a:pt x="33" y="84"/>
                    <a:pt x="33" y="84"/>
                    <a:pt x="33" y="84"/>
                  </a:cubicBezTo>
                  <a:cubicBezTo>
                    <a:pt x="31" y="74"/>
                    <a:pt x="22" y="70"/>
                    <a:pt x="14" y="73"/>
                  </a:cubicBezTo>
                  <a:cubicBezTo>
                    <a:pt x="14" y="73"/>
                    <a:pt x="0" y="78"/>
                    <a:pt x="8" y="99"/>
                  </a:cubicBezTo>
                  <a:cubicBezTo>
                    <a:pt x="8" y="99"/>
                    <a:pt x="8" y="99"/>
                    <a:pt x="32" y="158"/>
                  </a:cubicBezTo>
                  <a:cubicBezTo>
                    <a:pt x="34" y="164"/>
                    <a:pt x="40" y="168"/>
                    <a:pt x="46" y="168"/>
                  </a:cubicBezTo>
                  <a:cubicBezTo>
                    <a:pt x="46" y="168"/>
                    <a:pt x="46" y="168"/>
                    <a:pt x="51" y="168"/>
                  </a:cubicBezTo>
                  <a:cubicBezTo>
                    <a:pt x="51" y="168"/>
                    <a:pt x="51" y="168"/>
                    <a:pt x="51" y="168"/>
                  </a:cubicBezTo>
                  <a:cubicBezTo>
                    <a:pt x="51" y="168"/>
                    <a:pt x="51" y="168"/>
                    <a:pt x="51" y="168"/>
                  </a:cubicBezTo>
                  <a:cubicBezTo>
                    <a:pt x="51" y="168"/>
                    <a:pt x="51" y="168"/>
                    <a:pt x="51" y="168"/>
                  </a:cubicBezTo>
                  <a:cubicBezTo>
                    <a:pt x="61" y="201"/>
                    <a:pt x="73" y="225"/>
                    <a:pt x="85" y="243"/>
                  </a:cubicBezTo>
                  <a:cubicBezTo>
                    <a:pt x="90" y="249"/>
                    <a:pt x="95" y="255"/>
                    <a:pt x="100" y="259"/>
                  </a:cubicBezTo>
                  <a:cubicBezTo>
                    <a:pt x="100" y="259"/>
                    <a:pt x="100" y="259"/>
                    <a:pt x="100" y="260"/>
                  </a:cubicBezTo>
                  <a:cubicBezTo>
                    <a:pt x="100" y="260"/>
                    <a:pt x="100" y="260"/>
                    <a:pt x="100" y="260"/>
                  </a:cubicBezTo>
                  <a:cubicBezTo>
                    <a:pt x="101" y="277"/>
                    <a:pt x="101" y="303"/>
                    <a:pt x="101" y="325"/>
                  </a:cubicBezTo>
                  <a:cubicBezTo>
                    <a:pt x="168" y="387"/>
                    <a:pt x="168" y="387"/>
                    <a:pt x="168" y="387"/>
                  </a:cubicBezTo>
                  <a:cubicBezTo>
                    <a:pt x="190" y="387"/>
                    <a:pt x="190" y="387"/>
                    <a:pt x="190" y="387"/>
                  </a:cubicBezTo>
                  <a:cubicBezTo>
                    <a:pt x="258" y="323"/>
                    <a:pt x="258" y="323"/>
                    <a:pt x="258" y="323"/>
                  </a:cubicBezTo>
                  <a:cubicBezTo>
                    <a:pt x="259" y="277"/>
                    <a:pt x="259" y="277"/>
                    <a:pt x="259" y="277"/>
                  </a:cubicBezTo>
                  <a:cubicBezTo>
                    <a:pt x="259" y="272"/>
                    <a:pt x="259" y="261"/>
                    <a:pt x="259" y="259"/>
                  </a:cubicBezTo>
                  <a:cubicBezTo>
                    <a:pt x="278" y="241"/>
                    <a:pt x="295" y="213"/>
                    <a:pt x="308" y="168"/>
                  </a:cubicBezTo>
                  <a:cubicBezTo>
                    <a:pt x="308" y="168"/>
                    <a:pt x="308" y="168"/>
                    <a:pt x="308" y="168"/>
                  </a:cubicBezTo>
                  <a:cubicBezTo>
                    <a:pt x="309" y="168"/>
                    <a:pt x="311" y="168"/>
                    <a:pt x="315" y="168"/>
                  </a:cubicBezTo>
                  <a:cubicBezTo>
                    <a:pt x="321" y="168"/>
                    <a:pt x="326" y="164"/>
                    <a:pt x="328" y="158"/>
                  </a:cubicBezTo>
                  <a:cubicBezTo>
                    <a:pt x="328" y="158"/>
                    <a:pt x="328" y="158"/>
                    <a:pt x="352" y="99"/>
                  </a:cubicBezTo>
                  <a:cubicBezTo>
                    <a:pt x="360" y="78"/>
                    <a:pt x="347" y="73"/>
                    <a:pt x="347" y="73"/>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8" name="Freeform 2040">
              <a:extLst>
                <a:ext uri="{FF2B5EF4-FFF2-40B4-BE49-F238E27FC236}">
                  <a16:creationId xmlns:a16="http://schemas.microsoft.com/office/drawing/2014/main" id="{CDCFCFC9-B5F8-8F3F-2437-3D9794BBC672}"/>
                </a:ext>
              </a:extLst>
            </p:cNvPr>
            <p:cNvSpPr>
              <a:spLocks/>
            </p:cNvSpPr>
            <p:nvPr/>
          </p:nvSpPr>
          <p:spPr bwMode="gray">
            <a:xfrm>
              <a:off x="6491222" y="4896608"/>
              <a:ext cx="659514" cy="656668"/>
            </a:xfrm>
            <a:custGeom>
              <a:avLst/>
              <a:gdLst>
                <a:gd name="T0" fmla="*/ 520 w 667"/>
                <a:gd name="T1" fmla="*/ 422 h 664"/>
                <a:gd name="T2" fmla="*/ 564 w 667"/>
                <a:gd name="T3" fmla="*/ 663 h 664"/>
                <a:gd name="T4" fmla="*/ 109 w 667"/>
                <a:gd name="T5" fmla="*/ 664 h 664"/>
                <a:gd name="T6" fmla="*/ 159 w 667"/>
                <a:gd name="T7" fmla="*/ 422 h 664"/>
                <a:gd name="T8" fmla="*/ 118 w 667"/>
                <a:gd name="T9" fmla="*/ 291 h 664"/>
                <a:gd name="T10" fmla="*/ 11 w 667"/>
                <a:gd name="T11" fmla="*/ 277 h 664"/>
                <a:gd name="T12" fmla="*/ 103 w 667"/>
                <a:gd name="T13" fmla="*/ 63 h 664"/>
                <a:gd name="T14" fmla="*/ 260 w 667"/>
                <a:gd name="T15" fmla="*/ 0 h 664"/>
                <a:gd name="T16" fmla="*/ 326 w 667"/>
                <a:gd name="T17" fmla="*/ 67 h 664"/>
                <a:gd name="T18" fmla="*/ 351 w 667"/>
                <a:gd name="T19" fmla="*/ 67 h 664"/>
                <a:gd name="T20" fmla="*/ 417 w 667"/>
                <a:gd name="T21" fmla="*/ 0 h 664"/>
                <a:gd name="T22" fmla="*/ 575 w 667"/>
                <a:gd name="T23" fmla="*/ 63 h 664"/>
                <a:gd name="T24" fmla="*/ 667 w 667"/>
                <a:gd name="T25" fmla="*/ 277 h 664"/>
                <a:gd name="T26" fmla="*/ 560 w 667"/>
                <a:gd name="T27" fmla="*/ 291 h 664"/>
                <a:gd name="T28" fmla="*/ 560 w 667"/>
                <a:gd name="T29" fmla="*/ 291 h 664"/>
                <a:gd name="T30" fmla="*/ 520 w 667"/>
                <a:gd name="T31" fmla="*/ 422 h 664"/>
                <a:gd name="T32" fmla="*/ 520 w 667"/>
                <a:gd name="T33" fmla="*/ 422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7" h="664">
                  <a:moveTo>
                    <a:pt x="520" y="422"/>
                  </a:moveTo>
                  <a:cubicBezTo>
                    <a:pt x="564" y="663"/>
                    <a:pt x="564" y="663"/>
                    <a:pt x="564" y="663"/>
                  </a:cubicBezTo>
                  <a:cubicBezTo>
                    <a:pt x="109" y="664"/>
                    <a:pt x="109" y="664"/>
                    <a:pt x="109" y="664"/>
                  </a:cubicBezTo>
                  <a:cubicBezTo>
                    <a:pt x="159" y="422"/>
                    <a:pt x="159" y="422"/>
                    <a:pt x="159" y="422"/>
                  </a:cubicBezTo>
                  <a:cubicBezTo>
                    <a:pt x="118" y="291"/>
                    <a:pt x="118" y="291"/>
                    <a:pt x="118" y="291"/>
                  </a:cubicBezTo>
                  <a:cubicBezTo>
                    <a:pt x="11" y="277"/>
                    <a:pt x="11" y="277"/>
                    <a:pt x="11" y="277"/>
                  </a:cubicBezTo>
                  <a:cubicBezTo>
                    <a:pt x="11" y="277"/>
                    <a:pt x="0" y="105"/>
                    <a:pt x="103" y="63"/>
                  </a:cubicBezTo>
                  <a:cubicBezTo>
                    <a:pt x="241" y="5"/>
                    <a:pt x="260" y="0"/>
                    <a:pt x="260" y="0"/>
                  </a:cubicBezTo>
                  <a:cubicBezTo>
                    <a:pt x="326" y="67"/>
                    <a:pt x="326" y="67"/>
                    <a:pt x="326" y="67"/>
                  </a:cubicBezTo>
                  <a:cubicBezTo>
                    <a:pt x="351" y="67"/>
                    <a:pt x="351" y="67"/>
                    <a:pt x="351" y="67"/>
                  </a:cubicBezTo>
                  <a:cubicBezTo>
                    <a:pt x="417" y="0"/>
                    <a:pt x="417" y="0"/>
                    <a:pt x="417" y="0"/>
                  </a:cubicBezTo>
                  <a:cubicBezTo>
                    <a:pt x="575" y="63"/>
                    <a:pt x="575" y="63"/>
                    <a:pt x="575" y="63"/>
                  </a:cubicBezTo>
                  <a:cubicBezTo>
                    <a:pt x="654" y="138"/>
                    <a:pt x="667" y="277"/>
                    <a:pt x="667" y="277"/>
                  </a:cubicBezTo>
                  <a:cubicBezTo>
                    <a:pt x="560" y="291"/>
                    <a:pt x="560" y="291"/>
                    <a:pt x="560" y="291"/>
                  </a:cubicBezTo>
                  <a:cubicBezTo>
                    <a:pt x="560" y="291"/>
                    <a:pt x="560" y="291"/>
                    <a:pt x="560" y="291"/>
                  </a:cubicBezTo>
                  <a:cubicBezTo>
                    <a:pt x="520" y="422"/>
                    <a:pt x="520" y="422"/>
                    <a:pt x="520" y="422"/>
                  </a:cubicBezTo>
                  <a:cubicBezTo>
                    <a:pt x="520" y="422"/>
                    <a:pt x="520" y="422"/>
                    <a:pt x="520" y="422"/>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59" name="Freeform 2041">
              <a:extLst>
                <a:ext uri="{FF2B5EF4-FFF2-40B4-BE49-F238E27FC236}">
                  <a16:creationId xmlns:a16="http://schemas.microsoft.com/office/drawing/2014/main" id="{98420D9D-707E-1263-D548-530A803ACE4E}"/>
                </a:ext>
              </a:extLst>
            </p:cNvPr>
            <p:cNvSpPr>
              <a:spLocks/>
            </p:cNvSpPr>
            <p:nvPr/>
          </p:nvSpPr>
          <p:spPr bwMode="gray">
            <a:xfrm>
              <a:off x="6638565" y="5625475"/>
              <a:ext cx="170073" cy="714022"/>
            </a:xfrm>
            <a:custGeom>
              <a:avLst/>
              <a:gdLst>
                <a:gd name="T0" fmla="*/ 0 w 172"/>
                <a:gd name="T1" fmla="*/ 46 h 722"/>
                <a:gd name="T2" fmla="*/ 0 w 172"/>
                <a:gd name="T3" fmla="*/ 94 h 722"/>
                <a:gd name="T4" fmla="*/ 0 w 172"/>
                <a:gd name="T5" fmla="*/ 96 h 722"/>
                <a:gd name="T6" fmla="*/ 55 w 172"/>
                <a:gd name="T7" fmla="*/ 722 h 722"/>
                <a:gd name="T8" fmla="*/ 172 w 172"/>
                <a:gd name="T9" fmla="*/ 722 h 722"/>
                <a:gd name="T10" fmla="*/ 172 w 172"/>
                <a:gd name="T11" fmla="*/ 37 h 722"/>
                <a:gd name="T12" fmla="*/ 138 w 172"/>
                <a:gd name="T13" fmla="*/ 0 h 722"/>
                <a:gd name="T14" fmla="*/ 42 w 172"/>
                <a:gd name="T15" fmla="*/ 0 h 722"/>
                <a:gd name="T16" fmla="*/ 0 w 172"/>
                <a:gd name="T17" fmla="*/ 4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722">
                  <a:moveTo>
                    <a:pt x="0" y="46"/>
                  </a:moveTo>
                  <a:cubicBezTo>
                    <a:pt x="0" y="94"/>
                    <a:pt x="0" y="94"/>
                    <a:pt x="0" y="94"/>
                  </a:cubicBezTo>
                  <a:cubicBezTo>
                    <a:pt x="0" y="95"/>
                    <a:pt x="0" y="95"/>
                    <a:pt x="0" y="96"/>
                  </a:cubicBezTo>
                  <a:cubicBezTo>
                    <a:pt x="55" y="722"/>
                    <a:pt x="55" y="722"/>
                    <a:pt x="55" y="722"/>
                  </a:cubicBezTo>
                  <a:cubicBezTo>
                    <a:pt x="172" y="722"/>
                    <a:pt x="172" y="722"/>
                    <a:pt x="172" y="722"/>
                  </a:cubicBezTo>
                  <a:cubicBezTo>
                    <a:pt x="172" y="37"/>
                    <a:pt x="172" y="37"/>
                    <a:pt x="172" y="37"/>
                  </a:cubicBezTo>
                  <a:cubicBezTo>
                    <a:pt x="159" y="23"/>
                    <a:pt x="151" y="15"/>
                    <a:pt x="138" y="0"/>
                  </a:cubicBezTo>
                  <a:cubicBezTo>
                    <a:pt x="42" y="0"/>
                    <a:pt x="42" y="0"/>
                    <a:pt x="42" y="0"/>
                  </a:cubicBezTo>
                  <a:cubicBezTo>
                    <a:pt x="26" y="18"/>
                    <a:pt x="17" y="28"/>
                    <a:pt x="0" y="46"/>
                  </a:cubicBez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0" name="Freeform 2042">
              <a:extLst>
                <a:ext uri="{FF2B5EF4-FFF2-40B4-BE49-F238E27FC236}">
                  <a16:creationId xmlns:a16="http://schemas.microsoft.com/office/drawing/2014/main" id="{ADA46DD3-84B8-66B6-4B20-4BB7ED7E63E7}"/>
                </a:ext>
              </a:extLst>
            </p:cNvPr>
            <p:cNvSpPr>
              <a:spLocks/>
            </p:cNvSpPr>
            <p:nvPr/>
          </p:nvSpPr>
          <p:spPr bwMode="gray">
            <a:xfrm>
              <a:off x="6845216" y="5625475"/>
              <a:ext cx="168084" cy="714022"/>
            </a:xfrm>
            <a:custGeom>
              <a:avLst/>
              <a:gdLst>
                <a:gd name="T0" fmla="*/ 0 w 170"/>
                <a:gd name="T1" fmla="*/ 35 h 722"/>
                <a:gd name="T2" fmla="*/ 0 w 170"/>
                <a:gd name="T3" fmla="*/ 722 h 722"/>
                <a:gd name="T4" fmla="*/ 115 w 170"/>
                <a:gd name="T5" fmla="*/ 722 h 722"/>
                <a:gd name="T6" fmla="*/ 170 w 170"/>
                <a:gd name="T7" fmla="*/ 96 h 722"/>
                <a:gd name="T8" fmla="*/ 170 w 170"/>
                <a:gd name="T9" fmla="*/ 94 h 722"/>
                <a:gd name="T10" fmla="*/ 170 w 170"/>
                <a:gd name="T11" fmla="*/ 44 h 722"/>
                <a:gd name="T12" fmla="*/ 131 w 170"/>
                <a:gd name="T13" fmla="*/ 0 h 722"/>
                <a:gd name="T14" fmla="*/ 31 w 170"/>
                <a:gd name="T15" fmla="*/ 0 h 722"/>
                <a:gd name="T16" fmla="*/ 0 w 170"/>
                <a:gd name="T17" fmla="*/ 35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722">
                  <a:moveTo>
                    <a:pt x="0" y="35"/>
                  </a:moveTo>
                  <a:cubicBezTo>
                    <a:pt x="0" y="722"/>
                    <a:pt x="0" y="722"/>
                    <a:pt x="0" y="722"/>
                  </a:cubicBezTo>
                  <a:cubicBezTo>
                    <a:pt x="115" y="722"/>
                    <a:pt x="115" y="722"/>
                    <a:pt x="115" y="722"/>
                  </a:cubicBezTo>
                  <a:cubicBezTo>
                    <a:pt x="170" y="96"/>
                    <a:pt x="170" y="96"/>
                    <a:pt x="170" y="96"/>
                  </a:cubicBezTo>
                  <a:cubicBezTo>
                    <a:pt x="170" y="95"/>
                    <a:pt x="170" y="95"/>
                    <a:pt x="170" y="94"/>
                  </a:cubicBezTo>
                  <a:cubicBezTo>
                    <a:pt x="170" y="44"/>
                    <a:pt x="170" y="44"/>
                    <a:pt x="170" y="44"/>
                  </a:cubicBezTo>
                  <a:cubicBezTo>
                    <a:pt x="155" y="27"/>
                    <a:pt x="146" y="17"/>
                    <a:pt x="131" y="0"/>
                  </a:cubicBezTo>
                  <a:cubicBezTo>
                    <a:pt x="31" y="0"/>
                    <a:pt x="31" y="0"/>
                    <a:pt x="31" y="0"/>
                  </a:cubicBezTo>
                  <a:cubicBezTo>
                    <a:pt x="19" y="14"/>
                    <a:pt x="12" y="21"/>
                    <a:pt x="0" y="35"/>
                  </a:cubicBezTo>
                  <a:close/>
                </a:path>
              </a:pathLst>
            </a:custGeom>
            <a:solidFill>
              <a:srgbClr val="238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1" name="Freeform 2043">
              <a:extLst>
                <a:ext uri="{FF2B5EF4-FFF2-40B4-BE49-F238E27FC236}">
                  <a16:creationId xmlns:a16="http://schemas.microsoft.com/office/drawing/2014/main" id="{047C6568-A94B-167B-3EEE-E0CACEC52BB6}"/>
                </a:ext>
              </a:extLst>
            </p:cNvPr>
            <p:cNvSpPr>
              <a:spLocks/>
            </p:cNvSpPr>
            <p:nvPr/>
          </p:nvSpPr>
          <p:spPr bwMode="gray">
            <a:xfrm>
              <a:off x="6825437" y="6255436"/>
              <a:ext cx="173054" cy="84058"/>
            </a:xfrm>
            <a:custGeom>
              <a:avLst/>
              <a:gdLst>
                <a:gd name="T0" fmla="*/ 5048 w 5048"/>
                <a:gd name="T1" fmla="*/ 2452 h 2452"/>
                <a:gd name="T2" fmla="*/ 0 w 5048"/>
                <a:gd name="T3" fmla="*/ 2452 h 2452"/>
                <a:gd name="T4" fmla="*/ 0 w 5048"/>
                <a:gd name="T5" fmla="*/ 2336 h 2452"/>
                <a:gd name="T6" fmla="*/ 865 w 5048"/>
                <a:gd name="T7" fmla="*/ 0 h 2452"/>
                <a:gd name="T8" fmla="*/ 3923 w 5048"/>
                <a:gd name="T9" fmla="*/ 0 h 2452"/>
                <a:gd name="T10" fmla="*/ 5048 w 5048"/>
                <a:gd name="T11" fmla="*/ 2452 h 2452"/>
                <a:gd name="T12" fmla="*/ 5048 w 5048"/>
                <a:gd name="T13" fmla="*/ 2452 h 2452"/>
                <a:gd name="T14" fmla="*/ 5048 w 5048"/>
                <a:gd name="T15" fmla="*/ 2452 h 2452"/>
                <a:gd name="T16" fmla="*/ 5048 w 5048"/>
                <a:gd name="T17" fmla="*/ 2452 h 2452"/>
                <a:gd name="T18" fmla="*/ 5048 w 5048"/>
                <a:gd name="T19" fmla="*/ 2452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8" h="2452">
                  <a:moveTo>
                    <a:pt x="5048" y="2452"/>
                  </a:moveTo>
                  <a:lnTo>
                    <a:pt x="0" y="2452"/>
                  </a:lnTo>
                  <a:lnTo>
                    <a:pt x="0" y="2336"/>
                  </a:lnTo>
                  <a:lnTo>
                    <a:pt x="865" y="0"/>
                  </a:lnTo>
                  <a:lnTo>
                    <a:pt x="3923" y="0"/>
                  </a:lnTo>
                  <a:lnTo>
                    <a:pt x="5048" y="2452"/>
                  </a:lnTo>
                  <a:lnTo>
                    <a:pt x="5048" y="2452"/>
                  </a:lnTo>
                  <a:lnTo>
                    <a:pt x="5048" y="2452"/>
                  </a:lnTo>
                  <a:lnTo>
                    <a:pt x="5048" y="2452"/>
                  </a:lnTo>
                  <a:lnTo>
                    <a:pt x="5048" y="24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2" name="Freeform 2044">
              <a:extLst>
                <a:ext uri="{FF2B5EF4-FFF2-40B4-BE49-F238E27FC236}">
                  <a16:creationId xmlns:a16="http://schemas.microsoft.com/office/drawing/2014/main" id="{18C78949-EAF7-146C-A8EA-9E53491A24B7}"/>
                </a:ext>
              </a:extLst>
            </p:cNvPr>
            <p:cNvSpPr>
              <a:spLocks/>
            </p:cNvSpPr>
            <p:nvPr/>
          </p:nvSpPr>
          <p:spPr bwMode="gray">
            <a:xfrm>
              <a:off x="6653375" y="6255436"/>
              <a:ext cx="172060" cy="84058"/>
            </a:xfrm>
            <a:custGeom>
              <a:avLst/>
              <a:gdLst>
                <a:gd name="T0" fmla="*/ 5019 w 5019"/>
                <a:gd name="T1" fmla="*/ 2336 h 2452"/>
                <a:gd name="T2" fmla="*/ 5019 w 5019"/>
                <a:gd name="T3" fmla="*/ 2452 h 2452"/>
                <a:gd name="T4" fmla="*/ 0 w 5019"/>
                <a:gd name="T5" fmla="*/ 2452 h 2452"/>
                <a:gd name="T6" fmla="*/ 1096 w 5019"/>
                <a:gd name="T7" fmla="*/ 0 h 2452"/>
                <a:gd name="T8" fmla="*/ 4154 w 5019"/>
                <a:gd name="T9" fmla="*/ 0 h 2452"/>
                <a:gd name="T10" fmla="*/ 5019 w 5019"/>
                <a:gd name="T11" fmla="*/ 2336 h 2452"/>
                <a:gd name="T12" fmla="*/ 5019 w 5019"/>
                <a:gd name="T13" fmla="*/ 2336 h 2452"/>
                <a:gd name="T14" fmla="*/ 5019 w 5019"/>
                <a:gd name="T15" fmla="*/ 2336 h 2452"/>
                <a:gd name="T16" fmla="*/ 5019 w 5019"/>
                <a:gd name="T17" fmla="*/ 2336 h 2452"/>
                <a:gd name="T18" fmla="*/ 5019 w 5019"/>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19" h="2452">
                  <a:moveTo>
                    <a:pt x="5019" y="2336"/>
                  </a:moveTo>
                  <a:lnTo>
                    <a:pt x="5019" y="2452"/>
                  </a:lnTo>
                  <a:lnTo>
                    <a:pt x="0" y="2452"/>
                  </a:lnTo>
                  <a:lnTo>
                    <a:pt x="1096" y="0"/>
                  </a:lnTo>
                  <a:lnTo>
                    <a:pt x="4154" y="0"/>
                  </a:lnTo>
                  <a:lnTo>
                    <a:pt x="5019" y="2336"/>
                  </a:lnTo>
                  <a:lnTo>
                    <a:pt x="5019" y="2336"/>
                  </a:lnTo>
                  <a:lnTo>
                    <a:pt x="5019" y="2336"/>
                  </a:lnTo>
                  <a:lnTo>
                    <a:pt x="5019" y="2336"/>
                  </a:lnTo>
                  <a:lnTo>
                    <a:pt x="5019"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3" name="Rectangle 2045">
              <a:extLst>
                <a:ext uri="{FF2B5EF4-FFF2-40B4-BE49-F238E27FC236}">
                  <a16:creationId xmlns:a16="http://schemas.microsoft.com/office/drawing/2014/main" id="{1A9294B8-52FB-50D2-F850-9C61D490FBEC}"/>
                </a:ext>
              </a:extLst>
            </p:cNvPr>
            <p:cNvSpPr>
              <a:spLocks noChangeArrowheads="1"/>
            </p:cNvSpPr>
            <p:nvPr/>
          </p:nvSpPr>
          <p:spPr bwMode="gray">
            <a:xfrm>
              <a:off x="6601987" y="5565138"/>
              <a:ext cx="448886" cy="34625"/>
            </a:xfrm>
            <a:prstGeom prst="rect">
              <a:avLst/>
            </a:prstGeom>
            <a:solidFill>
              <a:srgbClr val="AAAA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4" name="Freeform 2046">
              <a:extLst>
                <a:ext uri="{FF2B5EF4-FFF2-40B4-BE49-F238E27FC236}">
                  <a16:creationId xmlns:a16="http://schemas.microsoft.com/office/drawing/2014/main" id="{C5455074-CB12-6348-06A3-FF9FD6D85704}"/>
                </a:ext>
              </a:extLst>
            </p:cNvPr>
            <p:cNvSpPr>
              <a:spLocks/>
            </p:cNvSpPr>
            <p:nvPr/>
          </p:nvSpPr>
          <p:spPr bwMode="gray">
            <a:xfrm>
              <a:off x="6611859" y="5384165"/>
              <a:ext cx="105794" cy="107782"/>
            </a:xfrm>
            <a:custGeom>
              <a:avLst/>
              <a:gdLst>
                <a:gd name="T0" fmla="*/ 2394 w 3086"/>
                <a:gd name="T1" fmla="*/ 1789 h 3144"/>
                <a:gd name="T2" fmla="*/ 375 w 3086"/>
                <a:gd name="T3" fmla="*/ 0 h 3144"/>
                <a:gd name="T4" fmla="*/ 0 w 3086"/>
                <a:gd name="T5" fmla="*/ 3144 h 3144"/>
                <a:gd name="T6" fmla="*/ 3086 w 3086"/>
                <a:gd name="T7" fmla="*/ 3144 h 3144"/>
                <a:gd name="T8" fmla="*/ 2394 w 3086"/>
                <a:gd name="T9" fmla="*/ 1789 h 3144"/>
              </a:gdLst>
              <a:ahLst/>
              <a:cxnLst>
                <a:cxn ang="0">
                  <a:pos x="T0" y="T1"/>
                </a:cxn>
                <a:cxn ang="0">
                  <a:pos x="T2" y="T3"/>
                </a:cxn>
                <a:cxn ang="0">
                  <a:pos x="T4" y="T5"/>
                </a:cxn>
                <a:cxn ang="0">
                  <a:pos x="T6" y="T7"/>
                </a:cxn>
                <a:cxn ang="0">
                  <a:pos x="T8" y="T9"/>
                </a:cxn>
              </a:cxnLst>
              <a:rect l="0" t="0" r="r" b="b"/>
              <a:pathLst>
                <a:path w="3086" h="3144">
                  <a:moveTo>
                    <a:pt x="2394" y="1789"/>
                  </a:moveTo>
                  <a:lnTo>
                    <a:pt x="375" y="0"/>
                  </a:lnTo>
                  <a:lnTo>
                    <a:pt x="0" y="3144"/>
                  </a:lnTo>
                  <a:lnTo>
                    <a:pt x="3086" y="3144"/>
                  </a:lnTo>
                  <a:lnTo>
                    <a:pt x="2394" y="1789"/>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5" name="Freeform 2047">
              <a:extLst>
                <a:ext uri="{FF2B5EF4-FFF2-40B4-BE49-F238E27FC236}">
                  <a16:creationId xmlns:a16="http://schemas.microsoft.com/office/drawing/2014/main" id="{DC701435-6ABE-20C6-E19F-09995AAFBBF0}"/>
                </a:ext>
              </a:extLst>
            </p:cNvPr>
            <p:cNvSpPr>
              <a:spLocks/>
            </p:cNvSpPr>
            <p:nvPr/>
          </p:nvSpPr>
          <p:spPr bwMode="gray">
            <a:xfrm>
              <a:off x="6957934" y="5394073"/>
              <a:ext cx="84059" cy="97874"/>
            </a:xfrm>
            <a:custGeom>
              <a:avLst/>
              <a:gdLst>
                <a:gd name="T0" fmla="*/ 0 w 2452"/>
                <a:gd name="T1" fmla="*/ 1269 h 2855"/>
                <a:gd name="T2" fmla="*/ 0 w 2452"/>
                <a:gd name="T3" fmla="*/ 2855 h 2855"/>
                <a:gd name="T4" fmla="*/ 2452 w 2452"/>
                <a:gd name="T5" fmla="*/ 2855 h 2855"/>
                <a:gd name="T6" fmla="*/ 2452 w 2452"/>
                <a:gd name="T7" fmla="*/ 0 h 2855"/>
                <a:gd name="T8" fmla="*/ 0 w 2452"/>
                <a:gd name="T9" fmla="*/ 1269 h 2855"/>
              </a:gdLst>
              <a:ahLst/>
              <a:cxnLst>
                <a:cxn ang="0">
                  <a:pos x="T0" y="T1"/>
                </a:cxn>
                <a:cxn ang="0">
                  <a:pos x="T2" y="T3"/>
                </a:cxn>
                <a:cxn ang="0">
                  <a:pos x="T4" y="T5"/>
                </a:cxn>
                <a:cxn ang="0">
                  <a:pos x="T6" y="T7"/>
                </a:cxn>
                <a:cxn ang="0">
                  <a:pos x="T8" y="T9"/>
                </a:cxn>
              </a:cxnLst>
              <a:rect l="0" t="0" r="r" b="b"/>
              <a:pathLst>
                <a:path w="2452" h="2855">
                  <a:moveTo>
                    <a:pt x="0" y="1269"/>
                  </a:moveTo>
                  <a:lnTo>
                    <a:pt x="0" y="2855"/>
                  </a:lnTo>
                  <a:lnTo>
                    <a:pt x="2452" y="2855"/>
                  </a:lnTo>
                  <a:lnTo>
                    <a:pt x="2452" y="0"/>
                  </a:lnTo>
                  <a:lnTo>
                    <a:pt x="0" y="1269"/>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6" name="Freeform 2048">
              <a:extLst>
                <a:ext uri="{FF2B5EF4-FFF2-40B4-BE49-F238E27FC236}">
                  <a16:creationId xmlns:a16="http://schemas.microsoft.com/office/drawing/2014/main" id="{258447F8-618D-B3D7-C662-CDA4262EF597}"/>
                </a:ext>
              </a:extLst>
            </p:cNvPr>
            <p:cNvSpPr>
              <a:spLocks/>
            </p:cNvSpPr>
            <p:nvPr/>
          </p:nvSpPr>
          <p:spPr bwMode="gray">
            <a:xfrm>
              <a:off x="6653375" y="5217040"/>
              <a:ext cx="348063" cy="274906"/>
            </a:xfrm>
            <a:custGeom>
              <a:avLst/>
              <a:gdLst>
                <a:gd name="T0" fmla="*/ 635 w 10153"/>
                <a:gd name="T1" fmla="*/ 8019 h 8019"/>
                <a:gd name="T2" fmla="*/ 0 w 10153"/>
                <a:gd name="T3" fmla="*/ 0 h 8019"/>
                <a:gd name="T4" fmla="*/ 10153 w 10153"/>
                <a:gd name="T5" fmla="*/ 0 h 8019"/>
                <a:gd name="T6" fmla="*/ 9461 w 10153"/>
                <a:gd name="T7" fmla="*/ 8019 h 8019"/>
                <a:gd name="T8" fmla="*/ 635 w 10153"/>
                <a:gd name="T9" fmla="*/ 8019 h 8019"/>
              </a:gdLst>
              <a:ahLst/>
              <a:cxnLst>
                <a:cxn ang="0">
                  <a:pos x="T0" y="T1"/>
                </a:cxn>
                <a:cxn ang="0">
                  <a:pos x="T2" y="T3"/>
                </a:cxn>
                <a:cxn ang="0">
                  <a:pos x="T4" y="T5"/>
                </a:cxn>
                <a:cxn ang="0">
                  <a:pos x="T6" y="T7"/>
                </a:cxn>
                <a:cxn ang="0">
                  <a:pos x="T8" y="T9"/>
                </a:cxn>
              </a:cxnLst>
              <a:rect l="0" t="0" r="r" b="b"/>
              <a:pathLst>
                <a:path w="10153" h="8019">
                  <a:moveTo>
                    <a:pt x="635" y="8019"/>
                  </a:moveTo>
                  <a:lnTo>
                    <a:pt x="0" y="0"/>
                  </a:lnTo>
                  <a:lnTo>
                    <a:pt x="10153" y="0"/>
                  </a:lnTo>
                  <a:lnTo>
                    <a:pt x="9461" y="8019"/>
                  </a:lnTo>
                  <a:lnTo>
                    <a:pt x="635" y="8019"/>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7" name="Freeform 2049">
              <a:extLst>
                <a:ext uri="{FF2B5EF4-FFF2-40B4-BE49-F238E27FC236}">
                  <a16:creationId xmlns:a16="http://schemas.microsoft.com/office/drawing/2014/main" id="{B043247F-C710-B660-5CE0-5198598573A8}"/>
                </a:ext>
              </a:extLst>
            </p:cNvPr>
            <p:cNvSpPr>
              <a:spLocks/>
            </p:cNvSpPr>
            <p:nvPr/>
          </p:nvSpPr>
          <p:spPr bwMode="gray">
            <a:xfrm>
              <a:off x="6874869" y="5431646"/>
              <a:ext cx="149298" cy="60301"/>
            </a:xfrm>
            <a:custGeom>
              <a:avLst/>
              <a:gdLst>
                <a:gd name="T0" fmla="*/ 606 w 4355"/>
                <a:gd name="T1" fmla="*/ 1759 h 1759"/>
                <a:gd name="T2" fmla="*/ 606 w 4355"/>
                <a:gd name="T3" fmla="*/ 1644 h 1759"/>
                <a:gd name="T4" fmla="*/ 0 w 4355"/>
                <a:gd name="T5" fmla="*/ 0 h 1759"/>
                <a:gd name="T6" fmla="*/ 3519 w 4355"/>
                <a:gd name="T7" fmla="*/ 0 h 1759"/>
                <a:gd name="T8" fmla="*/ 4355 w 4355"/>
                <a:gd name="T9" fmla="*/ 1759 h 1759"/>
                <a:gd name="T10" fmla="*/ 4355 w 4355"/>
                <a:gd name="T11" fmla="*/ 1759 h 1759"/>
                <a:gd name="T12" fmla="*/ 4355 w 4355"/>
                <a:gd name="T13" fmla="*/ 1759 h 1759"/>
                <a:gd name="T14" fmla="*/ 4355 w 4355"/>
                <a:gd name="T15" fmla="*/ 1759 h 1759"/>
                <a:gd name="T16" fmla="*/ 606 w 4355"/>
                <a:gd name="T17" fmla="*/ 1759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55" h="1759">
                  <a:moveTo>
                    <a:pt x="606" y="1759"/>
                  </a:moveTo>
                  <a:lnTo>
                    <a:pt x="606" y="1644"/>
                  </a:lnTo>
                  <a:lnTo>
                    <a:pt x="0" y="0"/>
                  </a:lnTo>
                  <a:lnTo>
                    <a:pt x="3519" y="0"/>
                  </a:lnTo>
                  <a:lnTo>
                    <a:pt x="4355" y="1759"/>
                  </a:lnTo>
                  <a:lnTo>
                    <a:pt x="4355" y="1759"/>
                  </a:lnTo>
                  <a:lnTo>
                    <a:pt x="4355" y="1759"/>
                  </a:lnTo>
                  <a:lnTo>
                    <a:pt x="4355" y="1759"/>
                  </a:lnTo>
                  <a:lnTo>
                    <a:pt x="606" y="1759"/>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8" name="Freeform 2050">
              <a:extLst>
                <a:ext uri="{FF2B5EF4-FFF2-40B4-BE49-F238E27FC236}">
                  <a16:creationId xmlns:a16="http://schemas.microsoft.com/office/drawing/2014/main" id="{D63947A6-4E39-A042-218B-197E0BFC3445}"/>
                </a:ext>
              </a:extLst>
            </p:cNvPr>
            <p:cNvSpPr>
              <a:spLocks/>
            </p:cNvSpPr>
            <p:nvPr/>
          </p:nvSpPr>
          <p:spPr bwMode="gray">
            <a:xfrm>
              <a:off x="6637572" y="5431646"/>
              <a:ext cx="143366" cy="60301"/>
            </a:xfrm>
            <a:custGeom>
              <a:avLst/>
              <a:gdLst>
                <a:gd name="T0" fmla="*/ 3490 w 4182"/>
                <a:gd name="T1" fmla="*/ 1644 h 1759"/>
                <a:gd name="T2" fmla="*/ 3490 w 4182"/>
                <a:gd name="T3" fmla="*/ 1759 h 1759"/>
                <a:gd name="T4" fmla="*/ 0 w 4182"/>
                <a:gd name="T5" fmla="*/ 1759 h 1759"/>
                <a:gd name="T6" fmla="*/ 750 w 4182"/>
                <a:gd name="T7" fmla="*/ 0 h 1759"/>
                <a:gd name="T8" fmla="*/ 4182 w 4182"/>
                <a:gd name="T9" fmla="*/ 0 h 1759"/>
                <a:gd name="T10" fmla="*/ 3490 w 4182"/>
                <a:gd name="T11" fmla="*/ 1644 h 1759"/>
                <a:gd name="T12" fmla="*/ 3490 w 4182"/>
                <a:gd name="T13" fmla="*/ 1644 h 1759"/>
                <a:gd name="T14" fmla="*/ 3490 w 4182"/>
                <a:gd name="T15" fmla="*/ 1644 h 1759"/>
                <a:gd name="T16" fmla="*/ 3490 w 4182"/>
                <a:gd name="T17" fmla="*/ 1644 h 1759"/>
                <a:gd name="T18" fmla="*/ 3490 w 4182"/>
                <a:gd name="T19" fmla="*/ 1644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82" h="1759">
                  <a:moveTo>
                    <a:pt x="3490" y="1644"/>
                  </a:moveTo>
                  <a:lnTo>
                    <a:pt x="3490" y="1759"/>
                  </a:lnTo>
                  <a:lnTo>
                    <a:pt x="0" y="1759"/>
                  </a:lnTo>
                  <a:lnTo>
                    <a:pt x="750" y="0"/>
                  </a:lnTo>
                  <a:lnTo>
                    <a:pt x="4182" y="0"/>
                  </a:lnTo>
                  <a:lnTo>
                    <a:pt x="3490" y="1644"/>
                  </a:lnTo>
                  <a:lnTo>
                    <a:pt x="3490" y="1644"/>
                  </a:lnTo>
                  <a:lnTo>
                    <a:pt x="3490" y="1644"/>
                  </a:lnTo>
                  <a:lnTo>
                    <a:pt x="3490" y="1644"/>
                  </a:lnTo>
                  <a:lnTo>
                    <a:pt x="3490" y="164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69" name="Freeform 2051">
              <a:extLst>
                <a:ext uri="{FF2B5EF4-FFF2-40B4-BE49-F238E27FC236}">
                  <a16:creationId xmlns:a16="http://schemas.microsoft.com/office/drawing/2014/main" id="{42307E75-CE0E-4ADA-BFE1-D6D482D99B19}"/>
                </a:ext>
              </a:extLst>
            </p:cNvPr>
            <p:cNvSpPr>
              <a:spLocks/>
            </p:cNvSpPr>
            <p:nvPr/>
          </p:nvSpPr>
          <p:spPr bwMode="gray">
            <a:xfrm>
              <a:off x="8155363" y="5774807"/>
              <a:ext cx="533940" cy="55365"/>
            </a:xfrm>
            <a:custGeom>
              <a:avLst/>
              <a:gdLst>
                <a:gd name="T0" fmla="*/ 485 w 540"/>
                <a:gd name="T1" fmla="*/ 0 h 56"/>
                <a:gd name="T2" fmla="*/ 56 w 540"/>
                <a:gd name="T3" fmla="*/ 0 h 56"/>
                <a:gd name="T4" fmla="*/ 0 w 540"/>
                <a:gd name="T5" fmla="*/ 56 h 56"/>
                <a:gd name="T6" fmla="*/ 540 w 540"/>
                <a:gd name="T7" fmla="*/ 56 h 56"/>
                <a:gd name="T8" fmla="*/ 485 w 540"/>
                <a:gd name="T9" fmla="*/ 0 h 56"/>
              </a:gdLst>
              <a:ahLst/>
              <a:cxnLst>
                <a:cxn ang="0">
                  <a:pos x="T0" y="T1"/>
                </a:cxn>
                <a:cxn ang="0">
                  <a:pos x="T2" y="T3"/>
                </a:cxn>
                <a:cxn ang="0">
                  <a:pos x="T4" y="T5"/>
                </a:cxn>
                <a:cxn ang="0">
                  <a:pos x="T6" y="T7"/>
                </a:cxn>
                <a:cxn ang="0">
                  <a:pos x="T8" y="T9"/>
                </a:cxn>
              </a:cxnLst>
              <a:rect l="0" t="0" r="r" b="b"/>
              <a:pathLst>
                <a:path w="540" h="56">
                  <a:moveTo>
                    <a:pt x="485" y="0"/>
                  </a:moveTo>
                  <a:cubicBezTo>
                    <a:pt x="56" y="0"/>
                    <a:pt x="56" y="0"/>
                    <a:pt x="56" y="0"/>
                  </a:cubicBezTo>
                  <a:cubicBezTo>
                    <a:pt x="25" y="0"/>
                    <a:pt x="0" y="25"/>
                    <a:pt x="0" y="56"/>
                  </a:cubicBezTo>
                  <a:cubicBezTo>
                    <a:pt x="540" y="56"/>
                    <a:pt x="540" y="56"/>
                    <a:pt x="540" y="56"/>
                  </a:cubicBezTo>
                  <a:cubicBezTo>
                    <a:pt x="540" y="25"/>
                    <a:pt x="515" y="0"/>
                    <a:pt x="485" y="0"/>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0" name="Freeform 2052">
              <a:extLst>
                <a:ext uri="{FF2B5EF4-FFF2-40B4-BE49-F238E27FC236}">
                  <a16:creationId xmlns:a16="http://schemas.microsoft.com/office/drawing/2014/main" id="{9D49EC55-BE6D-2DD5-63A8-9F43E8D90BA6}"/>
                </a:ext>
              </a:extLst>
            </p:cNvPr>
            <p:cNvSpPr>
              <a:spLocks/>
            </p:cNvSpPr>
            <p:nvPr/>
          </p:nvSpPr>
          <p:spPr bwMode="gray">
            <a:xfrm>
              <a:off x="8155363" y="5830171"/>
              <a:ext cx="533940" cy="37573"/>
            </a:xfrm>
            <a:custGeom>
              <a:avLst/>
              <a:gdLst>
                <a:gd name="T0" fmla="*/ 0 w 15575"/>
                <a:gd name="T1" fmla="*/ 0 h 1096"/>
                <a:gd name="T2" fmla="*/ 15575 w 15575"/>
                <a:gd name="T3" fmla="*/ 0 h 1096"/>
                <a:gd name="T4" fmla="*/ 15575 w 15575"/>
                <a:gd name="T5" fmla="*/ 1096 h 1096"/>
                <a:gd name="T6" fmla="*/ 0 w 15575"/>
                <a:gd name="T7" fmla="*/ 1096 h 1096"/>
                <a:gd name="T8" fmla="*/ 0 w 15575"/>
                <a:gd name="T9" fmla="*/ 0 h 1096"/>
                <a:gd name="T10" fmla="*/ 0 w 15575"/>
                <a:gd name="T11" fmla="*/ 0 h 1096"/>
              </a:gdLst>
              <a:ahLst/>
              <a:cxnLst>
                <a:cxn ang="0">
                  <a:pos x="T0" y="T1"/>
                </a:cxn>
                <a:cxn ang="0">
                  <a:pos x="T2" y="T3"/>
                </a:cxn>
                <a:cxn ang="0">
                  <a:pos x="T4" y="T5"/>
                </a:cxn>
                <a:cxn ang="0">
                  <a:pos x="T6" y="T7"/>
                </a:cxn>
                <a:cxn ang="0">
                  <a:pos x="T8" y="T9"/>
                </a:cxn>
                <a:cxn ang="0">
                  <a:pos x="T10" y="T11"/>
                </a:cxn>
              </a:cxnLst>
              <a:rect l="0" t="0" r="r" b="b"/>
              <a:pathLst>
                <a:path w="15575" h="1096">
                  <a:moveTo>
                    <a:pt x="0" y="0"/>
                  </a:moveTo>
                  <a:lnTo>
                    <a:pt x="15575" y="0"/>
                  </a:lnTo>
                  <a:lnTo>
                    <a:pt x="15575" y="1096"/>
                  </a:lnTo>
                  <a:lnTo>
                    <a:pt x="0" y="1096"/>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1" name="Freeform 2053">
              <a:extLst>
                <a:ext uri="{FF2B5EF4-FFF2-40B4-BE49-F238E27FC236}">
                  <a16:creationId xmlns:a16="http://schemas.microsoft.com/office/drawing/2014/main" id="{FB8DC6F8-FC46-14B6-48C2-31BE92758E18}"/>
                </a:ext>
              </a:extLst>
            </p:cNvPr>
            <p:cNvSpPr>
              <a:spLocks/>
            </p:cNvSpPr>
            <p:nvPr/>
          </p:nvSpPr>
          <p:spPr bwMode="gray">
            <a:xfrm>
              <a:off x="8170173" y="6115979"/>
              <a:ext cx="504285" cy="22763"/>
            </a:xfrm>
            <a:custGeom>
              <a:avLst/>
              <a:gdLst>
                <a:gd name="T0" fmla="*/ 0 w 14710"/>
                <a:gd name="T1" fmla="*/ 0 h 664"/>
                <a:gd name="T2" fmla="*/ 14710 w 14710"/>
                <a:gd name="T3" fmla="*/ 0 h 664"/>
                <a:gd name="T4" fmla="*/ 14710 w 14710"/>
                <a:gd name="T5" fmla="*/ 664 h 664"/>
                <a:gd name="T6" fmla="*/ 0 w 14710"/>
                <a:gd name="T7" fmla="*/ 664 h 664"/>
                <a:gd name="T8" fmla="*/ 0 w 14710"/>
                <a:gd name="T9" fmla="*/ 0 h 664"/>
                <a:gd name="T10" fmla="*/ 0 w 14710"/>
                <a:gd name="T11" fmla="*/ 0 h 664"/>
              </a:gdLst>
              <a:ahLst/>
              <a:cxnLst>
                <a:cxn ang="0">
                  <a:pos x="T0" y="T1"/>
                </a:cxn>
                <a:cxn ang="0">
                  <a:pos x="T2" y="T3"/>
                </a:cxn>
                <a:cxn ang="0">
                  <a:pos x="T4" y="T5"/>
                </a:cxn>
                <a:cxn ang="0">
                  <a:pos x="T6" y="T7"/>
                </a:cxn>
                <a:cxn ang="0">
                  <a:pos x="T8" y="T9"/>
                </a:cxn>
                <a:cxn ang="0">
                  <a:pos x="T10" y="T11"/>
                </a:cxn>
              </a:cxnLst>
              <a:rect l="0" t="0" r="r" b="b"/>
              <a:pathLst>
                <a:path w="14710" h="664">
                  <a:moveTo>
                    <a:pt x="0" y="0"/>
                  </a:moveTo>
                  <a:lnTo>
                    <a:pt x="14710" y="0"/>
                  </a:lnTo>
                  <a:lnTo>
                    <a:pt x="14710"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2" name="Freeform 2054">
              <a:extLst>
                <a:ext uri="{FF2B5EF4-FFF2-40B4-BE49-F238E27FC236}">
                  <a16:creationId xmlns:a16="http://schemas.microsoft.com/office/drawing/2014/main" id="{95BBBC60-EAAC-CABD-48CB-00AF5025F4F8}"/>
                </a:ext>
              </a:extLst>
            </p:cNvPr>
            <p:cNvSpPr>
              <a:spLocks/>
            </p:cNvSpPr>
            <p:nvPr/>
          </p:nvSpPr>
          <p:spPr bwMode="gray">
            <a:xfrm>
              <a:off x="8068357" y="5120126"/>
              <a:ext cx="121598" cy="371821"/>
            </a:xfrm>
            <a:custGeom>
              <a:avLst/>
              <a:gdLst>
                <a:gd name="T0" fmla="*/ 1240 w 3547"/>
                <a:gd name="T1" fmla="*/ 0 h 10846"/>
                <a:gd name="T2" fmla="*/ 317 w 3547"/>
                <a:gd name="T3" fmla="*/ 5135 h 10846"/>
                <a:gd name="T4" fmla="*/ 0 w 3547"/>
                <a:gd name="T5" fmla="*/ 8106 h 10846"/>
                <a:gd name="T6" fmla="*/ 548 w 3547"/>
                <a:gd name="T7" fmla="*/ 10846 h 10846"/>
                <a:gd name="T8" fmla="*/ 2538 w 3547"/>
                <a:gd name="T9" fmla="*/ 10846 h 10846"/>
                <a:gd name="T10" fmla="*/ 3547 w 3547"/>
                <a:gd name="T11" fmla="*/ 8798 h 10846"/>
                <a:gd name="T12" fmla="*/ 3547 w 3547"/>
                <a:gd name="T13" fmla="*/ 0 h 10846"/>
                <a:gd name="T14" fmla="*/ 1240 w 3547"/>
                <a:gd name="T15" fmla="*/ 0 h 108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47" h="10846">
                  <a:moveTo>
                    <a:pt x="1240" y="0"/>
                  </a:moveTo>
                  <a:lnTo>
                    <a:pt x="317" y="5135"/>
                  </a:lnTo>
                  <a:lnTo>
                    <a:pt x="0" y="8106"/>
                  </a:lnTo>
                  <a:lnTo>
                    <a:pt x="548" y="10846"/>
                  </a:lnTo>
                  <a:lnTo>
                    <a:pt x="2538" y="10846"/>
                  </a:lnTo>
                  <a:lnTo>
                    <a:pt x="3547" y="8798"/>
                  </a:lnTo>
                  <a:lnTo>
                    <a:pt x="3547" y="0"/>
                  </a:lnTo>
                  <a:lnTo>
                    <a:pt x="1240" y="0"/>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3" name="Freeform 2055">
              <a:extLst>
                <a:ext uri="{FF2B5EF4-FFF2-40B4-BE49-F238E27FC236}">
                  <a16:creationId xmlns:a16="http://schemas.microsoft.com/office/drawing/2014/main" id="{45863C9B-A275-A214-BCB7-BF9FCB9A3E00}"/>
                </a:ext>
              </a:extLst>
            </p:cNvPr>
            <p:cNvSpPr>
              <a:spLocks/>
            </p:cNvSpPr>
            <p:nvPr/>
          </p:nvSpPr>
          <p:spPr bwMode="gray">
            <a:xfrm>
              <a:off x="8155363" y="5455367"/>
              <a:ext cx="31642" cy="884129"/>
            </a:xfrm>
            <a:custGeom>
              <a:avLst/>
              <a:gdLst>
                <a:gd name="T0" fmla="*/ 0 w 923"/>
                <a:gd name="T1" fmla="*/ 0 h 25790"/>
                <a:gd name="T2" fmla="*/ 923 w 923"/>
                <a:gd name="T3" fmla="*/ 0 h 25790"/>
                <a:gd name="T4" fmla="*/ 923 w 923"/>
                <a:gd name="T5" fmla="*/ 25790 h 25790"/>
                <a:gd name="T6" fmla="*/ 0 w 923"/>
                <a:gd name="T7" fmla="*/ 25790 h 25790"/>
                <a:gd name="T8" fmla="*/ 0 w 923"/>
                <a:gd name="T9" fmla="*/ 0 h 25790"/>
                <a:gd name="T10" fmla="*/ 0 w 923"/>
                <a:gd name="T11" fmla="*/ 0 h 25790"/>
              </a:gdLst>
              <a:ahLst/>
              <a:cxnLst>
                <a:cxn ang="0">
                  <a:pos x="T0" y="T1"/>
                </a:cxn>
                <a:cxn ang="0">
                  <a:pos x="T2" y="T3"/>
                </a:cxn>
                <a:cxn ang="0">
                  <a:pos x="T4" y="T5"/>
                </a:cxn>
                <a:cxn ang="0">
                  <a:pos x="T6" y="T7"/>
                </a:cxn>
                <a:cxn ang="0">
                  <a:pos x="T8" y="T9"/>
                </a:cxn>
                <a:cxn ang="0">
                  <a:pos x="T10" y="T11"/>
                </a:cxn>
              </a:cxnLst>
              <a:rect l="0" t="0" r="r" b="b"/>
              <a:pathLst>
                <a:path w="923" h="25790">
                  <a:moveTo>
                    <a:pt x="0" y="0"/>
                  </a:moveTo>
                  <a:lnTo>
                    <a:pt x="923" y="0"/>
                  </a:lnTo>
                  <a:lnTo>
                    <a:pt x="923"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4" name="Freeform 2056">
              <a:extLst>
                <a:ext uri="{FF2B5EF4-FFF2-40B4-BE49-F238E27FC236}">
                  <a16:creationId xmlns:a16="http://schemas.microsoft.com/office/drawing/2014/main" id="{6F5D72FD-DECE-84E4-DC9E-6C4630EA0C2C}"/>
                </a:ext>
              </a:extLst>
            </p:cNvPr>
            <p:cNvSpPr>
              <a:spLocks/>
            </p:cNvSpPr>
            <p:nvPr/>
          </p:nvSpPr>
          <p:spPr bwMode="gray">
            <a:xfrm>
              <a:off x="8658654" y="5455367"/>
              <a:ext cx="30648" cy="884129"/>
            </a:xfrm>
            <a:custGeom>
              <a:avLst/>
              <a:gdLst>
                <a:gd name="T0" fmla="*/ 0 w 894"/>
                <a:gd name="T1" fmla="*/ 0 h 25790"/>
                <a:gd name="T2" fmla="*/ 894 w 894"/>
                <a:gd name="T3" fmla="*/ 0 h 25790"/>
                <a:gd name="T4" fmla="*/ 894 w 894"/>
                <a:gd name="T5" fmla="*/ 25790 h 25790"/>
                <a:gd name="T6" fmla="*/ 0 w 894"/>
                <a:gd name="T7" fmla="*/ 25790 h 25790"/>
                <a:gd name="T8" fmla="*/ 0 w 894"/>
                <a:gd name="T9" fmla="*/ 0 h 25790"/>
                <a:gd name="T10" fmla="*/ 0 w 894"/>
                <a:gd name="T11" fmla="*/ 0 h 25790"/>
              </a:gdLst>
              <a:ahLst/>
              <a:cxnLst>
                <a:cxn ang="0">
                  <a:pos x="T0" y="T1"/>
                </a:cxn>
                <a:cxn ang="0">
                  <a:pos x="T2" y="T3"/>
                </a:cxn>
                <a:cxn ang="0">
                  <a:pos x="T4" y="T5"/>
                </a:cxn>
                <a:cxn ang="0">
                  <a:pos x="T6" y="T7"/>
                </a:cxn>
                <a:cxn ang="0">
                  <a:pos x="T8" y="T9"/>
                </a:cxn>
                <a:cxn ang="0">
                  <a:pos x="T10" y="T11"/>
                </a:cxn>
              </a:cxnLst>
              <a:rect l="0" t="0" r="r" b="b"/>
              <a:pathLst>
                <a:path w="894" h="25790">
                  <a:moveTo>
                    <a:pt x="0" y="0"/>
                  </a:moveTo>
                  <a:lnTo>
                    <a:pt x="894" y="0"/>
                  </a:lnTo>
                  <a:lnTo>
                    <a:pt x="894" y="25790"/>
                  </a:lnTo>
                  <a:lnTo>
                    <a:pt x="0" y="25790"/>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5" name="Freeform 2057">
              <a:extLst>
                <a:ext uri="{FF2B5EF4-FFF2-40B4-BE49-F238E27FC236}">
                  <a16:creationId xmlns:a16="http://schemas.microsoft.com/office/drawing/2014/main" id="{0AC2CA9B-65CC-AB9A-9FDE-048F6E448098}"/>
                </a:ext>
              </a:extLst>
            </p:cNvPr>
            <p:cNvSpPr>
              <a:spLocks/>
            </p:cNvSpPr>
            <p:nvPr/>
          </p:nvSpPr>
          <p:spPr bwMode="gray">
            <a:xfrm>
              <a:off x="8155363" y="5246696"/>
              <a:ext cx="533940" cy="208673"/>
            </a:xfrm>
            <a:custGeom>
              <a:avLst/>
              <a:gdLst>
                <a:gd name="T0" fmla="*/ 404 w 540"/>
                <a:gd name="T1" fmla="*/ 0 h 211"/>
                <a:gd name="T2" fmla="*/ 136 w 540"/>
                <a:gd name="T3" fmla="*/ 0 h 211"/>
                <a:gd name="T4" fmla="*/ 0 w 540"/>
                <a:gd name="T5" fmla="*/ 119 h 211"/>
                <a:gd name="T6" fmla="*/ 0 w 540"/>
                <a:gd name="T7" fmla="*/ 211 h 211"/>
                <a:gd name="T8" fmla="*/ 540 w 540"/>
                <a:gd name="T9" fmla="*/ 211 h 211"/>
                <a:gd name="T10" fmla="*/ 540 w 540"/>
                <a:gd name="T11" fmla="*/ 119 h 211"/>
                <a:gd name="T12" fmla="*/ 404 w 540"/>
                <a:gd name="T13" fmla="*/ 0 h 211"/>
              </a:gdLst>
              <a:ahLst/>
              <a:cxnLst>
                <a:cxn ang="0">
                  <a:pos x="T0" y="T1"/>
                </a:cxn>
                <a:cxn ang="0">
                  <a:pos x="T2" y="T3"/>
                </a:cxn>
                <a:cxn ang="0">
                  <a:pos x="T4" y="T5"/>
                </a:cxn>
                <a:cxn ang="0">
                  <a:pos x="T6" y="T7"/>
                </a:cxn>
                <a:cxn ang="0">
                  <a:pos x="T8" y="T9"/>
                </a:cxn>
                <a:cxn ang="0">
                  <a:pos x="T10" y="T11"/>
                </a:cxn>
                <a:cxn ang="0">
                  <a:pos x="T12" y="T13"/>
                </a:cxn>
              </a:cxnLst>
              <a:rect l="0" t="0" r="r" b="b"/>
              <a:pathLst>
                <a:path w="540" h="211">
                  <a:moveTo>
                    <a:pt x="404" y="0"/>
                  </a:moveTo>
                  <a:cubicBezTo>
                    <a:pt x="136" y="0"/>
                    <a:pt x="136" y="0"/>
                    <a:pt x="136" y="0"/>
                  </a:cubicBezTo>
                  <a:cubicBezTo>
                    <a:pt x="61" y="0"/>
                    <a:pt x="0" y="53"/>
                    <a:pt x="0" y="119"/>
                  </a:cubicBezTo>
                  <a:cubicBezTo>
                    <a:pt x="0" y="211"/>
                    <a:pt x="0" y="211"/>
                    <a:pt x="0" y="211"/>
                  </a:cubicBezTo>
                  <a:cubicBezTo>
                    <a:pt x="540" y="211"/>
                    <a:pt x="540" y="211"/>
                    <a:pt x="540" y="211"/>
                  </a:cubicBezTo>
                  <a:cubicBezTo>
                    <a:pt x="540" y="119"/>
                    <a:pt x="540" y="119"/>
                    <a:pt x="540" y="119"/>
                  </a:cubicBezTo>
                  <a:cubicBezTo>
                    <a:pt x="540" y="53"/>
                    <a:pt x="479" y="0"/>
                    <a:pt x="404" y="0"/>
                  </a:cubicBez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6" name="Freeform 2058">
              <a:extLst>
                <a:ext uri="{FF2B5EF4-FFF2-40B4-BE49-F238E27FC236}">
                  <a16:creationId xmlns:a16="http://schemas.microsoft.com/office/drawing/2014/main" id="{27816F2C-ACB9-B84E-247C-4B1FBFD6A39B}"/>
                </a:ext>
              </a:extLst>
            </p:cNvPr>
            <p:cNvSpPr>
              <a:spLocks/>
            </p:cNvSpPr>
            <p:nvPr/>
          </p:nvSpPr>
          <p:spPr bwMode="gray">
            <a:xfrm>
              <a:off x="8609220" y="5142856"/>
              <a:ext cx="118649" cy="349091"/>
            </a:xfrm>
            <a:custGeom>
              <a:avLst/>
              <a:gdLst>
                <a:gd name="T0" fmla="*/ 3288 w 3461"/>
                <a:gd name="T1" fmla="*/ 6578 h 10183"/>
                <a:gd name="T2" fmla="*/ 3461 w 3461"/>
                <a:gd name="T3" fmla="*/ 0 h 10183"/>
                <a:gd name="T4" fmla="*/ 259 w 3461"/>
                <a:gd name="T5" fmla="*/ 29 h 10183"/>
                <a:gd name="T6" fmla="*/ 778 w 3461"/>
                <a:gd name="T7" fmla="*/ 5366 h 10183"/>
                <a:gd name="T8" fmla="*/ 0 w 3461"/>
                <a:gd name="T9" fmla="*/ 7933 h 10183"/>
                <a:gd name="T10" fmla="*/ 634 w 3461"/>
                <a:gd name="T11" fmla="*/ 10183 h 10183"/>
                <a:gd name="T12" fmla="*/ 2048 w 3461"/>
                <a:gd name="T13" fmla="*/ 9001 h 10183"/>
                <a:gd name="T14" fmla="*/ 3288 w 3461"/>
                <a:gd name="T15" fmla="*/ 6578 h 101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61" h="10183">
                  <a:moveTo>
                    <a:pt x="3288" y="6578"/>
                  </a:moveTo>
                  <a:lnTo>
                    <a:pt x="3461" y="0"/>
                  </a:lnTo>
                  <a:lnTo>
                    <a:pt x="259" y="29"/>
                  </a:lnTo>
                  <a:lnTo>
                    <a:pt x="778" y="5366"/>
                  </a:lnTo>
                  <a:lnTo>
                    <a:pt x="0" y="7933"/>
                  </a:lnTo>
                  <a:lnTo>
                    <a:pt x="634" y="10183"/>
                  </a:lnTo>
                  <a:lnTo>
                    <a:pt x="2048" y="9001"/>
                  </a:lnTo>
                  <a:lnTo>
                    <a:pt x="3288" y="6578"/>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7" name="Freeform 2059">
              <a:extLst>
                <a:ext uri="{FF2B5EF4-FFF2-40B4-BE49-F238E27FC236}">
                  <a16:creationId xmlns:a16="http://schemas.microsoft.com/office/drawing/2014/main" id="{F98633B3-3547-1FDD-CFB5-CAAB665DE97F}"/>
                </a:ext>
              </a:extLst>
            </p:cNvPr>
            <p:cNvSpPr>
              <a:spLocks/>
            </p:cNvSpPr>
            <p:nvPr/>
          </p:nvSpPr>
          <p:spPr bwMode="gray">
            <a:xfrm>
              <a:off x="8207746" y="4515875"/>
              <a:ext cx="403428" cy="619095"/>
            </a:xfrm>
            <a:custGeom>
              <a:avLst/>
              <a:gdLst>
                <a:gd name="T0" fmla="*/ 374 w 408"/>
                <a:gd name="T1" fmla="*/ 100 h 626"/>
                <a:gd name="T2" fmla="*/ 216 w 408"/>
                <a:gd name="T3" fmla="*/ 0 h 626"/>
                <a:gd name="T4" fmla="*/ 207 w 408"/>
                <a:gd name="T5" fmla="*/ 0 h 626"/>
                <a:gd name="T6" fmla="*/ 205 w 408"/>
                <a:gd name="T7" fmla="*/ 0 h 626"/>
                <a:gd name="T8" fmla="*/ 196 w 408"/>
                <a:gd name="T9" fmla="*/ 0 h 626"/>
                <a:gd name="T10" fmla="*/ 38 w 408"/>
                <a:gd name="T11" fmla="*/ 100 h 626"/>
                <a:gd name="T12" fmla="*/ 26 w 408"/>
                <a:gd name="T13" fmla="*/ 558 h 626"/>
                <a:gd name="T14" fmla="*/ 154 w 408"/>
                <a:gd name="T15" fmla="*/ 626 h 626"/>
                <a:gd name="T16" fmla="*/ 205 w 408"/>
                <a:gd name="T17" fmla="*/ 626 h 626"/>
                <a:gd name="T18" fmla="*/ 207 w 408"/>
                <a:gd name="T19" fmla="*/ 626 h 626"/>
                <a:gd name="T20" fmla="*/ 259 w 408"/>
                <a:gd name="T21" fmla="*/ 626 h 626"/>
                <a:gd name="T22" fmla="*/ 382 w 408"/>
                <a:gd name="T23" fmla="*/ 558 h 626"/>
                <a:gd name="T24" fmla="*/ 374 w 408"/>
                <a:gd name="T25" fmla="*/ 10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8" h="626">
                  <a:moveTo>
                    <a:pt x="374" y="100"/>
                  </a:moveTo>
                  <a:cubicBezTo>
                    <a:pt x="342" y="40"/>
                    <a:pt x="287" y="0"/>
                    <a:pt x="216" y="0"/>
                  </a:cubicBezTo>
                  <a:cubicBezTo>
                    <a:pt x="207" y="0"/>
                    <a:pt x="207" y="0"/>
                    <a:pt x="207" y="0"/>
                  </a:cubicBezTo>
                  <a:cubicBezTo>
                    <a:pt x="205" y="0"/>
                    <a:pt x="205" y="0"/>
                    <a:pt x="205" y="0"/>
                  </a:cubicBezTo>
                  <a:cubicBezTo>
                    <a:pt x="196" y="0"/>
                    <a:pt x="196" y="0"/>
                    <a:pt x="196" y="0"/>
                  </a:cubicBezTo>
                  <a:cubicBezTo>
                    <a:pt x="127" y="0"/>
                    <a:pt x="70" y="40"/>
                    <a:pt x="38" y="100"/>
                  </a:cubicBezTo>
                  <a:cubicBezTo>
                    <a:pt x="8" y="156"/>
                    <a:pt x="0" y="495"/>
                    <a:pt x="26" y="558"/>
                  </a:cubicBezTo>
                  <a:cubicBezTo>
                    <a:pt x="47" y="610"/>
                    <a:pt x="95" y="626"/>
                    <a:pt x="154" y="626"/>
                  </a:cubicBezTo>
                  <a:cubicBezTo>
                    <a:pt x="205" y="626"/>
                    <a:pt x="205" y="626"/>
                    <a:pt x="205" y="626"/>
                  </a:cubicBezTo>
                  <a:cubicBezTo>
                    <a:pt x="207" y="626"/>
                    <a:pt x="207" y="626"/>
                    <a:pt x="207" y="626"/>
                  </a:cubicBezTo>
                  <a:cubicBezTo>
                    <a:pt x="259" y="626"/>
                    <a:pt x="259" y="626"/>
                    <a:pt x="259" y="626"/>
                  </a:cubicBezTo>
                  <a:cubicBezTo>
                    <a:pt x="317" y="626"/>
                    <a:pt x="361" y="610"/>
                    <a:pt x="382" y="558"/>
                  </a:cubicBezTo>
                  <a:cubicBezTo>
                    <a:pt x="408" y="495"/>
                    <a:pt x="404" y="156"/>
                    <a:pt x="374" y="100"/>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8" name="Freeform 2060">
              <a:extLst>
                <a:ext uri="{FF2B5EF4-FFF2-40B4-BE49-F238E27FC236}">
                  <a16:creationId xmlns:a16="http://schemas.microsoft.com/office/drawing/2014/main" id="{FF9C034E-B0E4-BA63-8053-5C2698763A8C}"/>
                </a:ext>
              </a:extLst>
            </p:cNvPr>
            <p:cNvSpPr>
              <a:spLocks/>
            </p:cNvSpPr>
            <p:nvPr/>
          </p:nvSpPr>
          <p:spPr bwMode="gray">
            <a:xfrm>
              <a:off x="8084160" y="4914435"/>
              <a:ext cx="651628" cy="638842"/>
            </a:xfrm>
            <a:custGeom>
              <a:avLst/>
              <a:gdLst>
                <a:gd name="T0" fmla="*/ 513 w 659"/>
                <a:gd name="T1" fmla="*/ 410 h 646"/>
                <a:gd name="T2" fmla="*/ 557 w 659"/>
                <a:gd name="T3" fmla="*/ 645 h 646"/>
                <a:gd name="T4" fmla="*/ 108 w 659"/>
                <a:gd name="T5" fmla="*/ 646 h 646"/>
                <a:gd name="T6" fmla="*/ 157 w 659"/>
                <a:gd name="T7" fmla="*/ 410 h 646"/>
                <a:gd name="T8" fmla="*/ 117 w 659"/>
                <a:gd name="T9" fmla="*/ 282 h 646"/>
                <a:gd name="T10" fmla="*/ 11 w 659"/>
                <a:gd name="T11" fmla="*/ 269 h 646"/>
                <a:gd name="T12" fmla="*/ 102 w 659"/>
                <a:gd name="T13" fmla="*/ 60 h 646"/>
                <a:gd name="T14" fmla="*/ 252 w 659"/>
                <a:gd name="T15" fmla="*/ 0 h 646"/>
                <a:gd name="T16" fmla="*/ 322 w 659"/>
                <a:gd name="T17" fmla="*/ 46 h 646"/>
                <a:gd name="T18" fmla="*/ 346 w 659"/>
                <a:gd name="T19" fmla="*/ 45 h 646"/>
                <a:gd name="T20" fmla="*/ 416 w 659"/>
                <a:gd name="T21" fmla="*/ 0 h 646"/>
                <a:gd name="T22" fmla="*/ 568 w 659"/>
                <a:gd name="T23" fmla="*/ 60 h 646"/>
                <a:gd name="T24" fmla="*/ 659 w 659"/>
                <a:gd name="T25" fmla="*/ 269 h 646"/>
                <a:gd name="T26" fmla="*/ 553 w 659"/>
                <a:gd name="T27" fmla="*/ 282 h 646"/>
                <a:gd name="T28" fmla="*/ 552 w 659"/>
                <a:gd name="T29" fmla="*/ 282 h 646"/>
                <a:gd name="T30" fmla="*/ 513 w 659"/>
                <a:gd name="T31" fmla="*/ 410 h 646"/>
                <a:gd name="T32" fmla="*/ 513 w 659"/>
                <a:gd name="T33" fmla="*/ 41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9" h="646">
                  <a:moveTo>
                    <a:pt x="513" y="410"/>
                  </a:moveTo>
                  <a:cubicBezTo>
                    <a:pt x="557" y="645"/>
                    <a:pt x="557" y="645"/>
                    <a:pt x="557" y="645"/>
                  </a:cubicBezTo>
                  <a:cubicBezTo>
                    <a:pt x="108" y="646"/>
                    <a:pt x="108" y="646"/>
                    <a:pt x="108" y="646"/>
                  </a:cubicBezTo>
                  <a:cubicBezTo>
                    <a:pt x="157" y="410"/>
                    <a:pt x="157" y="410"/>
                    <a:pt x="157" y="410"/>
                  </a:cubicBezTo>
                  <a:cubicBezTo>
                    <a:pt x="117" y="282"/>
                    <a:pt x="117" y="282"/>
                    <a:pt x="117" y="282"/>
                  </a:cubicBezTo>
                  <a:cubicBezTo>
                    <a:pt x="11" y="269"/>
                    <a:pt x="11" y="269"/>
                    <a:pt x="11" y="269"/>
                  </a:cubicBezTo>
                  <a:cubicBezTo>
                    <a:pt x="11" y="269"/>
                    <a:pt x="0" y="102"/>
                    <a:pt x="102" y="60"/>
                  </a:cubicBezTo>
                  <a:cubicBezTo>
                    <a:pt x="238" y="4"/>
                    <a:pt x="252" y="0"/>
                    <a:pt x="252" y="0"/>
                  </a:cubicBezTo>
                  <a:cubicBezTo>
                    <a:pt x="322" y="46"/>
                    <a:pt x="322" y="46"/>
                    <a:pt x="322" y="46"/>
                  </a:cubicBezTo>
                  <a:cubicBezTo>
                    <a:pt x="346" y="45"/>
                    <a:pt x="346" y="45"/>
                    <a:pt x="346" y="45"/>
                  </a:cubicBezTo>
                  <a:cubicBezTo>
                    <a:pt x="416" y="0"/>
                    <a:pt x="416" y="0"/>
                    <a:pt x="416" y="0"/>
                  </a:cubicBezTo>
                  <a:cubicBezTo>
                    <a:pt x="568" y="60"/>
                    <a:pt x="568" y="60"/>
                    <a:pt x="568" y="60"/>
                  </a:cubicBezTo>
                  <a:cubicBezTo>
                    <a:pt x="646" y="134"/>
                    <a:pt x="659" y="269"/>
                    <a:pt x="659" y="269"/>
                  </a:cubicBezTo>
                  <a:cubicBezTo>
                    <a:pt x="553" y="282"/>
                    <a:pt x="553" y="282"/>
                    <a:pt x="553" y="282"/>
                  </a:cubicBezTo>
                  <a:cubicBezTo>
                    <a:pt x="552" y="282"/>
                    <a:pt x="552" y="282"/>
                    <a:pt x="552" y="282"/>
                  </a:cubicBezTo>
                  <a:cubicBezTo>
                    <a:pt x="513" y="410"/>
                    <a:pt x="513" y="410"/>
                    <a:pt x="513" y="410"/>
                  </a:cubicBezTo>
                  <a:cubicBezTo>
                    <a:pt x="513" y="410"/>
                    <a:pt x="513" y="410"/>
                    <a:pt x="513" y="410"/>
                  </a:cubicBezTo>
                  <a:close/>
                </a:path>
              </a:pathLst>
            </a:custGeom>
            <a:solidFill>
              <a:srgbClr val="8796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79" name="Freeform 2061">
              <a:extLst>
                <a:ext uri="{FF2B5EF4-FFF2-40B4-BE49-F238E27FC236}">
                  <a16:creationId xmlns:a16="http://schemas.microsoft.com/office/drawing/2014/main" id="{87A0BFA3-642F-2358-BCA3-183D3C845D0E}"/>
                </a:ext>
              </a:extLst>
            </p:cNvPr>
            <p:cNvSpPr>
              <a:spLocks/>
            </p:cNvSpPr>
            <p:nvPr/>
          </p:nvSpPr>
          <p:spPr bwMode="gray">
            <a:xfrm>
              <a:off x="8200856" y="5577994"/>
              <a:ext cx="430099" cy="196812"/>
            </a:xfrm>
            <a:custGeom>
              <a:avLst/>
              <a:gdLst>
                <a:gd name="T0" fmla="*/ 393 w 435"/>
                <a:gd name="T1" fmla="*/ 199 h 199"/>
                <a:gd name="T2" fmla="*/ 41 w 435"/>
                <a:gd name="T3" fmla="*/ 199 h 199"/>
                <a:gd name="T4" fmla="*/ 0 w 435"/>
                <a:gd name="T5" fmla="*/ 159 h 199"/>
                <a:gd name="T6" fmla="*/ 0 w 435"/>
                <a:gd name="T7" fmla="*/ 0 h 199"/>
                <a:gd name="T8" fmla="*/ 435 w 435"/>
                <a:gd name="T9" fmla="*/ 0 h 199"/>
                <a:gd name="T10" fmla="*/ 435 w 435"/>
                <a:gd name="T11" fmla="*/ 159 h 199"/>
                <a:gd name="T12" fmla="*/ 393 w 435"/>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435" h="199">
                  <a:moveTo>
                    <a:pt x="393" y="199"/>
                  </a:moveTo>
                  <a:cubicBezTo>
                    <a:pt x="41" y="199"/>
                    <a:pt x="41" y="199"/>
                    <a:pt x="41" y="199"/>
                  </a:cubicBezTo>
                  <a:cubicBezTo>
                    <a:pt x="25" y="183"/>
                    <a:pt x="16" y="175"/>
                    <a:pt x="0" y="159"/>
                  </a:cubicBezTo>
                  <a:cubicBezTo>
                    <a:pt x="0" y="0"/>
                    <a:pt x="0" y="0"/>
                    <a:pt x="0" y="0"/>
                  </a:cubicBezTo>
                  <a:cubicBezTo>
                    <a:pt x="435" y="0"/>
                    <a:pt x="435" y="0"/>
                    <a:pt x="435" y="0"/>
                  </a:cubicBezTo>
                  <a:cubicBezTo>
                    <a:pt x="435" y="159"/>
                    <a:pt x="435" y="159"/>
                    <a:pt x="435" y="159"/>
                  </a:cubicBezTo>
                  <a:cubicBezTo>
                    <a:pt x="419" y="175"/>
                    <a:pt x="409" y="183"/>
                    <a:pt x="393" y="199"/>
                  </a:cubicBezTo>
                  <a:close/>
                </a:path>
              </a:pathLst>
            </a:custGeom>
            <a:solidFill>
              <a:srgbClr val="3750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0" name="Freeform 2062">
              <a:extLst>
                <a:ext uri="{FF2B5EF4-FFF2-40B4-BE49-F238E27FC236}">
                  <a16:creationId xmlns:a16="http://schemas.microsoft.com/office/drawing/2014/main" id="{FB68A3C5-05FD-1312-45E4-84A1597E5EC0}"/>
                </a:ext>
              </a:extLst>
            </p:cNvPr>
            <p:cNvSpPr>
              <a:spLocks/>
            </p:cNvSpPr>
            <p:nvPr/>
          </p:nvSpPr>
          <p:spPr bwMode="gray">
            <a:xfrm>
              <a:off x="8182069" y="5565138"/>
              <a:ext cx="465719" cy="54405"/>
            </a:xfrm>
            <a:custGeom>
              <a:avLst/>
              <a:gdLst>
                <a:gd name="T0" fmla="*/ 13585 w 13585"/>
                <a:gd name="T1" fmla="*/ 1587 h 1587"/>
                <a:gd name="T2" fmla="*/ 0 w 13585"/>
                <a:gd name="T3" fmla="*/ 1587 h 1587"/>
                <a:gd name="T4" fmla="*/ 346 w 13585"/>
                <a:gd name="T5" fmla="*/ 0 h 1587"/>
                <a:gd name="T6" fmla="*/ 13210 w 13585"/>
                <a:gd name="T7" fmla="*/ 0 h 1587"/>
                <a:gd name="T8" fmla="*/ 13585 w 13585"/>
                <a:gd name="T9" fmla="*/ 1587 h 1587"/>
              </a:gdLst>
              <a:ahLst/>
              <a:cxnLst>
                <a:cxn ang="0">
                  <a:pos x="T0" y="T1"/>
                </a:cxn>
                <a:cxn ang="0">
                  <a:pos x="T2" y="T3"/>
                </a:cxn>
                <a:cxn ang="0">
                  <a:pos x="T4" y="T5"/>
                </a:cxn>
                <a:cxn ang="0">
                  <a:pos x="T6" y="T7"/>
                </a:cxn>
                <a:cxn ang="0">
                  <a:pos x="T8" y="T9"/>
                </a:cxn>
              </a:cxnLst>
              <a:rect l="0" t="0" r="r" b="b"/>
              <a:pathLst>
                <a:path w="13585" h="1587">
                  <a:moveTo>
                    <a:pt x="13585" y="1587"/>
                  </a:moveTo>
                  <a:lnTo>
                    <a:pt x="0" y="1587"/>
                  </a:lnTo>
                  <a:lnTo>
                    <a:pt x="346" y="0"/>
                  </a:lnTo>
                  <a:lnTo>
                    <a:pt x="13210" y="0"/>
                  </a:lnTo>
                  <a:lnTo>
                    <a:pt x="13585" y="1587"/>
                  </a:lnTo>
                  <a:close/>
                </a:path>
              </a:pathLst>
            </a:custGeom>
            <a:solidFill>
              <a:srgbClr val="647D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1" name="Freeform 2063">
              <a:extLst>
                <a:ext uri="{FF2B5EF4-FFF2-40B4-BE49-F238E27FC236}">
                  <a16:creationId xmlns:a16="http://schemas.microsoft.com/office/drawing/2014/main" id="{C8D4FB0C-24D0-4F0D-BFB8-19EDFC7283C3}"/>
                </a:ext>
              </a:extLst>
            </p:cNvPr>
            <p:cNvSpPr>
              <a:spLocks/>
            </p:cNvSpPr>
            <p:nvPr/>
          </p:nvSpPr>
          <p:spPr bwMode="gray">
            <a:xfrm>
              <a:off x="8193931" y="5596780"/>
              <a:ext cx="403428" cy="624032"/>
            </a:xfrm>
            <a:custGeom>
              <a:avLst/>
              <a:gdLst>
                <a:gd name="T0" fmla="*/ 274 w 408"/>
                <a:gd name="T1" fmla="*/ 16 h 631"/>
                <a:gd name="T2" fmla="*/ 0 w 408"/>
                <a:gd name="T3" fmla="*/ 586 h 631"/>
                <a:gd name="T4" fmla="*/ 92 w 408"/>
                <a:gd name="T5" fmla="*/ 631 h 631"/>
                <a:gd name="T6" fmla="*/ 387 w 408"/>
                <a:gd name="T7" fmla="*/ 133 h 631"/>
                <a:gd name="T8" fmla="*/ 388 w 408"/>
                <a:gd name="T9" fmla="*/ 131 h 631"/>
                <a:gd name="T10" fmla="*/ 408 w 408"/>
                <a:gd name="T11" fmla="*/ 90 h 631"/>
                <a:gd name="T12" fmla="*/ 394 w 408"/>
                <a:gd name="T13" fmla="*/ 38 h 631"/>
                <a:gd name="T14" fmla="*/ 313 w 408"/>
                <a:gd name="T15" fmla="*/ 0 h 631"/>
                <a:gd name="T16" fmla="*/ 274 w 408"/>
                <a:gd name="T17" fmla="*/ 16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631">
                  <a:moveTo>
                    <a:pt x="274" y="16"/>
                  </a:moveTo>
                  <a:cubicBezTo>
                    <a:pt x="0" y="586"/>
                    <a:pt x="0" y="586"/>
                    <a:pt x="0" y="586"/>
                  </a:cubicBezTo>
                  <a:cubicBezTo>
                    <a:pt x="92" y="631"/>
                    <a:pt x="92" y="631"/>
                    <a:pt x="92" y="631"/>
                  </a:cubicBezTo>
                  <a:cubicBezTo>
                    <a:pt x="387" y="133"/>
                    <a:pt x="387" y="133"/>
                    <a:pt x="387" y="133"/>
                  </a:cubicBezTo>
                  <a:cubicBezTo>
                    <a:pt x="387" y="132"/>
                    <a:pt x="388" y="132"/>
                    <a:pt x="388" y="131"/>
                  </a:cubicBezTo>
                  <a:cubicBezTo>
                    <a:pt x="408" y="90"/>
                    <a:pt x="408" y="90"/>
                    <a:pt x="408" y="90"/>
                  </a:cubicBezTo>
                  <a:cubicBezTo>
                    <a:pt x="402" y="70"/>
                    <a:pt x="399" y="59"/>
                    <a:pt x="394" y="38"/>
                  </a:cubicBezTo>
                  <a:cubicBezTo>
                    <a:pt x="313" y="0"/>
                    <a:pt x="313" y="0"/>
                    <a:pt x="313" y="0"/>
                  </a:cubicBezTo>
                  <a:cubicBezTo>
                    <a:pt x="298" y="6"/>
                    <a:pt x="290" y="10"/>
                    <a:pt x="274" y="16"/>
                  </a:cubicBez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2" name="Freeform 2064">
              <a:extLst>
                <a:ext uri="{FF2B5EF4-FFF2-40B4-BE49-F238E27FC236}">
                  <a16:creationId xmlns:a16="http://schemas.microsoft.com/office/drawing/2014/main" id="{E02198C7-5E22-5DEC-7F46-BE41A869251F}"/>
                </a:ext>
              </a:extLst>
            </p:cNvPr>
            <p:cNvSpPr>
              <a:spLocks/>
            </p:cNvSpPr>
            <p:nvPr/>
          </p:nvSpPr>
          <p:spPr bwMode="gray">
            <a:xfrm>
              <a:off x="8162289" y="6108059"/>
              <a:ext cx="159170" cy="135482"/>
            </a:xfrm>
            <a:custGeom>
              <a:avLst/>
              <a:gdLst>
                <a:gd name="T0" fmla="*/ 4643 w 4643"/>
                <a:gd name="T1" fmla="*/ 3952 h 3952"/>
                <a:gd name="T2" fmla="*/ 0 w 4643"/>
                <a:gd name="T3" fmla="*/ 1904 h 3952"/>
                <a:gd name="T4" fmla="*/ 57 w 4643"/>
                <a:gd name="T5" fmla="*/ 1789 h 3952"/>
                <a:gd name="T6" fmla="*/ 1788 w 4643"/>
                <a:gd name="T7" fmla="*/ 0 h 3952"/>
                <a:gd name="T8" fmla="*/ 4586 w 4643"/>
                <a:gd name="T9" fmla="*/ 1241 h 3952"/>
                <a:gd name="T10" fmla="*/ 4643 w 4643"/>
                <a:gd name="T11" fmla="*/ 3952 h 3952"/>
                <a:gd name="T12" fmla="*/ 4643 w 4643"/>
                <a:gd name="T13" fmla="*/ 3952 h 3952"/>
                <a:gd name="T14" fmla="*/ 4643 w 4643"/>
                <a:gd name="T15" fmla="*/ 3952 h 3952"/>
                <a:gd name="T16" fmla="*/ 4643 w 4643"/>
                <a:gd name="T17" fmla="*/ 3952 h 3952"/>
                <a:gd name="T18" fmla="*/ 4643 w 4643"/>
                <a:gd name="T19" fmla="*/ 3952 h 3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43" h="3952">
                  <a:moveTo>
                    <a:pt x="4643" y="3952"/>
                  </a:moveTo>
                  <a:lnTo>
                    <a:pt x="0" y="1904"/>
                  </a:lnTo>
                  <a:lnTo>
                    <a:pt x="57" y="1789"/>
                  </a:lnTo>
                  <a:lnTo>
                    <a:pt x="1788" y="0"/>
                  </a:lnTo>
                  <a:lnTo>
                    <a:pt x="4586" y="1241"/>
                  </a:lnTo>
                  <a:lnTo>
                    <a:pt x="4643" y="3952"/>
                  </a:lnTo>
                  <a:lnTo>
                    <a:pt x="4643" y="3952"/>
                  </a:lnTo>
                  <a:lnTo>
                    <a:pt x="4643" y="3952"/>
                  </a:lnTo>
                  <a:lnTo>
                    <a:pt x="4643" y="3952"/>
                  </a:lnTo>
                  <a:lnTo>
                    <a:pt x="4643" y="3952"/>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3" name="Freeform 2065">
              <a:extLst>
                <a:ext uri="{FF2B5EF4-FFF2-40B4-BE49-F238E27FC236}">
                  <a16:creationId xmlns:a16="http://schemas.microsoft.com/office/drawing/2014/main" id="{EE5F7501-0A60-622B-8C6A-33DDBDCB8350}"/>
                </a:ext>
              </a:extLst>
            </p:cNvPr>
            <p:cNvSpPr>
              <a:spLocks/>
            </p:cNvSpPr>
            <p:nvPr/>
          </p:nvSpPr>
          <p:spPr bwMode="gray">
            <a:xfrm>
              <a:off x="8272025" y="5631404"/>
              <a:ext cx="150291" cy="708091"/>
            </a:xfrm>
            <a:custGeom>
              <a:avLst/>
              <a:gdLst>
                <a:gd name="T0" fmla="*/ 0 w 152"/>
                <a:gd name="T1" fmla="*/ 46 h 716"/>
                <a:gd name="T2" fmla="*/ 0 w 152"/>
                <a:gd name="T3" fmla="*/ 93 h 716"/>
                <a:gd name="T4" fmla="*/ 1 w 152"/>
                <a:gd name="T5" fmla="*/ 95 h 716"/>
                <a:gd name="T6" fmla="*/ 49 w 152"/>
                <a:gd name="T7" fmla="*/ 716 h 716"/>
                <a:gd name="T8" fmla="*/ 152 w 152"/>
                <a:gd name="T9" fmla="*/ 716 h 716"/>
                <a:gd name="T10" fmla="*/ 152 w 152"/>
                <a:gd name="T11" fmla="*/ 37 h 716"/>
                <a:gd name="T12" fmla="*/ 122 w 152"/>
                <a:gd name="T13" fmla="*/ 0 h 716"/>
                <a:gd name="T14" fmla="*/ 37 w 152"/>
                <a:gd name="T15" fmla="*/ 0 h 716"/>
                <a:gd name="T16" fmla="*/ 0 w 152"/>
                <a:gd name="T17" fmla="*/ 4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716">
                  <a:moveTo>
                    <a:pt x="0" y="46"/>
                  </a:moveTo>
                  <a:cubicBezTo>
                    <a:pt x="0" y="93"/>
                    <a:pt x="0" y="93"/>
                    <a:pt x="0" y="93"/>
                  </a:cubicBezTo>
                  <a:cubicBezTo>
                    <a:pt x="0" y="94"/>
                    <a:pt x="1" y="95"/>
                    <a:pt x="1" y="95"/>
                  </a:cubicBezTo>
                  <a:cubicBezTo>
                    <a:pt x="49" y="716"/>
                    <a:pt x="49" y="716"/>
                    <a:pt x="49" y="716"/>
                  </a:cubicBezTo>
                  <a:cubicBezTo>
                    <a:pt x="152" y="716"/>
                    <a:pt x="152" y="716"/>
                    <a:pt x="152" y="716"/>
                  </a:cubicBezTo>
                  <a:cubicBezTo>
                    <a:pt x="152" y="37"/>
                    <a:pt x="152" y="37"/>
                    <a:pt x="152" y="37"/>
                  </a:cubicBezTo>
                  <a:cubicBezTo>
                    <a:pt x="140" y="22"/>
                    <a:pt x="134" y="14"/>
                    <a:pt x="122" y="0"/>
                  </a:cubicBezTo>
                  <a:cubicBezTo>
                    <a:pt x="37" y="0"/>
                    <a:pt x="37" y="0"/>
                    <a:pt x="37" y="0"/>
                  </a:cubicBezTo>
                  <a:cubicBezTo>
                    <a:pt x="23" y="18"/>
                    <a:pt x="15" y="28"/>
                    <a:pt x="0" y="46"/>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4" name="Freeform 2066">
              <a:extLst>
                <a:ext uri="{FF2B5EF4-FFF2-40B4-BE49-F238E27FC236}">
                  <a16:creationId xmlns:a16="http://schemas.microsoft.com/office/drawing/2014/main" id="{6029E34A-AB84-5AF8-04B9-206780632FF4}"/>
                </a:ext>
              </a:extLst>
            </p:cNvPr>
            <p:cNvSpPr>
              <a:spLocks/>
            </p:cNvSpPr>
            <p:nvPr/>
          </p:nvSpPr>
          <p:spPr bwMode="gray">
            <a:xfrm>
              <a:off x="8270071" y="6255436"/>
              <a:ext cx="173020" cy="84058"/>
            </a:xfrm>
            <a:custGeom>
              <a:avLst/>
              <a:gdLst>
                <a:gd name="T0" fmla="*/ 5047 w 5047"/>
                <a:gd name="T1" fmla="*/ 2336 h 2452"/>
                <a:gd name="T2" fmla="*/ 5047 w 5047"/>
                <a:gd name="T3" fmla="*/ 2452 h 2452"/>
                <a:gd name="T4" fmla="*/ 0 w 5047"/>
                <a:gd name="T5" fmla="*/ 2452 h 2452"/>
                <a:gd name="T6" fmla="*/ 1096 w 5047"/>
                <a:gd name="T7" fmla="*/ 0 h 2452"/>
                <a:gd name="T8" fmla="*/ 4182 w 5047"/>
                <a:gd name="T9" fmla="*/ 0 h 2452"/>
                <a:gd name="T10" fmla="*/ 5047 w 5047"/>
                <a:gd name="T11" fmla="*/ 2336 h 2452"/>
                <a:gd name="T12" fmla="*/ 5047 w 5047"/>
                <a:gd name="T13" fmla="*/ 2336 h 2452"/>
                <a:gd name="T14" fmla="*/ 5047 w 5047"/>
                <a:gd name="T15" fmla="*/ 2336 h 2452"/>
                <a:gd name="T16" fmla="*/ 5047 w 5047"/>
                <a:gd name="T17" fmla="*/ 2336 h 2452"/>
                <a:gd name="T18" fmla="*/ 5047 w 5047"/>
                <a:gd name="T19" fmla="*/ 2336 h 2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47" h="2452">
                  <a:moveTo>
                    <a:pt x="5047" y="2336"/>
                  </a:moveTo>
                  <a:lnTo>
                    <a:pt x="5047" y="2452"/>
                  </a:lnTo>
                  <a:lnTo>
                    <a:pt x="0" y="2452"/>
                  </a:lnTo>
                  <a:lnTo>
                    <a:pt x="1096" y="0"/>
                  </a:lnTo>
                  <a:lnTo>
                    <a:pt x="4182" y="0"/>
                  </a:lnTo>
                  <a:lnTo>
                    <a:pt x="5047" y="2336"/>
                  </a:lnTo>
                  <a:lnTo>
                    <a:pt x="5047" y="2336"/>
                  </a:lnTo>
                  <a:lnTo>
                    <a:pt x="5047" y="2336"/>
                  </a:lnTo>
                  <a:lnTo>
                    <a:pt x="5047" y="2336"/>
                  </a:lnTo>
                  <a:lnTo>
                    <a:pt x="5047" y="2336"/>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5" name="Freeform 2067">
              <a:extLst>
                <a:ext uri="{FF2B5EF4-FFF2-40B4-BE49-F238E27FC236}">
                  <a16:creationId xmlns:a16="http://schemas.microsoft.com/office/drawing/2014/main" id="{445171E6-CB4E-EA8C-86D1-5074F33DFEA8}"/>
                </a:ext>
              </a:extLst>
            </p:cNvPr>
            <p:cNvSpPr>
              <a:spLocks/>
            </p:cNvSpPr>
            <p:nvPr/>
          </p:nvSpPr>
          <p:spPr bwMode="gray">
            <a:xfrm>
              <a:off x="8527149" y="5399009"/>
              <a:ext cx="103805" cy="92938"/>
            </a:xfrm>
            <a:custGeom>
              <a:avLst/>
              <a:gdLst>
                <a:gd name="T0" fmla="*/ 0 w 3028"/>
                <a:gd name="T1" fmla="*/ 1356 h 2711"/>
                <a:gd name="T2" fmla="*/ 0 w 3028"/>
                <a:gd name="T3" fmla="*/ 2711 h 2711"/>
                <a:gd name="T4" fmla="*/ 3028 w 3028"/>
                <a:gd name="T5" fmla="*/ 2711 h 2711"/>
                <a:gd name="T6" fmla="*/ 3028 w 3028"/>
                <a:gd name="T7" fmla="*/ 0 h 2711"/>
                <a:gd name="T8" fmla="*/ 0 w 3028"/>
                <a:gd name="T9" fmla="*/ 1356 h 2711"/>
              </a:gdLst>
              <a:ahLst/>
              <a:cxnLst>
                <a:cxn ang="0">
                  <a:pos x="T0" y="T1"/>
                </a:cxn>
                <a:cxn ang="0">
                  <a:pos x="T2" y="T3"/>
                </a:cxn>
                <a:cxn ang="0">
                  <a:pos x="T4" y="T5"/>
                </a:cxn>
                <a:cxn ang="0">
                  <a:pos x="T6" y="T7"/>
                </a:cxn>
                <a:cxn ang="0">
                  <a:pos x="T8" y="T9"/>
                </a:cxn>
              </a:cxnLst>
              <a:rect l="0" t="0" r="r" b="b"/>
              <a:pathLst>
                <a:path w="3028" h="2711">
                  <a:moveTo>
                    <a:pt x="0" y="1356"/>
                  </a:moveTo>
                  <a:lnTo>
                    <a:pt x="0" y="2711"/>
                  </a:lnTo>
                  <a:lnTo>
                    <a:pt x="3028" y="2711"/>
                  </a:lnTo>
                  <a:lnTo>
                    <a:pt x="3028" y="0"/>
                  </a:lnTo>
                  <a:lnTo>
                    <a:pt x="0" y="135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6" name="Freeform 2068">
              <a:extLst>
                <a:ext uri="{FF2B5EF4-FFF2-40B4-BE49-F238E27FC236}">
                  <a16:creationId xmlns:a16="http://schemas.microsoft.com/office/drawing/2014/main" id="{E06C87C2-77E9-E226-3C4E-D9AA1E177659}"/>
                </a:ext>
              </a:extLst>
            </p:cNvPr>
            <p:cNvSpPr>
              <a:spLocks/>
            </p:cNvSpPr>
            <p:nvPr/>
          </p:nvSpPr>
          <p:spPr bwMode="gray">
            <a:xfrm>
              <a:off x="8498457" y="5431646"/>
              <a:ext cx="128557" cy="60301"/>
            </a:xfrm>
            <a:custGeom>
              <a:avLst/>
              <a:gdLst>
                <a:gd name="T0" fmla="*/ 3750 w 3750"/>
                <a:gd name="T1" fmla="*/ 1759 h 1759"/>
                <a:gd name="T2" fmla="*/ 0 w 3750"/>
                <a:gd name="T3" fmla="*/ 1759 h 1759"/>
                <a:gd name="T4" fmla="*/ 0 w 3750"/>
                <a:gd name="T5" fmla="*/ 1644 h 1759"/>
                <a:gd name="T6" fmla="*/ 635 w 3750"/>
                <a:gd name="T7" fmla="*/ 0 h 1759"/>
                <a:gd name="T8" fmla="*/ 2913 w 3750"/>
                <a:gd name="T9" fmla="*/ 0 h 1759"/>
                <a:gd name="T10" fmla="*/ 3750 w 3750"/>
                <a:gd name="T11" fmla="*/ 1759 h 1759"/>
                <a:gd name="T12" fmla="*/ 3750 w 3750"/>
                <a:gd name="T13" fmla="*/ 1759 h 1759"/>
                <a:gd name="T14" fmla="*/ 3750 w 3750"/>
                <a:gd name="T15" fmla="*/ 1759 h 1759"/>
                <a:gd name="T16" fmla="*/ 3750 w 3750"/>
                <a:gd name="T17" fmla="*/ 1759 h 1759"/>
                <a:gd name="T18" fmla="*/ 3750 w 3750"/>
                <a:gd name="T19" fmla="*/ 1759 h 1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50" h="1759">
                  <a:moveTo>
                    <a:pt x="3750" y="1759"/>
                  </a:moveTo>
                  <a:lnTo>
                    <a:pt x="0" y="1759"/>
                  </a:lnTo>
                  <a:lnTo>
                    <a:pt x="0" y="1644"/>
                  </a:lnTo>
                  <a:lnTo>
                    <a:pt x="635" y="0"/>
                  </a:lnTo>
                  <a:lnTo>
                    <a:pt x="2913" y="0"/>
                  </a:lnTo>
                  <a:lnTo>
                    <a:pt x="3750" y="1759"/>
                  </a:lnTo>
                  <a:lnTo>
                    <a:pt x="3750" y="1759"/>
                  </a:lnTo>
                  <a:lnTo>
                    <a:pt x="3750" y="1759"/>
                  </a:lnTo>
                  <a:lnTo>
                    <a:pt x="3750" y="1759"/>
                  </a:lnTo>
                  <a:lnTo>
                    <a:pt x="3750" y="1759"/>
                  </a:lnTo>
                  <a:close/>
                </a:path>
              </a:pathLst>
            </a:custGeom>
            <a:solidFill>
              <a:srgbClr val="E1E1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7" name="Freeform 2069">
              <a:extLst>
                <a:ext uri="{FF2B5EF4-FFF2-40B4-BE49-F238E27FC236}">
                  <a16:creationId xmlns:a16="http://schemas.microsoft.com/office/drawing/2014/main" id="{3D6FA3EE-3B7B-75F3-1809-60885A9250B2}"/>
                </a:ext>
              </a:extLst>
            </p:cNvPr>
            <p:cNvSpPr>
              <a:spLocks/>
            </p:cNvSpPr>
            <p:nvPr/>
          </p:nvSpPr>
          <p:spPr bwMode="gray">
            <a:xfrm>
              <a:off x="8271031" y="4588072"/>
              <a:ext cx="282825" cy="390642"/>
            </a:xfrm>
            <a:custGeom>
              <a:avLst/>
              <a:gdLst>
                <a:gd name="T0" fmla="*/ 273 w 286"/>
                <a:gd name="T1" fmla="*/ 119 h 395"/>
                <a:gd name="T2" fmla="*/ 266 w 286"/>
                <a:gd name="T3" fmla="*/ 121 h 395"/>
                <a:gd name="T4" fmla="*/ 266 w 286"/>
                <a:gd name="T5" fmla="*/ 86 h 395"/>
                <a:gd name="T6" fmla="*/ 183 w 286"/>
                <a:gd name="T7" fmla="*/ 0 h 395"/>
                <a:gd name="T8" fmla="*/ 142 w 286"/>
                <a:gd name="T9" fmla="*/ 0 h 395"/>
                <a:gd name="T10" fmla="*/ 102 w 286"/>
                <a:gd name="T11" fmla="*/ 0 h 395"/>
                <a:gd name="T12" fmla="*/ 19 w 286"/>
                <a:gd name="T13" fmla="*/ 86 h 395"/>
                <a:gd name="T14" fmla="*/ 19 w 286"/>
                <a:gd name="T15" fmla="*/ 121 h 395"/>
                <a:gd name="T16" fmla="*/ 14 w 286"/>
                <a:gd name="T17" fmla="*/ 119 h 395"/>
                <a:gd name="T18" fmla="*/ 0 w 286"/>
                <a:gd name="T19" fmla="*/ 133 h 395"/>
                <a:gd name="T20" fmla="*/ 0 w 286"/>
                <a:gd name="T21" fmla="*/ 186 h 395"/>
                <a:gd name="T22" fmla="*/ 14 w 286"/>
                <a:gd name="T23" fmla="*/ 200 h 395"/>
                <a:gd name="T24" fmla="*/ 19 w 286"/>
                <a:gd name="T25" fmla="*/ 198 h 395"/>
                <a:gd name="T26" fmla="*/ 63 w 286"/>
                <a:gd name="T27" fmla="*/ 275 h 395"/>
                <a:gd name="T28" fmla="*/ 63 w 286"/>
                <a:gd name="T29" fmla="*/ 338 h 395"/>
                <a:gd name="T30" fmla="*/ 145 w 286"/>
                <a:gd name="T31" fmla="*/ 394 h 395"/>
                <a:gd name="T32" fmla="*/ 227 w 286"/>
                <a:gd name="T33" fmla="*/ 338 h 395"/>
                <a:gd name="T34" fmla="*/ 227 w 286"/>
                <a:gd name="T35" fmla="*/ 270 h 395"/>
                <a:gd name="T36" fmla="*/ 266 w 286"/>
                <a:gd name="T37" fmla="*/ 198 h 395"/>
                <a:gd name="T38" fmla="*/ 273 w 286"/>
                <a:gd name="T39" fmla="*/ 200 h 395"/>
                <a:gd name="T40" fmla="*/ 286 w 286"/>
                <a:gd name="T41" fmla="*/ 186 h 395"/>
                <a:gd name="T42" fmla="*/ 286 w 286"/>
                <a:gd name="T43" fmla="*/ 133 h 395"/>
                <a:gd name="T44" fmla="*/ 273 w 286"/>
                <a:gd name="T45" fmla="*/ 119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 h="395">
                  <a:moveTo>
                    <a:pt x="273" y="119"/>
                  </a:moveTo>
                  <a:cubicBezTo>
                    <a:pt x="270" y="119"/>
                    <a:pt x="268" y="121"/>
                    <a:pt x="266" y="121"/>
                  </a:cubicBezTo>
                  <a:cubicBezTo>
                    <a:pt x="266" y="86"/>
                    <a:pt x="266" y="86"/>
                    <a:pt x="266" y="86"/>
                  </a:cubicBezTo>
                  <a:cubicBezTo>
                    <a:pt x="262" y="37"/>
                    <a:pt x="226" y="0"/>
                    <a:pt x="183" y="0"/>
                  </a:cubicBezTo>
                  <a:cubicBezTo>
                    <a:pt x="142" y="0"/>
                    <a:pt x="142" y="0"/>
                    <a:pt x="142" y="0"/>
                  </a:cubicBezTo>
                  <a:cubicBezTo>
                    <a:pt x="102" y="0"/>
                    <a:pt x="102" y="0"/>
                    <a:pt x="102" y="0"/>
                  </a:cubicBezTo>
                  <a:cubicBezTo>
                    <a:pt x="59" y="0"/>
                    <a:pt x="24" y="37"/>
                    <a:pt x="19" y="86"/>
                  </a:cubicBezTo>
                  <a:cubicBezTo>
                    <a:pt x="19" y="121"/>
                    <a:pt x="19" y="121"/>
                    <a:pt x="19" y="121"/>
                  </a:cubicBezTo>
                  <a:cubicBezTo>
                    <a:pt x="17" y="121"/>
                    <a:pt x="16" y="119"/>
                    <a:pt x="14" y="119"/>
                  </a:cubicBezTo>
                  <a:cubicBezTo>
                    <a:pt x="6" y="119"/>
                    <a:pt x="0" y="125"/>
                    <a:pt x="0" y="133"/>
                  </a:cubicBezTo>
                  <a:cubicBezTo>
                    <a:pt x="0" y="186"/>
                    <a:pt x="0" y="186"/>
                    <a:pt x="0" y="186"/>
                  </a:cubicBezTo>
                  <a:cubicBezTo>
                    <a:pt x="0" y="194"/>
                    <a:pt x="6" y="200"/>
                    <a:pt x="14" y="200"/>
                  </a:cubicBezTo>
                  <a:cubicBezTo>
                    <a:pt x="16" y="200"/>
                    <a:pt x="17" y="200"/>
                    <a:pt x="19" y="198"/>
                  </a:cubicBezTo>
                  <a:cubicBezTo>
                    <a:pt x="22" y="222"/>
                    <a:pt x="40" y="251"/>
                    <a:pt x="63" y="275"/>
                  </a:cubicBezTo>
                  <a:cubicBezTo>
                    <a:pt x="63" y="284"/>
                    <a:pt x="63" y="285"/>
                    <a:pt x="63" y="338"/>
                  </a:cubicBezTo>
                  <a:cubicBezTo>
                    <a:pt x="79" y="368"/>
                    <a:pt x="110" y="394"/>
                    <a:pt x="145" y="394"/>
                  </a:cubicBezTo>
                  <a:cubicBezTo>
                    <a:pt x="179" y="395"/>
                    <a:pt x="211" y="368"/>
                    <a:pt x="227" y="338"/>
                  </a:cubicBezTo>
                  <a:cubicBezTo>
                    <a:pt x="227" y="270"/>
                    <a:pt x="227" y="270"/>
                    <a:pt x="227" y="270"/>
                  </a:cubicBezTo>
                  <a:cubicBezTo>
                    <a:pt x="247" y="247"/>
                    <a:pt x="263" y="220"/>
                    <a:pt x="266" y="198"/>
                  </a:cubicBezTo>
                  <a:cubicBezTo>
                    <a:pt x="268" y="200"/>
                    <a:pt x="270" y="200"/>
                    <a:pt x="273" y="200"/>
                  </a:cubicBezTo>
                  <a:cubicBezTo>
                    <a:pt x="279" y="200"/>
                    <a:pt x="286" y="194"/>
                    <a:pt x="286" y="186"/>
                  </a:cubicBezTo>
                  <a:cubicBezTo>
                    <a:pt x="286" y="133"/>
                    <a:pt x="286" y="133"/>
                    <a:pt x="286" y="133"/>
                  </a:cubicBezTo>
                  <a:cubicBezTo>
                    <a:pt x="286" y="125"/>
                    <a:pt x="279" y="119"/>
                    <a:pt x="273" y="119"/>
                  </a:cubicBez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8" name="Freeform 2070">
              <a:extLst>
                <a:ext uri="{FF2B5EF4-FFF2-40B4-BE49-F238E27FC236}">
                  <a16:creationId xmlns:a16="http://schemas.microsoft.com/office/drawing/2014/main" id="{E8FD3F4E-11A5-D2AA-B3F1-0B725A5CA55B}"/>
                </a:ext>
              </a:extLst>
            </p:cNvPr>
            <p:cNvSpPr>
              <a:spLocks/>
            </p:cNvSpPr>
            <p:nvPr/>
          </p:nvSpPr>
          <p:spPr bwMode="gray">
            <a:xfrm>
              <a:off x="8344222" y="4552487"/>
              <a:ext cx="198732" cy="199760"/>
            </a:xfrm>
            <a:custGeom>
              <a:avLst/>
              <a:gdLst>
                <a:gd name="T0" fmla="*/ 199 w 201"/>
                <a:gd name="T1" fmla="*/ 132 h 202"/>
                <a:gd name="T2" fmla="*/ 169 w 201"/>
                <a:gd name="T3" fmla="*/ 64 h 202"/>
                <a:gd name="T4" fmla="*/ 108 w 201"/>
                <a:gd name="T5" fmla="*/ 11 h 202"/>
                <a:gd name="T6" fmla="*/ 69 w 201"/>
                <a:gd name="T7" fmla="*/ 2 h 202"/>
                <a:gd name="T8" fmla="*/ 69 w 201"/>
                <a:gd name="T9" fmla="*/ 2 h 202"/>
                <a:gd name="T10" fmla="*/ 56 w 201"/>
                <a:gd name="T11" fmla="*/ 0 h 202"/>
                <a:gd name="T12" fmla="*/ 16 w 201"/>
                <a:gd name="T13" fmla="*/ 6 h 202"/>
                <a:gd name="T14" fmla="*/ 24 w 201"/>
                <a:gd name="T15" fmla="*/ 65 h 202"/>
                <a:gd name="T16" fmla="*/ 67 w 201"/>
                <a:gd name="T17" fmla="*/ 94 h 202"/>
                <a:gd name="T18" fmla="*/ 67 w 201"/>
                <a:gd name="T19" fmla="*/ 94 h 202"/>
                <a:gd name="T20" fmla="*/ 91 w 201"/>
                <a:gd name="T21" fmla="*/ 105 h 202"/>
                <a:gd name="T22" fmla="*/ 159 w 201"/>
                <a:gd name="T23" fmla="*/ 143 h 202"/>
                <a:gd name="T24" fmla="*/ 174 w 201"/>
                <a:gd name="T25" fmla="*/ 202 h 202"/>
                <a:gd name="T26" fmla="*/ 199 w 201"/>
                <a:gd name="T27" fmla="*/ 13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1" h="202">
                  <a:moveTo>
                    <a:pt x="199" y="132"/>
                  </a:moveTo>
                  <a:cubicBezTo>
                    <a:pt x="198" y="108"/>
                    <a:pt x="186" y="86"/>
                    <a:pt x="169" y="64"/>
                  </a:cubicBezTo>
                  <a:cubicBezTo>
                    <a:pt x="153" y="45"/>
                    <a:pt x="137" y="24"/>
                    <a:pt x="108" y="11"/>
                  </a:cubicBezTo>
                  <a:cubicBezTo>
                    <a:pt x="96" y="6"/>
                    <a:pt x="83" y="3"/>
                    <a:pt x="69" y="2"/>
                  </a:cubicBezTo>
                  <a:cubicBezTo>
                    <a:pt x="69" y="2"/>
                    <a:pt x="69" y="2"/>
                    <a:pt x="69" y="2"/>
                  </a:cubicBezTo>
                  <a:cubicBezTo>
                    <a:pt x="64" y="2"/>
                    <a:pt x="61" y="0"/>
                    <a:pt x="56" y="0"/>
                  </a:cubicBezTo>
                  <a:cubicBezTo>
                    <a:pt x="45" y="0"/>
                    <a:pt x="22" y="0"/>
                    <a:pt x="16" y="6"/>
                  </a:cubicBezTo>
                  <a:cubicBezTo>
                    <a:pt x="0" y="22"/>
                    <a:pt x="7" y="48"/>
                    <a:pt x="24" y="65"/>
                  </a:cubicBezTo>
                  <a:cubicBezTo>
                    <a:pt x="35" y="78"/>
                    <a:pt x="51" y="86"/>
                    <a:pt x="67" y="94"/>
                  </a:cubicBezTo>
                  <a:cubicBezTo>
                    <a:pt x="67" y="94"/>
                    <a:pt x="67" y="94"/>
                    <a:pt x="67" y="94"/>
                  </a:cubicBezTo>
                  <a:cubicBezTo>
                    <a:pt x="75" y="99"/>
                    <a:pt x="83" y="102"/>
                    <a:pt x="91" y="105"/>
                  </a:cubicBezTo>
                  <a:cubicBezTo>
                    <a:pt x="116" y="116"/>
                    <a:pt x="142" y="127"/>
                    <a:pt x="159" y="143"/>
                  </a:cubicBezTo>
                  <a:cubicBezTo>
                    <a:pt x="177" y="159"/>
                    <a:pt x="190" y="184"/>
                    <a:pt x="174" y="202"/>
                  </a:cubicBezTo>
                  <a:cubicBezTo>
                    <a:pt x="191" y="181"/>
                    <a:pt x="201" y="157"/>
                    <a:pt x="199" y="132"/>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89" name="Rectangle 2071">
              <a:extLst>
                <a:ext uri="{FF2B5EF4-FFF2-40B4-BE49-F238E27FC236}">
                  <a16:creationId xmlns:a16="http://schemas.microsoft.com/office/drawing/2014/main" id="{C464F09C-8912-C29C-3507-34CB72B1F383}"/>
                </a:ext>
              </a:extLst>
            </p:cNvPr>
            <p:cNvSpPr>
              <a:spLocks noChangeArrowheads="1"/>
            </p:cNvSpPr>
            <p:nvPr/>
          </p:nvSpPr>
          <p:spPr bwMode="gray">
            <a:xfrm>
              <a:off x="4482000" y="5491946"/>
              <a:ext cx="4883649" cy="86047"/>
            </a:xfrm>
            <a:prstGeom prst="rect">
              <a:avLst/>
            </a:prstGeom>
            <a:solidFill>
              <a:srgbClr val="BECD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0" name="Freeform 2072">
              <a:extLst>
                <a:ext uri="{FF2B5EF4-FFF2-40B4-BE49-F238E27FC236}">
                  <a16:creationId xmlns:a16="http://schemas.microsoft.com/office/drawing/2014/main" id="{6091F0AE-1C6E-99EA-ABE8-CCA8E550CC1D}"/>
                </a:ext>
              </a:extLst>
            </p:cNvPr>
            <p:cNvSpPr>
              <a:spLocks/>
            </p:cNvSpPr>
            <p:nvPr/>
          </p:nvSpPr>
          <p:spPr bwMode="gray">
            <a:xfrm>
              <a:off x="5073292" y="5864796"/>
              <a:ext cx="168118" cy="491500"/>
            </a:xfrm>
            <a:custGeom>
              <a:avLst/>
              <a:gdLst>
                <a:gd name="T0" fmla="*/ 4904 w 4904"/>
                <a:gd name="T1" fmla="*/ 0 h 14337"/>
                <a:gd name="T2" fmla="*/ 4644 w 4904"/>
                <a:gd name="T3" fmla="*/ 14337 h 14337"/>
                <a:gd name="T4" fmla="*/ 260 w 4904"/>
                <a:gd name="T5" fmla="*/ 14337 h 14337"/>
                <a:gd name="T6" fmla="*/ 0 w 4904"/>
                <a:gd name="T7" fmla="*/ 0 h 14337"/>
                <a:gd name="T8" fmla="*/ 4904 w 4904"/>
                <a:gd name="T9" fmla="*/ 0 h 14337"/>
              </a:gdLst>
              <a:ahLst/>
              <a:cxnLst>
                <a:cxn ang="0">
                  <a:pos x="T0" y="T1"/>
                </a:cxn>
                <a:cxn ang="0">
                  <a:pos x="T2" y="T3"/>
                </a:cxn>
                <a:cxn ang="0">
                  <a:pos x="T4" y="T5"/>
                </a:cxn>
                <a:cxn ang="0">
                  <a:pos x="T6" y="T7"/>
                </a:cxn>
                <a:cxn ang="0">
                  <a:pos x="T8" y="T9"/>
                </a:cxn>
              </a:cxnLst>
              <a:rect l="0" t="0" r="r" b="b"/>
              <a:pathLst>
                <a:path w="4904" h="14337">
                  <a:moveTo>
                    <a:pt x="4904" y="0"/>
                  </a:moveTo>
                  <a:lnTo>
                    <a:pt x="4644" y="14337"/>
                  </a:lnTo>
                  <a:lnTo>
                    <a:pt x="260" y="14337"/>
                  </a:lnTo>
                  <a:lnTo>
                    <a:pt x="0" y="0"/>
                  </a:lnTo>
                  <a:lnTo>
                    <a:pt x="4904"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1" name="Freeform 2073">
              <a:extLst>
                <a:ext uri="{FF2B5EF4-FFF2-40B4-BE49-F238E27FC236}">
                  <a16:creationId xmlns:a16="http://schemas.microsoft.com/office/drawing/2014/main" id="{C7577F74-5141-5252-CDDF-E1A127DA47CF}"/>
                </a:ext>
              </a:extLst>
            </p:cNvPr>
            <p:cNvSpPr>
              <a:spLocks/>
            </p:cNvSpPr>
            <p:nvPr/>
          </p:nvSpPr>
          <p:spPr bwMode="gray">
            <a:xfrm>
              <a:off x="5073292" y="6356294"/>
              <a:ext cx="168118" cy="60336"/>
            </a:xfrm>
            <a:custGeom>
              <a:avLst/>
              <a:gdLst>
                <a:gd name="T0" fmla="*/ 85 w 170"/>
                <a:gd name="T1" fmla="*/ 0 h 61"/>
                <a:gd name="T2" fmla="*/ 15 w 170"/>
                <a:gd name="T3" fmla="*/ 0 h 61"/>
                <a:gd name="T4" fmla="*/ 0 w 170"/>
                <a:gd name="T5" fmla="*/ 61 h 61"/>
                <a:gd name="T6" fmla="*/ 85 w 170"/>
                <a:gd name="T7" fmla="*/ 61 h 61"/>
                <a:gd name="T8" fmla="*/ 170 w 170"/>
                <a:gd name="T9" fmla="*/ 61 h 61"/>
                <a:gd name="T10" fmla="*/ 154 w 170"/>
                <a:gd name="T11" fmla="*/ 0 h 61"/>
                <a:gd name="T12" fmla="*/ 85 w 170"/>
                <a:gd name="T13" fmla="*/ 0 h 61"/>
                <a:gd name="T14" fmla="*/ 85 w 170"/>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61">
                  <a:moveTo>
                    <a:pt x="85" y="0"/>
                  </a:moveTo>
                  <a:cubicBezTo>
                    <a:pt x="15" y="0"/>
                    <a:pt x="15" y="0"/>
                    <a:pt x="15" y="0"/>
                  </a:cubicBezTo>
                  <a:cubicBezTo>
                    <a:pt x="15" y="0"/>
                    <a:pt x="0" y="41"/>
                    <a:pt x="0" y="61"/>
                  </a:cubicBezTo>
                  <a:cubicBezTo>
                    <a:pt x="85" y="61"/>
                    <a:pt x="85" y="61"/>
                    <a:pt x="85" y="61"/>
                  </a:cubicBezTo>
                  <a:cubicBezTo>
                    <a:pt x="170" y="61"/>
                    <a:pt x="170" y="61"/>
                    <a:pt x="170" y="61"/>
                  </a:cubicBezTo>
                  <a:cubicBezTo>
                    <a:pt x="170" y="41"/>
                    <a:pt x="154" y="0"/>
                    <a:pt x="154" y="0"/>
                  </a:cubicBezTo>
                  <a:cubicBezTo>
                    <a:pt x="85" y="0"/>
                    <a:pt x="85" y="0"/>
                    <a:pt x="85" y="0"/>
                  </a:cubicBezTo>
                  <a:cubicBezTo>
                    <a:pt x="85" y="0"/>
                    <a:pt x="85" y="0"/>
                    <a:pt x="85"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2" name="Freeform 2074">
              <a:extLst>
                <a:ext uri="{FF2B5EF4-FFF2-40B4-BE49-F238E27FC236}">
                  <a16:creationId xmlns:a16="http://schemas.microsoft.com/office/drawing/2014/main" id="{27E8EB86-08E0-B00C-4602-6CCBF58ED938}"/>
                </a:ext>
              </a:extLst>
            </p:cNvPr>
            <p:cNvSpPr>
              <a:spLocks/>
            </p:cNvSpPr>
            <p:nvPr/>
          </p:nvSpPr>
          <p:spPr bwMode="gray">
            <a:xfrm>
              <a:off x="5251284" y="5864796"/>
              <a:ext cx="170073" cy="491500"/>
            </a:xfrm>
            <a:custGeom>
              <a:avLst/>
              <a:gdLst>
                <a:gd name="T0" fmla="*/ 4961 w 4961"/>
                <a:gd name="T1" fmla="*/ 0 h 14337"/>
                <a:gd name="T2" fmla="*/ 4586 w 4961"/>
                <a:gd name="T3" fmla="*/ 14337 h 14337"/>
                <a:gd name="T4" fmla="*/ 173 w 4961"/>
                <a:gd name="T5" fmla="*/ 14337 h 14337"/>
                <a:gd name="T6" fmla="*/ 0 w 4961"/>
                <a:gd name="T7" fmla="*/ 0 h 14337"/>
                <a:gd name="T8" fmla="*/ 4961 w 4961"/>
                <a:gd name="T9" fmla="*/ 0 h 14337"/>
              </a:gdLst>
              <a:ahLst/>
              <a:cxnLst>
                <a:cxn ang="0">
                  <a:pos x="T0" y="T1"/>
                </a:cxn>
                <a:cxn ang="0">
                  <a:pos x="T2" y="T3"/>
                </a:cxn>
                <a:cxn ang="0">
                  <a:pos x="T4" y="T5"/>
                </a:cxn>
                <a:cxn ang="0">
                  <a:pos x="T6" y="T7"/>
                </a:cxn>
                <a:cxn ang="0">
                  <a:pos x="T8" y="T9"/>
                </a:cxn>
              </a:cxnLst>
              <a:rect l="0" t="0" r="r" b="b"/>
              <a:pathLst>
                <a:path w="4961" h="14337">
                  <a:moveTo>
                    <a:pt x="4961" y="0"/>
                  </a:moveTo>
                  <a:lnTo>
                    <a:pt x="4586" y="14337"/>
                  </a:lnTo>
                  <a:lnTo>
                    <a:pt x="173" y="14337"/>
                  </a:lnTo>
                  <a:lnTo>
                    <a:pt x="0" y="0"/>
                  </a:lnTo>
                  <a:lnTo>
                    <a:pt x="4961"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3" name="Freeform 2075">
              <a:extLst>
                <a:ext uri="{FF2B5EF4-FFF2-40B4-BE49-F238E27FC236}">
                  <a16:creationId xmlns:a16="http://schemas.microsoft.com/office/drawing/2014/main" id="{49B2D121-0F71-2108-AE70-5B9A31204677}"/>
                </a:ext>
              </a:extLst>
            </p:cNvPr>
            <p:cNvSpPr>
              <a:spLocks/>
            </p:cNvSpPr>
            <p:nvPr/>
          </p:nvSpPr>
          <p:spPr bwMode="gray">
            <a:xfrm>
              <a:off x="5251284" y="6356294"/>
              <a:ext cx="163147" cy="60336"/>
            </a:xfrm>
            <a:custGeom>
              <a:avLst/>
              <a:gdLst>
                <a:gd name="T0" fmla="*/ 82 w 165"/>
                <a:gd name="T1" fmla="*/ 0 h 61"/>
                <a:gd name="T2" fmla="*/ 15 w 165"/>
                <a:gd name="T3" fmla="*/ 0 h 61"/>
                <a:gd name="T4" fmla="*/ 0 w 165"/>
                <a:gd name="T5" fmla="*/ 61 h 61"/>
                <a:gd name="T6" fmla="*/ 82 w 165"/>
                <a:gd name="T7" fmla="*/ 61 h 61"/>
                <a:gd name="T8" fmla="*/ 165 w 165"/>
                <a:gd name="T9" fmla="*/ 61 h 61"/>
                <a:gd name="T10" fmla="*/ 149 w 165"/>
                <a:gd name="T11" fmla="*/ 0 h 61"/>
                <a:gd name="T12" fmla="*/ 82 w 165"/>
                <a:gd name="T13" fmla="*/ 0 h 61"/>
                <a:gd name="T14" fmla="*/ 82 w 16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61">
                  <a:moveTo>
                    <a:pt x="82" y="0"/>
                  </a:moveTo>
                  <a:cubicBezTo>
                    <a:pt x="15" y="0"/>
                    <a:pt x="15" y="0"/>
                    <a:pt x="15" y="0"/>
                  </a:cubicBezTo>
                  <a:cubicBezTo>
                    <a:pt x="15" y="0"/>
                    <a:pt x="0" y="41"/>
                    <a:pt x="0" y="61"/>
                  </a:cubicBezTo>
                  <a:cubicBezTo>
                    <a:pt x="82" y="61"/>
                    <a:pt x="82" y="61"/>
                    <a:pt x="82" y="61"/>
                  </a:cubicBezTo>
                  <a:cubicBezTo>
                    <a:pt x="165" y="61"/>
                    <a:pt x="165" y="61"/>
                    <a:pt x="165" y="61"/>
                  </a:cubicBezTo>
                  <a:cubicBezTo>
                    <a:pt x="165" y="41"/>
                    <a:pt x="149" y="0"/>
                    <a:pt x="149" y="0"/>
                  </a:cubicBezTo>
                  <a:cubicBezTo>
                    <a:pt x="82" y="0"/>
                    <a:pt x="82" y="0"/>
                    <a:pt x="82" y="0"/>
                  </a:cubicBezTo>
                  <a:cubicBezTo>
                    <a:pt x="82" y="0"/>
                    <a:pt x="82" y="0"/>
                    <a:pt x="82"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4" name="Freeform 2076">
              <a:extLst>
                <a:ext uri="{FF2B5EF4-FFF2-40B4-BE49-F238E27FC236}">
                  <a16:creationId xmlns:a16="http://schemas.microsoft.com/office/drawing/2014/main" id="{C20B7C6B-BD5A-8F2C-B449-AECECFA10CEB}"/>
                </a:ext>
              </a:extLst>
            </p:cNvPr>
            <p:cNvSpPr>
              <a:spLocks/>
            </p:cNvSpPr>
            <p:nvPr/>
          </p:nvSpPr>
          <p:spPr bwMode="gray">
            <a:xfrm>
              <a:off x="4950701" y="5763940"/>
              <a:ext cx="581420" cy="60301"/>
            </a:xfrm>
            <a:custGeom>
              <a:avLst/>
              <a:gdLst>
                <a:gd name="T0" fmla="*/ 528 w 588"/>
                <a:gd name="T1" fmla="*/ 0 h 61"/>
                <a:gd name="T2" fmla="*/ 61 w 588"/>
                <a:gd name="T3" fmla="*/ 0 h 61"/>
                <a:gd name="T4" fmla="*/ 0 w 588"/>
                <a:gd name="T5" fmla="*/ 61 h 61"/>
                <a:gd name="T6" fmla="*/ 588 w 588"/>
                <a:gd name="T7" fmla="*/ 61 h 61"/>
                <a:gd name="T8" fmla="*/ 528 w 588"/>
                <a:gd name="T9" fmla="*/ 0 h 61"/>
              </a:gdLst>
              <a:ahLst/>
              <a:cxnLst>
                <a:cxn ang="0">
                  <a:pos x="T0" y="T1"/>
                </a:cxn>
                <a:cxn ang="0">
                  <a:pos x="T2" y="T3"/>
                </a:cxn>
                <a:cxn ang="0">
                  <a:pos x="T4" y="T5"/>
                </a:cxn>
                <a:cxn ang="0">
                  <a:pos x="T6" y="T7"/>
                </a:cxn>
                <a:cxn ang="0">
                  <a:pos x="T8" y="T9"/>
                </a:cxn>
              </a:cxnLst>
              <a:rect l="0" t="0" r="r" b="b"/>
              <a:pathLst>
                <a:path w="588" h="61">
                  <a:moveTo>
                    <a:pt x="528" y="0"/>
                  </a:moveTo>
                  <a:cubicBezTo>
                    <a:pt x="61" y="0"/>
                    <a:pt x="61" y="0"/>
                    <a:pt x="61" y="0"/>
                  </a:cubicBezTo>
                  <a:cubicBezTo>
                    <a:pt x="27" y="0"/>
                    <a:pt x="0" y="27"/>
                    <a:pt x="0" y="61"/>
                  </a:cubicBezTo>
                  <a:cubicBezTo>
                    <a:pt x="588" y="61"/>
                    <a:pt x="588" y="61"/>
                    <a:pt x="588" y="61"/>
                  </a:cubicBezTo>
                  <a:cubicBezTo>
                    <a:pt x="588" y="27"/>
                    <a:pt x="561" y="0"/>
                    <a:pt x="528"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5" name="Freeform 2077">
              <a:extLst>
                <a:ext uri="{FF2B5EF4-FFF2-40B4-BE49-F238E27FC236}">
                  <a16:creationId xmlns:a16="http://schemas.microsoft.com/office/drawing/2014/main" id="{A44DD666-EC1B-7946-7CE4-EC0A2D37AF0D}"/>
                </a:ext>
              </a:extLst>
            </p:cNvPr>
            <p:cNvSpPr>
              <a:spLocks/>
            </p:cNvSpPr>
            <p:nvPr/>
          </p:nvSpPr>
          <p:spPr bwMode="gray">
            <a:xfrm>
              <a:off x="5032771" y="5616561"/>
              <a:ext cx="432088" cy="170106"/>
            </a:xfrm>
            <a:custGeom>
              <a:avLst/>
              <a:gdLst>
                <a:gd name="T0" fmla="*/ 6 w 437"/>
                <a:gd name="T1" fmla="*/ 105 h 172"/>
                <a:gd name="T2" fmla="*/ 71 w 437"/>
                <a:gd name="T3" fmla="*/ 172 h 172"/>
                <a:gd name="T4" fmla="*/ 364 w 437"/>
                <a:gd name="T5" fmla="*/ 172 h 172"/>
                <a:gd name="T6" fmla="*/ 432 w 437"/>
                <a:gd name="T7" fmla="*/ 105 h 172"/>
                <a:gd name="T8" fmla="*/ 437 w 437"/>
                <a:gd name="T9" fmla="*/ 0 h 172"/>
                <a:gd name="T10" fmla="*/ 0 w 437"/>
                <a:gd name="T11" fmla="*/ 0 h 172"/>
                <a:gd name="T12" fmla="*/ 6 w 437"/>
                <a:gd name="T13" fmla="*/ 105 h 172"/>
                <a:gd name="T14" fmla="*/ 6 w 437"/>
                <a:gd name="T15" fmla="*/ 105 h 1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7" h="172">
                  <a:moveTo>
                    <a:pt x="6" y="105"/>
                  </a:moveTo>
                  <a:cubicBezTo>
                    <a:pt x="6" y="105"/>
                    <a:pt x="18" y="172"/>
                    <a:pt x="71" y="172"/>
                  </a:cubicBezTo>
                  <a:cubicBezTo>
                    <a:pt x="304" y="172"/>
                    <a:pt x="364" y="172"/>
                    <a:pt x="364" y="172"/>
                  </a:cubicBezTo>
                  <a:cubicBezTo>
                    <a:pt x="417" y="172"/>
                    <a:pt x="432" y="105"/>
                    <a:pt x="432" y="105"/>
                  </a:cubicBezTo>
                  <a:cubicBezTo>
                    <a:pt x="437" y="0"/>
                    <a:pt x="437" y="0"/>
                    <a:pt x="437" y="0"/>
                  </a:cubicBezTo>
                  <a:cubicBezTo>
                    <a:pt x="82" y="0"/>
                    <a:pt x="0" y="0"/>
                    <a:pt x="0" y="0"/>
                  </a:cubicBezTo>
                  <a:cubicBezTo>
                    <a:pt x="6" y="105"/>
                    <a:pt x="6" y="105"/>
                    <a:pt x="6" y="105"/>
                  </a:cubicBezTo>
                  <a:cubicBezTo>
                    <a:pt x="6" y="105"/>
                    <a:pt x="6" y="105"/>
                    <a:pt x="6" y="105"/>
                  </a:cubicBezTo>
                  <a:close/>
                </a:path>
              </a:pathLst>
            </a:custGeom>
            <a:solidFill>
              <a:srgbClr val="0073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6" name="Freeform 2078">
              <a:extLst>
                <a:ext uri="{FF2B5EF4-FFF2-40B4-BE49-F238E27FC236}">
                  <a16:creationId xmlns:a16="http://schemas.microsoft.com/office/drawing/2014/main" id="{4FB5331C-4B21-6EE5-C87C-10CA7A4A0B4C}"/>
                </a:ext>
              </a:extLst>
            </p:cNvPr>
            <p:cNvSpPr>
              <a:spLocks/>
            </p:cNvSpPr>
            <p:nvPr/>
          </p:nvSpPr>
          <p:spPr bwMode="gray">
            <a:xfrm>
              <a:off x="4950701" y="5824240"/>
              <a:ext cx="581420" cy="40556"/>
            </a:xfrm>
            <a:custGeom>
              <a:avLst/>
              <a:gdLst>
                <a:gd name="T0" fmla="*/ 0 w 16960"/>
                <a:gd name="T1" fmla="*/ 0 h 1183"/>
                <a:gd name="T2" fmla="*/ 16960 w 16960"/>
                <a:gd name="T3" fmla="*/ 0 h 1183"/>
                <a:gd name="T4" fmla="*/ 16960 w 16960"/>
                <a:gd name="T5" fmla="*/ 1183 h 1183"/>
                <a:gd name="T6" fmla="*/ 0 w 16960"/>
                <a:gd name="T7" fmla="*/ 1183 h 1183"/>
                <a:gd name="T8" fmla="*/ 0 w 16960"/>
                <a:gd name="T9" fmla="*/ 0 h 1183"/>
                <a:gd name="T10" fmla="*/ 0 w 16960"/>
                <a:gd name="T11" fmla="*/ 0 h 1183"/>
              </a:gdLst>
              <a:ahLst/>
              <a:cxnLst>
                <a:cxn ang="0">
                  <a:pos x="T0" y="T1"/>
                </a:cxn>
                <a:cxn ang="0">
                  <a:pos x="T2" y="T3"/>
                </a:cxn>
                <a:cxn ang="0">
                  <a:pos x="T4" y="T5"/>
                </a:cxn>
                <a:cxn ang="0">
                  <a:pos x="T6" y="T7"/>
                </a:cxn>
                <a:cxn ang="0">
                  <a:pos x="T8" y="T9"/>
                </a:cxn>
                <a:cxn ang="0">
                  <a:pos x="T10" y="T11"/>
                </a:cxn>
              </a:cxnLst>
              <a:rect l="0" t="0" r="r" b="b"/>
              <a:pathLst>
                <a:path w="16960" h="1183">
                  <a:moveTo>
                    <a:pt x="0" y="0"/>
                  </a:moveTo>
                  <a:lnTo>
                    <a:pt x="16960" y="0"/>
                  </a:lnTo>
                  <a:lnTo>
                    <a:pt x="16960" y="1183"/>
                  </a:lnTo>
                  <a:lnTo>
                    <a:pt x="0" y="1183"/>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7" name="Freeform 2079">
              <a:extLst>
                <a:ext uri="{FF2B5EF4-FFF2-40B4-BE49-F238E27FC236}">
                  <a16:creationId xmlns:a16="http://schemas.microsoft.com/office/drawing/2014/main" id="{CFD353E5-F59D-F014-0CC0-F51985916862}"/>
                </a:ext>
              </a:extLst>
            </p:cNvPr>
            <p:cNvSpPr>
              <a:spLocks/>
            </p:cNvSpPr>
            <p:nvPr/>
          </p:nvSpPr>
          <p:spPr bwMode="gray">
            <a:xfrm>
              <a:off x="4966504" y="6174328"/>
              <a:ext cx="548783" cy="21769"/>
            </a:xfrm>
            <a:custGeom>
              <a:avLst/>
              <a:gdLst>
                <a:gd name="T0" fmla="*/ 0 w 16008"/>
                <a:gd name="T1" fmla="*/ 0 h 635"/>
                <a:gd name="T2" fmla="*/ 16008 w 16008"/>
                <a:gd name="T3" fmla="*/ 0 h 635"/>
                <a:gd name="T4" fmla="*/ 16008 w 16008"/>
                <a:gd name="T5" fmla="*/ 635 h 635"/>
                <a:gd name="T6" fmla="*/ 0 w 16008"/>
                <a:gd name="T7" fmla="*/ 635 h 635"/>
                <a:gd name="T8" fmla="*/ 0 w 16008"/>
                <a:gd name="T9" fmla="*/ 0 h 635"/>
                <a:gd name="T10" fmla="*/ 0 w 16008"/>
                <a:gd name="T11" fmla="*/ 0 h 635"/>
              </a:gdLst>
              <a:ahLst/>
              <a:cxnLst>
                <a:cxn ang="0">
                  <a:pos x="T0" y="T1"/>
                </a:cxn>
                <a:cxn ang="0">
                  <a:pos x="T2" y="T3"/>
                </a:cxn>
                <a:cxn ang="0">
                  <a:pos x="T4" y="T5"/>
                </a:cxn>
                <a:cxn ang="0">
                  <a:pos x="T6" y="T7"/>
                </a:cxn>
                <a:cxn ang="0">
                  <a:pos x="T8" y="T9"/>
                </a:cxn>
                <a:cxn ang="0">
                  <a:pos x="T10" y="T11"/>
                </a:cxn>
              </a:cxnLst>
              <a:rect l="0" t="0" r="r" b="b"/>
              <a:pathLst>
                <a:path w="16008" h="635">
                  <a:moveTo>
                    <a:pt x="0" y="0"/>
                  </a:moveTo>
                  <a:lnTo>
                    <a:pt x="16008" y="0"/>
                  </a:lnTo>
                  <a:lnTo>
                    <a:pt x="16008" y="635"/>
                  </a:lnTo>
                  <a:lnTo>
                    <a:pt x="0" y="635"/>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8" name="Freeform 2080">
              <a:extLst>
                <a:ext uri="{FF2B5EF4-FFF2-40B4-BE49-F238E27FC236}">
                  <a16:creationId xmlns:a16="http://schemas.microsoft.com/office/drawing/2014/main" id="{185D48D7-B025-897D-69D6-062A472B8654}"/>
                </a:ext>
              </a:extLst>
            </p:cNvPr>
            <p:cNvSpPr>
              <a:spLocks/>
            </p:cNvSpPr>
            <p:nvPr/>
          </p:nvSpPr>
          <p:spPr bwMode="gray">
            <a:xfrm>
              <a:off x="5079223" y="4508950"/>
              <a:ext cx="345115" cy="464793"/>
            </a:xfrm>
            <a:custGeom>
              <a:avLst/>
              <a:gdLst>
                <a:gd name="T0" fmla="*/ 346 w 349"/>
                <a:gd name="T1" fmla="*/ 244 h 470"/>
                <a:gd name="T2" fmla="*/ 322 w 349"/>
                <a:gd name="T3" fmla="*/ 307 h 470"/>
                <a:gd name="T4" fmla="*/ 308 w 349"/>
                <a:gd name="T5" fmla="*/ 316 h 470"/>
                <a:gd name="T6" fmla="*/ 295 w 349"/>
                <a:gd name="T7" fmla="*/ 316 h 470"/>
                <a:gd name="T8" fmla="*/ 282 w 349"/>
                <a:gd name="T9" fmla="*/ 371 h 470"/>
                <a:gd name="T10" fmla="*/ 267 w 349"/>
                <a:gd name="T11" fmla="*/ 380 h 470"/>
                <a:gd name="T12" fmla="*/ 270 w 349"/>
                <a:gd name="T13" fmla="*/ 454 h 470"/>
                <a:gd name="T14" fmla="*/ 205 w 349"/>
                <a:gd name="T15" fmla="*/ 470 h 470"/>
                <a:gd name="T16" fmla="*/ 142 w 349"/>
                <a:gd name="T17" fmla="*/ 470 h 470"/>
                <a:gd name="T18" fmla="*/ 80 w 349"/>
                <a:gd name="T19" fmla="*/ 451 h 470"/>
                <a:gd name="T20" fmla="*/ 82 w 349"/>
                <a:gd name="T21" fmla="*/ 380 h 470"/>
                <a:gd name="T22" fmla="*/ 66 w 349"/>
                <a:gd name="T23" fmla="*/ 371 h 470"/>
                <a:gd name="T24" fmla="*/ 53 w 349"/>
                <a:gd name="T25" fmla="*/ 316 h 470"/>
                <a:gd name="T26" fmla="*/ 41 w 349"/>
                <a:gd name="T27" fmla="*/ 316 h 470"/>
                <a:gd name="T28" fmla="*/ 26 w 349"/>
                <a:gd name="T29" fmla="*/ 307 h 470"/>
                <a:gd name="T30" fmla="*/ 2 w 349"/>
                <a:gd name="T31" fmla="*/ 244 h 470"/>
                <a:gd name="T32" fmla="*/ 11 w 349"/>
                <a:gd name="T33" fmla="*/ 225 h 470"/>
                <a:gd name="T34" fmla="*/ 35 w 349"/>
                <a:gd name="T35" fmla="*/ 235 h 470"/>
                <a:gd name="T36" fmla="*/ 33 w 349"/>
                <a:gd name="T37" fmla="*/ 148 h 470"/>
                <a:gd name="T38" fmla="*/ 45 w 349"/>
                <a:gd name="T39" fmla="*/ 47 h 470"/>
                <a:gd name="T40" fmla="*/ 136 w 349"/>
                <a:gd name="T41" fmla="*/ 0 h 470"/>
                <a:gd name="T42" fmla="*/ 215 w 349"/>
                <a:gd name="T43" fmla="*/ 0 h 470"/>
                <a:gd name="T44" fmla="*/ 303 w 349"/>
                <a:gd name="T45" fmla="*/ 46 h 470"/>
                <a:gd name="T46" fmla="*/ 316 w 349"/>
                <a:gd name="T47" fmla="*/ 151 h 470"/>
                <a:gd name="T48" fmla="*/ 314 w 349"/>
                <a:gd name="T49" fmla="*/ 235 h 470"/>
                <a:gd name="T50" fmla="*/ 338 w 349"/>
                <a:gd name="T51" fmla="*/ 225 h 470"/>
                <a:gd name="T52" fmla="*/ 346 w 349"/>
                <a:gd name="T53" fmla="*/ 244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9" h="470">
                  <a:moveTo>
                    <a:pt x="346" y="244"/>
                  </a:moveTo>
                  <a:cubicBezTo>
                    <a:pt x="322" y="307"/>
                    <a:pt x="322" y="307"/>
                    <a:pt x="322" y="307"/>
                  </a:cubicBezTo>
                  <a:cubicBezTo>
                    <a:pt x="319" y="314"/>
                    <a:pt x="314" y="316"/>
                    <a:pt x="308" y="316"/>
                  </a:cubicBezTo>
                  <a:cubicBezTo>
                    <a:pt x="295" y="316"/>
                    <a:pt x="295" y="316"/>
                    <a:pt x="295" y="316"/>
                  </a:cubicBezTo>
                  <a:cubicBezTo>
                    <a:pt x="282" y="371"/>
                    <a:pt x="282" y="371"/>
                    <a:pt x="282" y="371"/>
                  </a:cubicBezTo>
                  <a:cubicBezTo>
                    <a:pt x="267" y="380"/>
                    <a:pt x="267" y="380"/>
                    <a:pt x="267" y="380"/>
                  </a:cubicBezTo>
                  <a:cubicBezTo>
                    <a:pt x="267" y="413"/>
                    <a:pt x="270" y="454"/>
                    <a:pt x="270" y="454"/>
                  </a:cubicBezTo>
                  <a:cubicBezTo>
                    <a:pt x="205" y="470"/>
                    <a:pt x="205" y="470"/>
                    <a:pt x="205" y="470"/>
                  </a:cubicBezTo>
                  <a:cubicBezTo>
                    <a:pt x="142" y="470"/>
                    <a:pt x="142" y="470"/>
                    <a:pt x="142" y="470"/>
                  </a:cubicBezTo>
                  <a:cubicBezTo>
                    <a:pt x="80" y="451"/>
                    <a:pt x="80" y="451"/>
                    <a:pt x="80" y="451"/>
                  </a:cubicBezTo>
                  <a:cubicBezTo>
                    <a:pt x="82" y="380"/>
                    <a:pt x="82" y="380"/>
                    <a:pt x="82" y="380"/>
                  </a:cubicBezTo>
                  <a:cubicBezTo>
                    <a:pt x="66" y="371"/>
                    <a:pt x="66" y="371"/>
                    <a:pt x="66" y="371"/>
                  </a:cubicBezTo>
                  <a:cubicBezTo>
                    <a:pt x="53" y="316"/>
                    <a:pt x="53" y="316"/>
                    <a:pt x="53" y="316"/>
                  </a:cubicBezTo>
                  <a:cubicBezTo>
                    <a:pt x="41" y="316"/>
                    <a:pt x="41" y="316"/>
                    <a:pt x="41" y="316"/>
                  </a:cubicBezTo>
                  <a:cubicBezTo>
                    <a:pt x="35" y="316"/>
                    <a:pt x="29" y="314"/>
                    <a:pt x="26" y="307"/>
                  </a:cubicBezTo>
                  <a:cubicBezTo>
                    <a:pt x="2" y="244"/>
                    <a:pt x="2" y="244"/>
                    <a:pt x="2" y="244"/>
                  </a:cubicBezTo>
                  <a:cubicBezTo>
                    <a:pt x="0" y="237"/>
                    <a:pt x="4" y="229"/>
                    <a:pt x="11" y="225"/>
                  </a:cubicBezTo>
                  <a:cubicBezTo>
                    <a:pt x="26" y="216"/>
                    <a:pt x="35" y="235"/>
                    <a:pt x="35" y="235"/>
                  </a:cubicBezTo>
                  <a:cubicBezTo>
                    <a:pt x="33" y="148"/>
                    <a:pt x="33" y="148"/>
                    <a:pt x="33" y="148"/>
                  </a:cubicBezTo>
                  <a:cubicBezTo>
                    <a:pt x="45" y="47"/>
                    <a:pt x="45" y="47"/>
                    <a:pt x="45" y="47"/>
                  </a:cubicBezTo>
                  <a:cubicBezTo>
                    <a:pt x="136" y="0"/>
                    <a:pt x="136" y="0"/>
                    <a:pt x="136" y="0"/>
                  </a:cubicBezTo>
                  <a:cubicBezTo>
                    <a:pt x="215" y="0"/>
                    <a:pt x="215" y="0"/>
                    <a:pt x="215" y="0"/>
                  </a:cubicBezTo>
                  <a:cubicBezTo>
                    <a:pt x="303" y="46"/>
                    <a:pt x="303" y="46"/>
                    <a:pt x="303" y="46"/>
                  </a:cubicBezTo>
                  <a:cubicBezTo>
                    <a:pt x="316" y="151"/>
                    <a:pt x="316" y="151"/>
                    <a:pt x="316" y="151"/>
                  </a:cubicBezTo>
                  <a:cubicBezTo>
                    <a:pt x="314" y="235"/>
                    <a:pt x="314" y="235"/>
                    <a:pt x="314" y="235"/>
                  </a:cubicBezTo>
                  <a:cubicBezTo>
                    <a:pt x="315" y="226"/>
                    <a:pt x="329" y="221"/>
                    <a:pt x="338" y="225"/>
                  </a:cubicBezTo>
                  <a:cubicBezTo>
                    <a:pt x="346" y="228"/>
                    <a:pt x="349" y="237"/>
                    <a:pt x="346" y="244"/>
                  </a:cubicBez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99" name="Freeform 2081">
              <a:extLst>
                <a:ext uri="{FF2B5EF4-FFF2-40B4-BE49-F238E27FC236}">
                  <a16:creationId xmlns:a16="http://schemas.microsoft.com/office/drawing/2014/main" id="{9C5D7BED-FEB6-8DCB-F6DF-3692CF600F2F}"/>
                </a:ext>
              </a:extLst>
            </p:cNvPr>
            <p:cNvSpPr>
              <a:spLocks/>
            </p:cNvSpPr>
            <p:nvPr/>
          </p:nvSpPr>
          <p:spPr bwMode="gray">
            <a:xfrm>
              <a:off x="4923995" y="5305042"/>
              <a:ext cx="104800" cy="182962"/>
            </a:xfrm>
            <a:custGeom>
              <a:avLst/>
              <a:gdLst>
                <a:gd name="T0" fmla="*/ 173 w 3057"/>
                <a:gd name="T1" fmla="*/ 4154 h 5337"/>
                <a:gd name="T2" fmla="*/ 0 w 3057"/>
                <a:gd name="T3" fmla="*/ 0 h 5337"/>
                <a:gd name="T4" fmla="*/ 3057 w 3057"/>
                <a:gd name="T5" fmla="*/ 0 h 5337"/>
                <a:gd name="T6" fmla="*/ 3057 w 3057"/>
                <a:gd name="T7" fmla="*/ 5337 h 5337"/>
                <a:gd name="T8" fmla="*/ 894 w 3057"/>
                <a:gd name="T9" fmla="*/ 5337 h 5337"/>
                <a:gd name="T10" fmla="*/ 173 w 3057"/>
                <a:gd name="T11" fmla="*/ 4154 h 5337"/>
              </a:gdLst>
              <a:ahLst/>
              <a:cxnLst>
                <a:cxn ang="0">
                  <a:pos x="T0" y="T1"/>
                </a:cxn>
                <a:cxn ang="0">
                  <a:pos x="T2" y="T3"/>
                </a:cxn>
                <a:cxn ang="0">
                  <a:pos x="T4" y="T5"/>
                </a:cxn>
                <a:cxn ang="0">
                  <a:pos x="T6" y="T7"/>
                </a:cxn>
                <a:cxn ang="0">
                  <a:pos x="T8" y="T9"/>
                </a:cxn>
                <a:cxn ang="0">
                  <a:pos x="T10" y="T11"/>
                </a:cxn>
              </a:cxnLst>
              <a:rect l="0" t="0" r="r" b="b"/>
              <a:pathLst>
                <a:path w="3057" h="5337">
                  <a:moveTo>
                    <a:pt x="173" y="4154"/>
                  </a:moveTo>
                  <a:lnTo>
                    <a:pt x="0" y="0"/>
                  </a:lnTo>
                  <a:lnTo>
                    <a:pt x="3057" y="0"/>
                  </a:lnTo>
                  <a:lnTo>
                    <a:pt x="3057" y="5337"/>
                  </a:lnTo>
                  <a:lnTo>
                    <a:pt x="894" y="5337"/>
                  </a:lnTo>
                  <a:lnTo>
                    <a:pt x="173" y="415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0" name="Freeform 2082">
              <a:extLst>
                <a:ext uri="{FF2B5EF4-FFF2-40B4-BE49-F238E27FC236}">
                  <a16:creationId xmlns:a16="http://schemas.microsoft.com/office/drawing/2014/main" id="{B55CFA13-308B-67E9-DBA0-332C3B00785A}"/>
                </a:ext>
              </a:extLst>
            </p:cNvPr>
            <p:cNvSpPr>
              <a:spLocks/>
            </p:cNvSpPr>
            <p:nvPr/>
          </p:nvSpPr>
          <p:spPr bwMode="gray">
            <a:xfrm>
              <a:off x="5463865" y="5305042"/>
              <a:ext cx="108776" cy="182962"/>
            </a:xfrm>
            <a:custGeom>
              <a:avLst/>
              <a:gdLst>
                <a:gd name="T0" fmla="*/ 3000 w 3173"/>
                <a:gd name="T1" fmla="*/ 4154 h 5337"/>
                <a:gd name="T2" fmla="*/ 3173 w 3173"/>
                <a:gd name="T3" fmla="*/ 0 h 5337"/>
                <a:gd name="T4" fmla="*/ 0 w 3173"/>
                <a:gd name="T5" fmla="*/ 0 h 5337"/>
                <a:gd name="T6" fmla="*/ 0 w 3173"/>
                <a:gd name="T7" fmla="*/ 5337 h 5337"/>
                <a:gd name="T8" fmla="*/ 1991 w 3173"/>
                <a:gd name="T9" fmla="*/ 5337 h 5337"/>
                <a:gd name="T10" fmla="*/ 3000 w 3173"/>
                <a:gd name="T11" fmla="*/ 4154 h 5337"/>
              </a:gdLst>
              <a:ahLst/>
              <a:cxnLst>
                <a:cxn ang="0">
                  <a:pos x="T0" y="T1"/>
                </a:cxn>
                <a:cxn ang="0">
                  <a:pos x="T2" y="T3"/>
                </a:cxn>
                <a:cxn ang="0">
                  <a:pos x="T4" y="T5"/>
                </a:cxn>
                <a:cxn ang="0">
                  <a:pos x="T6" y="T7"/>
                </a:cxn>
                <a:cxn ang="0">
                  <a:pos x="T8" y="T9"/>
                </a:cxn>
                <a:cxn ang="0">
                  <a:pos x="T10" y="T11"/>
                </a:cxn>
              </a:cxnLst>
              <a:rect l="0" t="0" r="r" b="b"/>
              <a:pathLst>
                <a:path w="3173" h="5337">
                  <a:moveTo>
                    <a:pt x="3000" y="4154"/>
                  </a:moveTo>
                  <a:lnTo>
                    <a:pt x="3173" y="0"/>
                  </a:lnTo>
                  <a:lnTo>
                    <a:pt x="0" y="0"/>
                  </a:lnTo>
                  <a:lnTo>
                    <a:pt x="0" y="5337"/>
                  </a:lnTo>
                  <a:lnTo>
                    <a:pt x="1991" y="5337"/>
                  </a:lnTo>
                  <a:lnTo>
                    <a:pt x="3000" y="4154"/>
                  </a:lnTo>
                  <a:close/>
                </a:path>
              </a:pathLst>
            </a:custGeom>
            <a:solidFill>
              <a:srgbClr val="D7D7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1" name="Freeform 2083">
              <a:extLst>
                <a:ext uri="{FF2B5EF4-FFF2-40B4-BE49-F238E27FC236}">
                  <a16:creationId xmlns:a16="http://schemas.microsoft.com/office/drawing/2014/main" id="{C156CA24-7BC1-A2E0-9E46-BADD7EB2CBB3}"/>
                </a:ext>
              </a:extLst>
            </p:cNvPr>
            <p:cNvSpPr>
              <a:spLocks/>
            </p:cNvSpPr>
            <p:nvPr/>
          </p:nvSpPr>
          <p:spPr bwMode="gray">
            <a:xfrm>
              <a:off x="4920053" y="4940146"/>
              <a:ext cx="657525" cy="732808"/>
            </a:xfrm>
            <a:custGeom>
              <a:avLst/>
              <a:gdLst>
                <a:gd name="T0" fmla="*/ 15863 w 19180"/>
                <a:gd name="T1" fmla="*/ 11019 h 21376"/>
                <a:gd name="T2" fmla="*/ 15950 w 19180"/>
                <a:gd name="T3" fmla="*/ 21376 h 21376"/>
                <a:gd name="T4" fmla="*/ 3086 w 19180"/>
                <a:gd name="T5" fmla="*/ 21376 h 21376"/>
                <a:gd name="T6" fmla="*/ 3144 w 19180"/>
                <a:gd name="T7" fmla="*/ 11019 h 21376"/>
                <a:gd name="T8" fmla="*/ 0 w 19180"/>
                <a:gd name="T9" fmla="*/ 11019 h 21376"/>
                <a:gd name="T10" fmla="*/ 202 w 19180"/>
                <a:gd name="T11" fmla="*/ 4875 h 21376"/>
                <a:gd name="T12" fmla="*/ 1730 w 19180"/>
                <a:gd name="T13" fmla="*/ 2394 h 21376"/>
                <a:gd name="T14" fmla="*/ 6807 w 19180"/>
                <a:gd name="T15" fmla="*/ 0 h 21376"/>
                <a:gd name="T16" fmla="*/ 12460 w 19180"/>
                <a:gd name="T17" fmla="*/ 0 h 21376"/>
                <a:gd name="T18" fmla="*/ 17450 w 19180"/>
                <a:gd name="T19" fmla="*/ 2394 h 21376"/>
                <a:gd name="T20" fmla="*/ 19036 w 19180"/>
                <a:gd name="T21" fmla="*/ 4933 h 21376"/>
                <a:gd name="T22" fmla="*/ 19180 w 19180"/>
                <a:gd name="T23" fmla="*/ 11019 h 21376"/>
                <a:gd name="T24" fmla="*/ 15863 w 19180"/>
                <a:gd name="T25" fmla="*/ 11019 h 2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180" h="21376">
                  <a:moveTo>
                    <a:pt x="15863" y="11019"/>
                  </a:moveTo>
                  <a:lnTo>
                    <a:pt x="15950" y="21376"/>
                  </a:lnTo>
                  <a:lnTo>
                    <a:pt x="3086" y="21376"/>
                  </a:lnTo>
                  <a:lnTo>
                    <a:pt x="3144" y="11019"/>
                  </a:lnTo>
                  <a:lnTo>
                    <a:pt x="0" y="11019"/>
                  </a:lnTo>
                  <a:lnTo>
                    <a:pt x="202" y="4875"/>
                  </a:lnTo>
                  <a:lnTo>
                    <a:pt x="1730" y="2394"/>
                  </a:lnTo>
                  <a:lnTo>
                    <a:pt x="6807" y="0"/>
                  </a:lnTo>
                  <a:lnTo>
                    <a:pt x="12460" y="0"/>
                  </a:lnTo>
                  <a:lnTo>
                    <a:pt x="17450" y="2394"/>
                  </a:lnTo>
                  <a:lnTo>
                    <a:pt x="19036" y="4933"/>
                  </a:lnTo>
                  <a:lnTo>
                    <a:pt x="19180" y="11019"/>
                  </a:lnTo>
                  <a:lnTo>
                    <a:pt x="15863" y="11019"/>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2" name="Freeform 2084">
              <a:extLst>
                <a:ext uri="{FF2B5EF4-FFF2-40B4-BE49-F238E27FC236}">
                  <a16:creationId xmlns:a16="http://schemas.microsoft.com/office/drawing/2014/main" id="{8E2AF3A8-5646-784F-D60F-F4DFA56531E7}"/>
                </a:ext>
              </a:extLst>
            </p:cNvPr>
            <p:cNvSpPr>
              <a:spLocks/>
            </p:cNvSpPr>
            <p:nvPr/>
          </p:nvSpPr>
          <p:spPr bwMode="gray">
            <a:xfrm>
              <a:off x="4950701" y="5453380"/>
              <a:ext cx="34590" cy="963250"/>
            </a:xfrm>
            <a:custGeom>
              <a:avLst/>
              <a:gdLst>
                <a:gd name="T0" fmla="*/ 0 w 1009"/>
                <a:gd name="T1" fmla="*/ 0 h 28098"/>
                <a:gd name="T2" fmla="*/ 1009 w 1009"/>
                <a:gd name="T3" fmla="*/ 0 h 28098"/>
                <a:gd name="T4" fmla="*/ 1009 w 1009"/>
                <a:gd name="T5" fmla="*/ 28098 h 28098"/>
                <a:gd name="T6" fmla="*/ 0 w 1009"/>
                <a:gd name="T7" fmla="*/ 28098 h 28098"/>
                <a:gd name="T8" fmla="*/ 0 w 1009"/>
                <a:gd name="T9" fmla="*/ 0 h 28098"/>
                <a:gd name="T10" fmla="*/ 0 w 1009"/>
                <a:gd name="T11" fmla="*/ 0 h 28098"/>
              </a:gdLst>
              <a:ahLst/>
              <a:cxnLst>
                <a:cxn ang="0">
                  <a:pos x="T0" y="T1"/>
                </a:cxn>
                <a:cxn ang="0">
                  <a:pos x="T2" y="T3"/>
                </a:cxn>
                <a:cxn ang="0">
                  <a:pos x="T4" y="T5"/>
                </a:cxn>
                <a:cxn ang="0">
                  <a:pos x="T6" y="T7"/>
                </a:cxn>
                <a:cxn ang="0">
                  <a:pos x="T8" y="T9"/>
                </a:cxn>
                <a:cxn ang="0">
                  <a:pos x="T10" y="T11"/>
                </a:cxn>
              </a:cxnLst>
              <a:rect l="0" t="0" r="r" b="b"/>
              <a:pathLst>
                <a:path w="1009" h="28098">
                  <a:moveTo>
                    <a:pt x="0" y="0"/>
                  </a:moveTo>
                  <a:lnTo>
                    <a:pt x="1009" y="0"/>
                  </a:lnTo>
                  <a:lnTo>
                    <a:pt x="1009"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3" name="Freeform 2085">
              <a:extLst>
                <a:ext uri="{FF2B5EF4-FFF2-40B4-BE49-F238E27FC236}">
                  <a16:creationId xmlns:a16="http://schemas.microsoft.com/office/drawing/2014/main" id="{DA4A6497-E88E-8375-FDC9-F00C3A0B8651}"/>
                </a:ext>
              </a:extLst>
            </p:cNvPr>
            <p:cNvSpPr>
              <a:spLocks/>
            </p:cNvSpPr>
            <p:nvPr/>
          </p:nvSpPr>
          <p:spPr bwMode="gray">
            <a:xfrm>
              <a:off x="5498490" y="5453380"/>
              <a:ext cx="33631" cy="963250"/>
            </a:xfrm>
            <a:custGeom>
              <a:avLst/>
              <a:gdLst>
                <a:gd name="T0" fmla="*/ 0 w 981"/>
                <a:gd name="T1" fmla="*/ 0 h 28098"/>
                <a:gd name="T2" fmla="*/ 981 w 981"/>
                <a:gd name="T3" fmla="*/ 0 h 28098"/>
                <a:gd name="T4" fmla="*/ 981 w 981"/>
                <a:gd name="T5" fmla="*/ 28098 h 28098"/>
                <a:gd name="T6" fmla="*/ 0 w 981"/>
                <a:gd name="T7" fmla="*/ 28098 h 28098"/>
                <a:gd name="T8" fmla="*/ 0 w 981"/>
                <a:gd name="T9" fmla="*/ 0 h 28098"/>
                <a:gd name="T10" fmla="*/ 0 w 981"/>
                <a:gd name="T11" fmla="*/ 0 h 28098"/>
              </a:gdLst>
              <a:ahLst/>
              <a:cxnLst>
                <a:cxn ang="0">
                  <a:pos x="T0" y="T1"/>
                </a:cxn>
                <a:cxn ang="0">
                  <a:pos x="T2" y="T3"/>
                </a:cxn>
                <a:cxn ang="0">
                  <a:pos x="T4" y="T5"/>
                </a:cxn>
                <a:cxn ang="0">
                  <a:pos x="T6" y="T7"/>
                </a:cxn>
                <a:cxn ang="0">
                  <a:pos x="T8" y="T9"/>
                </a:cxn>
                <a:cxn ang="0">
                  <a:pos x="T10" y="T11"/>
                </a:cxn>
              </a:cxnLst>
              <a:rect l="0" t="0" r="r" b="b"/>
              <a:pathLst>
                <a:path w="981" h="28098">
                  <a:moveTo>
                    <a:pt x="0" y="0"/>
                  </a:moveTo>
                  <a:lnTo>
                    <a:pt x="981" y="0"/>
                  </a:lnTo>
                  <a:lnTo>
                    <a:pt x="981"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5" name="Freeform 2086">
              <a:extLst>
                <a:ext uri="{FF2B5EF4-FFF2-40B4-BE49-F238E27FC236}">
                  <a16:creationId xmlns:a16="http://schemas.microsoft.com/office/drawing/2014/main" id="{333A343C-DFE2-6D44-17A2-7F416401863E}"/>
                </a:ext>
              </a:extLst>
            </p:cNvPr>
            <p:cNvSpPr>
              <a:spLocks/>
            </p:cNvSpPr>
            <p:nvPr/>
          </p:nvSpPr>
          <p:spPr bwMode="gray">
            <a:xfrm>
              <a:off x="4950701" y="5225955"/>
              <a:ext cx="581420" cy="227426"/>
            </a:xfrm>
            <a:custGeom>
              <a:avLst/>
              <a:gdLst>
                <a:gd name="T0" fmla="*/ 440 w 588"/>
                <a:gd name="T1" fmla="*/ 0 h 230"/>
                <a:gd name="T2" fmla="*/ 148 w 588"/>
                <a:gd name="T3" fmla="*/ 0 h 230"/>
                <a:gd name="T4" fmla="*/ 0 w 588"/>
                <a:gd name="T5" fmla="*/ 131 h 230"/>
                <a:gd name="T6" fmla="*/ 0 w 588"/>
                <a:gd name="T7" fmla="*/ 230 h 230"/>
                <a:gd name="T8" fmla="*/ 588 w 588"/>
                <a:gd name="T9" fmla="*/ 230 h 230"/>
                <a:gd name="T10" fmla="*/ 588 w 588"/>
                <a:gd name="T11" fmla="*/ 131 h 230"/>
                <a:gd name="T12" fmla="*/ 440 w 588"/>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588" h="230">
                  <a:moveTo>
                    <a:pt x="440" y="0"/>
                  </a:moveTo>
                  <a:cubicBezTo>
                    <a:pt x="148" y="0"/>
                    <a:pt x="148" y="0"/>
                    <a:pt x="148" y="0"/>
                  </a:cubicBezTo>
                  <a:cubicBezTo>
                    <a:pt x="66" y="0"/>
                    <a:pt x="0" y="58"/>
                    <a:pt x="0" y="131"/>
                  </a:cubicBezTo>
                  <a:cubicBezTo>
                    <a:pt x="0" y="230"/>
                    <a:pt x="0" y="230"/>
                    <a:pt x="0" y="230"/>
                  </a:cubicBezTo>
                  <a:cubicBezTo>
                    <a:pt x="588" y="230"/>
                    <a:pt x="588" y="230"/>
                    <a:pt x="588" y="230"/>
                  </a:cubicBezTo>
                  <a:cubicBezTo>
                    <a:pt x="588" y="131"/>
                    <a:pt x="588" y="131"/>
                    <a:pt x="588" y="131"/>
                  </a:cubicBezTo>
                  <a:cubicBezTo>
                    <a:pt x="588" y="58"/>
                    <a:pt x="522" y="0"/>
                    <a:pt x="440"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8" name="Freeform 2087">
              <a:extLst>
                <a:ext uri="{FF2B5EF4-FFF2-40B4-BE49-F238E27FC236}">
                  <a16:creationId xmlns:a16="http://schemas.microsoft.com/office/drawing/2014/main" id="{572B20BF-B22E-3651-3748-7F386CA301B1}"/>
                </a:ext>
              </a:extLst>
            </p:cNvPr>
            <p:cNvSpPr>
              <a:spLocks/>
            </p:cNvSpPr>
            <p:nvPr/>
          </p:nvSpPr>
          <p:spPr bwMode="gray">
            <a:xfrm>
              <a:off x="5104934" y="4503019"/>
              <a:ext cx="295646" cy="400515"/>
            </a:xfrm>
            <a:custGeom>
              <a:avLst/>
              <a:gdLst>
                <a:gd name="T0" fmla="*/ 8249 w 8624"/>
                <a:gd name="T1" fmla="*/ 1356 h 11683"/>
                <a:gd name="T2" fmla="*/ 5423 w 8624"/>
                <a:gd name="T3" fmla="*/ 0 h 11683"/>
                <a:gd name="T4" fmla="*/ 3115 w 8624"/>
                <a:gd name="T5" fmla="*/ 0 h 11683"/>
                <a:gd name="T6" fmla="*/ 346 w 8624"/>
                <a:gd name="T7" fmla="*/ 1356 h 11683"/>
                <a:gd name="T8" fmla="*/ 0 w 8624"/>
                <a:gd name="T9" fmla="*/ 4443 h 11683"/>
                <a:gd name="T10" fmla="*/ 260 w 8624"/>
                <a:gd name="T11" fmla="*/ 7010 h 11683"/>
                <a:gd name="T12" fmla="*/ 375 w 8624"/>
                <a:gd name="T13" fmla="*/ 7674 h 11683"/>
                <a:gd name="T14" fmla="*/ 1183 w 8624"/>
                <a:gd name="T15" fmla="*/ 10904 h 11683"/>
                <a:gd name="T16" fmla="*/ 1731 w 8624"/>
                <a:gd name="T17" fmla="*/ 11222 h 11683"/>
                <a:gd name="T18" fmla="*/ 3029 w 8624"/>
                <a:gd name="T19" fmla="*/ 11683 h 11683"/>
                <a:gd name="T20" fmla="*/ 5625 w 8624"/>
                <a:gd name="T21" fmla="*/ 11683 h 11683"/>
                <a:gd name="T22" fmla="*/ 6952 w 8624"/>
                <a:gd name="T23" fmla="*/ 11193 h 11683"/>
                <a:gd name="T24" fmla="*/ 7442 w 8624"/>
                <a:gd name="T25" fmla="*/ 10904 h 11683"/>
                <a:gd name="T26" fmla="*/ 7817 w 8624"/>
                <a:gd name="T27" fmla="*/ 9347 h 11683"/>
                <a:gd name="T28" fmla="*/ 8221 w 8624"/>
                <a:gd name="T29" fmla="*/ 7674 h 11683"/>
                <a:gd name="T30" fmla="*/ 8336 w 8624"/>
                <a:gd name="T31" fmla="*/ 7010 h 11683"/>
                <a:gd name="T32" fmla="*/ 8624 w 8624"/>
                <a:gd name="T33" fmla="*/ 4443 h 11683"/>
                <a:gd name="T34" fmla="*/ 8249 w 8624"/>
                <a:gd name="T35" fmla="*/ 1356 h 11683"/>
                <a:gd name="T36" fmla="*/ 8249 w 8624"/>
                <a:gd name="T37" fmla="*/ 1356 h 11683"/>
                <a:gd name="T38" fmla="*/ 8249 w 8624"/>
                <a:gd name="T39" fmla="*/ 1356 h 1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24" h="11683">
                  <a:moveTo>
                    <a:pt x="8249" y="1356"/>
                  </a:moveTo>
                  <a:lnTo>
                    <a:pt x="5423" y="0"/>
                  </a:lnTo>
                  <a:lnTo>
                    <a:pt x="3115" y="0"/>
                  </a:lnTo>
                  <a:lnTo>
                    <a:pt x="346" y="1356"/>
                  </a:lnTo>
                  <a:lnTo>
                    <a:pt x="0" y="4443"/>
                  </a:lnTo>
                  <a:lnTo>
                    <a:pt x="260" y="7010"/>
                  </a:lnTo>
                  <a:lnTo>
                    <a:pt x="375" y="7674"/>
                  </a:lnTo>
                  <a:lnTo>
                    <a:pt x="1183" y="10904"/>
                  </a:lnTo>
                  <a:lnTo>
                    <a:pt x="1731" y="11222"/>
                  </a:lnTo>
                  <a:lnTo>
                    <a:pt x="3029" y="11683"/>
                  </a:lnTo>
                  <a:lnTo>
                    <a:pt x="5625" y="11683"/>
                  </a:lnTo>
                  <a:lnTo>
                    <a:pt x="6952" y="11193"/>
                  </a:lnTo>
                  <a:lnTo>
                    <a:pt x="7442" y="10904"/>
                  </a:lnTo>
                  <a:lnTo>
                    <a:pt x="7817" y="9347"/>
                  </a:lnTo>
                  <a:lnTo>
                    <a:pt x="8221" y="7674"/>
                  </a:lnTo>
                  <a:lnTo>
                    <a:pt x="8336" y="7010"/>
                  </a:lnTo>
                  <a:lnTo>
                    <a:pt x="8624" y="4443"/>
                  </a:lnTo>
                  <a:lnTo>
                    <a:pt x="8249" y="1356"/>
                  </a:lnTo>
                  <a:lnTo>
                    <a:pt x="8249" y="1356"/>
                  </a:lnTo>
                  <a:lnTo>
                    <a:pt x="8249" y="1356"/>
                  </a:lnTo>
                  <a:close/>
                </a:path>
              </a:pathLst>
            </a:custGeom>
            <a:solidFill>
              <a:srgbClr val="827F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09" name="Freeform 2088">
              <a:extLst>
                <a:ext uri="{FF2B5EF4-FFF2-40B4-BE49-F238E27FC236}">
                  <a16:creationId xmlns:a16="http://schemas.microsoft.com/office/drawing/2014/main" id="{AB1E52DA-5A9B-D743-3CA5-1B86CF802425}"/>
                </a:ext>
              </a:extLst>
            </p:cNvPr>
            <p:cNvSpPr>
              <a:spLocks/>
            </p:cNvSpPr>
            <p:nvPr/>
          </p:nvSpPr>
          <p:spPr bwMode="gray">
            <a:xfrm>
              <a:off x="7327732" y="5305042"/>
              <a:ext cx="105794" cy="182962"/>
            </a:xfrm>
            <a:custGeom>
              <a:avLst/>
              <a:gdLst>
                <a:gd name="T0" fmla="*/ 202 w 3086"/>
                <a:gd name="T1" fmla="*/ 4154 h 5337"/>
                <a:gd name="T2" fmla="*/ 0 w 3086"/>
                <a:gd name="T3" fmla="*/ 0 h 5337"/>
                <a:gd name="T4" fmla="*/ 3058 w 3086"/>
                <a:gd name="T5" fmla="*/ 0 h 5337"/>
                <a:gd name="T6" fmla="*/ 3086 w 3086"/>
                <a:gd name="T7" fmla="*/ 5337 h 5337"/>
                <a:gd name="T8" fmla="*/ 923 w 3086"/>
                <a:gd name="T9" fmla="*/ 5337 h 5337"/>
                <a:gd name="T10" fmla="*/ 202 w 3086"/>
                <a:gd name="T11" fmla="*/ 4154 h 5337"/>
              </a:gdLst>
              <a:ahLst/>
              <a:cxnLst>
                <a:cxn ang="0">
                  <a:pos x="T0" y="T1"/>
                </a:cxn>
                <a:cxn ang="0">
                  <a:pos x="T2" y="T3"/>
                </a:cxn>
                <a:cxn ang="0">
                  <a:pos x="T4" y="T5"/>
                </a:cxn>
                <a:cxn ang="0">
                  <a:pos x="T6" y="T7"/>
                </a:cxn>
                <a:cxn ang="0">
                  <a:pos x="T8" y="T9"/>
                </a:cxn>
                <a:cxn ang="0">
                  <a:pos x="T10" y="T11"/>
                </a:cxn>
              </a:cxnLst>
              <a:rect l="0" t="0" r="r" b="b"/>
              <a:pathLst>
                <a:path w="3086" h="5337">
                  <a:moveTo>
                    <a:pt x="202" y="4154"/>
                  </a:moveTo>
                  <a:lnTo>
                    <a:pt x="0" y="0"/>
                  </a:lnTo>
                  <a:lnTo>
                    <a:pt x="3058" y="0"/>
                  </a:lnTo>
                  <a:lnTo>
                    <a:pt x="3086" y="5337"/>
                  </a:lnTo>
                  <a:lnTo>
                    <a:pt x="923" y="5337"/>
                  </a:lnTo>
                  <a:lnTo>
                    <a:pt x="202" y="4154"/>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0" name="Freeform 2089">
              <a:extLst>
                <a:ext uri="{FF2B5EF4-FFF2-40B4-BE49-F238E27FC236}">
                  <a16:creationId xmlns:a16="http://schemas.microsoft.com/office/drawing/2014/main" id="{CB434465-4A26-5F81-AC97-F47820B186EF}"/>
                </a:ext>
              </a:extLst>
            </p:cNvPr>
            <p:cNvSpPr>
              <a:spLocks/>
            </p:cNvSpPr>
            <p:nvPr/>
          </p:nvSpPr>
          <p:spPr bwMode="gray">
            <a:xfrm>
              <a:off x="7354438" y="5453380"/>
              <a:ext cx="35584" cy="963250"/>
            </a:xfrm>
            <a:custGeom>
              <a:avLst/>
              <a:gdLst>
                <a:gd name="T0" fmla="*/ 0 w 1038"/>
                <a:gd name="T1" fmla="*/ 0 h 28098"/>
                <a:gd name="T2" fmla="*/ 1038 w 1038"/>
                <a:gd name="T3" fmla="*/ 0 h 28098"/>
                <a:gd name="T4" fmla="*/ 1038 w 1038"/>
                <a:gd name="T5" fmla="*/ 28098 h 28098"/>
                <a:gd name="T6" fmla="*/ 0 w 1038"/>
                <a:gd name="T7" fmla="*/ 28098 h 28098"/>
                <a:gd name="T8" fmla="*/ 0 w 1038"/>
                <a:gd name="T9" fmla="*/ 0 h 28098"/>
                <a:gd name="T10" fmla="*/ 0 w 1038"/>
                <a:gd name="T11" fmla="*/ 0 h 28098"/>
              </a:gdLst>
              <a:ahLst/>
              <a:cxnLst>
                <a:cxn ang="0">
                  <a:pos x="T0" y="T1"/>
                </a:cxn>
                <a:cxn ang="0">
                  <a:pos x="T2" y="T3"/>
                </a:cxn>
                <a:cxn ang="0">
                  <a:pos x="T4" y="T5"/>
                </a:cxn>
                <a:cxn ang="0">
                  <a:pos x="T6" y="T7"/>
                </a:cxn>
                <a:cxn ang="0">
                  <a:pos x="T8" y="T9"/>
                </a:cxn>
                <a:cxn ang="0">
                  <a:pos x="T10" y="T11"/>
                </a:cxn>
              </a:cxnLst>
              <a:rect l="0" t="0" r="r" b="b"/>
              <a:pathLst>
                <a:path w="1038" h="28098">
                  <a:moveTo>
                    <a:pt x="0" y="0"/>
                  </a:moveTo>
                  <a:lnTo>
                    <a:pt x="1038" y="0"/>
                  </a:lnTo>
                  <a:lnTo>
                    <a:pt x="1038"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1" name="Freeform 2090">
              <a:extLst>
                <a:ext uri="{FF2B5EF4-FFF2-40B4-BE49-F238E27FC236}">
                  <a16:creationId xmlns:a16="http://schemas.microsoft.com/office/drawing/2014/main" id="{0412E2DB-6123-F06C-A136-8A69FAECBEE8}"/>
                </a:ext>
              </a:extLst>
            </p:cNvPr>
            <p:cNvSpPr>
              <a:spLocks/>
            </p:cNvSpPr>
            <p:nvPr/>
          </p:nvSpPr>
          <p:spPr bwMode="gray">
            <a:xfrm>
              <a:off x="7502741" y="4636546"/>
              <a:ext cx="294686" cy="304594"/>
            </a:xfrm>
            <a:custGeom>
              <a:avLst/>
              <a:gdLst>
                <a:gd name="T0" fmla="*/ 1 w 298"/>
                <a:gd name="T1" fmla="*/ 140 h 308"/>
                <a:gd name="T2" fmla="*/ 159 w 298"/>
                <a:gd name="T3" fmla="*/ 308 h 308"/>
                <a:gd name="T4" fmla="*/ 298 w 298"/>
                <a:gd name="T5" fmla="*/ 168 h 308"/>
                <a:gd name="T6" fmla="*/ 298 w 298"/>
                <a:gd name="T7" fmla="*/ 0 h 308"/>
                <a:gd name="T8" fmla="*/ 0 w 298"/>
                <a:gd name="T9" fmla="*/ 0 h 308"/>
                <a:gd name="T10" fmla="*/ 1 w 298"/>
                <a:gd name="T11" fmla="*/ 140 h 308"/>
              </a:gdLst>
              <a:ahLst/>
              <a:cxnLst>
                <a:cxn ang="0">
                  <a:pos x="T0" y="T1"/>
                </a:cxn>
                <a:cxn ang="0">
                  <a:pos x="T2" y="T3"/>
                </a:cxn>
                <a:cxn ang="0">
                  <a:pos x="T4" y="T5"/>
                </a:cxn>
                <a:cxn ang="0">
                  <a:pos x="T6" y="T7"/>
                </a:cxn>
                <a:cxn ang="0">
                  <a:pos x="T8" y="T9"/>
                </a:cxn>
                <a:cxn ang="0">
                  <a:pos x="T10" y="T11"/>
                </a:cxn>
              </a:cxnLst>
              <a:rect l="0" t="0" r="r" b="b"/>
              <a:pathLst>
                <a:path w="298" h="308">
                  <a:moveTo>
                    <a:pt x="1" y="140"/>
                  </a:moveTo>
                  <a:cubicBezTo>
                    <a:pt x="1" y="217"/>
                    <a:pt x="82" y="308"/>
                    <a:pt x="159" y="308"/>
                  </a:cubicBezTo>
                  <a:cubicBezTo>
                    <a:pt x="236" y="308"/>
                    <a:pt x="298" y="245"/>
                    <a:pt x="298" y="168"/>
                  </a:cubicBezTo>
                  <a:cubicBezTo>
                    <a:pt x="298" y="0"/>
                    <a:pt x="298" y="0"/>
                    <a:pt x="298" y="0"/>
                  </a:cubicBezTo>
                  <a:cubicBezTo>
                    <a:pt x="0" y="0"/>
                    <a:pt x="0" y="0"/>
                    <a:pt x="0" y="0"/>
                  </a:cubicBezTo>
                  <a:lnTo>
                    <a:pt x="1" y="140"/>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2" name="Freeform 2091">
              <a:extLst>
                <a:ext uri="{FF2B5EF4-FFF2-40B4-BE49-F238E27FC236}">
                  <a16:creationId xmlns:a16="http://schemas.microsoft.com/office/drawing/2014/main" id="{0D287F0F-D58F-0604-32EB-21782F61E6F0}"/>
                </a:ext>
              </a:extLst>
            </p:cNvPr>
            <p:cNvSpPr>
              <a:spLocks/>
            </p:cNvSpPr>
            <p:nvPr/>
          </p:nvSpPr>
          <p:spPr bwMode="gray">
            <a:xfrm>
              <a:off x="7556152" y="4828387"/>
              <a:ext cx="183922" cy="187899"/>
            </a:xfrm>
            <a:custGeom>
              <a:avLst/>
              <a:gdLst>
                <a:gd name="T0" fmla="*/ 0 w 186"/>
                <a:gd name="T1" fmla="*/ 146 h 190"/>
                <a:gd name="T2" fmla="*/ 83 w 186"/>
                <a:gd name="T3" fmla="*/ 184 h 190"/>
                <a:gd name="T4" fmla="*/ 186 w 186"/>
                <a:gd name="T5" fmla="*/ 145 h 190"/>
                <a:gd name="T6" fmla="*/ 171 w 186"/>
                <a:gd name="T7" fmla="*/ 0 h 190"/>
                <a:gd name="T8" fmla="*/ 5 w 186"/>
                <a:gd name="T9" fmla="*/ 0 h 190"/>
                <a:gd name="T10" fmla="*/ 0 w 186"/>
                <a:gd name="T11" fmla="*/ 146 h 190"/>
              </a:gdLst>
              <a:ahLst/>
              <a:cxnLst>
                <a:cxn ang="0">
                  <a:pos x="T0" y="T1"/>
                </a:cxn>
                <a:cxn ang="0">
                  <a:pos x="T2" y="T3"/>
                </a:cxn>
                <a:cxn ang="0">
                  <a:pos x="T4" y="T5"/>
                </a:cxn>
                <a:cxn ang="0">
                  <a:pos x="T6" y="T7"/>
                </a:cxn>
                <a:cxn ang="0">
                  <a:pos x="T8" y="T9"/>
                </a:cxn>
                <a:cxn ang="0">
                  <a:pos x="T10" y="T11"/>
                </a:cxn>
              </a:cxnLst>
              <a:rect l="0" t="0" r="r" b="b"/>
              <a:pathLst>
                <a:path w="186" h="190">
                  <a:moveTo>
                    <a:pt x="0" y="146"/>
                  </a:moveTo>
                  <a:cubicBezTo>
                    <a:pt x="14" y="172"/>
                    <a:pt x="80" y="184"/>
                    <a:pt x="83" y="184"/>
                  </a:cubicBezTo>
                  <a:cubicBezTo>
                    <a:pt x="135" y="190"/>
                    <a:pt x="186" y="145"/>
                    <a:pt x="186" y="145"/>
                  </a:cubicBezTo>
                  <a:cubicBezTo>
                    <a:pt x="171" y="0"/>
                    <a:pt x="171" y="0"/>
                    <a:pt x="171" y="0"/>
                  </a:cubicBezTo>
                  <a:cubicBezTo>
                    <a:pt x="5" y="0"/>
                    <a:pt x="5" y="0"/>
                    <a:pt x="5" y="0"/>
                  </a:cubicBezTo>
                  <a:lnTo>
                    <a:pt x="0" y="146"/>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3" name="Freeform 2092">
              <a:extLst>
                <a:ext uri="{FF2B5EF4-FFF2-40B4-BE49-F238E27FC236}">
                  <a16:creationId xmlns:a16="http://schemas.microsoft.com/office/drawing/2014/main" id="{6A640D3E-CC52-8B9F-5CBA-543609F06A7D}"/>
                </a:ext>
              </a:extLst>
            </p:cNvPr>
            <p:cNvSpPr>
              <a:spLocks/>
            </p:cNvSpPr>
            <p:nvPr/>
          </p:nvSpPr>
          <p:spPr bwMode="gray">
            <a:xfrm>
              <a:off x="7490879" y="4506996"/>
              <a:ext cx="328283" cy="396538"/>
            </a:xfrm>
            <a:custGeom>
              <a:avLst/>
              <a:gdLst>
                <a:gd name="T0" fmla="*/ 0 w 9576"/>
                <a:gd name="T1" fmla="*/ 3721 h 11567"/>
                <a:gd name="T2" fmla="*/ 87 w 9576"/>
                <a:gd name="T3" fmla="*/ 7673 h 11567"/>
                <a:gd name="T4" fmla="*/ 866 w 9576"/>
                <a:gd name="T5" fmla="*/ 10038 h 11567"/>
                <a:gd name="T6" fmla="*/ 2394 w 9576"/>
                <a:gd name="T7" fmla="*/ 11567 h 11567"/>
                <a:gd name="T8" fmla="*/ 6346 w 9576"/>
                <a:gd name="T9" fmla="*/ 11538 h 11567"/>
                <a:gd name="T10" fmla="*/ 7961 w 9576"/>
                <a:gd name="T11" fmla="*/ 8481 h 11567"/>
                <a:gd name="T12" fmla="*/ 7961 w 9576"/>
                <a:gd name="T13" fmla="*/ 5106 h 11567"/>
                <a:gd name="T14" fmla="*/ 8942 w 9576"/>
                <a:gd name="T15" fmla="*/ 3779 h 11567"/>
                <a:gd name="T16" fmla="*/ 9576 w 9576"/>
                <a:gd name="T17" fmla="*/ 2423 h 11567"/>
                <a:gd name="T18" fmla="*/ 8624 w 9576"/>
                <a:gd name="T19" fmla="*/ 375 h 11567"/>
                <a:gd name="T20" fmla="*/ 4327 w 9576"/>
                <a:gd name="T21" fmla="*/ 0 h 11567"/>
                <a:gd name="T22" fmla="*/ 1817 w 9576"/>
                <a:gd name="T23" fmla="*/ 894 h 11567"/>
                <a:gd name="T24" fmla="*/ 548 w 9576"/>
                <a:gd name="T25" fmla="*/ 1817 h 11567"/>
                <a:gd name="T26" fmla="*/ 0 w 9576"/>
                <a:gd name="T27" fmla="*/ 3721 h 11567"/>
                <a:gd name="T28" fmla="*/ 0 w 9576"/>
                <a:gd name="T29" fmla="*/ 3721 h 11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76" h="11567">
                  <a:moveTo>
                    <a:pt x="0" y="3721"/>
                  </a:moveTo>
                  <a:lnTo>
                    <a:pt x="87" y="7673"/>
                  </a:lnTo>
                  <a:lnTo>
                    <a:pt x="866" y="10038"/>
                  </a:lnTo>
                  <a:lnTo>
                    <a:pt x="2394" y="11567"/>
                  </a:lnTo>
                  <a:lnTo>
                    <a:pt x="6346" y="11538"/>
                  </a:lnTo>
                  <a:lnTo>
                    <a:pt x="7961" y="8481"/>
                  </a:lnTo>
                  <a:lnTo>
                    <a:pt x="7961" y="5106"/>
                  </a:lnTo>
                  <a:lnTo>
                    <a:pt x="8942" y="3779"/>
                  </a:lnTo>
                  <a:lnTo>
                    <a:pt x="9576" y="2423"/>
                  </a:lnTo>
                  <a:lnTo>
                    <a:pt x="8624" y="375"/>
                  </a:lnTo>
                  <a:lnTo>
                    <a:pt x="4327" y="0"/>
                  </a:lnTo>
                  <a:lnTo>
                    <a:pt x="1817" y="894"/>
                  </a:lnTo>
                  <a:lnTo>
                    <a:pt x="548" y="1817"/>
                  </a:lnTo>
                  <a:lnTo>
                    <a:pt x="0" y="3721"/>
                  </a:lnTo>
                  <a:lnTo>
                    <a:pt x="0" y="3721"/>
                  </a:lnTo>
                  <a:close/>
                </a:path>
              </a:pathLst>
            </a:custGeom>
            <a:solidFill>
              <a:srgbClr val="6455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4" name="Freeform 2093">
              <a:extLst>
                <a:ext uri="{FF2B5EF4-FFF2-40B4-BE49-F238E27FC236}">
                  <a16:creationId xmlns:a16="http://schemas.microsoft.com/office/drawing/2014/main" id="{FBECF711-AA80-7C9F-8E85-28A4C0A6783D}"/>
                </a:ext>
              </a:extLst>
            </p:cNvPr>
            <p:cNvSpPr>
              <a:spLocks/>
            </p:cNvSpPr>
            <p:nvPr/>
          </p:nvSpPr>
          <p:spPr bwMode="gray">
            <a:xfrm>
              <a:off x="7478024" y="5864796"/>
              <a:ext cx="168118" cy="491500"/>
            </a:xfrm>
            <a:custGeom>
              <a:avLst/>
              <a:gdLst>
                <a:gd name="T0" fmla="*/ 4904 w 4904"/>
                <a:gd name="T1" fmla="*/ 0 h 14337"/>
                <a:gd name="T2" fmla="*/ 4644 w 4904"/>
                <a:gd name="T3" fmla="*/ 14337 h 14337"/>
                <a:gd name="T4" fmla="*/ 231 w 4904"/>
                <a:gd name="T5" fmla="*/ 14337 h 14337"/>
                <a:gd name="T6" fmla="*/ 0 w 4904"/>
                <a:gd name="T7" fmla="*/ 0 h 14337"/>
                <a:gd name="T8" fmla="*/ 4904 w 4904"/>
                <a:gd name="T9" fmla="*/ 0 h 14337"/>
              </a:gdLst>
              <a:ahLst/>
              <a:cxnLst>
                <a:cxn ang="0">
                  <a:pos x="T0" y="T1"/>
                </a:cxn>
                <a:cxn ang="0">
                  <a:pos x="T2" y="T3"/>
                </a:cxn>
                <a:cxn ang="0">
                  <a:pos x="T4" y="T5"/>
                </a:cxn>
                <a:cxn ang="0">
                  <a:pos x="T6" y="T7"/>
                </a:cxn>
                <a:cxn ang="0">
                  <a:pos x="T8" y="T9"/>
                </a:cxn>
              </a:cxnLst>
              <a:rect l="0" t="0" r="r" b="b"/>
              <a:pathLst>
                <a:path w="4904" h="14337">
                  <a:moveTo>
                    <a:pt x="4904" y="0"/>
                  </a:moveTo>
                  <a:lnTo>
                    <a:pt x="4644" y="14337"/>
                  </a:lnTo>
                  <a:lnTo>
                    <a:pt x="231" y="14337"/>
                  </a:lnTo>
                  <a:lnTo>
                    <a:pt x="0" y="0"/>
                  </a:lnTo>
                  <a:lnTo>
                    <a:pt x="4904"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5" name="Freeform 2094">
              <a:extLst>
                <a:ext uri="{FF2B5EF4-FFF2-40B4-BE49-F238E27FC236}">
                  <a16:creationId xmlns:a16="http://schemas.microsoft.com/office/drawing/2014/main" id="{9599AC41-7FCB-0D96-E26D-9037FFE91742}"/>
                </a:ext>
              </a:extLst>
            </p:cNvPr>
            <p:cNvSpPr>
              <a:spLocks/>
            </p:cNvSpPr>
            <p:nvPr/>
          </p:nvSpPr>
          <p:spPr bwMode="gray">
            <a:xfrm>
              <a:off x="7478024" y="6356294"/>
              <a:ext cx="168118" cy="60336"/>
            </a:xfrm>
            <a:custGeom>
              <a:avLst/>
              <a:gdLst>
                <a:gd name="T0" fmla="*/ 84 w 170"/>
                <a:gd name="T1" fmla="*/ 0 h 61"/>
                <a:gd name="T2" fmla="*/ 15 w 170"/>
                <a:gd name="T3" fmla="*/ 0 h 61"/>
                <a:gd name="T4" fmla="*/ 0 w 170"/>
                <a:gd name="T5" fmla="*/ 61 h 61"/>
                <a:gd name="T6" fmla="*/ 84 w 170"/>
                <a:gd name="T7" fmla="*/ 61 h 61"/>
                <a:gd name="T8" fmla="*/ 170 w 170"/>
                <a:gd name="T9" fmla="*/ 61 h 61"/>
                <a:gd name="T10" fmla="*/ 154 w 170"/>
                <a:gd name="T11" fmla="*/ 0 h 61"/>
                <a:gd name="T12" fmla="*/ 84 w 170"/>
                <a:gd name="T13" fmla="*/ 0 h 61"/>
                <a:gd name="T14" fmla="*/ 84 w 170"/>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61">
                  <a:moveTo>
                    <a:pt x="84" y="0"/>
                  </a:moveTo>
                  <a:cubicBezTo>
                    <a:pt x="15" y="0"/>
                    <a:pt x="15" y="0"/>
                    <a:pt x="15" y="0"/>
                  </a:cubicBezTo>
                  <a:cubicBezTo>
                    <a:pt x="15" y="0"/>
                    <a:pt x="0" y="41"/>
                    <a:pt x="0" y="61"/>
                  </a:cubicBezTo>
                  <a:cubicBezTo>
                    <a:pt x="84" y="61"/>
                    <a:pt x="84" y="61"/>
                    <a:pt x="84" y="61"/>
                  </a:cubicBezTo>
                  <a:cubicBezTo>
                    <a:pt x="170" y="61"/>
                    <a:pt x="170" y="61"/>
                    <a:pt x="170" y="61"/>
                  </a:cubicBezTo>
                  <a:cubicBezTo>
                    <a:pt x="170" y="41"/>
                    <a:pt x="154" y="0"/>
                    <a:pt x="154" y="0"/>
                  </a:cubicBezTo>
                  <a:cubicBezTo>
                    <a:pt x="84" y="0"/>
                    <a:pt x="84" y="0"/>
                    <a:pt x="84" y="0"/>
                  </a:cubicBezTo>
                  <a:cubicBezTo>
                    <a:pt x="84" y="0"/>
                    <a:pt x="84" y="0"/>
                    <a:pt x="84"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6" name="Freeform 2095">
              <a:extLst>
                <a:ext uri="{FF2B5EF4-FFF2-40B4-BE49-F238E27FC236}">
                  <a16:creationId xmlns:a16="http://schemas.microsoft.com/office/drawing/2014/main" id="{CB93B45F-7F8C-8AB1-718B-A438B646C325}"/>
                </a:ext>
              </a:extLst>
            </p:cNvPr>
            <p:cNvSpPr>
              <a:spLocks/>
            </p:cNvSpPr>
            <p:nvPr/>
          </p:nvSpPr>
          <p:spPr bwMode="gray">
            <a:xfrm>
              <a:off x="7656015" y="5864796"/>
              <a:ext cx="169078" cy="491500"/>
            </a:xfrm>
            <a:custGeom>
              <a:avLst/>
              <a:gdLst>
                <a:gd name="T0" fmla="*/ 4932 w 4932"/>
                <a:gd name="T1" fmla="*/ 0 h 14337"/>
                <a:gd name="T2" fmla="*/ 4586 w 4932"/>
                <a:gd name="T3" fmla="*/ 14337 h 14337"/>
                <a:gd name="T4" fmla="*/ 144 w 4932"/>
                <a:gd name="T5" fmla="*/ 14337 h 14337"/>
                <a:gd name="T6" fmla="*/ 0 w 4932"/>
                <a:gd name="T7" fmla="*/ 0 h 14337"/>
                <a:gd name="T8" fmla="*/ 4932 w 4932"/>
                <a:gd name="T9" fmla="*/ 0 h 14337"/>
              </a:gdLst>
              <a:ahLst/>
              <a:cxnLst>
                <a:cxn ang="0">
                  <a:pos x="T0" y="T1"/>
                </a:cxn>
                <a:cxn ang="0">
                  <a:pos x="T2" y="T3"/>
                </a:cxn>
                <a:cxn ang="0">
                  <a:pos x="T4" y="T5"/>
                </a:cxn>
                <a:cxn ang="0">
                  <a:pos x="T6" y="T7"/>
                </a:cxn>
                <a:cxn ang="0">
                  <a:pos x="T8" y="T9"/>
                </a:cxn>
              </a:cxnLst>
              <a:rect l="0" t="0" r="r" b="b"/>
              <a:pathLst>
                <a:path w="4932" h="14337">
                  <a:moveTo>
                    <a:pt x="4932" y="0"/>
                  </a:moveTo>
                  <a:lnTo>
                    <a:pt x="4586" y="14337"/>
                  </a:lnTo>
                  <a:lnTo>
                    <a:pt x="144" y="14337"/>
                  </a:lnTo>
                  <a:lnTo>
                    <a:pt x="0" y="0"/>
                  </a:lnTo>
                  <a:lnTo>
                    <a:pt x="4932"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7" name="Freeform 2096">
              <a:extLst>
                <a:ext uri="{FF2B5EF4-FFF2-40B4-BE49-F238E27FC236}">
                  <a16:creationId xmlns:a16="http://schemas.microsoft.com/office/drawing/2014/main" id="{C92C21A4-60A4-EF4F-F3AC-25F6CF16213E}"/>
                </a:ext>
              </a:extLst>
            </p:cNvPr>
            <p:cNvSpPr>
              <a:spLocks/>
            </p:cNvSpPr>
            <p:nvPr/>
          </p:nvSpPr>
          <p:spPr bwMode="gray">
            <a:xfrm>
              <a:off x="7656015" y="6356294"/>
              <a:ext cx="163147" cy="60336"/>
            </a:xfrm>
            <a:custGeom>
              <a:avLst/>
              <a:gdLst>
                <a:gd name="T0" fmla="*/ 82 w 165"/>
                <a:gd name="T1" fmla="*/ 0 h 61"/>
                <a:gd name="T2" fmla="*/ 14 w 165"/>
                <a:gd name="T3" fmla="*/ 0 h 61"/>
                <a:gd name="T4" fmla="*/ 0 w 165"/>
                <a:gd name="T5" fmla="*/ 61 h 61"/>
                <a:gd name="T6" fmla="*/ 82 w 165"/>
                <a:gd name="T7" fmla="*/ 61 h 61"/>
                <a:gd name="T8" fmla="*/ 165 w 165"/>
                <a:gd name="T9" fmla="*/ 61 h 61"/>
                <a:gd name="T10" fmla="*/ 149 w 165"/>
                <a:gd name="T11" fmla="*/ 0 h 61"/>
                <a:gd name="T12" fmla="*/ 82 w 165"/>
                <a:gd name="T13" fmla="*/ 0 h 61"/>
                <a:gd name="T14" fmla="*/ 82 w 16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61">
                  <a:moveTo>
                    <a:pt x="82" y="0"/>
                  </a:moveTo>
                  <a:cubicBezTo>
                    <a:pt x="14" y="0"/>
                    <a:pt x="14" y="0"/>
                    <a:pt x="14" y="0"/>
                  </a:cubicBezTo>
                  <a:cubicBezTo>
                    <a:pt x="14" y="0"/>
                    <a:pt x="0" y="41"/>
                    <a:pt x="0" y="61"/>
                  </a:cubicBezTo>
                  <a:cubicBezTo>
                    <a:pt x="82" y="61"/>
                    <a:pt x="82" y="61"/>
                    <a:pt x="82" y="61"/>
                  </a:cubicBezTo>
                  <a:cubicBezTo>
                    <a:pt x="165" y="61"/>
                    <a:pt x="165" y="61"/>
                    <a:pt x="165" y="61"/>
                  </a:cubicBezTo>
                  <a:cubicBezTo>
                    <a:pt x="165" y="41"/>
                    <a:pt x="149" y="0"/>
                    <a:pt x="149" y="0"/>
                  </a:cubicBezTo>
                  <a:cubicBezTo>
                    <a:pt x="82" y="0"/>
                    <a:pt x="82" y="0"/>
                    <a:pt x="82" y="0"/>
                  </a:cubicBezTo>
                  <a:cubicBezTo>
                    <a:pt x="82" y="0"/>
                    <a:pt x="82" y="0"/>
                    <a:pt x="82"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8" name="Freeform 2097">
              <a:extLst>
                <a:ext uri="{FF2B5EF4-FFF2-40B4-BE49-F238E27FC236}">
                  <a16:creationId xmlns:a16="http://schemas.microsoft.com/office/drawing/2014/main" id="{F23E3717-8EFF-E9BB-547E-E2857C2A903F}"/>
                </a:ext>
              </a:extLst>
            </p:cNvPr>
            <p:cNvSpPr>
              <a:spLocks/>
            </p:cNvSpPr>
            <p:nvPr/>
          </p:nvSpPr>
          <p:spPr bwMode="gray">
            <a:xfrm>
              <a:off x="7354438" y="5763940"/>
              <a:ext cx="582414" cy="60301"/>
            </a:xfrm>
            <a:custGeom>
              <a:avLst/>
              <a:gdLst>
                <a:gd name="T0" fmla="*/ 528 w 589"/>
                <a:gd name="T1" fmla="*/ 0 h 61"/>
                <a:gd name="T2" fmla="*/ 61 w 589"/>
                <a:gd name="T3" fmla="*/ 0 h 61"/>
                <a:gd name="T4" fmla="*/ 0 w 589"/>
                <a:gd name="T5" fmla="*/ 61 h 61"/>
                <a:gd name="T6" fmla="*/ 589 w 589"/>
                <a:gd name="T7" fmla="*/ 61 h 61"/>
                <a:gd name="T8" fmla="*/ 528 w 589"/>
                <a:gd name="T9" fmla="*/ 0 h 61"/>
              </a:gdLst>
              <a:ahLst/>
              <a:cxnLst>
                <a:cxn ang="0">
                  <a:pos x="T0" y="T1"/>
                </a:cxn>
                <a:cxn ang="0">
                  <a:pos x="T2" y="T3"/>
                </a:cxn>
                <a:cxn ang="0">
                  <a:pos x="T4" y="T5"/>
                </a:cxn>
                <a:cxn ang="0">
                  <a:pos x="T6" y="T7"/>
                </a:cxn>
                <a:cxn ang="0">
                  <a:pos x="T8" y="T9"/>
                </a:cxn>
              </a:cxnLst>
              <a:rect l="0" t="0" r="r" b="b"/>
              <a:pathLst>
                <a:path w="589" h="61">
                  <a:moveTo>
                    <a:pt x="528" y="0"/>
                  </a:moveTo>
                  <a:cubicBezTo>
                    <a:pt x="61" y="0"/>
                    <a:pt x="61" y="0"/>
                    <a:pt x="61" y="0"/>
                  </a:cubicBezTo>
                  <a:cubicBezTo>
                    <a:pt x="27" y="0"/>
                    <a:pt x="0" y="27"/>
                    <a:pt x="0" y="61"/>
                  </a:cubicBezTo>
                  <a:cubicBezTo>
                    <a:pt x="589" y="61"/>
                    <a:pt x="589" y="61"/>
                    <a:pt x="589" y="61"/>
                  </a:cubicBezTo>
                  <a:cubicBezTo>
                    <a:pt x="589" y="27"/>
                    <a:pt x="562" y="0"/>
                    <a:pt x="528"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19" name="Freeform 2098">
              <a:extLst>
                <a:ext uri="{FF2B5EF4-FFF2-40B4-BE49-F238E27FC236}">
                  <a16:creationId xmlns:a16="http://schemas.microsoft.com/office/drawing/2014/main" id="{C9FC3FE7-2127-9185-2320-F2CB56A91EB9}"/>
                </a:ext>
              </a:extLst>
            </p:cNvPr>
            <p:cNvSpPr>
              <a:spLocks/>
            </p:cNvSpPr>
            <p:nvPr/>
          </p:nvSpPr>
          <p:spPr bwMode="gray">
            <a:xfrm>
              <a:off x="7436508" y="5616561"/>
              <a:ext cx="433082" cy="170106"/>
            </a:xfrm>
            <a:custGeom>
              <a:avLst/>
              <a:gdLst>
                <a:gd name="T0" fmla="*/ 7 w 438"/>
                <a:gd name="T1" fmla="*/ 105 h 172"/>
                <a:gd name="T2" fmla="*/ 72 w 438"/>
                <a:gd name="T3" fmla="*/ 172 h 172"/>
                <a:gd name="T4" fmla="*/ 365 w 438"/>
                <a:gd name="T5" fmla="*/ 172 h 172"/>
                <a:gd name="T6" fmla="*/ 433 w 438"/>
                <a:gd name="T7" fmla="*/ 105 h 172"/>
                <a:gd name="T8" fmla="*/ 438 w 438"/>
                <a:gd name="T9" fmla="*/ 0 h 172"/>
                <a:gd name="T10" fmla="*/ 0 w 438"/>
                <a:gd name="T11" fmla="*/ 0 h 172"/>
                <a:gd name="T12" fmla="*/ 7 w 438"/>
                <a:gd name="T13" fmla="*/ 105 h 172"/>
                <a:gd name="T14" fmla="*/ 7 w 438"/>
                <a:gd name="T15" fmla="*/ 105 h 1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8" h="172">
                  <a:moveTo>
                    <a:pt x="7" y="105"/>
                  </a:moveTo>
                  <a:cubicBezTo>
                    <a:pt x="7" y="105"/>
                    <a:pt x="18" y="172"/>
                    <a:pt x="72" y="172"/>
                  </a:cubicBezTo>
                  <a:cubicBezTo>
                    <a:pt x="305" y="172"/>
                    <a:pt x="365" y="172"/>
                    <a:pt x="365" y="172"/>
                  </a:cubicBezTo>
                  <a:cubicBezTo>
                    <a:pt x="418" y="172"/>
                    <a:pt x="433" y="105"/>
                    <a:pt x="433" y="105"/>
                  </a:cubicBezTo>
                  <a:cubicBezTo>
                    <a:pt x="438" y="0"/>
                    <a:pt x="438" y="0"/>
                    <a:pt x="438" y="0"/>
                  </a:cubicBezTo>
                  <a:cubicBezTo>
                    <a:pt x="82" y="0"/>
                    <a:pt x="0" y="0"/>
                    <a:pt x="0" y="0"/>
                  </a:cubicBezTo>
                  <a:cubicBezTo>
                    <a:pt x="7" y="105"/>
                    <a:pt x="7" y="105"/>
                    <a:pt x="7" y="105"/>
                  </a:cubicBezTo>
                  <a:cubicBezTo>
                    <a:pt x="7" y="105"/>
                    <a:pt x="7" y="105"/>
                    <a:pt x="7" y="105"/>
                  </a:cubicBezTo>
                  <a:close/>
                </a:path>
              </a:pathLst>
            </a:custGeom>
            <a:solidFill>
              <a:srgbClr val="0073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0" name="Freeform 2099">
              <a:extLst>
                <a:ext uri="{FF2B5EF4-FFF2-40B4-BE49-F238E27FC236}">
                  <a16:creationId xmlns:a16="http://schemas.microsoft.com/office/drawing/2014/main" id="{7E99584E-DDB5-D18C-8EDE-E0F9186338A9}"/>
                </a:ext>
              </a:extLst>
            </p:cNvPr>
            <p:cNvSpPr>
              <a:spLocks/>
            </p:cNvSpPr>
            <p:nvPr/>
          </p:nvSpPr>
          <p:spPr bwMode="gray">
            <a:xfrm>
              <a:off x="7354438" y="5824240"/>
              <a:ext cx="582414" cy="40556"/>
            </a:xfrm>
            <a:custGeom>
              <a:avLst/>
              <a:gdLst>
                <a:gd name="T0" fmla="*/ 0 w 16989"/>
                <a:gd name="T1" fmla="*/ 0 h 1183"/>
                <a:gd name="T2" fmla="*/ 16989 w 16989"/>
                <a:gd name="T3" fmla="*/ 0 h 1183"/>
                <a:gd name="T4" fmla="*/ 16989 w 16989"/>
                <a:gd name="T5" fmla="*/ 1183 h 1183"/>
                <a:gd name="T6" fmla="*/ 0 w 16989"/>
                <a:gd name="T7" fmla="*/ 1183 h 1183"/>
                <a:gd name="T8" fmla="*/ 0 w 16989"/>
                <a:gd name="T9" fmla="*/ 0 h 1183"/>
                <a:gd name="T10" fmla="*/ 0 w 16989"/>
                <a:gd name="T11" fmla="*/ 0 h 1183"/>
              </a:gdLst>
              <a:ahLst/>
              <a:cxnLst>
                <a:cxn ang="0">
                  <a:pos x="T0" y="T1"/>
                </a:cxn>
                <a:cxn ang="0">
                  <a:pos x="T2" y="T3"/>
                </a:cxn>
                <a:cxn ang="0">
                  <a:pos x="T4" y="T5"/>
                </a:cxn>
                <a:cxn ang="0">
                  <a:pos x="T6" y="T7"/>
                </a:cxn>
                <a:cxn ang="0">
                  <a:pos x="T8" y="T9"/>
                </a:cxn>
                <a:cxn ang="0">
                  <a:pos x="T10" y="T11"/>
                </a:cxn>
              </a:cxnLst>
              <a:rect l="0" t="0" r="r" b="b"/>
              <a:pathLst>
                <a:path w="16989" h="1183">
                  <a:moveTo>
                    <a:pt x="0" y="0"/>
                  </a:moveTo>
                  <a:lnTo>
                    <a:pt x="16989" y="0"/>
                  </a:lnTo>
                  <a:lnTo>
                    <a:pt x="16989" y="1183"/>
                  </a:lnTo>
                  <a:lnTo>
                    <a:pt x="0" y="1183"/>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1" name="Freeform 2100">
              <a:extLst>
                <a:ext uri="{FF2B5EF4-FFF2-40B4-BE49-F238E27FC236}">
                  <a16:creationId xmlns:a16="http://schemas.microsoft.com/office/drawing/2014/main" id="{0BDAF41C-D790-D330-17E0-0FF19368AB3E}"/>
                </a:ext>
              </a:extLst>
            </p:cNvPr>
            <p:cNvSpPr>
              <a:spLocks/>
            </p:cNvSpPr>
            <p:nvPr/>
          </p:nvSpPr>
          <p:spPr bwMode="gray">
            <a:xfrm>
              <a:off x="7371236" y="6174328"/>
              <a:ext cx="548783" cy="21769"/>
            </a:xfrm>
            <a:custGeom>
              <a:avLst/>
              <a:gdLst>
                <a:gd name="T0" fmla="*/ 0 w 16008"/>
                <a:gd name="T1" fmla="*/ 0 h 635"/>
                <a:gd name="T2" fmla="*/ 16008 w 16008"/>
                <a:gd name="T3" fmla="*/ 0 h 635"/>
                <a:gd name="T4" fmla="*/ 16008 w 16008"/>
                <a:gd name="T5" fmla="*/ 635 h 635"/>
                <a:gd name="T6" fmla="*/ 0 w 16008"/>
                <a:gd name="T7" fmla="*/ 635 h 635"/>
                <a:gd name="T8" fmla="*/ 0 w 16008"/>
                <a:gd name="T9" fmla="*/ 0 h 635"/>
                <a:gd name="T10" fmla="*/ 0 w 16008"/>
                <a:gd name="T11" fmla="*/ 0 h 635"/>
              </a:gdLst>
              <a:ahLst/>
              <a:cxnLst>
                <a:cxn ang="0">
                  <a:pos x="T0" y="T1"/>
                </a:cxn>
                <a:cxn ang="0">
                  <a:pos x="T2" y="T3"/>
                </a:cxn>
                <a:cxn ang="0">
                  <a:pos x="T4" y="T5"/>
                </a:cxn>
                <a:cxn ang="0">
                  <a:pos x="T6" y="T7"/>
                </a:cxn>
                <a:cxn ang="0">
                  <a:pos x="T8" y="T9"/>
                </a:cxn>
                <a:cxn ang="0">
                  <a:pos x="T10" y="T11"/>
                </a:cxn>
              </a:cxnLst>
              <a:rect l="0" t="0" r="r" b="b"/>
              <a:pathLst>
                <a:path w="16008" h="635">
                  <a:moveTo>
                    <a:pt x="0" y="0"/>
                  </a:moveTo>
                  <a:lnTo>
                    <a:pt x="16008" y="0"/>
                  </a:lnTo>
                  <a:lnTo>
                    <a:pt x="16008" y="635"/>
                  </a:lnTo>
                  <a:lnTo>
                    <a:pt x="0" y="635"/>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2" name="Freeform 2101">
              <a:extLst>
                <a:ext uri="{FF2B5EF4-FFF2-40B4-BE49-F238E27FC236}">
                  <a16:creationId xmlns:a16="http://schemas.microsoft.com/office/drawing/2014/main" id="{ACEA313F-399E-6FE8-FB51-548BC20CFD3A}"/>
                </a:ext>
              </a:extLst>
            </p:cNvPr>
            <p:cNvSpPr>
              <a:spLocks/>
            </p:cNvSpPr>
            <p:nvPr/>
          </p:nvSpPr>
          <p:spPr bwMode="gray">
            <a:xfrm>
              <a:off x="7867637" y="5305042"/>
              <a:ext cx="109736" cy="182962"/>
            </a:xfrm>
            <a:custGeom>
              <a:avLst/>
              <a:gdLst>
                <a:gd name="T0" fmla="*/ 2999 w 3201"/>
                <a:gd name="T1" fmla="*/ 4154 h 5337"/>
                <a:gd name="T2" fmla="*/ 3201 w 3201"/>
                <a:gd name="T3" fmla="*/ 0 h 5337"/>
                <a:gd name="T4" fmla="*/ 0 w 3201"/>
                <a:gd name="T5" fmla="*/ 0 h 5337"/>
                <a:gd name="T6" fmla="*/ 0 w 3201"/>
                <a:gd name="T7" fmla="*/ 5337 h 5337"/>
                <a:gd name="T8" fmla="*/ 2019 w 3201"/>
                <a:gd name="T9" fmla="*/ 5337 h 5337"/>
                <a:gd name="T10" fmla="*/ 2999 w 3201"/>
                <a:gd name="T11" fmla="*/ 4154 h 5337"/>
              </a:gdLst>
              <a:ahLst/>
              <a:cxnLst>
                <a:cxn ang="0">
                  <a:pos x="T0" y="T1"/>
                </a:cxn>
                <a:cxn ang="0">
                  <a:pos x="T2" y="T3"/>
                </a:cxn>
                <a:cxn ang="0">
                  <a:pos x="T4" y="T5"/>
                </a:cxn>
                <a:cxn ang="0">
                  <a:pos x="T6" y="T7"/>
                </a:cxn>
                <a:cxn ang="0">
                  <a:pos x="T8" y="T9"/>
                </a:cxn>
                <a:cxn ang="0">
                  <a:pos x="T10" y="T11"/>
                </a:cxn>
              </a:cxnLst>
              <a:rect l="0" t="0" r="r" b="b"/>
              <a:pathLst>
                <a:path w="3201" h="5337">
                  <a:moveTo>
                    <a:pt x="2999" y="4154"/>
                  </a:moveTo>
                  <a:lnTo>
                    <a:pt x="3201" y="0"/>
                  </a:lnTo>
                  <a:lnTo>
                    <a:pt x="0" y="0"/>
                  </a:lnTo>
                  <a:lnTo>
                    <a:pt x="0" y="5337"/>
                  </a:lnTo>
                  <a:lnTo>
                    <a:pt x="2019" y="5337"/>
                  </a:lnTo>
                  <a:lnTo>
                    <a:pt x="2999" y="4154"/>
                  </a:lnTo>
                  <a:close/>
                </a:path>
              </a:pathLst>
            </a:custGeom>
            <a:solidFill>
              <a:srgbClr val="B9B9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3" name="Freeform 2102">
              <a:extLst>
                <a:ext uri="{FF2B5EF4-FFF2-40B4-BE49-F238E27FC236}">
                  <a16:creationId xmlns:a16="http://schemas.microsoft.com/office/drawing/2014/main" id="{64E3E469-AB16-EE12-5836-9FEF79EC8DEA}"/>
                </a:ext>
              </a:extLst>
            </p:cNvPr>
            <p:cNvSpPr>
              <a:spLocks/>
            </p:cNvSpPr>
            <p:nvPr/>
          </p:nvSpPr>
          <p:spPr bwMode="gray">
            <a:xfrm>
              <a:off x="7324784" y="4940146"/>
              <a:ext cx="656531" cy="732808"/>
            </a:xfrm>
            <a:custGeom>
              <a:avLst/>
              <a:gdLst>
                <a:gd name="T0" fmla="*/ 15835 w 19151"/>
                <a:gd name="T1" fmla="*/ 11019 h 21376"/>
                <a:gd name="T2" fmla="*/ 15950 w 19151"/>
                <a:gd name="T3" fmla="*/ 21376 h 21376"/>
                <a:gd name="T4" fmla="*/ 3086 w 19151"/>
                <a:gd name="T5" fmla="*/ 21376 h 21376"/>
                <a:gd name="T6" fmla="*/ 3115 w 19151"/>
                <a:gd name="T7" fmla="*/ 11019 h 21376"/>
                <a:gd name="T8" fmla="*/ 0 w 19151"/>
                <a:gd name="T9" fmla="*/ 11019 h 21376"/>
                <a:gd name="T10" fmla="*/ 173 w 19151"/>
                <a:gd name="T11" fmla="*/ 4875 h 21376"/>
                <a:gd name="T12" fmla="*/ 1730 w 19151"/>
                <a:gd name="T13" fmla="*/ 2394 h 21376"/>
                <a:gd name="T14" fmla="*/ 6807 w 19151"/>
                <a:gd name="T15" fmla="*/ 0 h 21376"/>
                <a:gd name="T16" fmla="*/ 12316 w 19151"/>
                <a:gd name="T17" fmla="*/ 0 h 21376"/>
                <a:gd name="T18" fmla="*/ 17421 w 19151"/>
                <a:gd name="T19" fmla="*/ 2394 h 21376"/>
                <a:gd name="T20" fmla="*/ 19036 w 19151"/>
                <a:gd name="T21" fmla="*/ 4933 h 21376"/>
                <a:gd name="T22" fmla="*/ 19151 w 19151"/>
                <a:gd name="T23" fmla="*/ 11019 h 21376"/>
                <a:gd name="T24" fmla="*/ 15835 w 19151"/>
                <a:gd name="T25" fmla="*/ 11019 h 2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151" h="21376">
                  <a:moveTo>
                    <a:pt x="15835" y="11019"/>
                  </a:moveTo>
                  <a:lnTo>
                    <a:pt x="15950" y="21376"/>
                  </a:lnTo>
                  <a:lnTo>
                    <a:pt x="3086" y="21376"/>
                  </a:lnTo>
                  <a:lnTo>
                    <a:pt x="3115" y="11019"/>
                  </a:lnTo>
                  <a:lnTo>
                    <a:pt x="0" y="11019"/>
                  </a:lnTo>
                  <a:lnTo>
                    <a:pt x="173" y="4875"/>
                  </a:lnTo>
                  <a:lnTo>
                    <a:pt x="1730" y="2394"/>
                  </a:lnTo>
                  <a:lnTo>
                    <a:pt x="6807" y="0"/>
                  </a:lnTo>
                  <a:lnTo>
                    <a:pt x="12316" y="0"/>
                  </a:lnTo>
                  <a:lnTo>
                    <a:pt x="17421" y="2394"/>
                  </a:lnTo>
                  <a:lnTo>
                    <a:pt x="19036" y="4933"/>
                  </a:lnTo>
                  <a:lnTo>
                    <a:pt x="19151" y="11019"/>
                  </a:lnTo>
                  <a:lnTo>
                    <a:pt x="15835" y="11019"/>
                  </a:lnTo>
                  <a:close/>
                </a:path>
              </a:pathLst>
            </a:custGeom>
            <a:solidFill>
              <a:srgbClr val="41AA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4" name="Freeform 2103">
              <a:extLst>
                <a:ext uri="{FF2B5EF4-FFF2-40B4-BE49-F238E27FC236}">
                  <a16:creationId xmlns:a16="http://schemas.microsoft.com/office/drawing/2014/main" id="{BAC6431F-E854-C932-902E-0DF4B068BB5B}"/>
                </a:ext>
              </a:extLst>
            </p:cNvPr>
            <p:cNvSpPr>
              <a:spLocks/>
            </p:cNvSpPr>
            <p:nvPr/>
          </p:nvSpPr>
          <p:spPr bwMode="gray">
            <a:xfrm>
              <a:off x="7902227" y="5453380"/>
              <a:ext cx="34625" cy="963250"/>
            </a:xfrm>
            <a:custGeom>
              <a:avLst/>
              <a:gdLst>
                <a:gd name="T0" fmla="*/ 0 w 1010"/>
                <a:gd name="T1" fmla="*/ 0 h 28098"/>
                <a:gd name="T2" fmla="*/ 1010 w 1010"/>
                <a:gd name="T3" fmla="*/ 0 h 28098"/>
                <a:gd name="T4" fmla="*/ 1010 w 1010"/>
                <a:gd name="T5" fmla="*/ 28098 h 28098"/>
                <a:gd name="T6" fmla="*/ 0 w 1010"/>
                <a:gd name="T7" fmla="*/ 28098 h 28098"/>
                <a:gd name="T8" fmla="*/ 0 w 1010"/>
                <a:gd name="T9" fmla="*/ 0 h 28098"/>
                <a:gd name="T10" fmla="*/ 0 w 1010"/>
                <a:gd name="T11" fmla="*/ 0 h 28098"/>
              </a:gdLst>
              <a:ahLst/>
              <a:cxnLst>
                <a:cxn ang="0">
                  <a:pos x="T0" y="T1"/>
                </a:cxn>
                <a:cxn ang="0">
                  <a:pos x="T2" y="T3"/>
                </a:cxn>
                <a:cxn ang="0">
                  <a:pos x="T4" y="T5"/>
                </a:cxn>
                <a:cxn ang="0">
                  <a:pos x="T6" y="T7"/>
                </a:cxn>
                <a:cxn ang="0">
                  <a:pos x="T8" y="T9"/>
                </a:cxn>
                <a:cxn ang="0">
                  <a:pos x="T10" y="T11"/>
                </a:cxn>
              </a:cxnLst>
              <a:rect l="0" t="0" r="r" b="b"/>
              <a:pathLst>
                <a:path w="1010" h="28098">
                  <a:moveTo>
                    <a:pt x="0" y="0"/>
                  </a:moveTo>
                  <a:lnTo>
                    <a:pt x="1010" y="0"/>
                  </a:lnTo>
                  <a:lnTo>
                    <a:pt x="1010" y="28098"/>
                  </a:lnTo>
                  <a:lnTo>
                    <a:pt x="0" y="28098"/>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5" name="Freeform 2104">
              <a:extLst>
                <a:ext uri="{FF2B5EF4-FFF2-40B4-BE49-F238E27FC236}">
                  <a16:creationId xmlns:a16="http://schemas.microsoft.com/office/drawing/2014/main" id="{4A5D2C1C-76BC-1B22-577F-FEB698DD6621}"/>
                </a:ext>
              </a:extLst>
            </p:cNvPr>
            <p:cNvSpPr>
              <a:spLocks/>
            </p:cNvSpPr>
            <p:nvPr/>
          </p:nvSpPr>
          <p:spPr bwMode="gray">
            <a:xfrm>
              <a:off x="7354438" y="5225955"/>
              <a:ext cx="582414" cy="227426"/>
            </a:xfrm>
            <a:custGeom>
              <a:avLst/>
              <a:gdLst>
                <a:gd name="T0" fmla="*/ 441 w 589"/>
                <a:gd name="T1" fmla="*/ 0 h 230"/>
                <a:gd name="T2" fmla="*/ 149 w 589"/>
                <a:gd name="T3" fmla="*/ 0 h 230"/>
                <a:gd name="T4" fmla="*/ 0 w 589"/>
                <a:gd name="T5" fmla="*/ 131 h 230"/>
                <a:gd name="T6" fmla="*/ 0 w 589"/>
                <a:gd name="T7" fmla="*/ 230 h 230"/>
                <a:gd name="T8" fmla="*/ 589 w 589"/>
                <a:gd name="T9" fmla="*/ 230 h 230"/>
                <a:gd name="T10" fmla="*/ 589 w 589"/>
                <a:gd name="T11" fmla="*/ 131 h 230"/>
                <a:gd name="T12" fmla="*/ 441 w 589"/>
                <a:gd name="T13" fmla="*/ 0 h 230"/>
              </a:gdLst>
              <a:ahLst/>
              <a:cxnLst>
                <a:cxn ang="0">
                  <a:pos x="T0" y="T1"/>
                </a:cxn>
                <a:cxn ang="0">
                  <a:pos x="T2" y="T3"/>
                </a:cxn>
                <a:cxn ang="0">
                  <a:pos x="T4" y="T5"/>
                </a:cxn>
                <a:cxn ang="0">
                  <a:pos x="T6" y="T7"/>
                </a:cxn>
                <a:cxn ang="0">
                  <a:pos x="T8" y="T9"/>
                </a:cxn>
                <a:cxn ang="0">
                  <a:pos x="T10" y="T11"/>
                </a:cxn>
                <a:cxn ang="0">
                  <a:pos x="T12" y="T13"/>
                </a:cxn>
              </a:cxnLst>
              <a:rect l="0" t="0" r="r" b="b"/>
              <a:pathLst>
                <a:path w="589" h="230">
                  <a:moveTo>
                    <a:pt x="441" y="0"/>
                  </a:moveTo>
                  <a:cubicBezTo>
                    <a:pt x="149" y="0"/>
                    <a:pt x="149" y="0"/>
                    <a:pt x="149" y="0"/>
                  </a:cubicBezTo>
                  <a:cubicBezTo>
                    <a:pt x="67" y="0"/>
                    <a:pt x="0" y="58"/>
                    <a:pt x="0" y="131"/>
                  </a:cubicBezTo>
                  <a:cubicBezTo>
                    <a:pt x="0" y="230"/>
                    <a:pt x="0" y="230"/>
                    <a:pt x="0" y="230"/>
                  </a:cubicBezTo>
                  <a:cubicBezTo>
                    <a:pt x="589" y="230"/>
                    <a:pt x="589" y="230"/>
                    <a:pt x="589" y="230"/>
                  </a:cubicBezTo>
                  <a:cubicBezTo>
                    <a:pt x="589" y="131"/>
                    <a:pt x="589" y="131"/>
                    <a:pt x="589" y="131"/>
                  </a:cubicBezTo>
                  <a:cubicBezTo>
                    <a:pt x="589" y="58"/>
                    <a:pt x="522" y="0"/>
                    <a:pt x="441"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6" name="Freeform 2105">
              <a:extLst>
                <a:ext uri="{FF2B5EF4-FFF2-40B4-BE49-F238E27FC236}">
                  <a16:creationId xmlns:a16="http://schemas.microsoft.com/office/drawing/2014/main" id="{C593D69C-FF99-B9F2-D62E-6AF3B7ABB57C}"/>
                </a:ext>
              </a:extLst>
            </p:cNvPr>
            <p:cNvSpPr>
              <a:spLocks/>
            </p:cNvSpPr>
            <p:nvPr/>
          </p:nvSpPr>
          <p:spPr bwMode="gray">
            <a:xfrm>
              <a:off x="8331367" y="5059791"/>
              <a:ext cx="128522" cy="60336"/>
            </a:xfrm>
            <a:custGeom>
              <a:avLst/>
              <a:gdLst>
                <a:gd name="T0" fmla="*/ 3432 w 3749"/>
                <a:gd name="T1" fmla="*/ 1760 h 1760"/>
                <a:gd name="T2" fmla="*/ 259 w 3749"/>
                <a:gd name="T3" fmla="*/ 1760 h 1760"/>
                <a:gd name="T4" fmla="*/ 0 w 3749"/>
                <a:gd name="T5" fmla="*/ 0 h 1760"/>
                <a:gd name="T6" fmla="*/ 3749 w 3749"/>
                <a:gd name="T7" fmla="*/ 0 h 1760"/>
                <a:gd name="T8" fmla="*/ 3432 w 3749"/>
                <a:gd name="T9" fmla="*/ 1760 h 1760"/>
              </a:gdLst>
              <a:ahLst/>
              <a:cxnLst>
                <a:cxn ang="0">
                  <a:pos x="T0" y="T1"/>
                </a:cxn>
                <a:cxn ang="0">
                  <a:pos x="T2" y="T3"/>
                </a:cxn>
                <a:cxn ang="0">
                  <a:pos x="T4" y="T5"/>
                </a:cxn>
                <a:cxn ang="0">
                  <a:pos x="T6" y="T7"/>
                </a:cxn>
                <a:cxn ang="0">
                  <a:pos x="T8" y="T9"/>
                </a:cxn>
              </a:cxnLst>
              <a:rect l="0" t="0" r="r" b="b"/>
              <a:pathLst>
                <a:path w="3749" h="1760">
                  <a:moveTo>
                    <a:pt x="3432" y="1760"/>
                  </a:moveTo>
                  <a:lnTo>
                    <a:pt x="259" y="1760"/>
                  </a:lnTo>
                  <a:lnTo>
                    <a:pt x="0" y="0"/>
                  </a:lnTo>
                  <a:lnTo>
                    <a:pt x="3749" y="0"/>
                  </a:lnTo>
                  <a:lnTo>
                    <a:pt x="3432" y="1760"/>
                  </a:lnTo>
                  <a:close/>
                </a:path>
              </a:pathLst>
            </a:custGeom>
            <a:solidFill>
              <a:srgbClr val="EBF0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7" name="Freeform 2106">
              <a:extLst>
                <a:ext uri="{FF2B5EF4-FFF2-40B4-BE49-F238E27FC236}">
                  <a16:creationId xmlns:a16="http://schemas.microsoft.com/office/drawing/2014/main" id="{39EFF399-03EE-DC60-AA5A-F8F07E8FBC11}"/>
                </a:ext>
              </a:extLst>
            </p:cNvPr>
            <p:cNvSpPr>
              <a:spLocks/>
            </p:cNvSpPr>
            <p:nvPr/>
          </p:nvSpPr>
          <p:spPr bwMode="gray">
            <a:xfrm>
              <a:off x="8068357" y="5068703"/>
              <a:ext cx="327289" cy="423243"/>
            </a:xfrm>
            <a:custGeom>
              <a:avLst/>
              <a:gdLst>
                <a:gd name="T0" fmla="*/ 0 w 9547"/>
                <a:gd name="T1" fmla="*/ 9606 h 12346"/>
                <a:gd name="T2" fmla="*/ 4124 w 9547"/>
                <a:gd name="T3" fmla="*/ 1413 h 12346"/>
                <a:gd name="T4" fmla="*/ 5278 w 9547"/>
                <a:gd name="T5" fmla="*/ 0 h 12346"/>
                <a:gd name="T6" fmla="*/ 8220 w 9547"/>
                <a:gd name="T7" fmla="*/ 0 h 12346"/>
                <a:gd name="T8" fmla="*/ 9547 w 9547"/>
                <a:gd name="T9" fmla="*/ 779 h 12346"/>
                <a:gd name="T10" fmla="*/ 9547 w 9547"/>
                <a:gd name="T11" fmla="*/ 1356 h 12346"/>
                <a:gd name="T12" fmla="*/ 8133 w 9547"/>
                <a:gd name="T13" fmla="*/ 1356 h 12346"/>
                <a:gd name="T14" fmla="*/ 7903 w 9547"/>
                <a:gd name="T15" fmla="*/ 1904 h 12346"/>
                <a:gd name="T16" fmla="*/ 6287 w 9547"/>
                <a:gd name="T17" fmla="*/ 1904 h 12346"/>
                <a:gd name="T18" fmla="*/ 5422 w 9547"/>
                <a:gd name="T19" fmla="*/ 3346 h 12346"/>
                <a:gd name="T20" fmla="*/ 3836 w 9547"/>
                <a:gd name="T21" fmla="*/ 10673 h 12346"/>
                <a:gd name="T22" fmla="*/ 2826 w 9547"/>
                <a:gd name="T23" fmla="*/ 12346 h 12346"/>
                <a:gd name="T24" fmla="*/ 548 w 9547"/>
                <a:gd name="T25" fmla="*/ 12346 h 12346"/>
                <a:gd name="T26" fmla="*/ 0 w 9547"/>
                <a:gd name="T27" fmla="*/ 9606 h 12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47" h="12346">
                  <a:moveTo>
                    <a:pt x="0" y="9606"/>
                  </a:moveTo>
                  <a:lnTo>
                    <a:pt x="4124" y="1413"/>
                  </a:lnTo>
                  <a:lnTo>
                    <a:pt x="5278" y="0"/>
                  </a:lnTo>
                  <a:lnTo>
                    <a:pt x="8220" y="0"/>
                  </a:lnTo>
                  <a:lnTo>
                    <a:pt x="9547" y="779"/>
                  </a:lnTo>
                  <a:lnTo>
                    <a:pt x="9547" y="1356"/>
                  </a:lnTo>
                  <a:lnTo>
                    <a:pt x="8133" y="1356"/>
                  </a:lnTo>
                  <a:lnTo>
                    <a:pt x="7903" y="1904"/>
                  </a:lnTo>
                  <a:lnTo>
                    <a:pt x="6287" y="1904"/>
                  </a:lnTo>
                  <a:lnTo>
                    <a:pt x="5422" y="3346"/>
                  </a:lnTo>
                  <a:lnTo>
                    <a:pt x="3836" y="10673"/>
                  </a:lnTo>
                  <a:lnTo>
                    <a:pt x="2826" y="12346"/>
                  </a:lnTo>
                  <a:lnTo>
                    <a:pt x="548" y="12346"/>
                  </a:lnTo>
                  <a:lnTo>
                    <a:pt x="0" y="9606"/>
                  </a:lnTo>
                  <a:close/>
                </a:path>
              </a:pathLst>
            </a:custGeom>
            <a:solidFill>
              <a:srgbClr val="E1E1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8" name="Freeform 2152">
              <a:extLst>
                <a:ext uri="{FF2B5EF4-FFF2-40B4-BE49-F238E27FC236}">
                  <a16:creationId xmlns:a16="http://schemas.microsoft.com/office/drawing/2014/main" id="{780A0E14-D3EA-BF1D-0FA6-7E809ADB3FAE}"/>
                </a:ext>
              </a:extLst>
            </p:cNvPr>
            <p:cNvSpPr>
              <a:spLocks/>
            </p:cNvSpPr>
            <p:nvPr/>
          </p:nvSpPr>
          <p:spPr bwMode="gray">
            <a:xfrm>
              <a:off x="4259545" y="5031130"/>
              <a:ext cx="325300" cy="447961"/>
            </a:xfrm>
            <a:custGeom>
              <a:avLst/>
              <a:gdLst>
                <a:gd name="T0" fmla="*/ 8595 w 9489"/>
                <a:gd name="T1" fmla="*/ 13067 h 13067"/>
                <a:gd name="T2" fmla="*/ 0 w 9489"/>
                <a:gd name="T3" fmla="*/ 1500 h 13067"/>
                <a:gd name="T4" fmla="*/ 2422 w 9489"/>
                <a:gd name="T5" fmla="*/ 0 h 13067"/>
                <a:gd name="T6" fmla="*/ 9489 w 9489"/>
                <a:gd name="T7" fmla="*/ 11135 h 13067"/>
                <a:gd name="T8" fmla="*/ 8595 w 9489"/>
                <a:gd name="T9" fmla="*/ 13067 h 13067"/>
              </a:gdLst>
              <a:ahLst/>
              <a:cxnLst>
                <a:cxn ang="0">
                  <a:pos x="T0" y="T1"/>
                </a:cxn>
                <a:cxn ang="0">
                  <a:pos x="T2" y="T3"/>
                </a:cxn>
                <a:cxn ang="0">
                  <a:pos x="T4" y="T5"/>
                </a:cxn>
                <a:cxn ang="0">
                  <a:pos x="T6" y="T7"/>
                </a:cxn>
                <a:cxn ang="0">
                  <a:pos x="T8" y="T9"/>
                </a:cxn>
              </a:cxnLst>
              <a:rect l="0" t="0" r="r" b="b"/>
              <a:pathLst>
                <a:path w="9489" h="13067">
                  <a:moveTo>
                    <a:pt x="8595" y="13067"/>
                  </a:moveTo>
                  <a:lnTo>
                    <a:pt x="0" y="1500"/>
                  </a:lnTo>
                  <a:lnTo>
                    <a:pt x="2422" y="0"/>
                  </a:lnTo>
                  <a:lnTo>
                    <a:pt x="9489" y="11135"/>
                  </a:lnTo>
                  <a:lnTo>
                    <a:pt x="8595" y="13067"/>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29" name="Freeform 2153">
              <a:extLst>
                <a:ext uri="{FF2B5EF4-FFF2-40B4-BE49-F238E27FC236}">
                  <a16:creationId xmlns:a16="http://schemas.microsoft.com/office/drawing/2014/main" id="{F10D91F1-EEAF-41BF-967A-085665D7AAAC}"/>
                </a:ext>
              </a:extLst>
            </p:cNvPr>
            <p:cNvSpPr>
              <a:spLocks/>
            </p:cNvSpPr>
            <p:nvPr/>
          </p:nvSpPr>
          <p:spPr bwMode="gray">
            <a:xfrm>
              <a:off x="4487930" y="5420743"/>
              <a:ext cx="265993" cy="66267"/>
            </a:xfrm>
            <a:custGeom>
              <a:avLst/>
              <a:gdLst>
                <a:gd name="T0" fmla="*/ 269 w 269"/>
                <a:gd name="T1" fmla="*/ 67 h 67"/>
                <a:gd name="T2" fmla="*/ 0 w 269"/>
                <a:gd name="T3" fmla="*/ 67 h 67"/>
                <a:gd name="T4" fmla="*/ 112 w 269"/>
                <a:gd name="T5" fmla="*/ 20 h 67"/>
                <a:gd name="T6" fmla="*/ 131 w 269"/>
                <a:gd name="T7" fmla="*/ 0 h 67"/>
                <a:gd name="T8" fmla="*/ 201 w 269"/>
                <a:gd name="T9" fmla="*/ 0 h 67"/>
                <a:gd name="T10" fmla="*/ 269 w 269"/>
                <a:gd name="T11" fmla="*/ 67 h 67"/>
              </a:gdLst>
              <a:ahLst/>
              <a:cxnLst>
                <a:cxn ang="0">
                  <a:pos x="T0" y="T1"/>
                </a:cxn>
                <a:cxn ang="0">
                  <a:pos x="T2" y="T3"/>
                </a:cxn>
                <a:cxn ang="0">
                  <a:pos x="T4" y="T5"/>
                </a:cxn>
                <a:cxn ang="0">
                  <a:pos x="T6" y="T7"/>
                </a:cxn>
                <a:cxn ang="0">
                  <a:pos x="T8" y="T9"/>
                </a:cxn>
                <a:cxn ang="0">
                  <a:pos x="T10" y="T11"/>
                </a:cxn>
              </a:cxnLst>
              <a:rect l="0" t="0" r="r" b="b"/>
              <a:pathLst>
                <a:path w="269" h="67">
                  <a:moveTo>
                    <a:pt x="269" y="67"/>
                  </a:moveTo>
                  <a:cubicBezTo>
                    <a:pt x="0" y="67"/>
                    <a:pt x="0" y="67"/>
                    <a:pt x="0" y="67"/>
                  </a:cubicBezTo>
                  <a:cubicBezTo>
                    <a:pt x="112" y="20"/>
                    <a:pt x="112" y="20"/>
                    <a:pt x="112" y="20"/>
                  </a:cubicBezTo>
                  <a:cubicBezTo>
                    <a:pt x="131" y="0"/>
                    <a:pt x="131" y="0"/>
                    <a:pt x="131" y="0"/>
                  </a:cubicBezTo>
                  <a:cubicBezTo>
                    <a:pt x="201" y="0"/>
                    <a:pt x="201" y="0"/>
                    <a:pt x="201" y="0"/>
                  </a:cubicBezTo>
                  <a:cubicBezTo>
                    <a:pt x="228" y="26"/>
                    <a:pt x="242" y="41"/>
                    <a:pt x="269" y="6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0" name="Freeform 2154">
              <a:extLst>
                <a:ext uri="{FF2B5EF4-FFF2-40B4-BE49-F238E27FC236}">
                  <a16:creationId xmlns:a16="http://schemas.microsoft.com/office/drawing/2014/main" id="{483D07FE-43E6-4D14-D277-72B7F70FD910}"/>
                </a:ext>
              </a:extLst>
            </p:cNvPr>
            <p:cNvSpPr>
              <a:spLocks/>
            </p:cNvSpPr>
            <p:nvPr/>
          </p:nvSpPr>
          <p:spPr bwMode="gray">
            <a:xfrm>
              <a:off x="4300066" y="5630412"/>
              <a:ext cx="434077" cy="656668"/>
            </a:xfrm>
            <a:custGeom>
              <a:avLst/>
              <a:gdLst>
                <a:gd name="T0" fmla="*/ 353 w 439"/>
                <a:gd name="T1" fmla="*/ 0 h 664"/>
                <a:gd name="T2" fmla="*/ 0 w 439"/>
                <a:gd name="T3" fmla="*/ 607 h 664"/>
                <a:gd name="T4" fmla="*/ 133 w 439"/>
                <a:gd name="T5" fmla="*/ 664 h 664"/>
                <a:gd name="T6" fmla="*/ 439 w 439"/>
                <a:gd name="T7" fmla="*/ 164 h 664"/>
                <a:gd name="T8" fmla="*/ 404 w 439"/>
                <a:gd name="T9" fmla="*/ 31 h 664"/>
                <a:gd name="T10" fmla="*/ 353 w 439"/>
                <a:gd name="T11" fmla="*/ 0 h 664"/>
              </a:gdLst>
              <a:ahLst/>
              <a:cxnLst>
                <a:cxn ang="0">
                  <a:pos x="T0" y="T1"/>
                </a:cxn>
                <a:cxn ang="0">
                  <a:pos x="T2" y="T3"/>
                </a:cxn>
                <a:cxn ang="0">
                  <a:pos x="T4" y="T5"/>
                </a:cxn>
                <a:cxn ang="0">
                  <a:pos x="T6" y="T7"/>
                </a:cxn>
                <a:cxn ang="0">
                  <a:pos x="T8" y="T9"/>
                </a:cxn>
                <a:cxn ang="0">
                  <a:pos x="T10" y="T11"/>
                </a:cxn>
              </a:cxnLst>
              <a:rect l="0" t="0" r="r" b="b"/>
              <a:pathLst>
                <a:path w="439" h="664">
                  <a:moveTo>
                    <a:pt x="353" y="0"/>
                  </a:moveTo>
                  <a:cubicBezTo>
                    <a:pt x="0" y="607"/>
                    <a:pt x="0" y="607"/>
                    <a:pt x="0" y="607"/>
                  </a:cubicBezTo>
                  <a:cubicBezTo>
                    <a:pt x="133" y="664"/>
                    <a:pt x="133" y="664"/>
                    <a:pt x="133" y="664"/>
                  </a:cubicBezTo>
                  <a:cubicBezTo>
                    <a:pt x="439" y="164"/>
                    <a:pt x="439" y="164"/>
                    <a:pt x="439" y="164"/>
                  </a:cubicBezTo>
                  <a:cubicBezTo>
                    <a:pt x="425" y="112"/>
                    <a:pt x="418" y="83"/>
                    <a:pt x="404" y="31"/>
                  </a:cubicBezTo>
                  <a:lnTo>
                    <a:pt x="353" y="0"/>
                  </a:lnTo>
                  <a:close/>
                </a:path>
              </a:pathLst>
            </a:custGeom>
            <a:solidFill>
              <a:srgbClr val="0064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1" name="Freeform 2155">
              <a:extLst>
                <a:ext uri="{FF2B5EF4-FFF2-40B4-BE49-F238E27FC236}">
                  <a16:creationId xmlns:a16="http://schemas.microsoft.com/office/drawing/2014/main" id="{71C57687-4CF6-4F45-C14A-E248AD01CB2F}"/>
                </a:ext>
              </a:extLst>
            </p:cNvPr>
            <p:cNvSpPr>
              <a:spLocks/>
            </p:cNvSpPr>
            <p:nvPr/>
          </p:nvSpPr>
          <p:spPr bwMode="gray">
            <a:xfrm>
              <a:off x="4294136" y="6157529"/>
              <a:ext cx="190847" cy="179979"/>
            </a:xfrm>
            <a:custGeom>
              <a:avLst/>
              <a:gdLst>
                <a:gd name="T0" fmla="*/ 137 w 193"/>
                <a:gd name="T1" fmla="*/ 53 h 182"/>
                <a:gd name="T2" fmla="*/ 48 w 193"/>
                <a:gd name="T3" fmla="*/ 0 h 182"/>
                <a:gd name="T4" fmla="*/ 0 w 193"/>
                <a:gd name="T5" fmla="*/ 71 h 182"/>
                <a:gd name="T6" fmla="*/ 93 w 193"/>
                <a:gd name="T7" fmla="*/ 126 h 182"/>
                <a:gd name="T8" fmla="*/ 188 w 193"/>
                <a:gd name="T9" fmla="*/ 182 h 182"/>
                <a:gd name="T10" fmla="*/ 193 w 193"/>
                <a:gd name="T11" fmla="*/ 86 h 182"/>
                <a:gd name="T12" fmla="*/ 137 w 193"/>
                <a:gd name="T13" fmla="*/ 53 h 182"/>
                <a:gd name="T14" fmla="*/ 137 w 193"/>
                <a:gd name="T15" fmla="*/ 53 h 1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 h="182">
                  <a:moveTo>
                    <a:pt x="137" y="53"/>
                  </a:moveTo>
                  <a:cubicBezTo>
                    <a:pt x="49" y="1"/>
                    <a:pt x="48" y="0"/>
                    <a:pt x="48" y="0"/>
                  </a:cubicBezTo>
                  <a:cubicBezTo>
                    <a:pt x="48" y="0"/>
                    <a:pt x="14" y="48"/>
                    <a:pt x="0" y="71"/>
                  </a:cubicBezTo>
                  <a:cubicBezTo>
                    <a:pt x="93" y="126"/>
                    <a:pt x="93" y="126"/>
                    <a:pt x="93" y="126"/>
                  </a:cubicBezTo>
                  <a:cubicBezTo>
                    <a:pt x="188" y="182"/>
                    <a:pt x="188" y="182"/>
                    <a:pt x="188" y="182"/>
                  </a:cubicBezTo>
                  <a:cubicBezTo>
                    <a:pt x="193" y="86"/>
                    <a:pt x="193" y="86"/>
                    <a:pt x="193" y="86"/>
                  </a:cubicBezTo>
                  <a:cubicBezTo>
                    <a:pt x="137" y="53"/>
                    <a:pt x="137" y="53"/>
                    <a:pt x="137" y="53"/>
                  </a:cubicBezTo>
                  <a:cubicBezTo>
                    <a:pt x="137" y="53"/>
                    <a:pt x="137" y="53"/>
                    <a:pt x="137" y="53"/>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2" name="Freeform 2156">
              <a:extLst>
                <a:ext uri="{FF2B5EF4-FFF2-40B4-BE49-F238E27FC236}">
                  <a16:creationId xmlns:a16="http://schemas.microsoft.com/office/drawing/2014/main" id="{BB32D83D-C66A-8217-BDDD-D8031D1D2C0E}"/>
                </a:ext>
              </a:extLst>
            </p:cNvPr>
            <p:cNvSpPr>
              <a:spLocks/>
            </p:cNvSpPr>
            <p:nvPr/>
          </p:nvSpPr>
          <p:spPr bwMode="gray">
            <a:xfrm>
              <a:off x="4191290" y="4528731"/>
              <a:ext cx="276893" cy="445012"/>
            </a:xfrm>
            <a:custGeom>
              <a:avLst/>
              <a:gdLst>
                <a:gd name="T0" fmla="*/ 190 w 280"/>
                <a:gd name="T1" fmla="*/ 0 h 450"/>
                <a:gd name="T2" fmla="*/ 9 w 280"/>
                <a:gd name="T3" fmla="*/ 189 h 450"/>
                <a:gd name="T4" fmla="*/ 37 w 280"/>
                <a:gd name="T5" fmla="*/ 280 h 450"/>
                <a:gd name="T6" fmla="*/ 2 w 280"/>
                <a:gd name="T7" fmla="*/ 325 h 450"/>
                <a:gd name="T8" fmla="*/ 11 w 280"/>
                <a:gd name="T9" fmla="*/ 352 h 450"/>
                <a:gd name="T10" fmla="*/ 0 w 280"/>
                <a:gd name="T11" fmla="*/ 404 h 450"/>
                <a:gd name="T12" fmla="*/ 140 w 280"/>
                <a:gd name="T13" fmla="*/ 450 h 450"/>
                <a:gd name="T14" fmla="*/ 156 w 280"/>
                <a:gd name="T15" fmla="*/ 369 h 450"/>
                <a:gd name="T16" fmla="*/ 198 w 280"/>
                <a:gd name="T17" fmla="*/ 376 h 450"/>
                <a:gd name="T18" fmla="*/ 280 w 280"/>
                <a:gd name="T19" fmla="*/ 189 h 450"/>
                <a:gd name="T20" fmla="*/ 190 w 280"/>
                <a:gd name="T21"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450">
                  <a:moveTo>
                    <a:pt x="190" y="0"/>
                  </a:moveTo>
                  <a:cubicBezTo>
                    <a:pt x="115" y="0"/>
                    <a:pt x="9" y="85"/>
                    <a:pt x="9" y="189"/>
                  </a:cubicBezTo>
                  <a:cubicBezTo>
                    <a:pt x="9" y="221"/>
                    <a:pt x="20" y="252"/>
                    <a:pt x="37" y="280"/>
                  </a:cubicBezTo>
                  <a:cubicBezTo>
                    <a:pt x="34" y="285"/>
                    <a:pt x="2" y="325"/>
                    <a:pt x="2" y="325"/>
                  </a:cubicBezTo>
                  <a:cubicBezTo>
                    <a:pt x="11" y="352"/>
                    <a:pt x="11" y="352"/>
                    <a:pt x="11" y="352"/>
                  </a:cubicBezTo>
                  <a:cubicBezTo>
                    <a:pt x="0" y="404"/>
                    <a:pt x="0" y="404"/>
                    <a:pt x="0" y="404"/>
                  </a:cubicBezTo>
                  <a:cubicBezTo>
                    <a:pt x="140" y="450"/>
                    <a:pt x="140" y="450"/>
                    <a:pt x="140" y="450"/>
                  </a:cubicBezTo>
                  <a:cubicBezTo>
                    <a:pt x="156" y="369"/>
                    <a:pt x="156" y="369"/>
                    <a:pt x="156" y="369"/>
                  </a:cubicBezTo>
                  <a:cubicBezTo>
                    <a:pt x="170" y="373"/>
                    <a:pt x="184" y="376"/>
                    <a:pt x="198" y="376"/>
                  </a:cubicBezTo>
                  <a:cubicBezTo>
                    <a:pt x="271" y="376"/>
                    <a:pt x="280" y="291"/>
                    <a:pt x="280" y="189"/>
                  </a:cubicBezTo>
                  <a:cubicBezTo>
                    <a:pt x="280" y="85"/>
                    <a:pt x="263" y="0"/>
                    <a:pt x="190" y="0"/>
                  </a:cubicBezTo>
                  <a:close/>
                </a:path>
              </a:pathLst>
            </a:custGeom>
            <a:solidFill>
              <a:srgbClr val="D8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3" name="Freeform 2157">
              <a:extLst>
                <a:ext uri="{FF2B5EF4-FFF2-40B4-BE49-F238E27FC236}">
                  <a16:creationId xmlns:a16="http://schemas.microsoft.com/office/drawing/2014/main" id="{A49467A7-E46D-1657-8AF0-00FCEE5F3E85}"/>
                </a:ext>
              </a:extLst>
            </p:cNvPr>
            <p:cNvSpPr>
              <a:spLocks/>
            </p:cNvSpPr>
            <p:nvPr/>
          </p:nvSpPr>
          <p:spPr bwMode="gray">
            <a:xfrm>
              <a:off x="4131983" y="4504014"/>
              <a:ext cx="341138" cy="401509"/>
            </a:xfrm>
            <a:custGeom>
              <a:avLst/>
              <a:gdLst>
                <a:gd name="T0" fmla="*/ 301 w 345"/>
                <a:gd name="T1" fmla="*/ 386 h 406"/>
                <a:gd name="T2" fmla="*/ 267 w 345"/>
                <a:gd name="T3" fmla="*/ 406 h 406"/>
                <a:gd name="T4" fmla="*/ 197 w 345"/>
                <a:gd name="T5" fmla="*/ 394 h 406"/>
                <a:gd name="T6" fmla="*/ 178 w 345"/>
                <a:gd name="T7" fmla="*/ 280 h 406"/>
                <a:gd name="T8" fmla="*/ 132 w 345"/>
                <a:gd name="T9" fmla="*/ 168 h 406"/>
                <a:gd name="T10" fmla="*/ 101 w 345"/>
                <a:gd name="T11" fmla="*/ 300 h 406"/>
                <a:gd name="T12" fmla="*/ 71 w 345"/>
                <a:gd name="T13" fmla="*/ 377 h 406"/>
                <a:gd name="T14" fmla="*/ 0 w 345"/>
                <a:gd name="T15" fmla="*/ 157 h 406"/>
                <a:gd name="T16" fmla="*/ 84 w 345"/>
                <a:gd name="T17" fmla="*/ 6 h 406"/>
                <a:gd name="T18" fmla="*/ 257 w 345"/>
                <a:gd name="T19" fmla="*/ 0 h 406"/>
                <a:gd name="T20" fmla="*/ 335 w 345"/>
                <a:gd name="T21" fmla="*/ 47 h 406"/>
                <a:gd name="T22" fmla="*/ 345 w 345"/>
                <a:gd name="T23" fmla="*/ 74 h 406"/>
                <a:gd name="T24" fmla="*/ 331 w 345"/>
                <a:gd name="T25" fmla="*/ 105 h 406"/>
                <a:gd name="T26" fmla="*/ 249 w 345"/>
                <a:gd name="T27" fmla="*/ 62 h 406"/>
                <a:gd name="T28" fmla="*/ 214 w 345"/>
                <a:gd name="T29" fmla="*/ 159 h 406"/>
                <a:gd name="T30" fmla="*/ 218 w 345"/>
                <a:gd name="T31" fmla="*/ 313 h 406"/>
                <a:gd name="T32" fmla="*/ 319 w 345"/>
                <a:gd name="T33" fmla="*/ 355 h 406"/>
                <a:gd name="T34" fmla="*/ 317 w 345"/>
                <a:gd name="T35" fmla="*/ 371 h 406"/>
                <a:gd name="T36" fmla="*/ 301 w 345"/>
                <a:gd name="T37" fmla="*/ 38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5" h="406">
                  <a:moveTo>
                    <a:pt x="301" y="386"/>
                  </a:moveTo>
                  <a:cubicBezTo>
                    <a:pt x="267" y="406"/>
                    <a:pt x="267" y="406"/>
                    <a:pt x="267" y="406"/>
                  </a:cubicBezTo>
                  <a:cubicBezTo>
                    <a:pt x="197" y="394"/>
                    <a:pt x="197" y="394"/>
                    <a:pt x="197" y="394"/>
                  </a:cubicBezTo>
                  <a:cubicBezTo>
                    <a:pt x="178" y="280"/>
                    <a:pt x="178" y="280"/>
                    <a:pt x="178" y="280"/>
                  </a:cubicBezTo>
                  <a:cubicBezTo>
                    <a:pt x="132" y="168"/>
                    <a:pt x="132" y="168"/>
                    <a:pt x="132" y="168"/>
                  </a:cubicBezTo>
                  <a:cubicBezTo>
                    <a:pt x="101" y="300"/>
                    <a:pt x="101" y="300"/>
                    <a:pt x="101" y="300"/>
                  </a:cubicBezTo>
                  <a:cubicBezTo>
                    <a:pt x="71" y="377"/>
                    <a:pt x="71" y="377"/>
                    <a:pt x="71" y="377"/>
                  </a:cubicBezTo>
                  <a:cubicBezTo>
                    <a:pt x="0" y="157"/>
                    <a:pt x="0" y="157"/>
                    <a:pt x="0" y="157"/>
                  </a:cubicBezTo>
                  <a:cubicBezTo>
                    <a:pt x="84" y="6"/>
                    <a:pt x="84" y="6"/>
                    <a:pt x="84" y="6"/>
                  </a:cubicBezTo>
                  <a:cubicBezTo>
                    <a:pt x="257" y="0"/>
                    <a:pt x="257" y="0"/>
                    <a:pt x="257" y="0"/>
                  </a:cubicBezTo>
                  <a:cubicBezTo>
                    <a:pt x="335" y="47"/>
                    <a:pt x="335" y="47"/>
                    <a:pt x="335" y="47"/>
                  </a:cubicBezTo>
                  <a:cubicBezTo>
                    <a:pt x="339" y="57"/>
                    <a:pt x="341" y="64"/>
                    <a:pt x="345" y="74"/>
                  </a:cubicBezTo>
                  <a:cubicBezTo>
                    <a:pt x="331" y="105"/>
                    <a:pt x="331" y="105"/>
                    <a:pt x="331" y="105"/>
                  </a:cubicBezTo>
                  <a:cubicBezTo>
                    <a:pt x="249" y="62"/>
                    <a:pt x="249" y="62"/>
                    <a:pt x="249" y="62"/>
                  </a:cubicBezTo>
                  <a:cubicBezTo>
                    <a:pt x="214" y="159"/>
                    <a:pt x="214" y="159"/>
                    <a:pt x="214" y="159"/>
                  </a:cubicBezTo>
                  <a:cubicBezTo>
                    <a:pt x="218" y="313"/>
                    <a:pt x="218" y="313"/>
                    <a:pt x="218" y="313"/>
                  </a:cubicBezTo>
                  <a:cubicBezTo>
                    <a:pt x="319" y="355"/>
                    <a:pt x="319" y="355"/>
                    <a:pt x="319" y="355"/>
                  </a:cubicBezTo>
                  <a:cubicBezTo>
                    <a:pt x="317" y="371"/>
                    <a:pt x="317" y="371"/>
                    <a:pt x="317" y="371"/>
                  </a:cubicBezTo>
                  <a:lnTo>
                    <a:pt x="301" y="386"/>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4" name="Freeform 2158">
              <a:extLst>
                <a:ext uri="{FF2B5EF4-FFF2-40B4-BE49-F238E27FC236}">
                  <a16:creationId xmlns:a16="http://schemas.microsoft.com/office/drawing/2014/main" id="{AAF4F841-C7B5-0FAB-6791-8561029AC986}"/>
                </a:ext>
              </a:extLst>
            </p:cNvPr>
            <p:cNvSpPr>
              <a:spLocks/>
            </p:cNvSpPr>
            <p:nvPr/>
          </p:nvSpPr>
          <p:spPr bwMode="gray">
            <a:xfrm>
              <a:off x="4102328" y="4893661"/>
              <a:ext cx="328248" cy="665547"/>
            </a:xfrm>
            <a:custGeom>
              <a:avLst/>
              <a:gdLst>
                <a:gd name="T0" fmla="*/ 6807 w 9575"/>
                <a:gd name="T1" fmla="*/ 1558 h 19414"/>
                <a:gd name="T2" fmla="*/ 2711 w 9575"/>
                <a:gd name="T3" fmla="*/ 0 h 19414"/>
                <a:gd name="T4" fmla="*/ 0 w 9575"/>
                <a:gd name="T5" fmla="*/ 4212 h 19414"/>
                <a:gd name="T6" fmla="*/ 605 w 9575"/>
                <a:gd name="T7" fmla="*/ 14250 h 19414"/>
                <a:gd name="T8" fmla="*/ 317 w 9575"/>
                <a:gd name="T9" fmla="*/ 17856 h 19414"/>
                <a:gd name="T10" fmla="*/ 317 w 9575"/>
                <a:gd name="T11" fmla="*/ 19414 h 19414"/>
                <a:gd name="T12" fmla="*/ 9547 w 9575"/>
                <a:gd name="T13" fmla="*/ 18779 h 19414"/>
                <a:gd name="T14" fmla="*/ 9575 w 9575"/>
                <a:gd name="T15" fmla="*/ 5827 h 19414"/>
                <a:gd name="T16" fmla="*/ 6807 w 9575"/>
                <a:gd name="T17" fmla="*/ 1558 h 19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75" h="19414">
                  <a:moveTo>
                    <a:pt x="6807" y="1558"/>
                  </a:moveTo>
                  <a:lnTo>
                    <a:pt x="2711" y="0"/>
                  </a:lnTo>
                  <a:lnTo>
                    <a:pt x="0" y="4212"/>
                  </a:lnTo>
                  <a:lnTo>
                    <a:pt x="605" y="14250"/>
                  </a:lnTo>
                  <a:lnTo>
                    <a:pt x="317" y="17856"/>
                  </a:lnTo>
                  <a:lnTo>
                    <a:pt x="317" y="19414"/>
                  </a:lnTo>
                  <a:lnTo>
                    <a:pt x="9547" y="18779"/>
                  </a:lnTo>
                  <a:lnTo>
                    <a:pt x="9575" y="5827"/>
                  </a:lnTo>
                  <a:lnTo>
                    <a:pt x="6807" y="1558"/>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5" name="Freeform 2159">
              <a:extLst>
                <a:ext uri="{FF2B5EF4-FFF2-40B4-BE49-F238E27FC236}">
                  <a16:creationId xmlns:a16="http://schemas.microsoft.com/office/drawing/2014/main" id="{2DD1FB2E-9E07-9A66-CBED-89AAF08F746C}"/>
                </a:ext>
              </a:extLst>
            </p:cNvPr>
            <p:cNvSpPr>
              <a:spLocks/>
            </p:cNvSpPr>
            <p:nvPr/>
          </p:nvSpPr>
          <p:spPr bwMode="gray">
            <a:xfrm>
              <a:off x="4510693" y="5741176"/>
              <a:ext cx="195784" cy="602263"/>
            </a:xfrm>
            <a:custGeom>
              <a:avLst/>
              <a:gdLst>
                <a:gd name="T0" fmla="*/ 5711 w 5711"/>
                <a:gd name="T1" fmla="*/ 375 h 17568"/>
                <a:gd name="T2" fmla="*/ 4643 w 5711"/>
                <a:gd name="T3" fmla="*/ 17280 h 17568"/>
                <a:gd name="T4" fmla="*/ 865 w 5711"/>
                <a:gd name="T5" fmla="*/ 17568 h 17568"/>
                <a:gd name="T6" fmla="*/ 634 w 5711"/>
                <a:gd name="T7" fmla="*/ 2221 h 17568"/>
                <a:gd name="T8" fmla="*/ 0 w 5711"/>
                <a:gd name="T9" fmla="*/ 0 h 17568"/>
                <a:gd name="T10" fmla="*/ 5711 w 5711"/>
                <a:gd name="T11" fmla="*/ 375 h 17568"/>
              </a:gdLst>
              <a:ahLst/>
              <a:cxnLst>
                <a:cxn ang="0">
                  <a:pos x="T0" y="T1"/>
                </a:cxn>
                <a:cxn ang="0">
                  <a:pos x="T2" y="T3"/>
                </a:cxn>
                <a:cxn ang="0">
                  <a:pos x="T4" y="T5"/>
                </a:cxn>
                <a:cxn ang="0">
                  <a:pos x="T6" y="T7"/>
                </a:cxn>
                <a:cxn ang="0">
                  <a:pos x="T8" y="T9"/>
                </a:cxn>
                <a:cxn ang="0">
                  <a:pos x="T10" y="T11"/>
                </a:cxn>
              </a:cxnLst>
              <a:rect l="0" t="0" r="r" b="b"/>
              <a:pathLst>
                <a:path w="5711" h="17568">
                  <a:moveTo>
                    <a:pt x="5711" y="375"/>
                  </a:moveTo>
                  <a:lnTo>
                    <a:pt x="4643" y="17280"/>
                  </a:lnTo>
                  <a:lnTo>
                    <a:pt x="865" y="17568"/>
                  </a:lnTo>
                  <a:lnTo>
                    <a:pt x="634" y="2221"/>
                  </a:lnTo>
                  <a:lnTo>
                    <a:pt x="0" y="0"/>
                  </a:lnTo>
                  <a:lnTo>
                    <a:pt x="5711" y="375"/>
                  </a:ln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6" name="Freeform 2160">
              <a:extLst>
                <a:ext uri="{FF2B5EF4-FFF2-40B4-BE49-F238E27FC236}">
                  <a16:creationId xmlns:a16="http://schemas.microsoft.com/office/drawing/2014/main" id="{2FA6CFA9-6359-4E83-00D7-F24A56F20DC0}"/>
                </a:ext>
              </a:extLst>
            </p:cNvPr>
            <p:cNvSpPr>
              <a:spLocks/>
            </p:cNvSpPr>
            <p:nvPr/>
          </p:nvSpPr>
          <p:spPr bwMode="gray">
            <a:xfrm>
              <a:off x="4534418" y="6259381"/>
              <a:ext cx="212582" cy="83065"/>
            </a:xfrm>
            <a:custGeom>
              <a:avLst/>
              <a:gdLst>
                <a:gd name="T0" fmla="*/ 107 w 215"/>
                <a:gd name="T1" fmla="*/ 0 h 84"/>
                <a:gd name="T2" fmla="*/ 5 w 215"/>
                <a:gd name="T3" fmla="*/ 0 h 84"/>
                <a:gd name="T4" fmla="*/ 0 w 215"/>
                <a:gd name="T5" fmla="*/ 84 h 84"/>
                <a:gd name="T6" fmla="*/ 107 w 215"/>
                <a:gd name="T7" fmla="*/ 84 h 84"/>
                <a:gd name="T8" fmla="*/ 215 w 215"/>
                <a:gd name="T9" fmla="*/ 84 h 84"/>
                <a:gd name="T10" fmla="*/ 171 w 215"/>
                <a:gd name="T11" fmla="*/ 0 h 84"/>
                <a:gd name="T12" fmla="*/ 107 w 215"/>
                <a:gd name="T13" fmla="*/ 0 h 84"/>
                <a:gd name="T14" fmla="*/ 107 w 215"/>
                <a:gd name="T15" fmla="*/ 0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 h="84">
                  <a:moveTo>
                    <a:pt x="107" y="0"/>
                  </a:moveTo>
                  <a:cubicBezTo>
                    <a:pt x="6" y="0"/>
                    <a:pt x="5" y="0"/>
                    <a:pt x="5" y="0"/>
                  </a:cubicBezTo>
                  <a:cubicBezTo>
                    <a:pt x="0" y="84"/>
                    <a:pt x="0" y="84"/>
                    <a:pt x="0" y="84"/>
                  </a:cubicBezTo>
                  <a:cubicBezTo>
                    <a:pt x="107" y="84"/>
                    <a:pt x="107" y="84"/>
                    <a:pt x="107" y="84"/>
                  </a:cubicBezTo>
                  <a:cubicBezTo>
                    <a:pt x="215" y="84"/>
                    <a:pt x="215" y="84"/>
                    <a:pt x="215" y="84"/>
                  </a:cubicBezTo>
                  <a:cubicBezTo>
                    <a:pt x="171" y="0"/>
                    <a:pt x="171" y="0"/>
                    <a:pt x="171" y="0"/>
                  </a:cubicBezTo>
                  <a:cubicBezTo>
                    <a:pt x="107" y="0"/>
                    <a:pt x="107" y="0"/>
                    <a:pt x="107" y="0"/>
                  </a:cubicBezTo>
                  <a:cubicBezTo>
                    <a:pt x="107" y="0"/>
                    <a:pt x="107" y="0"/>
                    <a:pt x="107"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7" name="Freeform 2161">
              <a:extLst>
                <a:ext uri="{FF2B5EF4-FFF2-40B4-BE49-F238E27FC236}">
                  <a16:creationId xmlns:a16="http://schemas.microsoft.com/office/drawing/2014/main" id="{F81F0655-3B60-1A71-226F-6BD36119CB76}"/>
                </a:ext>
              </a:extLst>
            </p:cNvPr>
            <p:cNvSpPr>
              <a:spLocks/>
            </p:cNvSpPr>
            <p:nvPr/>
          </p:nvSpPr>
          <p:spPr bwMode="gray">
            <a:xfrm>
              <a:off x="4075623" y="5767882"/>
              <a:ext cx="434077" cy="62290"/>
            </a:xfrm>
            <a:custGeom>
              <a:avLst/>
              <a:gdLst>
                <a:gd name="T0" fmla="*/ 393 w 439"/>
                <a:gd name="T1" fmla="*/ 0 h 63"/>
                <a:gd name="T2" fmla="*/ 45 w 439"/>
                <a:gd name="T3" fmla="*/ 0 h 63"/>
                <a:gd name="T4" fmla="*/ 0 w 439"/>
                <a:gd name="T5" fmla="*/ 63 h 63"/>
                <a:gd name="T6" fmla="*/ 439 w 439"/>
                <a:gd name="T7" fmla="*/ 63 h 63"/>
                <a:gd name="T8" fmla="*/ 393 w 439"/>
                <a:gd name="T9" fmla="*/ 0 h 63"/>
              </a:gdLst>
              <a:ahLst/>
              <a:cxnLst>
                <a:cxn ang="0">
                  <a:pos x="T0" y="T1"/>
                </a:cxn>
                <a:cxn ang="0">
                  <a:pos x="T2" y="T3"/>
                </a:cxn>
                <a:cxn ang="0">
                  <a:pos x="T4" y="T5"/>
                </a:cxn>
                <a:cxn ang="0">
                  <a:pos x="T6" y="T7"/>
                </a:cxn>
                <a:cxn ang="0">
                  <a:pos x="T8" y="T9"/>
                </a:cxn>
              </a:cxnLst>
              <a:rect l="0" t="0" r="r" b="b"/>
              <a:pathLst>
                <a:path w="439" h="63">
                  <a:moveTo>
                    <a:pt x="393" y="0"/>
                  </a:moveTo>
                  <a:cubicBezTo>
                    <a:pt x="45" y="0"/>
                    <a:pt x="45" y="0"/>
                    <a:pt x="45" y="0"/>
                  </a:cubicBezTo>
                  <a:cubicBezTo>
                    <a:pt x="20" y="0"/>
                    <a:pt x="0" y="28"/>
                    <a:pt x="0" y="63"/>
                  </a:cubicBezTo>
                  <a:cubicBezTo>
                    <a:pt x="439" y="63"/>
                    <a:pt x="439" y="63"/>
                    <a:pt x="439" y="63"/>
                  </a:cubicBezTo>
                  <a:cubicBezTo>
                    <a:pt x="439" y="28"/>
                    <a:pt x="418" y="0"/>
                    <a:pt x="393"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8" name="Freeform 2162">
              <a:extLst>
                <a:ext uri="{FF2B5EF4-FFF2-40B4-BE49-F238E27FC236}">
                  <a16:creationId xmlns:a16="http://schemas.microsoft.com/office/drawing/2014/main" id="{2A96B646-22A3-E48C-C418-FEBE88C9C3D8}"/>
                </a:ext>
              </a:extLst>
            </p:cNvPr>
            <p:cNvSpPr>
              <a:spLocks/>
            </p:cNvSpPr>
            <p:nvPr/>
          </p:nvSpPr>
          <p:spPr bwMode="gray">
            <a:xfrm>
              <a:off x="4075623" y="5825235"/>
              <a:ext cx="434077" cy="42510"/>
            </a:xfrm>
            <a:custGeom>
              <a:avLst/>
              <a:gdLst>
                <a:gd name="T0" fmla="*/ 0 w 12662"/>
                <a:gd name="T1" fmla="*/ 0 h 1240"/>
                <a:gd name="T2" fmla="*/ 12662 w 12662"/>
                <a:gd name="T3" fmla="*/ 0 h 1240"/>
                <a:gd name="T4" fmla="*/ 12662 w 12662"/>
                <a:gd name="T5" fmla="*/ 1240 h 1240"/>
                <a:gd name="T6" fmla="*/ 0 w 12662"/>
                <a:gd name="T7" fmla="*/ 1240 h 1240"/>
                <a:gd name="T8" fmla="*/ 0 w 12662"/>
                <a:gd name="T9" fmla="*/ 0 h 1240"/>
                <a:gd name="T10" fmla="*/ 0 w 12662"/>
                <a:gd name="T11" fmla="*/ 0 h 1240"/>
              </a:gdLst>
              <a:ahLst/>
              <a:cxnLst>
                <a:cxn ang="0">
                  <a:pos x="T0" y="T1"/>
                </a:cxn>
                <a:cxn ang="0">
                  <a:pos x="T2" y="T3"/>
                </a:cxn>
                <a:cxn ang="0">
                  <a:pos x="T4" y="T5"/>
                </a:cxn>
                <a:cxn ang="0">
                  <a:pos x="T6" y="T7"/>
                </a:cxn>
                <a:cxn ang="0">
                  <a:pos x="T8" y="T9"/>
                </a:cxn>
                <a:cxn ang="0">
                  <a:pos x="T10" y="T11"/>
                </a:cxn>
              </a:cxnLst>
              <a:rect l="0" t="0" r="r" b="b"/>
              <a:pathLst>
                <a:path w="12662" h="1240">
                  <a:moveTo>
                    <a:pt x="0" y="0"/>
                  </a:moveTo>
                  <a:lnTo>
                    <a:pt x="12662" y="0"/>
                  </a:lnTo>
                  <a:lnTo>
                    <a:pt x="12662" y="1240"/>
                  </a:lnTo>
                  <a:lnTo>
                    <a:pt x="0" y="1240"/>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39" name="Freeform 2163">
              <a:extLst>
                <a:ext uri="{FF2B5EF4-FFF2-40B4-BE49-F238E27FC236}">
                  <a16:creationId xmlns:a16="http://schemas.microsoft.com/office/drawing/2014/main" id="{A9C18E8C-0B76-212B-7FAC-F38C94B8C17C}"/>
                </a:ext>
              </a:extLst>
            </p:cNvPr>
            <p:cNvSpPr>
              <a:spLocks/>
            </p:cNvSpPr>
            <p:nvPr/>
          </p:nvSpPr>
          <p:spPr bwMode="gray">
            <a:xfrm>
              <a:off x="4067704" y="6115979"/>
              <a:ext cx="420226" cy="22763"/>
            </a:xfrm>
            <a:custGeom>
              <a:avLst/>
              <a:gdLst>
                <a:gd name="T0" fmla="*/ 0 w 12258"/>
                <a:gd name="T1" fmla="*/ 0 h 664"/>
                <a:gd name="T2" fmla="*/ 12258 w 12258"/>
                <a:gd name="T3" fmla="*/ 0 h 664"/>
                <a:gd name="T4" fmla="*/ 12258 w 12258"/>
                <a:gd name="T5" fmla="*/ 664 h 664"/>
                <a:gd name="T6" fmla="*/ 0 w 12258"/>
                <a:gd name="T7" fmla="*/ 664 h 664"/>
                <a:gd name="T8" fmla="*/ 0 w 12258"/>
                <a:gd name="T9" fmla="*/ 0 h 664"/>
                <a:gd name="T10" fmla="*/ 0 w 12258"/>
                <a:gd name="T11" fmla="*/ 0 h 664"/>
              </a:gdLst>
              <a:ahLst/>
              <a:cxnLst>
                <a:cxn ang="0">
                  <a:pos x="T0" y="T1"/>
                </a:cxn>
                <a:cxn ang="0">
                  <a:pos x="T2" y="T3"/>
                </a:cxn>
                <a:cxn ang="0">
                  <a:pos x="T4" y="T5"/>
                </a:cxn>
                <a:cxn ang="0">
                  <a:pos x="T6" y="T7"/>
                </a:cxn>
                <a:cxn ang="0">
                  <a:pos x="T8" y="T9"/>
                </a:cxn>
                <a:cxn ang="0">
                  <a:pos x="T10" y="T11"/>
                </a:cxn>
              </a:cxnLst>
              <a:rect l="0" t="0" r="r" b="b"/>
              <a:pathLst>
                <a:path w="12258" h="664">
                  <a:moveTo>
                    <a:pt x="0" y="0"/>
                  </a:moveTo>
                  <a:lnTo>
                    <a:pt x="12258" y="0"/>
                  </a:lnTo>
                  <a:lnTo>
                    <a:pt x="12258" y="664"/>
                  </a:lnTo>
                  <a:lnTo>
                    <a:pt x="0" y="664"/>
                  </a:lnTo>
                  <a:lnTo>
                    <a:pt x="0" y="0"/>
                  </a:lnTo>
                  <a:lnTo>
                    <a:pt x="0"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0" name="Freeform 2164">
              <a:extLst>
                <a:ext uri="{FF2B5EF4-FFF2-40B4-BE49-F238E27FC236}">
                  <a16:creationId xmlns:a16="http://schemas.microsoft.com/office/drawing/2014/main" id="{0932BDD6-8240-6EAE-6F55-7E8316104EAC}"/>
                </a:ext>
              </a:extLst>
            </p:cNvPr>
            <p:cNvSpPr>
              <a:spLocks/>
            </p:cNvSpPr>
            <p:nvPr/>
          </p:nvSpPr>
          <p:spPr bwMode="gray">
            <a:xfrm>
              <a:off x="4048917" y="5456363"/>
              <a:ext cx="53411" cy="883134"/>
            </a:xfrm>
            <a:custGeom>
              <a:avLst/>
              <a:gdLst>
                <a:gd name="T0" fmla="*/ 0 w 1558"/>
                <a:gd name="T1" fmla="*/ 0 h 25761"/>
                <a:gd name="T2" fmla="*/ 1558 w 1558"/>
                <a:gd name="T3" fmla="*/ 0 h 25761"/>
                <a:gd name="T4" fmla="*/ 1558 w 1558"/>
                <a:gd name="T5" fmla="*/ 25761 h 25761"/>
                <a:gd name="T6" fmla="*/ 0 w 1558"/>
                <a:gd name="T7" fmla="*/ 25761 h 25761"/>
                <a:gd name="T8" fmla="*/ 0 w 1558"/>
                <a:gd name="T9" fmla="*/ 0 h 25761"/>
                <a:gd name="T10" fmla="*/ 0 w 1558"/>
                <a:gd name="T11" fmla="*/ 0 h 25761"/>
              </a:gdLst>
              <a:ahLst/>
              <a:cxnLst>
                <a:cxn ang="0">
                  <a:pos x="T0" y="T1"/>
                </a:cxn>
                <a:cxn ang="0">
                  <a:pos x="T2" y="T3"/>
                </a:cxn>
                <a:cxn ang="0">
                  <a:pos x="T4" y="T5"/>
                </a:cxn>
                <a:cxn ang="0">
                  <a:pos x="T6" y="T7"/>
                </a:cxn>
                <a:cxn ang="0">
                  <a:pos x="T8" y="T9"/>
                </a:cxn>
                <a:cxn ang="0">
                  <a:pos x="T10" y="T11"/>
                </a:cxn>
              </a:cxnLst>
              <a:rect l="0" t="0" r="r" b="b"/>
              <a:pathLst>
                <a:path w="1558" h="25761">
                  <a:moveTo>
                    <a:pt x="0" y="0"/>
                  </a:moveTo>
                  <a:lnTo>
                    <a:pt x="1558" y="0"/>
                  </a:lnTo>
                  <a:lnTo>
                    <a:pt x="1558" y="25761"/>
                  </a:lnTo>
                  <a:lnTo>
                    <a:pt x="0" y="25761"/>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1" name="Freeform 2165">
              <a:extLst>
                <a:ext uri="{FF2B5EF4-FFF2-40B4-BE49-F238E27FC236}">
                  <a16:creationId xmlns:a16="http://schemas.microsoft.com/office/drawing/2014/main" id="{9CB19FAE-9BCB-6575-C427-9C6A5C356AB7}"/>
                </a:ext>
              </a:extLst>
            </p:cNvPr>
            <p:cNvSpPr>
              <a:spLocks/>
            </p:cNvSpPr>
            <p:nvPr/>
          </p:nvSpPr>
          <p:spPr bwMode="gray">
            <a:xfrm>
              <a:off x="4465201" y="5825235"/>
              <a:ext cx="45491" cy="517210"/>
            </a:xfrm>
            <a:custGeom>
              <a:avLst/>
              <a:gdLst>
                <a:gd name="T0" fmla="*/ 0 w 1327"/>
                <a:gd name="T1" fmla="*/ 0 h 15087"/>
                <a:gd name="T2" fmla="*/ 1327 w 1327"/>
                <a:gd name="T3" fmla="*/ 0 h 15087"/>
                <a:gd name="T4" fmla="*/ 1327 w 1327"/>
                <a:gd name="T5" fmla="*/ 15087 h 15087"/>
                <a:gd name="T6" fmla="*/ 0 w 1327"/>
                <a:gd name="T7" fmla="*/ 15087 h 15087"/>
                <a:gd name="T8" fmla="*/ 0 w 1327"/>
                <a:gd name="T9" fmla="*/ 0 h 15087"/>
                <a:gd name="T10" fmla="*/ 0 w 1327"/>
                <a:gd name="T11" fmla="*/ 0 h 15087"/>
              </a:gdLst>
              <a:ahLst/>
              <a:cxnLst>
                <a:cxn ang="0">
                  <a:pos x="T0" y="T1"/>
                </a:cxn>
                <a:cxn ang="0">
                  <a:pos x="T2" y="T3"/>
                </a:cxn>
                <a:cxn ang="0">
                  <a:pos x="T4" y="T5"/>
                </a:cxn>
                <a:cxn ang="0">
                  <a:pos x="T6" y="T7"/>
                </a:cxn>
                <a:cxn ang="0">
                  <a:pos x="T8" y="T9"/>
                </a:cxn>
                <a:cxn ang="0">
                  <a:pos x="T10" y="T11"/>
                </a:cxn>
              </a:cxnLst>
              <a:rect l="0" t="0" r="r" b="b"/>
              <a:pathLst>
                <a:path w="1327" h="15087">
                  <a:moveTo>
                    <a:pt x="0" y="0"/>
                  </a:moveTo>
                  <a:lnTo>
                    <a:pt x="1327" y="0"/>
                  </a:lnTo>
                  <a:lnTo>
                    <a:pt x="1327" y="15087"/>
                  </a:lnTo>
                  <a:lnTo>
                    <a:pt x="0" y="15087"/>
                  </a:lnTo>
                  <a:lnTo>
                    <a:pt x="0" y="0"/>
                  </a:lnTo>
                  <a:lnTo>
                    <a:pt x="0"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2" name="Freeform 2166">
              <a:extLst>
                <a:ext uri="{FF2B5EF4-FFF2-40B4-BE49-F238E27FC236}">
                  <a16:creationId xmlns:a16="http://schemas.microsoft.com/office/drawing/2014/main" id="{57A15374-F283-E04A-1B32-7B69E356B55A}"/>
                </a:ext>
              </a:extLst>
            </p:cNvPr>
            <p:cNvSpPr>
              <a:spLocks/>
            </p:cNvSpPr>
            <p:nvPr/>
          </p:nvSpPr>
          <p:spPr bwMode="gray">
            <a:xfrm>
              <a:off x="4048917" y="5221978"/>
              <a:ext cx="53411" cy="234385"/>
            </a:xfrm>
            <a:custGeom>
              <a:avLst/>
              <a:gdLst>
                <a:gd name="T0" fmla="*/ 40 w 54"/>
                <a:gd name="T1" fmla="*/ 0 h 237"/>
                <a:gd name="T2" fmla="*/ 14 w 54"/>
                <a:gd name="T3" fmla="*/ 0 h 237"/>
                <a:gd name="T4" fmla="*/ 0 w 54"/>
                <a:gd name="T5" fmla="*/ 134 h 237"/>
                <a:gd name="T6" fmla="*/ 0 w 54"/>
                <a:gd name="T7" fmla="*/ 237 h 237"/>
                <a:gd name="T8" fmla="*/ 54 w 54"/>
                <a:gd name="T9" fmla="*/ 237 h 237"/>
                <a:gd name="T10" fmla="*/ 54 w 54"/>
                <a:gd name="T11" fmla="*/ 134 h 237"/>
                <a:gd name="T12" fmla="*/ 40 w 54"/>
                <a:gd name="T13" fmla="*/ 0 h 237"/>
              </a:gdLst>
              <a:ahLst/>
              <a:cxnLst>
                <a:cxn ang="0">
                  <a:pos x="T0" y="T1"/>
                </a:cxn>
                <a:cxn ang="0">
                  <a:pos x="T2" y="T3"/>
                </a:cxn>
                <a:cxn ang="0">
                  <a:pos x="T4" y="T5"/>
                </a:cxn>
                <a:cxn ang="0">
                  <a:pos x="T6" y="T7"/>
                </a:cxn>
                <a:cxn ang="0">
                  <a:pos x="T8" y="T9"/>
                </a:cxn>
                <a:cxn ang="0">
                  <a:pos x="T10" y="T11"/>
                </a:cxn>
                <a:cxn ang="0">
                  <a:pos x="T12" y="T13"/>
                </a:cxn>
              </a:cxnLst>
              <a:rect l="0" t="0" r="r" b="b"/>
              <a:pathLst>
                <a:path w="54" h="237">
                  <a:moveTo>
                    <a:pt x="40" y="0"/>
                  </a:moveTo>
                  <a:cubicBezTo>
                    <a:pt x="14" y="0"/>
                    <a:pt x="14" y="0"/>
                    <a:pt x="14" y="0"/>
                  </a:cubicBezTo>
                  <a:cubicBezTo>
                    <a:pt x="6" y="0"/>
                    <a:pt x="0" y="60"/>
                    <a:pt x="0" y="134"/>
                  </a:cubicBezTo>
                  <a:cubicBezTo>
                    <a:pt x="0" y="237"/>
                    <a:pt x="0" y="237"/>
                    <a:pt x="0" y="237"/>
                  </a:cubicBezTo>
                  <a:cubicBezTo>
                    <a:pt x="54" y="237"/>
                    <a:pt x="54" y="237"/>
                    <a:pt x="54" y="237"/>
                  </a:cubicBezTo>
                  <a:cubicBezTo>
                    <a:pt x="54" y="134"/>
                    <a:pt x="54" y="134"/>
                    <a:pt x="54" y="134"/>
                  </a:cubicBezTo>
                  <a:cubicBezTo>
                    <a:pt x="54" y="60"/>
                    <a:pt x="48" y="0"/>
                    <a:pt x="40"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3" name="Freeform 2167">
              <a:extLst>
                <a:ext uri="{FF2B5EF4-FFF2-40B4-BE49-F238E27FC236}">
                  <a16:creationId xmlns:a16="http://schemas.microsoft.com/office/drawing/2014/main" id="{90FB55E3-F9C2-F4DF-9F86-DF07EF1D5F56}"/>
                </a:ext>
              </a:extLst>
            </p:cNvPr>
            <p:cNvSpPr>
              <a:spLocks/>
            </p:cNvSpPr>
            <p:nvPr/>
          </p:nvSpPr>
          <p:spPr bwMode="gray">
            <a:xfrm>
              <a:off x="4216042" y="5551288"/>
              <a:ext cx="490436" cy="216593"/>
            </a:xfrm>
            <a:custGeom>
              <a:avLst/>
              <a:gdLst>
                <a:gd name="T0" fmla="*/ 14306 w 14306"/>
                <a:gd name="T1" fmla="*/ 6318 h 6318"/>
                <a:gd name="T2" fmla="*/ 0 w 14306"/>
                <a:gd name="T3" fmla="*/ 6318 h 6318"/>
                <a:gd name="T4" fmla="*/ 0 w 14306"/>
                <a:gd name="T5" fmla="*/ 0 h 6318"/>
                <a:gd name="T6" fmla="*/ 12344 w 14306"/>
                <a:gd name="T7" fmla="*/ 1472 h 6318"/>
                <a:gd name="T8" fmla="*/ 14306 w 14306"/>
                <a:gd name="T9" fmla="*/ 3375 h 6318"/>
                <a:gd name="T10" fmla="*/ 14306 w 14306"/>
                <a:gd name="T11" fmla="*/ 6318 h 6318"/>
              </a:gdLst>
              <a:ahLst/>
              <a:cxnLst>
                <a:cxn ang="0">
                  <a:pos x="T0" y="T1"/>
                </a:cxn>
                <a:cxn ang="0">
                  <a:pos x="T2" y="T3"/>
                </a:cxn>
                <a:cxn ang="0">
                  <a:pos x="T4" y="T5"/>
                </a:cxn>
                <a:cxn ang="0">
                  <a:pos x="T6" y="T7"/>
                </a:cxn>
                <a:cxn ang="0">
                  <a:pos x="T8" y="T9"/>
                </a:cxn>
                <a:cxn ang="0">
                  <a:pos x="T10" y="T11"/>
                </a:cxn>
              </a:cxnLst>
              <a:rect l="0" t="0" r="r" b="b"/>
              <a:pathLst>
                <a:path w="14306" h="6318">
                  <a:moveTo>
                    <a:pt x="14306" y="6318"/>
                  </a:moveTo>
                  <a:lnTo>
                    <a:pt x="0" y="6318"/>
                  </a:lnTo>
                  <a:lnTo>
                    <a:pt x="0" y="0"/>
                  </a:lnTo>
                  <a:lnTo>
                    <a:pt x="12344" y="1472"/>
                  </a:lnTo>
                  <a:lnTo>
                    <a:pt x="14306" y="3375"/>
                  </a:lnTo>
                  <a:lnTo>
                    <a:pt x="14306" y="6318"/>
                  </a:ln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4" name="Freeform 2168">
              <a:extLst>
                <a:ext uri="{FF2B5EF4-FFF2-40B4-BE49-F238E27FC236}">
                  <a16:creationId xmlns:a16="http://schemas.microsoft.com/office/drawing/2014/main" id="{1EE7EA13-4EAB-37A8-5A25-740DEDF37C79}"/>
                </a:ext>
              </a:extLst>
            </p:cNvPr>
            <p:cNvSpPr>
              <a:spLocks/>
            </p:cNvSpPr>
            <p:nvPr/>
          </p:nvSpPr>
          <p:spPr bwMode="gray">
            <a:xfrm>
              <a:off x="4113196" y="5575046"/>
              <a:ext cx="212582" cy="192836"/>
            </a:xfrm>
            <a:custGeom>
              <a:avLst/>
              <a:gdLst>
                <a:gd name="T0" fmla="*/ 44 w 215"/>
                <a:gd name="T1" fmla="*/ 195 h 195"/>
                <a:gd name="T2" fmla="*/ 192 w 215"/>
                <a:gd name="T3" fmla="*/ 195 h 195"/>
                <a:gd name="T4" fmla="*/ 215 w 215"/>
                <a:gd name="T5" fmla="*/ 172 h 195"/>
                <a:gd name="T6" fmla="*/ 215 w 215"/>
                <a:gd name="T7" fmla="*/ 23 h 195"/>
                <a:gd name="T8" fmla="*/ 192 w 215"/>
                <a:gd name="T9" fmla="*/ 0 h 195"/>
                <a:gd name="T10" fmla="*/ 23 w 215"/>
                <a:gd name="T11" fmla="*/ 0 h 195"/>
                <a:gd name="T12" fmla="*/ 0 w 215"/>
                <a:gd name="T13" fmla="*/ 23 h 195"/>
                <a:gd name="T14" fmla="*/ 0 w 215"/>
                <a:gd name="T15" fmla="*/ 152 h 195"/>
                <a:gd name="T16" fmla="*/ 44 w 215"/>
                <a:gd name="T1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195">
                  <a:moveTo>
                    <a:pt x="44" y="195"/>
                  </a:moveTo>
                  <a:cubicBezTo>
                    <a:pt x="192" y="195"/>
                    <a:pt x="192" y="195"/>
                    <a:pt x="192" y="195"/>
                  </a:cubicBezTo>
                  <a:cubicBezTo>
                    <a:pt x="205" y="195"/>
                    <a:pt x="215" y="185"/>
                    <a:pt x="215" y="172"/>
                  </a:cubicBezTo>
                  <a:cubicBezTo>
                    <a:pt x="215" y="23"/>
                    <a:pt x="215" y="23"/>
                    <a:pt x="215" y="23"/>
                  </a:cubicBezTo>
                  <a:cubicBezTo>
                    <a:pt x="215" y="11"/>
                    <a:pt x="205" y="0"/>
                    <a:pt x="192" y="0"/>
                  </a:cubicBezTo>
                  <a:cubicBezTo>
                    <a:pt x="23" y="0"/>
                    <a:pt x="23" y="0"/>
                    <a:pt x="23" y="0"/>
                  </a:cubicBezTo>
                  <a:cubicBezTo>
                    <a:pt x="10" y="0"/>
                    <a:pt x="0" y="11"/>
                    <a:pt x="0" y="23"/>
                  </a:cubicBezTo>
                  <a:cubicBezTo>
                    <a:pt x="0" y="152"/>
                    <a:pt x="0" y="152"/>
                    <a:pt x="0" y="152"/>
                  </a:cubicBezTo>
                  <a:cubicBezTo>
                    <a:pt x="17" y="169"/>
                    <a:pt x="27" y="178"/>
                    <a:pt x="44" y="195"/>
                  </a:cubicBezTo>
                  <a:close/>
                </a:path>
              </a:pathLst>
            </a:custGeom>
            <a:solidFill>
              <a:srgbClr val="2391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5" name="Freeform 2169">
              <a:extLst>
                <a:ext uri="{FF2B5EF4-FFF2-40B4-BE49-F238E27FC236}">
                  <a16:creationId xmlns:a16="http://schemas.microsoft.com/office/drawing/2014/main" id="{C75DAF6F-7872-A715-107E-F9A3CD03C209}"/>
                </a:ext>
              </a:extLst>
            </p:cNvPr>
            <p:cNvSpPr>
              <a:spLocks/>
            </p:cNvSpPr>
            <p:nvPr/>
          </p:nvSpPr>
          <p:spPr bwMode="gray">
            <a:xfrm>
              <a:off x="4113196" y="5511728"/>
              <a:ext cx="316421" cy="90025"/>
            </a:xfrm>
            <a:custGeom>
              <a:avLst/>
              <a:gdLst>
                <a:gd name="T0" fmla="*/ 7672 w 9230"/>
                <a:gd name="T1" fmla="*/ 2135 h 2626"/>
                <a:gd name="T2" fmla="*/ 0 w 9230"/>
                <a:gd name="T3" fmla="*/ 2626 h 2626"/>
                <a:gd name="T4" fmla="*/ 0 w 9230"/>
                <a:gd name="T5" fmla="*/ 0 h 2626"/>
                <a:gd name="T6" fmla="*/ 9230 w 9230"/>
                <a:gd name="T7" fmla="*/ 750 h 2626"/>
                <a:gd name="T8" fmla="*/ 9114 w 9230"/>
                <a:gd name="T9" fmla="*/ 1876 h 2626"/>
                <a:gd name="T10" fmla="*/ 7672 w 9230"/>
                <a:gd name="T11" fmla="*/ 2135 h 2626"/>
              </a:gdLst>
              <a:ahLst/>
              <a:cxnLst>
                <a:cxn ang="0">
                  <a:pos x="T0" y="T1"/>
                </a:cxn>
                <a:cxn ang="0">
                  <a:pos x="T2" y="T3"/>
                </a:cxn>
                <a:cxn ang="0">
                  <a:pos x="T4" y="T5"/>
                </a:cxn>
                <a:cxn ang="0">
                  <a:pos x="T6" y="T7"/>
                </a:cxn>
                <a:cxn ang="0">
                  <a:pos x="T8" y="T9"/>
                </a:cxn>
                <a:cxn ang="0">
                  <a:pos x="T10" y="T11"/>
                </a:cxn>
              </a:cxnLst>
              <a:rect l="0" t="0" r="r" b="b"/>
              <a:pathLst>
                <a:path w="9230" h="2626">
                  <a:moveTo>
                    <a:pt x="7672" y="2135"/>
                  </a:moveTo>
                  <a:lnTo>
                    <a:pt x="0" y="2626"/>
                  </a:lnTo>
                  <a:lnTo>
                    <a:pt x="0" y="0"/>
                  </a:lnTo>
                  <a:lnTo>
                    <a:pt x="9230" y="750"/>
                  </a:lnTo>
                  <a:lnTo>
                    <a:pt x="9114" y="1876"/>
                  </a:lnTo>
                  <a:lnTo>
                    <a:pt x="7672" y="2135"/>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6" name="Freeform 2170">
              <a:extLst>
                <a:ext uri="{FF2B5EF4-FFF2-40B4-BE49-F238E27FC236}">
                  <a16:creationId xmlns:a16="http://schemas.microsoft.com/office/drawing/2014/main" id="{629D6570-2808-177E-4733-DC8C6288D990}"/>
                </a:ext>
              </a:extLst>
            </p:cNvPr>
            <p:cNvSpPr>
              <a:spLocks/>
            </p:cNvSpPr>
            <p:nvPr/>
          </p:nvSpPr>
          <p:spPr bwMode="gray">
            <a:xfrm>
              <a:off x="4290192" y="5088485"/>
              <a:ext cx="252143" cy="398526"/>
            </a:xfrm>
            <a:custGeom>
              <a:avLst/>
              <a:gdLst>
                <a:gd name="T0" fmla="*/ 5768 w 7355"/>
                <a:gd name="T1" fmla="*/ 11625 h 11625"/>
                <a:gd name="T2" fmla="*/ 0 w 7355"/>
                <a:gd name="T3" fmla="*/ 4875 h 11625"/>
                <a:gd name="T4" fmla="*/ 1730 w 7355"/>
                <a:gd name="T5" fmla="*/ 0 h 11625"/>
                <a:gd name="T6" fmla="*/ 7355 w 7355"/>
                <a:gd name="T7" fmla="*/ 9173 h 11625"/>
                <a:gd name="T8" fmla="*/ 5768 w 7355"/>
                <a:gd name="T9" fmla="*/ 11625 h 11625"/>
              </a:gdLst>
              <a:ahLst/>
              <a:cxnLst>
                <a:cxn ang="0">
                  <a:pos x="T0" y="T1"/>
                </a:cxn>
                <a:cxn ang="0">
                  <a:pos x="T2" y="T3"/>
                </a:cxn>
                <a:cxn ang="0">
                  <a:pos x="T4" y="T5"/>
                </a:cxn>
                <a:cxn ang="0">
                  <a:pos x="T6" y="T7"/>
                </a:cxn>
                <a:cxn ang="0">
                  <a:pos x="T8" y="T9"/>
                </a:cxn>
              </a:cxnLst>
              <a:rect l="0" t="0" r="r" b="b"/>
              <a:pathLst>
                <a:path w="7355" h="11625">
                  <a:moveTo>
                    <a:pt x="5768" y="11625"/>
                  </a:moveTo>
                  <a:lnTo>
                    <a:pt x="0" y="4875"/>
                  </a:lnTo>
                  <a:lnTo>
                    <a:pt x="1730" y="0"/>
                  </a:lnTo>
                  <a:lnTo>
                    <a:pt x="7355" y="9173"/>
                  </a:lnTo>
                  <a:lnTo>
                    <a:pt x="5768" y="11625"/>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7" name="Freeform 2171">
              <a:extLst>
                <a:ext uri="{FF2B5EF4-FFF2-40B4-BE49-F238E27FC236}">
                  <a16:creationId xmlns:a16="http://schemas.microsoft.com/office/drawing/2014/main" id="{14C996EC-C963-5FD3-1682-494FC65AA1B2}"/>
                </a:ext>
              </a:extLst>
            </p:cNvPr>
            <p:cNvSpPr>
              <a:spLocks/>
            </p:cNvSpPr>
            <p:nvPr/>
          </p:nvSpPr>
          <p:spPr bwMode="gray">
            <a:xfrm>
              <a:off x="4480045" y="5399009"/>
              <a:ext cx="183887" cy="88001"/>
            </a:xfrm>
            <a:custGeom>
              <a:avLst/>
              <a:gdLst>
                <a:gd name="T0" fmla="*/ 5364 w 5364"/>
                <a:gd name="T1" fmla="*/ 2336 h 2567"/>
                <a:gd name="T2" fmla="*/ 230 w 5364"/>
                <a:gd name="T3" fmla="*/ 2567 h 2567"/>
                <a:gd name="T4" fmla="*/ 0 w 5364"/>
                <a:gd name="T5" fmla="*/ 750 h 2567"/>
                <a:gd name="T6" fmla="*/ 1471 w 5364"/>
                <a:gd name="T7" fmla="*/ 0 h 2567"/>
                <a:gd name="T8" fmla="*/ 3951 w 5364"/>
                <a:gd name="T9" fmla="*/ 519 h 2567"/>
                <a:gd name="T10" fmla="*/ 5364 w 5364"/>
                <a:gd name="T11" fmla="*/ 2336 h 2567"/>
              </a:gdLst>
              <a:ahLst/>
              <a:cxnLst>
                <a:cxn ang="0">
                  <a:pos x="T0" y="T1"/>
                </a:cxn>
                <a:cxn ang="0">
                  <a:pos x="T2" y="T3"/>
                </a:cxn>
                <a:cxn ang="0">
                  <a:pos x="T4" y="T5"/>
                </a:cxn>
                <a:cxn ang="0">
                  <a:pos x="T6" y="T7"/>
                </a:cxn>
                <a:cxn ang="0">
                  <a:pos x="T8" y="T9"/>
                </a:cxn>
                <a:cxn ang="0">
                  <a:pos x="T10" y="T11"/>
                </a:cxn>
              </a:cxnLst>
              <a:rect l="0" t="0" r="r" b="b"/>
              <a:pathLst>
                <a:path w="5364" h="2567">
                  <a:moveTo>
                    <a:pt x="5364" y="2336"/>
                  </a:moveTo>
                  <a:lnTo>
                    <a:pt x="230" y="2567"/>
                  </a:lnTo>
                  <a:lnTo>
                    <a:pt x="0" y="750"/>
                  </a:lnTo>
                  <a:lnTo>
                    <a:pt x="1471" y="0"/>
                  </a:lnTo>
                  <a:lnTo>
                    <a:pt x="3951" y="519"/>
                  </a:lnTo>
                  <a:lnTo>
                    <a:pt x="5364" y="233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8" name="Freeform 2172">
              <a:extLst>
                <a:ext uri="{FF2B5EF4-FFF2-40B4-BE49-F238E27FC236}">
                  <a16:creationId xmlns:a16="http://schemas.microsoft.com/office/drawing/2014/main" id="{B902E0C2-C9B4-CF0A-45BB-99A424371649}"/>
                </a:ext>
              </a:extLst>
            </p:cNvPr>
            <p:cNvSpPr>
              <a:spLocks/>
            </p:cNvSpPr>
            <p:nvPr/>
          </p:nvSpPr>
          <p:spPr bwMode="gray">
            <a:xfrm>
              <a:off x="4165613" y="4980667"/>
              <a:ext cx="255091" cy="288790"/>
            </a:xfrm>
            <a:custGeom>
              <a:avLst/>
              <a:gdLst>
                <a:gd name="T0" fmla="*/ 258 w 258"/>
                <a:gd name="T1" fmla="*/ 205 h 292"/>
                <a:gd name="T2" fmla="*/ 122 w 258"/>
                <a:gd name="T3" fmla="*/ 292 h 292"/>
                <a:gd name="T4" fmla="*/ 0 w 258"/>
                <a:gd name="T5" fmla="*/ 100 h 292"/>
                <a:gd name="T6" fmla="*/ 14 w 258"/>
                <a:gd name="T7" fmla="*/ 38 h 292"/>
                <a:gd name="T8" fmla="*/ 74 w 258"/>
                <a:gd name="T9" fmla="*/ 0 h 292"/>
                <a:gd name="T10" fmla="*/ 136 w 258"/>
                <a:gd name="T11" fmla="*/ 13 h 292"/>
                <a:gd name="T12" fmla="*/ 258 w 258"/>
                <a:gd name="T13" fmla="*/ 205 h 292"/>
              </a:gdLst>
              <a:ahLst/>
              <a:cxnLst>
                <a:cxn ang="0">
                  <a:pos x="T0" y="T1"/>
                </a:cxn>
                <a:cxn ang="0">
                  <a:pos x="T2" y="T3"/>
                </a:cxn>
                <a:cxn ang="0">
                  <a:pos x="T4" y="T5"/>
                </a:cxn>
                <a:cxn ang="0">
                  <a:pos x="T6" y="T7"/>
                </a:cxn>
                <a:cxn ang="0">
                  <a:pos x="T8" y="T9"/>
                </a:cxn>
                <a:cxn ang="0">
                  <a:pos x="T10" y="T11"/>
                </a:cxn>
                <a:cxn ang="0">
                  <a:pos x="T12" y="T13"/>
                </a:cxn>
              </a:cxnLst>
              <a:rect l="0" t="0" r="r" b="b"/>
              <a:pathLst>
                <a:path w="258" h="292">
                  <a:moveTo>
                    <a:pt x="258" y="205"/>
                  </a:moveTo>
                  <a:cubicBezTo>
                    <a:pt x="122" y="292"/>
                    <a:pt x="122" y="292"/>
                    <a:pt x="122" y="292"/>
                  </a:cubicBezTo>
                  <a:cubicBezTo>
                    <a:pt x="0" y="100"/>
                    <a:pt x="0" y="100"/>
                    <a:pt x="0" y="100"/>
                  </a:cubicBezTo>
                  <a:cubicBezTo>
                    <a:pt x="0" y="100"/>
                    <a:pt x="8" y="62"/>
                    <a:pt x="14" y="38"/>
                  </a:cubicBezTo>
                  <a:cubicBezTo>
                    <a:pt x="74" y="0"/>
                    <a:pt x="74" y="0"/>
                    <a:pt x="74" y="0"/>
                  </a:cubicBezTo>
                  <a:cubicBezTo>
                    <a:pt x="98" y="5"/>
                    <a:pt x="136" y="13"/>
                    <a:pt x="136" y="13"/>
                  </a:cubicBezTo>
                  <a:lnTo>
                    <a:pt x="258" y="205"/>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49" name="Freeform 2173">
              <a:extLst>
                <a:ext uri="{FF2B5EF4-FFF2-40B4-BE49-F238E27FC236}">
                  <a16:creationId xmlns:a16="http://schemas.microsoft.com/office/drawing/2014/main" id="{757B585E-9B7A-4AD7-211C-053EB4B14165}"/>
                </a:ext>
              </a:extLst>
            </p:cNvPr>
            <p:cNvSpPr>
              <a:spLocks/>
            </p:cNvSpPr>
            <p:nvPr/>
          </p:nvSpPr>
          <p:spPr bwMode="gray">
            <a:xfrm>
              <a:off x="4598695" y="5399009"/>
              <a:ext cx="106788" cy="80083"/>
            </a:xfrm>
            <a:custGeom>
              <a:avLst/>
              <a:gdLst>
                <a:gd name="T0" fmla="*/ 108 w 108"/>
                <a:gd name="T1" fmla="*/ 48 h 81"/>
                <a:gd name="T2" fmla="*/ 65 w 108"/>
                <a:gd name="T3" fmla="*/ 81 h 81"/>
                <a:gd name="T4" fmla="*/ 0 w 108"/>
                <a:gd name="T5" fmla="*/ 14 h 81"/>
                <a:gd name="T6" fmla="*/ 13 w 108"/>
                <a:gd name="T7" fmla="*/ 0 h 81"/>
                <a:gd name="T8" fmla="*/ 61 w 108"/>
                <a:gd name="T9" fmla="*/ 0 h 81"/>
                <a:gd name="T10" fmla="*/ 108 w 108"/>
                <a:gd name="T11" fmla="*/ 48 h 81"/>
              </a:gdLst>
              <a:ahLst/>
              <a:cxnLst>
                <a:cxn ang="0">
                  <a:pos x="T0" y="T1"/>
                </a:cxn>
                <a:cxn ang="0">
                  <a:pos x="T2" y="T3"/>
                </a:cxn>
                <a:cxn ang="0">
                  <a:pos x="T4" y="T5"/>
                </a:cxn>
                <a:cxn ang="0">
                  <a:pos x="T6" y="T7"/>
                </a:cxn>
                <a:cxn ang="0">
                  <a:pos x="T8" y="T9"/>
                </a:cxn>
                <a:cxn ang="0">
                  <a:pos x="T10" y="T11"/>
                </a:cxn>
              </a:cxnLst>
              <a:rect l="0" t="0" r="r" b="b"/>
              <a:pathLst>
                <a:path w="108" h="81">
                  <a:moveTo>
                    <a:pt x="108" y="48"/>
                  </a:moveTo>
                  <a:cubicBezTo>
                    <a:pt x="65" y="81"/>
                    <a:pt x="65" y="81"/>
                    <a:pt x="65" y="81"/>
                  </a:cubicBezTo>
                  <a:cubicBezTo>
                    <a:pt x="0" y="14"/>
                    <a:pt x="0" y="14"/>
                    <a:pt x="0" y="14"/>
                  </a:cubicBezTo>
                  <a:cubicBezTo>
                    <a:pt x="13" y="0"/>
                    <a:pt x="13" y="0"/>
                    <a:pt x="13" y="0"/>
                  </a:cubicBezTo>
                  <a:cubicBezTo>
                    <a:pt x="61" y="0"/>
                    <a:pt x="61" y="0"/>
                    <a:pt x="61" y="0"/>
                  </a:cubicBezTo>
                  <a:cubicBezTo>
                    <a:pt x="79" y="19"/>
                    <a:pt x="89" y="29"/>
                    <a:pt x="108" y="48"/>
                  </a:cubicBez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0" name="Freeform 2174">
              <a:extLst>
                <a:ext uri="{FF2B5EF4-FFF2-40B4-BE49-F238E27FC236}">
                  <a16:creationId xmlns:a16="http://schemas.microsoft.com/office/drawing/2014/main" id="{E2053907-186A-B896-39A5-274EAEC0EEBD}"/>
                </a:ext>
              </a:extLst>
            </p:cNvPr>
            <p:cNvSpPr>
              <a:spLocks/>
            </p:cNvSpPr>
            <p:nvPr/>
          </p:nvSpPr>
          <p:spPr bwMode="gray">
            <a:xfrm>
              <a:off x="9229172" y="5031130"/>
              <a:ext cx="325335" cy="447961"/>
            </a:xfrm>
            <a:custGeom>
              <a:avLst/>
              <a:gdLst>
                <a:gd name="T0" fmla="*/ 894 w 9490"/>
                <a:gd name="T1" fmla="*/ 13067 h 13067"/>
                <a:gd name="T2" fmla="*/ 9490 w 9490"/>
                <a:gd name="T3" fmla="*/ 1500 h 13067"/>
                <a:gd name="T4" fmla="*/ 7067 w 9490"/>
                <a:gd name="T5" fmla="*/ 0 h 13067"/>
                <a:gd name="T6" fmla="*/ 0 w 9490"/>
                <a:gd name="T7" fmla="*/ 11135 h 13067"/>
                <a:gd name="T8" fmla="*/ 894 w 9490"/>
                <a:gd name="T9" fmla="*/ 13067 h 13067"/>
              </a:gdLst>
              <a:ahLst/>
              <a:cxnLst>
                <a:cxn ang="0">
                  <a:pos x="T0" y="T1"/>
                </a:cxn>
                <a:cxn ang="0">
                  <a:pos x="T2" y="T3"/>
                </a:cxn>
                <a:cxn ang="0">
                  <a:pos x="T4" y="T5"/>
                </a:cxn>
                <a:cxn ang="0">
                  <a:pos x="T6" y="T7"/>
                </a:cxn>
                <a:cxn ang="0">
                  <a:pos x="T8" y="T9"/>
                </a:cxn>
              </a:cxnLst>
              <a:rect l="0" t="0" r="r" b="b"/>
              <a:pathLst>
                <a:path w="9490" h="13067">
                  <a:moveTo>
                    <a:pt x="894" y="13067"/>
                  </a:moveTo>
                  <a:lnTo>
                    <a:pt x="9490" y="1500"/>
                  </a:lnTo>
                  <a:lnTo>
                    <a:pt x="7067" y="0"/>
                  </a:lnTo>
                  <a:lnTo>
                    <a:pt x="0" y="11135"/>
                  </a:lnTo>
                  <a:lnTo>
                    <a:pt x="894" y="13067"/>
                  </a:ln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1" name="Freeform 2175">
              <a:extLst>
                <a:ext uri="{FF2B5EF4-FFF2-40B4-BE49-F238E27FC236}">
                  <a16:creationId xmlns:a16="http://schemas.microsoft.com/office/drawing/2014/main" id="{A4C5844C-BE69-BFC7-7FF9-54E40E39B9F7}"/>
                </a:ext>
              </a:extLst>
            </p:cNvPr>
            <p:cNvSpPr>
              <a:spLocks/>
            </p:cNvSpPr>
            <p:nvPr/>
          </p:nvSpPr>
          <p:spPr bwMode="gray">
            <a:xfrm>
              <a:off x="9060087" y="5420743"/>
              <a:ext cx="265992" cy="66267"/>
            </a:xfrm>
            <a:custGeom>
              <a:avLst/>
              <a:gdLst>
                <a:gd name="T0" fmla="*/ 0 w 269"/>
                <a:gd name="T1" fmla="*/ 67 h 67"/>
                <a:gd name="T2" fmla="*/ 269 w 269"/>
                <a:gd name="T3" fmla="*/ 67 h 67"/>
                <a:gd name="T4" fmla="*/ 157 w 269"/>
                <a:gd name="T5" fmla="*/ 20 h 67"/>
                <a:gd name="T6" fmla="*/ 138 w 269"/>
                <a:gd name="T7" fmla="*/ 0 h 67"/>
                <a:gd name="T8" fmla="*/ 68 w 269"/>
                <a:gd name="T9" fmla="*/ 0 h 67"/>
                <a:gd name="T10" fmla="*/ 0 w 269"/>
                <a:gd name="T11" fmla="*/ 67 h 67"/>
              </a:gdLst>
              <a:ahLst/>
              <a:cxnLst>
                <a:cxn ang="0">
                  <a:pos x="T0" y="T1"/>
                </a:cxn>
                <a:cxn ang="0">
                  <a:pos x="T2" y="T3"/>
                </a:cxn>
                <a:cxn ang="0">
                  <a:pos x="T4" y="T5"/>
                </a:cxn>
                <a:cxn ang="0">
                  <a:pos x="T6" y="T7"/>
                </a:cxn>
                <a:cxn ang="0">
                  <a:pos x="T8" y="T9"/>
                </a:cxn>
                <a:cxn ang="0">
                  <a:pos x="T10" y="T11"/>
                </a:cxn>
              </a:cxnLst>
              <a:rect l="0" t="0" r="r" b="b"/>
              <a:pathLst>
                <a:path w="269" h="67">
                  <a:moveTo>
                    <a:pt x="0" y="67"/>
                  </a:moveTo>
                  <a:cubicBezTo>
                    <a:pt x="269" y="67"/>
                    <a:pt x="269" y="67"/>
                    <a:pt x="269" y="67"/>
                  </a:cubicBezTo>
                  <a:cubicBezTo>
                    <a:pt x="157" y="20"/>
                    <a:pt x="157" y="20"/>
                    <a:pt x="157" y="20"/>
                  </a:cubicBezTo>
                  <a:cubicBezTo>
                    <a:pt x="138" y="0"/>
                    <a:pt x="138" y="0"/>
                    <a:pt x="138" y="0"/>
                  </a:cubicBezTo>
                  <a:cubicBezTo>
                    <a:pt x="68" y="0"/>
                    <a:pt x="68" y="0"/>
                    <a:pt x="68" y="0"/>
                  </a:cubicBezTo>
                  <a:cubicBezTo>
                    <a:pt x="42" y="26"/>
                    <a:pt x="27" y="41"/>
                    <a:pt x="0" y="67"/>
                  </a:cubicBezTo>
                  <a:close/>
                </a:path>
              </a:pathLst>
            </a:custGeom>
            <a:solidFill>
              <a:srgbClr val="AAAA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2" name="Freeform 2176">
              <a:extLst>
                <a:ext uri="{FF2B5EF4-FFF2-40B4-BE49-F238E27FC236}">
                  <a16:creationId xmlns:a16="http://schemas.microsoft.com/office/drawing/2014/main" id="{C3D1FFBF-E7F0-4F9B-6366-34938C3FD403}"/>
                </a:ext>
              </a:extLst>
            </p:cNvPr>
            <p:cNvSpPr>
              <a:spLocks/>
            </p:cNvSpPr>
            <p:nvPr/>
          </p:nvSpPr>
          <p:spPr bwMode="gray">
            <a:xfrm>
              <a:off x="9079867" y="5630412"/>
              <a:ext cx="434077" cy="656668"/>
            </a:xfrm>
            <a:custGeom>
              <a:avLst/>
              <a:gdLst>
                <a:gd name="T0" fmla="*/ 86 w 439"/>
                <a:gd name="T1" fmla="*/ 0 h 664"/>
                <a:gd name="T2" fmla="*/ 439 w 439"/>
                <a:gd name="T3" fmla="*/ 607 h 664"/>
                <a:gd name="T4" fmla="*/ 306 w 439"/>
                <a:gd name="T5" fmla="*/ 664 h 664"/>
                <a:gd name="T6" fmla="*/ 0 w 439"/>
                <a:gd name="T7" fmla="*/ 164 h 664"/>
                <a:gd name="T8" fmla="*/ 35 w 439"/>
                <a:gd name="T9" fmla="*/ 31 h 664"/>
                <a:gd name="T10" fmla="*/ 86 w 439"/>
                <a:gd name="T11" fmla="*/ 0 h 664"/>
              </a:gdLst>
              <a:ahLst/>
              <a:cxnLst>
                <a:cxn ang="0">
                  <a:pos x="T0" y="T1"/>
                </a:cxn>
                <a:cxn ang="0">
                  <a:pos x="T2" y="T3"/>
                </a:cxn>
                <a:cxn ang="0">
                  <a:pos x="T4" y="T5"/>
                </a:cxn>
                <a:cxn ang="0">
                  <a:pos x="T6" y="T7"/>
                </a:cxn>
                <a:cxn ang="0">
                  <a:pos x="T8" y="T9"/>
                </a:cxn>
                <a:cxn ang="0">
                  <a:pos x="T10" y="T11"/>
                </a:cxn>
              </a:cxnLst>
              <a:rect l="0" t="0" r="r" b="b"/>
              <a:pathLst>
                <a:path w="439" h="664">
                  <a:moveTo>
                    <a:pt x="86" y="0"/>
                  </a:moveTo>
                  <a:cubicBezTo>
                    <a:pt x="439" y="607"/>
                    <a:pt x="439" y="607"/>
                    <a:pt x="439" y="607"/>
                  </a:cubicBezTo>
                  <a:cubicBezTo>
                    <a:pt x="306" y="664"/>
                    <a:pt x="306" y="664"/>
                    <a:pt x="306" y="664"/>
                  </a:cubicBezTo>
                  <a:cubicBezTo>
                    <a:pt x="0" y="164"/>
                    <a:pt x="0" y="164"/>
                    <a:pt x="0" y="164"/>
                  </a:cubicBezTo>
                  <a:cubicBezTo>
                    <a:pt x="14" y="112"/>
                    <a:pt x="21" y="83"/>
                    <a:pt x="35" y="31"/>
                  </a:cubicBezTo>
                  <a:lnTo>
                    <a:pt x="86" y="0"/>
                  </a:lnTo>
                  <a:close/>
                </a:path>
              </a:pathLst>
            </a:custGeom>
            <a:solidFill>
              <a:srgbClr val="555F6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3" name="Freeform 2177">
              <a:extLst>
                <a:ext uri="{FF2B5EF4-FFF2-40B4-BE49-F238E27FC236}">
                  <a16:creationId xmlns:a16="http://schemas.microsoft.com/office/drawing/2014/main" id="{6B4CB41C-022C-3607-9BFB-F1E5EB50318B}"/>
                </a:ext>
              </a:extLst>
            </p:cNvPr>
            <p:cNvSpPr>
              <a:spLocks/>
            </p:cNvSpPr>
            <p:nvPr/>
          </p:nvSpPr>
          <p:spPr bwMode="gray">
            <a:xfrm>
              <a:off x="9330022" y="6157529"/>
              <a:ext cx="189853" cy="179979"/>
            </a:xfrm>
            <a:custGeom>
              <a:avLst/>
              <a:gdLst>
                <a:gd name="T0" fmla="*/ 56 w 192"/>
                <a:gd name="T1" fmla="*/ 53 h 182"/>
                <a:gd name="T2" fmla="*/ 145 w 192"/>
                <a:gd name="T3" fmla="*/ 0 h 182"/>
                <a:gd name="T4" fmla="*/ 192 w 192"/>
                <a:gd name="T5" fmla="*/ 71 h 182"/>
                <a:gd name="T6" fmla="*/ 99 w 192"/>
                <a:gd name="T7" fmla="*/ 126 h 182"/>
                <a:gd name="T8" fmla="*/ 4 w 192"/>
                <a:gd name="T9" fmla="*/ 182 h 182"/>
                <a:gd name="T10" fmla="*/ 0 w 192"/>
                <a:gd name="T11" fmla="*/ 86 h 182"/>
                <a:gd name="T12" fmla="*/ 56 w 192"/>
                <a:gd name="T13" fmla="*/ 53 h 182"/>
                <a:gd name="T14" fmla="*/ 56 w 192"/>
                <a:gd name="T15" fmla="*/ 53 h 1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182">
                  <a:moveTo>
                    <a:pt x="56" y="53"/>
                  </a:moveTo>
                  <a:cubicBezTo>
                    <a:pt x="143" y="1"/>
                    <a:pt x="145" y="0"/>
                    <a:pt x="145" y="0"/>
                  </a:cubicBezTo>
                  <a:cubicBezTo>
                    <a:pt x="145" y="0"/>
                    <a:pt x="179" y="48"/>
                    <a:pt x="192" y="71"/>
                  </a:cubicBezTo>
                  <a:cubicBezTo>
                    <a:pt x="99" y="126"/>
                    <a:pt x="99" y="126"/>
                    <a:pt x="99" y="126"/>
                  </a:cubicBezTo>
                  <a:cubicBezTo>
                    <a:pt x="4" y="182"/>
                    <a:pt x="4" y="182"/>
                    <a:pt x="4" y="182"/>
                  </a:cubicBezTo>
                  <a:cubicBezTo>
                    <a:pt x="0" y="86"/>
                    <a:pt x="0" y="86"/>
                    <a:pt x="0" y="86"/>
                  </a:cubicBezTo>
                  <a:cubicBezTo>
                    <a:pt x="56" y="53"/>
                    <a:pt x="56" y="53"/>
                    <a:pt x="56" y="53"/>
                  </a:cubicBezTo>
                  <a:cubicBezTo>
                    <a:pt x="56" y="53"/>
                    <a:pt x="56" y="53"/>
                    <a:pt x="56" y="53"/>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4" name="Freeform 2178">
              <a:extLst>
                <a:ext uri="{FF2B5EF4-FFF2-40B4-BE49-F238E27FC236}">
                  <a16:creationId xmlns:a16="http://schemas.microsoft.com/office/drawing/2014/main" id="{0BF2AF05-EEB1-6273-3F51-030CE32B223A}"/>
                </a:ext>
              </a:extLst>
            </p:cNvPr>
            <p:cNvSpPr>
              <a:spLocks/>
            </p:cNvSpPr>
            <p:nvPr/>
          </p:nvSpPr>
          <p:spPr bwMode="gray">
            <a:xfrm>
              <a:off x="9345861" y="4528731"/>
              <a:ext cx="276859" cy="445012"/>
            </a:xfrm>
            <a:custGeom>
              <a:avLst/>
              <a:gdLst>
                <a:gd name="T0" fmla="*/ 90 w 280"/>
                <a:gd name="T1" fmla="*/ 0 h 450"/>
                <a:gd name="T2" fmla="*/ 271 w 280"/>
                <a:gd name="T3" fmla="*/ 189 h 450"/>
                <a:gd name="T4" fmla="*/ 243 w 280"/>
                <a:gd name="T5" fmla="*/ 280 h 450"/>
                <a:gd name="T6" fmla="*/ 278 w 280"/>
                <a:gd name="T7" fmla="*/ 325 h 450"/>
                <a:gd name="T8" fmla="*/ 269 w 280"/>
                <a:gd name="T9" fmla="*/ 352 h 450"/>
                <a:gd name="T10" fmla="*/ 280 w 280"/>
                <a:gd name="T11" fmla="*/ 404 h 450"/>
                <a:gd name="T12" fmla="*/ 140 w 280"/>
                <a:gd name="T13" fmla="*/ 450 h 450"/>
                <a:gd name="T14" fmla="*/ 124 w 280"/>
                <a:gd name="T15" fmla="*/ 369 h 450"/>
                <a:gd name="T16" fmla="*/ 82 w 280"/>
                <a:gd name="T17" fmla="*/ 376 h 450"/>
                <a:gd name="T18" fmla="*/ 0 w 280"/>
                <a:gd name="T19" fmla="*/ 189 h 450"/>
                <a:gd name="T20" fmla="*/ 90 w 280"/>
                <a:gd name="T21"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0" h="450">
                  <a:moveTo>
                    <a:pt x="90" y="0"/>
                  </a:moveTo>
                  <a:cubicBezTo>
                    <a:pt x="165" y="0"/>
                    <a:pt x="271" y="85"/>
                    <a:pt x="271" y="189"/>
                  </a:cubicBezTo>
                  <a:cubicBezTo>
                    <a:pt x="271" y="221"/>
                    <a:pt x="261" y="252"/>
                    <a:pt x="243" y="280"/>
                  </a:cubicBezTo>
                  <a:cubicBezTo>
                    <a:pt x="247" y="285"/>
                    <a:pt x="278" y="325"/>
                    <a:pt x="278" y="325"/>
                  </a:cubicBezTo>
                  <a:cubicBezTo>
                    <a:pt x="269" y="352"/>
                    <a:pt x="269" y="352"/>
                    <a:pt x="269" y="352"/>
                  </a:cubicBezTo>
                  <a:cubicBezTo>
                    <a:pt x="280" y="404"/>
                    <a:pt x="280" y="404"/>
                    <a:pt x="280" y="404"/>
                  </a:cubicBezTo>
                  <a:cubicBezTo>
                    <a:pt x="140" y="450"/>
                    <a:pt x="140" y="450"/>
                    <a:pt x="140" y="450"/>
                  </a:cubicBezTo>
                  <a:cubicBezTo>
                    <a:pt x="124" y="369"/>
                    <a:pt x="124" y="369"/>
                    <a:pt x="124" y="369"/>
                  </a:cubicBezTo>
                  <a:cubicBezTo>
                    <a:pt x="110" y="373"/>
                    <a:pt x="96" y="376"/>
                    <a:pt x="82" y="376"/>
                  </a:cubicBezTo>
                  <a:cubicBezTo>
                    <a:pt x="9" y="376"/>
                    <a:pt x="0" y="291"/>
                    <a:pt x="0" y="189"/>
                  </a:cubicBezTo>
                  <a:cubicBezTo>
                    <a:pt x="0" y="85"/>
                    <a:pt x="17" y="0"/>
                    <a:pt x="90" y="0"/>
                  </a:cubicBezTo>
                  <a:close/>
                </a:path>
              </a:pathLst>
            </a:custGeom>
            <a:solidFill>
              <a:srgbClr val="D8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5" name="Freeform 2179">
              <a:extLst>
                <a:ext uri="{FF2B5EF4-FFF2-40B4-BE49-F238E27FC236}">
                  <a16:creationId xmlns:a16="http://schemas.microsoft.com/office/drawing/2014/main" id="{979138AD-C42F-06E8-BAB0-4F2AA4912F94}"/>
                </a:ext>
              </a:extLst>
            </p:cNvPr>
            <p:cNvSpPr>
              <a:spLocks/>
            </p:cNvSpPr>
            <p:nvPr/>
          </p:nvSpPr>
          <p:spPr bwMode="gray">
            <a:xfrm>
              <a:off x="9340889" y="4485228"/>
              <a:ext cx="341138" cy="391601"/>
            </a:xfrm>
            <a:custGeom>
              <a:avLst/>
              <a:gdLst>
                <a:gd name="T0" fmla="*/ 168 w 345"/>
                <a:gd name="T1" fmla="*/ 299 h 396"/>
                <a:gd name="T2" fmla="*/ 194 w 345"/>
                <a:gd name="T3" fmla="*/ 183 h 396"/>
                <a:gd name="T4" fmla="*/ 216 w 345"/>
                <a:gd name="T5" fmla="*/ 207 h 396"/>
                <a:gd name="T6" fmla="*/ 244 w 345"/>
                <a:gd name="T7" fmla="*/ 319 h 396"/>
                <a:gd name="T8" fmla="*/ 274 w 345"/>
                <a:gd name="T9" fmla="*/ 396 h 396"/>
                <a:gd name="T10" fmla="*/ 322 w 345"/>
                <a:gd name="T11" fmla="*/ 347 h 396"/>
                <a:gd name="T12" fmla="*/ 345 w 345"/>
                <a:gd name="T13" fmla="*/ 176 h 396"/>
                <a:gd name="T14" fmla="*/ 325 w 345"/>
                <a:gd name="T15" fmla="*/ 104 h 396"/>
                <a:gd name="T16" fmla="*/ 261 w 345"/>
                <a:gd name="T17" fmla="*/ 25 h 396"/>
                <a:gd name="T18" fmla="*/ 181 w 345"/>
                <a:gd name="T19" fmla="*/ 0 h 396"/>
                <a:gd name="T20" fmla="*/ 88 w 345"/>
                <a:gd name="T21" fmla="*/ 19 h 396"/>
                <a:gd name="T22" fmla="*/ 10 w 345"/>
                <a:gd name="T23" fmla="*/ 66 h 396"/>
                <a:gd name="T24" fmla="*/ 0 w 345"/>
                <a:gd name="T25" fmla="*/ 93 h 396"/>
                <a:gd name="T26" fmla="*/ 14 w 345"/>
                <a:gd name="T27" fmla="*/ 124 h 396"/>
                <a:gd name="T28" fmla="*/ 96 w 345"/>
                <a:gd name="T29" fmla="*/ 81 h 396"/>
                <a:gd name="T30" fmla="*/ 131 w 345"/>
                <a:gd name="T31" fmla="*/ 178 h 396"/>
                <a:gd name="T32" fmla="*/ 168 w 345"/>
                <a:gd name="T33" fmla="*/ 29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5" h="396">
                  <a:moveTo>
                    <a:pt x="168" y="299"/>
                  </a:moveTo>
                  <a:cubicBezTo>
                    <a:pt x="194" y="183"/>
                    <a:pt x="194" y="183"/>
                    <a:pt x="194" y="183"/>
                  </a:cubicBezTo>
                  <a:cubicBezTo>
                    <a:pt x="216" y="207"/>
                    <a:pt x="216" y="207"/>
                    <a:pt x="216" y="207"/>
                  </a:cubicBezTo>
                  <a:cubicBezTo>
                    <a:pt x="244" y="319"/>
                    <a:pt x="244" y="319"/>
                    <a:pt x="244" y="319"/>
                  </a:cubicBezTo>
                  <a:cubicBezTo>
                    <a:pt x="274" y="396"/>
                    <a:pt x="274" y="396"/>
                    <a:pt x="274" y="396"/>
                  </a:cubicBezTo>
                  <a:cubicBezTo>
                    <a:pt x="322" y="347"/>
                    <a:pt x="322" y="347"/>
                    <a:pt x="322" y="347"/>
                  </a:cubicBezTo>
                  <a:cubicBezTo>
                    <a:pt x="345" y="176"/>
                    <a:pt x="345" y="176"/>
                    <a:pt x="345" y="176"/>
                  </a:cubicBezTo>
                  <a:cubicBezTo>
                    <a:pt x="325" y="104"/>
                    <a:pt x="325" y="104"/>
                    <a:pt x="325" y="104"/>
                  </a:cubicBezTo>
                  <a:cubicBezTo>
                    <a:pt x="261" y="25"/>
                    <a:pt x="261" y="25"/>
                    <a:pt x="261" y="25"/>
                  </a:cubicBezTo>
                  <a:cubicBezTo>
                    <a:pt x="181" y="0"/>
                    <a:pt x="181" y="0"/>
                    <a:pt x="181" y="0"/>
                  </a:cubicBezTo>
                  <a:cubicBezTo>
                    <a:pt x="88" y="19"/>
                    <a:pt x="88" y="19"/>
                    <a:pt x="88" y="19"/>
                  </a:cubicBezTo>
                  <a:cubicBezTo>
                    <a:pt x="10" y="66"/>
                    <a:pt x="10" y="66"/>
                    <a:pt x="10" y="66"/>
                  </a:cubicBezTo>
                  <a:cubicBezTo>
                    <a:pt x="6" y="76"/>
                    <a:pt x="4" y="83"/>
                    <a:pt x="0" y="93"/>
                  </a:cubicBezTo>
                  <a:cubicBezTo>
                    <a:pt x="14" y="124"/>
                    <a:pt x="14" y="124"/>
                    <a:pt x="14" y="124"/>
                  </a:cubicBezTo>
                  <a:cubicBezTo>
                    <a:pt x="96" y="81"/>
                    <a:pt x="96" y="81"/>
                    <a:pt x="96" y="81"/>
                  </a:cubicBezTo>
                  <a:cubicBezTo>
                    <a:pt x="131" y="178"/>
                    <a:pt x="131" y="178"/>
                    <a:pt x="131" y="178"/>
                  </a:cubicBezTo>
                  <a:lnTo>
                    <a:pt x="168" y="299"/>
                  </a:lnTo>
                  <a:close/>
                </a:path>
              </a:pathLst>
            </a:custGeom>
            <a:solidFill>
              <a:srgbClr val="7364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6" name="Freeform 2180">
              <a:extLst>
                <a:ext uri="{FF2B5EF4-FFF2-40B4-BE49-F238E27FC236}">
                  <a16:creationId xmlns:a16="http://schemas.microsoft.com/office/drawing/2014/main" id="{1A5BB21D-CB6C-42BB-A166-8A9E0367AA37}"/>
                </a:ext>
              </a:extLst>
            </p:cNvPr>
            <p:cNvSpPr>
              <a:spLocks/>
            </p:cNvSpPr>
            <p:nvPr/>
          </p:nvSpPr>
          <p:spPr bwMode="gray">
            <a:xfrm>
              <a:off x="9385388" y="4893663"/>
              <a:ext cx="327288" cy="665547"/>
            </a:xfrm>
            <a:custGeom>
              <a:avLst/>
              <a:gdLst>
                <a:gd name="T0" fmla="*/ 2712 w 9547"/>
                <a:gd name="T1" fmla="*/ 1558 h 19414"/>
                <a:gd name="T2" fmla="*/ 6807 w 9547"/>
                <a:gd name="T3" fmla="*/ 0 h 19414"/>
                <a:gd name="T4" fmla="*/ 9547 w 9547"/>
                <a:gd name="T5" fmla="*/ 4212 h 19414"/>
                <a:gd name="T6" fmla="*/ 8942 w 9547"/>
                <a:gd name="T7" fmla="*/ 14250 h 19414"/>
                <a:gd name="T8" fmla="*/ 9201 w 9547"/>
                <a:gd name="T9" fmla="*/ 17856 h 19414"/>
                <a:gd name="T10" fmla="*/ 9201 w 9547"/>
                <a:gd name="T11" fmla="*/ 19414 h 19414"/>
                <a:gd name="T12" fmla="*/ 0 w 9547"/>
                <a:gd name="T13" fmla="*/ 18779 h 19414"/>
                <a:gd name="T14" fmla="*/ 0 w 9547"/>
                <a:gd name="T15" fmla="*/ 4673 h 19414"/>
                <a:gd name="T16" fmla="*/ 2712 w 9547"/>
                <a:gd name="T17" fmla="*/ 1558 h 19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47" h="19414">
                  <a:moveTo>
                    <a:pt x="2712" y="1558"/>
                  </a:moveTo>
                  <a:lnTo>
                    <a:pt x="6807" y="0"/>
                  </a:lnTo>
                  <a:lnTo>
                    <a:pt x="9547" y="4212"/>
                  </a:lnTo>
                  <a:lnTo>
                    <a:pt x="8942" y="14250"/>
                  </a:lnTo>
                  <a:lnTo>
                    <a:pt x="9201" y="17856"/>
                  </a:lnTo>
                  <a:lnTo>
                    <a:pt x="9201" y="19414"/>
                  </a:lnTo>
                  <a:lnTo>
                    <a:pt x="0" y="18779"/>
                  </a:lnTo>
                  <a:lnTo>
                    <a:pt x="0" y="4673"/>
                  </a:lnTo>
                  <a:lnTo>
                    <a:pt x="2712" y="1558"/>
                  </a:lnTo>
                  <a:close/>
                </a:path>
              </a:pathLst>
            </a:custGeom>
            <a:solidFill>
              <a:srgbClr val="3296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7" name="Freeform 2181">
              <a:extLst>
                <a:ext uri="{FF2B5EF4-FFF2-40B4-BE49-F238E27FC236}">
                  <a16:creationId xmlns:a16="http://schemas.microsoft.com/office/drawing/2014/main" id="{6A023291-21C9-A531-6972-FD6CC853CF50}"/>
                </a:ext>
              </a:extLst>
            </p:cNvPr>
            <p:cNvSpPr>
              <a:spLocks/>
            </p:cNvSpPr>
            <p:nvPr/>
          </p:nvSpPr>
          <p:spPr bwMode="gray">
            <a:xfrm>
              <a:off x="9108528" y="5741179"/>
              <a:ext cx="195784" cy="602263"/>
            </a:xfrm>
            <a:custGeom>
              <a:avLst/>
              <a:gdLst>
                <a:gd name="T0" fmla="*/ 0 w 5711"/>
                <a:gd name="T1" fmla="*/ 375 h 17568"/>
                <a:gd name="T2" fmla="*/ 1039 w 5711"/>
                <a:gd name="T3" fmla="*/ 17280 h 17568"/>
                <a:gd name="T4" fmla="*/ 4846 w 5711"/>
                <a:gd name="T5" fmla="*/ 17568 h 17568"/>
                <a:gd name="T6" fmla="*/ 5048 w 5711"/>
                <a:gd name="T7" fmla="*/ 2221 h 17568"/>
                <a:gd name="T8" fmla="*/ 5711 w 5711"/>
                <a:gd name="T9" fmla="*/ 0 h 17568"/>
                <a:gd name="T10" fmla="*/ 0 w 5711"/>
                <a:gd name="T11" fmla="*/ 375 h 17568"/>
              </a:gdLst>
              <a:ahLst/>
              <a:cxnLst>
                <a:cxn ang="0">
                  <a:pos x="T0" y="T1"/>
                </a:cxn>
                <a:cxn ang="0">
                  <a:pos x="T2" y="T3"/>
                </a:cxn>
                <a:cxn ang="0">
                  <a:pos x="T4" y="T5"/>
                </a:cxn>
                <a:cxn ang="0">
                  <a:pos x="T6" y="T7"/>
                </a:cxn>
                <a:cxn ang="0">
                  <a:pos x="T8" y="T9"/>
                </a:cxn>
                <a:cxn ang="0">
                  <a:pos x="T10" y="T11"/>
                </a:cxn>
              </a:cxnLst>
              <a:rect l="0" t="0" r="r" b="b"/>
              <a:pathLst>
                <a:path w="5711" h="17568">
                  <a:moveTo>
                    <a:pt x="0" y="375"/>
                  </a:moveTo>
                  <a:lnTo>
                    <a:pt x="1039" y="17280"/>
                  </a:lnTo>
                  <a:lnTo>
                    <a:pt x="4846" y="17568"/>
                  </a:lnTo>
                  <a:lnTo>
                    <a:pt x="5048" y="2221"/>
                  </a:lnTo>
                  <a:lnTo>
                    <a:pt x="5711" y="0"/>
                  </a:lnTo>
                  <a:lnTo>
                    <a:pt x="0" y="375"/>
                  </a:ln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8" name="Freeform 2182">
              <a:extLst>
                <a:ext uri="{FF2B5EF4-FFF2-40B4-BE49-F238E27FC236}">
                  <a16:creationId xmlns:a16="http://schemas.microsoft.com/office/drawing/2014/main" id="{A7D9E244-FD59-B68B-D068-E913181B7B32}"/>
                </a:ext>
              </a:extLst>
            </p:cNvPr>
            <p:cNvSpPr>
              <a:spLocks/>
            </p:cNvSpPr>
            <p:nvPr/>
          </p:nvSpPr>
          <p:spPr bwMode="gray">
            <a:xfrm>
              <a:off x="9067006" y="6259384"/>
              <a:ext cx="213575" cy="83065"/>
            </a:xfrm>
            <a:custGeom>
              <a:avLst/>
              <a:gdLst>
                <a:gd name="T0" fmla="*/ 108 w 216"/>
                <a:gd name="T1" fmla="*/ 0 h 84"/>
                <a:gd name="T2" fmla="*/ 211 w 216"/>
                <a:gd name="T3" fmla="*/ 0 h 84"/>
                <a:gd name="T4" fmla="*/ 216 w 216"/>
                <a:gd name="T5" fmla="*/ 84 h 84"/>
                <a:gd name="T6" fmla="*/ 108 w 216"/>
                <a:gd name="T7" fmla="*/ 84 h 84"/>
                <a:gd name="T8" fmla="*/ 0 w 216"/>
                <a:gd name="T9" fmla="*/ 84 h 84"/>
                <a:gd name="T10" fmla="*/ 44 w 216"/>
                <a:gd name="T11" fmla="*/ 0 h 84"/>
                <a:gd name="T12" fmla="*/ 108 w 216"/>
                <a:gd name="T13" fmla="*/ 0 h 84"/>
                <a:gd name="T14" fmla="*/ 108 w 216"/>
                <a:gd name="T15" fmla="*/ 0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 h="84">
                  <a:moveTo>
                    <a:pt x="108" y="0"/>
                  </a:moveTo>
                  <a:cubicBezTo>
                    <a:pt x="209" y="0"/>
                    <a:pt x="211" y="0"/>
                    <a:pt x="211" y="0"/>
                  </a:cubicBezTo>
                  <a:cubicBezTo>
                    <a:pt x="216" y="84"/>
                    <a:pt x="216" y="84"/>
                    <a:pt x="216" y="84"/>
                  </a:cubicBezTo>
                  <a:cubicBezTo>
                    <a:pt x="108" y="84"/>
                    <a:pt x="108" y="84"/>
                    <a:pt x="108" y="84"/>
                  </a:cubicBezTo>
                  <a:cubicBezTo>
                    <a:pt x="0" y="84"/>
                    <a:pt x="0" y="84"/>
                    <a:pt x="0" y="84"/>
                  </a:cubicBezTo>
                  <a:cubicBezTo>
                    <a:pt x="44" y="0"/>
                    <a:pt x="44" y="0"/>
                    <a:pt x="44" y="0"/>
                  </a:cubicBezTo>
                  <a:cubicBezTo>
                    <a:pt x="108" y="0"/>
                    <a:pt x="108" y="0"/>
                    <a:pt x="108" y="0"/>
                  </a:cubicBezTo>
                  <a:cubicBezTo>
                    <a:pt x="108" y="0"/>
                    <a:pt x="108" y="0"/>
                    <a:pt x="108" y="0"/>
                  </a:cubicBezTo>
                  <a:close/>
                </a:path>
              </a:pathLst>
            </a:custGeom>
            <a:solidFill>
              <a:srgbClr val="2B2B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59" name="Freeform 2183">
              <a:extLst>
                <a:ext uri="{FF2B5EF4-FFF2-40B4-BE49-F238E27FC236}">
                  <a16:creationId xmlns:a16="http://schemas.microsoft.com/office/drawing/2014/main" id="{6BE97FC9-CE89-A1D2-A905-372203F0784E}"/>
                </a:ext>
              </a:extLst>
            </p:cNvPr>
            <p:cNvSpPr>
              <a:spLocks/>
            </p:cNvSpPr>
            <p:nvPr/>
          </p:nvSpPr>
          <p:spPr bwMode="gray">
            <a:xfrm>
              <a:off x="9305299" y="5767885"/>
              <a:ext cx="433081" cy="62290"/>
            </a:xfrm>
            <a:custGeom>
              <a:avLst/>
              <a:gdLst>
                <a:gd name="T0" fmla="*/ 45 w 438"/>
                <a:gd name="T1" fmla="*/ 0 h 63"/>
                <a:gd name="T2" fmla="*/ 393 w 438"/>
                <a:gd name="T3" fmla="*/ 0 h 63"/>
                <a:gd name="T4" fmla="*/ 438 w 438"/>
                <a:gd name="T5" fmla="*/ 63 h 63"/>
                <a:gd name="T6" fmla="*/ 0 w 438"/>
                <a:gd name="T7" fmla="*/ 63 h 63"/>
                <a:gd name="T8" fmla="*/ 45 w 438"/>
                <a:gd name="T9" fmla="*/ 0 h 63"/>
              </a:gdLst>
              <a:ahLst/>
              <a:cxnLst>
                <a:cxn ang="0">
                  <a:pos x="T0" y="T1"/>
                </a:cxn>
                <a:cxn ang="0">
                  <a:pos x="T2" y="T3"/>
                </a:cxn>
                <a:cxn ang="0">
                  <a:pos x="T4" y="T5"/>
                </a:cxn>
                <a:cxn ang="0">
                  <a:pos x="T6" y="T7"/>
                </a:cxn>
                <a:cxn ang="0">
                  <a:pos x="T8" y="T9"/>
                </a:cxn>
              </a:cxnLst>
              <a:rect l="0" t="0" r="r" b="b"/>
              <a:pathLst>
                <a:path w="438" h="63">
                  <a:moveTo>
                    <a:pt x="45" y="0"/>
                  </a:moveTo>
                  <a:cubicBezTo>
                    <a:pt x="393" y="0"/>
                    <a:pt x="393" y="0"/>
                    <a:pt x="393" y="0"/>
                  </a:cubicBezTo>
                  <a:cubicBezTo>
                    <a:pt x="418" y="0"/>
                    <a:pt x="438" y="28"/>
                    <a:pt x="438" y="63"/>
                  </a:cubicBezTo>
                  <a:cubicBezTo>
                    <a:pt x="0" y="63"/>
                    <a:pt x="0" y="63"/>
                    <a:pt x="0" y="63"/>
                  </a:cubicBezTo>
                  <a:cubicBezTo>
                    <a:pt x="0" y="28"/>
                    <a:pt x="20" y="0"/>
                    <a:pt x="45"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0" name="Freeform 2184">
              <a:extLst>
                <a:ext uri="{FF2B5EF4-FFF2-40B4-BE49-F238E27FC236}">
                  <a16:creationId xmlns:a16="http://schemas.microsoft.com/office/drawing/2014/main" id="{75016048-ABE7-618C-083A-3EBA310D02C1}"/>
                </a:ext>
              </a:extLst>
            </p:cNvPr>
            <p:cNvSpPr>
              <a:spLocks/>
            </p:cNvSpPr>
            <p:nvPr/>
          </p:nvSpPr>
          <p:spPr bwMode="gray">
            <a:xfrm>
              <a:off x="9305299" y="5825238"/>
              <a:ext cx="433081" cy="42510"/>
            </a:xfrm>
            <a:custGeom>
              <a:avLst/>
              <a:gdLst>
                <a:gd name="T0" fmla="*/ 12633 w 12633"/>
                <a:gd name="T1" fmla="*/ 0 h 1240"/>
                <a:gd name="T2" fmla="*/ 0 w 12633"/>
                <a:gd name="T3" fmla="*/ 0 h 1240"/>
                <a:gd name="T4" fmla="*/ 0 w 12633"/>
                <a:gd name="T5" fmla="*/ 1240 h 1240"/>
                <a:gd name="T6" fmla="*/ 12633 w 12633"/>
                <a:gd name="T7" fmla="*/ 1240 h 1240"/>
                <a:gd name="T8" fmla="*/ 12633 w 12633"/>
                <a:gd name="T9" fmla="*/ 0 h 1240"/>
                <a:gd name="T10" fmla="*/ 12633 w 12633"/>
                <a:gd name="T11" fmla="*/ 0 h 1240"/>
              </a:gdLst>
              <a:ahLst/>
              <a:cxnLst>
                <a:cxn ang="0">
                  <a:pos x="T0" y="T1"/>
                </a:cxn>
                <a:cxn ang="0">
                  <a:pos x="T2" y="T3"/>
                </a:cxn>
                <a:cxn ang="0">
                  <a:pos x="T4" y="T5"/>
                </a:cxn>
                <a:cxn ang="0">
                  <a:pos x="T6" y="T7"/>
                </a:cxn>
                <a:cxn ang="0">
                  <a:pos x="T8" y="T9"/>
                </a:cxn>
                <a:cxn ang="0">
                  <a:pos x="T10" y="T11"/>
                </a:cxn>
              </a:cxnLst>
              <a:rect l="0" t="0" r="r" b="b"/>
              <a:pathLst>
                <a:path w="12633" h="1240">
                  <a:moveTo>
                    <a:pt x="12633" y="0"/>
                  </a:moveTo>
                  <a:lnTo>
                    <a:pt x="0" y="0"/>
                  </a:lnTo>
                  <a:lnTo>
                    <a:pt x="0" y="1240"/>
                  </a:lnTo>
                  <a:lnTo>
                    <a:pt x="12633" y="1240"/>
                  </a:lnTo>
                  <a:lnTo>
                    <a:pt x="12633" y="0"/>
                  </a:lnTo>
                  <a:lnTo>
                    <a:pt x="12633"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1" name="Freeform 2185">
              <a:extLst>
                <a:ext uri="{FF2B5EF4-FFF2-40B4-BE49-F238E27FC236}">
                  <a16:creationId xmlns:a16="http://schemas.microsoft.com/office/drawing/2014/main" id="{DDCE3E6E-CCA1-13F9-1FB8-E34D80DF5699}"/>
                </a:ext>
              </a:extLst>
            </p:cNvPr>
            <p:cNvSpPr>
              <a:spLocks/>
            </p:cNvSpPr>
            <p:nvPr/>
          </p:nvSpPr>
          <p:spPr bwMode="gray">
            <a:xfrm>
              <a:off x="9326074" y="6115982"/>
              <a:ext cx="420226" cy="22763"/>
            </a:xfrm>
            <a:custGeom>
              <a:avLst/>
              <a:gdLst>
                <a:gd name="T0" fmla="*/ 12258 w 12258"/>
                <a:gd name="T1" fmla="*/ 0 h 664"/>
                <a:gd name="T2" fmla="*/ 0 w 12258"/>
                <a:gd name="T3" fmla="*/ 0 h 664"/>
                <a:gd name="T4" fmla="*/ 0 w 12258"/>
                <a:gd name="T5" fmla="*/ 664 h 664"/>
                <a:gd name="T6" fmla="*/ 12258 w 12258"/>
                <a:gd name="T7" fmla="*/ 664 h 664"/>
                <a:gd name="T8" fmla="*/ 12258 w 12258"/>
                <a:gd name="T9" fmla="*/ 0 h 664"/>
                <a:gd name="T10" fmla="*/ 12258 w 12258"/>
                <a:gd name="T11" fmla="*/ 0 h 664"/>
              </a:gdLst>
              <a:ahLst/>
              <a:cxnLst>
                <a:cxn ang="0">
                  <a:pos x="T0" y="T1"/>
                </a:cxn>
                <a:cxn ang="0">
                  <a:pos x="T2" y="T3"/>
                </a:cxn>
                <a:cxn ang="0">
                  <a:pos x="T4" y="T5"/>
                </a:cxn>
                <a:cxn ang="0">
                  <a:pos x="T6" y="T7"/>
                </a:cxn>
                <a:cxn ang="0">
                  <a:pos x="T8" y="T9"/>
                </a:cxn>
                <a:cxn ang="0">
                  <a:pos x="T10" y="T11"/>
                </a:cxn>
              </a:cxnLst>
              <a:rect l="0" t="0" r="r" b="b"/>
              <a:pathLst>
                <a:path w="12258" h="664">
                  <a:moveTo>
                    <a:pt x="12258" y="0"/>
                  </a:moveTo>
                  <a:lnTo>
                    <a:pt x="0" y="0"/>
                  </a:lnTo>
                  <a:lnTo>
                    <a:pt x="0" y="664"/>
                  </a:lnTo>
                  <a:lnTo>
                    <a:pt x="12258" y="664"/>
                  </a:lnTo>
                  <a:lnTo>
                    <a:pt x="12258" y="0"/>
                  </a:lnTo>
                  <a:lnTo>
                    <a:pt x="12258" y="0"/>
                  </a:lnTo>
                  <a:close/>
                </a:path>
              </a:pathLst>
            </a:custGeom>
            <a:solidFill>
              <a:srgbClr val="2D37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2" name="Freeform 2186">
              <a:extLst>
                <a:ext uri="{FF2B5EF4-FFF2-40B4-BE49-F238E27FC236}">
                  <a16:creationId xmlns:a16="http://schemas.microsoft.com/office/drawing/2014/main" id="{A89C0016-68F5-D78F-5A85-CE8B567508A8}"/>
                </a:ext>
              </a:extLst>
            </p:cNvPr>
            <p:cNvSpPr>
              <a:spLocks/>
            </p:cNvSpPr>
            <p:nvPr/>
          </p:nvSpPr>
          <p:spPr bwMode="gray">
            <a:xfrm>
              <a:off x="9712667" y="5456365"/>
              <a:ext cx="52417" cy="883135"/>
            </a:xfrm>
            <a:custGeom>
              <a:avLst/>
              <a:gdLst>
                <a:gd name="T0" fmla="*/ 1529 w 1529"/>
                <a:gd name="T1" fmla="*/ 0 h 25761"/>
                <a:gd name="T2" fmla="*/ 0 w 1529"/>
                <a:gd name="T3" fmla="*/ 0 h 25761"/>
                <a:gd name="T4" fmla="*/ 0 w 1529"/>
                <a:gd name="T5" fmla="*/ 25761 h 25761"/>
                <a:gd name="T6" fmla="*/ 1529 w 1529"/>
                <a:gd name="T7" fmla="*/ 25761 h 25761"/>
                <a:gd name="T8" fmla="*/ 1529 w 1529"/>
                <a:gd name="T9" fmla="*/ 0 h 25761"/>
                <a:gd name="T10" fmla="*/ 1529 w 1529"/>
                <a:gd name="T11" fmla="*/ 0 h 25761"/>
              </a:gdLst>
              <a:ahLst/>
              <a:cxnLst>
                <a:cxn ang="0">
                  <a:pos x="T0" y="T1"/>
                </a:cxn>
                <a:cxn ang="0">
                  <a:pos x="T2" y="T3"/>
                </a:cxn>
                <a:cxn ang="0">
                  <a:pos x="T4" y="T5"/>
                </a:cxn>
                <a:cxn ang="0">
                  <a:pos x="T6" y="T7"/>
                </a:cxn>
                <a:cxn ang="0">
                  <a:pos x="T8" y="T9"/>
                </a:cxn>
                <a:cxn ang="0">
                  <a:pos x="T10" y="T11"/>
                </a:cxn>
              </a:cxnLst>
              <a:rect l="0" t="0" r="r" b="b"/>
              <a:pathLst>
                <a:path w="1529" h="25761">
                  <a:moveTo>
                    <a:pt x="1529" y="0"/>
                  </a:moveTo>
                  <a:lnTo>
                    <a:pt x="0" y="0"/>
                  </a:lnTo>
                  <a:lnTo>
                    <a:pt x="0" y="25761"/>
                  </a:lnTo>
                  <a:lnTo>
                    <a:pt x="1529" y="25761"/>
                  </a:lnTo>
                  <a:lnTo>
                    <a:pt x="1529" y="0"/>
                  </a:lnTo>
                  <a:lnTo>
                    <a:pt x="1529"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3" name="Freeform 2187">
              <a:extLst>
                <a:ext uri="{FF2B5EF4-FFF2-40B4-BE49-F238E27FC236}">
                  <a16:creationId xmlns:a16="http://schemas.microsoft.com/office/drawing/2014/main" id="{766E4C25-075A-6CB4-D94C-4D2794CBD6B1}"/>
                </a:ext>
              </a:extLst>
            </p:cNvPr>
            <p:cNvSpPr>
              <a:spLocks/>
            </p:cNvSpPr>
            <p:nvPr/>
          </p:nvSpPr>
          <p:spPr bwMode="gray">
            <a:xfrm>
              <a:off x="9304304" y="5825239"/>
              <a:ext cx="44498" cy="517211"/>
            </a:xfrm>
            <a:custGeom>
              <a:avLst/>
              <a:gdLst>
                <a:gd name="T0" fmla="*/ 1298 w 1298"/>
                <a:gd name="T1" fmla="*/ 0 h 15087"/>
                <a:gd name="T2" fmla="*/ 0 w 1298"/>
                <a:gd name="T3" fmla="*/ 0 h 15087"/>
                <a:gd name="T4" fmla="*/ 0 w 1298"/>
                <a:gd name="T5" fmla="*/ 15087 h 15087"/>
                <a:gd name="T6" fmla="*/ 1298 w 1298"/>
                <a:gd name="T7" fmla="*/ 15087 h 15087"/>
                <a:gd name="T8" fmla="*/ 1298 w 1298"/>
                <a:gd name="T9" fmla="*/ 0 h 15087"/>
                <a:gd name="T10" fmla="*/ 1298 w 1298"/>
                <a:gd name="T11" fmla="*/ 0 h 15087"/>
              </a:gdLst>
              <a:ahLst/>
              <a:cxnLst>
                <a:cxn ang="0">
                  <a:pos x="T0" y="T1"/>
                </a:cxn>
                <a:cxn ang="0">
                  <a:pos x="T2" y="T3"/>
                </a:cxn>
                <a:cxn ang="0">
                  <a:pos x="T4" y="T5"/>
                </a:cxn>
                <a:cxn ang="0">
                  <a:pos x="T6" y="T7"/>
                </a:cxn>
                <a:cxn ang="0">
                  <a:pos x="T8" y="T9"/>
                </a:cxn>
                <a:cxn ang="0">
                  <a:pos x="T10" y="T11"/>
                </a:cxn>
              </a:cxnLst>
              <a:rect l="0" t="0" r="r" b="b"/>
              <a:pathLst>
                <a:path w="1298" h="15087">
                  <a:moveTo>
                    <a:pt x="1298" y="0"/>
                  </a:moveTo>
                  <a:lnTo>
                    <a:pt x="0" y="0"/>
                  </a:lnTo>
                  <a:lnTo>
                    <a:pt x="0" y="15087"/>
                  </a:lnTo>
                  <a:lnTo>
                    <a:pt x="1298" y="15087"/>
                  </a:lnTo>
                  <a:lnTo>
                    <a:pt x="1298" y="0"/>
                  </a:lnTo>
                  <a:lnTo>
                    <a:pt x="1298" y="0"/>
                  </a:lnTo>
                  <a:close/>
                </a:path>
              </a:pathLst>
            </a:custGeom>
            <a:solidFill>
              <a:srgbClr val="3C46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4" name="Freeform 2188">
              <a:extLst>
                <a:ext uri="{FF2B5EF4-FFF2-40B4-BE49-F238E27FC236}">
                  <a16:creationId xmlns:a16="http://schemas.microsoft.com/office/drawing/2014/main" id="{5CA6D02C-C94C-1FDE-5189-75B682DD780D}"/>
                </a:ext>
              </a:extLst>
            </p:cNvPr>
            <p:cNvSpPr>
              <a:spLocks/>
            </p:cNvSpPr>
            <p:nvPr/>
          </p:nvSpPr>
          <p:spPr bwMode="gray">
            <a:xfrm>
              <a:off x="9712664" y="5221981"/>
              <a:ext cx="52417" cy="234385"/>
            </a:xfrm>
            <a:custGeom>
              <a:avLst/>
              <a:gdLst>
                <a:gd name="T0" fmla="*/ 13 w 53"/>
                <a:gd name="T1" fmla="*/ 0 h 237"/>
                <a:gd name="T2" fmla="*/ 39 w 53"/>
                <a:gd name="T3" fmla="*/ 0 h 237"/>
                <a:gd name="T4" fmla="*/ 53 w 53"/>
                <a:gd name="T5" fmla="*/ 134 h 237"/>
                <a:gd name="T6" fmla="*/ 53 w 53"/>
                <a:gd name="T7" fmla="*/ 237 h 237"/>
                <a:gd name="T8" fmla="*/ 0 w 53"/>
                <a:gd name="T9" fmla="*/ 237 h 237"/>
                <a:gd name="T10" fmla="*/ 0 w 53"/>
                <a:gd name="T11" fmla="*/ 134 h 237"/>
                <a:gd name="T12" fmla="*/ 13 w 53"/>
                <a:gd name="T13" fmla="*/ 0 h 237"/>
              </a:gdLst>
              <a:ahLst/>
              <a:cxnLst>
                <a:cxn ang="0">
                  <a:pos x="T0" y="T1"/>
                </a:cxn>
                <a:cxn ang="0">
                  <a:pos x="T2" y="T3"/>
                </a:cxn>
                <a:cxn ang="0">
                  <a:pos x="T4" y="T5"/>
                </a:cxn>
                <a:cxn ang="0">
                  <a:pos x="T6" y="T7"/>
                </a:cxn>
                <a:cxn ang="0">
                  <a:pos x="T8" y="T9"/>
                </a:cxn>
                <a:cxn ang="0">
                  <a:pos x="T10" y="T11"/>
                </a:cxn>
                <a:cxn ang="0">
                  <a:pos x="T12" y="T13"/>
                </a:cxn>
              </a:cxnLst>
              <a:rect l="0" t="0" r="r" b="b"/>
              <a:pathLst>
                <a:path w="53" h="237">
                  <a:moveTo>
                    <a:pt x="13" y="0"/>
                  </a:moveTo>
                  <a:cubicBezTo>
                    <a:pt x="39" y="0"/>
                    <a:pt x="39" y="0"/>
                    <a:pt x="39" y="0"/>
                  </a:cubicBezTo>
                  <a:cubicBezTo>
                    <a:pt x="47" y="0"/>
                    <a:pt x="53" y="60"/>
                    <a:pt x="53" y="134"/>
                  </a:cubicBezTo>
                  <a:cubicBezTo>
                    <a:pt x="53" y="237"/>
                    <a:pt x="53" y="237"/>
                    <a:pt x="53" y="237"/>
                  </a:cubicBezTo>
                  <a:cubicBezTo>
                    <a:pt x="0" y="237"/>
                    <a:pt x="0" y="237"/>
                    <a:pt x="0" y="237"/>
                  </a:cubicBezTo>
                  <a:cubicBezTo>
                    <a:pt x="0" y="134"/>
                    <a:pt x="0" y="134"/>
                    <a:pt x="0" y="134"/>
                  </a:cubicBezTo>
                  <a:cubicBezTo>
                    <a:pt x="0" y="60"/>
                    <a:pt x="6" y="0"/>
                    <a:pt x="13" y="0"/>
                  </a:cubicBezTo>
                  <a:close/>
                </a:path>
              </a:pathLst>
            </a:custGeom>
            <a:solidFill>
              <a:srgbClr val="7887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5" name="Freeform 2189">
              <a:extLst>
                <a:ext uri="{FF2B5EF4-FFF2-40B4-BE49-F238E27FC236}">
                  <a16:creationId xmlns:a16="http://schemas.microsoft.com/office/drawing/2014/main" id="{2B1BB3D9-580C-C593-110C-6A3743032322}"/>
                </a:ext>
              </a:extLst>
            </p:cNvPr>
            <p:cNvSpPr>
              <a:spLocks/>
            </p:cNvSpPr>
            <p:nvPr/>
          </p:nvSpPr>
          <p:spPr bwMode="gray">
            <a:xfrm>
              <a:off x="9108509" y="5551292"/>
              <a:ext cx="489474" cy="216593"/>
            </a:xfrm>
            <a:custGeom>
              <a:avLst/>
              <a:gdLst>
                <a:gd name="T0" fmla="*/ 0 w 14278"/>
                <a:gd name="T1" fmla="*/ 6318 h 6318"/>
                <a:gd name="T2" fmla="*/ 14278 w 14278"/>
                <a:gd name="T3" fmla="*/ 6318 h 6318"/>
                <a:gd name="T4" fmla="*/ 14278 w 14278"/>
                <a:gd name="T5" fmla="*/ 0 h 6318"/>
                <a:gd name="T6" fmla="*/ 1962 w 14278"/>
                <a:gd name="T7" fmla="*/ 1472 h 6318"/>
                <a:gd name="T8" fmla="*/ 0 w 14278"/>
                <a:gd name="T9" fmla="*/ 3375 h 6318"/>
                <a:gd name="T10" fmla="*/ 0 w 14278"/>
                <a:gd name="T11" fmla="*/ 6318 h 6318"/>
              </a:gdLst>
              <a:ahLst/>
              <a:cxnLst>
                <a:cxn ang="0">
                  <a:pos x="T0" y="T1"/>
                </a:cxn>
                <a:cxn ang="0">
                  <a:pos x="T2" y="T3"/>
                </a:cxn>
                <a:cxn ang="0">
                  <a:pos x="T4" y="T5"/>
                </a:cxn>
                <a:cxn ang="0">
                  <a:pos x="T6" y="T7"/>
                </a:cxn>
                <a:cxn ang="0">
                  <a:pos x="T8" y="T9"/>
                </a:cxn>
                <a:cxn ang="0">
                  <a:pos x="T10" y="T11"/>
                </a:cxn>
              </a:cxnLst>
              <a:rect l="0" t="0" r="r" b="b"/>
              <a:pathLst>
                <a:path w="14278" h="6318">
                  <a:moveTo>
                    <a:pt x="0" y="6318"/>
                  </a:moveTo>
                  <a:lnTo>
                    <a:pt x="14278" y="6318"/>
                  </a:lnTo>
                  <a:lnTo>
                    <a:pt x="14278" y="0"/>
                  </a:lnTo>
                  <a:lnTo>
                    <a:pt x="1962" y="1472"/>
                  </a:lnTo>
                  <a:lnTo>
                    <a:pt x="0" y="3375"/>
                  </a:lnTo>
                  <a:lnTo>
                    <a:pt x="0" y="6318"/>
                  </a:ln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6" name="Freeform 2190">
              <a:extLst>
                <a:ext uri="{FF2B5EF4-FFF2-40B4-BE49-F238E27FC236}">
                  <a16:creationId xmlns:a16="http://schemas.microsoft.com/office/drawing/2014/main" id="{387D0AAE-5695-DF10-6483-0DE6A018B11E}"/>
                </a:ext>
              </a:extLst>
            </p:cNvPr>
            <p:cNvSpPr>
              <a:spLocks/>
            </p:cNvSpPr>
            <p:nvPr/>
          </p:nvSpPr>
          <p:spPr bwMode="gray">
            <a:xfrm>
              <a:off x="9488213" y="5575046"/>
              <a:ext cx="212581" cy="192836"/>
            </a:xfrm>
            <a:custGeom>
              <a:avLst/>
              <a:gdLst>
                <a:gd name="T0" fmla="*/ 172 w 215"/>
                <a:gd name="T1" fmla="*/ 195 h 195"/>
                <a:gd name="T2" fmla="*/ 23 w 215"/>
                <a:gd name="T3" fmla="*/ 195 h 195"/>
                <a:gd name="T4" fmla="*/ 0 w 215"/>
                <a:gd name="T5" fmla="*/ 172 h 195"/>
                <a:gd name="T6" fmla="*/ 0 w 215"/>
                <a:gd name="T7" fmla="*/ 23 h 195"/>
                <a:gd name="T8" fmla="*/ 23 w 215"/>
                <a:gd name="T9" fmla="*/ 0 h 195"/>
                <a:gd name="T10" fmla="*/ 192 w 215"/>
                <a:gd name="T11" fmla="*/ 0 h 195"/>
                <a:gd name="T12" fmla="*/ 215 w 215"/>
                <a:gd name="T13" fmla="*/ 23 h 195"/>
                <a:gd name="T14" fmla="*/ 215 w 215"/>
                <a:gd name="T15" fmla="*/ 152 h 195"/>
                <a:gd name="T16" fmla="*/ 172 w 215"/>
                <a:gd name="T1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5" h="195">
                  <a:moveTo>
                    <a:pt x="172" y="195"/>
                  </a:moveTo>
                  <a:cubicBezTo>
                    <a:pt x="23" y="195"/>
                    <a:pt x="23" y="195"/>
                    <a:pt x="23" y="195"/>
                  </a:cubicBezTo>
                  <a:cubicBezTo>
                    <a:pt x="11" y="195"/>
                    <a:pt x="0" y="185"/>
                    <a:pt x="0" y="172"/>
                  </a:cubicBezTo>
                  <a:cubicBezTo>
                    <a:pt x="0" y="23"/>
                    <a:pt x="0" y="23"/>
                    <a:pt x="0" y="23"/>
                  </a:cubicBezTo>
                  <a:cubicBezTo>
                    <a:pt x="0" y="11"/>
                    <a:pt x="11" y="0"/>
                    <a:pt x="23" y="0"/>
                  </a:cubicBezTo>
                  <a:cubicBezTo>
                    <a:pt x="192" y="0"/>
                    <a:pt x="192" y="0"/>
                    <a:pt x="192" y="0"/>
                  </a:cubicBezTo>
                  <a:cubicBezTo>
                    <a:pt x="205" y="0"/>
                    <a:pt x="215" y="11"/>
                    <a:pt x="215" y="23"/>
                  </a:cubicBezTo>
                  <a:cubicBezTo>
                    <a:pt x="215" y="152"/>
                    <a:pt x="215" y="152"/>
                    <a:pt x="215" y="152"/>
                  </a:cubicBezTo>
                  <a:cubicBezTo>
                    <a:pt x="198" y="169"/>
                    <a:pt x="189" y="178"/>
                    <a:pt x="172" y="195"/>
                  </a:cubicBezTo>
                  <a:close/>
                </a:path>
              </a:pathLst>
            </a:custGeom>
            <a:solidFill>
              <a:srgbClr val="6978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7" name="Freeform 2191">
              <a:extLst>
                <a:ext uri="{FF2B5EF4-FFF2-40B4-BE49-F238E27FC236}">
                  <a16:creationId xmlns:a16="http://schemas.microsoft.com/office/drawing/2014/main" id="{41162A40-B9DC-693A-4BC3-9F687165E4C5}"/>
                </a:ext>
              </a:extLst>
            </p:cNvPr>
            <p:cNvSpPr>
              <a:spLocks/>
            </p:cNvSpPr>
            <p:nvPr/>
          </p:nvSpPr>
          <p:spPr bwMode="gray">
            <a:xfrm>
              <a:off x="9385370" y="5511727"/>
              <a:ext cx="315426" cy="90025"/>
            </a:xfrm>
            <a:custGeom>
              <a:avLst/>
              <a:gdLst>
                <a:gd name="T0" fmla="*/ 1529 w 9201"/>
                <a:gd name="T1" fmla="*/ 2135 h 2626"/>
                <a:gd name="T2" fmla="*/ 9201 w 9201"/>
                <a:gd name="T3" fmla="*/ 2626 h 2626"/>
                <a:gd name="T4" fmla="*/ 9201 w 9201"/>
                <a:gd name="T5" fmla="*/ 0 h 2626"/>
                <a:gd name="T6" fmla="*/ 0 w 9201"/>
                <a:gd name="T7" fmla="*/ 750 h 2626"/>
                <a:gd name="T8" fmla="*/ 87 w 9201"/>
                <a:gd name="T9" fmla="*/ 1876 h 2626"/>
                <a:gd name="T10" fmla="*/ 1529 w 9201"/>
                <a:gd name="T11" fmla="*/ 2135 h 2626"/>
              </a:gdLst>
              <a:ahLst/>
              <a:cxnLst>
                <a:cxn ang="0">
                  <a:pos x="T0" y="T1"/>
                </a:cxn>
                <a:cxn ang="0">
                  <a:pos x="T2" y="T3"/>
                </a:cxn>
                <a:cxn ang="0">
                  <a:pos x="T4" y="T5"/>
                </a:cxn>
                <a:cxn ang="0">
                  <a:pos x="T6" y="T7"/>
                </a:cxn>
                <a:cxn ang="0">
                  <a:pos x="T8" y="T9"/>
                </a:cxn>
                <a:cxn ang="0">
                  <a:pos x="T10" y="T11"/>
                </a:cxn>
              </a:cxnLst>
              <a:rect l="0" t="0" r="r" b="b"/>
              <a:pathLst>
                <a:path w="9201" h="2626">
                  <a:moveTo>
                    <a:pt x="1529" y="2135"/>
                  </a:moveTo>
                  <a:lnTo>
                    <a:pt x="9201" y="2626"/>
                  </a:lnTo>
                  <a:lnTo>
                    <a:pt x="9201" y="0"/>
                  </a:lnTo>
                  <a:lnTo>
                    <a:pt x="0" y="750"/>
                  </a:lnTo>
                  <a:lnTo>
                    <a:pt x="87" y="1876"/>
                  </a:lnTo>
                  <a:lnTo>
                    <a:pt x="1529" y="2135"/>
                  </a:lnTo>
                  <a:close/>
                </a:path>
              </a:pathLst>
            </a:custGeom>
            <a:solidFill>
              <a:srgbClr val="3296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8" name="Freeform 2192">
              <a:extLst>
                <a:ext uri="{FF2B5EF4-FFF2-40B4-BE49-F238E27FC236}">
                  <a16:creationId xmlns:a16="http://schemas.microsoft.com/office/drawing/2014/main" id="{6F67ABE0-C3A3-1464-2F30-B8AA5047569D}"/>
                </a:ext>
              </a:extLst>
            </p:cNvPr>
            <p:cNvSpPr>
              <a:spLocks/>
            </p:cNvSpPr>
            <p:nvPr/>
          </p:nvSpPr>
          <p:spPr bwMode="gray">
            <a:xfrm>
              <a:off x="9271657" y="5088484"/>
              <a:ext cx="252143" cy="398526"/>
            </a:xfrm>
            <a:custGeom>
              <a:avLst/>
              <a:gdLst>
                <a:gd name="T0" fmla="*/ 1587 w 7355"/>
                <a:gd name="T1" fmla="*/ 11625 h 11625"/>
                <a:gd name="T2" fmla="*/ 7355 w 7355"/>
                <a:gd name="T3" fmla="*/ 4875 h 11625"/>
                <a:gd name="T4" fmla="*/ 5625 w 7355"/>
                <a:gd name="T5" fmla="*/ 0 h 11625"/>
                <a:gd name="T6" fmla="*/ 0 w 7355"/>
                <a:gd name="T7" fmla="*/ 9173 h 11625"/>
                <a:gd name="T8" fmla="*/ 1587 w 7355"/>
                <a:gd name="T9" fmla="*/ 11625 h 11625"/>
              </a:gdLst>
              <a:ahLst/>
              <a:cxnLst>
                <a:cxn ang="0">
                  <a:pos x="T0" y="T1"/>
                </a:cxn>
                <a:cxn ang="0">
                  <a:pos x="T2" y="T3"/>
                </a:cxn>
                <a:cxn ang="0">
                  <a:pos x="T4" y="T5"/>
                </a:cxn>
                <a:cxn ang="0">
                  <a:pos x="T6" y="T7"/>
                </a:cxn>
                <a:cxn ang="0">
                  <a:pos x="T8" y="T9"/>
                </a:cxn>
              </a:cxnLst>
              <a:rect l="0" t="0" r="r" b="b"/>
              <a:pathLst>
                <a:path w="7355" h="11625">
                  <a:moveTo>
                    <a:pt x="1587" y="11625"/>
                  </a:moveTo>
                  <a:lnTo>
                    <a:pt x="7355" y="4875"/>
                  </a:lnTo>
                  <a:lnTo>
                    <a:pt x="5625" y="0"/>
                  </a:lnTo>
                  <a:lnTo>
                    <a:pt x="0" y="9173"/>
                  </a:lnTo>
                  <a:lnTo>
                    <a:pt x="1587" y="11625"/>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69" name="Freeform 2193">
              <a:extLst>
                <a:ext uri="{FF2B5EF4-FFF2-40B4-BE49-F238E27FC236}">
                  <a16:creationId xmlns:a16="http://schemas.microsoft.com/office/drawing/2014/main" id="{067A1100-755E-A8A7-DEEA-41CFAD23D64E}"/>
                </a:ext>
              </a:extLst>
            </p:cNvPr>
            <p:cNvSpPr>
              <a:spLocks/>
            </p:cNvSpPr>
            <p:nvPr/>
          </p:nvSpPr>
          <p:spPr bwMode="gray">
            <a:xfrm>
              <a:off x="9150059" y="5399010"/>
              <a:ext cx="183922" cy="88001"/>
            </a:xfrm>
            <a:custGeom>
              <a:avLst/>
              <a:gdLst>
                <a:gd name="T0" fmla="*/ 0 w 5365"/>
                <a:gd name="T1" fmla="*/ 2336 h 2567"/>
                <a:gd name="T2" fmla="*/ 5134 w 5365"/>
                <a:gd name="T3" fmla="*/ 2567 h 2567"/>
                <a:gd name="T4" fmla="*/ 5365 w 5365"/>
                <a:gd name="T5" fmla="*/ 750 h 2567"/>
                <a:gd name="T6" fmla="*/ 3894 w 5365"/>
                <a:gd name="T7" fmla="*/ 0 h 2567"/>
                <a:gd name="T8" fmla="*/ 1442 w 5365"/>
                <a:gd name="T9" fmla="*/ 519 h 2567"/>
                <a:gd name="T10" fmla="*/ 0 w 5365"/>
                <a:gd name="T11" fmla="*/ 2336 h 2567"/>
              </a:gdLst>
              <a:ahLst/>
              <a:cxnLst>
                <a:cxn ang="0">
                  <a:pos x="T0" y="T1"/>
                </a:cxn>
                <a:cxn ang="0">
                  <a:pos x="T2" y="T3"/>
                </a:cxn>
                <a:cxn ang="0">
                  <a:pos x="T4" y="T5"/>
                </a:cxn>
                <a:cxn ang="0">
                  <a:pos x="T6" y="T7"/>
                </a:cxn>
                <a:cxn ang="0">
                  <a:pos x="T8" y="T9"/>
                </a:cxn>
                <a:cxn ang="0">
                  <a:pos x="T10" y="T11"/>
                </a:cxn>
              </a:cxnLst>
              <a:rect l="0" t="0" r="r" b="b"/>
              <a:pathLst>
                <a:path w="5365" h="2567">
                  <a:moveTo>
                    <a:pt x="0" y="2336"/>
                  </a:moveTo>
                  <a:lnTo>
                    <a:pt x="5134" y="2567"/>
                  </a:lnTo>
                  <a:lnTo>
                    <a:pt x="5365" y="750"/>
                  </a:lnTo>
                  <a:lnTo>
                    <a:pt x="3894" y="0"/>
                  </a:lnTo>
                  <a:lnTo>
                    <a:pt x="1442" y="519"/>
                  </a:lnTo>
                  <a:lnTo>
                    <a:pt x="0" y="2336"/>
                  </a:ln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0" name="Freeform 2194">
              <a:extLst>
                <a:ext uri="{FF2B5EF4-FFF2-40B4-BE49-F238E27FC236}">
                  <a16:creationId xmlns:a16="http://schemas.microsoft.com/office/drawing/2014/main" id="{259A7E8B-49B3-A177-666A-4169DBA96721}"/>
                </a:ext>
              </a:extLst>
            </p:cNvPr>
            <p:cNvSpPr>
              <a:spLocks/>
            </p:cNvSpPr>
            <p:nvPr/>
          </p:nvSpPr>
          <p:spPr bwMode="gray">
            <a:xfrm>
              <a:off x="9393286" y="4980666"/>
              <a:ext cx="255124" cy="288790"/>
            </a:xfrm>
            <a:custGeom>
              <a:avLst/>
              <a:gdLst>
                <a:gd name="T0" fmla="*/ 0 w 258"/>
                <a:gd name="T1" fmla="*/ 205 h 292"/>
                <a:gd name="T2" fmla="*/ 137 w 258"/>
                <a:gd name="T3" fmla="*/ 292 h 292"/>
                <a:gd name="T4" fmla="*/ 258 w 258"/>
                <a:gd name="T5" fmla="*/ 100 h 292"/>
                <a:gd name="T6" fmla="*/ 245 w 258"/>
                <a:gd name="T7" fmla="*/ 38 h 292"/>
                <a:gd name="T8" fmla="*/ 185 w 258"/>
                <a:gd name="T9" fmla="*/ 0 h 292"/>
                <a:gd name="T10" fmla="*/ 122 w 258"/>
                <a:gd name="T11" fmla="*/ 13 h 292"/>
                <a:gd name="T12" fmla="*/ 0 w 258"/>
                <a:gd name="T13" fmla="*/ 205 h 292"/>
              </a:gdLst>
              <a:ahLst/>
              <a:cxnLst>
                <a:cxn ang="0">
                  <a:pos x="T0" y="T1"/>
                </a:cxn>
                <a:cxn ang="0">
                  <a:pos x="T2" y="T3"/>
                </a:cxn>
                <a:cxn ang="0">
                  <a:pos x="T4" y="T5"/>
                </a:cxn>
                <a:cxn ang="0">
                  <a:pos x="T6" y="T7"/>
                </a:cxn>
                <a:cxn ang="0">
                  <a:pos x="T8" y="T9"/>
                </a:cxn>
                <a:cxn ang="0">
                  <a:pos x="T10" y="T11"/>
                </a:cxn>
                <a:cxn ang="0">
                  <a:pos x="T12" y="T13"/>
                </a:cxn>
              </a:cxnLst>
              <a:rect l="0" t="0" r="r" b="b"/>
              <a:pathLst>
                <a:path w="258" h="292">
                  <a:moveTo>
                    <a:pt x="0" y="205"/>
                  </a:moveTo>
                  <a:cubicBezTo>
                    <a:pt x="137" y="292"/>
                    <a:pt x="137" y="292"/>
                    <a:pt x="137" y="292"/>
                  </a:cubicBezTo>
                  <a:cubicBezTo>
                    <a:pt x="258" y="100"/>
                    <a:pt x="258" y="100"/>
                    <a:pt x="258" y="100"/>
                  </a:cubicBezTo>
                  <a:cubicBezTo>
                    <a:pt x="258" y="100"/>
                    <a:pt x="250" y="62"/>
                    <a:pt x="245" y="38"/>
                  </a:cubicBezTo>
                  <a:cubicBezTo>
                    <a:pt x="185" y="0"/>
                    <a:pt x="185" y="0"/>
                    <a:pt x="185" y="0"/>
                  </a:cubicBezTo>
                  <a:cubicBezTo>
                    <a:pt x="160" y="5"/>
                    <a:pt x="122" y="13"/>
                    <a:pt x="122" y="13"/>
                  </a:cubicBezTo>
                  <a:lnTo>
                    <a:pt x="0" y="205"/>
                  </a:lnTo>
                  <a:close/>
                </a:path>
              </a:pathLst>
            </a:custGeom>
            <a:solidFill>
              <a:srgbClr val="0F7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sp>
          <p:nvSpPr>
            <p:cNvPr id="171" name="Freeform 2195">
              <a:extLst>
                <a:ext uri="{FF2B5EF4-FFF2-40B4-BE49-F238E27FC236}">
                  <a16:creationId xmlns:a16="http://schemas.microsoft.com/office/drawing/2014/main" id="{E3696376-5BB4-5D0A-BB12-DA38DB252B4A}"/>
                </a:ext>
              </a:extLst>
            </p:cNvPr>
            <p:cNvSpPr>
              <a:spLocks/>
            </p:cNvSpPr>
            <p:nvPr/>
          </p:nvSpPr>
          <p:spPr bwMode="gray">
            <a:xfrm>
              <a:off x="9109517" y="5399029"/>
              <a:ext cx="105794" cy="80083"/>
            </a:xfrm>
            <a:custGeom>
              <a:avLst/>
              <a:gdLst>
                <a:gd name="T0" fmla="*/ 0 w 107"/>
                <a:gd name="T1" fmla="*/ 48 h 81"/>
                <a:gd name="T2" fmla="*/ 42 w 107"/>
                <a:gd name="T3" fmla="*/ 81 h 81"/>
                <a:gd name="T4" fmla="*/ 107 w 107"/>
                <a:gd name="T5" fmla="*/ 14 h 81"/>
                <a:gd name="T6" fmla="*/ 94 w 107"/>
                <a:gd name="T7" fmla="*/ 0 h 81"/>
                <a:gd name="T8" fmla="*/ 46 w 107"/>
                <a:gd name="T9" fmla="*/ 0 h 81"/>
                <a:gd name="T10" fmla="*/ 0 w 107"/>
                <a:gd name="T11" fmla="*/ 48 h 81"/>
              </a:gdLst>
              <a:ahLst/>
              <a:cxnLst>
                <a:cxn ang="0">
                  <a:pos x="T0" y="T1"/>
                </a:cxn>
                <a:cxn ang="0">
                  <a:pos x="T2" y="T3"/>
                </a:cxn>
                <a:cxn ang="0">
                  <a:pos x="T4" y="T5"/>
                </a:cxn>
                <a:cxn ang="0">
                  <a:pos x="T6" y="T7"/>
                </a:cxn>
                <a:cxn ang="0">
                  <a:pos x="T8" y="T9"/>
                </a:cxn>
                <a:cxn ang="0">
                  <a:pos x="T10" y="T11"/>
                </a:cxn>
              </a:cxnLst>
              <a:rect l="0" t="0" r="r" b="b"/>
              <a:pathLst>
                <a:path w="107" h="81">
                  <a:moveTo>
                    <a:pt x="0" y="48"/>
                  </a:moveTo>
                  <a:cubicBezTo>
                    <a:pt x="42" y="81"/>
                    <a:pt x="42" y="81"/>
                    <a:pt x="42" y="81"/>
                  </a:cubicBezTo>
                  <a:cubicBezTo>
                    <a:pt x="107" y="14"/>
                    <a:pt x="107" y="14"/>
                    <a:pt x="107" y="14"/>
                  </a:cubicBezTo>
                  <a:cubicBezTo>
                    <a:pt x="94" y="0"/>
                    <a:pt x="94" y="0"/>
                    <a:pt x="94" y="0"/>
                  </a:cubicBezTo>
                  <a:cubicBezTo>
                    <a:pt x="46" y="0"/>
                    <a:pt x="46" y="0"/>
                    <a:pt x="46" y="0"/>
                  </a:cubicBezTo>
                  <a:cubicBezTo>
                    <a:pt x="28" y="19"/>
                    <a:pt x="18" y="29"/>
                    <a:pt x="0" y="48"/>
                  </a:cubicBezTo>
                  <a:close/>
                </a:path>
              </a:pathLst>
            </a:custGeom>
            <a:solidFill>
              <a:srgbClr val="C8C8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US" sz="1799" dirty="0">
                <a:cs typeface="+mn-ea"/>
                <a:sym typeface="+mn-lt"/>
              </a:endParaRPr>
            </a:p>
          </p:txBody>
        </p:sp>
      </p:grpSp>
      <p:sp>
        <p:nvSpPr>
          <p:cNvPr id="9" name="Freeform 10">
            <a:extLst>
              <a:ext uri="{FF2B5EF4-FFF2-40B4-BE49-F238E27FC236}">
                <a16:creationId xmlns:a16="http://schemas.microsoft.com/office/drawing/2014/main" id="{2E12C5EE-6495-A6FC-0F5F-D7095A4F4757}"/>
              </a:ext>
            </a:extLst>
          </p:cNvPr>
          <p:cNvSpPr/>
          <p:nvPr/>
        </p:nvSpPr>
        <p:spPr bwMode="auto">
          <a:xfrm>
            <a:off x="1593823" y="1638954"/>
            <a:ext cx="2979055" cy="2238198"/>
          </a:xfrm>
          <a:custGeom>
            <a:avLst/>
            <a:gdLst>
              <a:gd name="connsiteX0" fmla="*/ 0 w 7170801"/>
              <a:gd name="connsiteY0" fmla="*/ 0 h 6032118"/>
              <a:gd name="connsiteX1" fmla="*/ 7170801 w 7170801"/>
              <a:gd name="connsiteY1" fmla="*/ 7572 h 6032118"/>
              <a:gd name="connsiteX2" fmla="*/ 6573992 w 7170801"/>
              <a:gd name="connsiteY2" fmla="*/ 5131398 h 6032118"/>
              <a:gd name="connsiteX3" fmla="*/ 2970687 w 7170801"/>
              <a:gd name="connsiteY3" fmla="*/ 5131398 h 6032118"/>
              <a:gd name="connsiteX4" fmla="*/ 1602497 w 7170801"/>
              <a:gd name="connsiteY4" fmla="*/ 6032118 h 6032118"/>
              <a:gd name="connsiteX5" fmla="*/ 1602497 w 7170801"/>
              <a:gd name="connsiteY5" fmla="*/ 5131398 h 6032118"/>
              <a:gd name="connsiteX6" fmla="*/ 484094 w 7170801"/>
              <a:gd name="connsiteY6" fmla="*/ 5131398 h 603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0801" h="6032118">
                <a:moveTo>
                  <a:pt x="0" y="0"/>
                </a:moveTo>
                <a:lnTo>
                  <a:pt x="7170801" y="7572"/>
                </a:lnTo>
                <a:lnTo>
                  <a:pt x="6573992" y="5131398"/>
                </a:lnTo>
                <a:lnTo>
                  <a:pt x="2970687" y="5131398"/>
                </a:lnTo>
                <a:lnTo>
                  <a:pt x="1602497" y="6032118"/>
                </a:lnTo>
                <a:lnTo>
                  <a:pt x="1602497" y="5131398"/>
                </a:lnTo>
                <a:lnTo>
                  <a:pt x="484094" y="5131398"/>
                </a:lnTo>
                <a:close/>
              </a:path>
            </a:pathLst>
          </a:custGeom>
          <a:solidFill>
            <a:srgbClr val="CDD9E1"/>
          </a:solidFill>
          <a:ln>
            <a:noFill/>
          </a:ln>
          <a:effectLst/>
        </p:spPr>
        <p:txBody>
          <a:bodyPr wrap="square" lIns="107944" tIns="53972" rIns="107944" bIns="53972" numCol="1" spcCol="72000" rtlCol="0" anchor="ctr">
            <a:noAutofit/>
          </a:bodyPr>
          <a:lstStyle/>
          <a:p>
            <a:pPr>
              <a:lnSpc>
                <a:spcPct val="110000"/>
              </a:lnSpc>
              <a:spcBef>
                <a:spcPct val="0"/>
              </a:spcBef>
              <a:buFont typeface="Wingdings" charset="0"/>
              <a:buNone/>
            </a:pPr>
            <a:endParaRPr lang="en-US" sz="1799" dirty="0">
              <a:cs typeface="+mn-ea"/>
              <a:sym typeface="+mn-lt"/>
            </a:endParaRPr>
          </a:p>
        </p:txBody>
      </p:sp>
      <p:sp>
        <p:nvSpPr>
          <p:cNvPr id="11" name="Textfeld 2">
            <a:extLst>
              <a:ext uri="{FF2B5EF4-FFF2-40B4-BE49-F238E27FC236}">
                <a16:creationId xmlns:a16="http://schemas.microsoft.com/office/drawing/2014/main" id="{0D913D65-9FA2-DE13-D32D-4D93D55A2FAC}"/>
              </a:ext>
            </a:extLst>
          </p:cNvPr>
          <p:cNvSpPr txBox="1"/>
          <p:nvPr/>
        </p:nvSpPr>
        <p:spPr>
          <a:xfrm>
            <a:off x="1893466" y="2093015"/>
            <a:ext cx="2922701" cy="553998"/>
          </a:xfrm>
          <a:prstGeom prst="rect">
            <a:avLst/>
          </a:prstGeom>
          <a:noFill/>
        </p:spPr>
        <p:txBody>
          <a:bodyPr wrap="square" lIns="0" tIns="0" rIns="0" bIns="0" rtlCol="0">
            <a:spAutoFit/>
          </a:bodyPr>
          <a:lstStyle/>
          <a:p>
            <a:pPr>
              <a:spcBef>
                <a:spcPts val="2399"/>
              </a:spcBef>
            </a:pPr>
            <a:r>
              <a:rPr lang="en-US" sz="3600" dirty="0">
                <a:solidFill>
                  <a:srgbClr val="00646E"/>
                </a:solidFill>
                <a:cs typeface="+mn-ea"/>
                <a:sym typeface="+mn-lt"/>
              </a:rPr>
              <a:t>Questions?</a:t>
            </a:r>
          </a:p>
        </p:txBody>
      </p:sp>
      <p:sp>
        <p:nvSpPr>
          <p:cNvPr id="10" name="Freeform 9">
            <a:extLst>
              <a:ext uri="{FF2B5EF4-FFF2-40B4-BE49-F238E27FC236}">
                <a16:creationId xmlns:a16="http://schemas.microsoft.com/office/drawing/2014/main" id="{B45A60E2-0DE2-D860-A39C-369E1BDD86C5}"/>
              </a:ext>
            </a:extLst>
          </p:cNvPr>
          <p:cNvSpPr/>
          <p:nvPr/>
        </p:nvSpPr>
        <p:spPr bwMode="auto">
          <a:xfrm>
            <a:off x="4051036" y="3072022"/>
            <a:ext cx="3314945" cy="1893543"/>
          </a:xfrm>
          <a:custGeom>
            <a:avLst/>
            <a:gdLst>
              <a:gd name="connsiteX0" fmla="*/ 0 w 4357233"/>
              <a:gd name="connsiteY0" fmla="*/ 0 h 3062298"/>
              <a:gd name="connsiteX1" fmla="*/ 4357233 w 4357233"/>
              <a:gd name="connsiteY1" fmla="*/ 0 h 3062298"/>
              <a:gd name="connsiteX2" fmla="*/ 4061717 w 4357233"/>
              <a:gd name="connsiteY2" fmla="*/ 2542701 h 3062298"/>
              <a:gd name="connsiteX3" fmla="*/ 1670637 w 4357233"/>
              <a:gd name="connsiteY3" fmla="*/ 2542700 h 3062298"/>
              <a:gd name="connsiteX4" fmla="*/ 883104 w 4357233"/>
              <a:gd name="connsiteY4" fmla="*/ 3062298 h 3062298"/>
              <a:gd name="connsiteX5" fmla="*/ 883104 w 4357233"/>
              <a:gd name="connsiteY5" fmla="*/ 2542700 h 3062298"/>
              <a:gd name="connsiteX6" fmla="*/ 239350 w 4357233"/>
              <a:gd name="connsiteY6" fmla="*/ 2542700 h 306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7233" h="3062298">
                <a:moveTo>
                  <a:pt x="0" y="0"/>
                </a:moveTo>
                <a:lnTo>
                  <a:pt x="4357233" y="0"/>
                </a:lnTo>
                <a:lnTo>
                  <a:pt x="4061717" y="2542701"/>
                </a:lnTo>
                <a:lnTo>
                  <a:pt x="1670637" y="2542700"/>
                </a:lnTo>
                <a:lnTo>
                  <a:pt x="883104" y="3062298"/>
                </a:lnTo>
                <a:lnTo>
                  <a:pt x="883104" y="2542700"/>
                </a:lnTo>
                <a:lnTo>
                  <a:pt x="239350" y="2542700"/>
                </a:lnTo>
                <a:close/>
              </a:path>
            </a:pathLst>
          </a:custGeom>
          <a:solidFill>
            <a:srgbClr val="50BED7"/>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en-US" sz="1799" dirty="0">
              <a:cs typeface="+mn-ea"/>
              <a:sym typeface="+mn-lt"/>
            </a:endParaRPr>
          </a:p>
        </p:txBody>
      </p:sp>
      <p:sp>
        <p:nvSpPr>
          <p:cNvPr id="12" name="Textfeld 2">
            <a:extLst>
              <a:ext uri="{FF2B5EF4-FFF2-40B4-BE49-F238E27FC236}">
                <a16:creationId xmlns:a16="http://schemas.microsoft.com/office/drawing/2014/main" id="{1FD08B47-949A-E748-4D77-E119008DF372}"/>
              </a:ext>
            </a:extLst>
          </p:cNvPr>
          <p:cNvSpPr txBox="1"/>
          <p:nvPr/>
        </p:nvSpPr>
        <p:spPr>
          <a:xfrm>
            <a:off x="4250419" y="3579295"/>
            <a:ext cx="2979055" cy="553998"/>
          </a:xfrm>
          <a:prstGeom prst="rect">
            <a:avLst/>
          </a:prstGeom>
          <a:noFill/>
        </p:spPr>
        <p:txBody>
          <a:bodyPr wrap="square" lIns="0" tIns="0" rIns="0" bIns="0" rtlCol="0">
            <a:spAutoFit/>
          </a:bodyPr>
          <a:lstStyle/>
          <a:p>
            <a:pPr algn="ctr">
              <a:spcBef>
                <a:spcPts val="2399"/>
              </a:spcBef>
            </a:pPr>
            <a:r>
              <a:rPr lang="en-US" sz="3600" dirty="0">
                <a:solidFill>
                  <a:srgbClr val="FFFFFF"/>
                </a:solidFill>
                <a:cs typeface="+mn-ea"/>
                <a:sym typeface="+mn-lt"/>
              </a:rPr>
              <a:t>Answers!</a:t>
            </a:r>
          </a:p>
        </p:txBody>
      </p:sp>
    </p:spTree>
    <p:extLst>
      <p:ext uri="{BB962C8B-B14F-4D97-AF65-F5344CB8AC3E}">
        <p14:creationId xmlns:p14="http://schemas.microsoft.com/office/powerpoint/2010/main" val="245124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CA0FA7-A2A2-48EB-A060-BD9D59F000EC}"/>
              </a:ext>
            </a:extLst>
          </p:cNvPr>
          <p:cNvSpPr>
            <a:spLocks noGrp="1"/>
          </p:cNvSpPr>
          <p:nvPr>
            <p:ph type="title"/>
          </p:nvPr>
        </p:nvSpPr>
        <p:spPr/>
        <p:txBody>
          <a:bodyPr/>
          <a:lstStyle/>
          <a:p>
            <a:r>
              <a:rPr lang="en-US" altLang="zh-CN" dirty="0"/>
              <a:t>Contact</a:t>
            </a:r>
            <a:endParaRPr lang="en-US" dirty="0"/>
          </a:p>
        </p:txBody>
      </p:sp>
      <p:sp>
        <p:nvSpPr>
          <p:cNvPr id="6" name="Subtitle 5">
            <a:extLst>
              <a:ext uri="{FF2B5EF4-FFF2-40B4-BE49-F238E27FC236}">
                <a16:creationId xmlns:a16="http://schemas.microsoft.com/office/drawing/2014/main" id="{A97DCE2C-DEA5-4F9E-9A1A-7F5F461F05AD}"/>
              </a:ext>
            </a:extLst>
          </p:cNvPr>
          <p:cNvSpPr>
            <a:spLocks noGrp="1"/>
          </p:cNvSpPr>
          <p:nvPr>
            <p:ph type="subTitle" idx="1"/>
          </p:nvPr>
        </p:nvSpPr>
        <p:spPr>
          <a:xfrm>
            <a:off x="969910" y="2751480"/>
            <a:ext cx="4495112" cy="1868481"/>
          </a:xfrm>
        </p:spPr>
        <p:txBody>
          <a:bodyPr/>
          <a:lstStyle/>
          <a:p>
            <a:r>
              <a:rPr lang="en-US" altLang="zh-CN" sz="1800" b="1" dirty="0"/>
              <a:t>YU He</a:t>
            </a:r>
          </a:p>
          <a:p>
            <a:r>
              <a:rPr lang="en-US" altLang="zh-CN" sz="1800" dirty="0"/>
              <a:t>T CED INW-CN</a:t>
            </a:r>
          </a:p>
          <a:p>
            <a:r>
              <a:rPr lang="en-US" altLang="zh-CN" sz="1800" dirty="0"/>
              <a:t>Siemens Ltd., China, Technology</a:t>
            </a:r>
          </a:p>
          <a:p>
            <a:r>
              <a:rPr lang="en-US" altLang="zh-CN" sz="1800" dirty="0">
                <a:hlinkClick r:id="rId2"/>
              </a:rPr>
              <a:t>yu-he@siemens.com</a:t>
            </a:r>
            <a:endParaRPr lang="en-US" altLang="zh-CN" sz="1800" dirty="0"/>
          </a:p>
          <a:p>
            <a:endParaRPr lang="en-US" sz="1800" dirty="0"/>
          </a:p>
        </p:txBody>
      </p:sp>
    </p:spTree>
    <p:extLst>
      <p:ext uri="{BB962C8B-B14F-4D97-AF65-F5344CB8AC3E}">
        <p14:creationId xmlns:p14="http://schemas.microsoft.com/office/powerpoint/2010/main" val="17420994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5"/>
  <p:tag name="CDT_PROT_TOP" val="190,6199"/>
  <p:tag name="CDT_PROT_LEFT" val="19,75"/>
  <p:tag name="CDT_PROT_WIDTH" val="700,25"/>
  <p:tag name="CDT_PROT_HEIGHT" val="148,1732"/>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eng-v3-0.pptx" id="{126F423E-7F52-41DE-A20C-756A6822B9A2}" vid="{51365D51-9DD3-491E-AF49-CB2F506BEAC1}"/>
    </a:ext>
  </a:extLst>
</a:theme>
</file>

<file path=ppt/theme/theme2.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p4ppTags>
  <Name>Three columns</Name>
  <PpLayout>32</PpLayout>
  <Index>14</Index>
</p4ppTags>
</file>

<file path=customXml/itemProps1.xml><?xml version="1.0" encoding="utf-8"?>
<ds:datastoreItem xmlns:ds="http://schemas.openxmlformats.org/officeDocument/2006/customXml" ds:itemID="{15CF3461-70D1-4B54-AFAB-DAFDA0A238CD}">
  <ds:schemaRefs/>
</ds:datastoreItem>
</file>

<file path=docProps/app.xml><?xml version="1.0" encoding="utf-8"?>
<Properties xmlns="http://schemas.openxmlformats.org/officeDocument/2006/extended-properties" xmlns:vt="http://schemas.openxmlformats.org/officeDocument/2006/docPropsVTypes">
  <Template>template</Template>
  <TotalTime>33179</TotalTime>
  <Words>2257</Words>
  <Application>Microsoft Office PowerPoint</Application>
  <PresentationFormat>Widescreen</PresentationFormat>
  <Paragraphs>316</Paragraphs>
  <Slides>21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7" baseType="lpstr">
      <vt:lpstr>微软雅黑</vt:lpstr>
      <vt:lpstr>Arial</vt:lpstr>
      <vt:lpstr>Calibri</vt:lpstr>
      <vt:lpstr>Wingdings</vt:lpstr>
      <vt:lpstr>Siemens 2020</vt:lpstr>
      <vt:lpstr>think-cell Folie</vt:lpstr>
      <vt:lpstr>Knowledge Graph based DaaS T CED INW-CN  |  YU He</vt:lpstr>
      <vt:lpstr>Outline</vt:lpstr>
      <vt:lpstr>What are knowledge Graphs?</vt:lpstr>
      <vt:lpstr>Why knowledge Graphs?</vt:lpstr>
      <vt:lpstr>Where we see Knowledge Graph? The business scenarios of industry</vt:lpstr>
      <vt:lpstr>Knowledge Graph as glue layer</vt:lpstr>
      <vt:lpstr>How to understand the dimension level of the scenarios?   </vt:lpstr>
      <vt:lpstr>Technical space in general knowledge graph service</vt:lpstr>
      <vt:lpstr>Which points can be our advantages and highlights?</vt:lpstr>
      <vt:lpstr>Which points can be our advantages and highlights?</vt:lpstr>
      <vt:lpstr>Outline</vt:lpstr>
      <vt:lpstr>Addressable customer business scenarios for V1.0 Focus is on Pre-maintenance and DaaS with advanced KG</vt:lpstr>
      <vt:lpstr>UseCase1- Modeling tool for pre-maintenance KG generation  </vt:lpstr>
      <vt:lpstr>UseCase1- Modeling tool for pre-maintenance KG generation   Work scope </vt:lpstr>
      <vt:lpstr>UseCase2- Knowledge based Device as a Service</vt:lpstr>
      <vt:lpstr>UseCase2- Knowledge based Device as a Service  Work scope </vt:lpstr>
      <vt:lpstr>Outline</vt:lpstr>
      <vt:lpstr>Summary </vt:lpstr>
      <vt:lpstr>Risk </vt:lpstr>
      <vt:lpstr>Thanks！ </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chart two-line headline, Arial, 80 pt</dc:title>
  <dc:creator>Wang, Qi (T RDA IOT INW-CN)</dc:creator>
  <cp:keywords>Template</cp:keywords>
  <dc:description>Version 3.0.8
September 2020</dc:description>
  <cp:lastModifiedBy>Yu, He (T CED INW-CN)</cp:lastModifiedBy>
  <cp:revision>4790</cp:revision>
  <dcterms:created xsi:type="dcterms:W3CDTF">2020-11-10T02:36:11Z</dcterms:created>
  <dcterms:modified xsi:type="dcterms:W3CDTF">2022-09-09T02:09:26Z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9b6cd5-d141-4a33-8bf1-0ca04484304f_Enabled">
    <vt:lpwstr>true</vt:lpwstr>
  </property>
  <property fmtid="{D5CDD505-2E9C-101B-9397-08002B2CF9AE}" pid="3" name="MSIP_Label_a59b6cd5-d141-4a33-8bf1-0ca04484304f_SetDate">
    <vt:lpwstr>2021-08-03T01:15:55Z</vt:lpwstr>
  </property>
  <property fmtid="{D5CDD505-2E9C-101B-9397-08002B2CF9AE}" pid="4" name="MSIP_Label_a59b6cd5-d141-4a33-8bf1-0ca04484304f_Method">
    <vt:lpwstr>Standard</vt:lpwstr>
  </property>
  <property fmtid="{D5CDD505-2E9C-101B-9397-08002B2CF9AE}" pid="5" name="MSIP_Label_a59b6cd5-d141-4a33-8bf1-0ca04484304f_Name">
    <vt:lpwstr>restricted-default</vt:lpwstr>
  </property>
  <property fmtid="{D5CDD505-2E9C-101B-9397-08002B2CF9AE}" pid="6" name="MSIP_Label_a59b6cd5-d141-4a33-8bf1-0ca04484304f_SiteId">
    <vt:lpwstr>38ae3bcd-9579-4fd4-adda-b42e1495d55a</vt:lpwstr>
  </property>
  <property fmtid="{D5CDD505-2E9C-101B-9397-08002B2CF9AE}" pid="7" name="MSIP_Label_a59b6cd5-d141-4a33-8bf1-0ca04484304f_ActionId">
    <vt:lpwstr>139a22c5-555a-44a3-b949-6db2f524790b</vt:lpwstr>
  </property>
  <property fmtid="{D5CDD505-2E9C-101B-9397-08002B2CF9AE}" pid="8" name="MSIP_Label_a59b6cd5-d141-4a33-8bf1-0ca04484304f_ContentBits">
    <vt:lpwstr>0</vt:lpwstr>
  </property>
  <property fmtid="{D5CDD505-2E9C-101B-9397-08002B2CF9AE}" pid="9" name="Document_Confidentiality">
    <vt:lpwstr>Restricted</vt:lpwstr>
  </property>
</Properties>
</file>