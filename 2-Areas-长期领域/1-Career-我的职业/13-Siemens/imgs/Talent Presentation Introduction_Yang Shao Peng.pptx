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6"/>
  </p:sldMasterIdLst>
  <p:notesMasterIdLst>
    <p:notesMasterId r:id="rId9"/>
  </p:notesMasterIdLst>
  <p:handoutMasterIdLst>
    <p:handoutMasterId r:id="rId10"/>
  </p:handoutMasterIdLst>
  <p:sldIdLst>
    <p:sldId id="258" r:id="rId7"/>
    <p:sldId id="259" r:id="rId8"/>
  </p:sldIdLst>
  <p:sldSz cx="12198350" cy="6858000"/>
  <p:notesSz cx="7099300" cy="10234613"/>
  <p:custDataLst>
    <p:custData r:id="rId2"/>
    <p:tags r:id="rId11"/>
  </p:custDataLst>
  <p:defaultTextStyle>
    <a:defPPr>
      <a:defRPr lang="de-DE"/>
    </a:defPPr>
    <a:lvl1pPr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bg2"/>
        </a:solidFill>
        <a:latin typeface="Arial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2432">
          <p15:clr>
            <a:srgbClr val="A4A3A4"/>
          </p15:clr>
        </p15:guide>
        <p15:guide id="4" orient="horz" pos="2341">
          <p15:clr>
            <a:srgbClr val="A4A3A4"/>
          </p15:clr>
        </p15:guide>
        <p15:guide id="5" orient="horz" pos="890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pos="395">
          <p15:clr>
            <a:srgbClr val="A4A3A4"/>
          </p15:clr>
        </p15:guide>
        <p15:guide id="8" pos="3842">
          <p15:clr>
            <a:srgbClr val="A4A3A4"/>
          </p15:clr>
        </p15:guide>
        <p15:guide id="9" pos="3933">
          <p15:clr>
            <a:srgbClr val="A4A3A4"/>
          </p15:clr>
        </p15:guide>
        <p15:guide id="10" pos="7380">
          <p15:clr>
            <a:srgbClr val="A4A3A4"/>
          </p15:clr>
        </p15:guide>
        <p15:guide id="11" pos="55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C"/>
    <a:srgbClr val="FDFDFD"/>
    <a:srgbClr val="FDFEFD"/>
    <a:srgbClr val="FEFDFD"/>
    <a:srgbClr val="FEFEFD"/>
    <a:srgbClr val="FEFEFE"/>
    <a:srgbClr val="FEFFFE"/>
    <a:srgbClr val="FFFEFE"/>
    <a:srgbClr val="FFFF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778" autoAdjust="0"/>
    <p:restoredTop sz="94660" autoAdjust="0"/>
  </p:normalViewPr>
  <p:slideViewPr>
    <p:cSldViewPr snapToObjects="1" showGuides="1">
      <p:cViewPr varScale="1">
        <p:scale>
          <a:sx n="108" d="100"/>
          <a:sy n="108" d="100"/>
        </p:scale>
        <p:origin x="1272" y="96"/>
      </p:cViewPr>
      <p:guideLst>
        <p:guide orient="horz" pos="3884"/>
        <p:guide orient="horz" pos="618"/>
        <p:guide orient="horz" pos="2432"/>
        <p:guide orient="horz" pos="2341"/>
        <p:guide orient="horz" pos="890"/>
        <p:guide orient="horz" pos="210"/>
        <p:guide pos="395"/>
        <p:guide pos="3842"/>
        <p:guide pos="3933"/>
        <p:guide pos="7380"/>
        <p:guide pos="5566"/>
      </p:guideLst>
    </p:cSldViewPr>
  </p:slideViewPr>
  <p:outlineViewPr>
    <p:cViewPr>
      <p:scale>
        <a:sx n="33" d="100"/>
        <a:sy n="33" d="100"/>
      </p:scale>
      <p:origin x="0" y="12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76" d="100"/>
          <a:sy n="76" d="100"/>
        </p:scale>
        <p:origin x="2982" y="12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tags" Target="tags/tag1.xml"/><Relationship Id="rId5" Type="http://schemas.openxmlformats.org/officeDocument/2006/relationships/customXml" Target="../customXml/item5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0" y="0"/>
            <a:ext cx="7099300" cy="698500"/>
          </a:xfrm>
          <a:prstGeom prst="rect">
            <a:avLst/>
          </a:prstGeom>
          <a:solidFill>
            <a:srgbClr val="879BAA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49613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t" anchorCtr="0" compatLnSpc="1">
            <a:prstTxWarp prst="textNoShape">
              <a:avLst/>
            </a:prstTxWarp>
          </a:bodyPr>
          <a:lstStyle>
            <a:lvl1pPr defTabSz="942975">
              <a:spcBef>
                <a:spcPct val="0"/>
              </a:spcBef>
              <a:defRPr sz="1200">
                <a:solidFill>
                  <a:schemeClr val="bg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3249612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t" anchorCtr="0" compatLnSpc="1">
            <a:prstTxWarp prst="textNoShape">
              <a:avLst/>
            </a:prstTxWarp>
          </a:bodyPr>
          <a:lstStyle>
            <a:lvl1pPr algn="r" defTabSz="942975">
              <a:spcBef>
                <a:spcPct val="0"/>
              </a:spcBef>
              <a:defRPr sz="1200">
                <a:solidFill>
                  <a:schemeClr val="bg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82163"/>
            <a:ext cx="3249613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b" anchorCtr="0" compatLnSpc="1">
            <a:prstTxWarp prst="textNoShape">
              <a:avLst/>
            </a:prstTxWarp>
          </a:bodyPr>
          <a:lstStyle>
            <a:lvl1pPr defTabSz="942975">
              <a:spcBef>
                <a:spcPct val="0"/>
              </a:spcBef>
              <a:defRPr sz="12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682163"/>
            <a:ext cx="3249612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b" anchorCtr="0" compatLnSpc="1">
            <a:prstTxWarp prst="textNoShape">
              <a:avLst/>
            </a:prstTxWarp>
          </a:bodyPr>
          <a:lstStyle>
            <a:lvl1pPr algn="r" defTabSz="942975">
              <a:spcBef>
                <a:spcPct val="0"/>
              </a:spcBef>
              <a:defRPr sz="12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de-DE" dirty="0">
                <a:latin typeface="Arial" pitchFamily="34" charset="0"/>
              </a:rPr>
              <a:t>Handout </a:t>
            </a:r>
            <a:fld id="{BFC713D8-7968-482B-A79F-9C586FE5053A}" type="slidenum">
              <a:rPr lang="de-DE" smtClean="0">
                <a:latin typeface="Arial" pitchFamily="34" charset="0"/>
              </a:rPr>
              <a:pPr/>
              <a:t>‹#›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72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49613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t" anchorCtr="0" compatLnSpc="1">
            <a:prstTxWarp prst="textNoShape">
              <a:avLst/>
            </a:prstTxWarp>
          </a:bodyPr>
          <a:lstStyle>
            <a:lvl1pPr defTabSz="942975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32480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t" anchorCtr="0" compatLnSpc="1">
            <a:prstTxWarp prst="textNoShape">
              <a:avLst/>
            </a:prstTxWarp>
          </a:bodyPr>
          <a:lstStyle>
            <a:lvl1pPr algn="r" defTabSz="942975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46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38125" y="4822825"/>
            <a:ext cx="6623050" cy="456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82163"/>
            <a:ext cx="3249613" cy="55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b" anchorCtr="0" compatLnSpc="1">
            <a:prstTxWarp prst="textNoShape">
              <a:avLst/>
            </a:prstTxWarp>
          </a:bodyPr>
          <a:lstStyle>
            <a:lvl1pPr defTabSz="942975">
              <a:spcBef>
                <a:spcPct val="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682163"/>
            <a:ext cx="3248025" cy="55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8550" tIns="148550" rIns="148550" bIns="148550" numCol="1" anchor="b" anchorCtr="0" compatLnSpc="1">
            <a:prstTxWarp prst="textNoShape">
              <a:avLst/>
            </a:prstTxWarp>
          </a:bodyPr>
          <a:lstStyle>
            <a:lvl1pPr algn="r" defTabSz="942975">
              <a:spcBef>
                <a:spcPct val="0"/>
              </a:spcBef>
              <a:defRPr sz="12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de-DE" dirty="0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‹#›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778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customXml" Target="../../customXml/item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type="titleOnly" preserve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0"/>
            <a:ext cx="12198350" cy="126841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396000" rIns="2124000" bIns="234000" numCol="1" anchor="b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de-DE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Titelmasterformat durch Klicken bearbeiten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custDataLst>
      <p:custData r:id="rId1"/>
    </p:custDataLst>
    <p:extLst>
      <p:ext uri="{BB962C8B-B14F-4D97-AF65-F5344CB8AC3E}">
        <p14:creationId xmlns:p14="http://schemas.microsoft.com/office/powerpoint/2010/main" val="336603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tags" Target="../tags/tag25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tags" Target="../tags/tag24.xml"/><Relationship Id="rId2" Type="http://schemas.openxmlformats.org/officeDocument/2006/relationships/theme" Target="../theme/theme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tags" Target="../tags/tag28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tags" Target="../tags/tag23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image" Target="../media/image1.wmf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30" Type="http://schemas.openxmlformats.org/officeDocument/2006/relationships/tags" Target="../tags/tag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dtRectangle 12 Id15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0" y="0"/>
            <a:ext cx="12198350" cy="12684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0" y="0"/>
            <a:ext cx="12198350" cy="126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396000" rIns="2124000" bIns="234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Titelmasterformat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079" name="cdtRectangle 116 Id3079"/>
          <p:cNvSpPr>
            <a:spLocks noGrp="1" noChangeArrowheads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627063" y="1412873"/>
            <a:ext cx="8208962" cy="4752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072" name="cdtMasterTags_CL1 Id3072"/>
          <p:cNvCxnSpPr/>
          <p:nvPr userDrawn="1">
            <p:custDataLst>
              <p:tags r:id="rId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 userDrawn="1">
            <p:custDataLst>
              <p:tags r:id="rId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 userDrawn="1">
            <p:custDataLst>
              <p:tags r:id="rId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 userDrawn="1">
            <p:custDataLst>
              <p:tags r:id="rId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 userDrawn="1">
            <p:custDataLst>
              <p:tags r:id="rId1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 userDrawn="1">
            <p:custDataLst>
              <p:tags r:id="rId1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 userDrawn="1">
            <p:custDataLst>
              <p:tags r:id="rId1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 userDrawn="1">
            <p:custDataLst>
              <p:tags r:id="rId1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 userDrawn="1">
            <p:custDataLst>
              <p:tags r:id="rId1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 userDrawn="1">
            <p:custDataLst>
              <p:tags r:id="rId1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 userDrawn="1">
            <p:custDataLst>
              <p:tags r:id="rId1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 userDrawn="1">
            <p:custDataLst>
              <p:tags r:id="rId1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 userDrawn="1">
            <p:custDataLst>
              <p:tags r:id="rId1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 userDrawn="1">
            <p:custDataLst>
              <p:tags r:id="rId1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 userDrawn="1">
            <p:custDataLst>
              <p:tags r:id="rId2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 userDrawn="1">
            <p:custDataLst>
              <p:tags r:id="rId2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 userDrawn="1">
            <p:custDataLst>
              <p:tags r:id="rId2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 userDrawn="1">
            <p:custDataLst>
              <p:tags r:id="rId2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 userDrawn="1">
            <p:custDataLst>
              <p:tags r:id="rId2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 userDrawn="1">
            <p:custDataLst>
              <p:tags r:id="rId2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 userDrawn="1">
            <p:custDataLst>
              <p:tags r:id="rId2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 userDrawn="1">
            <p:custDataLst>
              <p:tags r:id="rId2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 userDrawn="1">
            <p:custDataLst>
              <p:tags r:id="rId2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4" name="Picture 3"/>
          <p:cNvPicPr>
            <a:picLocks noChangeAspect="1" noChangeArrowheads="1"/>
          </p:cNvPicPr>
          <p:nvPr userDrawn="1"/>
        </p:nvPicPr>
        <p:blipFill>
          <a:blip r:embed="rId31"/>
          <a:srcRect/>
          <a:stretch>
            <a:fillRect/>
          </a:stretch>
        </p:blipFill>
        <p:spPr bwMode="auto">
          <a:xfrm>
            <a:off x="10130916" y="324000"/>
            <a:ext cx="1584834" cy="670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uppieren 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3" name="Gerade Verbindung 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Gerade Verbindung 3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Gerade Verbindung 3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Gerade Verbindung 3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Gerade Verbindung 3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Gerade Verbindung 3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Gerade Verbindung 40"/>
            <p:cNvCxnSpPr/>
            <p:nvPr userDrawn="1"/>
          </p:nvCxnSpPr>
          <p:spPr bwMode="auto">
            <a:xfrm rot="5400000">
              <a:off x="12322800" y="89107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Gerade Verbindung 41"/>
            <p:cNvCxnSpPr/>
            <p:nvPr userDrawn="1"/>
          </p:nvCxnSpPr>
          <p:spPr bwMode="auto">
            <a:xfrm rot="5400000">
              <a:off x="12322800" y="1322776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 Verbindung 42"/>
            <p:cNvCxnSpPr/>
            <p:nvPr userDrawn="1"/>
          </p:nvCxnSpPr>
          <p:spPr bwMode="auto">
            <a:xfrm rot="5400000">
              <a:off x="12322800" y="362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Gerade Verbindung 43"/>
            <p:cNvCxnSpPr/>
            <p:nvPr userDrawn="1"/>
          </p:nvCxnSpPr>
          <p:spPr bwMode="auto">
            <a:xfrm rot="5400000">
              <a:off x="12322800" y="3765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Gerade Verbindung 44"/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Gerade Verbindung 51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Gerade Verbindung 52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Gerade Verbindung 53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Gerade Verbindung 54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Gerade Verbindung 55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57"/>
            <p:cNvCxnSpPr/>
            <p:nvPr userDrawn="1"/>
          </p:nvCxnSpPr>
          <p:spPr bwMode="auto">
            <a:xfrm rot="5400000">
              <a:off x="-126000" y="89107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 rot="5400000">
              <a:off x="-126000" y="1322776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 rot="5400000">
              <a:off x="-126000" y="362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-126000" y="3765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5" name="cdtTextBox 11 Id18"/>
          <p:cNvSpPr txBox="1"/>
          <p:nvPr userDrawn="1">
            <p:custDataLst>
              <p:tags r:id="rId29"/>
            </p:custDataLst>
          </p:nvPr>
        </p:nvSpPr>
        <p:spPr>
          <a:xfrm>
            <a:off x="0" y="6597650"/>
            <a:ext cx="1765285" cy="26035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000000"/>
                </a:solidFill>
              </a:rPr>
              <a:t>Page </a:t>
            </a:r>
            <a:fld id="{91E7552C-A157-4A4F-8E99-698C0325FC94}" type="slidenum">
              <a:rPr lang="de-DE" sz="1000" noProof="0" smtClean="0">
                <a:solidFill>
                  <a:srgbClr val="000000"/>
                </a:solidFill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de-DE" sz="1000" noProof="0" dirty="0">
              <a:solidFill>
                <a:srgbClr val="000000"/>
              </a:solidFill>
            </a:endParaRPr>
          </a:p>
        </p:txBody>
      </p:sp>
      <p:sp>
        <p:nvSpPr>
          <p:cNvPr id="66" name="cdtTextBox 13 Id19"/>
          <p:cNvSpPr txBox="1"/>
          <p:nvPr userDrawn="1">
            <p:custDataLst>
              <p:tags r:id="rId30"/>
            </p:custDataLst>
          </p:nvPr>
        </p:nvSpPr>
        <p:spPr>
          <a:xfrm>
            <a:off x="3787765" y="6597650"/>
            <a:ext cx="8410584" cy="260350"/>
          </a:xfrm>
          <a:prstGeom prst="rect">
            <a:avLst/>
          </a:prstGeom>
          <a:noFill/>
        </p:spPr>
        <p:txBody>
          <a:bodyPr wrap="square" lIns="0" tIns="0" rIns="482400" bIns="11520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endParaRPr lang="de-DE" sz="1000" noProof="0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000" b="1">
          <a:solidFill>
            <a:schemeClr val="dk2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0" indent="0" algn="l" rtl="0" fontAlgn="base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itchFamily="34" charset="0"/>
        <a:buNone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179388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Char char="•"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358775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Char char="•"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538163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Char char="•"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717550" indent="-177800" algn="l" rtl="0" fontAlgn="base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Char char="•"/>
        <a:tabLst/>
        <a:defRPr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220788" indent="-18891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6pPr>
      <a:lvl7pPr marL="1677988" indent="-18891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7pPr>
      <a:lvl8pPr marL="2135188" indent="-18891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8pPr>
      <a:lvl9pPr marL="2592388" indent="-18891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3835400" algn="l"/>
                <a:tab pos="7772400" algn="l"/>
                <a:tab pos="9258300" algn="l"/>
              </a:tabLst>
            </a:pPr>
            <a:r>
              <a:rPr lang="en-US" dirty="0"/>
              <a:t>Yang Shao Peng, Lead Engineer, Wuxi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3362871" y="1563643"/>
            <a:ext cx="8396220" cy="34766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none" lIns="54007" tIns="54007" rIns="54007" bIns="54007" anchor="ctr"/>
          <a:lstStyle/>
          <a:p>
            <a:pPr>
              <a:buFont typeface="Wingdings" pitchFamily="2" charset="2"/>
              <a:buNone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Education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3362871" y="1957343"/>
            <a:ext cx="8396220" cy="609392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square" lIns="54007" tIns="54007" rIns="54007" bIns="54007"/>
          <a:lstStyle/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2007-2011: </a:t>
            </a:r>
            <a:r>
              <a:rPr lang="en-US" sz="1200" dirty="0">
                <a:solidFill>
                  <a:schemeClr val="tx1"/>
                </a:solidFill>
              </a:rPr>
              <a:t>Bachelor in Electronics and Information Engineering, Jiangnan University</a:t>
            </a:r>
          </a:p>
          <a:p>
            <a:pPr marL="171450" indent="-17145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2011-2014: </a:t>
            </a:r>
            <a:r>
              <a:rPr lang="en-US" sz="1200" dirty="0">
                <a:solidFill>
                  <a:schemeClr val="tx1"/>
                </a:solidFill>
              </a:rPr>
              <a:t>Master in Electronics and Communication Engineering, Jiangnan University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gray">
          <a:xfrm>
            <a:off x="3362871" y="2603247"/>
            <a:ext cx="8396220" cy="34766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none" lIns="54007" tIns="54007" rIns="54007" bIns="54007" anchor="ctr"/>
          <a:lstStyle/>
          <a:p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Working Experience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gray">
          <a:xfrm>
            <a:off x="3362871" y="3181562"/>
            <a:ext cx="8396220" cy="135177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square" lIns="54007" tIns="54007" rIns="54007" bIns="54007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2011-2012</a:t>
            </a:r>
            <a:r>
              <a:rPr lang="en-US" sz="1200" dirty="0">
                <a:solidFill>
                  <a:schemeClr val="tx1"/>
                </a:solidFill>
              </a:rPr>
              <a:t> Internship as Hardware Engineer @ Wuxi Gallop Technology, Smart Grid Monitoring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2014-2018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Sr. Software Engineer @ Finisar Corp., Test Software Development &amp; Data Analysis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2018-2021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Sr. Software Engineer and Team Leader @ Bosch China, I4.0, </a:t>
            </a:r>
            <a:r>
              <a:rPr lang="en-US" altLang="zh-CN" sz="1200" dirty="0" err="1">
                <a:solidFill>
                  <a:schemeClr val="tx1"/>
                </a:solidFill>
                <a:ea typeface="宋体" pitchFamily="2" charset="-122"/>
              </a:rPr>
              <a:t>IIoT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&amp; Connectivity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2021-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	 Lead Engineer @ Siemens Ltd. China, Connectivity &amp; Edge application development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gray">
          <a:xfrm>
            <a:off x="296965" y="4680222"/>
            <a:ext cx="11462126" cy="34766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none" lIns="54007" tIns="54007" rIns="54007" bIns="54007" anchor="ctr"/>
          <a:lstStyle/>
          <a:p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Personal interests and career expectations </a:t>
            </a:r>
            <a:r>
              <a:rPr lang="zh-CN" altLang="en-US" sz="1200" b="1" dirty="0">
                <a:solidFill>
                  <a:schemeClr val="tx1"/>
                </a:solidFill>
                <a:ea typeface="宋体" pitchFamily="2" charset="-122"/>
              </a:rPr>
              <a:t>（</a:t>
            </a: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including mobility</a:t>
            </a:r>
            <a:r>
              <a:rPr lang="zh-CN" altLang="en-US" sz="1200" b="1" dirty="0">
                <a:solidFill>
                  <a:schemeClr val="tx1"/>
                </a:solidFill>
                <a:ea typeface="宋体" pitchFamily="2" charset="-122"/>
              </a:rPr>
              <a:t>）</a:t>
            </a:r>
            <a:endParaRPr lang="en-US" altLang="zh-CN" sz="1200" b="1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gray">
          <a:xfrm>
            <a:off x="296965" y="5064397"/>
            <a:ext cx="11462126" cy="88488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square" lIns="54007" tIns="54007" rIns="54007" bIns="54007"/>
          <a:lstStyle/>
          <a:p>
            <a:pPr>
              <a:buFont typeface="Wingdings" pitchFamily="2" charset="2"/>
              <a:buNone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Personal interests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Learn and practice new things both for work and life, better understand how the world is running.</a:t>
            </a:r>
          </a:p>
          <a:p>
            <a:pPr>
              <a:buFont typeface="Wingdings" pitchFamily="2" charset="2"/>
              <a:buNone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Career expectations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Provide maximum output from myself to organization, gain maximum input from organization to myself.</a:t>
            </a:r>
          </a:p>
          <a:p>
            <a:pPr>
              <a:buFont typeface="Wingdings" pitchFamily="2" charset="2"/>
              <a:buNone/>
            </a:pPr>
            <a:r>
              <a:rPr lang="en-US" altLang="zh-CN" sz="1200" b="1" dirty="0">
                <a:solidFill>
                  <a:schemeClr val="tx1"/>
                </a:solidFill>
                <a:ea typeface="宋体" pitchFamily="2" charset="-122"/>
              </a:rPr>
              <a:t>Mobility</a:t>
            </a:r>
            <a:r>
              <a:rPr lang="en-US" altLang="zh-CN" sz="1200" dirty="0">
                <a:solidFill>
                  <a:schemeClr val="tx1"/>
                </a:solidFill>
                <a:ea typeface="宋体" pitchFamily="2" charset="-122"/>
              </a:rPr>
              <a:t> Has been to Germany, US, Ukraine and Russia several times. Engaged in oversea teams in most career so far. Highly motivate to further travel international. 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gray">
          <a:xfrm>
            <a:off x="296965" y="1556792"/>
            <a:ext cx="2969683" cy="2976542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99999"/>
            </a:solidFill>
            <a:miter lim="800000"/>
            <a:headEnd/>
            <a:tailEnd/>
          </a:ln>
        </p:spPr>
        <p:txBody>
          <a:bodyPr wrap="none" lIns="54007" tIns="54007" rIns="54007" bIns="54007"/>
          <a:lstStyle/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</a:endParaRPr>
          </a:p>
          <a:p>
            <a:pPr marL="112713" lvl="1" algn="ctr">
              <a:spcBef>
                <a:spcPts val="0"/>
              </a:spcBef>
            </a:pPr>
            <a:r>
              <a:rPr lang="en-US" sz="1400" b="1" dirty="0">
                <a:solidFill>
                  <a:schemeClr val="tx1"/>
                </a:solidFill>
              </a:rPr>
              <a:t>Photo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E5E4B1-9248-473E-9876-5CFA54E089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8"/>
          <a:stretch/>
        </p:blipFill>
        <p:spPr>
          <a:xfrm>
            <a:off x="698575" y="1563642"/>
            <a:ext cx="2244996" cy="2979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Shao Peng, Lead Engineer, Wuxi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39496" y="1484784"/>
            <a:ext cx="11154121" cy="5112569"/>
            <a:chOff x="539496" y="1395413"/>
            <a:chExt cx="7982205" cy="4968553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gray">
            <a:xfrm>
              <a:off x="539496" y="1395413"/>
              <a:ext cx="7982204" cy="34766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algn="ctr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lIns="54007" tIns="54007" rIns="54007" bIns="54007" anchor="ctr"/>
            <a:lstStyle/>
            <a:p>
              <a:pPr>
                <a:buFont typeface="Wingdings" pitchFamily="2" charset="2"/>
                <a:buNone/>
              </a:pPr>
              <a:r>
                <a:rPr lang="en-US" sz="1200" b="1" dirty="0">
                  <a:solidFill>
                    <a:schemeClr val="tx1"/>
                  </a:solidFill>
                  <a:cs typeface="Arial" charset="0"/>
                </a:rPr>
                <a:t>Key Expertise</a:t>
              </a:r>
            </a:p>
          </p:txBody>
        </p:sp>
        <p:sp>
          <p:nvSpPr>
            <p:cNvPr id="4" name="Rectangle 6"/>
            <p:cNvSpPr>
              <a:spLocks noChangeArrowheads="1"/>
            </p:cNvSpPr>
            <p:nvPr/>
          </p:nvSpPr>
          <p:spPr bwMode="gray">
            <a:xfrm>
              <a:off x="539496" y="1789114"/>
              <a:ext cx="7982204" cy="163988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lIns="54007" tIns="54007" rIns="54007" bIns="54007"/>
            <a:lstStyle/>
            <a:p>
              <a:pPr marL="112713" lvl="1">
                <a:spcBef>
                  <a:spcPts val="0"/>
                </a:spcBef>
              </a:pPr>
              <a:r>
                <a:rPr lang="en-US" sz="1100" i="1" dirty="0">
                  <a:solidFill>
                    <a:schemeClr val="tx1"/>
                  </a:solidFill>
                </a:rPr>
                <a:t>Web and client application development(8 years experience)</a:t>
              </a:r>
            </a:p>
            <a:p>
              <a:pPr marL="112713" lvl="1">
                <a:spcBef>
                  <a:spcPts val="0"/>
                </a:spcBef>
              </a:pPr>
              <a:r>
                <a:rPr lang="en-US" sz="1100" dirty="0">
                  <a:solidFill>
                    <a:schemeClr val="tx1"/>
                  </a:solidFill>
                </a:rPr>
                <a:t>Proficient in both backend and frontend development for web and client applications, using multiple programming languages and frameworks.</a:t>
              </a:r>
            </a:p>
            <a:p>
              <a:pPr marL="112713" lvl="1">
                <a:spcBef>
                  <a:spcPts val="0"/>
                </a:spcBef>
              </a:pPr>
              <a:endParaRPr lang="en-US" sz="1100" dirty="0">
                <a:solidFill>
                  <a:schemeClr val="tx1"/>
                </a:solidFill>
              </a:endParaRPr>
            </a:p>
            <a:p>
              <a:pPr marL="112713" lvl="1">
                <a:spcBef>
                  <a:spcPts val="0"/>
                </a:spcBef>
              </a:pPr>
              <a:r>
                <a:rPr lang="en-US" sz="1100" i="1" dirty="0">
                  <a:solidFill>
                    <a:schemeClr val="tx1"/>
                  </a:solidFill>
                </a:rPr>
                <a:t>Data Analysis and Modeling (8 years experience)</a:t>
              </a:r>
            </a:p>
            <a:p>
              <a:pPr marL="112713" lvl="1">
                <a:spcBef>
                  <a:spcPts val="0"/>
                </a:spcBef>
              </a:pPr>
              <a:r>
                <a:rPr lang="en-US" sz="1100" dirty="0">
                  <a:solidFill>
                    <a:schemeClr val="tx1"/>
                  </a:solidFill>
                </a:rPr>
                <a:t>Proficient in sensor and industrial related data collection, storage, analysis, visualization and modeling, including both statistical and machine learning approach.</a:t>
              </a:r>
            </a:p>
            <a:p>
              <a:pPr marL="112713" lvl="1">
                <a:spcBef>
                  <a:spcPts val="0"/>
                </a:spcBef>
              </a:pPr>
              <a:endParaRPr lang="en-US" sz="1100" dirty="0">
                <a:solidFill>
                  <a:schemeClr val="tx1"/>
                </a:solidFill>
              </a:endParaRPr>
            </a:p>
            <a:p>
              <a:pPr marL="112713" lvl="1">
                <a:spcBef>
                  <a:spcPts val="0"/>
                </a:spcBef>
              </a:pPr>
              <a:r>
                <a:rPr lang="en-US" sz="1100" i="1" dirty="0">
                  <a:solidFill>
                    <a:schemeClr val="tx1"/>
                  </a:solidFill>
                </a:rPr>
                <a:t>Software Engineering and Project Management(4 years experience)</a:t>
              </a:r>
            </a:p>
            <a:p>
              <a:pPr marL="112713" lvl="1">
                <a:spcBef>
                  <a:spcPts val="0"/>
                </a:spcBef>
              </a:pPr>
              <a:r>
                <a:rPr lang="en-US" sz="1100" dirty="0">
                  <a:solidFill>
                    <a:schemeClr val="tx1"/>
                  </a:solidFill>
                </a:rPr>
                <a:t>Good at software definition and execution, especially Agile projects.</a:t>
              </a:r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gray">
            <a:xfrm>
              <a:off x="539497" y="3492537"/>
              <a:ext cx="7982204" cy="34766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algn="ctr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lIns="54007" tIns="54007" rIns="54007" bIns="54007" anchor="ctr"/>
            <a:lstStyle/>
            <a:p>
              <a:r>
                <a:rPr lang="en-US" altLang="zh-CN" sz="1200" b="1" dirty="0">
                  <a:solidFill>
                    <a:schemeClr val="tx1"/>
                  </a:solidFill>
                  <a:cs typeface="Arial" charset="0"/>
                </a:rPr>
                <a:t>M</a:t>
              </a:r>
              <a:r>
                <a:rPr lang="en-US" sz="1200" b="1" dirty="0">
                  <a:solidFill>
                    <a:schemeClr val="tx1"/>
                  </a:solidFill>
                  <a:cs typeface="Arial" charset="0"/>
                </a:rPr>
                <a:t>ain project experience summary</a:t>
              </a:r>
              <a:endParaRPr lang="en-US" altLang="zh-CN" sz="1200" b="1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gray">
            <a:xfrm>
              <a:off x="539496" y="3903737"/>
              <a:ext cx="7982204" cy="2460229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lIns="54007" tIns="54007" rIns="54007" bIns="54007"/>
            <a:lstStyle/>
            <a:p>
              <a:pPr marL="171450" marR="0" lvl="0" indent="-17145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Prior to joining Siemens: </a:t>
              </a:r>
              <a:endParaRPr lang="en-US" sz="1100" dirty="0">
                <a:solidFill>
                  <a:schemeClr val="tx1"/>
                </a:solidFill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628650" lvl="1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2014-2018: Test Software Development and Quality Management using 6-sigma</a:t>
              </a:r>
              <a:endParaRPr lang="en-US" sz="1100" dirty="0">
                <a:solidFill>
                  <a:schemeClr val="tx1"/>
                </a:solidFill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628650" lvl="1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2018-2020: MOVE – Sino-German public funded I4.0 project</a:t>
              </a:r>
            </a:p>
            <a:p>
              <a:pPr marL="628650" lvl="1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Arial" panose="020B0604020202020204" pitchFamily="34" charset="0"/>
                </a:rPr>
                <a:t>2020-2021: Bosch and UAES </a:t>
              </a:r>
              <a:r>
                <a:rPr lang="en-US" sz="1100" dirty="0">
                  <a:solidFill>
                    <a:schemeClr val="tx1"/>
                  </a:solidFill>
                  <a:ea typeface="等线" panose="02010600030101010101" pitchFamily="2" charset="-122"/>
                  <a:cs typeface="Arial" panose="020B0604020202020204" pitchFamily="34" charset="0"/>
                </a:rPr>
                <a:t>Internet of Vehicle solution</a:t>
              </a:r>
              <a:endParaRPr lang="en-US" sz="1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71450" marR="0" lvl="0" indent="-17145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2021.6 - 2021.12: </a:t>
              </a:r>
            </a:p>
            <a:p>
              <a:pPr marL="628650" lvl="1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Responsible for Bridge-Monitoring use case within CCS Wuxi project</a:t>
              </a:r>
              <a:endParaRPr lang="en-US" sz="1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71450" marR="0" lvl="0" indent="-17145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2021.6 - Present: </a:t>
              </a:r>
            </a:p>
            <a:p>
              <a:pPr marL="628650" lvl="1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Core member of “Device as a Service” team</a:t>
              </a:r>
              <a:endParaRPr lang="en-US" sz="1100" dirty="0">
                <a:solidFill>
                  <a:schemeClr val="tx1"/>
                </a:solidFill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085850" lvl="2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Condition monitoring and closed loop maintenance solution for automotive assembly (cooperation with FA SO)</a:t>
              </a:r>
              <a:endParaRPr lang="en-US" sz="1100" dirty="0">
                <a:solidFill>
                  <a:schemeClr val="tx1"/>
                </a:solidFill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085850" lvl="2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Proposal preparation for quality inspection of X-ray tubes (SXVT)</a:t>
              </a:r>
              <a:endParaRPr lang="en-US" sz="1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71450" marR="0" lvl="0" indent="-17145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2022.4 - Present: </a:t>
              </a:r>
            </a:p>
            <a:p>
              <a:pPr marL="628650" lvl="1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Project Manager for T CED “Loose Coupling” project</a:t>
              </a:r>
              <a:endParaRPr lang="en-US" sz="1100" dirty="0">
                <a:solidFill>
                  <a:schemeClr val="tx1"/>
                </a:solidFill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085850" lvl="2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Cross-TF input collection</a:t>
              </a:r>
              <a:endParaRPr lang="en-US" sz="1100" dirty="0">
                <a:solidFill>
                  <a:schemeClr val="tx1"/>
                </a:solidFill>
                <a:ea typeface="等线" panose="02010600030101010101" pitchFamily="2" charset="-122"/>
                <a:cs typeface="Arial" panose="020B0604020202020204" pitchFamily="34" charset="0"/>
              </a:endParaRPr>
            </a:p>
            <a:p>
              <a:pPr marL="1085850" lvl="2" indent="-17145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effectLst/>
                  <a:ea typeface="Times New Roman" panose="02020603050405020304" pitchFamily="18" charset="0"/>
                  <a:cs typeface="Arial" panose="020B0604020202020204" pitchFamily="34" charset="0"/>
                </a:rPr>
                <a:t>Coordination of technical work streams in CED DCO and INW</a:t>
              </a:r>
              <a:endParaRPr lang="en-US" sz="1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VERSION" val="4.1.2.0"/>
  <p:tag name="CDT_CREATORVERSION" val="4.1.2.0"/>
  <p:tag name="CDT_TEMPLATEVERSION" val="2.0.0"/>
  <p:tag name="CDT_FONTSET" val="Arial"/>
  <p:tag name="CDT_CUSTOMER" val="Siemens_2016_16x9"/>
  <p:tag name="CDT_CUSTOMER_NAME" val="Siemens AG (Corporate Design Update 2016)"/>
  <p:tag name="CDT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PROT" val="3"/>
  <p:tag name="CDT_PROT_TOP" val="0"/>
  <p:tag name="CDT_PROT_LEFT" val="0"/>
  <p:tag name="CDT_PROT_WIDTH" val="960,5"/>
  <p:tag name="CDT_PROT_HEIGHT" val="99,87504"/>
  <p:tag name="CDT_DELETE_ONEVENT_NEWPRES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9"/>
  <p:tag name="CDT_PROT" val="3"/>
  <p:tag name="CDT_PROT_TOP" val="519,5"/>
  <p:tag name="CDT_PROT_LEFT" val="298,2492"/>
  <p:tag name="CDT_PROT_WIDTH" val="662,2507"/>
  <p:tag name="CDT_PROT_HEIGHT" val="20,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heme/theme1.xml><?xml version="1.0" encoding="utf-8"?>
<a:theme xmlns:a="http://schemas.openxmlformats.org/drawingml/2006/main" name="Siemens 2016 – 16:9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square" lIns="108000" tIns="54000" rIns="108000" bIns="54000" numCol="1" spcCol="72000" rtlCol="0" anchor="ctr">
        <a:noAutofit/>
      </a:bodyPr>
      <a:lstStyle>
        <a:defPPr algn="ctr">
          <a:lnSpc>
            <a:spcPct val="110000"/>
          </a:lnSpc>
          <a:spcBef>
            <a:spcPct val="0"/>
          </a:spcBef>
          <a:buFont typeface="Wingdings" charset="0"/>
          <a:buNone/>
          <a:defRPr sz="18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 W3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2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p4ppTags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4ppTags>
  <Name>Free Content</Name>
  <PpLayout>11</PpLayout>
  <Index>9</Index>
</p4ppTag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60E91914DA5F49978150E210A25878" ma:contentTypeVersion="0" ma:contentTypeDescription="Create a new document." ma:contentTypeScope="" ma:versionID="7de0e1df36c8ced4958c7efad821a40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179AEE-EFD3-402D-920A-A16CBE391794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2FBA73-6DBF-45DA-8282-9342320CFAB0}">
  <ds:schemaRefs/>
</ds:datastoreItem>
</file>

<file path=customXml/itemProps3.xml><?xml version="1.0" encoding="utf-8"?>
<ds:datastoreItem xmlns:ds="http://schemas.openxmlformats.org/officeDocument/2006/customXml" ds:itemID="{3047554A-C024-481C-A516-87CB120A98C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8097D0C-BE3E-4AEC-9593-65CFCCB19297}">
  <ds:schemaRefs/>
</ds:datastoreItem>
</file>

<file path=customXml/itemProps5.xml><?xml version="1.0" encoding="utf-8"?>
<ds:datastoreItem xmlns:ds="http://schemas.openxmlformats.org/officeDocument/2006/customXml" ds:itemID="{52E5B269-F92B-482F-8051-0909763887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SIM_PPT_2007_16x9_DEU_V2_0_0_BASIC.pptx</Template>
  <TotalTime>60</TotalTime>
  <Words>387</Words>
  <Application>Microsoft Office PowerPoint</Application>
  <PresentationFormat>Custom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Wingdings</vt:lpstr>
      <vt:lpstr>Siemens 2016 – 16:9</vt:lpstr>
      <vt:lpstr>Yang Shao Peng, Lead Engineer, Wuxi</vt:lpstr>
      <vt:lpstr>Yang Shao Peng, Lead Engineer, Wuxi</vt:lpstr>
    </vt:vector>
  </TitlesOfParts>
  <Company>SIEMENS AG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Corporate Design PowerPoint-Templates</dc:title>
  <dc:creator>Marco Stölk</dc:creator>
  <cp:keywords>C_Confidential</cp:keywords>
  <cp:lastModifiedBy>Yang, Shao Peng (T CED INW-CN)</cp:lastModifiedBy>
  <cp:revision>35</cp:revision>
  <cp:lastPrinted>2012-10-29T09:59:01Z</cp:lastPrinted>
  <dcterms:created xsi:type="dcterms:W3CDTF">2006-04-07T10:01:45Z</dcterms:created>
  <dcterms:modified xsi:type="dcterms:W3CDTF">2022-05-13T02:58:04Z</dcterms:modified>
  <dc:language>English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Deutsch</vt:lpwstr>
  </property>
  <property fmtid="{D5CDD505-2E9C-101B-9397-08002B2CF9AE}" pid="3" name="Release date">
    <vt:lpwstr>July 2016</vt:lpwstr>
  </property>
  <property fmtid="{D5CDD505-2E9C-101B-9397-08002B2CF9AE}" pid="4" name="Office version">
    <vt:lpwstr>2007/2010</vt:lpwstr>
  </property>
  <property fmtid="{D5CDD505-2E9C-101B-9397-08002B2CF9AE}" pid="5" name="Release version">
    <vt:lpwstr>1.2</vt:lpwstr>
  </property>
  <property fmtid="{D5CDD505-2E9C-101B-9397-08002B2CF9AE}" pid="6" name="ContentTypeId">
    <vt:lpwstr>0x010100EA60E91914DA5F49978150E210A25878</vt:lpwstr>
  </property>
  <property fmtid="{D5CDD505-2E9C-101B-9397-08002B2CF9AE}" pid="7" name="_NewReviewCycle">
    <vt:lpwstr/>
  </property>
  <property fmtid="{D5CDD505-2E9C-101B-9397-08002B2CF9AE}" pid="8" name="Document Confidentiality">
    <vt:lpwstr>Confidential</vt:lpwstr>
  </property>
  <property fmtid="{D5CDD505-2E9C-101B-9397-08002B2CF9AE}" pid="9" name="MSIP_Label_707c3c3c-9479-4e9e-ace6-d736970bf3b0_Enabled">
    <vt:lpwstr>true</vt:lpwstr>
  </property>
  <property fmtid="{D5CDD505-2E9C-101B-9397-08002B2CF9AE}" pid="10" name="MSIP_Label_707c3c3c-9479-4e9e-ace6-d736970bf3b0_SetDate">
    <vt:lpwstr>2022-05-13T02:58:04Z</vt:lpwstr>
  </property>
  <property fmtid="{D5CDD505-2E9C-101B-9397-08002B2CF9AE}" pid="11" name="MSIP_Label_707c3c3c-9479-4e9e-ace6-d736970bf3b0_Method">
    <vt:lpwstr>Standard</vt:lpwstr>
  </property>
  <property fmtid="{D5CDD505-2E9C-101B-9397-08002B2CF9AE}" pid="12" name="MSIP_Label_707c3c3c-9479-4e9e-ace6-d736970bf3b0_Name">
    <vt:lpwstr>confidential-default</vt:lpwstr>
  </property>
  <property fmtid="{D5CDD505-2E9C-101B-9397-08002B2CF9AE}" pid="13" name="MSIP_Label_707c3c3c-9479-4e9e-ace6-d736970bf3b0_SiteId">
    <vt:lpwstr>38ae3bcd-9579-4fd4-adda-b42e1495d55a</vt:lpwstr>
  </property>
  <property fmtid="{D5CDD505-2E9C-101B-9397-08002B2CF9AE}" pid="14" name="MSIP_Label_707c3c3c-9479-4e9e-ace6-d736970bf3b0_ActionId">
    <vt:lpwstr>d65c74ed-6bfc-47c2-99f7-2cb8a3ddbaba</vt:lpwstr>
  </property>
  <property fmtid="{D5CDD505-2E9C-101B-9397-08002B2CF9AE}" pid="15" name="MSIP_Label_707c3c3c-9479-4e9e-ace6-d736970bf3b0_ContentBits">
    <vt:lpwstr>0</vt:lpwstr>
  </property>
  <property fmtid="{D5CDD505-2E9C-101B-9397-08002B2CF9AE}" pid="16" name="Document_Confidentiality">
    <vt:lpwstr>Confidential</vt:lpwstr>
  </property>
</Properties>
</file>