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55" r:id="rId2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7461" autoAdjust="0"/>
  </p:normalViewPr>
  <p:slideViewPr>
    <p:cSldViewPr snapToGrid="0" showGuides="1">
      <p:cViewPr varScale="1">
        <p:scale>
          <a:sx n="81" d="100"/>
          <a:sy n="81" d="100"/>
        </p:scale>
        <p:origin x="346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4188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 dirty="0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9/8/2022</a:t>
            </a:fld>
            <a:endParaRPr lang="en-US" sz="1050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 dirty="0">
                <a:solidFill>
                  <a:schemeClr val="accent2"/>
                </a:solidFill>
              </a:rPr>
              <a:t>Hand out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 dirty="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 dirty="0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9/8/2022</a:t>
            </a:fld>
            <a:endParaRPr lang="en-US"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 dirty="0">
                <a:solidFill>
                  <a:schemeClr val="accent2"/>
                </a:solidFill>
              </a:rPr>
              <a:t>Notes</a:t>
            </a:r>
            <a:r>
              <a:rPr lang="en-US" dirty="0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0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0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>
            <a:extLst>
              <a:ext uri="{FF2B5EF4-FFF2-40B4-BE49-F238E27FC236}">
                <a16:creationId xmlns:a16="http://schemas.microsoft.com/office/drawing/2014/main" id="{0BFF4D39-40C1-430B-8EAE-9F0C23FB92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5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>
            <a:extLst>
              <a:ext uri="{FF2B5EF4-FFF2-40B4-BE49-F238E27FC236}">
                <a16:creationId xmlns:a16="http://schemas.microsoft.com/office/drawing/2014/main" id="{F50DEF7C-D243-494F-A738-41FC9AF51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1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>
            <a:extLst>
              <a:ext uri="{FF2B5EF4-FFF2-40B4-BE49-F238E27FC236}">
                <a16:creationId xmlns:a16="http://schemas.microsoft.com/office/drawing/2014/main" id="{D85C896F-5143-4E99-8DAC-24268F2AB9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61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>
            <a:extLst>
              <a:ext uri="{FF2B5EF4-FFF2-40B4-BE49-F238E27FC236}">
                <a16:creationId xmlns:a16="http://schemas.microsoft.com/office/drawing/2014/main" id="{70837433-2C09-4518-AF0D-697A97CAC3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invGray">
          <a:xfrm>
            <a:off x="692" y="0"/>
            <a:ext cx="12190615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91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>
            <a:extLst>
              <a:ext uri="{FF2B5EF4-FFF2-40B4-BE49-F238E27FC236}">
                <a16:creationId xmlns:a16="http://schemas.microsoft.com/office/drawing/2014/main" id="{27F2F8A2-6E12-4773-AC50-4184B9A3F5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invGray">
          <a:xfrm>
            <a:off x="692" y="0"/>
            <a:ext cx="12190615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26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>
            <a:extLst>
              <a:ext uri="{FF2B5EF4-FFF2-40B4-BE49-F238E27FC236}">
                <a16:creationId xmlns:a16="http://schemas.microsoft.com/office/drawing/2014/main" id="{869D22A5-9609-44D7-B36E-41D9CC37CE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invGray">
          <a:xfrm>
            <a:off x="692" y="0"/>
            <a:ext cx="12190615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33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78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75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28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6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9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04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3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77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24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8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2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0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61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36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Subline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89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8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11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0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96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36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47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8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73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0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2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36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86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9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59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2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11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0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399" y="1414463"/>
            <a:ext cx="11370437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36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>
            <a:extLst>
              <a:ext uri="{FF2B5EF4-FFF2-40B4-BE49-F238E27FC236}">
                <a16:creationId xmlns:a16="http://schemas.microsoft.com/office/drawing/2014/main" id="{FEC69F24-2876-47B9-A4B6-0ADE800ECD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5904675" cy="576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4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23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0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62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1219200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99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6156275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7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522" userDrawn="1">
          <p15:clr>
            <a:srgbClr val="65CEFF"/>
          </p15:clr>
        </p15:guide>
        <p15:guide id="3" pos="4794" userDrawn="1">
          <p15:clr>
            <a:srgbClr val="65CEFF"/>
          </p15:clr>
        </p15:guide>
        <p15:guide id="4" pos="5066" userDrawn="1">
          <p15:clr>
            <a:srgbClr val="65CEFF"/>
          </p15:clr>
        </p15:guide>
        <p15:guide id="5" pos="6472" userDrawn="1">
          <p15:clr>
            <a:srgbClr val="65CEFF"/>
          </p15:clr>
        </p15:guide>
        <p15:guide id="6" pos="7425" userDrawn="1">
          <p15:clr>
            <a:srgbClr val="65CEFF"/>
          </p15:clr>
        </p15:guide>
        <p15:guide id="7" orient="horz" pos="302" userDrawn="1">
          <p15:clr>
            <a:srgbClr val="65CEFF"/>
          </p15:clr>
        </p15:guide>
        <p15:guide id="8" orient="horz" pos="664" userDrawn="1">
          <p15:clr>
            <a:srgbClr val="65CEFF"/>
          </p15:clr>
        </p15:guide>
        <p15:guide id="9" orient="horz" pos="891" userDrawn="1">
          <p15:clr>
            <a:srgbClr val="65CEFF"/>
          </p15:clr>
        </p15:guide>
        <p15:guide id="10" orient="horz" pos="3658" userDrawn="1">
          <p15:clr>
            <a:srgbClr val="65CEFF"/>
          </p15:clr>
        </p15:guide>
        <p15:guide id="11" orient="horz" pos="3885" userDrawn="1">
          <p15:clr>
            <a:srgbClr val="65CEFF"/>
          </p15:clr>
        </p15:guide>
        <p15:guide id="12" orient="horz" pos="4157" userDrawn="1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 (with key visua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>
            <a:extLst>
              <a:ext uri="{FF2B5EF4-FFF2-40B4-BE49-F238E27FC236}">
                <a16:creationId xmlns:a16="http://schemas.microsoft.com/office/drawing/2014/main" id="{AE83F1C5-95B7-47C3-B837-8191D1E397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91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34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>
            <a:extLst>
              <a:ext uri="{FF2B5EF4-FFF2-40B4-BE49-F238E27FC236}">
                <a16:creationId xmlns:a16="http://schemas.microsoft.com/office/drawing/2014/main" id="{E2F7C1AE-8376-445B-98CD-DBE6E96E3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invGray">
          <a:xfrm>
            <a:off x="692" y="0"/>
            <a:ext cx="12190615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12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83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3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4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6472" userDrawn="1">
          <p15:clr>
            <a:srgbClr val="65CEFF"/>
          </p15:clr>
        </p15:guide>
        <p15:guide id="4" pos="7425" userDrawn="1">
          <p15:clr>
            <a:srgbClr val="65CEFF"/>
          </p15:clr>
        </p15:guide>
        <p15:guide id="5" orient="horz" pos="302" userDrawn="1">
          <p15:clr>
            <a:srgbClr val="65CEFF"/>
          </p15:clr>
        </p15:guide>
        <p15:guide id="6" orient="horz" pos="664" userDrawn="1">
          <p15:clr>
            <a:srgbClr val="65CEFF"/>
          </p15:clr>
        </p15:guide>
        <p15:guide id="7" orient="horz" pos="891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5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1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60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2206" userDrawn="1">
          <p15:clr>
            <a:srgbClr val="65CEFF"/>
          </p15:clr>
        </p15:guide>
        <p15:guide id="10" orient="horz" pos="2343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ltGray">
          <a:xfrm>
            <a:off x="411161" y="1414800"/>
            <a:ext cx="719931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out logo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7B869-3095-4D4F-B832-8B6077991AA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299C05E6-AE55-4C36-8543-1DA3751542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ltGray">
          <a:xfrm>
            <a:off x="411163" y="1414800"/>
            <a:ext cx="7199311" cy="4752000"/>
          </a:xfrm>
          <a:solidFill>
            <a:schemeClr val="bg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BA12055-C879-45E9-A105-2B26D233C9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AD82E40-8759-4AAC-B9F2-63E0F2C4CC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10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able Placeholder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28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1" name="Copy 2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0" name="Copy 3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58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 bwMode="black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19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2206" userDrawn="1">
          <p15:clr>
            <a:srgbClr val="65CEFF"/>
          </p15:clr>
        </p15:guide>
        <p15:guide id="7" orient="horz" pos="2343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</a:extLst>
          </p:cNvPr>
          <p:cNvSpPr/>
          <p:nvPr userDrawn="1"/>
        </p:nvSpPr>
        <p:spPr bwMode="black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12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3658" userDrawn="1">
          <p15:clr>
            <a:srgbClr val="65CEFF"/>
          </p15:clr>
        </p15:guide>
        <p15:guide id="7" orient="horz" pos="3885" userDrawn="1">
          <p15:clr>
            <a:srgbClr val="65CEFF"/>
          </p15:clr>
        </p15:guide>
        <p15:guide id="8" orient="horz" pos="4157" userDrawn="1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1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01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1163" y="1234800"/>
            <a:ext cx="9863237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8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Department etc.</a:t>
            </a:r>
          </a:p>
          <a:p>
            <a:pPr lvl="3"/>
            <a:r>
              <a:rPr lang="en-US" dirty="0"/>
              <a:t>subchapter</a:t>
            </a:r>
          </a:p>
          <a:p>
            <a:pPr lvl="4"/>
            <a:r>
              <a:rPr lang="en-US" dirty="0"/>
              <a:t>active subchapter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99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778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vmlDrawing" Target="../drawings/vmlDrawing1.v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B47EACA2-2692-6240-72CF-E3CA59D879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7"/>
            </p:custDataLst>
            <p:extLst>
              <p:ext uri="{D42A27DB-BD31-4B8C-83A1-F6EECF244321}">
                <p14:modId xmlns:p14="http://schemas.microsoft.com/office/powerpoint/2010/main" val="1003597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think-cell Slide" r:id="rId58" imgW="498" imgH="499" progId="TCLayout.ActiveDocument.1">
                  <p:embed/>
                </p:oleObj>
              </mc:Choice>
              <mc:Fallback>
                <p:oleObj name="think-cell Slide" r:id="rId58" imgW="498" imgH="49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48" r:id="rId19"/>
    <p:sldLayoutId id="2147483749" r:id="rId20"/>
    <p:sldLayoutId id="2147483750" r:id="rId21"/>
    <p:sldLayoutId id="2147483745" r:id="rId22"/>
    <p:sldLayoutId id="2147483746" r:id="rId23"/>
    <p:sldLayoutId id="2147483747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4" r:id="rId31"/>
    <p:sldLayoutId id="2147483708" r:id="rId32"/>
    <p:sldLayoutId id="2147483655" r:id="rId33"/>
    <p:sldLayoutId id="2147483742" r:id="rId34"/>
    <p:sldLayoutId id="2147483677" r:id="rId35"/>
    <p:sldLayoutId id="2147483709" r:id="rId36"/>
    <p:sldLayoutId id="2147483751" r:id="rId37"/>
    <p:sldLayoutId id="2147483691" r:id="rId38"/>
    <p:sldLayoutId id="2147483752" r:id="rId39"/>
    <p:sldLayoutId id="2147483692" r:id="rId40"/>
    <p:sldLayoutId id="2147483650" r:id="rId41"/>
    <p:sldLayoutId id="2147483665" r:id="rId42"/>
    <p:sldLayoutId id="2147483666" r:id="rId43"/>
    <p:sldLayoutId id="2147483697" r:id="rId44"/>
    <p:sldLayoutId id="2147483698" r:id="rId45"/>
    <p:sldLayoutId id="2147483652" r:id="rId46"/>
    <p:sldLayoutId id="2147483680" r:id="rId47"/>
    <p:sldLayoutId id="2147483694" r:id="rId48"/>
    <p:sldLayoutId id="2147483687" r:id="rId49"/>
    <p:sldLayoutId id="2147483681" r:id="rId50"/>
    <p:sldLayoutId id="2147483690" r:id="rId51"/>
    <p:sldLayoutId id="2147483711" r:id="rId52"/>
    <p:sldLayoutId id="2147483682" r:id="rId53"/>
    <p:sldLayoutId id="2147483678" r:id="rId5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5550496E-5C5D-D776-91DC-55C9B03A854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560161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think-cell Slide" r:id="rId4" imgW="498" imgH="499" progId="TCLayout.ActiveDocument.1">
                  <p:embed/>
                </p:oleObj>
              </mc:Choice>
              <mc:Fallback>
                <p:oleObj name="think-cell Slide" r:id="rId4" imgW="498" imgH="49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813C3CFC-9697-4716-A651-26E69FE6A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Ya</a:t>
            </a:r>
            <a:r>
              <a:rPr lang="en-US" altLang="zh-CN" dirty="0"/>
              <a:t>ng</a:t>
            </a:r>
            <a:r>
              <a:rPr lang="en-US" dirty="0"/>
              <a:t> Shao Peng</a:t>
            </a:r>
            <a:br>
              <a:rPr lang="en-US" dirty="0"/>
            </a:br>
            <a:r>
              <a:rPr lang="en-US" b="0" dirty="0"/>
              <a:t>T CED INW-CN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F4DAD0C9-C8E6-49A1-8C40-DE4670D2D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400" y="1133764"/>
            <a:ext cx="4716336" cy="218586"/>
          </a:xfr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</a:rPr>
              <a:t>Review Results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59537E0-7DD0-4DA0-A93A-15FBB24A8F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2022 | P&amp;O | 2022-09-07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CB1948C2-BCB7-4A85-B181-A476AEC4C9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</a:t>
            </a:fld>
            <a:endParaRPr lang="en-US" dirty="0"/>
          </a:p>
        </p:txBody>
      </p:sp>
      <p:graphicFrame>
        <p:nvGraphicFramePr>
          <p:cNvPr id="19" name="Table">
            <a:extLst>
              <a:ext uri="{FF2B5EF4-FFF2-40B4-BE49-F238E27FC236}">
                <a16:creationId xmlns:a16="http://schemas.microsoft.com/office/drawing/2014/main" id="{64D0C57E-5970-6F23-22D0-7F9AA186F3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6182476"/>
              </p:ext>
            </p:extLst>
          </p:nvPr>
        </p:nvGraphicFramePr>
        <p:xfrm>
          <a:off x="410400" y="1414463"/>
          <a:ext cx="4716336" cy="493200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4289616">
                  <a:extLst>
                    <a:ext uri="{9D8B030D-6E8A-4147-A177-3AD203B41FA5}">
                      <a16:colId xmlns:a16="http://schemas.microsoft.com/office/drawing/2014/main" val="424987503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1303975626"/>
                    </a:ext>
                  </a:extLst>
                </a:gridCol>
              </a:tblGrid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Education &amp; working experience in relevant area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4.00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913490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Independency /job diversity 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4.00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3791763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Scope of expertise /Technical Know-how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3.85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2538674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Project Management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4.15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0625701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Patents, Standards, Publication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3.14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336970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Contact &amp; External reputation 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3.25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2433493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Collaboration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3.93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6636176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Driving Innovation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3.64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7758790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Coaching &amp; Developing Others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3.14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9150573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Communication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4.00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9125824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Business Acumen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3.93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3889696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Driving Change 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3.71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9789128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Technology trend and related biz. impact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3.57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5805507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Understanding to Siemens biz., products, solutions &amp; services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3.43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7884985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End customer applications  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4.21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9167228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Market understanding</a:t>
                      </a:r>
                    </a:p>
                  </a:txBody>
                  <a:tcPr marL="7620" marR="7620" marT="54000" marB="54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chemeClr val="accent5"/>
                          </a:solidFill>
                          <a:effectLst/>
                          <a:latin typeface="+mn-lt"/>
                        </a:rPr>
                        <a:t>3.86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6652449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913850-4E70-B996-A938-0A68EAFABE8B}"/>
              </a:ext>
            </a:extLst>
          </p:cNvPr>
          <p:cNvCxnSpPr/>
          <p:nvPr/>
        </p:nvCxnSpPr>
        <p:spPr>
          <a:xfrm>
            <a:off x="410400" y="1414463"/>
            <a:ext cx="4716336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solid"/>
            <a:miter lim="800000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py">
            <a:extLst>
              <a:ext uri="{FF2B5EF4-FFF2-40B4-BE49-F238E27FC236}">
                <a16:creationId xmlns:a16="http://schemas.microsoft.com/office/drawing/2014/main" id="{524E9733-2D64-6983-A4FF-F2F6C49300CF}"/>
              </a:ext>
            </a:extLst>
          </p:cNvPr>
          <p:cNvSpPr txBox="1">
            <a:spLocks/>
          </p:cNvSpPr>
          <p:nvPr/>
        </p:nvSpPr>
        <p:spPr bwMode="black">
          <a:xfrm>
            <a:off x="5354320" y="1133764"/>
            <a:ext cx="6427280" cy="2185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accent5"/>
                </a:solidFill>
              </a:rPr>
              <a:t>Strength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829773-9EB8-195C-FCED-A480C8464154}"/>
              </a:ext>
            </a:extLst>
          </p:cNvPr>
          <p:cNvCxnSpPr>
            <a:cxnSpLocks/>
          </p:cNvCxnSpPr>
          <p:nvPr/>
        </p:nvCxnSpPr>
        <p:spPr>
          <a:xfrm>
            <a:off x="5354321" y="1414463"/>
            <a:ext cx="6427280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solid"/>
            <a:miter lim="800000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F7E4FAC-4D3A-43FC-6886-73DD6F19DB79}"/>
              </a:ext>
            </a:extLst>
          </p:cNvPr>
          <p:cNvSpPr txBox="1"/>
          <p:nvPr/>
        </p:nvSpPr>
        <p:spPr>
          <a:xfrm>
            <a:off x="5354320" y="1568723"/>
            <a:ext cx="6427280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20000" lvl="1" indent="-12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Technical broadness</a:t>
            </a:r>
          </a:p>
          <a:p>
            <a:pPr marL="120000" lvl="1" indent="-12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Good communication skill, fluent English and presentation </a:t>
            </a:r>
          </a:p>
          <a:p>
            <a:pPr marL="120000" lvl="1" indent="-12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Rich experience in project management</a:t>
            </a:r>
          </a:p>
          <a:p>
            <a:pPr marL="120000" lvl="1" indent="-12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Customer focus and understanding</a:t>
            </a:r>
          </a:p>
          <a:p>
            <a:pPr marL="120000" lvl="1" indent="-12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Get things done with flexibility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C996B48-29F9-035B-9D43-057AD0C797A5}"/>
              </a:ext>
            </a:extLst>
          </p:cNvPr>
          <p:cNvGrpSpPr/>
          <p:nvPr/>
        </p:nvGrpSpPr>
        <p:grpSpPr>
          <a:xfrm>
            <a:off x="5354320" y="3412469"/>
            <a:ext cx="6427281" cy="1327511"/>
            <a:chOff x="5354320" y="2800458"/>
            <a:chExt cx="6427281" cy="1327511"/>
          </a:xfrm>
        </p:grpSpPr>
        <p:sp>
          <p:nvSpPr>
            <p:cNvPr id="26" name="Copy">
              <a:extLst>
                <a:ext uri="{FF2B5EF4-FFF2-40B4-BE49-F238E27FC236}">
                  <a16:creationId xmlns:a16="http://schemas.microsoft.com/office/drawing/2014/main" id="{53E93FAB-DD42-B135-9D60-64CAB62C4FD7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5354320" y="2800458"/>
              <a:ext cx="6427280" cy="21858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solidFill>
                    <a:schemeClr val="accent5"/>
                  </a:solidFill>
                </a:rPr>
                <a:t>I</a:t>
              </a:r>
              <a:r>
                <a:rPr lang="en-US" altLang="zh-CN" sz="1400" b="1" dirty="0">
                  <a:solidFill>
                    <a:schemeClr val="accent5"/>
                  </a:solidFill>
                </a:rPr>
                <a:t>mprovement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4E44F26-E1B0-6397-022C-9732988A7B27}"/>
                </a:ext>
              </a:extLst>
            </p:cNvPr>
            <p:cNvCxnSpPr>
              <a:cxnSpLocks/>
            </p:cNvCxnSpPr>
            <p:nvPr/>
          </p:nvCxnSpPr>
          <p:spPr>
            <a:xfrm>
              <a:off x="5354321" y="3081157"/>
              <a:ext cx="6427280" cy="0"/>
            </a:xfrm>
            <a:prstGeom prst="line">
              <a:avLst/>
            </a:prstGeom>
            <a:ln w="9525" cap="flat" cmpd="sng" algn="ctr">
              <a:solidFill>
                <a:schemeClr val="accent5"/>
              </a:solidFill>
              <a:prstDash val="solid"/>
              <a:miter lim="800000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607EB1-2068-8B43-719C-BA632BC051A6}"/>
                </a:ext>
              </a:extLst>
            </p:cNvPr>
            <p:cNvSpPr txBox="1"/>
            <p:nvPr/>
          </p:nvSpPr>
          <p:spPr>
            <a:xfrm>
              <a:off x="5354320" y="3235417"/>
              <a:ext cx="6427280" cy="8925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0000" lvl="1" indent="-12000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/>
                <a:t>Could be better if can have further developments for technology innovation and identified technology focus</a:t>
              </a:r>
            </a:p>
            <a:p>
              <a:pPr marL="120000" lvl="1" indent="-12000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/>
                <a:t>Could have more business impact </a:t>
              </a:r>
            </a:p>
            <a:p>
              <a:pPr marL="120000" lvl="1" indent="-12000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/>
                <a:t>M</a:t>
              </a:r>
              <a:r>
                <a:rPr lang="en-US" altLang="zh-CN" sz="1200" dirty="0"/>
                <a:t>ight be better to s</a:t>
              </a:r>
              <a:r>
                <a:rPr lang="en-US" sz="1200" dirty="0"/>
                <a:t>low down at important points in presentation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54E99F5-F39B-A85B-033F-9A760BDBB079}"/>
              </a:ext>
            </a:extLst>
          </p:cNvPr>
          <p:cNvGrpSpPr/>
          <p:nvPr/>
        </p:nvGrpSpPr>
        <p:grpSpPr>
          <a:xfrm>
            <a:off x="5354320" y="5429565"/>
            <a:ext cx="6427281" cy="881235"/>
            <a:chOff x="5354320" y="5393974"/>
            <a:chExt cx="6427281" cy="881235"/>
          </a:xfrm>
        </p:grpSpPr>
        <p:sp>
          <p:nvSpPr>
            <p:cNvPr id="29" name="Copy">
              <a:extLst>
                <a:ext uri="{FF2B5EF4-FFF2-40B4-BE49-F238E27FC236}">
                  <a16:creationId xmlns:a16="http://schemas.microsoft.com/office/drawing/2014/main" id="{F6C370BD-D3F1-262A-9E18-9D6EB1B8EED3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5354320" y="5393974"/>
              <a:ext cx="6427280" cy="21858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solidFill>
                    <a:schemeClr val="accent5"/>
                  </a:solidFill>
                </a:rPr>
                <a:t>Suggested Development Measures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76C4854-AC79-50DD-06B3-37E69A686570}"/>
                </a:ext>
              </a:extLst>
            </p:cNvPr>
            <p:cNvCxnSpPr>
              <a:cxnSpLocks/>
            </p:cNvCxnSpPr>
            <p:nvPr/>
          </p:nvCxnSpPr>
          <p:spPr>
            <a:xfrm>
              <a:off x="5354321" y="5674673"/>
              <a:ext cx="6427280" cy="0"/>
            </a:xfrm>
            <a:prstGeom prst="line">
              <a:avLst/>
            </a:prstGeom>
            <a:ln w="9525" cap="flat" cmpd="sng" algn="ctr">
              <a:solidFill>
                <a:schemeClr val="accent5"/>
              </a:solidFill>
              <a:prstDash val="solid"/>
              <a:miter lim="800000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E6F0160-590D-8BAA-5CCD-51275DEB7C7E}"/>
                </a:ext>
              </a:extLst>
            </p:cNvPr>
            <p:cNvSpPr txBox="1"/>
            <p:nvPr/>
          </p:nvSpPr>
          <p:spPr>
            <a:xfrm>
              <a:off x="5354320" y="5828933"/>
              <a:ext cx="6427280" cy="44627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0000" lvl="1" indent="-12000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/>
                <a:t>More local and global exposure </a:t>
              </a:r>
            </a:p>
            <a:p>
              <a:pPr marL="120000" lvl="1" indent="-12000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/>
                <a:t>A more clear scope/expertise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0464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6bdbc8e-f81c-4748-99cc-bf771adff048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Siemens Petrol | 0 153 153">
      <a:srgbClr val="009999"/>
    </a:custClr>
    <a:custClr name="No color">
      <a:srgbClr val="FFFFFF"/>
    </a:custClr>
    <a:custClr name="Dark Blue | 0 85 124">
      <a:srgbClr val="00557C"/>
    </a:custClr>
    <a:custClr name="Dark Green | 0 100 110">
      <a:srgbClr val="00646E"/>
    </a:custClr>
    <a:custClr name="Dark Sand | 170 170 150">
      <a:srgbClr val="AAAA96"/>
    </a:custClr>
    <a:custClr name="Deep Blue | 0 0 40">
      <a:srgbClr val="000028"/>
    </a:custClr>
    <a:custClr name="Deep Blue 40% (Gray) | 153 153 169">
      <a:srgbClr val="9999A9"/>
    </a:custClr>
    <a:custClr name="Dark Purple | 80 0 120">
      <a:srgbClr val="500078"/>
    </a:custClr>
    <a:custClr name="Dark Orange | 236 102 2">
      <a:srgbClr val="EC6602"/>
    </a:custClr>
    <a:custClr name="Red | 239 1 55">
      <a:srgbClr val="EF0137"/>
    </a:custClr>
    <a:custClr name="Deep Blue | 0 0 40">
      <a:srgbClr val="000028"/>
    </a:custClr>
    <a:custClr name="No color">
      <a:srgbClr val="FFFFFF"/>
    </a:custClr>
    <a:custClr name="Blue | 0 135 190">
      <a:srgbClr val="0087BE"/>
    </a:custClr>
    <a:custClr name="Green | 0 175 142">
      <a:srgbClr val="00AF8E"/>
    </a:custClr>
    <a:custClr name="Soft Sand | 197 197 184">
      <a:srgbClr val="C5C5B8"/>
    </a:custClr>
    <a:custClr name="Deep Blue 80% | 51 51 83">
      <a:srgbClr val="333353"/>
    </a:custClr>
    <a:custClr name="Deep Blue 20% (Soft Gray) | 204 204 212">
      <a:srgbClr val="CCCCD4"/>
    </a:custClr>
    <a:custClr name="Purple | 170 50 190">
      <a:srgbClr val="AA32BE"/>
    </a:custClr>
    <a:custClr name="Orange | 255 144 0">
      <a:srgbClr val="FF9000"/>
    </a:custClr>
    <a:custClr name="Soft Red | 254 131 137">
      <a:srgbClr val="FE8389"/>
    </a:custClr>
    <a:custClr name="Light Sand | 243 243 240">
      <a:srgbClr val="F3F3F0"/>
    </a:custClr>
    <a:custClr name="No color">
      <a:srgbClr val="FFFFFF"/>
    </a:custClr>
    <a:custClr name="Soft Blue | 0 190 220">
      <a:srgbClr val="00BEDC"/>
    </a:custClr>
    <a:custClr name="Soft Green | 0 215 160">
      <a:srgbClr val="00D7A0"/>
    </a:custClr>
    <a:custClr name="Bright Sand | 223 223 217">
      <a:srgbClr val="DFDFD9"/>
    </a:custClr>
    <a:custClr name="Deep Blue 60% (Dark Gray) | 102 102 126">
      <a:srgbClr val="66667E"/>
    </a:custClr>
    <a:custClr name="Deep Blue 10% (Light Gray) | 229 229 233">
      <a:srgbClr val="E5E5E9"/>
    </a:custClr>
    <a:custClr name="Yellow | 255 215 50">
      <a:srgbClr val="FFD732"/>
    </a:custClr>
    <a:custClr name="Bold Green">
      <a:srgbClr val="00FFB9"/>
    </a:custClr>
    <a:custClr name="Bold Blue">
      <a:srgbClr val="00E6DC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No color">
      <a:srgbClr val="FFFFFF"/>
    </a:custClr>
    <a:custClr name="Dark Blue | 0 85 124">
      <a:srgbClr val="00557C"/>
    </a:custClr>
    <a:custClr name="Dark Green | 0 100 110">
      <a:srgbClr val="00646E"/>
    </a:custClr>
    <a:custClr name="Dark Sand | 170 170 150">
      <a:srgbClr val="AAAA96"/>
    </a:custClr>
    <a:custClr name="Deep Blue | 0 0 40">
      <a:srgbClr val="000028"/>
    </a:custClr>
    <a:custClr name="Deep Blue 40% (Gray) | 153 153 169">
      <a:srgbClr val="9999A9"/>
    </a:custClr>
    <a:custClr name="Dark Purple | 80 0 120">
      <a:srgbClr val="500078"/>
    </a:custClr>
    <a:custClr name="Dark Orange | 236 102 2">
      <a:srgbClr val="EC6602"/>
    </a:custClr>
    <a:custClr name="Red | 239 1 55">
      <a:srgbClr val="EF0137"/>
    </a:custClr>
    <a:custClr name="Deep Blue | 0 0 40">
      <a:srgbClr val="000028"/>
    </a:custClr>
    <a:custClr name="No color">
      <a:srgbClr val="FFFFFF"/>
    </a:custClr>
    <a:custClr name="Blue | 0 135 190">
      <a:srgbClr val="0087BE"/>
    </a:custClr>
    <a:custClr name="Green | 0 175 142">
      <a:srgbClr val="00AF8E"/>
    </a:custClr>
    <a:custClr name="Soft Sand | 197 197 184">
      <a:srgbClr val="C5C5B8"/>
    </a:custClr>
    <a:custClr name="Deep Blue 80% | 51 51 83">
      <a:srgbClr val="333353"/>
    </a:custClr>
    <a:custClr name="Deep Blue 20% (Soft Gray) | 204 204 212">
      <a:srgbClr val="CCCCD4"/>
    </a:custClr>
    <a:custClr name="Purple | 170 50 190">
      <a:srgbClr val="AA32BE"/>
    </a:custClr>
    <a:custClr name="Orange | 255 144 0">
      <a:srgbClr val="FF9000"/>
    </a:custClr>
    <a:custClr name="Soft Red | 254 131 137">
      <a:srgbClr val="FE8389"/>
    </a:custClr>
    <a:custClr name="Light Sand | 243 243 240">
      <a:srgbClr val="F3F3F0"/>
    </a:custClr>
    <a:custClr name="No color">
      <a:srgbClr val="FFFFFF"/>
    </a:custClr>
    <a:custClr name="Soft Blue | 0 190 220">
      <a:srgbClr val="00BEDC"/>
    </a:custClr>
    <a:custClr name="Soft Green | 0 215 160">
      <a:srgbClr val="00D7A0"/>
    </a:custClr>
    <a:custClr name="Bright Sand | 223 223 217">
      <a:srgbClr val="DFDFD9"/>
    </a:custClr>
    <a:custClr name="Deep Blue 60% (Dark Gray) | 102 102 126">
      <a:srgbClr val="66667E"/>
    </a:custClr>
    <a:custClr name="Deep Blue 10% (Light Gray) | 229 229 233">
      <a:srgbClr val="E5E5E9"/>
    </a:custClr>
    <a:custClr name="Yellow | 255 215 50">
      <a:srgbClr val="FFD732"/>
    </a:custClr>
    <a:custClr name="Bold Green">
      <a:srgbClr val="00FFB9"/>
    </a:custClr>
    <a:custClr name="Bold Blue">
      <a:srgbClr val="00E6DC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No color">
      <a:srgbClr val="FFFFFF"/>
    </a:custClr>
    <a:custClr name="Dark Blue | 0 85 124">
      <a:srgbClr val="00557C"/>
    </a:custClr>
    <a:custClr name="Dark Green | 0 100 110">
      <a:srgbClr val="00646E"/>
    </a:custClr>
    <a:custClr name="Dark Sand | 170 170 150">
      <a:srgbClr val="AAAA96"/>
    </a:custClr>
    <a:custClr name="Deep Blue | 0 0 40">
      <a:srgbClr val="000028"/>
    </a:custClr>
    <a:custClr name="Deep Blue 40% (Gray) | 153 153 169">
      <a:srgbClr val="9999A9"/>
    </a:custClr>
    <a:custClr name="Dark Purple | 80 0 120">
      <a:srgbClr val="500078"/>
    </a:custClr>
    <a:custClr name="Dark Orange | 236 102 2">
      <a:srgbClr val="EC6602"/>
    </a:custClr>
    <a:custClr name="Red | 239 1 55">
      <a:srgbClr val="EF0137"/>
    </a:custClr>
    <a:custClr name="Deep Blue | 0 0 40">
      <a:srgbClr val="000028"/>
    </a:custClr>
    <a:custClr name="No color">
      <a:srgbClr val="FFFFFF"/>
    </a:custClr>
    <a:custClr name="Blue | 0 135 190">
      <a:srgbClr val="0087BE"/>
    </a:custClr>
    <a:custClr name="Green | 0 175 142">
      <a:srgbClr val="00AF8E"/>
    </a:custClr>
    <a:custClr name="Soft Sand | 197 197 184">
      <a:srgbClr val="C5C5B8"/>
    </a:custClr>
    <a:custClr name="Deep Blue 80% | 51 51 83">
      <a:srgbClr val="333353"/>
    </a:custClr>
    <a:custClr name="Deep Blue 20% (Soft Gray) | 204 204 212">
      <a:srgbClr val="CCCCD4"/>
    </a:custClr>
    <a:custClr name="Purple | 170 50 190">
      <a:srgbClr val="AA32BE"/>
    </a:custClr>
    <a:custClr name="Orange | 255 144 0">
      <a:srgbClr val="FF9000"/>
    </a:custClr>
    <a:custClr name="Soft Red | 254 131 137">
      <a:srgbClr val="FE8389"/>
    </a:custClr>
    <a:custClr name="Light Sand | 243 243 240">
      <a:srgbClr val="F3F3F0"/>
    </a:custClr>
    <a:custClr name="No color">
      <a:srgbClr val="FFFFFF"/>
    </a:custClr>
    <a:custClr name="Soft Blue | 0 190 220">
      <a:srgbClr val="00BEDC"/>
    </a:custClr>
    <a:custClr name="Soft Green | 0 215 160">
      <a:srgbClr val="00D7A0"/>
    </a:custClr>
    <a:custClr name="Bright Sand | 223 223 217">
      <a:srgbClr val="DFDFD9"/>
    </a:custClr>
    <a:custClr name="Deep Blue 60% (Dark Gray) | 102 102 126">
      <a:srgbClr val="66667E"/>
    </a:custClr>
    <a:custClr name="Deep Blue 10% (Light Gray) | 229 229 233">
      <a:srgbClr val="E5E5E9"/>
    </a:custClr>
    <a:custClr name="Yellow | 255 215 50">
      <a:srgbClr val="FFD732"/>
    </a:custClr>
    <a:custClr name="Bold Green">
      <a:srgbClr val="00FFB9"/>
    </a:custClr>
    <a:custClr name="Bold Blue">
      <a:srgbClr val="00E6DC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171</Words>
  <Application>Microsoft Office PowerPoint</Application>
  <PresentationFormat>Widescreen</PresentationFormat>
  <Paragraphs>49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Siemens 2020</vt:lpstr>
      <vt:lpstr>think-cell Slide</vt:lpstr>
      <vt:lpstr>Yang Shao Peng T CED INW-CN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Siemens AG PowerPoint Presentation</dc:title>
  <dc:creator>Yin, Wan Jun (RC-CN P&amp;O RG N)</dc:creator>
  <cp:keywords>Template</cp:keywords>
  <dc:description>Version 3.3.0
March 2021</dc:description>
  <cp:lastModifiedBy>Yin, Wan Jun (RC-CN P&amp;O RG N)</cp:lastModifiedBy>
  <cp:revision>13</cp:revision>
  <cp:lastPrinted>1999-12-31T16:00:00Z</cp:lastPrinted>
  <dcterms:created xsi:type="dcterms:W3CDTF">2022-09-07T11:48:28Z</dcterms:created>
  <dcterms:modified xsi:type="dcterms:W3CDTF">2022-09-08T02:04:19Z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d258917-277f-42cd-a3cd-14c4e9ee58bc_Enabled">
    <vt:lpwstr>true</vt:lpwstr>
  </property>
  <property fmtid="{D5CDD505-2E9C-101B-9397-08002B2CF9AE}" pid="3" name="MSIP_Label_9d258917-277f-42cd-a3cd-14c4e9ee58bc_SetDate">
    <vt:lpwstr>2022-09-08T02:04:18Z</vt:lpwstr>
  </property>
  <property fmtid="{D5CDD505-2E9C-101B-9397-08002B2CF9AE}" pid="4" name="MSIP_Label_9d258917-277f-42cd-a3cd-14c4e9ee58bc_Method">
    <vt:lpwstr>Standard</vt:lpwstr>
  </property>
  <property fmtid="{D5CDD505-2E9C-101B-9397-08002B2CF9AE}" pid="5" name="MSIP_Label_9d258917-277f-42cd-a3cd-14c4e9ee58bc_Name">
    <vt:lpwstr>restricted</vt:lpwstr>
  </property>
  <property fmtid="{D5CDD505-2E9C-101B-9397-08002B2CF9AE}" pid="6" name="MSIP_Label_9d258917-277f-42cd-a3cd-14c4e9ee58bc_SiteId">
    <vt:lpwstr>38ae3bcd-9579-4fd4-adda-b42e1495d55a</vt:lpwstr>
  </property>
  <property fmtid="{D5CDD505-2E9C-101B-9397-08002B2CF9AE}" pid="7" name="MSIP_Label_9d258917-277f-42cd-a3cd-14c4e9ee58bc_ActionId">
    <vt:lpwstr>c37050be-49db-4718-bb2a-6fc0d6d8ca09</vt:lpwstr>
  </property>
  <property fmtid="{D5CDD505-2E9C-101B-9397-08002B2CF9AE}" pid="8" name="MSIP_Label_9d258917-277f-42cd-a3cd-14c4e9ee58bc_ContentBits">
    <vt:lpwstr>0</vt:lpwstr>
  </property>
  <property fmtid="{D5CDD505-2E9C-101B-9397-08002B2CF9AE}" pid="9" name="Document_Confidentiality">
    <vt:lpwstr>Restricted</vt:lpwstr>
  </property>
</Properties>
</file>