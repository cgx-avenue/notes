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6"/>
  </p:sldMasterIdLst>
  <p:notesMasterIdLst>
    <p:notesMasterId r:id="rId20"/>
  </p:notesMasterIdLst>
  <p:handoutMasterIdLst>
    <p:handoutMasterId r:id="rId21"/>
  </p:handoutMasterIdLst>
  <p:sldIdLst>
    <p:sldId id="352" r:id="rId7"/>
    <p:sldId id="1134" r:id="rId8"/>
    <p:sldId id="1135" r:id="rId9"/>
    <p:sldId id="8658" r:id="rId10"/>
    <p:sldId id="8687" r:id="rId11"/>
    <p:sldId id="1160" r:id="rId12"/>
    <p:sldId id="8681" r:id="rId13"/>
    <p:sldId id="8682" r:id="rId14"/>
    <p:sldId id="8683" r:id="rId15"/>
    <p:sldId id="8686" r:id="rId16"/>
    <p:sldId id="8688" r:id="rId17"/>
    <p:sldId id="8580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  <p:cmAuthor id="2" name="Zhou, Wen Jing (T RDA IOT INW-CN)" initials="ZWJ(RII" lastIdx="1" clrIdx="1">
    <p:extLst>
      <p:ext uri="{19B8F6BF-5375-455C-9EA6-DF929625EA0E}">
        <p15:presenceInfo xmlns:p15="http://schemas.microsoft.com/office/powerpoint/2012/main" userId="S::zhou.wenjing@siemens.com::f3b98f43-05aa-4729-9efd-14d5d18dc6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B9B9"/>
    <a:srgbClr val="7DBCD3"/>
    <a:srgbClr val="006666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7461" autoAdjust="0"/>
  </p:normalViewPr>
  <p:slideViewPr>
    <p:cSldViewPr snapToGrid="0" showGuides="1">
      <p:cViewPr varScale="1">
        <p:scale>
          <a:sx n="62" d="100"/>
          <a:sy n="62" d="100"/>
        </p:scale>
        <p:origin x="804" y="5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7" d="100"/>
          <a:sy n="47" d="100"/>
        </p:scale>
        <p:origin x="278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1/18/2022</a:t>
            </a:fld>
            <a:endParaRPr lang="en-US" sz="1050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</a:rPr>
              <a:t>Hand out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 dirty="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1/18/2022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Sensor Info</a:t>
            </a:r>
            <a:r>
              <a:rPr lang="zh-CN" altLang="en-US"/>
              <a:t>：</a:t>
            </a:r>
            <a:endParaRPr lang="en-US" altLang="zh-CN" dirty="0"/>
          </a:p>
          <a:p>
            <a:r>
              <a:rPr lang="en-US" altLang="zh-CN" dirty="0"/>
              <a:t>PCB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Measuring Range</a:t>
            </a:r>
            <a:r>
              <a:rPr lang="zh-CN" altLang="en-US" dirty="0"/>
              <a:t>：</a:t>
            </a:r>
            <a:r>
              <a:rPr lang="en-US" altLang="zh-CN" dirty="0"/>
              <a:t>50g</a:t>
            </a:r>
            <a:r>
              <a:rPr lang="zh-CN" altLang="en-US" dirty="0"/>
              <a:t>；</a:t>
            </a:r>
            <a:r>
              <a:rPr lang="en-US" altLang="zh-CN" dirty="0"/>
              <a:t>Frequency Range</a:t>
            </a:r>
            <a:r>
              <a:rPr lang="zh-CN" altLang="en-US" dirty="0"/>
              <a:t>：</a:t>
            </a:r>
            <a:r>
              <a:rPr lang="en-US" altLang="zh-CN" dirty="0"/>
              <a:t>0.33~10000Hz</a:t>
            </a:r>
            <a:r>
              <a:rPr lang="zh-CN" altLang="en-US" dirty="0"/>
              <a:t>；</a:t>
            </a:r>
            <a:r>
              <a:rPr lang="en-US" altLang="zh-CN" dirty="0"/>
              <a:t>Protection Class</a:t>
            </a:r>
            <a:r>
              <a:rPr lang="zh-CN" altLang="en-US" dirty="0"/>
              <a:t>：</a:t>
            </a:r>
            <a:r>
              <a:rPr lang="en-US" altLang="zh-CN" dirty="0"/>
              <a:t>IP67</a:t>
            </a:r>
            <a:r>
              <a:rPr lang="zh-CN" altLang="en-US" dirty="0"/>
              <a:t>；</a:t>
            </a:r>
            <a:r>
              <a:rPr lang="en-US" altLang="zh-CN" dirty="0"/>
              <a:t>Price</a:t>
            </a:r>
            <a:r>
              <a:rPr lang="zh-CN" altLang="en-US" dirty="0"/>
              <a:t>：</a:t>
            </a:r>
            <a:r>
              <a:rPr lang="en-US" altLang="zh-CN" dirty="0"/>
              <a:t>3000 CNY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2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678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3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444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4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80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7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763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8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33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9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35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2413" y="739775"/>
            <a:ext cx="6337300" cy="35639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de-DE">
                <a:latin typeface="Arial" pitchFamily="34" charset="0"/>
              </a:rPr>
              <a:t>Notes </a:t>
            </a:r>
            <a:fld id="{AD141568-5488-4AC9-B82D-9F5CE1225E2A}" type="slidenum">
              <a:rPr lang="de-DE" smtClean="0">
                <a:latin typeface="Arial" pitchFamily="34" charset="0"/>
              </a:rPr>
              <a:pPr/>
              <a:t>10</a:t>
            </a:fld>
            <a:endParaRPr lang="de-DE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877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30.emf"/><Relationship Id="rId2" Type="http://schemas.openxmlformats.org/officeDocument/2006/relationships/customXml" Target="../../customXml/item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AA220E05-4C1E-4F58-BFC0-57C07A95F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1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89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1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9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7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7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86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FEC69F24-2876-47B9-A4B6-0ADE800ECD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2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fish, monitor, keyboard, computer&#10;&#10;Description automatically generated">
            <a:extLst>
              <a:ext uri="{FF2B5EF4-FFF2-40B4-BE49-F238E27FC236}">
                <a16:creationId xmlns:a16="http://schemas.microsoft.com/office/drawing/2014/main" id="{AE83F1C5-95B7-47C3-B837-8191D1E397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sky, water, star&#10;&#10;Description automatically generated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Zhou Wenjing | T RDA IOT INW-CN | 2021-02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title Dynamic Petrol">
    <p:bg>
      <p:bgPr>
        <a:gradFill>
          <a:gsLst>
            <a:gs pos="83000">
              <a:srgbClr val="0099B0">
                <a:alpha val="85000"/>
              </a:srgbClr>
            </a:gs>
            <a:gs pos="50000">
              <a:srgbClr val="009999">
                <a:alpha val="85000"/>
              </a:srgbClr>
            </a:gs>
            <a:gs pos="0">
              <a:srgbClr val="50BEBE">
                <a:alpha val="85000"/>
              </a:srgbClr>
            </a:gs>
            <a:gs pos="100000">
              <a:srgbClr val="0099CB">
                <a:alpha val="85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6096000" y="0"/>
            <a:ext cx="1587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5981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099" b="1" dirty="0">
              <a:solidFill>
                <a:srgbClr val="990000"/>
              </a:solidFill>
            </a:endParaRPr>
          </a:p>
        </p:txBody>
      </p:sp>
      <p:grpSp>
        <p:nvGrpSpPr>
          <p:cNvPr id="31" name="Gruppieren 30"/>
          <p:cNvGrpSpPr/>
          <p:nvPr userDrawn="1"/>
        </p:nvGrpSpPr>
        <p:grpSpPr>
          <a:xfrm>
            <a:off x="-215888" y="-216000"/>
            <a:ext cx="12622226" cy="7290000"/>
            <a:chOff x="-216000" y="-216000"/>
            <a:chExt cx="12628800" cy="7290000"/>
          </a:xfrm>
        </p:grpSpPr>
        <p:cxnSp>
          <p:nvCxnSpPr>
            <p:cNvPr id="32" name="Gerade Verbindung 31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Gerade Verbindung 55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Gerade Verbindung 56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57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58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59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60"/>
            <p:cNvCxnSpPr/>
            <p:nvPr userDrawn="1"/>
          </p:nvCxnSpPr>
          <p:spPr bwMode="auto">
            <a:xfrm rot="5400000">
              <a:off x="123228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61"/>
            <p:cNvCxnSpPr/>
            <p:nvPr userDrawn="1"/>
          </p:nvCxnSpPr>
          <p:spPr bwMode="auto">
            <a:xfrm rot="5400000">
              <a:off x="123228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62"/>
            <p:cNvCxnSpPr/>
            <p:nvPr userDrawn="1"/>
          </p:nvCxnSpPr>
          <p:spPr bwMode="auto">
            <a:xfrm rot="5400000">
              <a:off x="123228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63"/>
            <p:cNvCxnSpPr/>
            <p:nvPr userDrawn="1"/>
          </p:nvCxnSpPr>
          <p:spPr bwMode="auto">
            <a:xfrm rot="5400000">
              <a:off x="123228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64"/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65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66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67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 userDrawn="1"/>
          </p:nvCxnSpPr>
          <p:spPr bwMode="auto">
            <a:xfrm rot="5400000">
              <a:off x="-126000" y="1465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 userDrawn="1"/>
          </p:nvCxnSpPr>
          <p:spPr bwMode="auto">
            <a:xfrm rot="5400000">
              <a:off x="-126000" y="36972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 userDrawn="1"/>
          </p:nvCxnSpPr>
          <p:spPr bwMode="auto">
            <a:xfrm rot="5400000">
              <a:off x="-126000" y="38376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cdtRectangle 115 Id57350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 bwMode="ltGray">
          <a:xfrm>
            <a:off x="626736" y="4704643"/>
            <a:ext cx="6476627" cy="1527271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398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28" name="Group 33"/>
          <p:cNvGrpSpPr>
            <a:grpSpLocks noChangeAspect="1"/>
          </p:cNvGrpSpPr>
          <p:nvPr userDrawn="1"/>
        </p:nvGrpSpPr>
        <p:grpSpPr bwMode="auto">
          <a:xfrm>
            <a:off x="9550189" y="323850"/>
            <a:ext cx="2157876" cy="914400"/>
            <a:chOff x="6019" y="204"/>
            <a:chExt cx="1360" cy="576"/>
          </a:xfrm>
        </p:grpSpPr>
        <p:sp>
          <p:nvSpPr>
            <p:cNvPr id="33" name="AutoShape 32"/>
            <p:cNvSpPr>
              <a:spLocks noChangeAspect="1" noChangeArrowheads="1" noTextEdit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4" name="Rectangle 34"/>
            <p:cNvSpPr>
              <a:spLocks noChangeArrowheads="1"/>
            </p:cNvSpPr>
            <p:nvPr userDrawn="1"/>
          </p:nvSpPr>
          <p:spPr bwMode="auto">
            <a:xfrm>
              <a:off x="6019" y="204"/>
              <a:ext cx="1360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5" name="Freeform 35"/>
            <p:cNvSpPr>
              <a:spLocks/>
            </p:cNvSpPr>
            <p:nvPr userDrawn="1"/>
          </p:nvSpPr>
          <p:spPr bwMode="auto">
            <a:xfrm>
              <a:off x="6765" y="562"/>
              <a:ext cx="98" cy="156"/>
            </a:xfrm>
            <a:custGeom>
              <a:avLst/>
              <a:gdLst>
                <a:gd name="T0" fmla="*/ 705 w 1179"/>
                <a:gd name="T1" fmla="*/ 998 h 1866"/>
                <a:gd name="T2" fmla="*/ 588 w 1179"/>
                <a:gd name="T3" fmla="*/ 1280 h 1866"/>
                <a:gd name="T4" fmla="*/ 458 w 1179"/>
                <a:gd name="T5" fmla="*/ 1547 h 1866"/>
                <a:gd name="T6" fmla="*/ 277 w 1179"/>
                <a:gd name="T7" fmla="*/ 1824 h 1866"/>
                <a:gd name="T8" fmla="*/ 270 w 1179"/>
                <a:gd name="T9" fmla="*/ 1854 h 1866"/>
                <a:gd name="T10" fmla="*/ 295 w 1179"/>
                <a:gd name="T11" fmla="*/ 1866 h 1866"/>
                <a:gd name="T12" fmla="*/ 363 w 1179"/>
                <a:gd name="T13" fmla="*/ 1834 h 1866"/>
                <a:gd name="T14" fmla="*/ 442 w 1179"/>
                <a:gd name="T15" fmla="*/ 1757 h 1866"/>
                <a:gd name="T16" fmla="*/ 627 w 1179"/>
                <a:gd name="T17" fmla="*/ 1494 h 1866"/>
                <a:gd name="T18" fmla="*/ 832 w 1179"/>
                <a:gd name="T19" fmla="*/ 1110 h 1866"/>
                <a:gd name="T20" fmla="*/ 972 w 1179"/>
                <a:gd name="T21" fmla="*/ 852 h 1866"/>
                <a:gd name="T22" fmla="*/ 1080 w 1179"/>
                <a:gd name="T23" fmla="*/ 704 h 1866"/>
                <a:gd name="T24" fmla="*/ 1172 w 1179"/>
                <a:gd name="T25" fmla="*/ 601 h 1866"/>
                <a:gd name="T26" fmla="*/ 1178 w 1179"/>
                <a:gd name="T27" fmla="*/ 575 h 1866"/>
                <a:gd name="T28" fmla="*/ 1137 w 1179"/>
                <a:gd name="T29" fmla="*/ 537 h 1866"/>
                <a:gd name="T30" fmla="*/ 1056 w 1179"/>
                <a:gd name="T31" fmla="*/ 517 h 1866"/>
                <a:gd name="T32" fmla="*/ 1012 w 1179"/>
                <a:gd name="T33" fmla="*/ 528 h 1866"/>
                <a:gd name="T34" fmla="*/ 948 w 1179"/>
                <a:gd name="T35" fmla="*/ 593 h 1866"/>
                <a:gd name="T36" fmla="*/ 778 w 1179"/>
                <a:gd name="T37" fmla="*/ 756 h 1866"/>
                <a:gd name="T38" fmla="*/ 713 w 1179"/>
                <a:gd name="T39" fmla="*/ 790 h 1866"/>
                <a:gd name="T40" fmla="*/ 676 w 1179"/>
                <a:gd name="T41" fmla="*/ 779 h 1866"/>
                <a:gd name="T42" fmla="*/ 653 w 1179"/>
                <a:gd name="T43" fmla="*/ 730 h 1866"/>
                <a:gd name="T44" fmla="*/ 655 w 1179"/>
                <a:gd name="T45" fmla="*/ 622 h 1866"/>
                <a:gd name="T46" fmla="*/ 650 w 1179"/>
                <a:gd name="T47" fmla="*/ 579 h 1866"/>
                <a:gd name="T48" fmla="*/ 622 w 1179"/>
                <a:gd name="T49" fmla="*/ 552 h 1866"/>
                <a:gd name="T50" fmla="*/ 493 w 1179"/>
                <a:gd name="T51" fmla="*/ 530 h 1866"/>
                <a:gd name="T52" fmla="*/ 272 w 1179"/>
                <a:gd name="T53" fmla="*/ 517 h 1866"/>
                <a:gd name="T54" fmla="*/ 340 w 1179"/>
                <a:gd name="T55" fmla="*/ 248 h 1866"/>
                <a:gd name="T56" fmla="*/ 393 w 1179"/>
                <a:gd name="T57" fmla="*/ 122 h 1866"/>
                <a:gd name="T58" fmla="*/ 426 w 1179"/>
                <a:gd name="T59" fmla="*/ 45 h 1866"/>
                <a:gd name="T60" fmla="*/ 397 w 1179"/>
                <a:gd name="T61" fmla="*/ 16 h 1866"/>
                <a:gd name="T62" fmla="*/ 333 w 1179"/>
                <a:gd name="T63" fmla="*/ 0 h 1866"/>
                <a:gd name="T64" fmla="*/ 279 w 1179"/>
                <a:gd name="T65" fmla="*/ 11 h 1866"/>
                <a:gd name="T66" fmla="*/ 240 w 1179"/>
                <a:gd name="T67" fmla="*/ 61 h 1866"/>
                <a:gd name="T68" fmla="*/ 150 w 1179"/>
                <a:gd name="T69" fmla="*/ 340 h 1866"/>
                <a:gd name="T70" fmla="*/ 89 w 1179"/>
                <a:gd name="T71" fmla="*/ 509 h 1866"/>
                <a:gd name="T72" fmla="*/ 11 w 1179"/>
                <a:gd name="T73" fmla="*/ 514 h 1866"/>
                <a:gd name="T74" fmla="*/ 0 w 1179"/>
                <a:gd name="T75" fmla="*/ 531 h 1866"/>
                <a:gd name="T76" fmla="*/ 25 w 1179"/>
                <a:gd name="T77" fmla="*/ 588 h 1866"/>
                <a:gd name="T78" fmla="*/ 69 w 1179"/>
                <a:gd name="T79" fmla="*/ 627 h 1866"/>
                <a:gd name="T80" fmla="*/ 100 w 1179"/>
                <a:gd name="T81" fmla="*/ 669 h 1866"/>
                <a:gd name="T82" fmla="*/ 102 w 1179"/>
                <a:gd name="T83" fmla="*/ 825 h 1866"/>
                <a:gd name="T84" fmla="*/ 141 w 1179"/>
                <a:gd name="T85" fmla="*/ 948 h 1866"/>
                <a:gd name="T86" fmla="*/ 220 w 1179"/>
                <a:gd name="T87" fmla="*/ 1011 h 1866"/>
                <a:gd name="T88" fmla="*/ 273 w 1179"/>
                <a:gd name="T89" fmla="*/ 1012 h 1866"/>
                <a:gd name="T90" fmla="*/ 282 w 1179"/>
                <a:gd name="T91" fmla="*/ 989 h 1866"/>
                <a:gd name="T92" fmla="*/ 251 w 1179"/>
                <a:gd name="T93" fmla="*/ 888 h 1866"/>
                <a:gd name="T94" fmla="*/ 244 w 1179"/>
                <a:gd name="T95" fmla="*/ 748 h 1866"/>
                <a:gd name="T96" fmla="*/ 282 w 1179"/>
                <a:gd name="T97" fmla="*/ 625 h 1866"/>
                <a:gd name="T98" fmla="*/ 428 w 1179"/>
                <a:gd name="T99" fmla="*/ 608 h 1866"/>
                <a:gd name="T100" fmla="*/ 477 w 1179"/>
                <a:gd name="T101" fmla="*/ 617 h 1866"/>
                <a:gd name="T102" fmla="*/ 483 w 1179"/>
                <a:gd name="T103" fmla="*/ 645 h 1866"/>
                <a:gd name="T104" fmla="*/ 495 w 1179"/>
                <a:gd name="T105" fmla="*/ 741 h 1866"/>
                <a:gd name="T106" fmla="*/ 539 w 1179"/>
                <a:gd name="T107" fmla="*/ 816 h 1866"/>
                <a:gd name="T108" fmla="*/ 600 w 1179"/>
                <a:gd name="T109" fmla="*/ 858 h 1866"/>
                <a:gd name="T110" fmla="*/ 682 w 1179"/>
                <a:gd name="T111" fmla="*/ 882 h 1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9" h="1866">
                  <a:moveTo>
                    <a:pt x="756" y="885"/>
                  </a:moveTo>
                  <a:lnTo>
                    <a:pt x="752" y="893"/>
                  </a:lnTo>
                  <a:lnTo>
                    <a:pt x="741" y="919"/>
                  </a:lnTo>
                  <a:lnTo>
                    <a:pt x="729" y="944"/>
                  </a:lnTo>
                  <a:lnTo>
                    <a:pt x="718" y="971"/>
                  </a:lnTo>
                  <a:lnTo>
                    <a:pt x="705" y="998"/>
                  </a:lnTo>
                  <a:lnTo>
                    <a:pt x="694" y="1026"/>
                  </a:lnTo>
                  <a:lnTo>
                    <a:pt x="682" y="1054"/>
                  </a:lnTo>
                  <a:lnTo>
                    <a:pt x="671" y="1083"/>
                  </a:lnTo>
                  <a:lnTo>
                    <a:pt x="659" y="1112"/>
                  </a:lnTo>
                  <a:lnTo>
                    <a:pt x="624" y="1194"/>
                  </a:lnTo>
                  <a:lnTo>
                    <a:pt x="588" y="1280"/>
                  </a:lnTo>
                  <a:lnTo>
                    <a:pt x="569" y="1324"/>
                  </a:lnTo>
                  <a:lnTo>
                    <a:pt x="548" y="1368"/>
                  </a:lnTo>
                  <a:lnTo>
                    <a:pt x="527" y="1412"/>
                  </a:lnTo>
                  <a:lnTo>
                    <a:pt x="506" y="1457"/>
                  </a:lnTo>
                  <a:lnTo>
                    <a:pt x="482" y="1501"/>
                  </a:lnTo>
                  <a:lnTo>
                    <a:pt x="458" y="1547"/>
                  </a:lnTo>
                  <a:lnTo>
                    <a:pt x="432" y="1593"/>
                  </a:lnTo>
                  <a:lnTo>
                    <a:pt x="405" y="1639"/>
                  </a:lnTo>
                  <a:lnTo>
                    <a:pt x="375" y="1685"/>
                  </a:lnTo>
                  <a:lnTo>
                    <a:pt x="344" y="1731"/>
                  </a:lnTo>
                  <a:lnTo>
                    <a:pt x="312" y="1778"/>
                  </a:lnTo>
                  <a:lnTo>
                    <a:pt x="277" y="1824"/>
                  </a:lnTo>
                  <a:lnTo>
                    <a:pt x="272" y="1832"/>
                  </a:lnTo>
                  <a:lnTo>
                    <a:pt x="269" y="1840"/>
                  </a:lnTo>
                  <a:lnTo>
                    <a:pt x="269" y="1844"/>
                  </a:lnTo>
                  <a:lnTo>
                    <a:pt x="268" y="1847"/>
                  </a:lnTo>
                  <a:lnTo>
                    <a:pt x="269" y="1851"/>
                  </a:lnTo>
                  <a:lnTo>
                    <a:pt x="270" y="1854"/>
                  </a:lnTo>
                  <a:lnTo>
                    <a:pt x="272" y="1857"/>
                  </a:lnTo>
                  <a:lnTo>
                    <a:pt x="274" y="1859"/>
                  </a:lnTo>
                  <a:lnTo>
                    <a:pt x="276" y="1861"/>
                  </a:lnTo>
                  <a:lnTo>
                    <a:pt x="279" y="1863"/>
                  </a:lnTo>
                  <a:lnTo>
                    <a:pt x="287" y="1865"/>
                  </a:lnTo>
                  <a:lnTo>
                    <a:pt x="295" y="1866"/>
                  </a:lnTo>
                  <a:lnTo>
                    <a:pt x="306" y="1865"/>
                  </a:lnTo>
                  <a:lnTo>
                    <a:pt x="317" y="1862"/>
                  </a:lnTo>
                  <a:lnTo>
                    <a:pt x="327" y="1858"/>
                  </a:lnTo>
                  <a:lnTo>
                    <a:pt x="338" y="1852"/>
                  </a:lnTo>
                  <a:lnTo>
                    <a:pt x="350" y="1843"/>
                  </a:lnTo>
                  <a:lnTo>
                    <a:pt x="363" y="1834"/>
                  </a:lnTo>
                  <a:lnTo>
                    <a:pt x="375" y="1824"/>
                  </a:lnTo>
                  <a:lnTo>
                    <a:pt x="388" y="1813"/>
                  </a:lnTo>
                  <a:lnTo>
                    <a:pt x="401" y="1801"/>
                  </a:lnTo>
                  <a:lnTo>
                    <a:pt x="415" y="1786"/>
                  </a:lnTo>
                  <a:lnTo>
                    <a:pt x="429" y="1772"/>
                  </a:lnTo>
                  <a:lnTo>
                    <a:pt x="442" y="1757"/>
                  </a:lnTo>
                  <a:lnTo>
                    <a:pt x="471" y="1722"/>
                  </a:lnTo>
                  <a:lnTo>
                    <a:pt x="500" y="1684"/>
                  </a:lnTo>
                  <a:lnTo>
                    <a:pt x="531" y="1642"/>
                  </a:lnTo>
                  <a:lnTo>
                    <a:pt x="563" y="1596"/>
                  </a:lnTo>
                  <a:lnTo>
                    <a:pt x="594" y="1547"/>
                  </a:lnTo>
                  <a:lnTo>
                    <a:pt x="627" y="1494"/>
                  </a:lnTo>
                  <a:lnTo>
                    <a:pt x="661" y="1438"/>
                  </a:lnTo>
                  <a:lnTo>
                    <a:pt x="694" y="1379"/>
                  </a:lnTo>
                  <a:lnTo>
                    <a:pt x="728" y="1317"/>
                  </a:lnTo>
                  <a:lnTo>
                    <a:pt x="763" y="1250"/>
                  </a:lnTo>
                  <a:lnTo>
                    <a:pt x="797" y="1181"/>
                  </a:lnTo>
                  <a:lnTo>
                    <a:pt x="832" y="1110"/>
                  </a:lnTo>
                  <a:lnTo>
                    <a:pt x="858" y="1056"/>
                  </a:lnTo>
                  <a:lnTo>
                    <a:pt x="883" y="1008"/>
                  </a:lnTo>
                  <a:lnTo>
                    <a:pt x="906" y="964"/>
                  </a:lnTo>
                  <a:lnTo>
                    <a:pt x="930" y="923"/>
                  </a:lnTo>
                  <a:lnTo>
                    <a:pt x="951" y="886"/>
                  </a:lnTo>
                  <a:lnTo>
                    <a:pt x="972" y="852"/>
                  </a:lnTo>
                  <a:lnTo>
                    <a:pt x="992" y="822"/>
                  </a:lnTo>
                  <a:lnTo>
                    <a:pt x="1010" y="793"/>
                  </a:lnTo>
                  <a:lnTo>
                    <a:pt x="1029" y="768"/>
                  </a:lnTo>
                  <a:lnTo>
                    <a:pt x="1047" y="745"/>
                  </a:lnTo>
                  <a:lnTo>
                    <a:pt x="1063" y="724"/>
                  </a:lnTo>
                  <a:lnTo>
                    <a:pt x="1080" y="704"/>
                  </a:lnTo>
                  <a:lnTo>
                    <a:pt x="1110" y="670"/>
                  </a:lnTo>
                  <a:lnTo>
                    <a:pt x="1139" y="639"/>
                  </a:lnTo>
                  <a:lnTo>
                    <a:pt x="1152" y="625"/>
                  </a:lnTo>
                  <a:lnTo>
                    <a:pt x="1164" y="610"/>
                  </a:lnTo>
                  <a:lnTo>
                    <a:pt x="1169" y="606"/>
                  </a:lnTo>
                  <a:lnTo>
                    <a:pt x="1172" y="601"/>
                  </a:lnTo>
                  <a:lnTo>
                    <a:pt x="1175" y="597"/>
                  </a:lnTo>
                  <a:lnTo>
                    <a:pt x="1177" y="592"/>
                  </a:lnTo>
                  <a:lnTo>
                    <a:pt x="1178" y="588"/>
                  </a:lnTo>
                  <a:lnTo>
                    <a:pt x="1179" y="584"/>
                  </a:lnTo>
                  <a:lnTo>
                    <a:pt x="1179" y="580"/>
                  </a:lnTo>
                  <a:lnTo>
                    <a:pt x="1178" y="575"/>
                  </a:lnTo>
                  <a:lnTo>
                    <a:pt x="1175" y="569"/>
                  </a:lnTo>
                  <a:lnTo>
                    <a:pt x="1171" y="561"/>
                  </a:lnTo>
                  <a:lnTo>
                    <a:pt x="1164" y="555"/>
                  </a:lnTo>
                  <a:lnTo>
                    <a:pt x="1157" y="549"/>
                  </a:lnTo>
                  <a:lnTo>
                    <a:pt x="1148" y="543"/>
                  </a:lnTo>
                  <a:lnTo>
                    <a:pt x="1137" y="537"/>
                  </a:lnTo>
                  <a:lnTo>
                    <a:pt x="1125" y="532"/>
                  </a:lnTo>
                  <a:lnTo>
                    <a:pt x="1111" y="527"/>
                  </a:lnTo>
                  <a:lnTo>
                    <a:pt x="1092" y="521"/>
                  </a:lnTo>
                  <a:lnTo>
                    <a:pt x="1074" y="518"/>
                  </a:lnTo>
                  <a:lnTo>
                    <a:pt x="1065" y="517"/>
                  </a:lnTo>
                  <a:lnTo>
                    <a:pt x="1056" y="517"/>
                  </a:lnTo>
                  <a:lnTo>
                    <a:pt x="1049" y="517"/>
                  </a:lnTo>
                  <a:lnTo>
                    <a:pt x="1041" y="518"/>
                  </a:lnTo>
                  <a:lnTo>
                    <a:pt x="1034" y="520"/>
                  </a:lnTo>
                  <a:lnTo>
                    <a:pt x="1027" y="522"/>
                  </a:lnTo>
                  <a:lnTo>
                    <a:pt x="1020" y="525"/>
                  </a:lnTo>
                  <a:lnTo>
                    <a:pt x="1012" y="528"/>
                  </a:lnTo>
                  <a:lnTo>
                    <a:pt x="1006" y="532"/>
                  </a:lnTo>
                  <a:lnTo>
                    <a:pt x="1000" y="537"/>
                  </a:lnTo>
                  <a:lnTo>
                    <a:pt x="994" y="542"/>
                  </a:lnTo>
                  <a:lnTo>
                    <a:pt x="989" y="548"/>
                  </a:lnTo>
                  <a:lnTo>
                    <a:pt x="985" y="551"/>
                  </a:lnTo>
                  <a:lnTo>
                    <a:pt x="948" y="593"/>
                  </a:lnTo>
                  <a:lnTo>
                    <a:pt x="909" y="635"/>
                  </a:lnTo>
                  <a:lnTo>
                    <a:pt x="870" y="675"/>
                  </a:lnTo>
                  <a:lnTo>
                    <a:pt x="832" y="711"/>
                  </a:lnTo>
                  <a:lnTo>
                    <a:pt x="813" y="728"/>
                  </a:lnTo>
                  <a:lnTo>
                    <a:pt x="795" y="743"/>
                  </a:lnTo>
                  <a:lnTo>
                    <a:pt x="778" y="756"/>
                  </a:lnTo>
                  <a:lnTo>
                    <a:pt x="762" y="769"/>
                  </a:lnTo>
                  <a:lnTo>
                    <a:pt x="746" y="778"/>
                  </a:lnTo>
                  <a:lnTo>
                    <a:pt x="732" y="784"/>
                  </a:lnTo>
                  <a:lnTo>
                    <a:pt x="725" y="787"/>
                  </a:lnTo>
                  <a:lnTo>
                    <a:pt x="719" y="789"/>
                  </a:lnTo>
                  <a:lnTo>
                    <a:pt x="713" y="790"/>
                  </a:lnTo>
                  <a:lnTo>
                    <a:pt x="707" y="790"/>
                  </a:lnTo>
                  <a:lnTo>
                    <a:pt x="697" y="789"/>
                  </a:lnTo>
                  <a:lnTo>
                    <a:pt x="688" y="786"/>
                  </a:lnTo>
                  <a:lnTo>
                    <a:pt x="684" y="784"/>
                  </a:lnTo>
                  <a:lnTo>
                    <a:pt x="680" y="782"/>
                  </a:lnTo>
                  <a:lnTo>
                    <a:pt x="676" y="779"/>
                  </a:lnTo>
                  <a:lnTo>
                    <a:pt x="673" y="776"/>
                  </a:lnTo>
                  <a:lnTo>
                    <a:pt x="668" y="770"/>
                  </a:lnTo>
                  <a:lnTo>
                    <a:pt x="664" y="762"/>
                  </a:lnTo>
                  <a:lnTo>
                    <a:pt x="661" y="755"/>
                  </a:lnTo>
                  <a:lnTo>
                    <a:pt x="657" y="747"/>
                  </a:lnTo>
                  <a:lnTo>
                    <a:pt x="653" y="730"/>
                  </a:lnTo>
                  <a:lnTo>
                    <a:pt x="651" y="711"/>
                  </a:lnTo>
                  <a:lnTo>
                    <a:pt x="651" y="692"/>
                  </a:lnTo>
                  <a:lnTo>
                    <a:pt x="651" y="672"/>
                  </a:lnTo>
                  <a:lnTo>
                    <a:pt x="653" y="652"/>
                  </a:lnTo>
                  <a:lnTo>
                    <a:pt x="654" y="634"/>
                  </a:lnTo>
                  <a:lnTo>
                    <a:pt x="655" y="622"/>
                  </a:lnTo>
                  <a:lnTo>
                    <a:pt x="656" y="611"/>
                  </a:lnTo>
                  <a:lnTo>
                    <a:pt x="656" y="604"/>
                  </a:lnTo>
                  <a:lnTo>
                    <a:pt x="655" y="597"/>
                  </a:lnTo>
                  <a:lnTo>
                    <a:pt x="654" y="591"/>
                  </a:lnTo>
                  <a:lnTo>
                    <a:pt x="652" y="585"/>
                  </a:lnTo>
                  <a:lnTo>
                    <a:pt x="650" y="579"/>
                  </a:lnTo>
                  <a:lnTo>
                    <a:pt x="647" y="574"/>
                  </a:lnTo>
                  <a:lnTo>
                    <a:pt x="644" y="569"/>
                  </a:lnTo>
                  <a:lnTo>
                    <a:pt x="639" y="564"/>
                  </a:lnTo>
                  <a:lnTo>
                    <a:pt x="634" y="560"/>
                  </a:lnTo>
                  <a:lnTo>
                    <a:pt x="629" y="556"/>
                  </a:lnTo>
                  <a:lnTo>
                    <a:pt x="622" y="552"/>
                  </a:lnTo>
                  <a:lnTo>
                    <a:pt x="615" y="549"/>
                  </a:lnTo>
                  <a:lnTo>
                    <a:pt x="598" y="544"/>
                  </a:lnTo>
                  <a:lnTo>
                    <a:pt x="578" y="539"/>
                  </a:lnTo>
                  <a:lnTo>
                    <a:pt x="558" y="537"/>
                  </a:lnTo>
                  <a:lnTo>
                    <a:pt x="529" y="533"/>
                  </a:lnTo>
                  <a:lnTo>
                    <a:pt x="493" y="530"/>
                  </a:lnTo>
                  <a:lnTo>
                    <a:pt x="453" y="527"/>
                  </a:lnTo>
                  <a:lnTo>
                    <a:pt x="411" y="525"/>
                  </a:lnTo>
                  <a:lnTo>
                    <a:pt x="366" y="522"/>
                  </a:lnTo>
                  <a:lnTo>
                    <a:pt x="322" y="520"/>
                  </a:lnTo>
                  <a:lnTo>
                    <a:pt x="279" y="517"/>
                  </a:lnTo>
                  <a:lnTo>
                    <a:pt x="272" y="517"/>
                  </a:lnTo>
                  <a:lnTo>
                    <a:pt x="273" y="510"/>
                  </a:lnTo>
                  <a:lnTo>
                    <a:pt x="286" y="448"/>
                  </a:lnTo>
                  <a:lnTo>
                    <a:pt x="300" y="387"/>
                  </a:lnTo>
                  <a:lnTo>
                    <a:pt x="316" y="329"/>
                  </a:lnTo>
                  <a:lnTo>
                    <a:pt x="332" y="274"/>
                  </a:lnTo>
                  <a:lnTo>
                    <a:pt x="340" y="248"/>
                  </a:lnTo>
                  <a:lnTo>
                    <a:pt x="349" y="223"/>
                  </a:lnTo>
                  <a:lnTo>
                    <a:pt x="358" y="199"/>
                  </a:lnTo>
                  <a:lnTo>
                    <a:pt x="367" y="178"/>
                  </a:lnTo>
                  <a:lnTo>
                    <a:pt x="376" y="157"/>
                  </a:lnTo>
                  <a:lnTo>
                    <a:pt x="384" y="138"/>
                  </a:lnTo>
                  <a:lnTo>
                    <a:pt x="393" y="122"/>
                  </a:lnTo>
                  <a:lnTo>
                    <a:pt x="401" y="106"/>
                  </a:lnTo>
                  <a:lnTo>
                    <a:pt x="413" y="86"/>
                  </a:lnTo>
                  <a:lnTo>
                    <a:pt x="422" y="67"/>
                  </a:lnTo>
                  <a:lnTo>
                    <a:pt x="425" y="59"/>
                  </a:lnTo>
                  <a:lnTo>
                    <a:pt x="426" y="52"/>
                  </a:lnTo>
                  <a:lnTo>
                    <a:pt x="426" y="45"/>
                  </a:lnTo>
                  <a:lnTo>
                    <a:pt x="424" y="39"/>
                  </a:lnTo>
                  <a:lnTo>
                    <a:pt x="422" y="34"/>
                  </a:lnTo>
                  <a:lnTo>
                    <a:pt x="418" y="30"/>
                  </a:lnTo>
                  <a:lnTo>
                    <a:pt x="413" y="25"/>
                  </a:lnTo>
                  <a:lnTo>
                    <a:pt x="406" y="20"/>
                  </a:lnTo>
                  <a:lnTo>
                    <a:pt x="397" y="16"/>
                  </a:lnTo>
                  <a:lnTo>
                    <a:pt x="387" y="13"/>
                  </a:lnTo>
                  <a:lnTo>
                    <a:pt x="376" y="9"/>
                  </a:lnTo>
                  <a:lnTo>
                    <a:pt x="364" y="6"/>
                  </a:lnTo>
                  <a:lnTo>
                    <a:pt x="353" y="3"/>
                  </a:lnTo>
                  <a:lnTo>
                    <a:pt x="342" y="1"/>
                  </a:lnTo>
                  <a:lnTo>
                    <a:pt x="333" y="0"/>
                  </a:lnTo>
                  <a:lnTo>
                    <a:pt x="323" y="0"/>
                  </a:lnTo>
                  <a:lnTo>
                    <a:pt x="313" y="1"/>
                  </a:lnTo>
                  <a:lnTo>
                    <a:pt x="304" y="2"/>
                  </a:lnTo>
                  <a:lnTo>
                    <a:pt x="294" y="4"/>
                  </a:lnTo>
                  <a:lnTo>
                    <a:pt x="286" y="7"/>
                  </a:lnTo>
                  <a:lnTo>
                    <a:pt x="279" y="11"/>
                  </a:lnTo>
                  <a:lnTo>
                    <a:pt x="273" y="15"/>
                  </a:lnTo>
                  <a:lnTo>
                    <a:pt x="267" y="20"/>
                  </a:lnTo>
                  <a:lnTo>
                    <a:pt x="262" y="26"/>
                  </a:lnTo>
                  <a:lnTo>
                    <a:pt x="253" y="37"/>
                  </a:lnTo>
                  <a:lnTo>
                    <a:pt x="245" y="49"/>
                  </a:lnTo>
                  <a:lnTo>
                    <a:pt x="240" y="61"/>
                  </a:lnTo>
                  <a:lnTo>
                    <a:pt x="235" y="73"/>
                  </a:lnTo>
                  <a:lnTo>
                    <a:pt x="216" y="124"/>
                  </a:lnTo>
                  <a:lnTo>
                    <a:pt x="197" y="177"/>
                  </a:lnTo>
                  <a:lnTo>
                    <a:pt x="180" y="230"/>
                  </a:lnTo>
                  <a:lnTo>
                    <a:pt x="164" y="285"/>
                  </a:lnTo>
                  <a:lnTo>
                    <a:pt x="150" y="340"/>
                  </a:lnTo>
                  <a:lnTo>
                    <a:pt x="137" y="395"/>
                  </a:lnTo>
                  <a:lnTo>
                    <a:pt x="126" y="450"/>
                  </a:lnTo>
                  <a:lnTo>
                    <a:pt x="117" y="505"/>
                  </a:lnTo>
                  <a:lnTo>
                    <a:pt x="116" y="510"/>
                  </a:lnTo>
                  <a:lnTo>
                    <a:pt x="111" y="510"/>
                  </a:lnTo>
                  <a:lnTo>
                    <a:pt x="89" y="509"/>
                  </a:lnTo>
                  <a:lnTo>
                    <a:pt x="71" y="509"/>
                  </a:lnTo>
                  <a:lnTo>
                    <a:pt x="54" y="509"/>
                  </a:lnTo>
                  <a:lnTo>
                    <a:pt x="39" y="509"/>
                  </a:lnTo>
                  <a:lnTo>
                    <a:pt x="26" y="510"/>
                  </a:lnTo>
                  <a:lnTo>
                    <a:pt x="16" y="512"/>
                  </a:lnTo>
                  <a:lnTo>
                    <a:pt x="11" y="514"/>
                  </a:lnTo>
                  <a:lnTo>
                    <a:pt x="8" y="517"/>
                  </a:lnTo>
                  <a:lnTo>
                    <a:pt x="5" y="519"/>
                  </a:lnTo>
                  <a:lnTo>
                    <a:pt x="3" y="522"/>
                  </a:lnTo>
                  <a:lnTo>
                    <a:pt x="2" y="524"/>
                  </a:lnTo>
                  <a:lnTo>
                    <a:pt x="1" y="528"/>
                  </a:lnTo>
                  <a:lnTo>
                    <a:pt x="0" y="531"/>
                  </a:lnTo>
                  <a:lnTo>
                    <a:pt x="0" y="535"/>
                  </a:lnTo>
                  <a:lnTo>
                    <a:pt x="2" y="545"/>
                  </a:lnTo>
                  <a:lnTo>
                    <a:pt x="6" y="555"/>
                  </a:lnTo>
                  <a:lnTo>
                    <a:pt x="11" y="566"/>
                  </a:lnTo>
                  <a:lnTo>
                    <a:pt x="17" y="577"/>
                  </a:lnTo>
                  <a:lnTo>
                    <a:pt x="25" y="588"/>
                  </a:lnTo>
                  <a:lnTo>
                    <a:pt x="34" y="600"/>
                  </a:lnTo>
                  <a:lnTo>
                    <a:pt x="40" y="606"/>
                  </a:lnTo>
                  <a:lnTo>
                    <a:pt x="47" y="611"/>
                  </a:lnTo>
                  <a:lnTo>
                    <a:pt x="54" y="618"/>
                  </a:lnTo>
                  <a:lnTo>
                    <a:pt x="61" y="623"/>
                  </a:lnTo>
                  <a:lnTo>
                    <a:pt x="69" y="627"/>
                  </a:lnTo>
                  <a:lnTo>
                    <a:pt x="77" y="631"/>
                  </a:lnTo>
                  <a:lnTo>
                    <a:pt x="86" y="635"/>
                  </a:lnTo>
                  <a:lnTo>
                    <a:pt x="96" y="638"/>
                  </a:lnTo>
                  <a:lnTo>
                    <a:pt x="102" y="640"/>
                  </a:lnTo>
                  <a:lnTo>
                    <a:pt x="101" y="644"/>
                  </a:lnTo>
                  <a:lnTo>
                    <a:pt x="100" y="669"/>
                  </a:lnTo>
                  <a:lnTo>
                    <a:pt x="99" y="693"/>
                  </a:lnTo>
                  <a:lnTo>
                    <a:pt x="98" y="718"/>
                  </a:lnTo>
                  <a:lnTo>
                    <a:pt x="98" y="741"/>
                  </a:lnTo>
                  <a:lnTo>
                    <a:pt x="98" y="771"/>
                  </a:lnTo>
                  <a:lnTo>
                    <a:pt x="99" y="798"/>
                  </a:lnTo>
                  <a:lnTo>
                    <a:pt x="102" y="825"/>
                  </a:lnTo>
                  <a:lnTo>
                    <a:pt x="106" y="849"/>
                  </a:lnTo>
                  <a:lnTo>
                    <a:pt x="110" y="873"/>
                  </a:lnTo>
                  <a:lnTo>
                    <a:pt x="116" y="894"/>
                  </a:lnTo>
                  <a:lnTo>
                    <a:pt x="123" y="914"/>
                  </a:lnTo>
                  <a:lnTo>
                    <a:pt x="131" y="932"/>
                  </a:lnTo>
                  <a:lnTo>
                    <a:pt x="141" y="948"/>
                  </a:lnTo>
                  <a:lnTo>
                    <a:pt x="152" y="963"/>
                  </a:lnTo>
                  <a:lnTo>
                    <a:pt x="163" y="976"/>
                  </a:lnTo>
                  <a:lnTo>
                    <a:pt x="176" y="987"/>
                  </a:lnTo>
                  <a:lnTo>
                    <a:pt x="189" y="997"/>
                  </a:lnTo>
                  <a:lnTo>
                    <a:pt x="204" y="1004"/>
                  </a:lnTo>
                  <a:lnTo>
                    <a:pt x="220" y="1011"/>
                  </a:lnTo>
                  <a:lnTo>
                    <a:pt x="236" y="1016"/>
                  </a:lnTo>
                  <a:lnTo>
                    <a:pt x="242" y="1017"/>
                  </a:lnTo>
                  <a:lnTo>
                    <a:pt x="248" y="1017"/>
                  </a:lnTo>
                  <a:lnTo>
                    <a:pt x="259" y="1016"/>
                  </a:lnTo>
                  <a:lnTo>
                    <a:pt x="268" y="1014"/>
                  </a:lnTo>
                  <a:lnTo>
                    <a:pt x="273" y="1012"/>
                  </a:lnTo>
                  <a:lnTo>
                    <a:pt x="277" y="1010"/>
                  </a:lnTo>
                  <a:lnTo>
                    <a:pt x="280" y="1007"/>
                  </a:lnTo>
                  <a:lnTo>
                    <a:pt x="282" y="1004"/>
                  </a:lnTo>
                  <a:lnTo>
                    <a:pt x="284" y="999"/>
                  </a:lnTo>
                  <a:lnTo>
                    <a:pt x="284" y="994"/>
                  </a:lnTo>
                  <a:lnTo>
                    <a:pt x="282" y="989"/>
                  </a:lnTo>
                  <a:lnTo>
                    <a:pt x="279" y="982"/>
                  </a:lnTo>
                  <a:lnTo>
                    <a:pt x="271" y="966"/>
                  </a:lnTo>
                  <a:lnTo>
                    <a:pt x="265" y="948"/>
                  </a:lnTo>
                  <a:lnTo>
                    <a:pt x="259" y="929"/>
                  </a:lnTo>
                  <a:lnTo>
                    <a:pt x="254" y="909"/>
                  </a:lnTo>
                  <a:lnTo>
                    <a:pt x="251" y="888"/>
                  </a:lnTo>
                  <a:lnTo>
                    <a:pt x="247" y="866"/>
                  </a:lnTo>
                  <a:lnTo>
                    <a:pt x="245" y="843"/>
                  </a:lnTo>
                  <a:lnTo>
                    <a:pt x="244" y="820"/>
                  </a:lnTo>
                  <a:lnTo>
                    <a:pt x="243" y="796"/>
                  </a:lnTo>
                  <a:lnTo>
                    <a:pt x="243" y="773"/>
                  </a:lnTo>
                  <a:lnTo>
                    <a:pt x="244" y="748"/>
                  </a:lnTo>
                  <a:lnTo>
                    <a:pt x="245" y="725"/>
                  </a:lnTo>
                  <a:lnTo>
                    <a:pt x="249" y="678"/>
                  </a:lnTo>
                  <a:lnTo>
                    <a:pt x="254" y="633"/>
                  </a:lnTo>
                  <a:lnTo>
                    <a:pt x="255" y="629"/>
                  </a:lnTo>
                  <a:lnTo>
                    <a:pt x="259" y="628"/>
                  </a:lnTo>
                  <a:lnTo>
                    <a:pt x="282" y="625"/>
                  </a:lnTo>
                  <a:lnTo>
                    <a:pt x="307" y="622"/>
                  </a:lnTo>
                  <a:lnTo>
                    <a:pt x="332" y="618"/>
                  </a:lnTo>
                  <a:lnTo>
                    <a:pt x="357" y="615"/>
                  </a:lnTo>
                  <a:lnTo>
                    <a:pt x="381" y="612"/>
                  </a:lnTo>
                  <a:lnTo>
                    <a:pt x="406" y="610"/>
                  </a:lnTo>
                  <a:lnTo>
                    <a:pt x="428" y="608"/>
                  </a:lnTo>
                  <a:lnTo>
                    <a:pt x="448" y="607"/>
                  </a:lnTo>
                  <a:lnTo>
                    <a:pt x="450" y="607"/>
                  </a:lnTo>
                  <a:lnTo>
                    <a:pt x="459" y="608"/>
                  </a:lnTo>
                  <a:lnTo>
                    <a:pt x="466" y="610"/>
                  </a:lnTo>
                  <a:lnTo>
                    <a:pt x="472" y="612"/>
                  </a:lnTo>
                  <a:lnTo>
                    <a:pt x="477" y="617"/>
                  </a:lnTo>
                  <a:lnTo>
                    <a:pt x="479" y="620"/>
                  </a:lnTo>
                  <a:lnTo>
                    <a:pt x="481" y="623"/>
                  </a:lnTo>
                  <a:lnTo>
                    <a:pt x="482" y="626"/>
                  </a:lnTo>
                  <a:lnTo>
                    <a:pt x="483" y="630"/>
                  </a:lnTo>
                  <a:lnTo>
                    <a:pt x="483" y="637"/>
                  </a:lnTo>
                  <a:lnTo>
                    <a:pt x="483" y="645"/>
                  </a:lnTo>
                  <a:lnTo>
                    <a:pt x="483" y="657"/>
                  </a:lnTo>
                  <a:lnTo>
                    <a:pt x="483" y="674"/>
                  </a:lnTo>
                  <a:lnTo>
                    <a:pt x="485" y="693"/>
                  </a:lnTo>
                  <a:lnTo>
                    <a:pt x="489" y="717"/>
                  </a:lnTo>
                  <a:lnTo>
                    <a:pt x="492" y="728"/>
                  </a:lnTo>
                  <a:lnTo>
                    <a:pt x="495" y="741"/>
                  </a:lnTo>
                  <a:lnTo>
                    <a:pt x="500" y="753"/>
                  </a:lnTo>
                  <a:lnTo>
                    <a:pt x="506" y="766"/>
                  </a:lnTo>
                  <a:lnTo>
                    <a:pt x="513" y="779"/>
                  </a:lnTo>
                  <a:lnTo>
                    <a:pt x="520" y="791"/>
                  </a:lnTo>
                  <a:lnTo>
                    <a:pt x="529" y="803"/>
                  </a:lnTo>
                  <a:lnTo>
                    <a:pt x="539" y="816"/>
                  </a:lnTo>
                  <a:lnTo>
                    <a:pt x="548" y="824"/>
                  </a:lnTo>
                  <a:lnTo>
                    <a:pt x="558" y="832"/>
                  </a:lnTo>
                  <a:lnTo>
                    <a:pt x="568" y="840"/>
                  </a:lnTo>
                  <a:lnTo>
                    <a:pt x="578" y="846"/>
                  </a:lnTo>
                  <a:lnTo>
                    <a:pt x="589" y="853"/>
                  </a:lnTo>
                  <a:lnTo>
                    <a:pt x="600" y="858"/>
                  </a:lnTo>
                  <a:lnTo>
                    <a:pt x="613" y="865"/>
                  </a:lnTo>
                  <a:lnTo>
                    <a:pt x="626" y="869"/>
                  </a:lnTo>
                  <a:lnTo>
                    <a:pt x="639" y="873"/>
                  </a:lnTo>
                  <a:lnTo>
                    <a:pt x="652" y="877"/>
                  </a:lnTo>
                  <a:lnTo>
                    <a:pt x="668" y="879"/>
                  </a:lnTo>
                  <a:lnTo>
                    <a:pt x="682" y="882"/>
                  </a:lnTo>
                  <a:lnTo>
                    <a:pt x="697" y="883"/>
                  </a:lnTo>
                  <a:lnTo>
                    <a:pt x="714" y="884"/>
                  </a:lnTo>
                  <a:lnTo>
                    <a:pt x="730" y="885"/>
                  </a:lnTo>
                  <a:lnTo>
                    <a:pt x="747" y="885"/>
                  </a:lnTo>
                  <a:lnTo>
                    <a:pt x="756" y="8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6" name="Freeform 36"/>
            <p:cNvSpPr>
              <a:spLocks/>
            </p:cNvSpPr>
            <p:nvPr userDrawn="1"/>
          </p:nvSpPr>
          <p:spPr bwMode="auto">
            <a:xfrm>
              <a:off x="6460" y="648"/>
              <a:ext cx="42" cy="70"/>
            </a:xfrm>
            <a:custGeom>
              <a:avLst/>
              <a:gdLst>
                <a:gd name="T0" fmla="*/ 395 w 504"/>
                <a:gd name="T1" fmla="*/ 126 h 840"/>
                <a:gd name="T2" fmla="*/ 353 w 504"/>
                <a:gd name="T3" fmla="*/ 165 h 840"/>
                <a:gd name="T4" fmla="*/ 314 w 504"/>
                <a:gd name="T5" fmla="*/ 203 h 840"/>
                <a:gd name="T6" fmla="*/ 279 w 504"/>
                <a:gd name="T7" fmla="*/ 243 h 840"/>
                <a:gd name="T8" fmla="*/ 248 w 504"/>
                <a:gd name="T9" fmla="*/ 283 h 840"/>
                <a:gd name="T10" fmla="*/ 219 w 504"/>
                <a:gd name="T11" fmla="*/ 323 h 840"/>
                <a:gd name="T12" fmla="*/ 195 w 504"/>
                <a:gd name="T13" fmla="*/ 365 h 840"/>
                <a:gd name="T14" fmla="*/ 174 w 504"/>
                <a:gd name="T15" fmla="*/ 407 h 840"/>
                <a:gd name="T16" fmla="*/ 156 w 504"/>
                <a:gd name="T17" fmla="*/ 451 h 840"/>
                <a:gd name="T18" fmla="*/ 135 w 504"/>
                <a:gd name="T19" fmla="*/ 514 h 840"/>
                <a:gd name="T20" fmla="*/ 122 w 504"/>
                <a:gd name="T21" fmla="*/ 567 h 840"/>
                <a:gd name="T22" fmla="*/ 115 w 504"/>
                <a:gd name="T23" fmla="*/ 613 h 840"/>
                <a:gd name="T24" fmla="*/ 114 w 504"/>
                <a:gd name="T25" fmla="*/ 650 h 840"/>
                <a:gd name="T26" fmla="*/ 116 w 504"/>
                <a:gd name="T27" fmla="*/ 681 h 840"/>
                <a:gd name="T28" fmla="*/ 121 w 504"/>
                <a:gd name="T29" fmla="*/ 704 h 840"/>
                <a:gd name="T30" fmla="*/ 127 w 504"/>
                <a:gd name="T31" fmla="*/ 723 h 840"/>
                <a:gd name="T32" fmla="*/ 135 w 504"/>
                <a:gd name="T33" fmla="*/ 736 h 840"/>
                <a:gd name="T34" fmla="*/ 146 w 504"/>
                <a:gd name="T35" fmla="*/ 748 h 840"/>
                <a:gd name="T36" fmla="*/ 159 w 504"/>
                <a:gd name="T37" fmla="*/ 757 h 840"/>
                <a:gd name="T38" fmla="*/ 173 w 504"/>
                <a:gd name="T39" fmla="*/ 762 h 840"/>
                <a:gd name="T40" fmla="*/ 188 w 504"/>
                <a:gd name="T41" fmla="*/ 764 h 840"/>
                <a:gd name="T42" fmla="*/ 208 w 504"/>
                <a:gd name="T43" fmla="*/ 840 h 840"/>
                <a:gd name="T44" fmla="*/ 182 w 504"/>
                <a:gd name="T45" fmla="*/ 839 h 840"/>
                <a:gd name="T46" fmla="*/ 159 w 504"/>
                <a:gd name="T47" fmla="*/ 835 h 840"/>
                <a:gd name="T48" fmla="*/ 136 w 504"/>
                <a:gd name="T49" fmla="*/ 829 h 840"/>
                <a:gd name="T50" fmla="*/ 115 w 504"/>
                <a:gd name="T51" fmla="*/ 821 h 840"/>
                <a:gd name="T52" fmla="*/ 96 w 504"/>
                <a:gd name="T53" fmla="*/ 809 h 840"/>
                <a:gd name="T54" fmla="*/ 77 w 504"/>
                <a:gd name="T55" fmla="*/ 795 h 840"/>
                <a:gd name="T56" fmla="*/ 61 w 504"/>
                <a:gd name="T57" fmla="*/ 780 h 840"/>
                <a:gd name="T58" fmla="*/ 47 w 504"/>
                <a:gd name="T59" fmla="*/ 761 h 840"/>
                <a:gd name="T60" fmla="*/ 28 w 504"/>
                <a:gd name="T61" fmla="*/ 731 h 840"/>
                <a:gd name="T62" fmla="*/ 14 w 504"/>
                <a:gd name="T63" fmla="*/ 696 h 840"/>
                <a:gd name="T64" fmla="*/ 5 w 504"/>
                <a:gd name="T65" fmla="*/ 658 h 840"/>
                <a:gd name="T66" fmla="*/ 1 w 504"/>
                <a:gd name="T67" fmla="*/ 618 h 840"/>
                <a:gd name="T68" fmla="*/ 1 w 504"/>
                <a:gd name="T69" fmla="*/ 576 h 840"/>
                <a:gd name="T70" fmla="*/ 5 w 504"/>
                <a:gd name="T71" fmla="*/ 532 h 840"/>
                <a:gd name="T72" fmla="*/ 14 w 504"/>
                <a:gd name="T73" fmla="*/ 486 h 840"/>
                <a:gd name="T74" fmla="*/ 27 w 504"/>
                <a:gd name="T75" fmla="*/ 439 h 840"/>
                <a:gd name="T76" fmla="*/ 51 w 504"/>
                <a:gd name="T77" fmla="*/ 380 h 840"/>
                <a:gd name="T78" fmla="*/ 81 w 504"/>
                <a:gd name="T79" fmla="*/ 321 h 840"/>
                <a:gd name="T80" fmla="*/ 118 w 504"/>
                <a:gd name="T81" fmla="*/ 264 h 840"/>
                <a:gd name="T82" fmla="*/ 162 w 504"/>
                <a:gd name="T83" fmla="*/ 209 h 840"/>
                <a:gd name="T84" fmla="*/ 212 w 504"/>
                <a:gd name="T85" fmla="*/ 156 h 840"/>
                <a:gd name="T86" fmla="*/ 269 w 504"/>
                <a:gd name="T87" fmla="*/ 103 h 840"/>
                <a:gd name="T88" fmla="*/ 332 w 504"/>
                <a:gd name="T89" fmla="*/ 52 h 840"/>
                <a:gd name="T90" fmla="*/ 403 w 504"/>
                <a:gd name="T91" fmla="*/ 2 h 840"/>
                <a:gd name="T92" fmla="*/ 504 w 504"/>
                <a:gd name="T93" fmla="*/ 26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04" h="840">
                  <a:moveTo>
                    <a:pt x="406" y="118"/>
                  </a:moveTo>
                  <a:lnTo>
                    <a:pt x="395" y="126"/>
                  </a:lnTo>
                  <a:lnTo>
                    <a:pt x="374" y="146"/>
                  </a:lnTo>
                  <a:lnTo>
                    <a:pt x="353" y="165"/>
                  </a:lnTo>
                  <a:lnTo>
                    <a:pt x="333" y="184"/>
                  </a:lnTo>
                  <a:lnTo>
                    <a:pt x="314" y="203"/>
                  </a:lnTo>
                  <a:lnTo>
                    <a:pt x="295" y="223"/>
                  </a:lnTo>
                  <a:lnTo>
                    <a:pt x="279" y="243"/>
                  </a:lnTo>
                  <a:lnTo>
                    <a:pt x="263" y="262"/>
                  </a:lnTo>
                  <a:lnTo>
                    <a:pt x="248" y="283"/>
                  </a:lnTo>
                  <a:lnTo>
                    <a:pt x="233" y="303"/>
                  </a:lnTo>
                  <a:lnTo>
                    <a:pt x="219" y="323"/>
                  </a:lnTo>
                  <a:lnTo>
                    <a:pt x="207" y="344"/>
                  </a:lnTo>
                  <a:lnTo>
                    <a:pt x="195" y="365"/>
                  </a:lnTo>
                  <a:lnTo>
                    <a:pt x="184" y="386"/>
                  </a:lnTo>
                  <a:lnTo>
                    <a:pt x="174" y="407"/>
                  </a:lnTo>
                  <a:lnTo>
                    <a:pt x="165" y="430"/>
                  </a:lnTo>
                  <a:lnTo>
                    <a:pt x="156" y="451"/>
                  </a:lnTo>
                  <a:lnTo>
                    <a:pt x="145" y="484"/>
                  </a:lnTo>
                  <a:lnTo>
                    <a:pt x="135" y="514"/>
                  </a:lnTo>
                  <a:lnTo>
                    <a:pt x="128" y="542"/>
                  </a:lnTo>
                  <a:lnTo>
                    <a:pt x="122" y="567"/>
                  </a:lnTo>
                  <a:lnTo>
                    <a:pt x="118" y="591"/>
                  </a:lnTo>
                  <a:lnTo>
                    <a:pt x="115" y="613"/>
                  </a:lnTo>
                  <a:lnTo>
                    <a:pt x="114" y="633"/>
                  </a:lnTo>
                  <a:lnTo>
                    <a:pt x="114" y="650"/>
                  </a:lnTo>
                  <a:lnTo>
                    <a:pt x="114" y="666"/>
                  </a:lnTo>
                  <a:lnTo>
                    <a:pt x="116" y="681"/>
                  </a:lnTo>
                  <a:lnTo>
                    <a:pt x="118" y="693"/>
                  </a:lnTo>
                  <a:lnTo>
                    <a:pt x="121" y="704"/>
                  </a:lnTo>
                  <a:lnTo>
                    <a:pt x="124" y="714"/>
                  </a:lnTo>
                  <a:lnTo>
                    <a:pt x="127" y="723"/>
                  </a:lnTo>
                  <a:lnTo>
                    <a:pt x="131" y="730"/>
                  </a:lnTo>
                  <a:lnTo>
                    <a:pt x="135" y="736"/>
                  </a:lnTo>
                  <a:lnTo>
                    <a:pt x="140" y="742"/>
                  </a:lnTo>
                  <a:lnTo>
                    <a:pt x="146" y="748"/>
                  </a:lnTo>
                  <a:lnTo>
                    <a:pt x="152" y="753"/>
                  </a:lnTo>
                  <a:lnTo>
                    <a:pt x="159" y="757"/>
                  </a:lnTo>
                  <a:lnTo>
                    <a:pt x="166" y="760"/>
                  </a:lnTo>
                  <a:lnTo>
                    <a:pt x="173" y="762"/>
                  </a:lnTo>
                  <a:lnTo>
                    <a:pt x="180" y="763"/>
                  </a:lnTo>
                  <a:lnTo>
                    <a:pt x="188" y="764"/>
                  </a:lnTo>
                  <a:lnTo>
                    <a:pt x="230" y="801"/>
                  </a:lnTo>
                  <a:lnTo>
                    <a:pt x="208" y="840"/>
                  </a:lnTo>
                  <a:lnTo>
                    <a:pt x="195" y="840"/>
                  </a:lnTo>
                  <a:lnTo>
                    <a:pt x="182" y="839"/>
                  </a:lnTo>
                  <a:lnTo>
                    <a:pt x="170" y="838"/>
                  </a:lnTo>
                  <a:lnTo>
                    <a:pt x="159" y="835"/>
                  </a:lnTo>
                  <a:lnTo>
                    <a:pt x="148" y="833"/>
                  </a:lnTo>
                  <a:lnTo>
                    <a:pt x="136" y="829"/>
                  </a:lnTo>
                  <a:lnTo>
                    <a:pt x="125" y="825"/>
                  </a:lnTo>
                  <a:lnTo>
                    <a:pt x="115" y="821"/>
                  </a:lnTo>
                  <a:lnTo>
                    <a:pt x="105" y="814"/>
                  </a:lnTo>
                  <a:lnTo>
                    <a:pt x="96" y="809"/>
                  </a:lnTo>
                  <a:lnTo>
                    <a:pt x="86" y="802"/>
                  </a:lnTo>
                  <a:lnTo>
                    <a:pt x="77" y="795"/>
                  </a:lnTo>
                  <a:lnTo>
                    <a:pt x="69" y="788"/>
                  </a:lnTo>
                  <a:lnTo>
                    <a:pt x="61" y="780"/>
                  </a:lnTo>
                  <a:lnTo>
                    <a:pt x="54" y="771"/>
                  </a:lnTo>
                  <a:lnTo>
                    <a:pt x="47" y="761"/>
                  </a:lnTo>
                  <a:lnTo>
                    <a:pt x="36" y="746"/>
                  </a:lnTo>
                  <a:lnTo>
                    <a:pt x="28" y="731"/>
                  </a:lnTo>
                  <a:lnTo>
                    <a:pt x="21" y="713"/>
                  </a:lnTo>
                  <a:lnTo>
                    <a:pt x="14" y="696"/>
                  </a:lnTo>
                  <a:lnTo>
                    <a:pt x="9" y="678"/>
                  </a:lnTo>
                  <a:lnTo>
                    <a:pt x="5" y="658"/>
                  </a:lnTo>
                  <a:lnTo>
                    <a:pt x="2" y="639"/>
                  </a:lnTo>
                  <a:lnTo>
                    <a:pt x="1" y="618"/>
                  </a:lnTo>
                  <a:lnTo>
                    <a:pt x="0" y="597"/>
                  </a:lnTo>
                  <a:lnTo>
                    <a:pt x="1" y="576"/>
                  </a:lnTo>
                  <a:lnTo>
                    <a:pt x="2" y="554"/>
                  </a:lnTo>
                  <a:lnTo>
                    <a:pt x="5" y="532"/>
                  </a:lnTo>
                  <a:lnTo>
                    <a:pt x="9" y="509"/>
                  </a:lnTo>
                  <a:lnTo>
                    <a:pt x="14" y="486"/>
                  </a:lnTo>
                  <a:lnTo>
                    <a:pt x="20" y="462"/>
                  </a:lnTo>
                  <a:lnTo>
                    <a:pt x="27" y="439"/>
                  </a:lnTo>
                  <a:lnTo>
                    <a:pt x="38" y="409"/>
                  </a:lnTo>
                  <a:lnTo>
                    <a:pt x="51" y="380"/>
                  </a:lnTo>
                  <a:lnTo>
                    <a:pt x="66" y="350"/>
                  </a:lnTo>
                  <a:lnTo>
                    <a:pt x="81" y="321"/>
                  </a:lnTo>
                  <a:lnTo>
                    <a:pt x="99" y="293"/>
                  </a:lnTo>
                  <a:lnTo>
                    <a:pt x="118" y="264"/>
                  </a:lnTo>
                  <a:lnTo>
                    <a:pt x="139" y="237"/>
                  </a:lnTo>
                  <a:lnTo>
                    <a:pt x="162" y="209"/>
                  </a:lnTo>
                  <a:lnTo>
                    <a:pt x="185" y="183"/>
                  </a:lnTo>
                  <a:lnTo>
                    <a:pt x="212" y="156"/>
                  </a:lnTo>
                  <a:lnTo>
                    <a:pt x="239" y="130"/>
                  </a:lnTo>
                  <a:lnTo>
                    <a:pt x="269" y="103"/>
                  </a:lnTo>
                  <a:lnTo>
                    <a:pt x="300" y="77"/>
                  </a:lnTo>
                  <a:lnTo>
                    <a:pt x="332" y="52"/>
                  </a:lnTo>
                  <a:lnTo>
                    <a:pt x="367" y="26"/>
                  </a:lnTo>
                  <a:lnTo>
                    <a:pt x="403" y="2"/>
                  </a:lnTo>
                  <a:lnTo>
                    <a:pt x="406" y="0"/>
                  </a:lnTo>
                  <a:lnTo>
                    <a:pt x="504" y="26"/>
                  </a:lnTo>
                  <a:lnTo>
                    <a:pt x="406" y="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7" name="Freeform 37"/>
            <p:cNvSpPr>
              <a:spLocks/>
            </p:cNvSpPr>
            <p:nvPr userDrawn="1"/>
          </p:nvSpPr>
          <p:spPr bwMode="auto">
            <a:xfrm>
              <a:off x="7081" y="570"/>
              <a:ext cx="66" cy="83"/>
            </a:xfrm>
            <a:custGeom>
              <a:avLst/>
              <a:gdLst>
                <a:gd name="T0" fmla="*/ 575 w 783"/>
                <a:gd name="T1" fmla="*/ 794 h 1004"/>
                <a:gd name="T2" fmla="*/ 584 w 783"/>
                <a:gd name="T3" fmla="*/ 863 h 1004"/>
                <a:gd name="T4" fmla="*/ 607 w 783"/>
                <a:gd name="T5" fmla="*/ 922 h 1004"/>
                <a:gd name="T6" fmla="*/ 643 w 783"/>
                <a:gd name="T7" fmla="*/ 967 h 1004"/>
                <a:gd name="T8" fmla="*/ 692 w 783"/>
                <a:gd name="T9" fmla="*/ 1000 h 1004"/>
                <a:gd name="T10" fmla="*/ 718 w 783"/>
                <a:gd name="T11" fmla="*/ 1004 h 1004"/>
                <a:gd name="T12" fmla="*/ 738 w 783"/>
                <a:gd name="T13" fmla="*/ 997 h 1004"/>
                <a:gd name="T14" fmla="*/ 741 w 783"/>
                <a:gd name="T15" fmla="*/ 978 h 1004"/>
                <a:gd name="T16" fmla="*/ 727 w 783"/>
                <a:gd name="T17" fmla="*/ 902 h 1004"/>
                <a:gd name="T18" fmla="*/ 728 w 783"/>
                <a:gd name="T19" fmla="*/ 819 h 1004"/>
                <a:gd name="T20" fmla="*/ 742 w 783"/>
                <a:gd name="T21" fmla="*/ 732 h 1004"/>
                <a:gd name="T22" fmla="*/ 767 w 783"/>
                <a:gd name="T23" fmla="*/ 642 h 1004"/>
                <a:gd name="T24" fmla="*/ 783 w 783"/>
                <a:gd name="T25" fmla="*/ 583 h 1004"/>
                <a:gd name="T26" fmla="*/ 779 w 783"/>
                <a:gd name="T27" fmla="*/ 550 h 1004"/>
                <a:gd name="T28" fmla="*/ 756 w 783"/>
                <a:gd name="T29" fmla="*/ 522 h 1004"/>
                <a:gd name="T30" fmla="*/ 702 w 783"/>
                <a:gd name="T31" fmla="*/ 494 h 1004"/>
                <a:gd name="T32" fmla="*/ 674 w 783"/>
                <a:gd name="T33" fmla="*/ 489 h 1004"/>
                <a:gd name="T34" fmla="*/ 651 w 783"/>
                <a:gd name="T35" fmla="*/ 493 h 1004"/>
                <a:gd name="T36" fmla="*/ 633 w 783"/>
                <a:gd name="T37" fmla="*/ 508 h 1004"/>
                <a:gd name="T38" fmla="*/ 603 w 783"/>
                <a:gd name="T39" fmla="*/ 553 h 1004"/>
                <a:gd name="T40" fmla="*/ 506 w 783"/>
                <a:gd name="T41" fmla="*/ 676 h 1004"/>
                <a:gd name="T42" fmla="*/ 401 w 783"/>
                <a:gd name="T43" fmla="*/ 783 h 1004"/>
                <a:gd name="T44" fmla="*/ 336 w 783"/>
                <a:gd name="T45" fmla="*/ 834 h 1004"/>
                <a:gd name="T46" fmla="*/ 286 w 783"/>
                <a:gd name="T47" fmla="*/ 860 h 1004"/>
                <a:gd name="T48" fmla="*/ 240 w 783"/>
                <a:gd name="T49" fmla="*/ 873 h 1004"/>
                <a:gd name="T50" fmla="*/ 209 w 783"/>
                <a:gd name="T51" fmla="*/ 871 h 1004"/>
                <a:gd name="T52" fmla="*/ 188 w 783"/>
                <a:gd name="T53" fmla="*/ 858 h 1004"/>
                <a:gd name="T54" fmla="*/ 170 w 783"/>
                <a:gd name="T55" fmla="*/ 836 h 1004"/>
                <a:gd name="T56" fmla="*/ 155 w 783"/>
                <a:gd name="T57" fmla="*/ 776 h 1004"/>
                <a:gd name="T58" fmla="*/ 159 w 783"/>
                <a:gd name="T59" fmla="*/ 665 h 1004"/>
                <a:gd name="T60" fmla="*/ 188 w 783"/>
                <a:gd name="T61" fmla="*/ 507 h 1004"/>
                <a:gd name="T62" fmla="*/ 234 w 783"/>
                <a:gd name="T63" fmla="*/ 341 h 1004"/>
                <a:gd name="T64" fmla="*/ 291 w 783"/>
                <a:gd name="T65" fmla="*/ 188 h 1004"/>
                <a:gd name="T66" fmla="*/ 345 w 783"/>
                <a:gd name="T67" fmla="*/ 81 h 1004"/>
                <a:gd name="T68" fmla="*/ 360 w 783"/>
                <a:gd name="T69" fmla="*/ 40 h 1004"/>
                <a:gd name="T70" fmla="*/ 354 w 783"/>
                <a:gd name="T71" fmla="*/ 15 h 1004"/>
                <a:gd name="T72" fmla="*/ 327 w 783"/>
                <a:gd name="T73" fmla="*/ 3 h 1004"/>
                <a:gd name="T74" fmla="*/ 291 w 783"/>
                <a:gd name="T75" fmla="*/ 0 h 1004"/>
                <a:gd name="T76" fmla="*/ 240 w 783"/>
                <a:gd name="T77" fmla="*/ 7 h 1004"/>
                <a:gd name="T78" fmla="*/ 203 w 783"/>
                <a:gd name="T79" fmla="*/ 25 h 1004"/>
                <a:gd name="T80" fmla="*/ 178 w 783"/>
                <a:gd name="T81" fmla="*/ 52 h 1004"/>
                <a:gd name="T82" fmla="*/ 135 w 783"/>
                <a:gd name="T83" fmla="*/ 146 h 1004"/>
                <a:gd name="T84" fmla="*/ 81 w 783"/>
                <a:gd name="T85" fmla="*/ 292 h 1004"/>
                <a:gd name="T86" fmla="*/ 34 w 783"/>
                <a:gd name="T87" fmla="*/ 458 h 1004"/>
                <a:gd name="T88" fmla="*/ 5 w 783"/>
                <a:gd name="T89" fmla="*/ 639 h 1004"/>
                <a:gd name="T90" fmla="*/ 1 w 783"/>
                <a:gd name="T91" fmla="*/ 756 h 1004"/>
                <a:gd name="T92" fmla="*/ 8 w 783"/>
                <a:gd name="T93" fmla="*/ 802 h 1004"/>
                <a:gd name="T94" fmla="*/ 25 w 783"/>
                <a:gd name="T95" fmla="*/ 845 h 1004"/>
                <a:gd name="T96" fmla="*/ 51 w 783"/>
                <a:gd name="T97" fmla="*/ 884 h 1004"/>
                <a:gd name="T98" fmla="*/ 91 w 783"/>
                <a:gd name="T99" fmla="*/ 923 h 1004"/>
                <a:gd name="T100" fmla="*/ 141 w 783"/>
                <a:gd name="T101" fmla="*/ 955 h 1004"/>
                <a:gd name="T102" fmla="*/ 189 w 783"/>
                <a:gd name="T103" fmla="*/ 975 h 1004"/>
                <a:gd name="T104" fmla="*/ 248 w 783"/>
                <a:gd name="T105" fmla="*/ 986 h 1004"/>
                <a:gd name="T106" fmla="*/ 294 w 783"/>
                <a:gd name="T107" fmla="*/ 979 h 1004"/>
                <a:gd name="T108" fmla="*/ 339 w 783"/>
                <a:gd name="T109" fmla="*/ 961 h 1004"/>
                <a:gd name="T110" fmla="*/ 426 w 783"/>
                <a:gd name="T111" fmla="*/ 901 h 1004"/>
                <a:gd name="T112" fmla="*/ 504 w 783"/>
                <a:gd name="T113" fmla="*/ 825 h 10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83" h="1004">
                  <a:moveTo>
                    <a:pt x="576" y="737"/>
                  </a:moveTo>
                  <a:lnTo>
                    <a:pt x="575" y="755"/>
                  </a:lnTo>
                  <a:lnTo>
                    <a:pt x="575" y="775"/>
                  </a:lnTo>
                  <a:lnTo>
                    <a:pt x="575" y="794"/>
                  </a:lnTo>
                  <a:lnTo>
                    <a:pt x="576" y="812"/>
                  </a:lnTo>
                  <a:lnTo>
                    <a:pt x="578" y="831"/>
                  </a:lnTo>
                  <a:lnTo>
                    <a:pt x="581" y="847"/>
                  </a:lnTo>
                  <a:lnTo>
                    <a:pt x="584" y="863"/>
                  </a:lnTo>
                  <a:lnTo>
                    <a:pt x="590" y="879"/>
                  </a:lnTo>
                  <a:lnTo>
                    <a:pt x="595" y="894"/>
                  </a:lnTo>
                  <a:lnTo>
                    <a:pt x="601" y="908"/>
                  </a:lnTo>
                  <a:lnTo>
                    <a:pt x="607" y="922"/>
                  </a:lnTo>
                  <a:lnTo>
                    <a:pt x="615" y="934"/>
                  </a:lnTo>
                  <a:lnTo>
                    <a:pt x="623" y="946"/>
                  </a:lnTo>
                  <a:lnTo>
                    <a:pt x="632" y="956"/>
                  </a:lnTo>
                  <a:lnTo>
                    <a:pt x="643" y="967"/>
                  </a:lnTo>
                  <a:lnTo>
                    <a:pt x="654" y="977"/>
                  </a:lnTo>
                  <a:lnTo>
                    <a:pt x="666" y="986"/>
                  </a:lnTo>
                  <a:lnTo>
                    <a:pt x="678" y="994"/>
                  </a:lnTo>
                  <a:lnTo>
                    <a:pt x="692" y="1000"/>
                  </a:lnTo>
                  <a:lnTo>
                    <a:pt x="699" y="1002"/>
                  </a:lnTo>
                  <a:lnTo>
                    <a:pt x="705" y="1003"/>
                  </a:lnTo>
                  <a:lnTo>
                    <a:pt x="712" y="1004"/>
                  </a:lnTo>
                  <a:lnTo>
                    <a:pt x="718" y="1004"/>
                  </a:lnTo>
                  <a:lnTo>
                    <a:pt x="724" y="1004"/>
                  </a:lnTo>
                  <a:lnTo>
                    <a:pt x="730" y="1003"/>
                  </a:lnTo>
                  <a:lnTo>
                    <a:pt x="735" y="1000"/>
                  </a:lnTo>
                  <a:lnTo>
                    <a:pt x="738" y="997"/>
                  </a:lnTo>
                  <a:lnTo>
                    <a:pt x="741" y="993"/>
                  </a:lnTo>
                  <a:lnTo>
                    <a:pt x="742" y="989"/>
                  </a:lnTo>
                  <a:lnTo>
                    <a:pt x="742" y="984"/>
                  </a:lnTo>
                  <a:lnTo>
                    <a:pt x="741" y="978"/>
                  </a:lnTo>
                  <a:lnTo>
                    <a:pt x="735" y="959"/>
                  </a:lnTo>
                  <a:lnTo>
                    <a:pt x="732" y="941"/>
                  </a:lnTo>
                  <a:lnTo>
                    <a:pt x="729" y="922"/>
                  </a:lnTo>
                  <a:lnTo>
                    <a:pt x="727" y="902"/>
                  </a:lnTo>
                  <a:lnTo>
                    <a:pt x="726" y="883"/>
                  </a:lnTo>
                  <a:lnTo>
                    <a:pt x="726" y="861"/>
                  </a:lnTo>
                  <a:lnTo>
                    <a:pt x="726" y="841"/>
                  </a:lnTo>
                  <a:lnTo>
                    <a:pt x="728" y="819"/>
                  </a:lnTo>
                  <a:lnTo>
                    <a:pt x="730" y="798"/>
                  </a:lnTo>
                  <a:lnTo>
                    <a:pt x="733" y="776"/>
                  </a:lnTo>
                  <a:lnTo>
                    <a:pt x="736" y="754"/>
                  </a:lnTo>
                  <a:lnTo>
                    <a:pt x="742" y="732"/>
                  </a:lnTo>
                  <a:lnTo>
                    <a:pt x="747" y="709"/>
                  </a:lnTo>
                  <a:lnTo>
                    <a:pt x="753" y="687"/>
                  </a:lnTo>
                  <a:lnTo>
                    <a:pt x="760" y="664"/>
                  </a:lnTo>
                  <a:lnTo>
                    <a:pt x="767" y="642"/>
                  </a:lnTo>
                  <a:lnTo>
                    <a:pt x="775" y="620"/>
                  </a:lnTo>
                  <a:lnTo>
                    <a:pt x="780" y="600"/>
                  </a:lnTo>
                  <a:lnTo>
                    <a:pt x="782" y="591"/>
                  </a:lnTo>
                  <a:lnTo>
                    <a:pt x="783" y="583"/>
                  </a:lnTo>
                  <a:lnTo>
                    <a:pt x="783" y="573"/>
                  </a:lnTo>
                  <a:lnTo>
                    <a:pt x="783" y="565"/>
                  </a:lnTo>
                  <a:lnTo>
                    <a:pt x="781" y="558"/>
                  </a:lnTo>
                  <a:lnTo>
                    <a:pt x="779" y="550"/>
                  </a:lnTo>
                  <a:lnTo>
                    <a:pt x="775" y="543"/>
                  </a:lnTo>
                  <a:lnTo>
                    <a:pt x="770" y="536"/>
                  </a:lnTo>
                  <a:lnTo>
                    <a:pt x="764" y="530"/>
                  </a:lnTo>
                  <a:lnTo>
                    <a:pt x="756" y="522"/>
                  </a:lnTo>
                  <a:lnTo>
                    <a:pt x="747" y="515"/>
                  </a:lnTo>
                  <a:lnTo>
                    <a:pt x="735" y="509"/>
                  </a:lnTo>
                  <a:lnTo>
                    <a:pt x="718" y="500"/>
                  </a:lnTo>
                  <a:lnTo>
                    <a:pt x="702" y="494"/>
                  </a:lnTo>
                  <a:lnTo>
                    <a:pt x="695" y="492"/>
                  </a:lnTo>
                  <a:lnTo>
                    <a:pt x="687" y="490"/>
                  </a:lnTo>
                  <a:lnTo>
                    <a:pt x="680" y="489"/>
                  </a:lnTo>
                  <a:lnTo>
                    <a:pt x="674" y="489"/>
                  </a:lnTo>
                  <a:lnTo>
                    <a:pt x="667" y="489"/>
                  </a:lnTo>
                  <a:lnTo>
                    <a:pt x="662" y="490"/>
                  </a:lnTo>
                  <a:lnTo>
                    <a:pt x="656" y="491"/>
                  </a:lnTo>
                  <a:lnTo>
                    <a:pt x="651" y="493"/>
                  </a:lnTo>
                  <a:lnTo>
                    <a:pt x="646" y="496"/>
                  </a:lnTo>
                  <a:lnTo>
                    <a:pt x="642" y="499"/>
                  </a:lnTo>
                  <a:lnTo>
                    <a:pt x="637" y="503"/>
                  </a:lnTo>
                  <a:lnTo>
                    <a:pt x="633" y="508"/>
                  </a:lnTo>
                  <a:lnTo>
                    <a:pt x="630" y="512"/>
                  </a:lnTo>
                  <a:lnTo>
                    <a:pt x="627" y="516"/>
                  </a:lnTo>
                  <a:lnTo>
                    <a:pt x="624" y="522"/>
                  </a:lnTo>
                  <a:lnTo>
                    <a:pt x="603" y="553"/>
                  </a:lnTo>
                  <a:lnTo>
                    <a:pt x="579" y="584"/>
                  </a:lnTo>
                  <a:lnTo>
                    <a:pt x="556" y="615"/>
                  </a:lnTo>
                  <a:lnTo>
                    <a:pt x="531" y="646"/>
                  </a:lnTo>
                  <a:lnTo>
                    <a:pt x="506" y="676"/>
                  </a:lnTo>
                  <a:lnTo>
                    <a:pt x="480" y="704"/>
                  </a:lnTo>
                  <a:lnTo>
                    <a:pt x="454" y="733"/>
                  </a:lnTo>
                  <a:lnTo>
                    <a:pt x="427" y="758"/>
                  </a:lnTo>
                  <a:lnTo>
                    <a:pt x="401" y="783"/>
                  </a:lnTo>
                  <a:lnTo>
                    <a:pt x="374" y="805"/>
                  </a:lnTo>
                  <a:lnTo>
                    <a:pt x="362" y="815"/>
                  </a:lnTo>
                  <a:lnTo>
                    <a:pt x="349" y="825"/>
                  </a:lnTo>
                  <a:lnTo>
                    <a:pt x="336" y="834"/>
                  </a:lnTo>
                  <a:lnTo>
                    <a:pt x="323" y="841"/>
                  </a:lnTo>
                  <a:lnTo>
                    <a:pt x="310" y="848"/>
                  </a:lnTo>
                  <a:lnTo>
                    <a:pt x="298" y="855"/>
                  </a:lnTo>
                  <a:lnTo>
                    <a:pt x="286" y="860"/>
                  </a:lnTo>
                  <a:lnTo>
                    <a:pt x="273" y="865"/>
                  </a:lnTo>
                  <a:lnTo>
                    <a:pt x="262" y="868"/>
                  </a:lnTo>
                  <a:lnTo>
                    <a:pt x="251" y="872"/>
                  </a:lnTo>
                  <a:lnTo>
                    <a:pt x="240" y="873"/>
                  </a:lnTo>
                  <a:lnTo>
                    <a:pt x="228" y="874"/>
                  </a:lnTo>
                  <a:lnTo>
                    <a:pt x="221" y="874"/>
                  </a:lnTo>
                  <a:lnTo>
                    <a:pt x="215" y="873"/>
                  </a:lnTo>
                  <a:lnTo>
                    <a:pt x="209" y="871"/>
                  </a:lnTo>
                  <a:lnTo>
                    <a:pt x="203" y="868"/>
                  </a:lnTo>
                  <a:lnTo>
                    <a:pt x="198" y="865"/>
                  </a:lnTo>
                  <a:lnTo>
                    <a:pt x="193" y="862"/>
                  </a:lnTo>
                  <a:lnTo>
                    <a:pt x="188" y="858"/>
                  </a:lnTo>
                  <a:lnTo>
                    <a:pt x="183" y="853"/>
                  </a:lnTo>
                  <a:lnTo>
                    <a:pt x="178" y="848"/>
                  </a:lnTo>
                  <a:lnTo>
                    <a:pt x="174" y="843"/>
                  </a:lnTo>
                  <a:lnTo>
                    <a:pt x="170" y="836"/>
                  </a:lnTo>
                  <a:lnTo>
                    <a:pt x="167" y="830"/>
                  </a:lnTo>
                  <a:lnTo>
                    <a:pt x="162" y="813"/>
                  </a:lnTo>
                  <a:lnTo>
                    <a:pt x="158" y="796"/>
                  </a:lnTo>
                  <a:lnTo>
                    <a:pt x="155" y="776"/>
                  </a:lnTo>
                  <a:lnTo>
                    <a:pt x="154" y="753"/>
                  </a:lnTo>
                  <a:lnTo>
                    <a:pt x="154" y="729"/>
                  </a:lnTo>
                  <a:lnTo>
                    <a:pt x="155" y="702"/>
                  </a:lnTo>
                  <a:lnTo>
                    <a:pt x="159" y="665"/>
                  </a:lnTo>
                  <a:lnTo>
                    <a:pt x="164" y="628"/>
                  </a:lnTo>
                  <a:lnTo>
                    <a:pt x="170" y="589"/>
                  </a:lnTo>
                  <a:lnTo>
                    <a:pt x="178" y="548"/>
                  </a:lnTo>
                  <a:lnTo>
                    <a:pt x="188" y="507"/>
                  </a:lnTo>
                  <a:lnTo>
                    <a:pt x="197" y="465"/>
                  </a:lnTo>
                  <a:lnTo>
                    <a:pt x="208" y="423"/>
                  </a:lnTo>
                  <a:lnTo>
                    <a:pt x="220" y="382"/>
                  </a:lnTo>
                  <a:lnTo>
                    <a:pt x="234" y="341"/>
                  </a:lnTo>
                  <a:lnTo>
                    <a:pt x="247" y="301"/>
                  </a:lnTo>
                  <a:lnTo>
                    <a:pt x="261" y="261"/>
                  </a:lnTo>
                  <a:lnTo>
                    <a:pt x="275" y="223"/>
                  </a:lnTo>
                  <a:lnTo>
                    <a:pt x="291" y="188"/>
                  </a:lnTo>
                  <a:lnTo>
                    <a:pt x="306" y="154"/>
                  </a:lnTo>
                  <a:lnTo>
                    <a:pt x="322" y="122"/>
                  </a:lnTo>
                  <a:lnTo>
                    <a:pt x="338" y="94"/>
                  </a:lnTo>
                  <a:lnTo>
                    <a:pt x="345" y="81"/>
                  </a:lnTo>
                  <a:lnTo>
                    <a:pt x="351" y="68"/>
                  </a:lnTo>
                  <a:lnTo>
                    <a:pt x="356" y="58"/>
                  </a:lnTo>
                  <a:lnTo>
                    <a:pt x="359" y="48"/>
                  </a:lnTo>
                  <a:lnTo>
                    <a:pt x="360" y="40"/>
                  </a:lnTo>
                  <a:lnTo>
                    <a:pt x="361" y="33"/>
                  </a:lnTo>
                  <a:lnTo>
                    <a:pt x="360" y="25"/>
                  </a:lnTo>
                  <a:lnTo>
                    <a:pt x="357" y="20"/>
                  </a:lnTo>
                  <a:lnTo>
                    <a:pt x="354" y="15"/>
                  </a:lnTo>
                  <a:lnTo>
                    <a:pt x="350" y="11"/>
                  </a:lnTo>
                  <a:lnTo>
                    <a:pt x="344" y="8"/>
                  </a:lnTo>
                  <a:lnTo>
                    <a:pt x="337" y="5"/>
                  </a:lnTo>
                  <a:lnTo>
                    <a:pt x="327" y="3"/>
                  </a:lnTo>
                  <a:lnTo>
                    <a:pt x="318" y="1"/>
                  </a:lnTo>
                  <a:lnTo>
                    <a:pt x="307" y="0"/>
                  </a:lnTo>
                  <a:lnTo>
                    <a:pt x="295" y="0"/>
                  </a:lnTo>
                  <a:lnTo>
                    <a:pt x="291" y="0"/>
                  </a:lnTo>
                  <a:lnTo>
                    <a:pt x="276" y="0"/>
                  </a:lnTo>
                  <a:lnTo>
                    <a:pt x="263" y="2"/>
                  </a:lnTo>
                  <a:lnTo>
                    <a:pt x="251" y="4"/>
                  </a:lnTo>
                  <a:lnTo>
                    <a:pt x="240" y="7"/>
                  </a:lnTo>
                  <a:lnTo>
                    <a:pt x="229" y="11"/>
                  </a:lnTo>
                  <a:lnTo>
                    <a:pt x="219" y="15"/>
                  </a:lnTo>
                  <a:lnTo>
                    <a:pt x="211" y="20"/>
                  </a:lnTo>
                  <a:lnTo>
                    <a:pt x="203" y="25"/>
                  </a:lnTo>
                  <a:lnTo>
                    <a:pt x="196" y="32"/>
                  </a:lnTo>
                  <a:lnTo>
                    <a:pt x="190" y="39"/>
                  </a:lnTo>
                  <a:lnTo>
                    <a:pt x="184" y="45"/>
                  </a:lnTo>
                  <a:lnTo>
                    <a:pt x="178" y="52"/>
                  </a:lnTo>
                  <a:lnTo>
                    <a:pt x="169" y="67"/>
                  </a:lnTo>
                  <a:lnTo>
                    <a:pt x="162" y="83"/>
                  </a:lnTo>
                  <a:lnTo>
                    <a:pt x="148" y="113"/>
                  </a:lnTo>
                  <a:lnTo>
                    <a:pt x="135" y="146"/>
                  </a:lnTo>
                  <a:lnTo>
                    <a:pt x="120" y="180"/>
                  </a:lnTo>
                  <a:lnTo>
                    <a:pt x="107" y="215"/>
                  </a:lnTo>
                  <a:lnTo>
                    <a:pt x="94" y="253"/>
                  </a:lnTo>
                  <a:lnTo>
                    <a:pt x="81" y="292"/>
                  </a:lnTo>
                  <a:lnTo>
                    <a:pt x="67" y="332"/>
                  </a:lnTo>
                  <a:lnTo>
                    <a:pt x="56" y="372"/>
                  </a:lnTo>
                  <a:lnTo>
                    <a:pt x="45" y="414"/>
                  </a:lnTo>
                  <a:lnTo>
                    <a:pt x="34" y="458"/>
                  </a:lnTo>
                  <a:lnTo>
                    <a:pt x="24" y="502"/>
                  </a:lnTo>
                  <a:lnTo>
                    <a:pt x="17" y="547"/>
                  </a:lnTo>
                  <a:lnTo>
                    <a:pt x="10" y="593"/>
                  </a:lnTo>
                  <a:lnTo>
                    <a:pt x="5" y="639"/>
                  </a:lnTo>
                  <a:lnTo>
                    <a:pt x="2" y="685"/>
                  </a:lnTo>
                  <a:lnTo>
                    <a:pt x="0" y="732"/>
                  </a:lnTo>
                  <a:lnTo>
                    <a:pt x="0" y="744"/>
                  </a:lnTo>
                  <a:lnTo>
                    <a:pt x="1" y="756"/>
                  </a:lnTo>
                  <a:lnTo>
                    <a:pt x="2" y="768"/>
                  </a:lnTo>
                  <a:lnTo>
                    <a:pt x="3" y="780"/>
                  </a:lnTo>
                  <a:lnTo>
                    <a:pt x="6" y="791"/>
                  </a:lnTo>
                  <a:lnTo>
                    <a:pt x="8" y="802"/>
                  </a:lnTo>
                  <a:lnTo>
                    <a:pt x="12" y="813"/>
                  </a:lnTo>
                  <a:lnTo>
                    <a:pt x="16" y="825"/>
                  </a:lnTo>
                  <a:lnTo>
                    <a:pt x="20" y="835"/>
                  </a:lnTo>
                  <a:lnTo>
                    <a:pt x="25" y="845"/>
                  </a:lnTo>
                  <a:lnTo>
                    <a:pt x="31" y="855"/>
                  </a:lnTo>
                  <a:lnTo>
                    <a:pt x="37" y="864"/>
                  </a:lnTo>
                  <a:lnTo>
                    <a:pt x="44" y="875"/>
                  </a:lnTo>
                  <a:lnTo>
                    <a:pt x="51" y="884"/>
                  </a:lnTo>
                  <a:lnTo>
                    <a:pt x="58" y="893"/>
                  </a:lnTo>
                  <a:lnTo>
                    <a:pt x="66" y="901"/>
                  </a:lnTo>
                  <a:lnTo>
                    <a:pt x="79" y="912"/>
                  </a:lnTo>
                  <a:lnTo>
                    <a:pt x="91" y="923"/>
                  </a:lnTo>
                  <a:lnTo>
                    <a:pt x="103" y="932"/>
                  </a:lnTo>
                  <a:lnTo>
                    <a:pt x="115" y="941"/>
                  </a:lnTo>
                  <a:lnTo>
                    <a:pt x="127" y="948"/>
                  </a:lnTo>
                  <a:lnTo>
                    <a:pt x="141" y="955"/>
                  </a:lnTo>
                  <a:lnTo>
                    <a:pt x="153" y="961"/>
                  </a:lnTo>
                  <a:lnTo>
                    <a:pt x="165" y="966"/>
                  </a:lnTo>
                  <a:lnTo>
                    <a:pt x="177" y="972"/>
                  </a:lnTo>
                  <a:lnTo>
                    <a:pt x="189" y="975"/>
                  </a:lnTo>
                  <a:lnTo>
                    <a:pt x="201" y="979"/>
                  </a:lnTo>
                  <a:lnTo>
                    <a:pt x="211" y="981"/>
                  </a:lnTo>
                  <a:lnTo>
                    <a:pt x="232" y="985"/>
                  </a:lnTo>
                  <a:lnTo>
                    <a:pt x="248" y="986"/>
                  </a:lnTo>
                  <a:lnTo>
                    <a:pt x="259" y="985"/>
                  </a:lnTo>
                  <a:lnTo>
                    <a:pt x="270" y="984"/>
                  </a:lnTo>
                  <a:lnTo>
                    <a:pt x="282" y="982"/>
                  </a:lnTo>
                  <a:lnTo>
                    <a:pt x="294" y="979"/>
                  </a:lnTo>
                  <a:lnTo>
                    <a:pt x="305" y="976"/>
                  </a:lnTo>
                  <a:lnTo>
                    <a:pt x="316" y="972"/>
                  </a:lnTo>
                  <a:lnTo>
                    <a:pt x="327" y="966"/>
                  </a:lnTo>
                  <a:lnTo>
                    <a:pt x="339" y="961"/>
                  </a:lnTo>
                  <a:lnTo>
                    <a:pt x="361" y="949"/>
                  </a:lnTo>
                  <a:lnTo>
                    <a:pt x="384" y="935"/>
                  </a:lnTo>
                  <a:lnTo>
                    <a:pt x="405" y="918"/>
                  </a:lnTo>
                  <a:lnTo>
                    <a:pt x="426" y="901"/>
                  </a:lnTo>
                  <a:lnTo>
                    <a:pt x="448" y="883"/>
                  </a:lnTo>
                  <a:lnTo>
                    <a:pt x="467" y="863"/>
                  </a:lnTo>
                  <a:lnTo>
                    <a:pt x="487" y="844"/>
                  </a:lnTo>
                  <a:lnTo>
                    <a:pt x="504" y="825"/>
                  </a:lnTo>
                  <a:lnTo>
                    <a:pt x="538" y="786"/>
                  </a:lnTo>
                  <a:lnTo>
                    <a:pt x="565" y="751"/>
                  </a:lnTo>
                  <a:lnTo>
                    <a:pt x="576" y="7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8" name="Freeform 38"/>
            <p:cNvSpPr>
              <a:spLocks/>
            </p:cNvSpPr>
            <p:nvPr userDrawn="1"/>
          </p:nvSpPr>
          <p:spPr bwMode="auto">
            <a:xfrm>
              <a:off x="6357" y="558"/>
              <a:ext cx="28" cy="94"/>
            </a:xfrm>
            <a:custGeom>
              <a:avLst/>
              <a:gdLst>
                <a:gd name="T0" fmla="*/ 211 w 340"/>
                <a:gd name="T1" fmla="*/ 0 h 1127"/>
                <a:gd name="T2" fmla="*/ 198 w 340"/>
                <a:gd name="T3" fmla="*/ 2 h 1127"/>
                <a:gd name="T4" fmla="*/ 187 w 340"/>
                <a:gd name="T5" fmla="*/ 6 h 1127"/>
                <a:gd name="T6" fmla="*/ 178 w 340"/>
                <a:gd name="T7" fmla="*/ 12 h 1127"/>
                <a:gd name="T8" fmla="*/ 167 w 340"/>
                <a:gd name="T9" fmla="*/ 24 h 1127"/>
                <a:gd name="T10" fmla="*/ 158 w 340"/>
                <a:gd name="T11" fmla="*/ 41 h 1127"/>
                <a:gd name="T12" fmla="*/ 151 w 340"/>
                <a:gd name="T13" fmla="*/ 66 h 1127"/>
                <a:gd name="T14" fmla="*/ 144 w 340"/>
                <a:gd name="T15" fmla="*/ 103 h 1127"/>
                <a:gd name="T16" fmla="*/ 134 w 340"/>
                <a:gd name="T17" fmla="*/ 147 h 1127"/>
                <a:gd name="T18" fmla="*/ 123 w 340"/>
                <a:gd name="T19" fmla="*/ 195 h 1127"/>
                <a:gd name="T20" fmla="*/ 101 w 340"/>
                <a:gd name="T21" fmla="*/ 292 h 1127"/>
                <a:gd name="T22" fmla="*/ 67 w 340"/>
                <a:gd name="T23" fmla="*/ 447 h 1127"/>
                <a:gd name="T24" fmla="*/ 35 w 340"/>
                <a:gd name="T25" fmla="*/ 608 h 1127"/>
                <a:gd name="T26" fmla="*/ 16 w 340"/>
                <a:gd name="T27" fmla="*/ 725 h 1127"/>
                <a:gd name="T28" fmla="*/ 7 w 340"/>
                <a:gd name="T29" fmla="*/ 797 h 1127"/>
                <a:gd name="T30" fmla="*/ 1 w 340"/>
                <a:gd name="T31" fmla="*/ 872 h 1127"/>
                <a:gd name="T32" fmla="*/ 0 w 340"/>
                <a:gd name="T33" fmla="*/ 941 h 1127"/>
                <a:gd name="T34" fmla="*/ 5 w 340"/>
                <a:gd name="T35" fmla="*/ 996 h 1127"/>
                <a:gd name="T36" fmla="*/ 14 w 340"/>
                <a:gd name="T37" fmla="*/ 1039 h 1127"/>
                <a:gd name="T38" fmla="*/ 27 w 340"/>
                <a:gd name="T39" fmla="*/ 1071 h 1127"/>
                <a:gd name="T40" fmla="*/ 43 w 340"/>
                <a:gd name="T41" fmla="*/ 1094 h 1127"/>
                <a:gd name="T42" fmla="*/ 62 w 340"/>
                <a:gd name="T43" fmla="*/ 1111 h 1127"/>
                <a:gd name="T44" fmla="*/ 82 w 340"/>
                <a:gd name="T45" fmla="*/ 1121 h 1127"/>
                <a:gd name="T46" fmla="*/ 102 w 340"/>
                <a:gd name="T47" fmla="*/ 1127 h 1127"/>
                <a:gd name="T48" fmla="*/ 116 w 340"/>
                <a:gd name="T49" fmla="*/ 1127 h 1127"/>
                <a:gd name="T50" fmla="*/ 122 w 340"/>
                <a:gd name="T51" fmla="*/ 1124 h 1127"/>
                <a:gd name="T52" fmla="*/ 129 w 340"/>
                <a:gd name="T53" fmla="*/ 1116 h 1127"/>
                <a:gd name="T54" fmla="*/ 134 w 340"/>
                <a:gd name="T55" fmla="*/ 1099 h 1127"/>
                <a:gd name="T56" fmla="*/ 134 w 340"/>
                <a:gd name="T57" fmla="*/ 1070 h 1127"/>
                <a:gd name="T58" fmla="*/ 137 w 340"/>
                <a:gd name="T59" fmla="*/ 1026 h 1127"/>
                <a:gd name="T60" fmla="*/ 145 w 340"/>
                <a:gd name="T61" fmla="*/ 948 h 1127"/>
                <a:gd name="T62" fmla="*/ 165 w 340"/>
                <a:gd name="T63" fmla="*/ 829 h 1127"/>
                <a:gd name="T64" fmla="*/ 191 w 340"/>
                <a:gd name="T65" fmla="*/ 696 h 1127"/>
                <a:gd name="T66" fmla="*/ 222 w 340"/>
                <a:gd name="T67" fmla="*/ 559 h 1127"/>
                <a:gd name="T68" fmla="*/ 253 w 340"/>
                <a:gd name="T69" fmla="*/ 425 h 1127"/>
                <a:gd name="T70" fmla="*/ 286 w 340"/>
                <a:gd name="T71" fmla="*/ 301 h 1127"/>
                <a:gd name="T72" fmla="*/ 316 w 340"/>
                <a:gd name="T73" fmla="*/ 195 h 1127"/>
                <a:gd name="T74" fmla="*/ 333 w 340"/>
                <a:gd name="T75" fmla="*/ 136 h 1127"/>
                <a:gd name="T76" fmla="*/ 338 w 340"/>
                <a:gd name="T77" fmla="*/ 110 h 1127"/>
                <a:gd name="T78" fmla="*/ 340 w 340"/>
                <a:gd name="T79" fmla="*/ 88 h 1127"/>
                <a:gd name="T80" fmla="*/ 337 w 340"/>
                <a:gd name="T81" fmla="*/ 70 h 1127"/>
                <a:gd name="T82" fmla="*/ 331 w 340"/>
                <a:gd name="T83" fmla="*/ 55 h 1127"/>
                <a:gd name="T84" fmla="*/ 321 w 340"/>
                <a:gd name="T85" fmla="*/ 42 h 1127"/>
                <a:gd name="T86" fmla="*/ 307 w 340"/>
                <a:gd name="T87" fmla="*/ 31 h 1127"/>
                <a:gd name="T88" fmla="*/ 292 w 340"/>
                <a:gd name="T89" fmla="*/ 22 h 1127"/>
                <a:gd name="T90" fmla="*/ 266 w 340"/>
                <a:gd name="T91" fmla="*/ 9 h 1127"/>
                <a:gd name="T92" fmla="*/ 233 w 340"/>
                <a:gd name="T93" fmla="*/ 1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40" h="1127">
                  <a:moveTo>
                    <a:pt x="218" y="0"/>
                  </a:moveTo>
                  <a:lnTo>
                    <a:pt x="211" y="0"/>
                  </a:lnTo>
                  <a:lnTo>
                    <a:pt x="204" y="1"/>
                  </a:lnTo>
                  <a:lnTo>
                    <a:pt x="198" y="2"/>
                  </a:lnTo>
                  <a:lnTo>
                    <a:pt x="192" y="4"/>
                  </a:lnTo>
                  <a:lnTo>
                    <a:pt x="187" y="6"/>
                  </a:lnTo>
                  <a:lnTo>
                    <a:pt x="182" y="9"/>
                  </a:lnTo>
                  <a:lnTo>
                    <a:pt x="178" y="12"/>
                  </a:lnTo>
                  <a:lnTo>
                    <a:pt x="174" y="16"/>
                  </a:lnTo>
                  <a:lnTo>
                    <a:pt x="167" y="24"/>
                  </a:lnTo>
                  <a:lnTo>
                    <a:pt x="162" y="33"/>
                  </a:lnTo>
                  <a:lnTo>
                    <a:pt x="158" y="41"/>
                  </a:lnTo>
                  <a:lnTo>
                    <a:pt x="154" y="51"/>
                  </a:lnTo>
                  <a:lnTo>
                    <a:pt x="151" y="66"/>
                  </a:lnTo>
                  <a:lnTo>
                    <a:pt x="148" y="84"/>
                  </a:lnTo>
                  <a:lnTo>
                    <a:pt x="144" y="103"/>
                  </a:lnTo>
                  <a:lnTo>
                    <a:pt x="139" y="125"/>
                  </a:lnTo>
                  <a:lnTo>
                    <a:pt x="134" y="147"/>
                  </a:lnTo>
                  <a:lnTo>
                    <a:pt x="129" y="171"/>
                  </a:lnTo>
                  <a:lnTo>
                    <a:pt x="123" y="195"/>
                  </a:lnTo>
                  <a:lnTo>
                    <a:pt x="118" y="222"/>
                  </a:lnTo>
                  <a:lnTo>
                    <a:pt x="101" y="292"/>
                  </a:lnTo>
                  <a:lnTo>
                    <a:pt x="84" y="369"/>
                  </a:lnTo>
                  <a:lnTo>
                    <a:pt x="67" y="447"/>
                  </a:lnTo>
                  <a:lnTo>
                    <a:pt x="50" y="528"/>
                  </a:lnTo>
                  <a:lnTo>
                    <a:pt x="35" y="608"/>
                  </a:lnTo>
                  <a:lnTo>
                    <a:pt x="22" y="687"/>
                  </a:lnTo>
                  <a:lnTo>
                    <a:pt x="16" y="725"/>
                  </a:lnTo>
                  <a:lnTo>
                    <a:pt x="11" y="762"/>
                  </a:lnTo>
                  <a:lnTo>
                    <a:pt x="7" y="797"/>
                  </a:lnTo>
                  <a:lnTo>
                    <a:pt x="3" y="832"/>
                  </a:lnTo>
                  <a:lnTo>
                    <a:pt x="1" y="872"/>
                  </a:lnTo>
                  <a:lnTo>
                    <a:pt x="0" y="909"/>
                  </a:lnTo>
                  <a:lnTo>
                    <a:pt x="0" y="941"/>
                  </a:lnTo>
                  <a:lnTo>
                    <a:pt x="1" y="971"/>
                  </a:lnTo>
                  <a:lnTo>
                    <a:pt x="5" y="996"/>
                  </a:lnTo>
                  <a:lnTo>
                    <a:pt x="9" y="1019"/>
                  </a:lnTo>
                  <a:lnTo>
                    <a:pt x="14" y="1039"/>
                  </a:lnTo>
                  <a:lnTo>
                    <a:pt x="20" y="1057"/>
                  </a:lnTo>
                  <a:lnTo>
                    <a:pt x="27" y="1071"/>
                  </a:lnTo>
                  <a:lnTo>
                    <a:pt x="35" y="1084"/>
                  </a:lnTo>
                  <a:lnTo>
                    <a:pt x="43" y="1094"/>
                  </a:lnTo>
                  <a:lnTo>
                    <a:pt x="52" y="1103"/>
                  </a:lnTo>
                  <a:lnTo>
                    <a:pt x="62" y="1111"/>
                  </a:lnTo>
                  <a:lnTo>
                    <a:pt x="72" y="1117"/>
                  </a:lnTo>
                  <a:lnTo>
                    <a:pt x="82" y="1121"/>
                  </a:lnTo>
                  <a:lnTo>
                    <a:pt x="93" y="1125"/>
                  </a:lnTo>
                  <a:lnTo>
                    <a:pt x="102" y="1127"/>
                  </a:lnTo>
                  <a:lnTo>
                    <a:pt x="112" y="1127"/>
                  </a:lnTo>
                  <a:lnTo>
                    <a:pt x="116" y="1127"/>
                  </a:lnTo>
                  <a:lnTo>
                    <a:pt x="119" y="1125"/>
                  </a:lnTo>
                  <a:lnTo>
                    <a:pt x="122" y="1124"/>
                  </a:lnTo>
                  <a:lnTo>
                    <a:pt x="125" y="1121"/>
                  </a:lnTo>
                  <a:lnTo>
                    <a:pt x="129" y="1116"/>
                  </a:lnTo>
                  <a:lnTo>
                    <a:pt x="132" y="1109"/>
                  </a:lnTo>
                  <a:lnTo>
                    <a:pt x="134" y="1099"/>
                  </a:lnTo>
                  <a:lnTo>
                    <a:pt x="134" y="1089"/>
                  </a:lnTo>
                  <a:lnTo>
                    <a:pt x="134" y="1070"/>
                  </a:lnTo>
                  <a:lnTo>
                    <a:pt x="135" y="1048"/>
                  </a:lnTo>
                  <a:lnTo>
                    <a:pt x="137" y="1026"/>
                  </a:lnTo>
                  <a:lnTo>
                    <a:pt x="139" y="1001"/>
                  </a:lnTo>
                  <a:lnTo>
                    <a:pt x="145" y="948"/>
                  </a:lnTo>
                  <a:lnTo>
                    <a:pt x="154" y="891"/>
                  </a:lnTo>
                  <a:lnTo>
                    <a:pt x="165" y="829"/>
                  </a:lnTo>
                  <a:lnTo>
                    <a:pt x="177" y="764"/>
                  </a:lnTo>
                  <a:lnTo>
                    <a:pt x="191" y="696"/>
                  </a:lnTo>
                  <a:lnTo>
                    <a:pt x="205" y="628"/>
                  </a:lnTo>
                  <a:lnTo>
                    <a:pt x="222" y="559"/>
                  </a:lnTo>
                  <a:lnTo>
                    <a:pt x="237" y="492"/>
                  </a:lnTo>
                  <a:lnTo>
                    <a:pt x="253" y="425"/>
                  </a:lnTo>
                  <a:lnTo>
                    <a:pt x="270" y="361"/>
                  </a:lnTo>
                  <a:lnTo>
                    <a:pt x="286" y="301"/>
                  </a:lnTo>
                  <a:lnTo>
                    <a:pt x="301" y="245"/>
                  </a:lnTo>
                  <a:lnTo>
                    <a:pt x="316" y="195"/>
                  </a:lnTo>
                  <a:lnTo>
                    <a:pt x="329" y="150"/>
                  </a:lnTo>
                  <a:lnTo>
                    <a:pt x="333" y="136"/>
                  </a:lnTo>
                  <a:lnTo>
                    <a:pt x="336" y="123"/>
                  </a:lnTo>
                  <a:lnTo>
                    <a:pt x="338" y="110"/>
                  </a:lnTo>
                  <a:lnTo>
                    <a:pt x="339" y="98"/>
                  </a:lnTo>
                  <a:lnTo>
                    <a:pt x="340" y="88"/>
                  </a:lnTo>
                  <a:lnTo>
                    <a:pt x="339" y="79"/>
                  </a:lnTo>
                  <a:lnTo>
                    <a:pt x="337" y="70"/>
                  </a:lnTo>
                  <a:lnTo>
                    <a:pt x="334" y="62"/>
                  </a:lnTo>
                  <a:lnTo>
                    <a:pt x="331" y="55"/>
                  </a:lnTo>
                  <a:lnTo>
                    <a:pt x="326" y="48"/>
                  </a:lnTo>
                  <a:lnTo>
                    <a:pt x="321" y="42"/>
                  </a:lnTo>
                  <a:lnTo>
                    <a:pt x="315" y="37"/>
                  </a:lnTo>
                  <a:lnTo>
                    <a:pt x="307" y="31"/>
                  </a:lnTo>
                  <a:lnTo>
                    <a:pt x="300" y="27"/>
                  </a:lnTo>
                  <a:lnTo>
                    <a:pt x="292" y="22"/>
                  </a:lnTo>
                  <a:lnTo>
                    <a:pt x="283" y="17"/>
                  </a:lnTo>
                  <a:lnTo>
                    <a:pt x="266" y="9"/>
                  </a:lnTo>
                  <a:lnTo>
                    <a:pt x="248" y="4"/>
                  </a:lnTo>
                  <a:lnTo>
                    <a:pt x="233" y="1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39" name="Freeform 39"/>
            <p:cNvSpPr>
              <a:spLocks/>
            </p:cNvSpPr>
            <p:nvPr userDrawn="1"/>
          </p:nvSpPr>
          <p:spPr bwMode="auto">
            <a:xfrm>
              <a:off x="7003" y="607"/>
              <a:ext cx="58" cy="42"/>
            </a:xfrm>
            <a:custGeom>
              <a:avLst/>
              <a:gdLst>
                <a:gd name="T0" fmla="*/ 50 w 695"/>
                <a:gd name="T1" fmla="*/ 38 h 503"/>
                <a:gd name="T2" fmla="*/ 37 w 695"/>
                <a:gd name="T3" fmla="*/ 44 h 503"/>
                <a:gd name="T4" fmla="*/ 31 w 695"/>
                <a:gd name="T5" fmla="*/ 54 h 503"/>
                <a:gd name="T6" fmla="*/ 30 w 695"/>
                <a:gd name="T7" fmla="*/ 70 h 503"/>
                <a:gd name="T8" fmla="*/ 37 w 695"/>
                <a:gd name="T9" fmla="*/ 108 h 503"/>
                <a:gd name="T10" fmla="*/ 39 w 695"/>
                <a:gd name="T11" fmla="*/ 159 h 503"/>
                <a:gd name="T12" fmla="*/ 35 w 695"/>
                <a:gd name="T13" fmla="*/ 214 h 503"/>
                <a:gd name="T14" fmla="*/ 17 w 695"/>
                <a:gd name="T15" fmla="*/ 323 h 503"/>
                <a:gd name="T16" fmla="*/ 4 w 695"/>
                <a:gd name="T17" fmla="*/ 384 h 503"/>
                <a:gd name="T18" fmla="*/ 0 w 695"/>
                <a:gd name="T19" fmla="*/ 414 h 503"/>
                <a:gd name="T20" fmla="*/ 6 w 695"/>
                <a:gd name="T21" fmla="*/ 438 h 503"/>
                <a:gd name="T22" fmla="*/ 17 w 695"/>
                <a:gd name="T23" fmla="*/ 455 h 503"/>
                <a:gd name="T24" fmla="*/ 32 w 695"/>
                <a:gd name="T25" fmla="*/ 470 h 503"/>
                <a:gd name="T26" fmla="*/ 74 w 695"/>
                <a:gd name="T27" fmla="*/ 494 h 503"/>
                <a:gd name="T28" fmla="*/ 114 w 695"/>
                <a:gd name="T29" fmla="*/ 503 h 503"/>
                <a:gd name="T30" fmla="*/ 134 w 695"/>
                <a:gd name="T31" fmla="*/ 500 h 503"/>
                <a:gd name="T32" fmla="*/ 152 w 695"/>
                <a:gd name="T33" fmla="*/ 486 h 503"/>
                <a:gd name="T34" fmla="*/ 171 w 695"/>
                <a:gd name="T35" fmla="*/ 441 h 503"/>
                <a:gd name="T36" fmla="*/ 212 w 695"/>
                <a:gd name="T37" fmla="*/ 349 h 503"/>
                <a:gd name="T38" fmla="*/ 241 w 695"/>
                <a:gd name="T39" fmla="*/ 301 h 503"/>
                <a:gd name="T40" fmla="*/ 278 w 695"/>
                <a:gd name="T41" fmla="*/ 253 h 503"/>
                <a:gd name="T42" fmla="*/ 322 w 695"/>
                <a:gd name="T43" fmla="*/ 208 h 503"/>
                <a:gd name="T44" fmla="*/ 374 w 695"/>
                <a:gd name="T45" fmla="*/ 167 h 503"/>
                <a:gd name="T46" fmla="*/ 435 w 695"/>
                <a:gd name="T47" fmla="*/ 131 h 503"/>
                <a:gd name="T48" fmla="*/ 505 w 695"/>
                <a:gd name="T49" fmla="*/ 102 h 503"/>
                <a:gd name="T50" fmla="*/ 585 w 695"/>
                <a:gd name="T51" fmla="*/ 82 h 503"/>
                <a:gd name="T52" fmla="*/ 677 w 695"/>
                <a:gd name="T53" fmla="*/ 72 h 503"/>
                <a:gd name="T54" fmla="*/ 686 w 695"/>
                <a:gd name="T55" fmla="*/ 69 h 503"/>
                <a:gd name="T56" fmla="*/ 692 w 695"/>
                <a:gd name="T57" fmla="*/ 62 h 503"/>
                <a:gd name="T58" fmla="*/ 695 w 695"/>
                <a:gd name="T59" fmla="*/ 51 h 503"/>
                <a:gd name="T60" fmla="*/ 690 w 695"/>
                <a:gd name="T61" fmla="*/ 34 h 503"/>
                <a:gd name="T62" fmla="*/ 674 w 695"/>
                <a:gd name="T63" fmla="*/ 18 h 503"/>
                <a:gd name="T64" fmla="*/ 648 w 695"/>
                <a:gd name="T65" fmla="*/ 8 h 503"/>
                <a:gd name="T66" fmla="*/ 604 w 695"/>
                <a:gd name="T67" fmla="*/ 1 h 503"/>
                <a:gd name="T68" fmla="*/ 536 w 695"/>
                <a:gd name="T69" fmla="*/ 2 h 503"/>
                <a:gd name="T70" fmla="*/ 469 w 695"/>
                <a:gd name="T71" fmla="*/ 13 h 503"/>
                <a:gd name="T72" fmla="*/ 397 w 695"/>
                <a:gd name="T73" fmla="*/ 33 h 503"/>
                <a:gd name="T74" fmla="*/ 328 w 695"/>
                <a:gd name="T75" fmla="*/ 60 h 503"/>
                <a:gd name="T76" fmla="*/ 262 w 695"/>
                <a:gd name="T77" fmla="*/ 94 h 503"/>
                <a:gd name="T78" fmla="*/ 214 w 695"/>
                <a:gd name="T79" fmla="*/ 124 h 503"/>
                <a:gd name="T80" fmla="*/ 200 w 695"/>
                <a:gd name="T81" fmla="*/ 101 h 503"/>
                <a:gd name="T82" fmla="*/ 160 w 695"/>
                <a:gd name="T83" fmla="*/ 66 h 503"/>
                <a:gd name="T84" fmla="*/ 124 w 695"/>
                <a:gd name="T85" fmla="*/ 46 h 503"/>
                <a:gd name="T86" fmla="*/ 96 w 695"/>
                <a:gd name="T87" fmla="*/ 38 h 503"/>
                <a:gd name="T88" fmla="*/ 71 w 695"/>
                <a:gd name="T89" fmla="*/ 35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95" h="503">
                  <a:moveTo>
                    <a:pt x="71" y="35"/>
                  </a:moveTo>
                  <a:lnTo>
                    <a:pt x="61" y="36"/>
                  </a:lnTo>
                  <a:lnTo>
                    <a:pt x="50" y="38"/>
                  </a:lnTo>
                  <a:lnTo>
                    <a:pt x="45" y="39"/>
                  </a:lnTo>
                  <a:lnTo>
                    <a:pt x="41" y="42"/>
                  </a:lnTo>
                  <a:lnTo>
                    <a:pt x="37" y="44"/>
                  </a:lnTo>
                  <a:lnTo>
                    <a:pt x="34" y="48"/>
                  </a:lnTo>
                  <a:lnTo>
                    <a:pt x="32" y="51"/>
                  </a:lnTo>
                  <a:lnTo>
                    <a:pt x="31" y="54"/>
                  </a:lnTo>
                  <a:lnTo>
                    <a:pt x="30" y="58"/>
                  </a:lnTo>
                  <a:lnTo>
                    <a:pt x="29" y="61"/>
                  </a:lnTo>
                  <a:lnTo>
                    <a:pt x="30" y="70"/>
                  </a:lnTo>
                  <a:lnTo>
                    <a:pt x="32" y="81"/>
                  </a:lnTo>
                  <a:lnTo>
                    <a:pt x="35" y="94"/>
                  </a:lnTo>
                  <a:lnTo>
                    <a:pt x="37" y="108"/>
                  </a:lnTo>
                  <a:lnTo>
                    <a:pt x="39" y="125"/>
                  </a:lnTo>
                  <a:lnTo>
                    <a:pt x="39" y="141"/>
                  </a:lnTo>
                  <a:lnTo>
                    <a:pt x="39" y="159"/>
                  </a:lnTo>
                  <a:lnTo>
                    <a:pt x="38" y="177"/>
                  </a:lnTo>
                  <a:lnTo>
                    <a:pt x="37" y="195"/>
                  </a:lnTo>
                  <a:lnTo>
                    <a:pt x="35" y="214"/>
                  </a:lnTo>
                  <a:lnTo>
                    <a:pt x="29" y="252"/>
                  </a:lnTo>
                  <a:lnTo>
                    <a:pt x="23" y="288"/>
                  </a:lnTo>
                  <a:lnTo>
                    <a:pt x="17" y="323"/>
                  </a:lnTo>
                  <a:lnTo>
                    <a:pt x="10" y="353"/>
                  </a:lnTo>
                  <a:lnTo>
                    <a:pt x="7" y="370"/>
                  </a:lnTo>
                  <a:lnTo>
                    <a:pt x="4" y="384"/>
                  </a:lnTo>
                  <a:lnTo>
                    <a:pt x="1" y="395"/>
                  </a:lnTo>
                  <a:lnTo>
                    <a:pt x="0" y="405"/>
                  </a:lnTo>
                  <a:lnTo>
                    <a:pt x="0" y="414"/>
                  </a:lnTo>
                  <a:lnTo>
                    <a:pt x="1" y="424"/>
                  </a:lnTo>
                  <a:lnTo>
                    <a:pt x="4" y="431"/>
                  </a:lnTo>
                  <a:lnTo>
                    <a:pt x="6" y="438"/>
                  </a:lnTo>
                  <a:lnTo>
                    <a:pt x="9" y="444"/>
                  </a:lnTo>
                  <a:lnTo>
                    <a:pt x="13" y="450"/>
                  </a:lnTo>
                  <a:lnTo>
                    <a:pt x="17" y="455"/>
                  </a:lnTo>
                  <a:lnTo>
                    <a:pt x="22" y="460"/>
                  </a:lnTo>
                  <a:lnTo>
                    <a:pt x="27" y="464"/>
                  </a:lnTo>
                  <a:lnTo>
                    <a:pt x="32" y="470"/>
                  </a:lnTo>
                  <a:lnTo>
                    <a:pt x="45" y="478"/>
                  </a:lnTo>
                  <a:lnTo>
                    <a:pt x="60" y="486"/>
                  </a:lnTo>
                  <a:lnTo>
                    <a:pt x="74" y="494"/>
                  </a:lnTo>
                  <a:lnTo>
                    <a:pt x="87" y="499"/>
                  </a:lnTo>
                  <a:lnTo>
                    <a:pt x="101" y="502"/>
                  </a:lnTo>
                  <a:lnTo>
                    <a:pt x="114" y="503"/>
                  </a:lnTo>
                  <a:lnTo>
                    <a:pt x="121" y="503"/>
                  </a:lnTo>
                  <a:lnTo>
                    <a:pt x="127" y="502"/>
                  </a:lnTo>
                  <a:lnTo>
                    <a:pt x="134" y="500"/>
                  </a:lnTo>
                  <a:lnTo>
                    <a:pt x="140" y="496"/>
                  </a:lnTo>
                  <a:lnTo>
                    <a:pt x="146" y="492"/>
                  </a:lnTo>
                  <a:lnTo>
                    <a:pt x="152" y="486"/>
                  </a:lnTo>
                  <a:lnTo>
                    <a:pt x="158" y="478"/>
                  </a:lnTo>
                  <a:lnTo>
                    <a:pt x="161" y="469"/>
                  </a:lnTo>
                  <a:lnTo>
                    <a:pt x="171" y="441"/>
                  </a:lnTo>
                  <a:lnTo>
                    <a:pt x="182" y="411"/>
                  </a:lnTo>
                  <a:lnTo>
                    <a:pt x="195" y="381"/>
                  </a:lnTo>
                  <a:lnTo>
                    <a:pt x="212" y="349"/>
                  </a:lnTo>
                  <a:lnTo>
                    <a:pt x="221" y="333"/>
                  </a:lnTo>
                  <a:lnTo>
                    <a:pt x="231" y="316"/>
                  </a:lnTo>
                  <a:lnTo>
                    <a:pt x="241" y="301"/>
                  </a:lnTo>
                  <a:lnTo>
                    <a:pt x="253" y="285"/>
                  </a:lnTo>
                  <a:lnTo>
                    <a:pt x="265" y="270"/>
                  </a:lnTo>
                  <a:lnTo>
                    <a:pt x="278" y="253"/>
                  </a:lnTo>
                  <a:lnTo>
                    <a:pt x="292" y="238"/>
                  </a:lnTo>
                  <a:lnTo>
                    <a:pt x="306" y="223"/>
                  </a:lnTo>
                  <a:lnTo>
                    <a:pt x="322" y="208"/>
                  </a:lnTo>
                  <a:lnTo>
                    <a:pt x="338" y="194"/>
                  </a:lnTo>
                  <a:lnTo>
                    <a:pt x="355" y="181"/>
                  </a:lnTo>
                  <a:lnTo>
                    <a:pt x="374" y="167"/>
                  </a:lnTo>
                  <a:lnTo>
                    <a:pt x="393" y="154"/>
                  </a:lnTo>
                  <a:lnTo>
                    <a:pt x="414" y="142"/>
                  </a:lnTo>
                  <a:lnTo>
                    <a:pt x="435" y="131"/>
                  </a:lnTo>
                  <a:lnTo>
                    <a:pt x="457" y="120"/>
                  </a:lnTo>
                  <a:lnTo>
                    <a:pt x="480" y="111"/>
                  </a:lnTo>
                  <a:lnTo>
                    <a:pt x="505" y="102"/>
                  </a:lnTo>
                  <a:lnTo>
                    <a:pt x="531" y="94"/>
                  </a:lnTo>
                  <a:lnTo>
                    <a:pt x="557" y="88"/>
                  </a:lnTo>
                  <a:lnTo>
                    <a:pt x="585" y="82"/>
                  </a:lnTo>
                  <a:lnTo>
                    <a:pt x="614" y="78"/>
                  </a:lnTo>
                  <a:lnTo>
                    <a:pt x="645" y="75"/>
                  </a:lnTo>
                  <a:lnTo>
                    <a:pt x="677" y="72"/>
                  </a:lnTo>
                  <a:lnTo>
                    <a:pt x="680" y="72"/>
                  </a:lnTo>
                  <a:lnTo>
                    <a:pt x="683" y="70"/>
                  </a:lnTo>
                  <a:lnTo>
                    <a:pt x="686" y="69"/>
                  </a:lnTo>
                  <a:lnTo>
                    <a:pt x="688" y="67"/>
                  </a:lnTo>
                  <a:lnTo>
                    <a:pt x="691" y="65"/>
                  </a:lnTo>
                  <a:lnTo>
                    <a:pt x="692" y="62"/>
                  </a:lnTo>
                  <a:lnTo>
                    <a:pt x="694" y="59"/>
                  </a:lnTo>
                  <a:lnTo>
                    <a:pt x="694" y="56"/>
                  </a:lnTo>
                  <a:lnTo>
                    <a:pt x="695" y="51"/>
                  </a:lnTo>
                  <a:lnTo>
                    <a:pt x="694" y="45"/>
                  </a:lnTo>
                  <a:lnTo>
                    <a:pt x="693" y="40"/>
                  </a:lnTo>
                  <a:lnTo>
                    <a:pt x="690" y="34"/>
                  </a:lnTo>
                  <a:lnTo>
                    <a:pt x="686" y="29"/>
                  </a:lnTo>
                  <a:lnTo>
                    <a:pt x="681" y="24"/>
                  </a:lnTo>
                  <a:lnTo>
                    <a:pt x="674" y="18"/>
                  </a:lnTo>
                  <a:lnTo>
                    <a:pt x="667" y="14"/>
                  </a:lnTo>
                  <a:lnTo>
                    <a:pt x="657" y="11"/>
                  </a:lnTo>
                  <a:lnTo>
                    <a:pt x="648" y="8"/>
                  </a:lnTo>
                  <a:lnTo>
                    <a:pt x="638" y="6"/>
                  </a:lnTo>
                  <a:lnTo>
                    <a:pt x="628" y="4"/>
                  </a:lnTo>
                  <a:lnTo>
                    <a:pt x="604" y="1"/>
                  </a:lnTo>
                  <a:lnTo>
                    <a:pt x="579" y="0"/>
                  </a:lnTo>
                  <a:lnTo>
                    <a:pt x="558" y="0"/>
                  </a:lnTo>
                  <a:lnTo>
                    <a:pt x="536" y="2"/>
                  </a:lnTo>
                  <a:lnTo>
                    <a:pt x="515" y="5"/>
                  </a:lnTo>
                  <a:lnTo>
                    <a:pt x="491" y="8"/>
                  </a:lnTo>
                  <a:lnTo>
                    <a:pt x="469" y="13"/>
                  </a:lnTo>
                  <a:lnTo>
                    <a:pt x="445" y="19"/>
                  </a:lnTo>
                  <a:lnTo>
                    <a:pt x="422" y="26"/>
                  </a:lnTo>
                  <a:lnTo>
                    <a:pt x="397" y="33"/>
                  </a:lnTo>
                  <a:lnTo>
                    <a:pt x="374" y="41"/>
                  </a:lnTo>
                  <a:lnTo>
                    <a:pt x="350" y="50"/>
                  </a:lnTo>
                  <a:lnTo>
                    <a:pt x="328" y="60"/>
                  </a:lnTo>
                  <a:lnTo>
                    <a:pt x="305" y="70"/>
                  </a:lnTo>
                  <a:lnTo>
                    <a:pt x="283" y="82"/>
                  </a:lnTo>
                  <a:lnTo>
                    <a:pt x="262" y="94"/>
                  </a:lnTo>
                  <a:lnTo>
                    <a:pt x="240" y="106"/>
                  </a:lnTo>
                  <a:lnTo>
                    <a:pt x="221" y="119"/>
                  </a:lnTo>
                  <a:lnTo>
                    <a:pt x="214" y="124"/>
                  </a:lnTo>
                  <a:lnTo>
                    <a:pt x="212" y="116"/>
                  </a:lnTo>
                  <a:lnTo>
                    <a:pt x="209" y="110"/>
                  </a:lnTo>
                  <a:lnTo>
                    <a:pt x="200" y="101"/>
                  </a:lnTo>
                  <a:lnTo>
                    <a:pt x="190" y="91"/>
                  </a:lnTo>
                  <a:lnTo>
                    <a:pt x="176" y="79"/>
                  </a:lnTo>
                  <a:lnTo>
                    <a:pt x="160" y="66"/>
                  </a:lnTo>
                  <a:lnTo>
                    <a:pt x="142" y="55"/>
                  </a:lnTo>
                  <a:lnTo>
                    <a:pt x="133" y="50"/>
                  </a:lnTo>
                  <a:lnTo>
                    <a:pt x="124" y="46"/>
                  </a:lnTo>
                  <a:lnTo>
                    <a:pt x="114" y="42"/>
                  </a:lnTo>
                  <a:lnTo>
                    <a:pt x="104" y="40"/>
                  </a:lnTo>
                  <a:lnTo>
                    <a:pt x="96" y="38"/>
                  </a:lnTo>
                  <a:lnTo>
                    <a:pt x="87" y="36"/>
                  </a:lnTo>
                  <a:lnTo>
                    <a:pt x="79" y="36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0" name="Freeform 40"/>
            <p:cNvSpPr>
              <a:spLocks/>
            </p:cNvSpPr>
            <p:nvPr userDrawn="1"/>
          </p:nvSpPr>
          <p:spPr bwMode="auto">
            <a:xfrm>
              <a:off x="6388" y="599"/>
              <a:ext cx="74" cy="49"/>
            </a:xfrm>
            <a:custGeom>
              <a:avLst/>
              <a:gdLst>
                <a:gd name="T0" fmla="*/ 144 w 883"/>
                <a:gd name="T1" fmla="*/ 3 h 595"/>
                <a:gd name="T2" fmla="*/ 125 w 883"/>
                <a:gd name="T3" fmla="*/ 13 h 595"/>
                <a:gd name="T4" fmla="*/ 100 w 883"/>
                <a:gd name="T5" fmla="*/ 49 h 595"/>
                <a:gd name="T6" fmla="*/ 55 w 883"/>
                <a:gd name="T7" fmla="*/ 183 h 595"/>
                <a:gd name="T8" fmla="*/ 10 w 883"/>
                <a:gd name="T9" fmla="*/ 382 h 595"/>
                <a:gd name="T10" fmla="*/ 0 w 883"/>
                <a:gd name="T11" fmla="*/ 465 h 595"/>
                <a:gd name="T12" fmla="*/ 7 w 883"/>
                <a:gd name="T13" fmla="*/ 503 h 595"/>
                <a:gd name="T14" fmla="*/ 25 w 883"/>
                <a:gd name="T15" fmla="*/ 532 h 595"/>
                <a:gd name="T16" fmla="*/ 77 w 883"/>
                <a:gd name="T17" fmla="*/ 571 h 595"/>
                <a:gd name="T18" fmla="*/ 122 w 883"/>
                <a:gd name="T19" fmla="*/ 590 h 595"/>
                <a:gd name="T20" fmla="*/ 164 w 883"/>
                <a:gd name="T21" fmla="*/ 595 h 595"/>
                <a:gd name="T22" fmla="*/ 201 w 883"/>
                <a:gd name="T23" fmla="*/ 585 h 595"/>
                <a:gd name="T24" fmla="*/ 234 w 883"/>
                <a:gd name="T25" fmla="*/ 555 h 595"/>
                <a:gd name="T26" fmla="*/ 295 w 883"/>
                <a:gd name="T27" fmla="*/ 487 h 595"/>
                <a:gd name="T28" fmla="*/ 404 w 883"/>
                <a:gd name="T29" fmla="*/ 369 h 595"/>
                <a:gd name="T30" fmla="*/ 491 w 883"/>
                <a:gd name="T31" fmla="*/ 296 h 595"/>
                <a:gd name="T32" fmla="*/ 514 w 883"/>
                <a:gd name="T33" fmla="*/ 299 h 595"/>
                <a:gd name="T34" fmla="*/ 534 w 883"/>
                <a:gd name="T35" fmla="*/ 336 h 595"/>
                <a:gd name="T36" fmla="*/ 568 w 883"/>
                <a:gd name="T37" fmla="*/ 405 h 595"/>
                <a:gd name="T38" fmla="*/ 605 w 883"/>
                <a:gd name="T39" fmla="*/ 459 h 595"/>
                <a:gd name="T40" fmla="*/ 644 w 883"/>
                <a:gd name="T41" fmla="*/ 500 h 595"/>
                <a:gd name="T42" fmla="*/ 693 w 883"/>
                <a:gd name="T43" fmla="*/ 535 h 595"/>
                <a:gd name="T44" fmla="*/ 767 w 883"/>
                <a:gd name="T45" fmla="*/ 561 h 595"/>
                <a:gd name="T46" fmla="*/ 828 w 883"/>
                <a:gd name="T47" fmla="*/ 565 h 595"/>
                <a:gd name="T48" fmla="*/ 868 w 883"/>
                <a:gd name="T49" fmla="*/ 555 h 595"/>
                <a:gd name="T50" fmla="*/ 883 w 883"/>
                <a:gd name="T51" fmla="*/ 533 h 595"/>
                <a:gd name="T52" fmla="*/ 880 w 883"/>
                <a:gd name="T53" fmla="*/ 518 h 595"/>
                <a:gd name="T54" fmla="*/ 868 w 883"/>
                <a:gd name="T55" fmla="*/ 512 h 595"/>
                <a:gd name="T56" fmla="*/ 840 w 883"/>
                <a:gd name="T57" fmla="*/ 510 h 595"/>
                <a:gd name="T58" fmla="*/ 808 w 883"/>
                <a:gd name="T59" fmla="*/ 501 h 595"/>
                <a:gd name="T60" fmla="*/ 781 w 883"/>
                <a:gd name="T61" fmla="*/ 483 h 595"/>
                <a:gd name="T62" fmla="*/ 751 w 883"/>
                <a:gd name="T63" fmla="*/ 440 h 595"/>
                <a:gd name="T64" fmla="*/ 722 w 883"/>
                <a:gd name="T65" fmla="*/ 358 h 595"/>
                <a:gd name="T66" fmla="*/ 694 w 883"/>
                <a:gd name="T67" fmla="*/ 231 h 595"/>
                <a:gd name="T68" fmla="*/ 679 w 883"/>
                <a:gd name="T69" fmla="*/ 197 h 595"/>
                <a:gd name="T70" fmla="*/ 655 w 883"/>
                <a:gd name="T71" fmla="*/ 168 h 595"/>
                <a:gd name="T72" fmla="*/ 622 w 883"/>
                <a:gd name="T73" fmla="*/ 145 h 595"/>
                <a:gd name="T74" fmla="*/ 580 w 883"/>
                <a:gd name="T75" fmla="*/ 127 h 595"/>
                <a:gd name="T76" fmla="*/ 537 w 883"/>
                <a:gd name="T77" fmla="*/ 122 h 595"/>
                <a:gd name="T78" fmla="*/ 494 w 883"/>
                <a:gd name="T79" fmla="*/ 140 h 595"/>
                <a:gd name="T80" fmla="*/ 409 w 883"/>
                <a:gd name="T81" fmla="*/ 209 h 595"/>
                <a:gd name="T82" fmla="*/ 308 w 883"/>
                <a:gd name="T83" fmla="*/ 309 h 595"/>
                <a:gd name="T84" fmla="*/ 207 w 883"/>
                <a:gd name="T85" fmla="*/ 410 h 595"/>
                <a:gd name="T86" fmla="*/ 179 w 883"/>
                <a:gd name="T87" fmla="*/ 427 h 595"/>
                <a:gd name="T88" fmla="*/ 201 w 883"/>
                <a:gd name="T89" fmla="*/ 322 h 595"/>
                <a:gd name="T90" fmla="*/ 255 w 883"/>
                <a:gd name="T91" fmla="*/ 149 h 595"/>
                <a:gd name="T92" fmla="*/ 277 w 883"/>
                <a:gd name="T93" fmla="*/ 89 h 595"/>
                <a:gd name="T94" fmla="*/ 276 w 883"/>
                <a:gd name="T95" fmla="*/ 67 h 595"/>
                <a:gd name="T96" fmla="*/ 261 w 883"/>
                <a:gd name="T97" fmla="*/ 42 h 595"/>
                <a:gd name="T98" fmla="*/ 226 w 883"/>
                <a:gd name="T99" fmla="*/ 18 h 595"/>
                <a:gd name="T100" fmla="*/ 174 w 883"/>
                <a:gd name="T101" fmla="*/ 1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3" h="595">
                  <a:moveTo>
                    <a:pt x="162" y="0"/>
                  </a:moveTo>
                  <a:lnTo>
                    <a:pt x="156" y="0"/>
                  </a:lnTo>
                  <a:lnTo>
                    <a:pt x="150" y="1"/>
                  </a:lnTo>
                  <a:lnTo>
                    <a:pt x="144" y="3"/>
                  </a:lnTo>
                  <a:lnTo>
                    <a:pt x="139" y="4"/>
                  </a:lnTo>
                  <a:lnTo>
                    <a:pt x="134" y="7"/>
                  </a:lnTo>
                  <a:lnTo>
                    <a:pt x="129" y="10"/>
                  </a:lnTo>
                  <a:lnTo>
                    <a:pt x="125" y="13"/>
                  </a:lnTo>
                  <a:lnTo>
                    <a:pt x="121" y="17"/>
                  </a:lnTo>
                  <a:lnTo>
                    <a:pt x="113" y="26"/>
                  </a:lnTo>
                  <a:lnTo>
                    <a:pt x="106" y="37"/>
                  </a:lnTo>
                  <a:lnTo>
                    <a:pt x="100" y="49"/>
                  </a:lnTo>
                  <a:lnTo>
                    <a:pt x="94" y="63"/>
                  </a:lnTo>
                  <a:lnTo>
                    <a:pt x="82" y="97"/>
                  </a:lnTo>
                  <a:lnTo>
                    <a:pt x="68" y="137"/>
                  </a:lnTo>
                  <a:lnTo>
                    <a:pt x="55" y="183"/>
                  </a:lnTo>
                  <a:lnTo>
                    <a:pt x="43" y="232"/>
                  </a:lnTo>
                  <a:lnTo>
                    <a:pt x="31" y="282"/>
                  </a:lnTo>
                  <a:lnTo>
                    <a:pt x="19" y="333"/>
                  </a:lnTo>
                  <a:lnTo>
                    <a:pt x="10" y="382"/>
                  </a:lnTo>
                  <a:lnTo>
                    <a:pt x="3" y="429"/>
                  </a:lnTo>
                  <a:lnTo>
                    <a:pt x="1" y="442"/>
                  </a:lnTo>
                  <a:lnTo>
                    <a:pt x="0" y="454"/>
                  </a:lnTo>
                  <a:lnTo>
                    <a:pt x="0" y="465"/>
                  </a:lnTo>
                  <a:lnTo>
                    <a:pt x="1" y="477"/>
                  </a:lnTo>
                  <a:lnTo>
                    <a:pt x="2" y="486"/>
                  </a:lnTo>
                  <a:lnTo>
                    <a:pt x="4" y="495"/>
                  </a:lnTo>
                  <a:lnTo>
                    <a:pt x="7" y="503"/>
                  </a:lnTo>
                  <a:lnTo>
                    <a:pt x="10" y="511"/>
                  </a:lnTo>
                  <a:lnTo>
                    <a:pt x="14" y="518"/>
                  </a:lnTo>
                  <a:lnTo>
                    <a:pt x="19" y="526"/>
                  </a:lnTo>
                  <a:lnTo>
                    <a:pt x="25" y="532"/>
                  </a:lnTo>
                  <a:lnTo>
                    <a:pt x="32" y="539"/>
                  </a:lnTo>
                  <a:lnTo>
                    <a:pt x="47" y="551"/>
                  </a:lnTo>
                  <a:lnTo>
                    <a:pt x="65" y="564"/>
                  </a:lnTo>
                  <a:lnTo>
                    <a:pt x="77" y="571"/>
                  </a:lnTo>
                  <a:lnTo>
                    <a:pt x="89" y="577"/>
                  </a:lnTo>
                  <a:lnTo>
                    <a:pt x="100" y="582"/>
                  </a:lnTo>
                  <a:lnTo>
                    <a:pt x="111" y="587"/>
                  </a:lnTo>
                  <a:lnTo>
                    <a:pt x="122" y="590"/>
                  </a:lnTo>
                  <a:lnTo>
                    <a:pt x="133" y="592"/>
                  </a:lnTo>
                  <a:lnTo>
                    <a:pt x="144" y="594"/>
                  </a:lnTo>
                  <a:lnTo>
                    <a:pt x="154" y="595"/>
                  </a:lnTo>
                  <a:lnTo>
                    <a:pt x="164" y="595"/>
                  </a:lnTo>
                  <a:lnTo>
                    <a:pt x="174" y="593"/>
                  </a:lnTo>
                  <a:lnTo>
                    <a:pt x="184" y="591"/>
                  </a:lnTo>
                  <a:lnTo>
                    <a:pt x="192" y="589"/>
                  </a:lnTo>
                  <a:lnTo>
                    <a:pt x="201" y="585"/>
                  </a:lnTo>
                  <a:lnTo>
                    <a:pt x="208" y="580"/>
                  </a:lnTo>
                  <a:lnTo>
                    <a:pt x="216" y="575"/>
                  </a:lnTo>
                  <a:lnTo>
                    <a:pt x="222" y="567"/>
                  </a:lnTo>
                  <a:lnTo>
                    <a:pt x="234" y="555"/>
                  </a:lnTo>
                  <a:lnTo>
                    <a:pt x="245" y="542"/>
                  </a:lnTo>
                  <a:lnTo>
                    <a:pt x="257" y="530"/>
                  </a:lnTo>
                  <a:lnTo>
                    <a:pt x="268" y="516"/>
                  </a:lnTo>
                  <a:lnTo>
                    <a:pt x="295" y="487"/>
                  </a:lnTo>
                  <a:lnTo>
                    <a:pt x="321" y="456"/>
                  </a:lnTo>
                  <a:lnTo>
                    <a:pt x="349" y="427"/>
                  </a:lnTo>
                  <a:lnTo>
                    <a:pt x="376" y="397"/>
                  </a:lnTo>
                  <a:lnTo>
                    <a:pt x="404" y="369"/>
                  </a:lnTo>
                  <a:lnTo>
                    <a:pt x="431" y="343"/>
                  </a:lnTo>
                  <a:lnTo>
                    <a:pt x="458" y="320"/>
                  </a:lnTo>
                  <a:lnTo>
                    <a:pt x="484" y="300"/>
                  </a:lnTo>
                  <a:lnTo>
                    <a:pt x="491" y="296"/>
                  </a:lnTo>
                  <a:lnTo>
                    <a:pt x="497" y="295"/>
                  </a:lnTo>
                  <a:lnTo>
                    <a:pt x="503" y="295"/>
                  </a:lnTo>
                  <a:lnTo>
                    <a:pt x="509" y="296"/>
                  </a:lnTo>
                  <a:lnTo>
                    <a:pt x="514" y="299"/>
                  </a:lnTo>
                  <a:lnTo>
                    <a:pt x="519" y="303"/>
                  </a:lnTo>
                  <a:lnTo>
                    <a:pt x="523" y="309"/>
                  </a:lnTo>
                  <a:lnTo>
                    <a:pt x="527" y="316"/>
                  </a:lnTo>
                  <a:lnTo>
                    <a:pt x="534" y="336"/>
                  </a:lnTo>
                  <a:lnTo>
                    <a:pt x="543" y="355"/>
                  </a:lnTo>
                  <a:lnTo>
                    <a:pt x="551" y="372"/>
                  </a:lnTo>
                  <a:lnTo>
                    <a:pt x="560" y="390"/>
                  </a:lnTo>
                  <a:lnTo>
                    <a:pt x="568" y="405"/>
                  </a:lnTo>
                  <a:lnTo>
                    <a:pt x="577" y="420"/>
                  </a:lnTo>
                  <a:lnTo>
                    <a:pt x="586" y="434"/>
                  </a:lnTo>
                  <a:lnTo>
                    <a:pt x="596" y="447"/>
                  </a:lnTo>
                  <a:lnTo>
                    <a:pt x="605" y="459"/>
                  </a:lnTo>
                  <a:lnTo>
                    <a:pt x="615" y="470"/>
                  </a:lnTo>
                  <a:lnTo>
                    <a:pt x="624" y="481"/>
                  </a:lnTo>
                  <a:lnTo>
                    <a:pt x="634" y="491"/>
                  </a:lnTo>
                  <a:lnTo>
                    <a:pt x="644" y="500"/>
                  </a:lnTo>
                  <a:lnTo>
                    <a:pt x="654" y="508"/>
                  </a:lnTo>
                  <a:lnTo>
                    <a:pt x="663" y="515"/>
                  </a:lnTo>
                  <a:lnTo>
                    <a:pt x="673" y="523"/>
                  </a:lnTo>
                  <a:lnTo>
                    <a:pt x="693" y="535"/>
                  </a:lnTo>
                  <a:lnTo>
                    <a:pt x="712" y="545"/>
                  </a:lnTo>
                  <a:lnTo>
                    <a:pt x="731" y="552"/>
                  </a:lnTo>
                  <a:lnTo>
                    <a:pt x="749" y="558"/>
                  </a:lnTo>
                  <a:lnTo>
                    <a:pt x="767" y="561"/>
                  </a:lnTo>
                  <a:lnTo>
                    <a:pt x="783" y="564"/>
                  </a:lnTo>
                  <a:lnTo>
                    <a:pt x="799" y="565"/>
                  </a:lnTo>
                  <a:lnTo>
                    <a:pt x="813" y="566"/>
                  </a:lnTo>
                  <a:lnTo>
                    <a:pt x="828" y="565"/>
                  </a:lnTo>
                  <a:lnTo>
                    <a:pt x="843" y="564"/>
                  </a:lnTo>
                  <a:lnTo>
                    <a:pt x="853" y="562"/>
                  </a:lnTo>
                  <a:lnTo>
                    <a:pt x="861" y="559"/>
                  </a:lnTo>
                  <a:lnTo>
                    <a:pt x="868" y="555"/>
                  </a:lnTo>
                  <a:lnTo>
                    <a:pt x="874" y="550"/>
                  </a:lnTo>
                  <a:lnTo>
                    <a:pt x="878" y="545"/>
                  </a:lnTo>
                  <a:lnTo>
                    <a:pt x="881" y="539"/>
                  </a:lnTo>
                  <a:lnTo>
                    <a:pt x="883" y="533"/>
                  </a:lnTo>
                  <a:lnTo>
                    <a:pt x="883" y="528"/>
                  </a:lnTo>
                  <a:lnTo>
                    <a:pt x="883" y="524"/>
                  </a:lnTo>
                  <a:lnTo>
                    <a:pt x="882" y="520"/>
                  </a:lnTo>
                  <a:lnTo>
                    <a:pt x="880" y="518"/>
                  </a:lnTo>
                  <a:lnTo>
                    <a:pt x="878" y="515"/>
                  </a:lnTo>
                  <a:lnTo>
                    <a:pt x="875" y="514"/>
                  </a:lnTo>
                  <a:lnTo>
                    <a:pt x="872" y="512"/>
                  </a:lnTo>
                  <a:lnTo>
                    <a:pt x="868" y="512"/>
                  </a:lnTo>
                  <a:lnTo>
                    <a:pt x="864" y="511"/>
                  </a:lnTo>
                  <a:lnTo>
                    <a:pt x="860" y="511"/>
                  </a:lnTo>
                  <a:lnTo>
                    <a:pt x="851" y="511"/>
                  </a:lnTo>
                  <a:lnTo>
                    <a:pt x="840" y="510"/>
                  </a:lnTo>
                  <a:lnTo>
                    <a:pt x="832" y="509"/>
                  </a:lnTo>
                  <a:lnTo>
                    <a:pt x="823" y="507"/>
                  </a:lnTo>
                  <a:lnTo>
                    <a:pt x="815" y="504"/>
                  </a:lnTo>
                  <a:lnTo>
                    <a:pt x="808" y="501"/>
                  </a:lnTo>
                  <a:lnTo>
                    <a:pt x="801" y="497"/>
                  </a:lnTo>
                  <a:lnTo>
                    <a:pt x="794" y="493"/>
                  </a:lnTo>
                  <a:lnTo>
                    <a:pt x="787" y="488"/>
                  </a:lnTo>
                  <a:lnTo>
                    <a:pt x="781" y="483"/>
                  </a:lnTo>
                  <a:lnTo>
                    <a:pt x="775" y="477"/>
                  </a:lnTo>
                  <a:lnTo>
                    <a:pt x="770" y="469"/>
                  </a:lnTo>
                  <a:lnTo>
                    <a:pt x="760" y="455"/>
                  </a:lnTo>
                  <a:lnTo>
                    <a:pt x="751" y="440"/>
                  </a:lnTo>
                  <a:lnTo>
                    <a:pt x="743" y="421"/>
                  </a:lnTo>
                  <a:lnTo>
                    <a:pt x="735" y="402"/>
                  </a:lnTo>
                  <a:lnTo>
                    <a:pt x="728" y="381"/>
                  </a:lnTo>
                  <a:lnTo>
                    <a:pt x="722" y="358"/>
                  </a:lnTo>
                  <a:lnTo>
                    <a:pt x="711" y="309"/>
                  </a:lnTo>
                  <a:lnTo>
                    <a:pt x="700" y="255"/>
                  </a:lnTo>
                  <a:lnTo>
                    <a:pt x="697" y="240"/>
                  </a:lnTo>
                  <a:lnTo>
                    <a:pt x="694" y="231"/>
                  </a:lnTo>
                  <a:lnTo>
                    <a:pt x="692" y="222"/>
                  </a:lnTo>
                  <a:lnTo>
                    <a:pt x="687" y="213"/>
                  </a:lnTo>
                  <a:lnTo>
                    <a:pt x="683" y="205"/>
                  </a:lnTo>
                  <a:lnTo>
                    <a:pt x="679" y="197"/>
                  </a:lnTo>
                  <a:lnTo>
                    <a:pt x="674" y="189"/>
                  </a:lnTo>
                  <a:lnTo>
                    <a:pt x="668" y="182"/>
                  </a:lnTo>
                  <a:lnTo>
                    <a:pt x="662" y="174"/>
                  </a:lnTo>
                  <a:lnTo>
                    <a:pt x="655" y="168"/>
                  </a:lnTo>
                  <a:lnTo>
                    <a:pt x="648" y="161"/>
                  </a:lnTo>
                  <a:lnTo>
                    <a:pt x="639" y="155"/>
                  </a:lnTo>
                  <a:lnTo>
                    <a:pt x="631" y="150"/>
                  </a:lnTo>
                  <a:lnTo>
                    <a:pt x="622" y="145"/>
                  </a:lnTo>
                  <a:lnTo>
                    <a:pt x="613" y="140"/>
                  </a:lnTo>
                  <a:lnTo>
                    <a:pt x="603" y="135"/>
                  </a:lnTo>
                  <a:lnTo>
                    <a:pt x="592" y="131"/>
                  </a:lnTo>
                  <a:lnTo>
                    <a:pt x="580" y="127"/>
                  </a:lnTo>
                  <a:lnTo>
                    <a:pt x="569" y="124"/>
                  </a:lnTo>
                  <a:lnTo>
                    <a:pt x="559" y="122"/>
                  </a:lnTo>
                  <a:lnTo>
                    <a:pt x="549" y="121"/>
                  </a:lnTo>
                  <a:lnTo>
                    <a:pt x="537" y="122"/>
                  </a:lnTo>
                  <a:lnTo>
                    <a:pt x="527" y="124"/>
                  </a:lnTo>
                  <a:lnTo>
                    <a:pt x="518" y="128"/>
                  </a:lnTo>
                  <a:lnTo>
                    <a:pt x="510" y="131"/>
                  </a:lnTo>
                  <a:lnTo>
                    <a:pt x="494" y="140"/>
                  </a:lnTo>
                  <a:lnTo>
                    <a:pt x="478" y="150"/>
                  </a:lnTo>
                  <a:lnTo>
                    <a:pt x="457" y="167"/>
                  </a:lnTo>
                  <a:lnTo>
                    <a:pt x="433" y="187"/>
                  </a:lnTo>
                  <a:lnTo>
                    <a:pt x="409" y="209"/>
                  </a:lnTo>
                  <a:lnTo>
                    <a:pt x="383" y="233"/>
                  </a:lnTo>
                  <a:lnTo>
                    <a:pt x="358" y="258"/>
                  </a:lnTo>
                  <a:lnTo>
                    <a:pt x="332" y="284"/>
                  </a:lnTo>
                  <a:lnTo>
                    <a:pt x="308" y="309"/>
                  </a:lnTo>
                  <a:lnTo>
                    <a:pt x="284" y="334"/>
                  </a:lnTo>
                  <a:lnTo>
                    <a:pt x="246" y="372"/>
                  </a:lnTo>
                  <a:lnTo>
                    <a:pt x="218" y="400"/>
                  </a:lnTo>
                  <a:lnTo>
                    <a:pt x="207" y="410"/>
                  </a:lnTo>
                  <a:lnTo>
                    <a:pt x="199" y="417"/>
                  </a:lnTo>
                  <a:lnTo>
                    <a:pt x="192" y="423"/>
                  </a:lnTo>
                  <a:lnTo>
                    <a:pt x="188" y="425"/>
                  </a:lnTo>
                  <a:lnTo>
                    <a:pt x="179" y="427"/>
                  </a:lnTo>
                  <a:lnTo>
                    <a:pt x="180" y="417"/>
                  </a:lnTo>
                  <a:lnTo>
                    <a:pt x="185" y="392"/>
                  </a:lnTo>
                  <a:lnTo>
                    <a:pt x="192" y="360"/>
                  </a:lnTo>
                  <a:lnTo>
                    <a:pt x="201" y="322"/>
                  </a:lnTo>
                  <a:lnTo>
                    <a:pt x="211" y="283"/>
                  </a:lnTo>
                  <a:lnTo>
                    <a:pt x="224" y="239"/>
                  </a:lnTo>
                  <a:lnTo>
                    <a:pt x="239" y="194"/>
                  </a:lnTo>
                  <a:lnTo>
                    <a:pt x="255" y="149"/>
                  </a:lnTo>
                  <a:lnTo>
                    <a:pt x="272" y="105"/>
                  </a:lnTo>
                  <a:lnTo>
                    <a:pt x="275" y="100"/>
                  </a:lnTo>
                  <a:lnTo>
                    <a:pt x="276" y="94"/>
                  </a:lnTo>
                  <a:lnTo>
                    <a:pt x="277" y="89"/>
                  </a:lnTo>
                  <a:lnTo>
                    <a:pt x="278" y="84"/>
                  </a:lnTo>
                  <a:lnTo>
                    <a:pt x="278" y="78"/>
                  </a:lnTo>
                  <a:lnTo>
                    <a:pt x="277" y="72"/>
                  </a:lnTo>
                  <a:lnTo>
                    <a:pt x="276" y="67"/>
                  </a:lnTo>
                  <a:lnTo>
                    <a:pt x="274" y="62"/>
                  </a:lnTo>
                  <a:lnTo>
                    <a:pt x="271" y="55"/>
                  </a:lnTo>
                  <a:lnTo>
                    <a:pt x="266" y="48"/>
                  </a:lnTo>
                  <a:lnTo>
                    <a:pt x="261" y="42"/>
                  </a:lnTo>
                  <a:lnTo>
                    <a:pt x="254" y="36"/>
                  </a:lnTo>
                  <a:lnTo>
                    <a:pt x="246" y="30"/>
                  </a:lnTo>
                  <a:lnTo>
                    <a:pt x="237" y="23"/>
                  </a:lnTo>
                  <a:lnTo>
                    <a:pt x="226" y="18"/>
                  </a:lnTo>
                  <a:lnTo>
                    <a:pt x="215" y="13"/>
                  </a:lnTo>
                  <a:lnTo>
                    <a:pt x="201" y="7"/>
                  </a:lnTo>
                  <a:lnTo>
                    <a:pt x="187" y="3"/>
                  </a:lnTo>
                  <a:lnTo>
                    <a:pt x="174" y="1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1" name="Freeform 41"/>
            <p:cNvSpPr>
              <a:spLocks/>
            </p:cNvSpPr>
            <p:nvPr userDrawn="1"/>
          </p:nvSpPr>
          <p:spPr bwMode="auto">
            <a:xfrm>
              <a:off x="6666" y="603"/>
              <a:ext cx="60" cy="44"/>
            </a:xfrm>
            <a:custGeom>
              <a:avLst/>
              <a:gdLst>
                <a:gd name="T0" fmla="*/ 518 w 721"/>
                <a:gd name="T1" fmla="*/ 321 h 522"/>
                <a:gd name="T2" fmla="*/ 536 w 721"/>
                <a:gd name="T3" fmla="*/ 387 h 522"/>
                <a:gd name="T4" fmla="*/ 575 w 721"/>
                <a:gd name="T5" fmla="*/ 455 h 522"/>
                <a:gd name="T6" fmla="*/ 622 w 721"/>
                <a:gd name="T7" fmla="*/ 498 h 522"/>
                <a:gd name="T8" fmla="*/ 664 w 721"/>
                <a:gd name="T9" fmla="*/ 519 h 522"/>
                <a:gd name="T10" fmla="*/ 699 w 721"/>
                <a:gd name="T11" fmla="*/ 522 h 522"/>
                <a:gd name="T12" fmla="*/ 719 w 721"/>
                <a:gd name="T13" fmla="*/ 510 h 522"/>
                <a:gd name="T14" fmla="*/ 717 w 721"/>
                <a:gd name="T15" fmla="*/ 488 h 522"/>
                <a:gd name="T16" fmla="*/ 698 w 721"/>
                <a:gd name="T17" fmla="*/ 444 h 522"/>
                <a:gd name="T18" fmla="*/ 682 w 721"/>
                <a:gd name="T19" fmla="*/ 342 h 522"/>
                <a:gd name="T20" fmla="*/ 685 w 721"/>
                <a:gd name="T21" fmla="*/ 242 h 522"/>
                <a:gd name="T22" fmla="*/ 697 w 721"/>
                <a:gd name="T23" fmla="*/ 155 h 522"/>
                <a:gd name="T24" fmla="*/ 699 w 721"/>
                <a:gd name="T25" fmla="*/ 112 h 522"/>
                <a:gd name="T26" fmla="*/ 687 w 721"/>
                <a:gd name="T27" fmla="*/ 82 h 522"/>
                <a:gd name="T28" fmla="*/ 664 w 721"/>
                <a:gd name="T29" fmla="*/ 59 h 522"/>
                <a:gd name="T30" fmla="*/ 622 w 721"/>
                <a:gd name="T31" fmla="*/ 34 h 522"/>
                <a:gd name="T32" fmla="*/ 574 w 721"/>
                <a:gd name="T33" fmla="*/ 25 h 522"/>
                <a:gd name="T34" fmla="*/ 553 w 721"/>
                <a:gd name="T35" fmla="*/ 38 h 522"/>
                <a:gd name="T36" fmla="*/ 510 w 721"/>
                <a:gd name="T37" fmla="*/ 116 h 522"/>
                <a:gd name="T38" fmla="*/ 432 w 721"/>
                <a:gd name="T39" fmla="*/ 216 h 522"/>
                <a:gd name="T40" fmla="*/ 343 w 721"/>
                <a:gd name="T41" fmla="*/ 300 h 522"/>
                <a:gd name="T42" fmla="*/ 291 w 721"/>
                <a:gd name="T43" fmla="*/ 334 h 522"/>
                <a:gd name="T44" fmla="*/ 254 w 721"/>
                <a:gd name="T45" fmla="*/ 345 h 522"/>
                <a:gd name="T46" fmla="*/ 222 w 721"/>
                <a:gd name="T47" fmla="*/ 342 h 522"/>
                <a:gd name="T48" fmla="*/ 197 w 721"/>
                <a:gd name="T49" fmla="*/ 326 h 522"/>
                <a:gd name="T50" fmla="*/ 183 w 721"/>
                <a:gd name="T51" fmla="*/ 290 h 522"/>
                <a:gd name="T52" fmla="*/ 183 w 721"/>
                <a:gd name="T53" fmla="*/ 242 h 522"/>
                <a:gd name="T54" fmla="*/ 195 w 721"/>
                <a:gd name="T55" fmla="*/ 187 h 522"/>
                <a:gd name="T56" fmla="*/ 225 w 721"/>
                <a:gd name="T57" fmla="*/ 111 h 522"/>
                <a:gd name="T58" fmla="*/ 231 w 721"/>
                <a:gd name="T59" fmla="*/ 83 h 522"/>
                <a:gd name="T60" fmla="*/ 225 w 721"/>
                <a:gd name="T61" fmla="*/ 58 h 522"/>
                <a:gd name="T62" fmla="*/ 205 w 721"/>
                <a:gd name="T63" fmla="*/ 36 h 522"/>
                <a:gd name="T64" fmla="*/ 163 w 721"/>
                <a:gd name="T65" fmla="*/ 12 h 522"/>
                <a:gd name="T66" fmla="*/ 123 w 721"/>
                <a:gd name="T67" fmla="*/ 1 h 522"/>
                <a:gd name="T68" fmla="*/ 91 w 721"/>
                <a:gd name="T69" fmla="*/ 5 h 522"/>
                <a:gd name="T70" fmla="*/ 68 w 721"/>
                <a:gd name="T71" fmla="*/ 26 h 522"/>
                <a:gd name="T72" fmla="*/ 42 w 721"/>
                <a:gd name="T73" fmla="*/ 90 h 522"/>
                <a:gd name="T74" fmla="*/ 9 w 721"/>
                <a:gd name="T75" fmla="*/ 214 h 522"/>
                <a:gd name="T76" fmla="*/ 0 w 721"/>
                <a:gd name="T77" fmla="*/ 279 h 522"/>
                <a:gd name="T78" fmla="*/ 5 w 721"/>
                <a:gd name="T79" fmla="*/ 313 h 522"/>
                <a:gd name="T80" fmla="*/ 34 w 721"/>
                <a:gd name="T81" fmla="*/ 375 h 522"/>
                <a:gd name="T82" fmla="*/ 73 w 721"/>
                <a:gd name="T83" fmla="*/ 418 h 522"/>
                <a:gd name="T84" fmla="*/ 112 w 721"/>
                <a:gd name="T85" fmla="*/ 446 h 522"/>
                <a:gd name="T86" fmla="*/ 155 w 721"/>
                <a:gd name="T87" fmla="*/ 466 h 522"/>
                <a:gd name="T88" fmla="*/ 198 w 721"/>
                <a:gd name="T89" fmla="*/ 475 h 522"/>
                <a:gd name="T90" fmla="*/ 251 w 721"/>
                <a:gd name="T91" fmla="*/ 469 h 522"/>
                <a:gd name="T92" fmla="*/ 316 w 721"/>
                <a:gd name="T93" fmla="*/ 440 h 522"/>
                <a:gd name="T94" fmla="*/ 394 w 721"/>
                <a:gd name="T95" fmla="*/ 388 h 522"/>
                <a:gd name="T96" fmla="*/ 483 w 721"/>
                <a:gd name="T97" fmla="*/ 313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1" h="522">
                  <a:moveTo>
                    <a:pt x="515" y="282"/>
                  </a:moveTo>
                  <a:lnTo>
                    <a:pt x="516" y="294"/>
                  </a:lnTo>
                  <a:lnTo>
                    <a:pt x="516" y="307"/>
                  </a:lnTo>
                  <a:lnTo>
                    <a:pt x="518" y="321"/>
                  </a:lnTo>
                  <a:lnTo>
                    <a:pt x="520" y="332"/>
                  </a:lnTo>
                  <a:lnTo>
                    <a:pt x="522" y="344"/>
                  </a:lnTo>
                  <a:lnTo>
                    <a:pt x="528" y="367"/>
                  </a:lnTo>
                  <a:lnTo>
                    <a:pt x="536" y="387"/>
                  </a:lnTo>
                  <a:lnTo>
                    <a:pt x="544" y="406"/>
                  </a:lnTo>
                  <a:lnTo>
                    <a:pt x="553" y="424"/>
                  </a:lnTo>
                  <a:lnTo>
                    <a:pt x="564" y="440"/>
                  </a:lnTo>
                  <a:lnTo>
                    <a:pt x="575" y="455"/>
                  </a:lnTo>
                  <a:lnTo>
                    <a:pt x="587" y="468"/>
                  </a:lnTo>
                  <a:lnTo>
                    <a:pt x="599" y="480"/>
                  </a:lnTo>
                  <a:lnTo>
                    <a:pt x="610" y="490"/>
                  </a:lnTo>
                  <a:lnTo>
                    <a:pt x="622" y="498"/>
                  </a:lnTo>
                  <a:lnTo>
                    <a:pt x="634" y="505"/>
                  </a:lnTo>
                  <a:lnTo>
                    <a:pt x="645" y="511"/>
                  </a:lnTo>
                  <a:lnTo>
                    <a:pt x="655" y="516"/>
                  </a:lnTo>
                  <a:lnTo>
                    <a:pt x="664" y="519"/>
                  </a:lnTo>
                  <a:lnTo>
                    <a:pt x="673" y="521"/>
                  </a:lnTo>
                  <a:lnTo>
                    <a:pt x="683" y="522"/>
                  </a:lnTo>
                  <a:lnTo>
                    <a:pt x="692" y="522"/>
                  </a:lnTo>
                  <a:lnTo>
                    <a:pt x="699" y="522"/>
                  </a:lnTo>
                  <a:lnTo>
                    <a:pt x="706" y="520"/>
                  </a:lnTo>
                  <a:lnTo>
                    <a:pt x="712" y="518"/>
                  </a:lnTo>
                  <a:lnTo>
                    <a:pt x="716" y="515"/>
                  </a:lnTo>
                  <a:lnTo>
                    <a:pt x="719" y="510"/>
                  </a:lnTo>
                  <a:lnTo>
                    <a:pt x="721" y="505"/>
                  </a:lnTo>
                  <a:lnTo>
                    <a:pt x="721" y="500"/>
                  </a:lnTo>
                  <a:lnTo>
                    <a:pt x="720" y="494"/>
                  </a:lnTo>
                  <a:lnTo>
                    <a:pt x="717" y="488"/>
                  </a:lnTo>
                  <a:lnTo>
                    <a:pt x="711" y="478"/>
                  </a:lnTo>
                  <a:lnTo>
                    <a:pt x="706" y="467"/>
                  </a:lnTo>
                  <a:lnTo>
                    <a:pt x="702" y="455"/>
                  </a:lnTo>
                  <a:lnTo>
                    <a:pt x="698" y="444"/>
                  </a:lnTo>
                  <a:lnTo>
                    <a:pt x="692" y="420"/>
                  </a:lnTo>
                  <a:lnTo>
                    <a:pt x="687" y="394"/>
                  </a:lnTo>
                  <a:lnTo>
                    <a:pt x="684" y="368"/>
                  </a:lnTo>
                  <a:lnTo>
                    <a:pt x="682" y="342"/>
                  </a:lnTo>
                  <a:lnTo>
                    <a:pt x="682" y="315"/>
                  </a:lnTo>
                  <a:lnTo>
                    <a:pt x="682" y="290"/>
                  </a:lnTo>
                  <a:lnTo>
                    <a:pt x="683" y="265"/>
                  </a:lnTo>
                  <a:lnTo>
                    <a:pt x="685" y="242"/>
                  </a:lnTo>
                  <a:lnTo>
                    <a:pt x="687" y="221"/>
                  </a:lnTo>
                  <a:lnTo>
                    <a:pt x="690" y="202"/>
                  </a:lnTo>
                  <a:lnTo>
                    <a:pt x="694" y="172"/>
                  </a:lnTo>
                  <a:lnTo>
                    <a:pt x="697" y="155"/>
                  </a:lnTo>
                  <a:lnTo>
                    <a:pt x="699" y="143"/>
                  </a:lnTo>
                  <a:lnTo>
                    <a:pt x="700" y="132"/>
                  </a:lnTo>
                  <a:lnTo>
                    <a:pt x="700" y="122"/>
                  </a:lnTo>
                  <a:lnTo>
                    <a:pt x="699" y="112"/>
                  </a:lnTo>
                  <a:lnTo>
                    <a:pt x="697" y="103"/>
                  </a:lnTo>
                  <a:lnTo>
                    <a:pt x="695" y="96"/>
                  </a:lnTo>
                  <a:lnTo>
                    <a:pt x="691" y="89"/>
                  </a:lnTo>
                  <a:lnTo>
                    <a:pt x="687" y="82"/>
                  </a:lnTo>
                  <a:lnTo>
                    <a:pt x="682" y="76"/>
                  </a:lnTo>
                  <a:lnTo>
                    <a:pt x="676" y="69"/>
                  </a:lnTo>
                  <a:lnTo>
                    <a:pt x="671" y="64"/>
                  </a:lnTo>
                  <a:lnTo>
                    <a:pt x="664" y="59"/>
                  </a:lnTo>
                  <a:lnTo>
                    <a:pt x="651" y="50"/>
                  </a:lnTo>
                  <a:lnTo>
                    <a:pt x="638" y="42"/>
                  </a:lnTo>
                  <a:lnTo>
                    <a:pt x="636" y="41"/>
                  </a:lnTo>
                  <a:lnTo>
                    <a:pt x="622" y="34"/>
                  </a:lnTo>
                  <a:lnTo>
                    <a:pt x="609" y="29"/>
                  </a:lnTo>
                  <a:lnTo>
                    <a:pt x="596" y="26"/>
                  </a:lnTo>
                  <a:lnTo>
                    <a:pt x="584" y="24"/>
                  </a:lnTo>
                  <a:lnTo>
                    <a:pt x="574" y="25"/>
                  </a:lnTo>
                  <a:lnTo>
                    <a:pt x="565" y="28"/>
                  </a:lnTo>
                  <a:lnTo>
                    <a:pt x="561" y="30"/>
                  </a:lnTo>
                  <a:lnTo>
                    <a:pt x="557" y="34"/>
                  </a:lnTo>
                  <a:lnTo>
                    <a:pt x="553" y="38"/>
                  </a:lnTo>
                  <a:lnTo>
                    <a:pt x="551" y="43"/>
                  </a:lnTo>
                  <a:lnTo>
                    <a:pt x="540" y="66"/>
                  </a:lnTo>
                  <a:lnTo>
                    <a:pt x="526" y="91"/>
                  </a:lnTo>
                  <a:lnTo>
                    <a:pt x="510" y="116"/>
                  </a:lnTo>
                  <a:lnTo>
                    <a:pt x="493" y="142"/>
                  </a:lnTo>
                  <a:lnTo>
                    <a:pt x="473" y="167"/>
                  </a:lnTo>
                  <a:lnTo>
                    <a:pt x="453" y="192"/>
                  </a:lnTo>
                  <a:lnTo>
                    <a:pt x="432" y="216"/>
                  </a:lnTo>
                  <a:lnTo>
                    <a:pt x="409" y="240"/>
                  </a:lnTo>
                  <a:lnTo>
                    <a:pt x="388" y="262"/>
                  </a:lnTo>
                  <a:lnTo>
                    <a:pt x="365" y="282"/>
                  </a:lnTo>
                  <a:lnTo>
                    <a:pt x="343" y="300"/>
                  </a:lnTo>
                  <a:lnTo>
                    <a:pt x="322" y="315"/>
                  </a:lnTo>
                  <a:lnTo>
                    <a:pt x="310" y="323"/>
                  </a:lnTo>
                  <a:lnTo>
                    <a:pt x="300" y="329"/>
                  </a:lnTo>
                  <a:lnTo>
                    <a:pt x="291" y="334"/>
                  </a:lnTo>
                  <a:lnTo>
                    <a:pt x="281" y="338"/>
                  </a:lnTo>
                  <a:lnTo>
                    <a:pt x="272" y="341"/>
                  </a:lnTo>
                  <a:lnTo>
                    <a:pt x="262" y="344"/>
                  </a:lnTo>
                  <a:lnTo>
                    <a:pt x="254" y="345"/>
                  </a:lnTo>
                  <a:lnTo>
                    <a:pt x="246" y="346"/>
                  </a:lnTo>
                  <a:lnTo>
                    <a:pt x="238" y="345"/>
                  </a:lnTo>
                  <a:lnTo>
                    <a:pt x="230" y="344"/>
                  </a:lnTo>
                  <a:lnTo>
                    <a:pt x="222" y="342"/>
                  </a:lnTo>
                  <a:lnTo>
                    <a:pt x="214" y="339"/>
                  </a:lnTo>
                  <a:lnTo>
                    <a:pt x="208" y="336"/>
                  </a:lnTo>
                  <a:lnTo>
                    <a:pt x="202" y="331"/>
                  </a:lnTo>
                  <a:lnTo>
                    <a:pt x="197" y="326"/>
                  </a:lnTo>
                  <a:lnTo>
                    <a:pt x="193" y="320"/>
                  </a:lnTo>
                  <a:lnTo>
                    <a:pt x="188" y="310"/>
                  </a:lnTo>
                  <a:lnTo>
                    <a:pt x="185" y="301"/>
                  </a:lnTo>
                  <a:lnTo>
                    <a:pt x="183" y="290"/>
                  </a:lnTo>
                  <a:lnTo>
                    <a:pt x="181" y="279"/>
                  </a:lnTo>
                  <a:lnTo>
                    <a:pt x="181" y="267"/>
                  </a:lnTo>
                  <a:lnTo>
                    <a:pt x="181" y="255"/>
                  </a:lnTo>
                  <a:lnTo>
                    <a:pt x="183" y="242"/>
                  </a:lnTo>
                  <a:lnTo>
                    <a:pt x="185" y="229"/>
                  </a:lnTo>
                  <a:lnTo>
                    <a:pt x="187" y="214"/>
                  </a:lnTo>
                  <a:lnTo>
                    <a:pt x="191" y="201"/>
                  </a:lnTo>
                  <a:lnTo>
                    <a:pt x="195" y="187"/>
                  </a:lnTo>
                  <a:lnTo>
                    <a:pt x="199" y="174"/>
                  </a:lnTo>
                  <a:lnTo>
                    <a:pt x="209" y="146"/>
                  </a:lnTo>
                  <a:lnTo>
                    <a:pt x="221" y="120"/>
                  </a:lnTo>
                  <a:lnTo>
                    <a:pt x="225" y="111"/>
                  </a:lnTo>
                  <a:lnTo>
                    <a:pt x="227" y="104"/>
                  </a:lnTo>
                  <a:lnTo>
                    <a:pt x="229" y="97"/>
                  </a:lnTo>
                  <a:lnTo>
                    <a:pt x="231" y="90"/>
                  </a:lnTo>
                  <a:lnTo>
                    <a:pt x="231" y="83"/>
                  </a:lnTo>
                  <a:lnTo>
                    <a:pt x="231" y="77"/>
                  </a:lnTo>
                  <a:lnTo>
                    <a:pt x="229" y="71"/>
                  </a:lnTo>
                  <a:lnTo>
                    <a:pt x="228" y="64"/>
                  </a:lnTo>
                  <a:lnTo>
                    <a:pt x="225" y="58"/>
                  </a:lnTo>
                  <a:lnTo>
                    <a:pt x="221" y="52"/>
                  </a:lnTo>
                  <a:lnTo>
                    <a:pt x="216" y="47"/>
                  </a:lnTo>
                  <a:lnTo>
                    <a:pt x="211" y="42"/>
                  </a:lnTo>
                  <a:lnTo>
                    <a:pt x="205" y="36"/>
                  </a:lnTo>
                  <a:lnTo>
                    <a:pt x="198" y="31"/>
                  </a:lnTo>
                  <a:lnTo>
                    <a:pt x="190" y="26"/>
                  </a:lnTo>
                  <a:lnTo>
                    <a:pt x="181" y="20"/>
                  </a:lnTo>
                  <a:lnTo>
                    <a:pt x="163" y="12"/>
                  </a:lnTo>
                  <a:lnTo>
                    <a:pt x="146" y="5"/>
                  </a:lnTo>
                  <a:lnTo>
                    <a:pt x="138" y="3"/>
                  </a:lnTo>
                  <a:lnTo>
                    <a:pt x="130" y="2"/>
                  </a:lnTo>
                  <a:lnTo>
                    <a:pt x="123" y="1"/>
                  </a:lnTo>
                  <a:lnTo>
                    <a:pt x="115" y="0"/>
                  </a:lnTo>
                  <a:lnTo>
                    <a:pt x="106" y="1"/>
                  </a:lnTo>
                  <a:lnTo>
                    <a:pt x="98" y="2"/>
                  </a:lnTo>
                  <a:lnTo>
                    <a:pt x="91" y="5"/>
                  </a:lnTo>
                  <a:lnTo>
                    <a:pt x="84" y="8"/>
                  </a:lnTo>
                  <a:lnTo>
                    <a:pt x="78" y="13"/>
                  </a:lnTo>
                  <a:lnTo>
                    <a:pt x="73" y="18"/>
                  </a:lnTo>
                  <a:lnTo>
                    <a:pt x="68" y="26"/>
                  </a:lnTo>
                  <a:lnTo>
                    <a:pt x="63" y="33"/>
                  </a:lnTo>
                  <a:lnTo>
                    <a:pt x="57" y="48"/>
                  </a:lnTo>
                  <a:lnTo>
                    <a:pt x="50" y="66"/>
                  </a:lnTo>
                  <a:lnTo>
                    <a:pt x="42" y="90"/>
                  </a:lnTo>
                  <a:lnTo>
                    <a:pt x="34" y="116"/>
                  </a:lnTo>
                  <a:lnTo>
                    <a:pt x="25" y="146"/>
                  </a:lnTo>
                  <a:lnTo>
                    <a:pt x="17" y="179"/>
                  </a:lnTo>
                  <a:lnTo>
                    <a:pt x="9" y="214"/>
                  </a:lnTo>
                  <a:lnTo>
                    <a:pt x="2" y="252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1" y="287"/>
                  </a:lnTo>
                  <a:lnTo>
                    <a:pt x="2" y="296"/>
                  </a:lnTo>
                  <a:lnTo>
                    <a:pt x="3" y="305"/>
                  </a:lnTo>
                  <a:lnTo>
                    <a:pt x="5" y="313"/>
                  </a:lnTo>
                  <a:lnTo>
                    <a:pt x="8" y="323"/>
                  </a:lnTo>
                  <a:lnTo>
                    <a:pt x="14" y="340"/>
                  </a:lnTo>
                  <a:lnTo>
                    <a:pt x="24" y="357"/>
                  </a:lnTo>
                  <a:lnTo>
                    <a:pt x="34" y="375"/>
                  </a:lnTo>
                  <a:lnTo>
                    <a:pt x="46" y="391"/>
                  </a:lnTo>
                  <a:lnTo>
                    <a:pt x="55" y="400"/>
                  </a:lnTo>
                  <a:lnTo>
                    <a:pt x="63" y="408"/>
                  </a:lnTo>
                  <a:lnTo>
                    <a:pt x="73" y="418"/>
                  </a:lnTo>
                  <a:lnTo>
                    <a:pt x="83" y="425"/>
                  </a:lnTo>
                  <a:lnTo>
                    <a:pt x="92" y="433"/>
                  </a:lnTo>
                  <a:lnTo>
                    <a:pt x="102" y="440"/>
                  </a:lnTo>
                  <a:lnTo>
                    <a:pt x="112" y="446"/>
                  </a:lnTo>
                  <a:lnTo>
                    <a:pt x="124" y="452"/>
                  </a:lnTo>
                  <a:lnTo>
                    <a:pt x="134" y="457"/>
                  </a:lnTo>
                  <a:lnTo>
                    <a:pt x="145" y="461"/>
                  </a:lnTo>
                  <a:lnTo>
                    <a:pt x="155" y="466"/>
                  </a:lnTo>
                  <a:lnTo>
                    <a:pt x="166" y="469"/>
                  </a:lnTo>
                  <a:lnTo>
                    <a:pt x="177" y="472"/>
                  </a:lnTo>
                  <a:lnTo>
                    <a:pt x="188" y="474"/>
                  </a:lnTo>
                  <a:lnTo>
                    <a:pt x="198" y="475"/>
                  </a:lnTo>
                  <a:lnTo>
                    <a:pt x="208" y="475"/>
                  </a:lnTo>
                  <a:lnTo>
                    <a:pt x="222" y="475"/>
                  </a:lnTo>
                  <a:lnTo>
                    <a:pt x="236" y="473"/>
                  </a:lnTo>
                  <a:lnTo>
                    <a:pt x="251" y="469"/>
                  </a:lnTo>
                  <a:lnTo>
                    <a:pt x="266" y="463"/>
                  </a:lnTo>
                  <a:lnTo>
                    <a:pt x="283" y="457"/>
                  </a:lnTo>
                  <a:lnTo>
                    <a:pt x="299" y="449"/>
                  </a:lnTo>
                  <a:lnTo>
                    <a:pt x="316" y="440"/>
                  </a:lnTo>
                  <a:lnTo>
                    <a:pt x="335" y="430"/>
                  </a:lnTo>
                  <a:lnTo>
                    <a:pt x="354" y="418"/>
                  </a:lnTo>
                  <a:lnTo>
                    <a:pt x="374" y="403"/>
                  </a:lnTo>
                  <a:lnTo>
                    <a:pt x="394" y="388"/>
                  </a:lnTo>
                  <a:lnTo>
                    <a:pt x="414" y="372"/>
                  </a:lnTo>
                  <a:lnTo>
                    <a:pt x="437" y="353"/>
                  </a:lnTo>
                  <a:lnTo>
                    <a:pt x="459" y="334"/>
                  </a:lnTo>
                  <a:lnTo>
                    <a:pt x="483" y="313"/>
                  </a:lnTo>
                  <a:lnTo>
                    <a:pt x="506" y="291"/>
                  </a:lnTo>
                  <a:lnTo>
                    <a:pt x="515" y="2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2" name="Freeform 42"/>
            <p:cNvSpPr>
              <a:spLocks/>
            </p:cNvSpPr>
            <p:nvPr userDrawn="1"/>
          </p:nvSpPr>
          <p:spPr bwMode="auto">
            <a:xfrm>
              <a:off x="6739" y="604"/>
              <a:ext cx="18" cy="42"/>
            </a:xfrm>
            <a:custGeom>
              <a:avLst/>
              <a:gdLst>
                <a:gd name="T0" fmla="*/ 85 w 214"/>
                <a:gd name="T1" fmla="*/ 0 h 504"/>
                <a:gd name="T2" fmla="*/ 74 w 214"/>
                <a:gd name="T3" fmla="*/ 2 h 504"/>
                <a:gd name="T4" fmla="*/ 65 w 214"/>
                <a:gd name="T5" fmla="*/ 6 h 504"/>
                <a:gd name="T6" fmla="*/ 56 w 214"/>
                <a:gd name="T7" fmla="*/ 13 h 504"/>
                <a:gd name="T8" fmla="*/ 44 w 214"/>
                <a:gd name="T9" fmla="*/ 29 h 504"/>
                <a:gd name="T10" fmla="*/ 31 w 214"/>
                <a:gd name="T11" fmla="*/ 57 h 504"/>
                <a:gd name="T12" fmla="*/ 19 w 214"/>
                <a:gd name="T13" fmla="*/ 102 h 504"/>
                <a:gd name="T14" fmla="*/ 9 w 214"/>
                <a:gd name="T15" fmla="*/ 155 h 504"/>
                <a:gd name="T16" fmla="*/ 2 w 214"/>
                <a:gd name="T17" fmla="*/ 206 h 504"/>
                <a:gd name="T18" fmla="*/ 0 w 214"/>
                <a:gd name="T19" fmla="*/ 254 h 504"/>
                <a:gd name="T20" fmla="*/ 2 w 214"/>
                <a:gd name="T21" fmla="*/ 299 h 504"/>
                <a:gd name="T22" fmla="*/ 9 w 214"/>
                <a:gd name="T23" fmla="*/ 341 h 504"/>
                <a:gd name="T24" fmla="*/ 19 w 214"/>
                <a:gd name="T25" fmla="*/ 380 h 504"/>
                <a:gd name="T26" fmla="*/ 33 w 214"/>
                <a:gd name="T27" fmla="*/ 413 h 504"/>
                <a:gd name="T28" fmla="*/ 51 w 214"/>
                <a:gd name="T29" fmla="*/ 443 h 504"/>
                <a:gd name="T30" fmla="*/ 74 w 214"/>
                <a:gd name="T31" fmla="*/ 468 h 504"/>
                <a:gd name="T32" fmla="*/ 100 w 214"/>
                <a:gd name="T33" fmla="*/ 486 h 504"/>
                <a:gd name="T34" fmla="*/ 130 w 214"/>
                <a:gd name="T35" fmla="*/ 498 h 504"/>
                <a:gd name="T36" fmla="*/ 154 w 214"/>
                <a:gd name="T37" fmla="*/ 504 h 504"/>
                <a:gd name="T38" fmla="*/ 171 w 214"/>
                <a:gd name="T39" fmla="*/ 504 h 504"/>
                <a:gd name="T40" fmla="*/ 184 w 214"/>
                <a:gd name="T41" fmla="*/ 502 h 504"/>
                <a:gd name="T42" fmla="*/ 194 w 214"/>
                <a:gd name="T43" fmla="*/ 497 h 504"/>
                <a:gd name="T44" fmla="*/ 199 w 214"/>
                <a:gd name="T45" fmla="*/ 488 h 504"/>
                <a:gd name="T46" fmla="*/ 199 w 214"/>
                <a:gd name="T47" fmla="*/ 479 h 504"/>
                <a:gd name="T48" fmla="*/ 191 w 214"/>
                <a:gd name="T49" fmla="*/ 459 h 504"/>
                <a:gd name="T50" fmla="*/ 180 w 214"/>
                <a:gd name="T51" fmla="*/ 424 h 504"/>
                <a:gd name="T52" fmla="*/ 172 w 214"/>
                <a:gd name="T53" fmla="*/ 384 h 504"/>
                <a:gd name="T54" fmla="*/ 167 w 214"/>
                <a:gd name="T55" fmla="*/ 341 h 504"/>
                <a:gd name="T56" fmla="*/ 167 w 214"/>
                <a:gd name="T57" fmla="*/ 295 h 504"/>
                <a:gd name="T58" fmla="*/ 170 w 214"/>
                <a:gd name="T59" fmla="*/ 249 h 504"/>
                <a:gd name="T60" fmla="*/ 179 w 214"/>
                <a:gd name="T61" fmla="*/ 202 h 504"/>
                <a:gd name="T62" fmla="*/ 192 w 214"/>
                <a:gd name="T63" fmla="*/ 157 h 504"/>
                <a:gd name="T64" fmla="*/ 205 w 214"/>
                <a:gd name="T65" fmla="*/ 125 h 504"/>
                <a:gd name="T66" fmla="*/ 212 w 214"/>
                <a:gd name="T67" fmla="*/ 104 h 504"/>
                <a:gd name="T68" fmla="*/ 214 w 214"/>
                <a:gd name="T69" fmla="*/ 87 h 504"/>
                <a:gd name="T70" fmla="*/ 212 w 214"/>
                <a:gd name="T71" fmla="*/ 72 h 504"/>
                <a:gd name="T72" fmla="*/ 206 w 214"/>
                <a:gd name="T73" fmla="*/ 57 h 504"/>
                <a:gd name="T74" fmla="*/ 196 w 214"/>
                <a:gd name="T75" fmla="*/ 45 h 504"/>
                <a:gd name="T76" fmla="*/ 183 w 214"/>
                <a:gd name="T77" fmla="*/ 34 h 504"/>
                <a:gd name="T78" fmla="*/ 165 w 214"/>
                <a:gd name="T79" fmla="*/ 23 h 504"/>
                <a:gd name="T80" fmla="*/ 136 w 214"/>
                <a:gd name="T81" fmla="*/ 9 h 504"/>
                <a:gd name="T82" fmla="*/ 104 w 214"/>
                <a:gd name="T83" fmla="*/ 1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14" h="504">
                  <a:moveTo>
                    <a:pt x="91" y="0"/>
                  </a:moveTo>
                  <a:lnTo>
                    <a:pt x="85" y="0"/>
                  </a:lnTo>
                  <a:lnTo>
                    <a:pt x="80" y="1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5" y="6"/>
                  </a:lnTo>
                  <a:lnTo>
                    <a:pt x="60" y="9"/>
                  </a:lnTo>
                  <a:lnTo>
                    <a:pt x="56" y="13"/>
                  </a:lnTo>
                  <a:lnTo>
                    <a:pt x="51" y="17"/>
                  </a:lnTo>
                  <a:lnTo>
                    <a:pt x="44" y="29"/>
                  </a:lnTo>
                  <a:lnTo>
                    <a:pt x="37" y="41"/>
                  </a:lnTo>
                  <a:lnTo>
                    <a:pt x="31" y="57"/>
                  </a:lnTo>
                  <a:lnTo>
                    <a:pt x="26" y="76"/>
                  </a:lnTo>
                  <a:lnTo>
                    <a:pt x="19" y="102"/>
                  </a:lnTo>
                  <a:lnTo>
                    <a:pt x="13" y="130"/>
                  </a:lnTo>
                  <a:lnTo>
                    <a:pt x="9" y="155"/>
                  </a:lnTo>
                  <a:lnTo>
                    <a:pt x="5" y="181"/>
                  </a:lnTo>
                  <a:lnTo>
                    <a:pt x="2" y="206"/>
                  </a:lnTo>
                  <a:lnTo>
                    <a:pt x="0" y="231"/>
                  </a:lnTo>
                  <a:lnTo>
                    <a:pt x="0" y="254"/>
                  </a:lnTo>
                  <a:lnTo>
                    <a:pt x="0" y="278"/>
                  </a:lnTo>
                  <a:lnTo>
                    <a:pt x="2" y="299"/>
                  </a:lnTo>
                  <a:lnTo>
                    <a:pt x="5" y="321"/>
                  </a:lnTo>
                  <a:lnTo>
                    <a:pt x="9" y="341"/>
                  </a:lnTo>
                  <a:lnTo>
                    <a:pt x="14" y="360"/>
                  </a:lnTo>
                  <a:lnTo>
                    <a:pt x="19" y="380"/>
                  </a:lnTo>
                  <a:lnTo>
                    <a:pt x="26" y="397"/>
                  </a:lnTo>
                  <a:lnTo>
                    <a:pt x="33" y="413"/>
                  </a:lnTo>
                  <a:lnTo>
                    <a:pt x="42" y="429"/>
                  </a:lnTo>
                  <a:lnTo>
                    <a:pt x="51" y="443"/>
                  </a:lnTo>
                  <a:lnTo>
                    <a:pt x="63" y="456"/>
                  </a:lnTo>
                  <a:lnTo>
                    <a:pt x="74" y="468"/>
                  </a:lnTo>
                  <a:lnTo>
                    <a:pt x="87" y="478"/>
                  </a:lnTo>
                  <a:lnTo>
                    <a:pt x="100" y="486"/>
                  </a:lnTo>
                  <a:lnTo>
                    <a:pt x="115" y="493"/>
                  </a:lnTo>
                  <a:lnTo>
                    <a:pt x="130" y="498"/>
                  </a:lnTo>
                  <a:lnTo>
                    <a:pt x="145" y="502"/>
                  </a:lnTo>
                  <a:lnTo>
                    <a:pt x="154" y="504"/>
                  </a:lnTo>
                  <a:lnTo>
                    <a:pt x="164" y="504"/>
                  </a:lnTo>
                  <a:lnTo>
                    <a:pt x="171" y="504"/>
                  </a:lnTo>
                  <a:lnTo>
                    <a:pt x="178" y="503"/>
                  </a:lnTo>
                  <a:lnTo>
                    <a:pt x="184" y="502"/>
                  </a:lnTo>
                  <a:lnTo>
                    <a:pt x="190" y="500"/>
                  </a:lnTo>
                  <a:lnTo>
                    <a:pt x="194" y="497"/>
                  </a:lnTo>
                  <a:lnTo>
                    <a:pt x="197" y="493"/>
                  </a:lnTo>
                  <a:lnTo>
                    <a:pt x="199" y="488"/>
                  </a:lnTo>
                  <a:lnTo>
                    <a:pt x="199" y="484"/>
                  </a:lnTo>
                  <a:lnTo>
                    <a:pt x="199" y="479"/>
                  </a:lnTo>
                  <a:lnTo>
                    <a:pt x="197" y="475"/>
                  </a:lnTo>
                  <a:lnTo>
                    <a:pt x="191" y="459"/>
                  </a:lnTo>
                  <a:lnTo>
                    <a:pt x="185" y="442"/>
                  </a:lnTo>
                  <a:lnTo>
                    <a:pt x="180" y="424"/>
                  </a:lnTo>
                  <a:lnTo>
                    <a:pt x="175" y="404"/>
                  </a:lnTo>
                  <a:lnTo>
                    <a:pt x="172" y="384"/>
                  </a:lnTo>
                  <a:lnTo>
                    <a:pt x="169" y="362"/>
                  </a:lnTo>
                  <a:lnTo>
                    <a:pt x="167" y="341"/>
                  </a:lnTo>
                  <a:lnTo>
                    <a:pt x="167" y="319"/>
                  </a:lnTo>
                  <a:lnTo>
                    <a:pt x="167" y="295"/>
                  </a:lnTo>
                  <a:lnTo>
                    <a:pt x="168" y="273"/>
                  </a:lnTo>
                  <a:lnTo>
                    <a:pt x="170" y="249"/>
                  </a:lnTo>
                  <a:lnTo>
                    <a:pt x="174" y="226"/>
                  </a:lnTo>
                  <a:lnTo>
                    <a:pt x="179" y="202"/>
                  </a:lnTo>
                  <a:lnTo>
                    <a:pt x="185" y="180"/>
                  </a:lnTo>
                  <a:lnTo>
                    <a:pt x="192" y="157"/>
                  </a:lnTo>
                  <a:lnTo>
                    <a:pt x="200" y="135"/>
                  </a:lnTo>
                  <a:lnTo>
                    <a:pt x="205" y="125"/>
                  </a:lnTo>
                  <a:lnTo>
                    <a:pt x="209" y="114"/>
                  </a:lnTo>
                  <a:lnTo>
                    <a:pt x="212" y="104"/>
                  </a:lnTo>
                  <a:lnTo>
                    <a:pt x="213" y="96"/>
                  </a:lnTo>
                  <a:lnTo>
                    <a:pt x="214" y="87"/>
                  </a:lnTo>
                  <a:lnTo>
                    <a:pt x="214" y="79"/>
                  </a:lnTo>
                  <a:lnTo>
                    <a:pt x="212" y="72"/>
                  </a:lnTo>
                  <a:lnTo>
                    <a:pt x="210" y="64"/>
                  </a:lnTo>
                  <a:lnTo>
                    <a:pt x="206" y="57"/>
                  </a:lnTo>
                  <a:lnTo>
                    <a:pt x="202" y="51"/>
                  </a:lnTo>
                  <a:lnTo>
                    <a:pt x="196" y="45"/>
                  </a:lnTo>
                  <a:lnTo>
                    <a:pt x="190" y="39"/>
                  </a:lnTo>
                  <a:lnTo>
                    <a:pt x="183" y="34"/>
                  </a:lnTo>
                  <a:lnTo>
                    <a:pt x="175" y="28"/>
                  </a:lnTo>
                  <a:lnTo>
                    <a:pt x="165" y="23"/>
                  </a:lnTo>
                  <a:lnTo>
                    <a:pt x="154" y="17"/>
                  </a:lnTo>
                  <a:lnTo>
                    <a:pt x="136" y="9"/>
                  </a:lnTo>
                  <a:lnTo>
                    <a:pt x="119" y="4"/>
                  </a:lnTo>
                  <a:lnTo>
                    <a:pt x="104" y="1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3" name="Freeform 43"/>
            <p:cNvSpPr>
              <a:spLocks/>
            </p:cNvSpPr>
            <p:nvPr userDrawn="1"/>
          </p:nvSpPr>
          <p:spPr bwMode="auto">
            <a:xfrm>
              <a:off x="6966" y="608"/>
              <a:ext cx="26" cy="41"/>
            </a:xfrm>
            <a:custGeom>
              <a:avLst/>
              <a:gdLst>
                <a:gd name="T0" fmla="*/ 91 w 315"/>
                <a:gd name="T1" fmla="*/ 120 h 486"/>
                <a:gd name="T2" fmla="*/ 110 w 315"/>
                <a:gd name="T3" fmla="*/ 124 h 486"/>
                <a:gd name="T4" fmla="*/ 128 w 315"/>
                <a:gd name="T5" fmla="*/ 132 h 486"/>
                <a:gd name="T6" fmla="*/ 144 w 315"/>
                <a:gd name="T7" fmla="*/ 143 h 486"/>
                <a:gd name="T8" fmla="*/ 160 w 315"/>
                <a:gd name="T9" fmla="*/ 161 h 486"/>
                <a:gd name="T10" fmla="*/ 172 w 315"/>
                <a:gd name="T11" fmla="*/ 183 h 486"/>
                <a:gd name="T12" fmla="*/ 180 w 315"/>
                <a:gd name="T13" fmla="*/ 206 h 486"/>
                <a:gd name="T14" fmla="*/ 183 w 315"/>
                <a:gd name="T15" fmla="*/ 228 h 486"/>
                <a:gd name="T16" fmla="*/ 181 w 315"/>
                <a:gd name="T17" fmla="*/ 251 h 486"/>
                <a:gd name="T18" fmla="*/ 174 w 315"/>
                <a:gd name="T19" fmla="*/ 279 h 486"/>
                <a:gd name="T20" fmla="*/ 161 w 315"/>
                <a:gd name="T21" fmla="*/ 304 h 486"/>
                <a:gd name="T22" fmla="*/ 144 w 315"/>
                <a:gd name="T23" fmla="*/ 327 h 486"/>
                <a:gd name="T24" fmla="*/ 123 w 315"/>
                <a:gd name="T25" fmla="*/ 347 h 486"/>
                <a:gd name="T26" fmla="*/ 100 w 315"/>
                <a:gd name="T27" fmla="*/ 363 h 486"/>
                <a:gd name="T28" fmla="*/ 74 w 315"/>
                <a:gd name="T29" fmla="*/ 374 h 486"/>
                <a:gd name="T30" fmla="*/ 47 w 315"/>
                <a:gd name="T31" fmla="*/ 380 h 486"/>
                <a:gd name="T32" fmla="*/ 0 w 315"/>
                <a:gd name="T33" fmla="*/ 434 h 486"/>
                <a:gd name="T34" fmla="*/ 74 w 315"/>
                <a:gd name="T35" fmla="*/ 486 h 486"/>
                <a:gd name="T36" fmla="*/ 97 w 315"/>
                <a:gd name="T37" fmla="*/ 484 h 486"/>
                <a:gd name="T38" fmla="*/ 129 w 315"/>
                <a:gd name="T39" fmla="*/ 476 h 486"/>
                <a:gd name="T40" fmla="*/ 172 w 315"/>
                <a:gd name="T41" fmla="*/ 460 h 486"/>
                <a:gd name="T42" fmla="*/ 213 w 315"/>
                <a:gd name="T43" fmla="*/ 435 h 486"/>
                <a:gd name="T44" fmla="*/ 250 w 315"/>
                <a:gd name="T45" fmla="*/ 406 h 486"/>
                <a:gd name="T46" fmla="*/ 273 w 315"/>
                <a:gd name="T47" fmla="*/ 379 h 486"/>
                <a:gd name="T48" fmla="*/ 286 w 315"/>
                <a:gd name="T49" fmla="*/ 361 h 486"/>
                <a:gd name="T50" fmla="*/ 297 w 315"/>
                <a:gd name="T51" fmla="*/ 340 h 486"/>
                <a:gd name="T52" fmla="*/ 306 w 315"/>
                <a:gd name="T53" fmla="*/ 320 h 486"/>
                <a:gd name="T54" fmla="*/ 312 w 315"/>
                <a:gd name="T55" fmla="*/ 297 h 486"/>
                <a:gd name="T56" fmla="*/ 315 w 315"/>
                <a:gd name="T57" fmla="*/ 275 h 486"/>
                <a:gd name="T58" fmla="*/ 315 w 315"/>
                <a:gd name="T59" fmla="*/ 249 h 486"/>
                <a:gd name="T60" fmla="*/ 312 w 315"/>
                <a:gd name="T61" fmla="*/ 221 h 486"/>
                <a:gd name="T62" fmla="*/ 306 w 315"/>
                <a:gd name="T63" fmla="*/ 194 h 486"/>
                <a:gd name="T64" fmla="*/ 298 w 315"/>
                <a:gd name="T65" fmla="*/ 169 h 486"/>
                <a:gd name="T66" fmla="*/ 287 w 315"/>
                <a:gd name="T67" fmla="*/ 144 h 486"/>
                <a:gd name="T68" fmla="*/ 274 w 315"/>
                <a:gd name="T69" fmla="*/ 122 h 486"/>
                <a:gd name="T70" fmla="*/ 259 w 315"/>
                <a:gd name="T71" fmla="*/ 101 h 486"/>
                <a:gd name="T72" fmla="*/ 243 w 315"/>
                <a:gd name="T73" fmla="*/ 82 h 486"/>
                <a:gd name="T74" fmla="*/ 224 w 315"/>
                <a:gd name="T75" fmla="*/ 65 h 486"/>
                <a:gd name="T76" fmla="*/ 205 w 315"/>
                <a:gd name="T77" fmla="*/ 49 h 486"/>
                <a:gd name="T78" fmla="*/ 184 w 315"/>
                <a:gd name="T79" fmla="*/ 36 h 486"/>
                <a:gd name="T80" fmla="*/ 163 w 315"/>
                <a:gd name="T81" fmla="*/ 25 h 486"/>
                <a:gd name="T82" fmla="*/ 141 w 315"/>
                <a:gd name="T83" fmla="*/ 15 h 486"/>
                <a:gd name="T84" fmla="*/ 118 w 315"/>
                <a:gd name="T85" fmla="*/ 7 h 486"/>
                <a:gd name="T86" fmla="*/ 95 w 315"/>
                <a:gd name="T87" fmla="*/ 3 h 486"/>
                <a:gd name="T88" fmla="*/ 72 w 315"/>
                <a:gd name="T89" fmla="*/ 0 h 486"/>
                <a:gd name="T90" fmla="*/ 21 w 315"/>
                <a:gd name="T91" fmla="*/ 6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15" h="486">
                  <a:moveTo>
                    <a:pt x="80" y="120"/>
                  </a:moveTo>
                  <a:lnTo>
                    <a:pt x="91" y="120"/>
                  </a:lnTo>
                  <a:lnTo>
                    <a:pt x="101" y="122"/>
                  </a:lnTo>
                  <a:lnTo>
                    <a:pt x="110" y="124"/>
                  </a:lnTo>
                  <a:lnTo>
                    <a:pt x="119" y="128"/>
                  </a:lnTo>
                  <a:lnTo>
                    <a:pt x="128" y="132"/>
                  </a:lnTo>
                  <a:lnTo>
                    <a:pt x="136" y="137"/>
                  </a:lnTo>
                  <a:lnTo>
                    <a:pt x="144" y="143"/>
                  </a:lnTo>
                  <a:lnTo>
                    <a:pt x="151" y="150"/>
                  </a:lnTo>
                  <a:lnTo>
                    <a:pt x="160" y="161"/>
                  </a:lnTo>
                  <a:lnTo>
                    <a:pt x="167" y="172"/>
                  </a:lnTo>
                  <a:lnTo>
                    <a:pt x="172" y="183"/>
                  </a:lnTo>
                  <a:lnTo>
                    <a:pt x="177" y="194"/>
                  </a:lnTo>
                  <a:lnTo>
                    <a:pt x="180" y="206"/>
                  </a:lnTo>
                  <a:lnTo>
                    <a:pt x="182" y="218"/>
                  </a:lnTo>
                  <a:lnTo>
                    <a:pt x="183" y="228"/>
                  </a:lnTo>
                  <a:lnTo>
                    <a:pt x="183" y="237"/>
                  </a:lnTo>
                  <a:lnTo>
                    <a:pt x="181" y="251"/>
                  </a:lnTo>
                  <a:lnTo>
                    <a:pt x="178" y="266"/>
                  </a:lnTo>
                  <a:lnTo>
                    <a:pt x="174" y="279"/>
                  </a:lnTo>
                  <a:lnTo>
                    <a:pt x="168" y="292"/>
                  </a:lnTo>
                  <a:lnTo>
                    <a:pt x="161" y="304"/>
                  </a:lnTo>
                  <a:lnTo>
                    <a:pt x="153" y="317"/>
                  </a:lnTo>
                  <a:lnTo>
                    <a:pt x="144" y="327"/>
                  </a:lnTo>
                  <a:lnTo>
                    <a:pt x="134" y="338"/>
                  </a:lnTo>
                  <a:lnTo>
                    <a:pt x="123" y="347"/>
                  </a:lnTo>
                  <a:lnTo>
                    <a:pt x="112" y="355"/>
                  </a:lnTo>
                  <a:lnTo>
                    <a:pt x="100" y="363"/>
                  </a:lnTo>
                  <a:lnTo>
                    <a:pt x="87" y="369"/>
                  </a:lnTo>
                  <a:lnTo>
                    <a:pt x="74" y="374"/>
                  </a:lnTo>
                  <a:lnTo>
                    <a:pt x="61" y="378"/>
                  </a:lnTo>
                  <a:lnTo>
                    <a:pt x="47" y="380"/>
                  </a:lnTo>
                  <a:lnTo>
                    <a:pt x="33" y="381"/>
                  </a:lnTo>
                  <a:lnTo>
                    <a:pt x="0" y="434"/>
                  </a:lnTo>
                  <a:lnTo>
                    <a:pt x="64" y="486"/>
                  </a:lnTo>
                  <a:lnTo>
                    <a:pt x="74" y="486"/>
                  </a:lnTo>
                  <a:lnTo>
                    <a:pt x="85" y="485"/>
                  </a:lnTo>
                  <a:lnTo>
                    <a:pt x="97" y="484"/>
                  </a:lnTo>
                  <a:lnTo>
                    <a:pt x="107" y="482"/>
                  </a:lnTo>
                  <a:lnTo>
                    <a:pt x="129" y="476"/>
                  </a:lnTo>
                  <a:lnTo>
                    <a:pt x="151" y="469"/>
                  </a:lnTo>
                  <a:lnTo>
                    <a:pt x="172" y="460"/>
                  </a:lnTo>
                  <a:lnTo>
                    <a:pt x="194" y="448"/>
                  </a:lnTo>
                  <a:lnTo>
                    <a:pt x="213" y="435"/>
                  </a:lnTo>
                  <a:lnTo>
                    <a:pt x="232" y="421"/>
                  </a:lnTo>
                  <a:lnTo>
                    <a:pt x="250" y="406"/>
                  </a:lnTo>
                  <a:lnTo>
                    <a:pt x="266" y="388"/>
                  </a:lnTo>
                  <a:lnTo>
                    <a:pt x="273" y="379"/>
                  </a:lnTo>
                  <a:lnTo>
                    <a:pt x="279" y="370"/>
                  </a:lnTo>
                  <a:lnTo>
                    <a:pt x="286" y="361"/>
                  </a:lnTo>
                  <a:lnTo>
                    <a:pt x="291" y="350"/>
                  </a:lnTo>
                  <a:lnTo>
                    <a:pt x="297" y="340"/>
                  </a:lnTo>
                  <a:lnTo>
                    <a:pt x="302" y="330"/>
                  </a:lnTo>
                  <a:lnTo>
                    <a:pt x="306" y="320"/>
                  </a:lnTo>
                  <a:lnTo>
                    <a:pt x="309" y="309"/>
                  </a:lnTo>
                  <a:lnTo>
                    <a:pt x="312" y="297"/>
                  </a:lnTo>
                  <a:lnTo>
                    <a:pt x="314" y="287"/>
                  </a:lnTo>
                  <a:lnTo>
                    <a:pt x="315" y="275"/>
                  </a:lnTo>
                  <a:lnTo>
                    <a:pt x="315" y="264"/>
                  </a:lnTo>
                  <a:lnTo>
                    <a:pt x="315" y="249"/>
                  </a:lnTo>
                  <a:lnTo>
                    <a:pt x="314" y="235"/>
                  </a:lnTo>
                  <a:lnTo>
                    <a:pt x="312" y="221"/>
                  </a:lnTo>
                  <a:lnTo>
                    <a:pt x="309" y="207"/>
                  </a:lnTo>
                  <a:lnTo>
                    <a:pt x="306" y="194"/>
                  </a:lnTo>
                  <a:lnTo>
                    <a:pt x="302" y="181"/>
                  </a:lnTo>
                  <a:lnTo>
                    <a:pt x="298" y="169"/>
                  </a:lnTo>
                  <a:lnTo>
                    <a:pt x="293" y="156"/>
                  </a:lnTo>
                  <a:lnTo>
                    <a:pt x="287" y="144"/>
                  </a:lnTo>
                  <a:lnTo>
                    <a:pt x="280" y="133"/>
                  </a:lnTo>
                  <a:lnTo>
                    <a:pt x="274" y="122"/>
                  </a:lnTo>
                  <a:lnTo>
                    <a:pt x="267" y="112"/>
                  </a:lnTo>
                  <a:lnTo>
                    <a:pt x="259" y="101"/>
                  </a:lnTo>
                  <a:lnTo>
                    <a:pt x="251" y="91"/>
                  </a:lnTo>
                  <a:lnTo>
                    <a:pt x="243" y="82"/>
                  </a:lnTo>
                  <a:lnTo>
                    <a:pt x="233" y="73"/>
                  </a:lnTo>
                  <a:lnTo>
                    <a:pt x="224" y="65"/>
                  </a:lnTo>
                  <a:lnTo>
                    <a:pt x="215" y="56"/>
                  </a:lnTo>
                  <a:lnTo>
                    <a:pt x="205" y="49"/>
                  </a:lnTo>
                  <a:lnTo>
                    <a:pt x="195" y="42"/>
                  </a:lnTo>
                  <a:lnTo>
                    <a:pt x="184" y="36"/>
                  </a:lnTo>
                  <a:lnTo>
                    <a:pt x="174" y="30"/>
                  </a:lnTo>
                  <a:lnTo>
                    <a:pt x="163" y="25"/>
                  </a:lnTo>
                  <a:lnTo>
                    <a:pt x="152" y="20"/>
                  </a:lnTo>
                  <a:lnTo>
                    <a:pt x="141" y="15"/>
                  </a:lnTo>
                  <a:lnTo>
                    <a:pt x="129" y="12"/>
                  </a:lnTo>
                  <a:lnTo>
                    <a:pt x="118" y="7"/>
                  </a:lnTo>
                  <a:lnTo>
                    <a:pt x="107" y="5"/>
                  </a:lnTo>
                  <a:lnTo>
                    <a:pt x="95" y="3"/>
                  </a:lnTo>
                  <a:lnTo>
                    <a:pt x="83" y="1"/>
                  </a:lnTo>
                  <a:lnTo>
                    <a:pt x="72" y="0"/>
                  </a:lnTo>
                  <a:lnTo>
                    <a:pt x="60" y="0"/>
                  </a:lnTo>
                  <a:lnTo>
                    <a:pt x="21" y="68"/>
                  </a:lnTo>
                  <a:lnTo>
                    <a:pt x="8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4" name="Freeform 44"/>
            <p:cNvSpPr>
              <a:spLocks/>
            </p:cNvSpPr>
            <p:nvPr userDrawn="1"/>
          </p:nvSpPr>
          <p:spPr bwMode="auto">
            <a:xfrm>
              <a:off x="6884" y="562"/>
              <a:ext cx="92" cy="118"/>
            </a:xfrm>
            <a:custGeom>
              <a:avLst/>
              <a:gdLst>
                <a:gd name="T0" fmla="*/ 1007 w 1095"/>
                <a:gd name="T1" fmla="*/ 693 h 1421"/>
                <a:gd name="T2" fmla="*/ 952 w 1095"/>
                <a:gd name="T3" fmla="*/ 735 h 1421"/>
                <a:gd name="T4" fmla="*/ 915 w 1095"/>
                <a:gd name="T5" fmla="*/ 791 h 1421"/>
                <a:gd name="T6" fmla="*/ 906 w 1095"/>
                <a:gd name="T7" fmla="*/ 852 h 1421"/>
                <a:gd name="T8" fmla="*/ 929 w 1095"/>
                <a:gd name="T9" fmla="*/ 906 h 1421"/>
                <a:gd name="T10" fmla="*/ 974 w 1095"/>
                <a:gd name="T11" fmla="*/ 937 h 1421"/>
                <a:gd name="T12" fmla="*/ 1040 w 1095"/>
                <a:gd name="T13" fmla="*/ 1047 h 1421"/>
                <a:gd name="T14" fmla="*/ 955 w 1095"/>
                <a:gd name="T15" fmla="*/ 1038 h 1421"/>
                <a:gd name="T16" fmla="*/ 881 w 1095"/>
                <a:gd name="T17" fmla="*/ 1012 h 1421"/>
                <a:gd name="T18" fmla="*/ 821 w 1095"/>
                <a:gd name="T19" fmla="*/ 976 h 1421"/>
                <a:gd name="T20" fmla="*/ 774 w 1095"/>
                <a:gd name="T21" fmla="*/ 931 h 1421"/>
                <a:gd name="T22" fmla="*/ 741 w 1095"/>
                <a:gd name="T23" fmla="*/ 883 h 1421"/>
                <a:gd name="T24" fmla="*/ 726 w 1095"/>
                <a:gd name="T25" fmla="*/ 835 h 1421"/>
                <a:gd name="T26" fmla="*/ 728 w 1095"/>
                <a:gd name="T27" fmla="*/ 774 h 1421"/>
                <a:gd name="T28" fmla="*/ 749 w 1095"/>
                <a:gd name="T29" fmla="*/ 723 h 1421"/>
                <a:gd name="T30" fmla="*/ 650 w 1095"/>
                <a:gd name="T31" fmla="*/ 723 h 1421"/>
                <a:gd name="T32" fmla="*/ 491 w 1095"/>
                <a:gd name="T33" fmla="*/ 745 h 1421"/>
                <a:gd name="T34" fmla="*/ 462 w 1095"/>
                <a:gd name="T35" fmla="*/ 886 h 1421"/>
                <a:gd name="T36" fmla="*/ 435 w 1095"/>
                <a:gd name="T37" fmla="*/ 1103 h 1421"/>
                <a:gd name="T38" fmla="*/ 427 w 1095"/>
                <a:gd name="T39" fmla="*/ 1291 h 1421"/>
                <a:gd name="T40" fmla="*/ 431 w 1095"/>
                <a:gd name="T41" fmla="*/ 1398 h 1421"/>
                <a:gd name="T42" fmla="*/ 416 w 1095"/>
                <a:gd name="T43" fmla="*/ 1418 h 1421"/>
                <a:gd name="T44" fmla="*/ 378 w 1095"/>
                <a:gd name="T45" fmla="*/ 1418 h 1421"/>
                <a:gd name="T46" fmla="*/ 337 w 1095"/>
                <a:gd name="T47" fmla="*/ 1390 h 1421"/>
                <a:gd name="T48" fmla="*/ 310 w 1095"/>
                <a:gd name="T49" fmla="*/ 1337 h 1421"/>
                <a:gd name="T50" fmla="*/ 293 w 1095"/>
                <a:gd name="T51" fmla="*/ 1256 h 1421"/>
                <a:gd name="T52" fmla="*/ 288 w 1095"/>
                <a:gd name="T53" fmla="*/ 1109 h 1421"/>
                <a:gd name="T54" fmla="*/ 313 w 1095"/>
                <a:gd name="T55" fmla="*/ 843 h 1421"/>
                <a:gd name="T56" fmla="*/ 226 w 1095"/>
                <a:gd name="T57" fmla="*/ 803 h 1421"/>
                <a:gd name="T58" fmla="*/ 161 w 1095"/>
                <a:gd name="T59" fmla="*/ 831 h 1421"/>
                <a:gd name="T60" fmla="*/ 125 w 1095"/>
                <a:gd name="T61" fmla="*/ 840 h 1421"/>
                <a:gd name="T62" fmla="*/ 86 w 1095"/>
                <a:gd name="T63" fmla="*/ 834 h 1421"/>
                <a:gd name="T64" fmla="*/ 24 w 1095"/>
                <a:gd name="T65" fmla="*/ 796 h 1421"/>
                <a:gd name="T66" fmla="*/ 0 w 1095"/>
                <a:gd name="T67" fmla="*/ 762 h 1421"/>
                <a:gd name="T68" fmla="*/ 8 w 1095"/>
                <a:gd name="T69" fmla="*/ 740 h 1421"/>
                <a:gd name="T70" fmla="*/ 62 w 1095"/>
                <a:gd name="T71" fmla="*/ 713 h 1421"/>
                <a:gd name="T72" fmla="*/ 251 w 1095"/>
                <a:gd name="T73" fmla="*/ 663 h 1421"/>
                <a:gd name="T74" fmla="*/ 364 w 1095"/>
                <a:gd name="T75" fmla="*/ 577 h 1421"/>
                <a:gd name="T76" fmla="*/ 431 w 1095"/>
                <a:gd name="T77" fmla="*/ 350 h 1421"/>
                <a:gd name="T78" fmla="*/ 514 w 1095"/>
                <a:gd name="T79" fmla="*/ 162 h 1421"/>
                <a:gd name="T80" fmla="*/ 599 w 1095"/>
                <a:gd name="T81" fmla="*/ 34 h 1421"/>
                <a:gd name="T82" fmla="*/ 669 w 1095"/>
                <a:gd name="T83" fmla="*/ 1 h 1421"/>
                <a:gd name="T84" fmla="*/ 732 w 1095"/>
                <a:gd name="T85" fmla="*/ 7 h 1421"/>
                <a:gd name="T86" fmla="*/ 799 w 1095"/>
                <a:gd name="T87" fmla="*/ 37 h 1421"/>
                <a:gd name="T88" fmla="*/ 852 w 1095"/>
                <a:gd name="T89" fmla="*/ 97 h 1421"/>
                <a:gd name="T90" fmla="*/ 866 w 1095"/>
                <a:gd name="T91" fmla="*/ 159 h 1421"/>
                <a:gd name="T92" fmla="*/ 852 w 1095"/>
                <a:gd name="T93" fmla="*/ 204 h 1421"/>
                <a:gd name="T94" fmla="*/ 824 w 1095"/>
                <a:gd name="T95" fmla="*/ 224 h 1421"/>
                <a:gd name="T96" fmla="*/ 807 w 1095"/>
                <a:gd name="T97" fmla="*/ 220 h 1421"/>
                <a:gd name="T98" fmla="*/ 778 w 1095"/>
                <a:gd name="T99" fmla="*/ 172 h 1421"/>
                <a:gd name="T100" fmla="*/ 731 w 1095"/>
                <a:gd name="T101" fmla="*/ 149 h 1421"/>
                <a:gd name="T102" fmla="*/ 697 w 1095"/>
                <a:gd name="T103" fmla="*/ 160 h 1421"/>
                <a:gd name="T104" fmla="*/ 660 w 1095"/>
                <a:gd name="T105" fmla="*/ 210 h 1421"/>
                <a:gd name="T106" fmla="*/ 601 w 1095"/>
                <a:gd name="T107" fmla="*/ 339 h 1421"/>
                <a:gd name="T108" fmla="*/ 514 w 1095"/>
                <a:gd name="T109" fmla="*/ 627 h 1421"/>
                <a:gd name="T110" fmla="*/ 618 w 1095"/>
                <a:gd name="T111" fmla="*/ 629 h 1421"/>
                <a:gd name="T112" fmla="*/ 798 w 1095"/>
                <a:gd name="T113" fmla="*/ 626 h 1421"/>
                <a:gd name="T114" fmla="*/ 892 w 1095"/>
                <a:gd name="T115" fmla="*/ 627 h 1421"/>
                <a:gd name="T116" fmla="*/ 961 w 1095"/>
                <a:gd name="T117" fmla="*/ 578 h 1421"/>
                <a:gd name="T118" fmla="*/ 1027 w 1095"/>
                <a:gd name="T119" fmla="*/ 561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95" h="1421">
                  <a:moveTo>
                    <a:pt x="1056" y="681"/>
                  </a:moveTo>
                  <a:lnTo>
                    <a:pt x="1044" y="682"/>
                  </a:lnTo>
                  <a:lnTo>
                    <a:pt x="1032" y="684"/>
                  </a:lnTo>
                  <a:lnTo>
                    <a:pt x="1020" y="688"/>
                  </a:lnTo>
                  <a:lnTo>
                    <a:pt x="1007" y="693"/>
                  </a:lnTo>
                  <a:lnTo>
                    <a:pt x="995" y="699"/>
                  </a:lnTo>
                  <a:lnTo>
                    <a:pt x="984" y="707"/>
                  </a:lnTo>
                  <a:lnTo>
                    <a:pt x="973" y="715"/>
                  </a:lnTo>
                  <a:lnTo>
                    <a:pt x="961" y="725"/>
                  </a:lnTo>
                  <a:lnTo>
                    <a:pt x="952" y="735"/>
                  </a:lnTo>
                  <a:lnTo>
                    <a:pt x="943" y="745"/>
                  </a:lnTo>
                  <a:lnTo>
                    <a:pt x="934" y="756"/>
                  </a:lnTo>
                  <a:lnTo>
                    <a:pt x="927" y="767"/>
                  </a:lnTo>
                  <a:lnTo>
                    <a:pt x="921" y="779"/>
                  </a:lnTo>
                  <a:lnTo>
                    <a:pt x="915" y="791"/>
                  </a:lnTo>
                  <a:lnTo>
                    <a:pt x="910" y="802"/>
                  </a:lnTo>
                  <a:lnTo>
                    <a:pt x="908" y="813"/>
                  </a:lnTo>
                  <a:lnTo>
                    <a:pt x="906" y="827"/>
                  </a:lnTo>
                  <a:lnTo>
                    <a:pt x="905" y="839"/>
                  </a:lnTo>
                  <a:lnTo>
                    <a:pt x="906" y="852"/>
                  </a:lnTo>
                  <a:lnTo>
                    <a:pt x="908" y="863"/>
                  </a:lnTo>
                  <a:lnTo>
                    <a:pt x="912" y="876"/>
                  </a:lnTo>
                  <a:lnTo>
                    <a:pt x="917" y="886"/>
                  </a:lnTo>
                  <a:lnTo>
                    <a:pt x="922" y="897"/>
                  </a:lnTo>
                  <a:lnTo>
                    <a:pt x="929" y="906"/>
                  </a:lnTo>
                  <a:lnTo>
                    <a:pt x="936" y="914"/>
                  </a:lnTo>
                  <a:lnTo>
                    <a:pt x="945" y="922"/>
                  </a:lnTo>
                  <a:lnTo>
                    <a:pt x="953" y="928"/>
                  </a:lnTo>
                  <a:lnTo>
                    <a:pt x="964" y="933"/>
                  </a:lnTo>
                  <a:lnTo>
                    <a:pt x="974" y="937"/>
                  </a:lnTo>
                  <a:lnTo>
                    <a:pt x="985" y="940"/>
                  </a:lnTo>
                  <a:lnTo>
                    <a:pt x="997" y="941"/>
                  </a:lnTo>
                  <a:lnTo>
                    <a:pt x="1009" y="942"/>
                  </a:lnTo>
                  <a:lnTo>
                    <a:pt x="1073" y="984"/>
                  </a:lnTo>
                  <a:lnTo>
                    <a:pt x="1040" y="1047"/>
                  </a:lnTo>
                  <a:lnTo>
                    <a:pt x="1022" y="1047"/>
                  </a:lnTo>
                  <a:lnTo>
                    <a:pt x="1004" y="1046"/>
                  </a:lnTo>
                  <a:lnTo>
                    <a:pt x="988" y="1044"/>
                  </a:lnTo>
                  <a:lnTo>
                    <a:pt x="971" y="1041"/>
                  </a:lnTo>
                  <a:lnTo>
                    <a:pt x="955" y="1038"/>
                  </a:lnTo>
                  <a:lnTo>
                    <a:pt x="939" y="1034"/>
                  </a:lnTo>
                  <a:lnTo>
                    <a:pt x="924" y="1030"/>
                  </a:lnTo>
                  <a:lnTo>
                    <a:pt x="909" y="1025"/>
                  </a:lnTo>
                  <a:lnTo>
                    <a:pt x="895" y="1019"/>
                  </a:lnTo>
                  <a:lnTo>
                    <a:pt x="881" y="1012"/>
                  </a:lnTo>
                  <a:lnTo>
                    <a:pt x="869" y="1006"/>
                  </a:lnTo>
                  <a:lnTo>
                    <a:pt x="855" y="999"/>
                  </a:lnTo>
                  <a:lnTo>
                    <a:pt x="843" y="992"/>
                  </a:lnTo>
                  <a:lnTo>
                    <a:pt x="832" y="984"/>
                  </a:lnTo>
                  <a:lnTo>
                    <a:pt x="821" y="976"/>
                  </a:lnTo>
                  <a:lnTo>
                    <a:pt x="810" y="968"/>
                  </a:lnTo>
                  <a:lnTo>
                    <a:pt x="800" y="958"/>
                  </a:lnTo>
                  <a:lnTo>
                    <a:pt x="790" y="949"/>
                  </a:lnTo>
                  <a:lnTo>
                    <a:pt x="782" y="940"/>
                  </a:lnTo>
                  <a:lnTo>
                    <a:pt x="774" y="931"/>
                  </a:lnTo>
                  <a:lnTo>
                    <a:pt x="766" y="922"/>
                  </a:lnTo>
                  <a:lnTo>
                    <a:pt x="759" y="911"/>
                  </a:lnTo>
                  <a:lnTo>
                    <a:pt x="752" y="902"/>
                  </a:lnTo>
                  <a:lnTo>
                    <a:pt x="746" y="892"/>
                  </a:lnTo>
                  <a:lnTo>
                    <a:pt x="741" y="883"/>
                  </a:lnTo>
                  <a:lnTo>
                    <a:pt x="737" y="873"/>
                  </a:lnTo>
                  <a:lnTo>
                    <a:pt x="733" y="863"/>
                  </a:lnTo>
                  <a:lnTo>
                    <a:pt x="730" y="853"/>
                  </a:lnTo>
                  <a:lnTo>
                    <a:pt x="728" y="844"/>
                  </a:lnTo>
                  <a:lnTo>
                    <a:pt x="726" y="835"/>
                  </a:lnTo>
                  <a:lnTo>
                    <a:pt x="725" y="826"/>
                  </a:lnTo>
                  <a:lnTo>
                    <a:pt x="725" y="816"/>
                  </a:lnTo>
                  <a:lnTo>
                    <a:pt x="725" y="801"/>
                  </a:lnTo>
                  <a:lnTo>
                    <a:pt x="726" y="787"/>
                  </a:lnTo>
                  <a:lnTo>
                    <a:pt x="728" y="774"/>
                  </a:lnTo>
                  <a:lnTo>
                    <a:pt x="731" y="761"/>
                  </a:lnTo>
                  <a:lnTo>
                    <a:pt x="734" y="750"/>
                  </a:lnTo>
                  <a:lnTo>
                    <a:pt x="739" y="740"/>
                  </a:lnTo>
                  <a:lnTo>
                    <a:pt x="744" y="731"/>
                  </a:lnTo>
                  <a:lnTo>
                    <a:pt x="749" y="723"/>
                  </a:lnTo>
                  <a:lnTo>
                    <a:pt x="759" y="712"/>
                  </a:lnTo>
                  <a:lnTo>
                    <a:pt x="745" y="713"/>
                  </a:lnTo>
                  <a:lnTo>
                    <a:pt x="714" y="716"/>
                  </a:lnTo>
                  <a:lnTo>
                    <a:pt x="682" y="720"/>
                  </a:lnTo>
                  <a:lnTo>
                    <a:pt x="650" y="723"/>
                  </a:lnTo>
                  <a:lnTo>
                    <a:pt x="619" y="727"/>
                  </a:lnTo>
                  <a:lnTo>
                    <a:pt x="586" y="731"/>
                  </a:lnTo>
                  <a:lnTo>
                    <a:pt x="555" y="735"/>
                  </a:lnTo>
                  <a:lnTo>
                    <a:pt x="523" y="740"/>
                  </a:lnTo>
                  <a:lnTo>
                    <a:pt x="491" y="745"/>
                  </a:lnTo>
                  <a:lnTo>
                    <a:pt x="487" y="745"/>
                  </a:lnTo>
                  <a:lnTo>
                    <a:pt x="487" y="749"/>
                  </a:lnTo>
                  <a:lnTo>
                    <a:pt x="478" y="795"/>
                  </a:lnTo>
                  <a:lnTo>
                    <a:pt x="470" y="841"/>
                  </a:lnTo>
                  <a:lnTo>
                    <a:pt x="462" y="886"/>
                  </a:lnTo>
                  <a:lnTo>
                    <a:pt x="455" y="931"/>
                  </a:lnTo>
                  <a:lnTo>
                    <a:pt x="448" y="976"/>
                  </a:lnTo>
                  <a:lnTo>
                    <a:pt x="443" y="1019"/>
                  </a:lnTo>
                  <a:lnTo>
                    <a:pt x="439" y="1061"/>
                  </a:lnTo>
                  <a:lnTo>
                    <a:pt x="435" y="1103"/>
                  </a:lnTo>
                  <a:lnTo>
                    <a:pt x="432" y="1143"/>
                  </a:lnTo>
                  <a:lnTo>
                    <a:pt x="429" y="1183"/>
                  </a:lnTo>
                  <a:lnTo>
                    <a:pt x="428" y="1221"/>
                  </a:lnTo>
                  <a:lnTo>
                    <a:pt x="427" y="1256"/>
                  </a:lnTo>
                  <a:lnTo>
                    <a:pt x="427" y="1291"/>
                  </a:lnTo>
                  <a:lnTo>
                    <a:pt x="428" y="1323"/>
                  </a:lnTo>
                  <a:lnTo>
                    <a:pt x="429" y="1353"/>
                  </a:lnTo>
                  <a:lnTo>
                    <a:pt x="432" y="1382"/>
                  </a:lnTo>
                  <a:lnTo>
                    <a:pt x="432" y="1391"/>
                  </a:lnTo>
                  <a:lnTo>
                    <a:pt x="431" y="1398"/>
                  </a:lnTo>
                  <a:lnTo>
                    <a:pt x="429" y="1405"/>
                  </a:lnTo>
                  <a:lnTo>
                    <a:pt x="426" y="1411"/>
                  </a:lnTo>
                  <a:lnTo>
                    <a:pt x="423" y="1414"/>
                  </a:lnTo>
                  <a:lnTo>
                    <a:pt x="420" y="1416"/>
                  </a:lnTo>
                  <a:lnTo>
                    <a:pt x="416" y="1418"/>
                  </a:lnTo>
                  <a:lnTo>
                    <a:pt x="413" y="1419"/>
                  </a:lnTo>
                  <a:lnTo>
                    <a:pt x="406" y="1420"/>
                  </a:lnTo>
                  <a:lnTo>
                    <a:pt x="398" y="1421"/>
                  </a:lnTo>
                  <a:lnTo>
                    <a:pt x="388" y="1420"/>
                  </a:lnTo>
                  <a:lnTo>
                    <a:pt x="378" y="1418"/>
                  </a:lnTo>
                  <a:lnTo>
                    <a:pt x="368" y="1414"/>
                  </a:lnTo>
                  <a:lnTo>
                    <a:pt x="359" y="1409"/>
                  </a:lnTo>
                  <a:lnTo>
                    <a:pt x="352" y="1403"/>
                  </a:lnTo>
                  <a:lnTo>
                    <a:pt x="344" y="1397"/>
                  </a:lnTo>
                  <a:lnTo>
                    <a:pt x="337" y="1390"/>
                  </a:lnTo>
                  <a:lnTo>
                    <a:pt x="331" y="1381"/>
                  </a:lnTo>
                  <a:lnTo>
                    <a:pt x="325" y="1372"/>
                  </a:lnTo>
                  <a:lnTo>
                    <a:pt x="319" y="1362"/>
                  </a:lnTo>
                  <a:lnTo>
                    <a:pt x="314" y="1349"/>
                  </a:lnTo>
                  <a:lnTo>
                    <a:pt x="310" y="1337"/>
                  </a:lnTo>
                  <a:lnTo>
                    <a:pt x="306" y="1323"/>
                  </a:lnTo>
                  <a:lnTo>
                    <a:pt x="302" y="1307"/>
                  </a:lnTo>
                  <a:lnTo>
                    <a:pt x="298" y="1292"/>
                  </a:lnTo>
                  <a:lnTo>
                    <a:pt x="295" y="1275"/>
                  </a:lnTo>
                  <a:lnTo>
                    <a:pt x="293" y="1256"/>
                  </a:lnTo>
                  <a:lnTo>
                    <a:pt x="291" y="1237"/>
                  </a:lnTo>
                  <a:lnTo>
                    <a:pt x="289" y="1217"/>
                  </a:lnTo>
                  <a:lnTo>
                    <a:pt x="288" y="1195"/>
                  </a:lnTo>
                  <a:lnTo>
                    <a:pt x="287" y="1154"/>
                  </a:lnTo>
                  <a:lnTo>
                    <a:pt x="288" y="1109"/>
                  </a:lnTo>
                  <a:lnTo>
                    <a:pt x="290" y="1060"/>
                  </a:lnTo>
                  <a:lnTo>
                    <a:pt x="294" y="1009"/>
                  </a:lnTo>
                  <a:lnTo>
                    <a:pt x="298" y="955"/>
                  </a:lnTo>
                  <a:lnTo>
                    <a:pt x="306" y="900"/>
                  </a:lnTo>
                  <a:lnTo>
                    <a:pt x="313" y="843"/>
                  </a:lnTo>
                  <a:lnTo>
                    <a:pt x="322" y="786"/>
                  </a:lnTo>
                  <a:lnTo>
                    <a:pt x="323" y="777"/>
                  </a:lnTo>
                  <a:lnTo>
                    <a:pt x="315" y="779"/>
                  </a:lnTo>
                  <a:lnTo>
                    <a:pt x="267" y="791"/>
                  </a:lnTo>
                  <a:lnTo>
                    <a:pt x="226" y="803"/>
                  </a:lnTo>
                  <a:lnTo>
                    <a:pt x="209" y="809"/>
                  </a:lnTo>
                  <a:lnTo>
                    <a:pt x="193" y="815"/>
                  </a:lnTo>
                  <a:lnTo>
                    <a:pt x="180" y="822"/>
                  </a:lnTo>
                  <a:lnTo>
                    <a:pt x="168" y="827"/>
                  </a:lnTo>
                  <a:lnTo>
                    <a:pt x="161" y="831"/>
                  </a:lnTo>
                  <a:lnTo>
                    <a:pt x="154" y="834"/>
                  </a:lnTo>
                  <a:lnTo>
                    <a:pt x="147" y="836"/>
                  </a:lnTo>
                  <a:lnTo>
                    <a:pt x="139" y="838"/>
                  </a:lnTo>
                  <a:lnTo>
                    <a:pt x="132" y="839"/>
                  </a:lnTo>
                  <a:lnTo>
                    <a:pt x="125" y="840"/>
                  </a:lnTo>
                  <a:lnTo>
                    <a:pt x="117" y="840"/>
                  </a:lnTo>
                  <a:lnTo>
                    <a:pt x="110" y="839"/>
                  </a:lnTo>
                  <a:lnTo>
                    <a:pt x="102" y="838"/>
                  </a:lnTo>
                  <a:lnTo>
                    <a:pt x="94" y="836"/>
                  </a:lnTo>
                  <a:lnTo>
                    <a:pt x="86" y="834"/>
                  </a:lnTo>
                  <a:lnTo>
                    <a:pt x="78" y="830"/>
                  </a:lnTo>
                  <a:lnTo>
                    <a:pt x="62" y="822"/>
                  </a:lnTo>
                  <a:lnTo>
                    <a:pt x="45" y="811"/>
                  </a:lnTo>
                  <a:lnTo>
                    <a:pt x="33" y="803"/>
                  </a:lnTo>
                  <a:lnTo>
                    <a:pt x="24" y="796"/>
                  </a:lnTo>
                  <a:lnTo>
                    <a:pt x="16" y="789"/>
                  </a:lnTo>
                  <a:lnTo>
                    <a:pt x="10" y="782"/>
                  </a:lnTo>
                  <a:lnTo>
                    <a:pt x="5" y="775"/>
                  </a:lnTo>
                  <a:lnTo>
                    <a:pt x="2" y="768"/>
                  </a:lnTo>
                  <a:lnTo>
                    <a:pt x="0" y="762"/>
                  </a:lnTo>
                  <a:lnTo>
                    <a:pt x="0" y="756"/>
                  </a:lnTo>
                  <a:lnTo>
                    <a:pt x="0" y="752"/>
                  </a:lnTo>
                  <a:lnTo>
                    <a:pt x="2" y="748"/>
                  </a:lnTo>
                  <a:lnTo>
                    <a:pt x="5" y="744"/>
                  </a:lnTo>
                  <a:lnTo>
                    <a:pt x="8" y="740"/>
                  </a:lnTo>
                  <a:lnTo>
                    <a:pt x="13" y="736"/>
                  </a:lnTo>
                  <a:lnTo>
                    <a:pt x="18" y="733"/>
                  </a:lnTo>
                  <a:lnTo>
                    <a:pt x="24" y="729"/>
                  </a:lnTo>
                  <a:lnTo>
                    <a:pt x="31" y="726"/>
                  </a:lnTo>
                  <a:lnTo>
                    <a:pt x="62" y="713"/>
                  </a:lnTo>
                  <a:lnTo>
                    <a:pt x="94" y="701"/>
                  </a:lnTo>
                  <a:lnTo>
                    <a:pt x="129" y="691"/>
                  </a:lnTo>
                  <a:lnTo>
                    <a:pt x="167" y="681"/>
                  </a:lnTo>
                  <a:lnTo>
                    <a:pt x="208" y="672"/>
                  </a:lnTo>
                  <a:lnTo>
                    <a:pt x="251" y="663"/>
                  </a:lnTo>
                  <a:lnTo>
                    <a:pt x="295" y="656"/>
                  </a:lnTo>
                  <a:lnTo>
                    <a:pt x="343" y="649"/>
                  </a:lnTo>
                  <a:lnTo>
                    <a:pt x="347" y="649"/>
                  </a:lnTo>
                  <a:lnTo>
                    <a:pt x="348" y="645"/>
                  </a:lnTo>
                  <a:lnTo>
                    <a:pt x="364" y="577"/>
                  </a:lnTo>
                  <a:lnTo>
                    <a:pt x="383" y="503"/>
                  </a:lnTo>
                  <a:lnTo>
                    <a:pt x="393" y="465"/>
                  </a:lnTo>
                  <a:lnTo>
                    <a:pt x="406" y="428"/>
                  </a:lnTo>
                  <a:lnTo>
                    <a:pt x="418" y="389"/>
                  </a:lnTo>
                  <a:lnTo>
                    <a:pt x="431" y="350"/>
                  </a:lnTo>
                  <a:lnTo>
                    <a:pt x="445" y="311"/>
                  </a:lnTo>
                  <a:lnTo>
                    <a:pt x="462" y="272"/>
                  </a:lnTo>
                  <a:lnTo>
                    <a:pt x="478" y="235"/>
                  </a:lnTo>
                  <a:lnTo>
                    <a:pt x="495" y="198"/>
                  </a:lnTo>
                  <a:lnTo>
                    <a:pt x="514" y="162"/>
                  </a:lnTo>
                  <a:lnTo>
                    <a:pt x="533" y="126"/>
                  </a:lnTo>
                  <a:lnTo>
                    <a:pt x="555" y="93"/>
                  </a:lnTo>
                  <a:lnTo>
                    <a:pt x="576" y="61"/>
                  </a:lnTo>
                  <a:lnTo>
                    <a:pt x="588" y="47"/>
                  </a:lnTo>
                  <a:lnTo>
                    <a:pt x="599" y="34"/>
                  </a:lnTo>
                  <a:lnTo>
                    <a:pt x="613" y="23"/>
                  </a:lnTo>
                  <a:lnTo>
                    <a:pt x="626" y="15"/>
                  </a:lnTo>
                  <a:lnTo>
                    <a:pt x="639" y="8"/>
                  </a:lnTo>
                  <a:lnTo>
                    <a:pt x="653" y="3"/>
                  </a:lnTo>
                  <a:lnTo>
                    <a:pt x="669" y="1"/>
                  </a:lnTo>
                  <a:lnTo>
                    <a:pt x="684" y="0"/>
                  </a:lnTo>
                  <a:lnTo>
                    <a:pt x="695" y="0"/>
                  </a:lnTo>
                  <a:lnTo>
                    <a:pt x="708" y="2"/>
                  </a:lnTo>
                  <a:lnTo>
                    <a:pt x="719" y="4"/>
                  </a:lnTo>
                  <a:lnTo>
                    <a:pt x="732" y="7"/>
                  </a:lnTo>
                  <a:lnTo>
                    <a:pt x="744" y="11"/>
                  </a:lnTo>
                  <a:lnTo>
                    <a:pt x="757" y="16"/>
                  </a:lnTo>
                  <a:lnTo>
                    <a:pt x="771" y="22"/>
                  </a:lnTo>
                  <a:lnTo>
                    <a:pt x="785" y="29"/>
                  </a:lnTo>
                  <a:lnTo>
                    <a:pt x="799" y="37"/>
                  </a:lnTo>
                  <a:lnTo>
                    <a:pt x="813" y="47"/>
                  </a:lnTo>
                  <a:lnTo>
                    <a:pt x="825" y="58"/>
                  </a:lnTo>
                  <a:lnTo>
                    <a:pt x="835" y="70"/>
                  </a:lnTo>
                  <a:lnTo>
                    <a:pt x="844" y="83"/>
                  </a:lnTo>
                  <a:lnTo>
                    <a:pt x="852" y="97"/>
                  </a:lnTo>
                  <a:lnTo>
                    <a:pt x="858" y="111"/>
                  </a:lnTo>
                  <a:lnTo>
                    <a:pt x="863" y="126"/>
                  </a:lnTo>
                  <a:lnTo>
                    <a:pt x="865" y="138"/>
                  </a:lnTo>
                  <a:lnTo>
                    <a:pt x="866" y="149"/>
                  </a:lnTo>
                  <a:lnTo>
                    <a:pt x="866" y="159"/>
                  </a:lnTo>
                  <a:lnTo>
                    <a:pt x="865" y="169"/>
                  </a:lnTo>
                  <a:lnTo>
                    <a:pt x="864" y="180"/>
                  </a:lnTo>
                  <a:lnTo>
                    <a:pt x="861" y="188"/>
                  </a:lnTo>
                  <a:lnTo>
                    <a:pt x="856" y="196"/>
                  </a:lnTo>
                  <a:lnTo>
                    <a:pt x="852" y="204"/>
                  </a:lnTo>
                  <a:lnTo>
                    <a:pt x="844" y="213"/>
                  </a:lnTo>
                  <a:lnTo>
                    <a:pt x="836" y="219"/>
                  </a:lnTo>
                  <a:lnTo>
                    <a:pt x="832" y="222"/>
                  </a:lnTo>
                  <a:lnTo>
                    <a:pt x="828" y="223"/>
                  </a:lnTo>
                  <a:lnTo>
                    <a:pt x="824" y="224"/>
                  </a:lnTo>
                  <a:lnTo>
                    <a:pt x="820" y="226"/>
                  </a:lnTo>
                  <a:lnTo>
                    <a:pt x="817" y="224"/>
                  </a:lnTo>
                  <a:lnTo>
                    <a:pt x="813" y="223"/>
                  </a:lnTo>
                  <a:lnTo>
                    <a:pt x="810" y="222"/>
                  </a:lnTo>
                  <a:lnTo>
                    <a:pt x="807" y="220"/>
                  </a:lnTo>
                  <a:lnTo>
                    <a:pt x="802" y="215"/>
                  </a:lnTo>
                  <a:lnTo>
                    <a:pt x="799" y="209"/>
                  </a:lnTo>
                  <a:lnTo>
                    <a:pt x="792" y="195"/>
                  </a:lnTo>
                  <a:lnTo>
                    <a:pt x="785" y="184"/>
                  </a:lnTo>
                  <a:lnTo>
                    <a:pt x="778" y="172"/>
                  </a:lnTo>
                  <a:lnTo>
                    <a:pt x="770" y="164"/>
                  </a:lnTo>
                  <a:lnTo>
                    <a:pt x="761" y="158"/>
                  </a:lnTo>
                  <a:lnTo>
                    <a:pt x="751" y="153"/>
                  </a:lnTo>
                  <a:lnTo>
                    <a:pt x="741" y="150"/>
                  </a:lnTo>
                  <a:lnTo>
                    <a:pt x="731" y="149"/>
                  </a:lnTo>
                  <a:lnTo>
                    <a:pt x="728" y="149"/>
                  </a:lnTo>
                  <a:lnTo>
                    <a:pt x="725" y="150"/>
                  </a:lnTo>
                  <a:lnTo>
                    <a:pt x="715" y="152"/>
                  </a:lnTo>
                  <a:lnTo>
                    <a:pt x="705" y="155"/>
                  </a:lnTo>
                  <a:lnTo>
                    <a:pt x="697" y="160"/>
                  </a:lnTo>
                  <a:lnTo>
                    <a:pt x="689" y="166"/>
                  </a:lnTo>
                  <a:lnTo>
                    <a:pt x="682" y="174"/>
                  </a:lnTo>
                  <a:lnTo>
                    <a:pt x="675" y="185"/>
                  </a:lnTo>
                  <a:lnTo>
                    <a:pt x="668" y="196"/>
                  </a:lnTo>
                  <a:lnTo>
                    <a:pt x="660" y="210"/>
                  </a:lnTo>
                  <a:lnTo>
                    <a:pt x="650" y="229"/>
                  </a:lnTo>
                  <a:lnTo>
                    <a:pt x="640" y="249"/>
                  </a:lnTo>
                  <a:lnTo>
                    <a:pt x="630" y="270"/>
                  </a:lnTo>
                  <a:lnTo>
                    <a:pt x="621" y="292"/>
                  </a:lnTo>
                  <a:lnTo>
                    <a:pt x="601" y="339"/>
                  </a:lnTo>
                  <a:lnTo>
                    <a:pt x="583" y="390"/>
                  </a:lnTo>
                  <a:lnTo>
                    <a:pt x="565" y="444"/>
                  </a:lnTo>
                  <a:lnTo>
                    <a:pt x="547" y="502"/>
                  </a:lnTo>
                  <a:lnTo>
                    <a:pt x="530" y="562"/>
                  </a:lnTo>
                  <a:lnTo>
                    <a:pt x="514" y="627"/>
                  </a:lnTo>
                  <a:lnTo>
                    <a:pt x="512" y="634"/>
                  </a:lnTo>
                  <a:lnTo>
                    <a:pt x="520" y="634"/>
                  </a:lnTo>
                  <a:lnTo>
                    <a:pt x="551" y="632"/>
                  </a:lnTo>
                  <a:lnTo>
                    <a:pt x="584" y="630"/>
                  </a:lnTo>
                  <a:lnTo>
                    <a:pt x="618" y="629"/>
                  </a:lnTo>
                  <a:lnTo>
                    <a:pt x="652" y="628"/>
                  </a:lnTo>
                  <a:lnTo>
                    <a:pt x="688" y="627"/>
                  </a:lnTo>
                  <a:lnTo>
                    <a:pt x="724" y="627"/>
                  </a:lnTo>
                  <a:lnTo>
                    <a:pt x="761" y="626"/>
                  </a:lnTo>
                  <a:lnTo>
                    <a:pt x="798" y="626"/>
                  </a:lnTo>
                  <a:lnTo>
                    <a:pt x="821" y="626"/>
                  </a:lnTo>
                  <a:lnTo>
                    <a:pt x="843" y="626"/>
                  </a:lnTo>
                  <a:lnTo>
                    <a:pt x="867" y="627"/>
                  </a:lnTo>
                  <a:lnTo>
                    <a:pt x="889" y="627"/>
                  </a:lnTo>
                  <a:lnTo>
                    <a:pt x="892" y="627"/>
                  </a:lnTo>
                  <a:lnTo>
                    <a:pt x="893" y="625"/>
                  </a:lnTo>
                  <a:lnTo>
                    <a:pt x="909" y="610"/>
                  </a:lnTo>
                  <a:lnTo>
                    <a:pt x="926" y="598"/>
                  </a:lnTo>
                  <a:lnTo>
                    <a:pt x="943" y="587"/>
                  </a:lnTo>
                  <a:lnTo>
                    <a:pt x="961" y="578"/>
                  </a:lnTo>
                  <a:lnTo>
                    <a:pt x="980" y="570"/>
                  </a:lnTo>
                  <a:lnTo>
                    <a:pt x="998" y="565"/>
                  </a:lnTo>
                  <a:lnTo>
                    <a:pt x="1007" y="563"/>
                  </a:lnTo>
                  <a:lnTo>
                    <a:pt x="1018" y="562"/>
                  </a:lnTo>
                  <a:lnTo>
                    <a:pt x="1027" y="561"/>
                  </a:lnTo>
                  <a:lnTo>
                    <a:pt x="1036" y="561"/>
                  </a:lnTo>
                  <a:lnTo>
                    <a:pt x="1095" y="622"/>
                  </a:lnTo>
                  <a:lnTo>
                    <a:pt x="1056" y="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5" name="Freeform 45"/>
            <p:cNvSpPr>
              <a:spLocks/>
            </p:cNvSpPr>
            <p:nvPr userDrawn="1"/>
          </p:nvSpPr>
          <p:spPr bwMode="auto">
            <a:xfrm>
              <a:off x="6462" y="602"/>
              <a:ext cx="36" cy="42"/>
            </a:xfrm>
            <a:custGeom>
              <a:avLst/>
              <a:gdLst>
                <a:gd name="T0" fmla="*/ 212 w 427"/>
                <a:gd name="T1" fmla="*/ 377 h 496"/>
                <a:gd name="T2" fmla="*/ 201 w 427"/>
                <a:gd name="T3" fmla="*/ 371 h 496"/>
                <a:gd name="T4" fmla="*/ 196 w 427"/>
                <a:gd name="T5" fmla="*/ 364 h 496"/>
                <a:gd name="T6" fmla="*/ 193 w 427"/>
                <a:gd name="T7" fmla="*/ 355 h 496"/>
                <a:gd name="T8" fmla="*/ 192 w 427"/>
                <a:gd name="T9" fmla="*/ 345 h 496"/>
                <a:gd name="T10" fmla="*/ 193 w 427"/>
                <a:gd name="T11" fmla="*/ 333 h 496"/>
                <a:gd name="T12" fmla="*/ 199 w 427"/>
                <a:gd name="T13" fmla="*/ 315 h 496"/>
                <a:gd name="T14" fmla="*/ 213 w 427"/>
                <a:gd name="T15" fmla="*/ 286 h 496"/>
                <a:gd name="T16" fmla="*/ 235 w 427"/>
                <a:gd name="T17" fmla="*/ 250 h 496"/>
                <a:gd name="T18" fmla="*/ 260 w 427"/>
                <a:gd name="T19" fmla="*/ 212 h 496"/>
                <a:gd name="T20" fmla="*/ 289 w 427"/>
                <a:gd name="T21" fmla="*/ 174 h 496"/>
                <a:gd name="T22" fmla="*/ 318 w 427"/>
                <a:gd name="T23" fmla="*/ 142 h 496"/>
                <a:gd name="T24" fmla="*/ 346 w 427"/>
                <a:gd name="T25" fmla="*/ 116 h 496"/>
                <a:gd name="T26" fmla="*/ 365 w 427"/>
                <a:gd name="T27" fmla="*/ 104 h 496"/>
                <a:gd name="T28" fmla="*/ 377 w 427"/>
                <a:gd name="T29" fmla="*/ 101 h 496"/>
                <a:gd name="T30" fmla="*/ 427 w 427"/>
                <a:gd name="T31" fmla="*/ 50 h 496"/>
                <a:gd name="T32" fmla="*/ 359 w 427"/>
                <a:gd name="T33" fmla="*/ 1 h 496"/>
                <a:gd name="T34" fmla="*/ 331 w 427"/>
                <a:gd name="T35" fmla="*/ 6 h 496"/>
                <a:gd name="T36" fmla="*/ 301 w 427"/>
                <a:gd name="T37" fmla="*/ 17 h 496"/>
                <a:gd name="T38" fmla="*/ 272 w 427"/>
                <a:gd name="T39" fmla="*/ 31 h 496"/>
                <a:gd name="T40" fmla="*/ 241 w 427"/>
                <a:gd name="T41" fmla="*/ 50 h 496"/>
                <a:gd name="T42" fmla="*/ 210 w 427"/>
                <a:gd name="T43" fmla="*/ 72 h 496"/>
                <a:gd name="T44" fmla="*/ 167 w 427"/>
                <a:gd name="T45" fmla="*/ 109 h 496"/>
                <a:gd name="T46" fmla="*/ 112 w 427"/>
                <a:gd name="T47" fmla="*/ 165 h 496"/>
                <a:gd name="T48" fmla="*/ 66 w 427"/>
                <a:gd name="T49" fmla="*/ 222 h 496"/>
                <a:gd name="T50" fmla="*/ 37 w 427"/>
                <a:gd name="T51" fmla="*/ 264 h 496"/>
                <a:gd name="T52" fmla="*/ 22 w 427"/>
                <a:gd name="T53" fmla="*/ 291 h 496"/>
                <a:gd name="T54" fmla="*/ 10 w 427"/>
                <a:gd name="T55" fmla="*/ 315 h 496"/>
                <a:gd name="T56" fmla="*/ 3 w 427"/>
                <a:gd name="T57" fmla="*/ 337 h 496"/>
                <a:gd name="T58" fmla="*/ 0 w 427"/>
                <a:gd name="T59" fmla="*/ 356 h 496"/>
                <a:gd name="T60" fmla="*/ 1 w 427"/>
                <a:gd name="T61" fmla="*/ 374 h 496"/>
                <a:gd name="T62" fmla="*/ 7 w 427"/>
                <a:gd name="T63" fmla="*/ 394 h 496"/>
                <a:gd name="T64" fmla="*/ 19 w 427"/>
                <a:gd name="T65" fmla="*/ 412 h 496"/>
                <a:gd name="T66" fmla="*/ 33 w 427"/>
                <a:gd name="T67" fmla="*/ 429 h 496"/>
                <a:gd name="T68" fmla="*/ 51 w 427"/>
                <a:gd name="T69" fmla="*/ 445 h 496"/>
                <a:gd name="T70" fmla="*/ 72 w 427"/>
                <a:gd name="T71" fmla="*/ 459 h 496"/>
                <a:gd name="T72" fmla="*/ 94 w 427"/>
                <a:gd name="T73" fmla="*/ 471 h 496"/>
                <a:gd name="T74" fmla="*/ 119 w 427"/>
                <a:gd name="T75" fmla="*/ 482 h 496"/>
                <a:gd name="T76" fmla="*/ 144 w 427"/>
                <a:gd name="T77" fmla="*/ 490 h 496"/>
                <a:gd name="T78" fmla="*/ 169 w 427"/>
                <a:gd name="T79" fmla="*/ 494 h 496"/>
                <a:gd name="T80" fmla="*/ 193 w 427"/>
                <a:gd name="T81" fmla="*/ 496 h 496"/>
                <a:gd name="T82" fmla="*/ 262 w 427"/>
                <a:gd name="T83" fmla="*/ 437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" h="496">
                  <a:moveTo>
                    <a:pt x="222" y="377"/>
                  </a:moveTo>
                  <a:lnTo>
                    <a:pt x="212" y="377"/>
                  </a:lnTo>
                  <a:lnTo>
                    <a:pt x="206" y="374"/>
                  </a:lnTo>
                  <a:lnTo>
                    <a:pt x="201" y="371"/>
                  </a:lnTo>
                  <a:lnTo>
                    <a:pt x="198" y="367"/>
                  </a:lnTo>
                  <a:lnTo>
                    <a:pt x="196" y="364"/>
                  </a:lnTo>
                  <a:lnTo>
                    <a:pt x="194" y="359"/>
                  </a:lnTo>
                  <a:lnTo>
                    <a:pt x="193" y="355"/>
                  </a:lnTo>
                  <a:lnTo>
                    <a:pt x="192" y="350"/>
                  </a:lnTo>
                  <a:lnTo>
                    <a:pt x="192" y="345"/>
                  </a:lnTo>
                  <a:lnTo>
                    <a:pt x="192" y="339"/>
                  </a:lnTo>
                  <a:lnTo>
                    <a:pt x="193" y="333"/>
                  </a:lnTo>
                  <a:lnTo>
                    <a:pt x="195" y="326"/>
                  </a:lnTo>
                  <a:lnTo>
                    <a:pt x="199" y="315"/>
                  </a:lnTo>
                  <a:lnTo>
                    <a:pt x="205" y="302"/>
                  </a:lnTo>
                  <a:lnTo>
                    <a:pt x="213" y="286"/>
                  </a:lnTo>
                  <a:lnTo>
                    <a:pt x="224" y="268"/>
                  </a:lnTo>
                  <a:lnTo>
                    <a:pt x="235" y="250"/>
                  </a:lnTo>
                  <a:lnTo>
                    <a:pt x="247" y="231"/>
                  </a:lnTo>
                  <a:lnTo>
                    <a:pt x="260" y="212"/>
                  </a:lnTo>
                  <a:lnTo>
                    <a:pt x="275" y="193"/>
                  </a:lnTo>
                  <a:lnTo>
                    <a:pt x="289" y="174"/>
                  </a:lnTo>
                  <a:lnTo>
                    <a:pt x="303" y="157"/>
                  </a:lnTo>
                  <a:lnTo>
                    <a:pt x="318" y="142"/>
                  </a:lnTo>
                  <a:lnTo>
                    <a:pt x="333" y="127"/>
                  </a:lnTo>
                  <a:lnTo>
                    <a:pt x="346" y="116"/>
                  </a:lnTo>
                  <a:lnTo>
                    <a:pt x="359" y="107"/>
                  </a:lnTo>
                  <a:lnTo>
                    <a:pt x="365" y="104"/>
                  </a:lnTo>
                  <a:lnTo>
                    <a:pt x="372" y="102"/>
                  </a:lnTo>
                  <a:lnTo>
                    <a:pt x="377" y="101"/>
                  </a:lnTo>
                  <a:lnTo>
                    <a:pt x="383" y="100"/>
                  </a:lnTo>
                  <a:lnTo>
                    <a:pt x="427" y="50"/>
                  </a:lnTo>
                  <a:lnTo>
                    <a:pt x="373" y="0"/>
                  </a:lnTo>
                  <a:lnTo>
                    <a:pt x="359" y="1"/>
                  </a:lnTo>
                  <a:lnTo>
                    <a:pt x="345" y="3"/>
                  </a:lnTo>
                  <a:lnTo>
                    <a:pt x="331" y="6"/>
                  </a:lnTo>
                  <a:lnTo>
                    <a:pt x="316" y="11"/>
                  </a:lnTo>
                  <a:lnTo>
                    <a:pt x="301" y="17"/>
                  </a:lnTo>
                  <a:lnTo>
                    <a:pt x="286" y="23"/>
                  </a:lnTo>
                  <a:lnTo>
                    <a:pt x="272" y="31"/>
                  </a:lnTo>
                  <a:lnTo>
                    <a:pt x="256" y="41"/>
                  </a:lnTo>
                  <a:lnTo>
                    <a:pt x="241" y="50"/>
                  </a:lnTo>
                  <a:lnTo>
                    <a:pt x="226" y="61"/>
                  </a:lnTo>
                  <a:lnTo>
                    <a:pt x="210" y="72"/>
                  </a:lnTo>
                  <a:lnTo>
                    <a:pt x="196" y="83"/>
                  </a:lnTo>
                  <a:lnTo>
                    <a:pt x="167" y="109"/>
                  </a:lnTo>
                  <a:lnTo>
                    <a:pt x="139" y="137"/>
                  </a:lnTo>
                  <a:lnTo>
                    <a:pt x="112" y="165"/>
                  </a:lnTo>
                  <a:lnTo>
                    <a:pt x="88" y="194"/>
                  </a:lnTo>
                  <a:lnTo>
                    <a:pt x="66" y="222"/>
                  </a:lnTo>
                  <a:lnTo>
                    <a:pt x="45" y="251"/>
                  </a:lnTo>
                  <a:lnTo>
                    <a:pt x="37" y="264"/>
                  </a:lnTo>
                  <a:lnTo>
                    <a:pt x="29" y="278"/>
                  </a:lnTo>
                  <a:lnTo>
                    <a:pt x="22" y="291"/>
                  </a:lnTo>
                  <a:lnTo>
                    <a:pt x="16" y="303"/>
                  </a:lnTo>
                  <a:lnTo>
                    <a:pt x="10" y="315"/>
                  </a:lnTo>
                  <a:lnTo>
                    <a:pt x="6" y="326"/>
                  </a:lnTo>
                  <a:lnTo>
                    <a:pt x="3" y="337"/>
                  </a:lnTo>
                  <a:lnTo>
                    <a:pt x="1" y="346"/>
                  </a:lnTo>
                  <a:lnTo>
                    <a:pt x="0" y="356"/>
                  </a:lnTo>
                  <a:lnTo>
                    <a:pt x="0" y="365"/>
                  </a:lnTo>
                  <a:lnTo>
                    <a:pt x="1" y="374"/>
                  </a:lnTo>
                  <a:lnTo>
                    <a:pt x="4" y="385"/>
                  </a:lnTo>
                  <a:lnTo>
                    <a:pt x="7" y="394"/>
                  </a:lnTo>
                  <a:lnTo>
                    <a:pt x="13" y="403"/>
                  </a:lnTo>
                  <a:lnTo>
                    <a:pt x="19" y="412"/>
                  </a:lnTo>
                  <a:lnTo>
                    <a:pt x="26" y="420"/>
                  </a:lnTo>
                  <a:lnTo>
                    <a:pt x="33" y="429"/>
                  </a:lnTo>
                  <a:lnTo>
                    <a:pt x="42" y="437"/>
                  </a:lnTo>
                  <a:lnTo>
                    <a:pt x="51" y="445"/>
                  </a:lnTo>
                  <a:lnTo>
                    <a:pt x="61" y="452"/>
                  </a:lnTo>
                  <a:lnTo>
                    <a:pt x="72" y="459"/>
                  </a:lnTo>
                  <a:lnTo>
                    <a:pt x="83" y="465"/>
                  </a:lnTo>
                  <a:lnTo>
                    <a:pt x="94" y="471"/>
                  </a:lnTo>
                  <a:lnTo>
                    <a:pt x="106" y="476"/>
                  </a:lnTo>
                  <a:lnTo>
                    <a:pt x="119" y="482"/>
                  </a:lnTo>
                  <a:lnTo>
                    <a:pt x="131" y="486"/>
                  </a:lnTo>
                  <a:lnTo>
                    <a:pt x="144" y="490"/>
                  </a:lnTo>
                  <a:lnTo>
                    <a:pt x="156" y="492"/>
                  </a:lnTo>
                  <a:lnTo>
                    <a:pt x="169" y="494"/>
                  </a:lnTo>
                  <a:lnTo>
                    <a:pt x="181" y="496"/>
                  </a:lnTo>
                  <a:lnTo>
                    <a:pt x="193" y="496"/>
                  </a:lnTo>
                  <a:lnTo>
                    <a:pt x="204" y="496"/>
                  </a:lnTo>
                  <a:lnTo>
                    <a:pt x="262" y="437"/>
                  </a:lnTo>
                  <a:lnTo>
                    <a:pt x="222" y="3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6" name="Freeform 46"/>
            <p:cNvSpPr>
              <a:spLocks/>
            </p:cNvSpPr>
            <p:nvPr userDrawn="1"/>
          </p:nvSpPr>
          <p:spPr bwMode="auto">
            <a:xfrm>
              <a:off x="7208" y="606"/>
              <a:ext cx="34" cy="28"/>
            </a:xfrm>
            <a:custGeom>
              <a:avLst/>
              <a:gdLst>
                <a:gd name="T0" fmla="*/ 217 w 410"/>
                <a:gd name="T1" fmla="*/ 96 h 335"/>
                <a:gd name="T2" fmla="*/ 233 w 410"/>
                <a:gd name="T3" fmla="*/ 100 h 335"/>
                <a:gd name="T4" fmla="*/ 248 w 410"/>
                <a:gd name="T5" fmla="*/ 107 h 335"/>
                <a:gd name="T6" fmla="*/ 258 w 410"/>
                <a:gd name="T7" fmla="*/ 117 h 335"/>
                <a:gd name="T8" fmla="*/ 264 w 410"/>
                <a:gd name="T9" fmla="*/ 129 h 335"/>
                <a:gd name="T10" fmla="*/ 265 w 410"/>
                <a:gd name="T11" fmla="*/ 141 h 335"/>
                <a:gd name="T12" fmla="*/ 263 w 410"/>
                <a:gd name="T13" fmla="*/ 155 h 335"/>
                <a:gd name="T14" fmla="*/ 256 w 410"/>
                <a:gd name="T15" fmla="*/ 169 h 335"/>
                <a:gd name="T16" fmla="*/ 245 w 410"/>
                <a:gd name="T17" fmla="*/ 183 h 335"/>
                <a:gd name="T18" fmla="*/ 227 w 410"/>
                <a:gd name="T19" fmla="*/ 199 h 335"/>
                <a:gd name="T20" fmla="*/ 208 w 410"/>
                <a:gd name="T21" fmla="*/ 211 h 335"/>
                <a:gd name="T22" fmla="*/ 185 w 410"/>
                <a:gd name="T23" fmla="*/ 221 h 335"/>
                <a:gd name="T24" fmla="*/ 151 w 410"/>
                <a:gd name="T25" fmla="*/ 233 h 335"/>
                <a:gd name="T26" fmla="*/ 107 w 410"/>
                <a:gd name="T27" fmla="*/ 245 h 335"/>
                <a:gd name="T28" fmla="*/ 81 w 410"/>
                <a:gd name="T29" fmla="*/ 249 h 335"/>
                <a:gd name="T30" fmla="*/ 112 w 410"/>
                <a:gd name="T31" fmla="*/ 335 h 335"/>
                <a:gd name="T32" fmla="*/ 144 w 410"/>
                <a:gd name="T33" fmla="*/ 331 h 335"/>
                <a:gd name="T34" fmla="*/ 189 w 410"/>
                <a:gd name="T35" fmla="*/ 321 h 335"/>
                <a:gd name="T36" fmla="*/ 232 w 410"/>
                <a:gd name="T37" fmla="*/ 308 h 335"/>
                <a:gd name="T38" fmla="*/ 275 w 410"/>
                <a:gd name="T39" fmla="*/ 292 h 335"/>
                <a:gd name="T40" fmla="*/ 315 w 410"/>
                <a:gd name="T41" fmla="*/ 273 h 335"/>
                <a:gd name="T42" fmla="*/ 349 w 410"/>
                <a:gd name="T43" fmla="*/ 253 h 335"/>
                <a:gd name="T44" fmla="*/ 376 w 410"/>
                <a:gd name="T45" fmla="*/ 232 h 335"/>
                <a:gd name="T46" fmla="*/ 395 w 410"/>
                <a:gd name="T47" fmla="*/ 212 h 335"/>
                <a:gd name="T48" fmla="*/ 404 w 410"/>
                <a:gd name="T49" fmla="*/ 194 h 335"/>
                <a:gd name="T50" fmla="*/ 408 w 410"/>
                <a:gd name="T51" fmla="*/ 177 h 335"/>
                <a:gd name="T52" fmla="*/ 410 w 410"/>
                <a:gd name="T53" fmla="*/ 162 h 335"/>
                <a:gd name="T54" fmla="*/ 409 w 410"/>
                <a:gd name="T55" fmla="*/ 147 h 335"/>
                <a:gd name="T56" fmla="*/ 405 w 410"/>
                <a:gd name="T57" fmla="*/ 126 h 335"/>
                <a:gd name="T58" fmla="*/ 395 w 410"/>
                <a:gd name="T59" fmla="*/ 103 h 335"/>
                <a:gd name="T60" fmla="*/ 381 w 410"/>
                <a:gd name="T61" fmla="*/ 83 h 335"/>
                <a:gd name="T62" fmla="*/ 365 w 410"/>
                <a:gd name="T63" fmla="*/ 64 h 335"/>
                <a:gd name="T64" fmla="*/ 346 w 410"/>
                <a:gd name="T65" fmla="*/ 48 h 335"/>
                <a:gd name="T66" fmla="*/ 323 w 410"/>
                <a:gd name="T67" fmla="*/ 32 h 335"/>
                <a:gd name="T68" fmla="*/ 301 w 410"/>
                <a:gd name="T69" fmla="*/ 20 h 335"/>
                <a:gd name="T70" fmla="*/ 276 w 410"/>
                <a:gd name="T71" fmla="*/ 11 h 335"/>
                <a:gd name="T72" fmla="*/ 251 w 410"/>
                <a:gd name="T73" fmla="*/ 4 h 335"/>
                <a:gd name="T74" fmla="*/ 225 w 410"/>
                <a:gd name="T75" fmla="*/ 1 h 335"/>
                <a:gd name="T76" fmla="*/ 162 w 410"/>
                <a:gd name="T77" fmla="*/ 5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10" h="335">
                  <a:moveTo>
                    <a:pt x="209" y="96"/>
                  </a:moveTo>
                  <a:lnTo>
                    <a:pt x="217" y="96"/>
                  </a:lnTo>
                  <a:lnTo>
                    <a:pt x="226" y="98"/>
                  </a:lnTo>
                  <a:lnTo>
                    <a:pt x="233" y="100"/>
                  </a:lnTo>
                  <a:lnTo>
                    <a:pt x="241" y="103"/>
                  </a:lnTo>
                  <a:lnTo>
                    <a:pt x="248" y="107"/>
                  </a:lnTo>
                  <a:lnTo>
                    <a:pt x="253" y="111"/>
                  </a:lnTo>
                  <a:lnTo>
                    <a:pt x="258" y="117"/>
                  </a:lnTo>
                  <a:lnTo>
                    <a:pt x="261" y="123"/>
                  </a:lnTo>
                  <a:lnTo>
                    <a:pt x="264" y="129"/>
                  </a:lnTo>
                  <a:lnTo>
                    <a:pt x="265" y="135"/>
                  </a:lnTo>
                  <a:lnTo>
                    <a:pt x="265" y="141"/>
                  </a:lnTo>
                  <a:lnTo>
                    <a:pt x="264" y="148"/>
                  </a:lnTo>
                  <a:lnTo>
                    <a:pt x="263" y="155"/>
                  </a:lnTo>
                  <a:lnTo>
                    <a:pt x="260" y="162"/>
                  </a:lnTo>
                  <a:lnTo>
                    <a:pt x="256" y="169"/>
                  </a:lnTo>
                  <a:lnTo>
                    <a:pt x="252" y="175"/>
                  </a:lnTo>
                  <a:lnTo>
                    <a:pt x="245" y="183"/>
                  </a:lnTo>
                  <a:lnTo>
                    <a:pt x="236" y="192"/>
                  </a:lnTo>
                  <a:lnTo>
                    <a:pt x="227" y="199"/>
                  </a:lnTo>
                  <a:lnTo>
                    <a:pt x="218" y="205"/>
                  </a:lnTo>
                  <a:lnTo>
                    <a:pt x="208" y="211"/>
                  </a:lnTo>
                  <a:lnTo>
                    <a:pt x="197" y="216"/>
                  </a:lnTo>
                  <a:lnTo>
                    <a:pt x="185" y="221"/>
                  </a:lnTo>
                  <a:lnTo>
                    <a:pt x="174" y="226"/>
                  </a:lnTo>
                  <a:lnTo>
                    <a:pt x="151" y="233"/>
                  </a:lnTo>
                  <a:lnTo>
                    <a:pt x="128" y="239"/>
                  </a:lnTo>
                  <a:lnTo>
                    <a:pt x="107" y="245"/>
                  </a:lnTo>
                  <a:lnTo>
                    <a:pt x="88" y="248"/>
                  </a:lnTo>
                  <a:lnTo>
                    <a:pt x="81" y="249"/>
                  </a:lnTo>
                  <a:lnTo>
                    <a:pt x="0" y="328"/>
                  </a:lnTo>
                  <a:lnTo>
                    <a:pt x="112" y="335"/>
                  </a:lnTo>
                  <a:lnTo>
                    <a:pt x="121" y="334"/>
                  </a:lnTo>
                  <a:lnTo>
                    <a:pt x="144" y="331"/>
                  </a:lnTo>
                  <a:lnTo>
                    <a:pt x="165" y="326"/>
                  </a:lnTo>
                  <a:lnTo>
                    <a:pt x="189" y="321"/>
                  </a:lnTo>
                  <a:lnTo>
                    <a:pt x="211" y="315"/>
                  </a:lnTo>
                  <a:lnTo>
                    <a:pt x="232" y="308"/>
                  </a:lnTo>
                  <a:lnTo>
                    <a:pt x="255" y="300"/>
                  </a:lnTo>
                  <a:lnTo>
                    <a:pt x="275" y="292"/>
                  </a:lnTo>
                  <a:lnTo>
                    <a:pt x="296" y="282"/>
                  </a:lnTo>
                  <a:lnTo>
                    <a:pt x="315" y="273"/>
                  </a:lnTo>
                  <a:lnTo>
                    <a:pt x="332" y="263"/>
                  </a:lnTo>
                  <a:lnTo>
                    <a:pt x="349" y="253"/>
                  </a:lnTo>
                  <a:lnTo>
                    <a:pt x="363" y="243"/>
                  </a:lnTo>
                  <a:lnTo>
                    <a:pt x="376" y="232"/>
                  </a:lnTo>
                  <a:lnTo>
                    <a:pt x="386" y="222"/>
                  </a:lnTo>
                  <a:lnTo>
                    <a:pt x="395" y="212"/>
                  </a:lnTo>
                  <a:lnTo>
                    <a:pt x="400" y="203"/>
                  </a:lnTo>
                  <a:lnTo>
                    <a:pt x="404" y="194"/>
                  </a:lnTo>
                  <a:lnTo>
                    <a:pt x="406" y="185"/>
                  </a:lnTo>
                  <a:lnTo>
                    <a:pt x="408" y="177"/>
                  </a:lnTo>
                  <a:lnTo>
                    <a:pt x="409" y="169"/>
                  </a:lnTo>
                  <a:lnTo>
                    <a:pt x="410" y="162"/>
                  </a:lnTo>
                  <a:lnTo>
                    <a:pt x="409" y="154"/>
                  </a:lnTo>
                  <a:lnTo>
                    <a:pt x="409" y="147"/>
                  </a:lnTo>
                  <a:lnTo>
                    <a:pt x="408" y="139"/>
                  </a:lnTo>
                  <a:lnTo>
                    <a:pt x="405" y="126"/>
                  </a:lnTo>
                  <a:lnTo>
                    <a:pt x="400" y="114"/>
                  </a:lnTo>
                  <a:lnTo>
                    <a:pt x="395" y="103"/>
                  </a:lnTo>
                  <a:lnTo>
                    <a:pt x="388" y="93"/>
                  </a:lnTo>
                  <a:lnTo>
                    <a:pt x="381" y="83"/>
                  </a:lnTo>
                  <a:lnTo>
                    <a:pt x="373" y="73"/>
                  </a:lnTo>
                  <a:lnTo>
                    <a:pt x="365" y="64"/>
                  </a:lnTo>
                  <a:lnTo>
                    <a:pt x="355" y="56"/>
                  </a:lnTo>
                  <a:lnTo>
                    <a:pt x="346" y="48"/>
                  </a:lnTo>
                  <a:lnTo>
                    <a:pt x="334" y="39"/>
                  </a:lnTo>
                  <a:lnTo>
                    <a:pt x="323" y="32"/>
                  </a:lnTo>
                  <a:lnTo>
                    <a:pt x="312" y="26"/>
                  </a:lnTo>
                  <a:lnTo>
                    <a:pt x="301" y="20"/>
                  </a:lnTo>
                  <a:lnTo>
                    <a:pt x="288" y="15"/>
                  </a:lnTo>
                  <a:lnTo>
                    <a:pt x="276" y="11"/>
                  </a:lnTo>
                  <a:lnTo>
                    <a:pt x="263" y="7"/>
                  </a:lnTo>
                  <a:lnTo>
                    <a:pt x="251" y="4"/>
                  </a:lnTo>
                  <a:lnTo>
                    <a:pt x="239" y="2"/>
                  </a:lnTo>
                  <a:lnTo>
                    <a:pt x="225" y="1"/>
                  </a:lnTo>
                  <a:lnTo>
                    <a:pt x="213" y="0"/>
                  </a:lnTo>
                  <a:lnTo>
                    <a:pt x="162" y="56"/>
                  </a:lnTo>
                  <a:lnTo>
                    <a:pt x="209" y="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7" name="Freeform 47"/>
            <p:cNvSpPr>
              <a:spLocks/>
            </p:cNvSpPr>
            <p:nvPr userDrawn="1"/>
          </p:nvSpPr>
          <p:spPr bwMode="auto">
            <a:xfrm>
              <a:off x="7156" y="565"/>
              <a:ext cx="109" cy="121"/>
            </a:xfrm>
            <a:custGeom>
              <a:avLst/>
              <a:gdLst>
                <a:gd name="T0" fmla="*/ 802 w 1307"/>
                <a:gd name="T1" fmla="*/ 593 h 1456"/>
                <a:gd name="T2" fmla="*/ 746 w 1307"/>
                <a:gd name="T3" fmla="*/ 629 h 1456"/>
                <a:gd name="T4" fmla="*/ 713 w 1307"/>
                <a:gd name="T5" fmla="*/ 692 h 1456"/>
                <a:gd name="T6" fmla="*/ 748 w 1307"/>
                <a:gd name="T7" fmla="*/ 832 h 1456"/>
                <a:gd name="T8" fmla="*/ 838 w 1307"/>
                <a:gd name="T9" fmla="*/ 916 h 1456"/>
                <a:gd name="T10" fmla="*/ 970 w 1307"/>
                <a:gd name="T11" fmla="*/ 963 h 1456"/>
                <a:gd name="T12" fmla="*/ 1127 w 1307"/>
                <a:gd name="T13" fmla="*/ 971 h 1456"/>
                <a:gd name="T14" fmla="*/ 1282 w 1307"/>
                <a:gd name="T15" fmla="*/ 944 h 1456"/>
                <a:gd name="T16" fmla="*/ 1306 w 1307"/>
                <a:gd name="T17" fmla="*/ 948 h 1456"/>
                <a:gd name="T18" fmla="*/ 1299 w 1307"/>
                <a:gd name="T19" fmla="*/ 972 h 1456"/>
                <a:gd name="T20" fmla="*/ 1255 w 1307"/>
                <a:gd name="T21" fmla="*/ 1007 h 1456"/>
                <a:gd name="T22" fmla="*/ 1166 w 1307"/>
                <a:gd name="T23" fmla="*/ 1042 h 1456"/>
                <a:gd name="T24" fmla="*/ 1051 w 1307"/>
                <a:gd name="T25" fmla="*/ 1057 h 1456"/>
                <a:gd name="T26" fmla="*/ 851 w 1307"/>
                <a:gd name="T27" fmla="*/ 1032 h 1456"/>
                <a:gd name="T28" fmla="*/ 687 w 1307"/>
                <a:gd name="T29" fmla="*/ 959 h 1456"/>
                <a:gd name="T30" fmla="*/ 585 w 1307"/>
                <a:gd name="T31" fmla="*/ 864 h 1456"/>
                <a:gd name="T32" fmla="*/ 547 w 1307"/>
                <a:gd name="T33" fmla="*/ 796 h 1456"/>
                <a:gd name="T34" fmla="*/ 533 w 1307"/>
                <a:gd name="T35" fmla="*/ 728 h 1456"/>
                <a:gd name="T36" fmla="*/ 471 w 1307"/>
                <a:gd name="T37" fmla="*/ 717 h 1456"/>
                <a:gd name="T38" fmla="*/ 295 w 1307"/>
                <a:gd name="T39" fmla="*/ 760 h 1456"/>
                <a:gd name="T40" fmla="*/ 263 w 1307"/>
                <a:gd name="T41" fmla="*/ 950 h 1456"/>
                <a:gd name="T42" fmla="*/ 242 w 1307"/>
                <a:gd name="T43" fmla="*/ 1207 h 1456"/>
                <a:gd name="T44" fmla="*/ 249 w 1307"/>
                <a:gd name="T45" fmla="*/ 1425 h 1456"/>
                <a:gd name="T46" fmla="*/ 235 w 1307"/>
                <a:gd name="T47" fmla="*/ 1455 h 1456"/>
                <a:gd name="T48" fmla="*/ 183 w 1307"/>
                <a:gd name="T49" fmla="*/ 1441 h 1456"/>
                <a:gd name="T50" fmla="*/ 132 w 1307"/>
                <a:gd name="T51" fmla="*/ 1388 h 1456"/>
                <a:gd name="T52" fmla="*/ 101 w 1307"/>
                <a:gd name="T53" fmla="*/ 1291 h 1456"/>
                <a:gd name="T54" fmla="*/ 98 w 1307"/>
                <a:gd name="T55" fmla="*/ 1045 h 1456"/>
                <a:gd name="T56" fmla="*/ 123 w 1307"/>
                <a:gd name="T57" fmla="*/ 785 h 1456"/>
                <a:gd name="T58" fmla="*/ 59 w 1307"/>
                <a:gd name="T59" fmla="*/ 774 h 1456"/>
                <a:gd name="T60" fmla="*/ 29 w 1307"/>
                <a:gd name="T61" fmla="*/ 747 h 1456"/>
                <a:gd name="T62" fmla="*/ 0 w 1307"/>
                <a:gd name="T63" fmla="*/ 679 h 1456"/>
                <a:gd name="T64" fmla="*/ 21 w 1307"/>
                <a:gd name="T65" fmla="*/ 654 h 1456"/>
                <a:gd name="T66" fmla="*/ 95 w 1307"/>
                <a:gd name="T67" fmla="*/ 659 h 1456"/>
                <a:gd name="T68" fmla="*/ 174 w 1307"/>
                <a:gd name="T69" fmla="*/ 563 h 1456"/>
                <a:gd name="T70" fmla="*/ 246 w 1307"/>
                <a:gd name="T71" fmla="*/ 312 h 1456"/>
                <a:gd name="T72" fmla="*/ 332 w 1307"/>
                <a:gd name="T73" fmla="*/ 113 h 1456"/>
                <a:gd name="T74" fmla="*/ 407 w 1307"/>
                <a:gd name="T75" fmla="*/ 15 h 1456"/>
                <a:gd name="T76" fmla="*/ 488 w 1307"/>
                <a:gd name="T77" fmla="*/ 3 h 1456"/>
                <a:gd name="T78" fmla="*/ 569 w 1307"/>
                <a:gd name="T79" fmla="*/ 39 h 1456"/>
                <a:gd name="T80" fmla="*/ 619 w 1307"/>
                <a:gd name="T81" fmla="*/ 95 h 1456"/>
                <a:gd name="T82" fmla="*/ 634 w 1307"/>
                <a:gd name="T83" fmla="*/ 156 h 1456"/>
                <a:gd name="T84" fmla="*/ 621 w 1307"/>
                <a:gd name="T85" fmla="*/ 200 h 1456"/>
                <a:gd name="T86" fmla="*/ 598 w 1307"/>
                <a:gd name="T87" fmla="*/ 214 h 1456"/>
                <a:gd name="T88" fmla="*/ 578 w 1307"/>
                <a:gd name="T89" fmla="*/ 195 h 1456"/>
                <a:gd name="T90" fmla="*/ 535 w 1307"/>
                <a:gd name="T91" fmla="*/ 146 h 1456"/>
                <a:gd name="T92" fmla="*/ 494 w 1307"/>
                <a:gd name="T93" fmla="*/ 149 h 1456"/>
                <a:gd name="T94" fmla="*/ 451 w 1307"/>
                <a:gd name="T95" fmla="*/ 206 h 1456"/>
                <a:gd name="T96" fmla="*/ 345 w 1307"/>
                <a:gd name="T97" fmla="*/ 519 h 1456"/>
                <a:gd name="T98" fmla="*/ 388 w 1307"/>
                <a:gd name="T99" fmla="*/ 638 h 1456"/>
                <a:gd name="T100" fmla="*/ 594 w 1307"/>
                <a:gd name="T101" fmla="*/ 595 h 1456"/>
                <a:gd name="T102" fmla="*/ 650 w 1307"/>
                <a:gd name="T103" fmla="*/ 551 h 1456"/>
                <a:gd name="T104" fmla="*/ 746 w 1307"/>
                <a:gd name="T105" fmla="*/ 506 h 1456"/>
                <a:gd name="T106" fmla="*/ 844 w 1307"/>
                <a:gd name="T107" fmla="*/ 489 h 1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7" h="1456">
                  <a:moveTo>
                    <a:pt x="840" y="585"/>
                  </a:moveTo>
                  <a:lnTo>
                    <a:pt x="833" y="585"/>
                  </a:lnTo>
                  <a:lnTo>
                    <a:pt x="826" y="586"/>
                  </a:lnTo>
                  <a:lnTo>
                    <a:pt x="820" y="587"/>
                  </a:lnTo>
                  <a:lnTo>
                    <a:pt x="812" y="589"/>
                  </a:lnTo>
                  <a:lnTo>
                    <a:pt x="802" y="593"/>
                  </a:lnTo>
                  <a:lnTo>
                    <a:pt x="792" y="597"/>
                  </a:lnTo>
                  <a:lnTo>
                    <a:pt x="783" y="602"/>
                  </a:lnTo>
                  <a:lnTo>
                    <a:pt x="773" y="608"/>
                  </a:lnTo>
                  <a:lnTo>
                    <a:pt x="763" y="615"/>
                  </a:lnTo>
                  <a:lnTo>
                    <a:pt x="755" y="622"/>
                  </a:lnTo>
                  <a:lnTo>
                    <a:pt x="746" y="629"/>
                  </a:lnTo>
                  <a:lnTo>
                    <a:pt x="739" y="639"/>
                  </a:lnTo>
                  <a:lnTo>
                    <a:pt x="732" y="648"/>
                  </a:lnTo>
                  <a:lnTo>
                    <a:pt x="726" y="658"/>
                  </a:lnTo>
                  <a:lnTo>
                    <a:pt x="721" y="668"/>
                  </a:lnTo>
                  <a:lnTo>
                    <a:pt x="717" y="679"/>
                  </a:lnTo>
                  <a:lnTo>
                    <a:pt x="713" y="692"/>
                  </a:lnTo>
                  <a:lnTo>
                    <a:pt x="711" y="704"/>
                  </a:lnTo>
                  <a:lnTo>
                    <a:pt x="711" y="717"/>
                  </a:lnTo>
                  <a:lnTo>
                    <a:pt x="711" y="732"/>
                  </a:lnTo>
                  <a:lnTo>
                    <a:pt x="712" y="738"/>
                  </a:lnTo>
                  <a:lnTo>
                    <a:pt x="743" y="824"/>
                  </a:lnTo>
                  <a:lnTo>
                    <a:pt x="748" y="832"/>
                  </a:lnTo>
                  <a:lnTo>
                    <a:pt x="759" y="848"/>
                  </a:lnTo>
                  <a:lnTo>
                    <a:pt x="773" y="863"/>
                  </a:lnTo>
                  <a:lnTo>
                    <a:pt x="787" y="879"/>
                  </a:lnTo>
                  <a:lnTo>
                    <a:pt x="803" y="892"/>
                  </a:lnTo>
                  <a:lnTo>
                    <a:pt x="820" y="904"/>
                  </a:lnTo>
                  <a:lnTo>
                    <a:pt x="838" y="916"/>
                  </a:lnTo>
                  <a:lnTo>
                    <a:pt x="857" y="926"/>
                  </a:lnTo>
                  <a:lnTo>
                    <a:pt x="878" y="936"/>
                  </a:lnTo>
                  <a:lnTo>
                    <a:pt x="899" y="945"/>
                  </a:lnTo>
                  <a:lnTo>
                    <a:pt x="922" y="952"/>
                  </a:lnTo>
                  <a:lnTo>
                    <a:pt x="946" y="958"/>
                  </a:lnTo>
                  <a:lnTo>
                    <a:pt x="970" y="963"/>
                  </a:lnTo>
                  <a:lnTo>
                    <a:pt x="996" y="967"/>
                  </a:lnTo>
                  <a:lnTo>
                    <a:pt x="1021" y="970"/>
                  </a:lnTo>
                  <a:lnTo>
                    <a:pt x="1049" y="972"/>
                  </a:lnTo>
                  <a:lnTo>
                    <a:pt x="1077" y="973"/>
                  </a:lnTo>
                  <a:lnTo>
                    <a:pt x="1102" y="972"/>
                  </a:lnTo>
                  <a:lnTo>
                    <a:pt x="1127" y="971"/>
                  </a:lnTo>
                  <a:lnTo>
                    <a:pt x="1152" y="968"/>
                  </a:lnTo>
                  <a:lnTo>
                    <a:pt x="1178" y="965"/>
                  </a:lnTo>
                  <a:lnTo>
                    <a:pt x="1204" y="961"/>
                  </a:lnTo>
                  <a:lnTo>
                    <a:pt x="1230" y="956"/>
                  </a:lnTo>
                  <a:lnTo>
                    <a:pt x="1255" y="950"/>
                  </a:lnTo>
                  <a:lnTo>
                    <a:pt x="1282" y="944"/>
                  </a:lnTo>
                  <a:lnTo>
                    <a:pt x="1291" y="942"/>
                  </a:lnTo>
                  <a:lnTo>
                    <a:pt x="1298" y="942"/>
                  </a:lnTo>
                  <a:lnTo>
                    <a:pt x="1301" y="943"/>
                  </a:lnTo>
                  <a:lnTo>
                    <a:pt x="1303" y="944"/>
                  </a:lnTo>
                  <a:lnTo>
                    <a:pt x="1305" y="945"/>
                  </a:lnTo>
                  <a:lnTo>
                    <a:pt x="1306" y="948"/>
                  </a:lnTo>
                  <a:lnTo>
                    <a:pt x="1307" y="951"/>
                  </a:lnTo>
                  <a:lnTo>
                    <a:pt x="1307" y="954"/>
                  </a:lnTo>
                  <a:lnTo>
                    <a:pt x="1306" y="958"/>
                  </a:lnTo>
                  <a:lnTo>
                    <a:pt x="1305" y="963"/>
                  </a:lnTo>
                  <a:lnTo>
                    <a:pt x="1302" y="967"/>
                  </a:lnTo>
                  <a:lnTo>
                    <a:pt x="1299" y="972"/>
                  </a:lnTo>
                  <a:lnTo>
                    <a:pt x="1295" y="978"/>
                  </a:lnTo>
                  <a:lnTo>
                    <a:pt x="1291" y="983"/>
                  </a:lnTo>
                  <a:lnTo>
                    <a:pt x="1284" y="989"/>
                  </a:lnTo>
                  <a:lnTo>
                    <a:pt x="1275" y="995"/>
                  </a:lnTo>
                  <a:lnTo>
                    <a:pt x="1265" y="1001"/>
                  </a:lnTo>
                  <a:lnTo>
                    <a:pt x="1255" y="1007"/>
                  </a:lnTo>
                  <a:lnTo>
                    <a:pt x="1243" y="1013"/>
                  </a:lnTo>
                  <a:lnTo>
                    <a:pt x="1230" y="1019"/>
                  </a:lnTo>
                  <a:lnTo>
                    <a:pt x="1215" y="1025"/>
                  </a:lnTo>
                  <a:lnTo>
                    <a:pt x="1200" y="1032"/>
                  </a:lnTo>
                  <a:lnTo>
                    <a:pt x="1184" y="1037"/>
                  </a:lnTo>
                  <a:lnTo>
                    <a:pt x="1166" y="1042"/>
                  </a:lnTo>
                  <a:lnTo>
                    <a:pt x="1149" y="1046"/>
                  </a:lnTo>
                  <a:lnTo>
                    <a:pt x="1131" y="1050"/>
                  </a:lnTo>
                  <a:lnTo>
                    <a:pt x="1111" y="1053"/>
                  </a:lnTo>
                  <a:lnTo>
                    <a:pt x="1092" y="1055"/>
                  </a:lnTo>
                  <a:lnTo>
                    <a:pt x="1071" y="1056"/>
                  </a:lnTo>
                  <a:lnTo>
                    <a:pt x="1051" y="1057"/>
                  </a:lnTo>
                  <a:lnTo>
                    <a:pt x="1015" y="1056"/>
                  </a:lnTo>
                  <a:lnTo>
                    <a:pt x="981" y="1054"/>
                  </a:lnTo>
                  <a:lnTo>
                    <a:pt x="947" y="1050"/>
                  </a:lnTo>
                  <a:lnTo>
                    <a:pt x="914" y="1046"/>
                  </a:lnTo>
                  <a:lnTo>
                    <a:pt x="882" y="1039"/>
                  </a:lnTo>
                  <a:lnTo>
                    <a:pt x="851" y="1032"/>
                  </a:lnTo>
                  <a:lnTo>
                    <a:pt x="821" y="1022"/>
                  </a:lnTo>
                  <a:lnTo>
                    <a:pt x="792" y="1012"/>
                  </a:lnTo>
                  <a:lnTo>
                    <a:pt x="763" y="1001"/>
                  </a:lnTo>
                  <a:lnTo>
                    <a:pt x="737" y="988"/>
                  </a:lnTo>
                  <a:lnTo>
                    <a:pt x="710" y="974"/>
                  </a:lnTo>
                  <a:lnTo>
                    <a:pt x="687" y="959"/>
                  </a:lnTo>
                  <a:lnTo>
                    <a:pt x="663" y="943"/>
                  </a:lnTo>
                  <a:lnTo>
                    <a:pt x="642" y="925"/>
                  </a:lnTo>
                  <a:lnTo>
                    <a:pt x="622" y="906"/>
                  </a:lnTo>
                  <a:lnTo>
                    <a:pt x="603" y="887"/>
                  </a:lnTo>
                  <a:lnTo>
                    <a:pt x="594" y="875"/>
                  </a:lnTo>
                  <a:lnTo>
                    <a:pt x="585" y="864"/>
                  </a:lnTo>
                  <a:lnTo>
                    <a:pt x="577" y="853"/>
                  </a:lnTo>
                  <a:lnTo>
                    <a:pt x="570" y="842"/>
                  </a:lnTo>
                  <a:lnTo>
                    <a:pt x="562" y="831"/>
                  </a:lnTo>
                  <a:lnTo>
                    <a:pt x="557" y="819"/>
                  </a:lnTo>
                  <a:lnTo>
                    <a:pt x="551" y="808"/>
                  </a:lnTo>
                  <a:lnTo>
                    <a:pt x="547" y="796"/>
                  </a:lnTo>
                  <a:lnTo>
                    <a:pt x="543" y="785"/>
                  </a:lnTo>
                  <a:lnTo>
                    <a:pt x="539" y="773"/>
                  </a:lnTo>
                  <a:lnTo>
                    <a:pt x="537" y="762"/>
                  </a:lnTo>
                  <a:lnTo>
                    <a:pt x="535" y="751"/>
                  </a:lnTo>
                  <a:lnTo>
                    <a:pt x="534" y="740"/>
                  </a:lnTo>
                  <a:lnTo>
                    <a:pt x="533" y="728"/>
                  </a:lnTo>
                  <a:lnTo>
                    <a:pt x="533" y="718"/>
                  </a:lnTo>
                  <a:lnTo>
                    <a:pt x="534" y="707"/>
                  </a:lnTo>
                  <a:lnTo>
                    <a:pt x="535" y="699"/>
                  </a:lnTo>
                  <a:lnTo>
                    <a:pt x="527" y="701"/>
                  </a:lnTo>
                  <a:lnTo>
                    <a:pt x="499" y="709"/>
                  </a:lnTo>
                  <a:lnTo>
                    <a:pt x="471" y="717"/>
                  </a:lnTo>
                  <a:lnTo>
                    <a:pt x="442" y="725"/>
                  </a:lnTo>
                  <a:lnTo>
                    <a:pt x="413" y="733"/>
                  </a:lnTo>
                  <a:lnTo>
                    <a:pt x="383" y="740"/>
                  </a:lnTo>
                  <a:lnTo>
                    <a:pt x="353" y="747"/>
                  </a:lnTo>
                  <a:lnTo>
                    <a:pt x="325" y="754"/>
                  </a:lnTo>
                  <a:lnTo>
                    <a:pt x="295" y="760"/>
                  </a:lnTo>
                  <a:lnTo>
                    <a:pt x="292" y="761"/>
                  </a:lnTo>
                  <a:lnTo>
                    <a:pt x="291" y="764"/>
                  </a:lnTo>
                  <a:lnTo>
                    <a:pt x="283" y="811"/>
                  </a:lnTo>
                  <a:lnTo>
                    <a:pt x="275" y="858"/>
                  </a:lnTo>
                  <a:lnTo>
                    <a:pt x="269" y="904"/>
                  </a:lnTo>
                  <a:lnTo>
                    <a:pt x="263" y="950"/>
                  </a:lnTo>
                  <a:lnTo>
                    <a:pt x="258" y="995"/>
                  </a:lnTo>
                  <a:lnTo>
                    <a:pt x="252" y="1039"/>
                  </a:lnTo>
                  <a:lnTo>
                    <a:pt x="248" y="1083"/>
                  </a:lnTo>
                  <a:lnTo>
                    <a:pt x="245" y="1126"/>
                  </a:lnTo>
                  <a:lnTo>
                    <a:pt x="243" y="1167"/>
                  </a:lnTo>
                  <a:lnTo>
                    <a:pt x="242" y="1207"/>
                  </a:lnTo>
                  <a:lnTo>
                    <a:pt x="241" y="1247"/>
                  </a:lnTo>
                  <a:lnTo>
                    <a:pt x="241" y="1286"/>
                  </a:lnTo>
                  <a:lnTo>
                    <a:pt x="242" y="1323"/>
                  </a:lnTo>
                  <a:lnTo>
                    <a:pt x="243" y="1358"/>
                  </a:lnTo>
                  <a:lnTo>
                    <a:pt x="246" y="1392"/>
                  </a:lnTo>
                  <a:lnTo>
                    <a:pt x="249" y="1425"/>
                  </a:lnTo>
                  <a:lnTo>
                    <a:pt x="250" y="1433"/>
                  </a:lnTo>
                  <a:lnTo>
                    <a:pt x="249" y="1440"/>
                  </a:lnTo>
                  <a:lnTo>
                    <a:pt x="247" y="1446"/>
                  </a:lnTo>
                  <a:lnTo>
                    <a:pt x="245" y="1450"/>
                  </a:lnTo>
                  <a:lnTo>
                    <a:pt x="240" y="1454"/>
                  </a:lnTo>
                  <a:lnTo>
                    <a:pt x="235" y="1455"/>
                  </a:lnTo>
                  <a:lnTo>
                    <a:pt x="228" y="1456"/>
                  </a:lnTo>
                  <a:lnTo>
                    <a:pt x="221" y="1455"/>
                  </a:lnTo>
                  <a:lnTo>
                    <a:pt x="212" y="1453"/>
                  </a:lnTo>
                  <a:lnTo>
                    <a:pt x="202" y="1450"/>
                  </a:lnTo>
                  <a:lnTo>
                    <a:pt x="193" y="1446"/>
                  </a:lnTo>
                  <a:lnTo>
                    <a:pt x="183" y="1441"/>
                  </a:lnTo>
                  <a:lnTo>
                    <a:pt x="171" y="1434"/>
                  </a:lnTo>
                  <a:lnTo>
                    <a:pt x="158" y="1423"/>
                  </a:lnTo>
                  <a:lnTo>
                    <a:pt x="150" y="1415"/>
                  </a:lnTo>
                  <a:lnTo>
                    <a:pt x="144" y="1407"/>
                  </a:lnTo>
                  <a:lnTo>
                    <a:pt x="138" y="1398"/>
                  </a:lnTo>
                  <a:lnTo>
                    <a:pt x="132" y="1388"/>
                  </a:lnTo>
                  <a:lnTo>
                    <a:pt x="126" y="1376"/>
                  </a:lnTo>
                  <a:lnTo>
                    <a:pt x="120" y="1362"/>
                  </a:lnTo>
                  <a:lnTo>
                    <a:pt x="115" y="1347"/>
                  </a:lnTo>
                  <a:lnTo>
                    <a:pt x="110" y="1331"/>
                  </a:lnTo>
                  <a:lnTo>
                    <a:pt x="106" y="1311"/>
                  </a:lnTo>
                  <a:lnTo>
                    <a:pt x="101" y="1291"/>
                  </a:lnTo>
                  <a:lnTo>
                    <a:pt x="98" y="1268"/>
                  </a:lnTo>
                  <a:lnTo>
                    <a:pt x="96" y="1243"/>
                  </a:lnTo>
                  <a:lnTo>
                    <a:pt x="94" y="1201"/>
                  </a:lnTo>
                  <a:lnTo>
                    <a:pt x="94" y="1154"/>
                  </a:lnTo>
                  <a:lnTo>
                    <a:pt x="95" y="1101"/>
                  </a:lnTo>
                  <a:lnTo>
                    <a:pt x="98" y="1045"/>
                  </a:lnTo>
                  <a:lnTo>
                    <a:pt x="103" y="985"/>
                  </a:lnTo>
                  <a:lnTo>
                    <a:pt x="111" y="922"/>
                  </a:lnTo>
                  <a:lnTo>
                    <a:pt x="119" y="858"/>
                  </a:lnTo>
                  <a:lnTo>
                    <a:pt x="129" y="791"/>
                  </a:lnTo>
                  <a:lnTo>
                    <a:pt x="130" y="785"/>
                  </a:lnTo>
                  <a:lnTo>
                    <a:pt x="123" y="785"/>
                  </a:lnTo>
                  <a:lnTo>
                    <a:pt x="109" y="785"/>
                  </a:lnTo>
                  <a:lnTo>
                    <a:pt x="95" y="784"/>
                  </a:lnTo>
                  <a:lnTo>
                    <a:pt x="82" y="782"/>
                  </a:lnTo>
                  <a:lnTo>
                    <a:pt x="70" y="778"/>
                  </a:lnTo>
                  <a:lnTo>
                    <a:pt x="64" y="776"/>
                  </a:lnTo>
                  <a:lnTo>
                    <a:pt x="59" y="774"/>
                  </a:lnTo>
                  <a:lnTo>
                    <a:pt x="52" y="771"/>
                  </a:lnTo>
                  <a:lnTo>
                    <a:pt x="47" y="767"/>
                  </a:lnTo>
                  <a:lnTo>
                    <a:pt x="42" y="763"/>
                  </a:lnTo>
                  <a:lnTo>
                    <a:pt x="38" y="758"/>
                  </a:lnTo>
                  <a:lnTo>
                    <a:pt x="33" y="753"/>
                  </a:lnTo>
                  <a:lnTo>
                    <a:pt x="29" y="747"/>
                  </a:lnTo>
                  <a:lnTo>
                    <a:pt x="21" y="734"/>
                  </a:lnTo>
                  <a:lnTo>
                    <a:pt x="14" y="721"/>
                  </a:lnTo>
                  <a:lnTo>
                    <a:pt x="8" y="709"/>
                  </a:lnTo>
                  <a:lnTo>
                    <a:pt x="4" y="698"/>
                  </a:lnTo>
                  <a:lnTo>
                    <a:pt x="1" y="689"/>
                  </a:lnTo>
                  <a:lnTo>
                    <a:pt x="0" y="679"/>
                  </a:lnTo>
                  <a:lnTo>
                    <a:pt x="1" y="672"/>
                  </a:lnTo>
                  <a:lnTo>
                    <a:pt x="4" y="665"/>
                  </a:lnTo>
                  <a:lnTo>
                    <a:pt x="7" y="662"/>
                  </a:lnTo>
                  <a:lnTo>
                    <a:pt x="10" y="658"/>
                  </a:lnTo>
                  <a:lnTo>
                    <a:pt x="15" y="656"/>
                  </a:lnTo>
                  <a:lnTo>
                    <a:pt x="21" y="654"/>
                  </a:lnTo>
                  <a:lnTo>
                    <a:pt x="27" y="653"/>
                  </a:lnTo>
                  <a:lnTo>
                    <a:pt x="35" y="653"/>
                  </a:lnTo>
                  <a:lnTo>
                    <a:pt x="43" y="653"/>
                  </a:lnTo>
                  <a:lnTo>
                    <a:pt x="52" y="655"/>
                  </a:lnTo>
                  <a:lnTo>
                    <a:pt x="73" y="657"/>
                  </a:lnTo>
                  <a:lnTo>
                    <a:pt x="95" y="659"/>
                  </a:lnTo>
                  <a:lnTo>
                    <a:pt x="119" y="661"/>
                  </a:lnTo>
                  <a:lnTo>
                    <a:pt x="145" y="661"/>
                  </a:lnTo>
                  <a:lnTo>
                    <a:pt x="152" y="661"/>
                  </a:lnTo>
                  <a:lnTo>
                    <a:pt x="153" y="656"/>
                  </a:lnTo>
                  <a:lnTo>
                    <a:pt x="164" y="609"/>
                  </a:lnTo>
                  <a:lnTo>
                    <a:pt x="174" y="563"/>
                  </a:lnTo>
                  <a:lnTo>
                    <a:pt x="184" y="518"/>
                  </a:lnTo>
                  <a:lnTo>
                    <a:pt x="196" y="474"/>
                  </a:lnTo>
                  <a:lnTo>
                    <a:pt x="208" y="431"/>
                  </a:lnTo>
                  <a:lnTo>
                    <a:pt x="220" y="391"/>
                  </a:lnTo>
                  <a:lnTo>
                    <a:pt x="233" y="351"/>
                  </a:lnTo>
                  <a:lnTo>
                    <a:pt x="246" y="312"/>
                  </a:lnTo>
                  <a:lnTo>
                    <a:pt x="260" y="275"/>
                  </a:lnTo>
                  <a:lnTo>
                    <a:pt x="273" y="240"/>
                  </a:lnTo>
                  <a:lnTo>
                    <a:pt x="287" y="205"/>
                  </a:lnTo>
                  <a:lnTo>
                    <a:pt x="301" y="172"/>
                  </a:lnTo>
                  <a:lnTo>
                    <a:pt x="317" y="142"/>
                  </a:lnTo>
                  <a:lnTo>
                    <a:pt x="332" y="113"/>
                  </a:lnTo>
                  <a:lnTo>
                    <a:pt x="347" y="85"/>
                  </a:lnTo>
                  <a:lnTo>
                    <a:pt x="363" y="60"/>
                  </a:lnTo>
                  <a:lnTo>
                    <a:pt x="373" y="46"/>
                  </a:lnTo>
                  <a:lnTo>
                    <a:pt x="383" y="34"/>
                  </a:lnTo>
                  <a:lnTo>
                    <a:pt x="395" y="23"/>
                  </a:lnTo>
                  <a:lnTo>
                    <a:pt x="407" y="15"/>
                  </a:lnTo>
                  <a:lnTo>
                    <a:pt x="420" y="9"/>
                  </a:lnTo>
                  <a:lnTo>
                    <a:pt x="434" y="4"/>
                  </a:lnTo>
                  <a:lnTo>
                    <a:pt x="448" y="1"/>
                  </a:lnTo>
                  <a:lnTo>
                    <a:pt x="463" y="0"/>
                  </a:lnTo>
                  <a:lnTo>
                    <a:pt x="475" y="1"/>
                  </a:lnTo>
                  <a:lnTo>
                    <a:pt x="488" y="3"/>
                  </a:lnTo>
                  <a:lnTo>
                    <a:pt x="500" y="5"/>
                  </a:lnTo>
                  <a:lnTo>
                    <a:pt x="514" y="10"/>
                  </a:lnTo>
                  <a:lnTo>
                    <a:pt x="527" y="15"/>
                  </a:lnTo>
                  <a:lnTo>
                    <a:pt x="541" y="21"/>
                  </a:lnTo>
                  <a:lnTo>
                    <a:pt x="554" y="29"/>
                  </a:lnTo>
                  <a:lnTo>
                    <a:pt x="569" y="39"/>
                  </a:lnTo>
                  <a:lnTo>
                    <a:pt x="580" y="47"/>
                  </a:lnTo>
                  <a:lnTo>
                    <a:pt x="589" y="55"/>
                  </a:lnTo>
                  <a:lnTo>
                    <a:pt x="598" y="64"/>
                  </a:lnTo>
                  <a:lnTo>
                    <a:pt x="606" y="74"/>
                  </a:lnTo>
                  <a:lnTo>
                    <a:pt x="612" y="84"/>
                  </a:lnTo>
                  <a:lnTo>
                    <a:pt x="619" y="95"/>
                  </a:lnTo>
                  <a:lnTo>
                    <a:pt x="624" y="105"/>
                  </a:lnTo>
                  <a:lnTo>
                    <a:pt x="627" y="115"/>
                  </a:lnTo>
                  <a:lnTo>
                    <a:pt x="630" y="126"/>
                  </a:lnTo>
                  <a:lnTo>
                    <a:pt x="632" y="136"/>
                  </a:lnTo>
                  <a:lnTo>
                    <a:pt x="633" y="146"/>
                  </a:lnTo>
                  <a:lnTo>
                    <a:pt x="634" y="156"/>
                  </a:lnTo>
                  <a:lnTo>
                    <a:pt x="633" y="165"/>
                  </a:lnTo>
                  <a:lnTo>
                    <a:pt x="632" y="173"/>
                  </a:lnTo>
                  <a:lnTo>
                    <a:pt x="630" y="181"/>
                  </a:lnTo>
                  <a:lnTo>
                    <a:pt x="627" y="188"/>
                  </a:lnTo>
                  <a:lnTo>
                    <a:pt x="624" y="194"/>
                  </a:lnTo>
                  <a:lnTo>
                    <a:pt x="621" y="200"/>
                  </a:lnTo>
                  <a:lnTo>
                    <a:pt x="617" y="204"/>
                  </a:lnTo>
                  <a:lnTo>
                    <a:pt x="613" y="208"/>
                  </a:lnTo>
                  <a:lnTo>
                    <a:pt x="609" y="210"/>
                  </a:lnTo>
                  <a:lnTo>
                    <a:pt x="606" y="213"/>
                  </a:lnTo>
                  <a:lnTo>
                    <a:pt x="602" y="214"/>
                  </a:lnTo>
                  <a:lnTo>
                    <a:pt x="598" y="214"/>
                  </a:lnTo>
                  <a:lnTo>
                    <a:pt x="595" y="214"/>
                  </a:lnTo>
                  <a:lnTo>
                    <a:pt x="592" y="213"/>
                  </a:lnTo>
                  <a:lnTo>
                    <a:pt x="589" y="211"/>
                  </a:lnTo>
                  <a:lnTo>
                    <a:pt x="587" y="209"/>
                  </a:lnTo>
                  <a:lnTo>
                    <a:pt x="582" y="203"/>
                  </a:lnTo>
                  <a:lnTo>
                    <a:pt x="578" y="195"/>
                  </a:lnTo>
                  <a:lnTo>
                    <a:pt x="573" y="182"/>
                  </a:lnTo>
                  <a:lnTo>
                    <a:pt x="567" y="172"/>
                  </a:lnTo>
                  <a:lnTo>
                    <a:pt x="559" y="163"/>
                  </a:lnTo>
                  <a:lnTo>
                    <a:pt x="552" y="155"/>
                  </a:lnTo>
                  <a:lnTo>
                    <a:pt x="544" y="150"/>
                  </a:lnTo>
                  <a:lnTo>
                    <a:pt x="535" y="146"/>
                  </a:lnTo>
                  <a:lnTo>
                    <a:pt x="525" y="144"/>
                  </a:lnTo>
                  <a:lnTo>
                    <a:pt x="515" y="144"/>
                  </a:lnTo>
                  <a:lnTo>
                    <a:pt x="509" y="144"/>
                  </a:lnTo>
                  <a:lnTo>
                    <a:pt x="503" y="145"/>
                  </a:lnTo>
                  <a:lnTo>
                    <a:pt x="499" y="147"/>
                  </a:lnTo>
                  <a:lnTo>
                    <a:pt x="494" y="149"/>
                  </a:lnTo>
                  <a:lnTo>
                    <a:pt x="486" y="154"/>
                  </a:lnTo>
                  <a:lnTo>
                    <a:pt x="478" y="161"/>
                  </a:lnTo>
                  <a:lnTo>
                    <a:pt x="471" y="170"/>
                  </a:lnTo>
                  <a:lnTo>
                    <a:pt x="464" y="180"/>
                  </a:lnTo>
                  <a:lnTo>
                    <a:pt x="457" y="193"/>
                  </a:lnTo>
                  <a:lnTo>
                    <a:pt x="451" y="206"/>
                  </a:lnTo>
                  <a:lnTo>
                    <a:pt x="432" y="252"/>
                  </a:lnTo>
                  <a:lnTo>
                    <a:pt x="414" y="300"/>
                  </a:lnTo>
                  <a:lnTo>
                    <a:pt x="396" y="351"/>
                  </a:lnTo>
                  <a:lnTo>
                    <a:pt x="378" y="405"/>
                  </a:lnTo>
                  <a:lnTo>
                    <a:pt x="362" y="461"/>
                  </a:lnTo>
                  <a:lnTo>
                    <a:pt x="345" y="519"/>
                  </a:lnTo>
                  <a:lnTo>
                    <a:pt x="331" y="579"/>
                  </a:lnTo>
                  <a:lnTo>
                    <a:pt x="316" y="641"/>
                  </a:lnTo>
                  <a:lnTo>
                    <a:pt x="315" y="649"/>
                  </a:lnTo>
                  <a:lnTo>
                    <a:pt x="323" y="648"/>
                  </a:lnTo>
                  <a:lnTo>
                    <a:pt x="354" y="643"/>
                  </a:lnTo>
                  <a:lnTo>
                    <a:pt x="388" y="638"/>
                  </a:lnTo>
                  <a:lnTo>
                    <a:pt x="422" y="633"/>
                  </a:lnTo>
                  <a:lnTo>
                    <a:pt x="455" y="625"/>
                  </a:lnTo>
                  <a:lnTo>
                    <a:pt x="490" y="619"/>
                  </a:lnTo>
                  <a:lnTo>
                    <a:pt x="525" y="611"/>
                  </a:lnTo>
                  <a:lnTo>
                    <a:pt x="559" y="604"/>
                  </a:lnTo>
                  <a:lnTo>
                    <a:pt x="594" y="595"/>
                  </a:lnTo>
                  <a:lnTo>
                    <a:pt x="595" y="595"/>
                  </a:lnTo>
                  <a:lnTo>
                    <a:pt x="596" y="594"/>
                  </a:lnTo>
                  <a:lnTo>
                    <a:pt x="608" y="583"/>
                  </a:lnTo>
                  <a:lnTo>
                    <a:pt x="622" y="571"/>
                  </a:lnTo>
                  <a:lnTo>
                    <a:pt x="636" y="561"/>
                  </a:lnTo>
                  <a:lnTo>
                    <a:pt x="650" y="551"/>
                  </a:lnTo>
                  <a:lnTo>
                    <a:pt x="666" y="542"/>
                  </a:lnTo>
                  <a:lnTo>
                    <a:pt x="681" y="534"/>
                  </a:lnTo>
                  <a:lnTo>
                    <a:pt x="696" y="525"/>
                  </a:lnTo>
                  <a:lnTo>
                    <a:pt x="712" y="518"/>
                  </a:lnTo>
                  <a:lnTo>
                    <a:pt x="730" y="511"/>
                  </a:lnTo>
                  <a:lnTo>
                    <a:pt x="746" y="506"/>
                  </a:lnTo>
                  <a:lnTo>
                    <a:pt x="762" y="501"/>
                  </a:lnTo>
                  <a:lnTo>
                    <a:pt x="780" y="497"/>
                  </a:lnTo>
                  <a:lnTo>
                    <a:pt x="796" y="493"/>
                  </a:lnTo>
                  <a:lnTo>
                    <a:pt x="812" y="491"/>
                  </a:lnTo>
                  <a:lnTo>
                    <a:pt x="829" y="490"/>
                  </a:lnTo>
                  <a:lnTo>
                    <a:pt x="844" y="489"/>
                  </a:lnTo>
                  <a:lnTo>
                    <a:pt x="891" y="544"/>
                  </a:lnTo>
                  <a:lnTo>
                    <a:pt x="840" y="5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8" name="Freeform 48"/>
            <p:cNvSpPr>
              <a:spLocks/>
            </p:cNvSpPr>
            <p:nvPr userDrawn="1"/>
          </p:nvSpPr>
          <p:spPr bwMode="auto">
            <a:xfrm>
              <a:off x="6540" y="596"/>
              <a:ext cx="34" cy="32"/>
            </a:xfrm>
            <a:custGeom>
              <a:avLst/>
              <a:gdLst>
                <a:gd name="T0" fmla="*/ 255 w 405"/>
                <a:gd name="T1" fmla="*/ 101 h 383"/>
                <a:gd name="T2" fmla="*/ 269 w 405"/>
                <a:gd name="T3" fmla="*/ 105 h 383"/>
                <a:gd name="T4" fmla="*/ 281 w 405"/>
                <a:gd name="T5" fmla="*/ 113 h 383"/>
                <a:gd name="T6" fmla="*/ 289 w 405"/>
                <a:gd name="T7" fmla="*/ 122 h 383"/>
                <a:gd name="T8" fmla="*/ 293 w 405"/>
                <a:gd name="T9" fmla="*/ 132 h 383"/>
                <a:gd name="T10" fmla="*/ 294 w 405"/>
                <a:gd name="T11" fmla="*/ 143 h 383"/>
                <a:gd name="T12" fmla="*/ 290 w 405"/>
                <a:gd name="T13" fmla="*/ 159 h 383"/>
                <a:gd name="T14" fmla="*/ 277 w 405"/>
                <a:gd name="T15" fmla="*/ 177 h 383"/>
                <a:gd name="T16" fmla="*/ 254 w 405"/>
                <a:gd name="T17" fmla="*/ 199 h 383"/>
                <a:gd name="T18" fmla="*/ 221 w 405"/>
                <a:gd name="T19" fmla="*/ 224 h 383"/>
                <a:gd name="T20" fmla="*/ 182 w 405"/>
                <a:gd name="T21" fmla="*/ 249 h 383"/>
                <a:gd name="T22" fmla="*/ 136 w 405"/>
                <a:gd name="T23" fmla="*/ 275 h 383"/>
                <a:gd name="T24" fmla="*/ 99 w 405"/>
                <a:gd name="T25" fmla="*/ 294 h 383"/>
                <a:gd name="T26" fmla="*/ 95 w 405"/>
                <a:gd name="T27" fmla="*/ 383 h 383"/>
                <a:gd name="T28" fmla="*/ 141 w 405"/>
                <a:gd name="T29" fmla="*/ 362 h 383"/>
                <a:gd name="T30" fmla="*/ 223 w 405"/>
                <a:gd name="T31" fmla="*/ 322 h 383"/>
                <a:gd name="T32" fmla="*/ 279 w 405"/>
                <a:gd name="T33" fmla="*/ 289 h 383"/>
                <a:gd name="T34" fmla="*/ 312 w 405"/>
                <a:gd name="T35" fmla="*/ 268 h 383"/>
                <a:gd name="T36" fmla="*/ 341 w 405"/>
                <a:gd name="T37" fmla="*/ 244 h 383"/>
                <a:gd name="T38" fmla="*/ 367 w 405"/>
                <a:gd name="T39" fmla="*/ 221 h 383"/>
                <a:gd name="T40" fmla="*/ 384 w 405"/>
                <a:gd name="T41" fmla="*/ 200 h 383"/>
                <a:gd name="T42" fmla="*/ 394 w 405"/>
                <a:gd name="T43" fmla="*/ 183 h 383"/>
                <a:gd name="T44" fmla="*/ 401 w 405"/>
                <a:gd name="T45" fmla="*/ 167 h 383"/>
                <a:gd name="T46" fmla="*/ 404 w 405"/>
                <a:gd name="T47" fmla="*/ 150 h 383"/>
                <a:gd name="T48" fmla="*/ 405 w 405"/>
                <a:gd name="T49" fmla="*/ 129 h 383"/>
                <a:gd name="T50" fmla="*/ 400 w 405"/>
                <a:gd name="T51" fmla="*/ 103 h 383"/>
                <a:gd name="T52" fmla="*/ 390 w 405"/>
                <a:gd name="T53" fmla="*/ 83 h 383"/>
                <a:gd name="T54" fmla="*/ 378 w 405"/>
                <a:gd name="T55" fmla="*/ 65 h 383"/>
                <a:gd name="T56" fmla="*/ 363 w 405"/>
                <a:gd name="T57" fmla="*/ 48 h 383"/>
                <a:gd name="T58" fmla="*/ 344 w 405"/>
                <a:gd name="T59" fmla="*/ 34 h 383"/>
                <a:gd name="T60" fmla="*/ 324 w 405"/>
                <a:gd name="T61" fmla="*/ 22 h 383"/>
                <a:gd name="T62" fmla="*/ 302 w 405"/>
                <a:gd name="T63" fmla="*/ 12 h 383"/>
                <a:gd name="T64" fmla="*/ 281 w 405"/>
                <a:gd name="T65" fmla="*/ 4 h 383"/>
                <a:gd name="T66" fmla="*/ 259 w 405"/>
                <a:gd name="T67" fmla="*/ 1 h 383"/>
                <a:gd name="T68" fmla="*/ 198 w 405"/>
                <a:gd name="T69" fmla="*/ 59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05" h="383">
                  <a:moveTo>
                    <a:pt x="247" y="101"/>
                  </a:moveTo>
                  <a:lnTo>
                    <a:pt x="255" y="101"/>
                  </a:lnTo>
                  <a:lnTo>
                    <a:pt x="262" y="103"/>
                  </a:lnTo>
                  <a:lnTo>
                    <a:pt x="269" y="105"/>
                  </a:lnTo>
                  <a:lnTo>
                    <a:pt x="275" y="109"/>
                  </a:lnTo>
                  <a:lnTo>
                    <a:pt x="281" y="113"/>
                  </a:lnTo>
                  <a:lnTo>
                    <a:pt x="285" y="117"/>
                  </a:lnTo>
                  <a:lnTo>
                    <a:pt x="289" y="122"/>
                  </a:lnTo>
                  <a:lnTo>
                    <a:pt x="292" y="127"/>
                  </a:lnTo>
                  <a:lnTo>
                    <a:pt x="293" y="132"/>
                  </a:lnTo>
                  <a:lnTo>
                    <a:pt x="294" y="137"/>
                  </a:lnTo>
                  <a:lnTo>
                    <a:pt x="294" y="143"/>
                  </a:lnTo>
                  <a:lnTo>
                    <a:pt x="292" y="150"/>
                  </a:lnTo>
                  <a:lnTo>
                    <a:pt x="290" y="159"/>
                  </a:lnTo>
                  <a:lnTo>
                    <a:pt x="285" y="168"/>
                  </a:lnTo>
                  <a:lnTo>
                    <a:pt x="277" y="177"/>
                  </a:lnTo>
                  <a:lnTo>
                    <a:pt x="268" y="187"/>
                  </a:lnTo>
                  <a:lnTo>
                    <a:pt x="254" y="199"/>
                  </a:lnTo>
                  <a:lnTo>
                    <a:pt x="238" y="212"/>
                  </a:lnTo>
                  <a:lnTo>
                    <a:pt x="221" y="224"/>
                  </a:lnTo>
                  <a:lnTo>
                    <a:pt x="203" y="237"/>
                  </a:lnTo>
                  <a:lnTo>
                    <a:pt x="182" y="249"/>
                  </a:lnTo>
                  <a:lnTo>
                    <a:pt x="160" y="263"/>
                  </a:lnTo>
                  <a:lnTo>
                    <a:pt x="136" y="275"/>
                  </a:lnTo>
                  <a:lnTo>
                    <a:pt x="111" y="288"/>
                  </a:lnTo>
                  <a:lnTo>
                    <a:pt x="99" y="294"/>
                  </a:lnTo>
                  <a:lnTo>
                    <a:pt x="0" y="370"/>
                  </a:lnTo>
                  <a:lnTo>
                    <a:pt x="95" y="383"/>
                  </a:lnTo>
                  <a:lnTo>
                    <a:pt x="99" y="381"/>
                  </a:lnTo>
                  <a:lnTo>
                    <a:pt x="141" y="362"/>
                  </a:lnTo>
                  <a:lnTo>
                    <a:pt x="183" y="342"/>
                  </a:lnTo>
                  <a:lnTo>
                    <a:pt x="223" y="322"/>
                  </a:lnTo>
                  <a:lnTo>
                    <a:pt x="261" y="300"/>
                  </a:lnTo>
                  <a:lnTo>
                    <a:pt x="279" y="289"/>
                  </a:lnTo>
                  <a:lnTo>
                    <a:pt x="295" y="279"/>
                  </a:lnTo>
                  <a:lnTo>
                    <a:pt x="312" y="268"/>
                  </a:lnTo>
                  <a:lnTo>
                    <a:pt x="327" y="257"/>
                  </a:lnTo>
                  <a:lnTo>
                    <a:pt x="341" y="244"/>
                  </a:lnTo>
                  <a:lnTo>
                    <a:pt x="354" y="233"/>
                  </a:lnTo>
                  <a:lnTo>
                    <a:pt x="367" y="221"/>
                  </a:lnTo>
                  <a:lnTo>
                    <a:pt x="377" y="210"/>
                  </a:lnTo>
                  <a:lnTo>
                    <a:pt x="384" y="200"/>
                  </a:lnTo>
                  <a:lnTo>
                    <a:pt x="389" y="192"/>
                  </a:lnTo>
                  <a:lnTo>
                    <a:pt x="394" y="183"/>
                  </a:lnTo>
                  <a:lnTo>
                    <a:pt x="398" y="175"/>
                  </a:lnTo>
                  <a:lnTo>
                    <a:pt x="401" y="167"/>
                  </a:lnTo>
                  <a:lnTo>
                    <a:pt x="403" y="159"/>
                  </a:lnTo>
                  <a:lnTo>
                    <a:pt x="404" y="150"/>
                  </a:lnTo>
                  <a:lnTo>
                    <a:pt x="405" y="143"/>
                  </a:lnTo>
                  <a:lnTo>
                    <a:pt x="405" y="129"/>
                  </a:lnTo>
                  <a:lnTo>
                    <a:pt x="403" y="116"/>
                  </a:lnTo>
                  <a:lnTo>
                    <a:pt x="400" y="103"/>
                  </a:lnTo>
                  <a:lnTo>
                    <a:pt x="395" y="92"/>
                  </a:lnTo>
                  <a:lnTo>
                    <a:pt x="390" y="83"/>
                  </a:lnTo>
                  <a:lnTo>
                    <a:pt x="385" y="74"/>
                  </a:lnTo>
                  <a:lnTo>
                    <a:pt x="378" y="65"/>
                  </a:lnTo>
                  <a:lnTo>
                    <a:pt x="371" y="56"/>
                  </a:lnTo>
                  <a:lnTo>
                    <a:pt x="363" y="48"/>
                  </a:lnTo>
                  <a:lnTo>
                    <a:pt x="353" y="40"/>
                  </a:lnTo>
                  <a:lnTo>
                    <a:pt x="344" y="34"/>
                  </a:lnTo>
                  <a:lnTo>
                    <a:pt x="334" y="27"/>
                  </a:lnTo>
                  <a:lnTo>
                    <a:pt x="324" y="22"/>
                  </a:lnTo>
                  <a:lnTo>
                    <a:pt x="314" y="16"/>
                  </a:lnTo>
                  <a:lnTo>
                    <a:pt x="302" y="12"/>
                  </a:lnTo>
                  <a:lnTo>
                    <a:pt x="292" y="7"/>
                  </a:lnTo>
                  <a:lnTo>
                    <a:pt x="281" y="4"/>
                  </a:lnTo>
                  <a:lnTo>
                    <a:pt x="270" y="2"/>
                  </a:lnTo>
                  <a:lnTo>
                    <a:pt x="259" y="1"/>
                  </a:lnTo>
                  <a:lnTo>
                    <a:pt x="247" y="0"/>
                  </a:lnTo>
                  <a:lnTo>
                    <a:pt x="198" y="59"/>
                  </a:lnTo>
                  <a:lnTo>
                    <a:pt x="247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49" name="Freeform 49"/>
            <p:cNvSpPr>
              <a:spLocks/>
            </p:cNvSpPr>
            <p:nvPr userDrawn="1"/>
          </p:nvSpPr>
          <p:spPr bwMode="auto">
            <a:xfrm>
              <a:off x="6473" y="596"/>
              <a:ext cx="191" cy="122"/>
            </a:xfrm>
            <a:custGeom>
              <a:avLst/>
              <a:gdLst>
                <a:gd name="T0" fmla="*/ 982 w 2289"/>
                <a:gd name="T1" fmla="*/ 130 h 1460"/>
                <a:gd name="T2" fmla="*/ 920 w 2289"/>
                <a:gd name="T3" fmla="*/ 214 h 1460"/>
                <a:gd name="T4" fmla="*/ 891 w 2289"/>
                <a:gd name="T5" fmla="*/ 387 h 1460"/>
                <a:gd name="T6" fmla="*/ 936 w 2289"/>
                <a:gd name="T7" fmla="*/ 481 h 1460"/>
                <a:gd name="T8" fmla="*/ 1034 w 2289"/>
                <a:gd name="T9" fmla="*/ 514 h 1460"/>
                <a:gd name="T10" fmla="*/ 1200 w 2289"/>
                <a:gd name="T11" fmla="*/ 464 h 1460"/>
                <a:gd name="T12" fmla="*/ 1394 w 2289"/>
                <a:gd name="T13" fmla="*/ 312 h 1460"/>
                <a:gd name="T14" fmla="*/ 1433 w 2289"/>
                <a:gd name="T15" fmla="*/ 157 h 1460"/>
                <a:gd name="T16" fmla="*/ 1486 w 2289"/>
                <a:gd name="T17" fmla="*/ 59 h 1460"/>
                <a:gd name="T18" fmla="*/ 1544 w 2289"/>
                <a:gd name="T19" fmla="*/ 51 h 1460"/>
                <a:gd name="T20" fmla="*/ 1625 w 2289"/>
                <a:gd name="T21" fmla="*/ 91 h 1460"/>
                <a:gd name="T22" fmla="*/ 1634 w 2289"/>
                <a:gd name="T23" fmla="*/ 139 h 1460"/>
                <a:gd name="T24" fmla="*/ 1565 w 2289"/>
                <a:gd name="T25" fmla="*/ 346 h 1460"/>
                <a:gd name="T26" fmla="*/ 1568 w 2289"/>
                <a:gd name="T27" fmla="*/ 436 h 1460"/>
                <a:gd name="T28" fmla="*/ 1616 w 2289"/>
                <a:gd name="T29" fmla="*/ 424 h 1460"/>
                <a:gd name="T30" fmla="*/ 1755 w 2289"/>
                <a:gd name="T31" fmla="*/ 283 h 1460"/>
                <a:gd name="T32" fmla="*/ 1888 w 2289"/>
                <a:gd name="T33" fmla="*/ 183 h 1460"/>
                <a:gd name="T34" fmla="*/ 1988 w 2289"/>
                <a:gd name="T35" fmla="*/ 199 h 1460"/>
                <a:gd name="T36" fmla="*/ 2063 w 2289"/>
                <a:gd name="T37" fmla="*/ 256 h 1460"/>
                <a:gd name="T38" fmla="*/ 2136 w 2289"/>
                <a:gd name="T39" fmla="*/ 408 h 1460"/>
                <a:gd name="T40" fmla="*/ 2229 w 2289"/>
                <a:gd name="T41" fmla="*/ 531 h 1460"/>
                <a:gd name="T42" fmla="*/ 2287 w 2289"/>
                <a:gd name="T43" fmla="*/ 580 h 1460"/>
                <a:gd name="T44" fmla="*/ 2259 w 2289"/>
                <a:gd name="T45" fmla="*/ 612 h 1460"/>
                <a:gd name="T46" fmla="*/ 2126 w 2289"/>
                <a:gd name="T47" fmla="*/ 583 h 1460"/>
                <a:gd name="T48" fmla="*/ 1973 w 2289"/>
                <a:gd name="T49" fmla="*/ 441 h 1460"/>
                <a:gd name="T50" fmla="*/ 1884 w 2289"/>
                <a:gd name="T51" fmla="*/ 335 h 1460"/>
                <a:gd name="T52" fmla="*/ 1759 w 2289"/>
                <a:gd name="T53" fmla="*/ 434 h 1460"/>
                <a:gd name="T54" fmla="*/ 1620 w 2289"/>
                <a:gd name="T55" fmla="*/ 580 h 1460"/>
                <a:gd name="T56" fmla="*/ 1534 w 2289"/>
                <a:gd name="T57" fmla="*/ 588 h 1460"/>
                <a:gd name="T58" fmla="*/ 1425 w 2289"/>
                <a:gd name="T59" fmla="*/ 523 h 1460"/>
                <a:gd name="T60" fmla="*/ 1351 w 2289"/>
                <a:gd name="T61" fmla="*/ 466 h 1460"/>
                <a:gd name="T62" fmla="*/ 1157 w 2289"/>
                <a:gd name="T63" fmla="*/ 584 h 1460"/>
                <a:gd name="T64" fmla="*/ 993 w 2289"/>
                <a:gd name="T65" fmla="*/ 613 h 1460"/>
                <a:gd name="T66" fmla="*/ 823 w 2289"/>
                <a:gd name="T67" fmla="*/ 555 h 1460"/>
                <a:gd name="T68" fmla="*/ 720 w 2289"/>
                <a:gd name="T69" fmla="*/ 457 h 1460"/>
                <a:gd name="T70" fmla="*/ 448 w 2289"/>
                <a:gd name="T71" fmla="*/ 594 h 1460"/>
                <a:gd name="T72" fmla="*/ 392 w 2289"/>
                <a:gd name="T73" fmla="*/ 862 h 1460"/>
                <a:gd name="T74" fmla="*/ 328 w 2289"/>
                <a:gd name="T75" fmla="*/ 1161 h 1460"/>
                <a:gd name="T76" fmla="*/ 215 w 2289"/>
                <a:gd name="T77" fmla="*/ 1376 h 1460"/>
                <a:gd name="T78" fmla="*/ 114 w 2289"/>
                <a:gd name="T79" fmla="*/ 1448 h 1460"/>
                <a:gd name="T80" fmla="*/ 0 w 2289"/>
                <a:gd name="T81" fmla="*/ 1423 h 1460"/>
                <a:gd name="T82" fmla="*/ 95 w 2289"/>
                <a:gd name="T83" fmla="*/ 1349 h 1460"/>
                <a:gd name="T84" fmla="*/ 163 w 2289"/>
                <a:gd name="T85" fmla="*/ 1228 h 1460"/>
                <a:gd name="T86" fmla="*/ 213 w 2289"/>
                <a:gd name="T87" fmla="*/ 1035 h 1460"/>
                <a:gd name="T88" fmla="*/ 240 w 2289"/>
                <a:gd name="T89" fmla="*/ 617 h 1460"/>
                <a:gd name="T90" fmla="*/ 195 w 2289"/>
                <a:gd name="T91" fmla="*/ 511 h 1460"/>
                <a:gd name="T92" fmla="*/ 92 w 2289"/>
                <a:gd name="T93" fmla="*/ 565 h 1460"/>
                <a:gd name="T94" fmla="*/ 143 w 2289"/>
                <a:gd name="T95" fmla="*/ 433 h 1460"/>
                <a:gd name="T96" fmla="*/ 254 w 2289"/>
                <a:gd name="T97" fmla="*/ 332 h 1460"/>
                <a:gd name="T98" fmla="*/ 297 w 2289"/>
                <a:gd name="T99" fmla="*/ 230 h 1460"/>
                <a:gd name="T100" fmla="*/ 267 w 2289"/>
                <a:gd name="T101" fmla="*/ 178 h 1460"/>
                <a:gd name="T102" fmla="*/ 261 w 2289"/>
                <a:gd name="T103" fmla="*/ 74 h 1460"/>
                <a:gd name="T104" fmla="*/ 335 w 2289"/>
                <a:gd name="T105" fmla="*/ 118 h 1460"/>
                <a:gd name="T106" fmla="*/ 398 w 2289"/>
                <a:gd name="T107" fmla="*/ 108 h 1460"/>
                <a:gd name="T108" fmla="*/ 489 w 2289"/>
                <a:gd name="T109" fmla="*/ 137 h 1460"/>
                <a:gd name="T110" fmla="*/ 505 w 2289"/>
                <a:gd name="T111" fmla="*/ 181 h 1460"/>
                <a:gd name="T112" fmla="*/ 456 w 2289"/>
                <a:gd name="T113" fmla="*/ 322 h 1460"/>
                <a:gd name="T114" fmla="*/ 427 w 2289"/>
                <a:gd name="T115" fmla="*/ 510 h 1460"/>
                <a:gd name="T116" fmla="*/ 690 w 2289"/>
                <a:gd name="T117" fmla="*/ 385 h 1460"/>
                <a:gd name="T118" fmla="*/ 720 w 2289"/>
                <a:gd name="T119" fmla="*/ 256 h 1460"/>
                <a:gd name="T120" fmla="*/ 812 w 2289"/>
                <a:gd name="T121" fmla="*/ 126 h 1460"/>
                <a:gd name="T122" fmla="*/ 957 w 2289"/>
                <a:gd name="T123" fmla="*/ 26 h 1460"/>
                <a:gd name="T124" fmla="*/ 1042 w 2289"/>
                <a:gd name="T125" fmla="*/ 101 h 1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89" h="1460">
                  <a:moveTo>
                    <a:pt x="1042" y="101"/>
                  </a:moveTo>
                  <a:lnTo>
                    <a:pt x="1034" y="101"/>
                  </a:lnTo>
                  <a:lnTo>
                    <a:pt x="1027" y="103"/>
                  </a:lnTo>
                  <a:lnTo>
                    <a:pt x="1020" y="105"/>
                  </a:lnTo>
                  <a:lnTo>
                    <a:pt x="1013" y="109"/>
                  </a:lnTo>
                  <a:lnTo>
                    <a:pt x="1003" y="116"/>
                  </a:lnTo>
                  <a:lnTo>
                    <a:pt x="992" y="122"/>
                  </a:lnTo>
                  <a:lnTo>
                    <a:pt x="982" y="130"/>
                  </a:lnTo>
                  <a:lnTo>
                    <a:pt x="973" y="138"/>
                  </a:lnTo>
                  <a:lnTo>
                    <a:pt x="964" y="147"/>
                  </a:lnTo>
                  <a:lnTo>
                    <a:pt x="956" y="158"/>
                  </a:lnTo>
                  <a:lnTo>
                    <a:pt x="948" y="168"/>
                  </a:lnTo>
                  <a:lnTo>
                    <a:pt x="939" y="178"/>
                  </a:lnTo>
                  <a:lnTo>
                    <a:pt x="932" y="189"/>
                  </a:lnTo>
                  <a:lnTo>
                    <a:pt x="926" y="201"/>
                  </a:lnTo>
                  <a:lnTo>
                    <a:pt x="920" y="214"/>
                  </a:lnTo>
                  <a:lnTo>
                    <a:pt x="914" y="226"/>
                  </a:lnTo>
                  <a:lnTo>
                    <a:pt x="909" y="239"/>
                  </a:lnTo>
                  <a:lnTo>
                    <a:pt x="905" y="253"/>
                  </a:lnTo>
                  <a:lnTo>
                    <a:pt x="901" y="268"/>
                  </a:lnTo>
                  <a:lnTo>
                    <a:pt x="898" y="282"/>
                  </a:lnTo>
                  <a:lnTo>
                    <a:pt x="894" y="294"/>
                  </a:lnTo>
                  <a:lnTo>
                    <a:pt x="890" y="383"/>
                  </a:lnTo>
                  <a:lnTo>
                    <a:pt x="891" y="387"/>
                  </a:lnTo>
                  <a:lnTo>
                    <a:pt x="893" y="401"/>
                  </a:lnTo>
                  <a:lnTo>
                    <a:pt x="898" y="416"/>
                  </a:lnTo>
                  <a:lnTo>
                    <a:pt x="902" y="429"/>
                  </a:lnTo>
                  <a:lnTo>
                    <a:pt x="907" y="441"/>
                  </a:lnTo>
                  <a:lnTo>
                    <a:pt x="913" y="453"/>
                  </a:lnTo>
                  <a:lnTo>
                    <a:pt x="920" y="463"/>
                  </a:lnTo>
                  <a:lnTo>
                    <a:pt x="928" y="472"/>
                  </a:lnTo>
                  <a:lnTo>
                    <a:pt x="936" y="481"/>
                  </a:lnTo>
                  <a:lnTo>
                    <a:pt x="947" y="488"/>
                  </a:lnTo>
                  <a:lnTo>
                    <a:pt x="957" y="495"/>
                  </a:lnTo>
                  <a:lnTo>
                    <a:pt x="968" y="500"/>
                  </a:lnTo>
                  <a:lnTo>
                    <a:pt x="979" y="506"/>
                  </a:lnTo>
                  <a:lnTo>
                    <a:pt x="992" y="510"/>
                  </a:lnTo>
                  <a:lnTo>
                    <a:pt x="1006" y="512"/>
                  </a:lnTo>
                  <a:lnTo>
                    <a:pt x="1019" y="514"/>
                  </a:lnTo>
                  <a:lnTo>
                    <a:pt x="1034" y="514"/>
                  </a:lnTo>
                  <a:lnTo>
                    <a:pt x="1054" y="513"/>
                  </a:lnTo>
                  <a:lnTo>
                    <a:pt x="1073" y="511"/>
                  </a:lnTo>
                  <a:lnTo>
                    <a:pt x="1093" y="507"/>
                  </a:lnTo>
                  <a:lnTo>
                    <a:pt x="1114" y="501"/>
                  </a:lnTo>
                  <a:lnTo>
                    <a:pt x="1135" y="494"/>
                  </a:lnTo>
                  <a:lnTo>
                    <a:pt x="1157" y="485"/>
                  </a:lnTo>
                  <a:lnTo>
                    <a:pt x="1178" y="475"/>
                  </a:lnTo>
                  <a:lnTo>
                    <a:pt x="1200" y="464"/>
                  </a:lnTo>
                  <a:lnTo>
                    <a:pt x="1224" y="449"/>
                  </a:lnTo>
                  <a:lnTo>
                    <a:pt x="1246" y="435"/>
                  </a:lnTo>
                  <a:lnTo>
                    <a:pt x="1271" y="418"/>
                  </a:lnTo>
                  <a:lnTo>
                    <a:pt x="1294" y="400"/>
                  </a:lnTo>
                  <a:lnTo>
                    <a:pt x="1319" y="380"/>
                  </a:lnTo>
                  <a:lnTo>
                    <a:pt x="1343" y="359"/>
                  </a:lnTo>
                  <a:lnTo>
                    <a:pt x="1369" y="336"/>
                  </a:lnTo>
                  <a:lnTo>
                    <a:pt x="1394" y="312"/>
                  </a:lnTo>
                  <a:lnTo>
                    <a:pt x="1395" y="311"/>
                  </a:lnTo>
                  <a:lnTo>
                    <a:pt x="1396" y="309"/>
                  </a:lnTo>
                  <a:lnTo>
                    <a:pt x="1401" y="279"/>
                  </a:lnTo>
                  <a:lnTo>
                    <a:pt x="1407" y="252"/>
                  </a:lnTo>
                  <a:lnTo>
                    <a:pt x="1413" y="227"/>
                  </a:lnTo>
                  <a:lnTo>
                    <a:pt x="1419" y="203"/>
                  </a:lnTo>
                  <a:lnTo>
                    <a:pt x="1425" y="180"/>
                  </a:lnTo>
                  <a:lnTo>
                    <a:pt x="1433" y="157"/>
                  </a:lnTo>
                  <a:lnTo>
                    <a:pt x="1441" y="133"/>
                  </a:lnTo>
                  <a:lnTo>
                    <a:pt x="1450" y="110"/>
                  </a:lnTo>
                  <a:lnTo>
                    <a:pt x="1457" y="96"/>
                  </a:lnTo>
                  <a:lnTo>
                    <a:pt x="1463" y="84"/>
                  </a:lnTo>
                  <a:lnTo>
                    <a:pt x="1470" y="74"/>
                  </a:lnTo>
                  <a:lnTo>
                    <a:pt x="1477" y="65"/>
                  </a:lnTo>
                  <a:lnTo>
                    <a:pt x="1482" y="62"/>
                  </a:lnTo>
                  <a:lnTo>
                    <a:pt x="1486" y="59"/>
                  </a:lnTo>
                  <a:lnTo>
                    <a:pt x="1491" y="55"/>
                  </a:lnTo>
                  <a:lnTo>
                    <a:pt x="1496" y="52"/>
                  </a:lnTo>
                  <a:lnTo>
                    <a:pt x="1501" y="51"/>
                  </a:lnTo>
                  <a:lnTo>
                    <a:pt x="1508" y="49"/>
                  </a:lnTo>
                  <a:lnTo>
                    <a:pt x="1515" y="48"/>
                  </a:lnTo>
                  <a:lnTo>
                    <a:pt x="1521" y="48"/>
                  </a:lnTo>
                  <a:lnTo>
                    <a:pt x="1532" y="49"/>
                  </a:lnTo>
                  <a:lnTo>
                    <a:pt x="1544" y="51"/>
                  </a:lnTo>
                  <a:lnTo>
                    <a:pt x="1557" y="54"/>
                  </a:lnTo>
                  <a:lnTo>
                    <a:pt x="1573" y="59"/>
                  </a:lnTo>
                  <a:lnTo>
                    <a:pt x="1584" y="64"/>
                  </a:lnTo>
                  <a:lnTo>
                    <a:pt x="1594" y="68"/>
                  </a:lnTo>
                  <a:lnTo>
                    <a:pt x="1603" y="73"/>
                  </a:lnTo>
                  <a:lnTo>
                    <a:pt x="1612" y="79"/>
                  </a:lnTo>
                  <a:lnTo>
                    <a:pt x="1619" y="85"/>
                  </a:lnTo>
                  <a:lnTo>
                    <a:pt x="1625" y="91"/>
                  </a:lnTo>
                  <a:lnTo>
                    <a:pt x="1629" y="97"/>
                  </a:lnTo>
                  <a:lnTo>
                    <a:pt x="1633" y="104"/>
                  </a:lnTo>
                  <a:lnTo>
                    <a:pt x="1635" y="110"/>
                  </a:lnTo>
                  <a:lnTo>
                    <a:pt x="1636" y="116"/>
                  </a:lnTo>
                  <a:lnTo>
                    <a:pt x="1636" y="121"/>
                  </a:lnTo>
                  <a:lnTo>
                    <a:pt x="1636" y="127"/>
                  </a:lnTo>
                  <a:lnTo>
                    <a:pt x="1636" y="133"/>
                  </a:lnTo>
                  <a:lnTo>
                    <a:pt x="1634" y="139"/>
                  </a:lnTo>
                  <a:lnTo>
                    <a:pt x="1632" y="145"/>
                  </a:lnTo>
                  <a:lnTo>
                    <a:pt x="1630" y="151"/>
                  </a:lnTo>
                  <a:lnTo>
                    <a:pt x="1614" y="187"/>
                  </a:lnTo>
                  <a:lnTo>
                    <a:pt x="1599" y="222"/>
                  </a:lnTo>
                  <a:lnTo>
                    <a:pt x="1588" y="254"/>
                  </a:lnTo>
                  <a:lnTo>
                    <a:pt x="1579" y="286"/>
                  </a:lnTo>
                  <a:lnTo>
                    <a:pt x="1571" y="317"/>
                  </a:lnTo>
                  <a:lnTo>
                    <a:pt x="1565" y="346"/>
                  </a:lnTo>
                  <a:lnTo>
                    <a:pt x="1562" y="376"/>
                  </a:lnTo>
                  <a:lnTo>
                    <a:pt x="1560" y="406"/>
                  </a:lnTo>
                  <a:lnTo>
                    <a:pt x="1560" y="414"/>
                  </a:lnTo>
                  <a:lnTo>
                    <a:pt x="1561" y="422"/>
                  </a:lnTo>
                  <a:lnTo>
                    <a:pt x="1562" y="426"/>
                  </a:lnTo>
                  <a:lnTo>
                    <a:pt x="1563" y="430"/>
                  </a:lnTo>
                  <a:lnTo>
                    <a:pt x="1565" y="433"/>
                  </a:lnTo>
                  <a:lnTo>
                    <a:pt x="1568" y="436"/>
                  </a:lnTo>
                  <a:lnTo>
                    <a:pt x="1572" y="439"/>
                  </a:lnTo>
                  <a:lnTo>
                    <a:pt x="1576" y="441"/>
                  </a:lnTo>
                  <a:lnTo>
                    <a:pt x="1581" y="442"/>
                  </a:lnTo>
                  <a:lnTo>
                    <a:pt x="1587" y="441"/>
                  </a:lnTo>
                  <a:lnTo>
                    <a:pt x="1593" y="439"/>
                  </a:lnTo>
                  <a:lnTo>
                    <a:pt x="1600" y="435"/>
                  </a:lnTo>
                  <a:lnTo>
                    <a:pt x="1607" y="430"/>
                  </a:lnTo>
                  <a:lnTo>
                    <a:pt x="1616" y="424"/>
                  </a:lnTo>
                  <a:lnTo>
                    <a:pt x="1626" y="414"/>
                  </a:lnTo>
                  <a:lnTo>
                    <a:pt x="1639" y="401"/>
                  </a:lnTo>
                  <a:lnTo>
                    <a:pt x="1653" y="386"/>
                  </a:lnTo>
                  <a:lnTo>
                    <a:pt x="1670" y="369"/>
                  </a:lnTo>
                  <a:lnTo>
                    <a:pt x="1690" y="348"/>
                  </a:lnTo>
                  <a:lnTo>
                    <a:pt x="1710" y="327"/>
                  </a:lnTo>
                  <a:lnTo>
                    <a:pt x="1733" y="306"/>
                  </a:lnTo>
                  <a:lnTo>
                    <a:pt x="1755" y="283"/>
                  </a:lnTo>
                  <a:lnTo>
                    <a:pt x="1778" y="262"/>
                  </a:lnTo>
                  <a:lnTo>
                    <a:pt x="1801" y="242"/>
                  </a:lnTo>
                  <a:lnTo>
                    <a:pt x="1824" y="224"/>
                  </a:lnTo>
                  <a:lnTo>
                    <a:pt x="1845" y="208"/>
                  </a:lnTo>
                  <a:lnTo>
                    <a:pt x="1850" y="204"/>
                  </a:lnTo>
                  <a:lnTo>
                    <a:pt x="1865" y="195"/>
                  </a:lnTo>
                  <a:lnTo>
                    <a:pt x="1880" y="187"/>
                  </a:lnTo>
                  <a:lnTo>
                    <a:pt x="1888" y="183"/>
                  </a:lnTo>
                  <a:lnTo>
                    <a:pt x="1897" y="181"/>
                  </a:lnTo>
                  <a:lnTo>
                    <a:pt x="1906" y="179"/>
                  </a:lnTo>
                  <a:lnTo>
                    <a:pt x="1917" y="178"/>
                  </a:lnTo>
                  <a:lnTo>
                    <a:pt x="1927" y="179"/>
                  </a:lnTo>
                  <a:lnTo>
                    <a:pt x="1937" y="181"/>
                  </a:lnTo>
                  <a:lnTo>
                    <a:pt x="1948" y="183"/>
                  </a:lnTo>
                  <a:lnTo>
                    <a:pt x="1959" y="187"/>
                  </a:lnTo>
                  <a:lnTo>
                    <a:pt x="1988" y="199"/>
                  </a:lnTo>
                  <a:lnTo>
                    <a:pt x="2011" y="212"/>
                  </a:lnTo>
                  <a:lnTo>
                    <a:pt x="2022" y="218"/>
                  </a:lnTo>
                  <a:lnTo>
                    <a:pt x="2030" y="224"/>
                  </a:lnTo>
                  <a:lnTo>
                    <a:pt x="2039" y="230"/>
                  </a:lnTo>
                  <a:lnTo>
                    <a:pt x="2046" y="236"/>
                  </a:lnTo>
                  <a:lnTo>
                    <a:pt x="2052" y="242"/>
                  </a:lnTo>
                  <a:lnTo>
                    <a:pt x="2058" y="249"/>
                  </a:lnTo>
                  <a:lnTo>
                    <a:pt x="2063" y="256"/>
                  </a:lnTo>
                  <a:lnTo>
                    <a:pt x="2069" y="263"/>
                  </a:lnTo>
                  <a:lnTo>
                    <a:pt x="2077" y="278"/>
                  </a:lnTo>
                  <a:lnTo>
                    <a:pt x="2084" y="294"/>
                  </a:lnTo>
                  <a:lnTo>
                    <a:pt x="2094" y="320"/>
                  </a:lnTo>
                  <a:lnTo>
                    <a:pt x="2104" y="343"/>
                  </a:lnTo>
                  <a:lnTo>
                    <a:pt x="2115" y="366"/>
                  </a:lnTo>
                  <a:lnTo>
                    <a:pt x="2126" y="387"/>
                  </a:lnTo>
                  <a:lnTo>
                    <a:pt x="2136" y="408"/>
                  </a:lnTo>
                  <a:lnTo>
                    <a:pt x="2147" y="427"/>
                  </a:lnTo>
                  <a:lnTo>
                    <a:pt x="2158" y="444"/>
                  </a:lnTo>
                  <a:lnTo>
                    <a:pt x="2169" y="462"/>
                  </a:lnTo>
                  <a:lnTo>
                    <a:pt x="2181" y="478"/>
                  </a:lnTo>
                  <a:lnTo>
                    <a:pt x="2192" y="492"/>
                  </a:lnTo>
                  <a:lnTo>
                    <a:pt x="2204" y="507"/>
                  </a:lnTo>
                  <a:lnTo>
                    <a:pt x="2216" y="519"/>
                  </a:lnTo>
                  <a:lnTo>
                    <a:pt x="2229" y="531"/>
                  </a:lnTo>
                  <a:lnTo>
                    <a:pt x="2241" y="541"/>
                  </a:lnTo>
                  <a:lnTo>
                    <a:pt x="2253" y="552"/>
                  </a:lnTo>
                  <a:lnTo>
                    <a:pt x="2266" y="560"/>
                  </a:lnTo>
                  <a:lnTo>
                    <a:pt x="2273" y="564"/>
                  </a:lnTo>
                  <a:lnTo>
                    <a:pt x="2278" y="568"/>
                  </a:lnTo>
                  <a:lnTo>
                    <a:pt x="2282" y="572"/>
                  </a:lnTo>
                  <a:lnTo>
                    <a:pt x="2285" y="576"/>
                  </a:lnTo>
                  <a:lnTo>
                    <a:pt x="2287" y="580"/>
                  </a:lnTo>
                  <a:lnTo>
                    <a:pt x="2289" y="584"/>
                  </a:lnTo>
                  <a:lnTo>
                    <a:pt x="2289" y="588"/>
                  </a:lnTo>
                  <a:lnTo>
                    <a:pt x="2289" y="592"/>
                  </a:lnTo>
                  <a:lnTo>
                    <a:pt x="2286" y="597"/>
                  </a:lnTo>
                  <a:lnTo>
                    <a:pt x="2282" y="602"/>
                  </a:lnTo>
                  <a:lnTo>
                    <a:pt x="2276" y="606"/>
                  </a:lnTo>
                  <a:lnTo>
                    <a:pt x="2267" y="609"/>
                  </a:lnTo>
                  <a:lnTo>
                    <a:pt x="2259" y="612"/>
                  </a:lnTo>
                  <a:lnTo>
                    <a:pt x="2249" y="613"/>
                  </a:lnTo>
                  <a:lnTo>
                    <a:pt x="2238" y="614"/>
                  </a:lnTo>
                  <a:lnTo>
                    <a:pt x="2226" y="614"/>
                  </a:lnTo>
                  <a:lnTo>
                    <a:pt x="2205" y="611"/>
                  </a:lnTo>
                  <a:lnTo>
                    <a:pt x="2186" y="607"/>
                  </a:lnTo>
                  <a:lnTo>
                    <a:pt x="2165" y="601"/>
                  </a:lnTo>
                  <a:lnTo>
                    <a:pt x="2145" y="592"/>
                  </a:lnTo>
                  <a:lnTo>
                    <a:pt x="2126" y="583"/>
                  </a:lnTo>
                  <a:lnTo>
                    <a:pt x="2106" y="571"/>
                  </a:lnTo>
                  <a:lnTo>
                    <a:pt x="2086" y="558"/>
                  </a:lnTo>
                  <a:lnTo>
                    <a:pt x="2066" y="543"/>
                  </a:lnTo>
                  <a:lnTo>
                    <a:pt x="2047" y="526"/>
                  </a:lnTo>
                  <a:lnTo>
                    <a:pt x="2029" y="508"/>
                  </a:lnTo>
                  <a:lnTo>
                    <a:pt x="2009" y="487"/>
                  </a:lnTo>
                  <a:lnTo>
                    <a:pt x="1991" y="465"/>
                  </a:lnTo>
                  <a:lnTo>
                    <a:pt x="1973" y="441"/>
                  </a:lnTo>
                  <a:lnTo>
                    <a:pt x="1954" y="416"/>
                  </a:lnTo>
                  <a:lnTo>
                    <a:pt x="1937" y="388"/>
                  </a:lnTo>
                  <a:lnTo>
                    <a:pt x="1920" y="360"/>
                  </a:lnTo>
                  <a:lnTo>
                    <a:pt x="1913" y="351"/>
                  </a:lnTo>
                  <a:lnTo>
                    <a:pt x="1906" y="344"/>
                  </a:lnTo>
                  <a:lnTo>
                    <a:pt x="1899" y="339"/>
                  </a:lnTo>
                  <a:lnTo>
                    <a:pt x="1892" y="336"/>
                  </a:lnTo>
                  <a:lnTo>
                    <a:pt x="1884" y="335"/>
                  </a:lnTo>
                  <a:lnTo>
                    <a:pt x="1875" y="335"/>
                  </a:lnTo>
                  <a:lnTo>
                    <a:pt x="1867" y="338"/>
                  </a:lnTo>
                  <a:lnTo>
                    <a:pt x="1857" y="343"/>
                  </a:lnTo>
                  <a:lnTo>
                    <a:pt x="1838" y="358"/>
                  </a:lnTo>
                  <a:lnTo>
                    <a:pt x="1821" y="372"/>
                  </a:lnTo>
                  <a:lnTo>
                    <a:pt x="1804" y="387"/>
                  </a:lnTo>
                  <a:lnTo>
                    <a:pt x="1789" y="402"/>
                  </a:lnTo>
                  <a:lnTo>
                    <a:pt x="1759" y="434"/>
                  </a:lnTo>
                  <a:lnTo>
                    <a:pt x="1730" y="468"/>
                  </a:lnTo>
                  <a:lnTo>
                    <a:pt x="1712" y="488"/>
                  </a:lnTo>
                  <a:lnTo>
                    <a:pt x="1692" y="511"/>
                  </a:lnTo>
                  <a:lnTo>
                    <a:pt x="1671" y="535"/>
                  </a:lnTo>
                  <a:lnTo>
                    <a:pt x="1647" y="560"/>
                  </a:lnTo>
                  <a:lnTo>
                    <a:pt x="1638" y="568"/>
                  </a:lnTo>
                  <a:lnTo>
                    <a:pt x="1629" y="574"/>
                  </a:lnTo>
                  <a:lnTo>
                    <a:pt x="1620" y="580"/>
                  </a:lnTo>
                  <a:lnTo>
                    <a:pt x="1611" y="585"/>
                  </a:lnTo>
                  <a:lnTo>
                    <a:pt x="1600" y="588"/>
                  </a:lnTo>
                  <a:lnTo>
                    <a:pt x="1590" y="591"/>
                  </a:lnTo>
                  <a:lnTo>
                    <a:pt x="1580" y="592"/>
                  </a:lnTo>
                  <a:lnTo>
                    <a:pt x="1569" y="593"/>
                  </a:lnTo>
                  <a:lnTo>
                    <a:pt x="1557" y="592"/>
                  </a:lnTo>
                  <a:lnTo>
                    <a:pt x="1545" y="590"/>
                  </a:lnTo>
                  <a:lnTo>
                    <a:pt x="1534" y="588"/>
                  </a:lnTo>
                  <a:lnTo>
                    <a:pt x="1522" y="584"/>
                  </a:lnTo>
                  <a:lnTo>
                    <a:pt x="1509" y="579"/>
                  </a:lnTo>
                  <a:lnTo>
                    <a:pt x="1495" y="573"/>
                  </a:lnTo>
                  <a:lnTo>
                    <a:pt x="1482" y="566"/>
                  </a:lnTo>
                  <a:lnTo>
                    <a:pt x="1469" y="558"/>
                  </a:lnTo>
                  <a:lnTo>
                    <a:pt x="1452" y="546"/>
                  </a:lnTo>
                  <a:lnTo>
                    <a:pt x="1438" y="535"/>
                  </a:lnTo>
                  <a:lnTo>
                    <a:pt x="1425" y="523"/>
                  </a:lnTo>
                  <a:lnTo>
                    <a:pt x="1414" y="510"/>
                  </a:lnTo>
                  <a:lnTo>
                    <a:pt x="1404" y="495"/>
                  </a:lnTo>
                  <a:lnTo>
                    <a:pt x="1397" y="480"/>
                  </a:lnTo>
                  <a:lnTo>
                    <a:pt x="1391" y="464"/>
                  </a:lnTo>
                  <a:lnTo>
                    <a:pt x="1387" y="446"/>
                  </a:lnTo>
                  <a:lnTo>
                    <a:pt x="1385" y="437"/>
                  </a:lnTo>
                  <a:lnTo>
                    <a:pt x="1378" y="443"/>
                  </a:lnTo>
                  <a:lnTo>
                    <a:pt x="1351" y="466"/>
                  </a:lnTo>
                  <a:lnTo>
                    <a:pt x="1319" y="491"/>
                  </a:lnTo>
                  <a:lnTo>
                    <a:pt x="1299" y="506"/>
                  </a:lnTo>
                  <a:lnTo>
                    <a:pt x="1279" y="520"/>
                  </a:lnTo>
                  <a:lnTo>
                    <a:pt x="1257" y="534"/>
                  </a:lnTo>
                  <a:lnTo>
                    <a:pt x="1233" y="547"/>
                  </a:lnTo>
                  <a:lnTo>
                    <a:pt x="1209" y="561"/>
                  </a:lnTo>
                  <a:lnTo>
                    <a:pt x="1183" y="573"/>
                  </a:lnTo>
                  <a:lnTo>
                    <a:pt x="1157" y="584"/>
                  </a:lnTo>
                  <a:lnTo>
                    <a:pt x="1130" y="594"/>
                  </a:lnTo>
                  <a:lnTo>
                    <a:pt x="1103" y="603"/>
                  </a:lnTo>
                  <a:lnTo>
                    <a:pt x="1074" y="609"/>
                  </a:lnTo>
                  <a:lnTo>
                    <a:pt x="1060" y="611"/>
                  </a:lnTo>
                  <a:lnTo>
                    <a:pt x="1045" y="613"/>
                  </a:lnTo>
                  <a:lnTo>
                    <a:pt x="1031" y="613"/>
                  </a:lnTo>
                  <a:lnTo>
                    <a:pt x="1017" y="614"/>
                  </a:lnTo>
                  <a:lnTo>
                    <a:pt x="993" y="613"/>
                  </a:lnTo>
                  <a:lnTo>
                    <a:pt x="970" y="610"/>
                  </a:lnTo>
                  <a:lnTo>
                    <a:pt x="948" y="606"/>
                  </a:lnTo>
                  <a:lnTo>
                    <a:pt x="925" y="601"/>
                  </a:lnTo>
                  <a:lnTo>
                    <a:pt x="904" y="593"/>
                  </a:lnTo>
                  <a:lnTo>
                    <a:pt x="882" y="585"/>
                  </a:lnTo>
                  <a:lnTo>
                    <a:pt x="862" y="576"/>
                  </a:lnTo>
                  <a:lnTo>
                    <a:pt x="842" y="566"/>
                  </a:lnTo>
                  <a:lnTo>
                    <a:pt x="823" y="555"/>
                  </a:lnTo>
                  <a:lnTo>
                    <a:pt x="806" y="542"/>
                  </a:lnTo>
                  <a:lnTo>
                    <a:pt x="788" y="530"/>
                  </a:lnTo>
                  <a:lnTo>
                    <a:pt x="773" y="517"/>
                  </a:lnTo>
                  <a:lnTo>
                    <a:pt x="759" y="503"/>
                  </a:lnTo>
                  <a:lnTo>
                    <a:pt x="746" y="489"/>
                  </a:lnTo>
                  <a:lnTo>
                    <a:pt x="733" y="475"/>
                  </a:lnTo>
                  <a:lnTo>
                    <a:pt x="723" y="461"/>
                  </a:lnTo>
                  <a:lnTo>
                    <a:pt x="720" y="457"/>
                  </a:lnTo>
                  <a:lnTo>
                    <a:pt x="716" y="459"/>
                  </a:lnTo>
                  <a:lnTo>
                    <a:pt x="673" y="477"/>
                  </a:lnTo>
                  <a:lnTo>
                    <a:pt x="632" y="496"/>
                  </a:lnTo>
                  <a:lnTo>
                    <a:pt x="593" y="516"/>
                  </a:lnTo>
                  <a:lnTo>
                    <a:pt x="555" y="535"/>
                  </a:lnTo>
                  <a:lnTo>
                    <a:pt x="517" y="556"/>
                  </a:lnTo>
                  <a:lnTo>
                    <a:pt x="481" y="575"/>
                  </a:lnTo>
                  <a:lnTo>
                    <a:pt x="448" y="594"/>
                  </a:lnTo>
                  <a:lnTo>
                    <a:pt x="414" y="615"/>
                  </a:lnTo>
                  <a:lnTo>
                    <a:pt x="412" y="616"/>
                  </a:lnTo>
                  <a:lnTo>
                    <a:pt x="412" y="619"/>
                  </a:lnTo>
                  <a:lnTo>
                    <a:pt x="408" y="683"/>
                  </a:lnTo>
                  <a:lnTo>
                    <a:pt x="404" y="752"/>
                  </a:lnTo>
                  <a:lnTo>
                    <a:pt x="401" y="787"/>
                  </a:lnTo>
                  <a:lnTo>
                    <a:pt x="397" y="824"/>
                  </a:lnTo>
                  <a:lnTo>
                    <a:pt x="392" y="862"/>
                  </a:lnTo>
                  <a:lnTo>
                    <a:pt x="387" y="900"/>
                  </a:lnTo>
                  <a:lnTo>
                    <a:pt x="381" y="937"/>
                  </a:lnTo>
                  <a:lnTo>
                    <a:pt x="374" y="975"/>
                  </a:lnTo>
                  <a:lnTo>
                    <a:pt x="367" y="1013"/>
                  </a:lnTo>
                  <a:lnTo>
                    <a:pt x="359" y="1051"/>
                  </a:lnTo>
                  <a:lnTo>
                    <a:pt x="350" y="1088"/>
                  </a:lnTo>
                  <a:lnTo>
                    <a:pt x="340" y="1125"/>
                  </a:lnTo>
                  <a:lnTo>
                    <a:pt x="328" y="1161"/>
                  </a:lnTo>
                  <a:lnTo>
                    <a:pt x="316" y="1196"/>
                  </a:lnTo>
                  <a:lnTo>
                    <a:pt x="304" y="1227"/>
                  </a:lnTo>
                  <a:lnTo>
                    <a:pt x="291" y="1257"/>
                  </a:lnTo>
                  <a:lnTo>
                    <a:pt x="276" y="1285"/>
                  </a:lnTo>
                  <a:lnTo>
                    <a:pt x="262" y="1311"/>
                  </a:lnTo>
                  <a:lnTo>
                    <a:pt x="247" y="1334"/>
                  </a:lnTo>
                  <a:lnTo>
                    <a:pt x="231" y="1357"/>
                  </a:lnTo>
                  <a:lnTo>
                    <a:pt x="215" y="1376"/>
                  </a:lnTo>
                  <a:lnTo>
                    <a:pt x="199" y="1394"/>
                  </a:lnTo>
                  <a:lnTo>
                    <a:pt x="180" y="1409"/>
                  </a:lnTo>
                  <a:lnTo>
                    <a:pt x="163" y="1423"/>
                  </a:lnTo>
                  <a:lnTo>
                    <a:pt x="153" y="1429"/>
                  </a:lnTo>
                  <a:lnTo>
                    <a:pt x="144" y="1434"/>
                  </a:lnTo>
                  <a:lnTo>
                    <a:pt x="135" y="1439"/>
                  </a:lnTo>
                  <a:lnTo>
                    <a:pt x="124" y="1444"/>
                  </a:lnTo>
                  <a:lnTo>
                    <a:pt x="114" y="1448"/>
                  </a:lnTo>
                  <a:lnTo>
                    <a:pt x="105" y="1451"/>
                  </a:lnTo>
                  <a:lnTo>
                    <a:pt x="95" y="1454"/>
                  </a:lnTo>
                  <a:lnTo>
                    <a:pt x="85" y="1456"/>
                  </a:lnTo>
                  <a:lnTo>
                    <a:pt x="73" y="1458"/>
                  </a:lnTo>
                  <a:lnTo>
                    <a:pt x="63" y="1459"/>
                  </a:lnTo>
                  <a:lnTo>
                    <a:pt x="52" y="1460"/>
                  </a:lnTo>
                  <a:lnTo>
                    <a:pt x="42" y="1460"/>
                  </a:lnTo>
                  <a:lnTo>
                    <a:pt x="0" y="1423"/>
                  </a:lnTo>
                  <a:lnTo>
                    <a:pt x="22" y="1384"/>
                  </a:lnTo>
                  <a:lnTo>
                    <a:pt x="34" y="1383"/>
                  </a:lnTo>
                  <a:lnTo>
                    <a:pt x="44" y="1381"/>
                  </a:lnTo>
                  <a:lnTo>
                    <a:pt x="55" y="1377"/>
                  </a:lnTo>
                  <a:lnTo>
                    <a:pt x="65" y="1372"/>
                  </a:lnTo>
                  <a:lnTo>
                    <a:pt x="75" y="1366"/>
                  </a:lnTo>
                  <a:lnTo>
                    <a:pt x="86" y="1358"/>
                  </a:lnTo>
                  <a:lnTo>
                    <a:pt x="95" y="1349"/>
                  </a:lnTo>
                  <a:lnTo>
                    <a:pt x="104" y="1337"/>
                  </a:lnTo>
                  <a:lnTo>
                    <a:pt x="113" y="1326"/>
                  </a:lnTo>
                  <a:lnTo>
                    <a:pt x="122" y="1313"/>
                  </a:lnTo>
                  <a:lnTo>
                    <a:pt x="132" y="1298"/>
                  </a:lnTo>
                  <a:lnTo>
                    <a:pt x="140" y="1282"/>
                  </a:lnTo>
                  <a:lnTo>
                    <a:pt x="148" y="1265"/>
                  </a:lnTo>
                  <a:lnTo>
                    <a:pt x="156" y="1248"/>
                  </a:lnTo>
                  <a:lnTo>
                    <a:pt x="163" y="1228"/>
                  </a:lnTo>
                  <a:lnTo>
                    <a:pt x="171" y="1208"/>
                  </a:lnTo>
                  <a:lnTo>
                    <a:pt x="177" y="1186"/>
                  </a:lnTo>
                  <a:lnTo>
                    <a:pt x="185" y="1164"/>
                  </a:lnTo>
                  <a:lnTo>
                    <a:pt x="191" y="1140"/>
                  </a:lnTo>
                  <a:lnTo>
                    <a:pt x="197" y="1115"/>
                  </a:lnTo>
                  <a:lnTo>
                    <a:pt x="203" y="1089"/>
                  </a:lnTo>
                  <a:lnTo>
                    <a:pt x="208" y="1063"/>
                  </a:lnTo>
                  <a:lnTo>
                    <a:pt x="213" y="1035"/>
                  </a:lnTo>
                  <a:lnTo>
                    <a:pt x="217" y="1008"/>
                  </a:lnTo>
                  <a:lnTo>
                    <a:pt x="225" y="949"/>
                  </a:lnTo>
                  <a:lnTo>
                    <a:pt x="231" y="885"/>
                  </a:lnTo>
                  <a:lnTo>
                    <a:pt x="237" y="820"/>
                  </a:lnTo>
                  <a:lnTo>
                    <a:pt x="239" y="752"/>
                  </a:lnTo>
                  <a:lnTo>
                    <a:pt x="240" y="738"/>
                  </a:lnTo>
                  <a:lnTo>
                    <a:pt x="240" y="620"/>
                  </a:lnTo>
                  <a:lnTo>
                    <a:pt x="240" y="617"/>
                  </a:lnTo>
                  <a:lnTo>
                    <a:pt x="239" y="585"/>
                  </a:lnTo>
                  <a:lnTo>
                    <a:pt x="238" y="553"/>
                  </a:lnTo>
                  <a:lnTo>
                    <a:pt x="236" y="519"/>
                  </a:lnTo>
                  <a:lnTo>
                    <a:pt x="235" y="485"/>
                  </a:lnTo>
                  <a:lnTo>
                    <a:pt x="234" y="470"/>
                  </a:lnTo>
                  <a:lnTo>
                    <a:pt x="224" y="481"/>
                  </a:lnTo>
                  <a:lnTo>
                    <a:pt x="210" y="496"/>
                  </a:lnTo>
                  <a:lnTo>
                    <a:pt x="195" y="511"/>
                  </a:lnTo>
                  <a:lnTo>
                    <a:pt x="176" y="525"/>
                  </a:lnTo>
                  <a:lnTo>
                    <a:pt x="157" y="538"/>
                  </a:lnTo>
                  <a:lnTo>
                    <a:pt x="147" y="544"/>
                  </a:lnTo>
                  <a:lnTo>
                    <a:pt x="136" y="549"/>
                  </a:lnTo>
                  <a:lnTo>
                    <a:pt x="125" y="555"/>
                  </a:lnTo>
                  <a:lnTo>
                    <a:pt x="114" y="559"/>
                  </a:lnTo>
                  <a:lnTo>
                    <a:pt x="103" y="562"/>
                  </a:lnTo>
                  <a:lnTo>
                    <a:pt x="92" y="565"/>
                  </a:lnTo>
                  <a:lnTo>
                    <a:pt x="80" y="567"/>
                  </a:lnTo>
                  <a:lnTo>
                    <a:pt x="68" y="568"/>
                  </a:lnTo>
                  <a:lnTo>
                    <a:pt x="27" y="514"/>
                  </a:lnTo>
                  <a:lnTo>
                    <a:pt x="86" y="449"/>
                  </a:lnTo>
                  <a:lnTo>
                    <a:pt x="99" y="448"/>
                  </a:lnTo>
                  <a:lnTo>
                    <a:pt x="113" y="445"/>
                  </a:lnTo>
                  <a:lnTo>
                    <a:pt x="128" y="440"/>
                  </a:lnTo>
                  <a:lnTo>
                    <a:pt x="143" y="433"/>
                  </a:lnTo>
                  <a:lnTo>
                    <a:pt x="158" y="425"/>
                  </a:lnTo>
                  <a:lnTo>
                    <a:pt x="172" y="415"/>
                  </a:lnTo>
                  <a:lnTo>
                    <a:pt x="188" y="402"/>
                  </a:lnTo>
                  <a:lnTo>
                    <a:pt x="202" y="390"/>
                  </a:lnTo>
                  <a:lnTo>
                    <a:pt x="216" y="377"/>
                  </a:lnTo>
                  <a:lnTo>
                    <a:pt x="229" y="363"/>
                  </a:lnTo>
                  <a:lnTo>
                    <a:pt x="242" y="347"/>
                  </a:lnTo>
                  <a:lnTo>
                    <a:pt x="254" y="332"/>
                  </a:lnTo>
                  <a:lnTo>
                    <a:pt x="265" y="316"/>
                  </a:lnTo>
                  <a:lnTo>
                    <a:pt x="274" y="300"/>
                  </a:lnTo>
                  <a:lnTo>
                    <a:pt x="284" y="285"/>
                  </a:lnTo>
                  <a:lnTo>
                    <a:pt x="291" y="269"/>
                  </a:lnTo>
                  <a:lnTo>
                    <a:pt x="294" y="260"/>
                  </a:lnTo>
                  <a:lnTo>
                    <a:pt x="296" y="249"/>
                  </a:lnTo>
                  <a:lnTo>
                    <a:pt x="297" y="240"/>
                  </a:lnTo>
                  <a:lnTo>
                    <a:pt x="297" y="230"/>
                  </a:lnTo>
                  <a:lnTo>
                    <a:pt x="296" y="221"/>
                  </a:lnTo>
                  <a:lnTo>
                    <a:pt x="293" y="212"/>
                  </a:lnTo>
                  <a:lnTo>
                    <a:pt x="290" y="202"/>
                  </a:lnTo>
                  <a:lnTo>
                    <a:pt x="285" y="194"/>
                  </a:lnTo>
                  <a:lnTo>
                    <a:pt x="281" y="189"/>
                  </a:lnTo>
                  <a:lnTo>
                    <a:pt x="277" y="185"/>
                  </a:lnTo>
                  <a:lnTo>
                    <a:pt x="272" y="181"/>
                  </a:lnTo>
                  <a:lnTo>
                    <a:pt x="267" y="178"/>
                  </a:lnTo>
                  <a:lnTo>
                    <a:pt x="263" y="175"/>
                  </a:lnTo>
                  <a:lnTo>
                    <a:pt x="257" y="174"/>
                  </a:lnTo>
                  <a:lnTo>
                    <a:pt x="252" y="172"/>
                  </a:lnTo>
                  <a:lnTo>
                    <a:pt x="247" y="172"/>
                  </a:lnTo>
                  <a:lnTo>
                    <a:pt x="193" y="124"/>
                  </a:lnTo>
                  <a:lnTo>
                    <a:pt x="237" y="72"/>
                  </a:lnTo>
                  <a:lnTo>
                    <a:pt x="250" y="73"/>
                  </a:lnTo>
                  <a:lnTo>
                    <a:pt x="261" y="74"/>
                  </a:lnTo>
                  <a:lnTo>
                    <a:pt x="272" y="77"/>
                  </a:lnTo>
                  <a:lnTo>
                    <a:pt x="282" y="80"/>
                  </a:lnTo>
                  <a:lnTo>
                    <a:pt x="292" y="84"/>
                  </a:lnTo>
                  <a:lnTo>
                    <a:pt x="301" y="89"/>
                  </a:lnTo>
                  <a:lnTo>
                    <a:pt x="308" y="94"/>
                  </a:lnTo>
                  <a:lnTo>
                    <a:pt x="315" y="99"/>
                  </a:lnTo>
                  <a:lnTo>
                    <a:pt x="326" y="109"/>
                  </a:lnTo>
                  <a:lnTo>
                    <a:pt x="335" y="118"/>
                  </a:lnTo>
                  <a:lnTo>
                    <a:pt x="340" y="124"/>
                  </a:lnTo>
                  <a:lnTo>
                    <a:pt x="342" y="127"/>
                  </a:lnTo>
                  <a:lnTo>
                    <a:pt x="345" y="132"/>
                  </a:lnTo>
                  <a:lnTo>
                    <a:pt x="350" y="128"/>
                  </a:lnTo>
                  <a:lnTo>
                    <a:pt x="361" y="120"/>
                  </a:lnTo>
                  <a:lnTo>
                    <a:pt x="372" y="114"/>
                  </a:lnTo>
                  <a:lnTo>
                    <a:pt x="386" y="110"/>
                  </a:lnTo>
                  <a:lnTo>
                    <a:pt x="398" y="108"/>
                  </a:lnTo>
                  <a:lnTo>
                    <a:pt x="412" y="106"/>
                  </a:lnTo>
                  <a:lnTo>
                    <a:pt x="425" y="109"/>
                  </a:lnTo>
                  <a:lnTo>
                    <a:pt x="440" y="112"/>
                  </a:lnTo>
                  <a:lnTo>
                    <a:pt x="454" y="118"/>
                  </a:lnTo>
                  <a:lnTo>
                    <a:pt x="464" y="123"/>
                  </a:lnTo>
                  <a:lnTo>
                    <a:pt x="473" y="127"/>
                  </a:lnTo>
                  <a:lnTo>
                    <a:pt x="481" y="132"/>
                  </a:lnTo>
                  <a:lnTo>
                    <a:pt x="489" y="137"/>
                  </a:lnTo>
                  <a:lnTo>
                    <a:pt x="494" y="141"/>
                  </a:lnTo>
                  <a:lnTo>
                    <a:pt x="498" y="146"/>
                  </a:lnTo>
                  <a:lnTo>
                    <a:pt x="502" y="151"/>
                  </a:lnTo>
                  <a:lnTo>
                    <a:pt x="504" y="157"/>
                  </a:lnTo>
                  <a:lnTo>
                    <a:pt x="505" y="162"/>
                  </a:lnTo>
                  <a:lnTo>
                    <a:pt x="506" y="168"/>
                  </a:lnTo>
                  <a:lnTo>
                    <a:pt x="506" y="174"/>
                  </a:lnTo>
                  <a:lnTo>
                    <a:pt x="505" y="181"/>
                  </a:lnTo>
                  <a:lnTo>
                    <a:pt x="504" y="188"/>
                  </a:lnTo>
                  <a:lnTo>
                    <a:pt x="501" y="196"/>
                  </a:lnTo>
                  <a:lnTo>
                    <a:pt x="498" y="206"/>
                  </a:lnTo>
                  <a:lnTo>
                    <a:pt x="494" y="215"/>
                  </a:lnTo>
                  <a:lnTo>
                    <a:pt x="485" y="233"/>
                  </a:lnTo>
                  <a:lnTo>
                    <a:pt x="476" y="258"/>
                  </a:lnTo>
                  <a:lnTo>
                    <a:pt x="466" y="287"/>
                  </a:lnTo>
                  <a:lnTo>
                    <a:pt x="456" y="322"/>
                  </a:lnTo>
                  <a:lnTo>
                    <a:pt x="445" y="362"/>
                  </a:lnTo>
                  <a:lnTo>
                    <a:pt x="435" y="406"/>
                  </a:lnTo>
                  <a:lnTo>
                    <a:pt x="430" y="429"/>
                  </a:lnTo>
                  <a:lnTo>
                    <a:pt x="426" y="454"/>
                  </a:lnTo>
                  <a:lnTo>
                    <a:pt x="422" y="478"/>
                  </a:lnTo>
                  <a:lnTo>
                    <a:pt x="419" y="504"/>
                  </a:lnTo>
                  <a:lnTo>
                    <a:pt x="418" y="515"/>
                  </a:lnTo>
                  <a:lnTo>
                    <a:pt x="427" y="510"/>
                  </a:lnTo>
                  <a:lnTo>
                    <a:pt x="464" y="490"/>
                  </a:lnTo>
                  <a:lnTo>
                    <a:pt x="501" y="472"/>
                  </a:lnTo>
                  <a:lnTo>
                    <a:pt x="536" y="455"/>
                  </a:lnTo>
                  <a:lnTo>
                    <a:pt x="571" y="438"/>
                  </a:lnTo>
                  <a:lnTo>
                    <a:pt x="604" y="423"/>
                  </a:lnTo>
                  <a:lnTo>
                    <a:pt x="635" y="410"/>
                  </a:lnTo>
                  <a:lnTo>
                    <a:pt x="664" y="396"/>
                  </a:lnTo>
                  <a:lnTo>
                    <a:pt x="690" y="385"/>
                  </a:lnTo>
                  <a:lnTo>
                    <a:pt x="694" y="383"/>
                  </a:lnTo>
                  <a:lnTo>
                    <a:pt x="694" y="380"/>
                  </a:lnTo>
                  <a:lnTo>
                    <a:pt x="695" y="358"/>
                  </a:lnTo>
                  <a:lnTo>
                    <a:pt x="697" y="335"/>
                  </a:lnTo>
                  <a:lnTo>
                    <a:pt x="701" y="315"/>
                  </a:lnTo>
                  <a:lnTo>
                    <a:pt x="706" y="294"/>
                  </a:lnTo>
                  <a:lnTo>
                    <a:pt x="712" y="274"/>
                  </a:lnTo>
                  <a:lnTo>
                    <a:pt x="720" y="256"/>
                  </a:lnTo>
                  <a:lnTo>
                    <a:pt x="728" y="236"/>
                  </a:lnTo>
                  <a:lnTo>
                    <a:pt x="737" y="219"/>
                  </a:lnTo>
                  <a:lnTo>
                    <a:pt x="749" y="201"/>
                  </a:lnTo>
                  <a:lnTo>
                    <a:pt x="760" y="185"/>
                  </a:lnTo>
                  <a:lnTo>
                    <a:pt x="772" y="169"/>
                  </a:lnTo>
                  <a:lnTo>
                    <a:pt x="784" y="153"/>
                  </a:lnTo>
                  <a:lnTo>
                    <a:pt x="798" y="139"/>
                  </a:lnTo>
                  <a:lnTo>
                    <a:pt x="812" y="126"/>
                  </a:lnTo>
                  <a:lnTo>
                    <a:pt x="826" y="113"/>
                  </a:lnTo>
                  <a:lnTo>
                    <a:pt x="840" y="99"/>
                  </a:lnTo>
                  <a:lnTo>
                    <a:pt x="855" y="88"/>
                  </a:lnTo>
                  <a:lnTo>
                    <a:pt x="870" y="77"/>
                  </a:lnTo>
                  <a:lnTo>
                    <a:pt x="884" y="67"/>
                  </a:lnTo>
                  <a:lnTo>
                    <a:pt x="900" y="58"/>
                  </a:lnTo>
                  <a:lnTo>
                    <a:pt x="928" y="40"/>
                  </a:lnTo>
                  <a:lnTo>
                    <a:pt x="957" y="26"/>
                  </a:lnTo>
                  <a:lnTo>
                    <a:pt x="982" y="15"/>
                  </a:lnTo>
                  <a:lnTo>
                    <a:pt x="1006" y="7"/>
                  </a:lnTo>
                  <a:lnTo>
                    <a:pt x="1017" y="4"/>
                  </a:lnTo>
                  <a:lnTo>
                    <a:pt x="1026" y="2"/>
                  </a:lnTo>
                  <a:lnTo>
                    <a:pt x="1035" y="1"/>
                  </a:lnTo>
                  <a:lnTo>
                    <a:pt x="1042" y="0"/>
                  </a:lnTo>
                  <a:lnTo>
                    <a:pt x="1091" y="53"/>
                  </a:lnTo>
                  <a:lnTo>
                    <a:pt x="1042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0" name="Freeform 50"/>
            <p:cNvSpPr>
              <a:spLocks/>
            </p:cNvSpPr>
            <p:nvPr userDrawn="1"/>
          </p:nvSpPr>
          <p:spPr bwMode="auto">
            <a:xfrm>
              <a:off x="7147" y="571"/>
              <a:ext cx="17" cy="15"/>
            </a:xfrm>
            <a:custGeom>
              <a:avLst/>
              <a:gdLst>
                <a:gd name="T0" fmla="*/ 44 w 202"/>
                <a:gd name="T1" fmla="*/ 0 h 178"/>
                <a:gd name="T2" fmla="*/ 32 w 202"/>
                <a:gd name="T3" fmla="*/ 1 h 178"/>
                <a:gd name="T4" fmla="*/ 21 w 202"/>
                <a:gd name="T5" fmla="*/ 3 h 178"/>
                <a:gd name="T6" fmla="*/ 17 w 202"/>
                <a:gd name="T7" fmla="*/ 5 h 178"/>
                <a:gd name="T8" fmla="*/ 13 w 202"/>
                <a:gd name="T9" fmla="*/ 7 h 178"/>
                <a:gd name="T10" fmla="*/ 10 w 202"/>
                <a:gd name="T11" fmla="*/ 9 h 178"/>
                <a:gd name="T12" fmla="*/ 8 w 202"/>
                <a:gd name="T13" fmla="*/ 12 h 178"/>
                <a:gd name="T14" fmla="*/ 4 w 202"/>
                <a:gd name="T15" fmla="*/ 19 h 178"/>
                <a:gd name="T16" fmla="*/ 1 w 202"/>
                <a:gd name="T17" fmla="*/ 25 h 178"/>
                <a:gd name="T18" fmla="*/ 0 w 202"/>
                <a:gd name="T19" fmla="*/ 32 h 178"/>
                <a:gd name="T20" fmla="*/ 1 w 202"/>
                <a:gd name="T21" fmla="*/ 38 h 178"/>
                <a:gd name="T22" fmla="*/ 2 w 202"/>
                <a:gd name="T23" fmla="*/ 45 h 178"/>
                <a:gd name="T24" fmla="*/ 5 w 202"/>
                <a:gd name="T25" fmla="*/ 51 h 178"/>
                <a:gd name="T26" fmla="*/ 7 w 202"/>
                <a:gd name="T27" fmla="*/ 57 h 178"/>
                <a:gd name="T28" fmla="*/ 10 w 202"/>
                <a:gd name="T29" fmla="*/ 63 h 178"/>
                <a:gd name="T30" fmla="*/ 15 w 202"/>
                <a:gd name="T31" fmla="*/ 74 h 178"/>
                <a:gd name="T32" fmla="*/ 22 w 202"/>
                <a:gd name="T33" fmla="*/ 84 h 178"/>
                <a:gd name="T34" fmla="*/ 30 w 202"/>
                <a:gd name="T35" fmla="*/ 95 h 178"/>
                <a:gd name="T36" fmla="*/ 38 w 202"/>
                <a:gd name="T37" fmla="*/ 104 h 178"/>
                <a:gd name="T38" fmla="*/ 48 w 202"/>
                <a:gd name="T39" fmla="*/ 114 h 178"/>
                <a:gd name="T40" fmla="*/ 59 w 202"/>
                <a:gd name="T41" fmla="*/ 124 h 178"/>
                <a:gd name="T42" fmla="*/ 69 w 202"/>
                <a:gd name="T43" fmla="*/ 133 h 178"/>
                <a:gd name="T44" fmla="*/ 80 w 202"/>
                <a:gd name="T45" fmla="*/ 141 h 178"/>
                <a:gd name="T46" fmla="*/ 91 w 202"/>
                <a:gd name="T47" fmla="*/ 149 h 178"/>
                <a:gd name="T48" fmla="*/ 102 w 202"/>
                <a:gd name="T49" fmla="*/ 156 h 178"/>
                <a:gd name="T50" fmla="*/ 114 w 202"/>
                <a:gd name="T51" fmla="*/ 162 h 178"/>
                <a:gd name="T52" fmla="*/ 125 w 202"/>
                <a:gd name="T53" fmla="*/ 168 h 178"/>
                <a:gd name="T54" fmla="*/ 136 w 202"/>
                <a:gd name="T55" fmla="*/ 172 h 178"/>
                <a:gd name="T56" fmla="*/ 146 w 202"/>
                <a:gd name="T57" fmla="*/ 175 h 178"/>
                <a:gd name="T58" fmla="*/ 157 w 202"/>
                <a:gd name="T59" fmla="*/ 177 h 178"/>
                <a:gd name="T60" fmla="*/ 166 w 202"/>
                <a:gd name="T61" fmla="*/ 178 h 178"/>
                <a:gd name="T62" fmla="*/ 171 w 202"/>
                <a:gd name="T63" fmla="*/ 178 h 178"/>
                <a:gd name="T64" fmla="*/ 176 w 202"/>
                <a:gd name="T65" fmla="*/ 177 h 178"/>
                <a:gd name="T66" fmla="*/ 181 w 202"/>
                <a:gd name="T67" fmla="*/ 176 h 178"/>
                <a:gd name="T68" fmla="*/ 185 w 202"/>
                <a:gd name="T69" fmla="*/ 174 h 178"/>
                <a:gd name="T70" fmla="*/ 188 w 202"/>
                <a:gd name="T71" fmla="*/ 172 h 178"/>
                <a:gd name="T72" fmla="*/ 192 w 202"/>
                <a:gd name="T73" fmla="*/ 170 h 178"/>
                <a:gd name="T74" fmla="*/ 195 w 202"/>
                <a:gd name="T75" fmla="*/ 167 h 178"/>
                <a:gd name="T76" fmla="*/ 197 w 202"/>
                <a:gd name="T77" fmla="*/ 163 h 178"/>
                <a:gd name="T78" fmla="*/ 200 w 202"/>
                <a:gd name="T79" fmla="*/ 158 h 178"/>
                <a:gd name="T80" fmla="*/ 201 w 202"/>
                <a:gd name="T81" fmla="*/ 153 h 178"/>
                <a:gd name="T82" fmla="*/ 202 w 202"/>
                <a:gd name="T83" fmla="*/ 147 h 178"/>
                <a:gd name="T84" fmla="*/ 202 w 202"/>
                <a:gd name="T85" fmla="*/ 141 h 178"/>
                <a:gd name="T86" fmla="*/ 202 w 202"/>
                <a:gd name="T87" fmla="*/ 134 h 178"/>
                <a:gd name="T88" fmla="*/ 201 w 202"/>
                <a:gd name="T89" fmla="*/ 126 h 178"/>
                <a:gd name="T90" fmla="*/ 199 w 202"/>
                <a:gd name="T91" fmla="*/ 118 h 178"/>
                <a:gd name="T92" fmla="*/ 196 w 202"/>
                <a:gd name="T93" fmla="*/ 109 h 178"/>
                <a:gd name="T94" fmla="*/ 193 w 202"/>
                <a:gd name="T95" fmla="*/ 100 h 178"/>
                <a:gd name="T96" fmla="*/ 189 w 202"/>
                <a:gd name="T97" fmla="*/ 91 h 178"/>
                <a:gd name="T98" fmla="*/ 185 w 202"/>
                <a:gd name="T99" fmla="*/ 83 h 178"/>
                <a:gd name="T100" fmla="*/ 179 w 202"/>
                <a:gd name="T101" fmla="*/ 75 h 178"/>
                <a:gd name="T102" fmla="*/ 173 w 202"/>
                <a:gd name="T103" fmla="*/ 65 h 178"/>
                <a:gd name="T104" fmla="*/ 167 w 202"/>
                <a:gd name="T105" fmla="*/ 57 h 178"/>
                <a:gd name="T106" fmla="*/ 160 w 202"/>
                <a:gd name="T107" fmla="*/ 50 h 178"/>
                <a:gd name="T108" fmla="*/ 151 w 202"/>
                <a:gd name="T109" fmla="*/ 43 h 178"/>
                <a:gd name="T110" fmla="*/ 138 w 202"/>
                <a:gd name="T111" fmla="*/ 34 h 178"/>
                <a:gd name="T112" fmla="*/ 125 w 202"/>
                <a:gd name="T113" fmla="*/ 25 h 178"/>
                <a:gd name="T114" fmla="*/ 111 w 202"/>
                <a:gd name="T115" fmla="*/ 18 h 178"/>
                <a:gd name="T116" fmla="*/ 97 w 202"/>
                <a:gd name="T117" fmla="*/ 11 h 178"/>
                <a:gd name="T118" fmla="*/ 83 w 202"/>
                <a:gd name="T119" fmla="*/ 6 h 178"/>
                <a:gd name="T120" fmla="*/ 70 w 202"/>
                <a:gd name="T121" fmla="*/ 3 h 178"/>
                <a:gd name="T122" fmla="*/ 57 w 202"/>
                <a:gd name="T123" fmla="*/ 1 h 178"/>
                <a:gd name="T124" fmla="*/ 44 w 202"/>
                <a:gd name="T125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2" h="178">
                  <a:moveTo>
                    <a:pt x="44" y="0"/>
                  </a:moveTo>
                  <a:lnTo>
                    <a:pt x="32" y="1"/>
                  </a:lnTo>
                  <a:lnTo>
                    <a:pt x="21" y="3"/>
                  </a:lnTo>
                  <a:lnTo>
                    <a:pt x="17" y="5"/>
                  </a:lnTo>
                  <a:lnTo>
                    <a:pt x="13" y="7"/>
                  </a:lnTo>
                  <a:lnTo>
                    <a:pt x="10" y="9"/>
                  </a:lnTo>
                  <a:lnTo>
                    <a:pt x="8" y="12"/>
                  </a:lnTo>
                  <a:lnTo>
                    <a:pt x="4" y="19"/>
                  </a:lnTo>
                  <a:lnTo>
                    <a:pt x="1" y="25"/>
                  </a:lnTo>
                  <a:lnTo>
                    <a:pt x="0" y="32"/>
                  </a:lnTo>
                  <a:lnTo>
                    <a:pt x="1" y="38"/>
                  </a:lnTo>
                  <a:lnTo>
                    <a:pt x="2" y="45"/>
                  </a:lnTo>
                  <a:lnTo>
                    <a:pt x="5" y="51"/>
                  </a:lnTo>
                  <a:lnTo>
                    <a:pt x="7" y="57"/>
                  </a:lnTo>
                  <a:lnTo>
                    <a:pt x="10" y="63"/>
                  </a:lnTo>
                  <a:lnTo>
                    <a:pt x="15" y="74"/>
                  </a:lnTo>
                  <a:lnTo>
                    <a:pt x="22" y="84"/>
                  </a:lnTo>
                  <a:lnTo>
                    <a:pt x="30" y="95"/>
                  </a:lnTo>
                  <a:lnTo>
                    <a:pt x="38" y="104"/>
                  </a:lnTo>
                  <a:lnTo>
                    <a:pt x="48" y="114"/>
                  </a:lnTo>
                  <a:lnTo>
                    <a:pt x="59" y="124"/>
                  </a:lnTo>
                  <a:lnTo>
                    <a:pt x="69" y="133"/>
                  </a:lnTo>
                  <a:lnTo>
                    <a:pt x="80" y="141"/>
                  </a:lnTo>
                  <a:lnTo>
                    <a:pt x="91" y="149"/>
                  </a:lnTo>
                  <a:lnTo>
                    <a:pt x="102" y="156"/>
                  </a:lnTo>
                  <a:lnTo>
                    <a:pt x="114" y="162"/>
                  </a:lnTo>
                  <a:lnTo>
                    <a:pt x="125" y="168"/>
                  </a:lnTo>
                  <a:lnTo>
                    <a:pt x="136" y="172"/>
                  </a:lnTo>
                  <a:lnTo>
                    <a:pt x="146" y="175"/>
                  </a:lnTo>
                  <a:lnTo>
                    <a:pt x="157" y="177"/>
                  </a:lnTo>
                  <a:lnTo>
                    <a:pt x="166" y="178"/>
                  </a:lnTo>
                  <a:lnTo>
                    <a:pt x="171" y="178"/>
                  </a:lnTo>
                  <a:lnTo>
                    <a:pt x="176" y="177"/>
                  </a:lnTo>
                  <a:lnTo>
                    <a:pt x="181" y="176"/>
                  </a:lnTo>
                  <a:lnTo>
                    <a:pt x="185" y="174"/>
                  </a:lnTo>
                  <a:lnTo>
                    <a:pt x="188" y="172"/>
                  </a:lnTo>
                  <a:lnTo>
                    <a:pt x="192" y="170"/>
                  </a:lnTo>
                  <a:lnTo>
                    <a:pt x="195" y="167"/>
                  </a:lnTo>
                  <a:lnTo>
                    <a:pt x="197" y="163"/>
                  </a:lnTo>
                  <a:lnTo>
                    <a:pt x="200" y="158"/>
                  </a:lnTo>
                  <a:lnTo>
                    <a:pt x="201" y="153"/>
                  </a:lnTo>
                  <a:lnTo>
                    <a:pt x="202" y="147"/>
                  </a:lnTo>
                  <a:lnTo>
                    <a:pt x="202" y="141"/>
                  </a:lnTo>
                  <a:lnTo>
                    <a:pt x="202" y="134"/>
                  </a:lnTo>
                  <a:lnTo>
                    <a:pt x="201" y="126"/>
                  </a:lnTo>
                  <a:lnTo>
                    <a:pt x="199" y="118"/>
                  </a:lnTo>
                  <a:lnTo>
                    <a:pt x="196" y="109"/>
                  </a:lnTo>
                  <a:lnTo>
                    <a:pt x="193" y="100"/>
                  </a:lnTo>
                  <a:lnTo>
                    <a:pt x="189" y="91"/>
                  </a:lnTo>
                  <a:lnTo>
                    <a:pt x="185" y="83"/>
                  </a:lnTo>
                  <a:lnTo>
                    <a:pt x="179" y="75"/>
                  </a:lnTo>
                  <a:lnTo>
                    <a:pt x="173" y="65"/>
                  </a:lnTo>
                  <a:lnTo>
                    <a:pt x="167" y="57"/>
                  </a:lnTo>
                  <a:lnTo>
                    <a:pt x="160" y="50"/>
                  </a:lnTo>
                  <a:lnTo>
                    <a:pt x="151" y="43"/>
                  </a:lnTo>
                  <a:lnTo>
                    <a:pt x="138" y="34"/>
                  </a:lnTo>
                  <a:lnTo>
                    <a:pt x="125" y="25"/>
                  </a:lnTo>
                  <a:lnTo>
                    <a:pt x="111" y="18"/>
                  </a:lnTo>
                  <a:lnTo>
                    <a:pt x="97" y="11"/>
                  </a:lnTo>
                  <a:lnTo>
                    <a:pt x="83" y="6"/>
                  </a:lnTo>
                  <a:lnTo>
                    <a:pt x="70" y="3"/>
                  </a:lnTo>
                  <a:lnTo>
                    <a:pt x="57" y="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1" name="Freeform 51"/>
            <p:cNvSpPr>
              <a:spLocks/>
            </p:cNvSpPr>
            <p:nvPr userDrawn="1"/>
          </p:nvSpPr>
          <p:spPr bwMode="auto">
            <a:xfrm>
              <a:off x="6747" y="571"/>
              <a:ext cx="17" cy="13"/>
            </a:xfrm>
            <a:custGeom>
              <a:avLst/>
              <a:gdLst>
                <a:gd name="T0" fmla="*/ 39 w 203"/>
                <a:gd name="T1" fmla="*/ 0 h 161"/>
                <a:gd name="T2" fmla="*/ 31 w 203"/>
                <a:gd name="T3" fmla="*/ 1 h 161"/>
                <a:gd name="T4" fmla="*/ 23 w 203"/>
                <a:gd name="T5" fmla="*/ 3 h 161"/>
                <a:gd name="T6" fmla="*/ 17 w 203"/>
                <a:gd name="T7" fmla="*/ 7 h 161"/>
                <a:gd name="T8" fmla="*/ 11 w 203"/>
                <a:gd name="T9" fmla="*/ 12 h 161"/>
                <a:gd name="T10" fmla="*/ 6 w 203"/>
                <a:gd name="T11" fmla="*/ 18 h 161"/>
                <a:gd name="T12" fmla="*/ 3 w 203"/>
                <a:gd name="T13" fmla="*/ 26 h 161"/>
                <a:gd name="T14" fmla="*/ 1 w 203"/>
                <a:gd name="T15" fmla="*/ 32 h 161"/>
                <a:gd name="T16" fmla="*/ 0 w 203"/>
                <a:gd name="T17" fmla="*/ 39 h 161"/>
                <a:gd name="T18" fmla="*/ 1 w 203"/>
                <a:gd name="T19" fmla="*/ 46 h 161"/>
                <a:gd name="T20" fmla="*/ 2 w 203"/>
                <a:gd name="T21" fmla="*/ 53 h 161"/>
                <a:gd name="T22" fmla="*/ 4 w 203"/>
                <a:gd name="T23" fmla="*/ 60 h 161"/>
                <a:gd name="T24" fmla="*/ 8 w 203"/>
                <a:gd name="T25" fmla="*/ 68 h 161"/>
                <a:gd name="T26" fmla="*/ 13 w 203"/>
                <a:gd name="T27" fmla="*/ 78 h 161"/>
                <a:gd name="T28" fmla="*/ 19 w 203"/>
                <a:gd name="T29" fmla="*/ 86 h 161"/>
                <a:gd name="T30" fmla="*/ 26 w 203"/>
                <a:gd name="T31" fmla="*/ 94 h 161"/>
                <a:gd name="T32" fmla="*/ 34 w 203"/>
                <a:gd name="T33" fmla="*/ 103 h 161"/>
                <a:gd name="T34" fmla="*/ 42 w 203"/>
                <a:gd name="T35" fmla="*/ 111 h 161"/>
                <a:gd name="T36" fmla="*/ 52 w 203"/>
                <a:gd name="T37" fmla="*/ 118 h 161"/>
                <a:gd name="T38" fmla="*/ 62 w 203"/>
                <a:gd name="T39" fmla="*/ 126 h 161"/>
                <a:gd name="T40" fmla="*/ 73 w 203"/>
                <a:gd name="T41" fmla="*/ 133 h 161"/>
                <a:gd name="T42" fmla="*/ 83 w 203"/>
                <a:gd name="T43" fmla="*/ 139 h 161"/>
                <a:gd name="T44" fmla="*/ 94 w 203"/>
                <a:gd name="T45" fmla="*/ 144 h 161"/>
                <a:gd name="T46" fmla="*/ 105 w 203"/>
                <a:gd name="T47" fmla="*/ 149 h 161"/>
                <a:gd name="T48" fmla="*/ 117 w 203"/>
                <a:gd name="T49" fmla="*/ 153 h 161"/>
                <a:gd name="T50" fmla="*/ 128 w 203"/>
                <a:gd name="T51" fmla="*/ 157 h 161"/>
                <a:gd name="T52" fmla="*/ 139 w 203"/>
                <a:gd name="T53" fmla="*/ 159 h 161"/>
                <a:gd name="T54" fmla="*/ 149 w 203"/>
                <a:gd name="T55" fmla="*/ 161 h 161"/>
                <a:gd name="T56" fmla="*/ 159 w 203"/>
                <a:gd name="T57" fmla="*/ 161 h 161"/>
                <a:gd name="T58" fmla="*/ 167 w 203"/>
                <a:gd name="T59" fmla="*/ 161 h 161"/>
                <a:gd name="T60" fmla="*/ 173 w 203"/>
                <a:gd name="T61" fmla="*/ 160 h 161"/>
                <a:gd name="T62" fmla="*/ 179 w 203"/>
                <a:gd name="T63" fmla="*/ 159 h 161"/>
                <a:gd name="T64" fmla="*/ 184 w 203"/>
                <a:gd name="T65" fmla="*/ 157 h 161"/>
                <a:gd name="T66" fmla="*/ 189 w 203"/>
                <a:gd name="T67" fmla="*/ 155 h 161"/>
                <a:gd name="T68" fmla="*/ 193 w 203"/>
                <a:gd name="T69" fmla="*/ 152 h 161"/>
                <a:gd name="T70" fmla="*/ 197 w 203"/>
                <a:gd name="T71" fmla="*/ 149 h 161"/>
                <a:gd name="T72" fmla="*/ 201 w 203"/>
                <a:gd name="T73" fmla="*/ 145 h 161"/>
                <a:gd name="T74" fmla="*/ 202 w 203"/>
                <a:gd name="T75" fmla="*/ 142 h 161"/>
                <a:gd name="T76" fmla="*/ 203 w 203"/>
                <a:gd name="T77" fmla="*/ 139 h 161"/>
                <a:gd name="T78" fmla="*/ 203 w 203"/>
                <a:gd name="T79" fmla="*/ 135 h 161"/>
                <a:gd name="T80" fmla="*/ 203 w 203"/>
                <a:gd name="T81" fmla="*/ 131 h 161"/>
                <a:gd name="T82" fmla="*/ 201 w 203"/>
                <a:gd name="T83" fmla="*/ 124 h 161"/>
                <a:gd name="T84" fmla="*/ 198 w 203"/>
                <a:gd name="T85" fmla="*/ 117 h 161"/>
                <a:gd name="T86" fmla="*/ 193 w 203"/>
                <a:gd name="T87" fmla="*/ 107 h 161"/>
                <a:gd name="T88" fmla="*/ 187 w 203"/>
                <a:gd name="T89" fmla="*/ 98 h 161"/>
                <a:gd name="T90" fmla="*/ 179 w 203"/>
                <a:gd name="T91" fmla="*/ 88 h 161"/>
                <a:gd name="T92" fmla="*/ 171 w 203"/>
                <a:gd name="T93" fmla="*/ 78 h 161"/>
                <a:gd name="T94" fmla="*/ 162 w 203"/>
                <a:gd name="T95" fmla="*/ 68 h 161"/>
                <a:gd name="T96" fmla="*/ 151 w 203"/>
                <a:gd name="T97" fmla="*/ 58 h 161"/>
                <a:gd name="T98" fmla="*/ 140 w 203"/>
                <a:gd name="T99" fmla="*/ 49 h 161"/>
                <a:gd name="T100" fmla="*/ 129 w 203"/>
                <a:gd name="T101" fmla="*/ 40 h 161"/>
                <a:gd name="T102" fmla="*/ 118 w 203"/>
                <a:gd name="T103" fmla="*/ 32 h 161"/>
                <a:gd name="T104" fmla="*/ 105 w 203"/>
                <a:gd name="T105" fmla="*/ 24 h 161"/>
                <a:gd name="T106" fmla="*/ 94 w 203"/>
                <a:gd name="T107" fmla="*/ 17 h 161"/>
                <a:gd name="T108" fmla="*/ 82 w 203"/>
                <a:gd name="T109" fmla="*/ 11 h 161"/>
                <a:gd name="T110" fmla="*/ 71 w 203"/>
                <a:gd name="T111" fmla="*/ 6 h 161"/>
                <a:gd name="T112" fmla="*/ 60 w 203"/>
                <a:gd name="T113" fmla="*/ 3 h 161"/>
                <a:gd name="T114" fmla="*/ 49 w 203"/>
                <a:gd name="T115" fmla="*/ 1 h 161"/>
                <a:gd name="T116" fmla="*/ 39 w 203"/>
                <a:gd name="T117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3" h="161">
                  <a:moveTo>
                    <a:pt x="39" y="0"/>
                  </a:moveTo>
                  <a:lnTo>
                    <a:pt x="31" y="1"/>
                  </a:lnTo>
                  <a:lnTo>
                    <a:pt x="23" y="3"/>
                  </a:lnTo>
                  <a:lnTo>
                    <a:pt x="17" y="7"/>
                  </a:lnTo>
                  <a:lnTo>
                    <a:pt x="11" y="12"/>
                  </a:lnTo>
                  <a:lnTo>
                    <a:pt x="6" y="18"/>
                  </a:lnTo>
                  <a:lnTo>
                    <a:pt x="3" y="26"/>
                  </a:lnTo>
                  <a:lnTo>
                    <a:pt x="1" y="32"/>
                  </a:lnTo>
                  <a:lnTo>
                    <a:pt x="0" y="39"/>
                  </a:lnTo>
                  <a:lnTo>
                    <a:pt x="1" y="46"/>
                  </a:lnTo>
                  <a:lnTo>
                    <a:pt x="2" y="53"/>
                  </a:lnTo>
                  <a:lnTo>
                    <a:pt x="4" y="60"/>
                  </a:lnTo>
                  <a:lnTo>
                    <a:pt x="8" y="68"/>
                  </a:lnTo>
                  <a:lnTo>
                    <a:pt x="13" y="78"/>
                  </a:lnTo>
                  <a:lnTo>
                    <a:pt x="19" y="86"/>
                  </a:lnTo>
                  <a:lnTo>
                    <a:pt x="26" y="94"/>
                  </a:lnTo>
                  <a:lnTo>
                    <a:pt x="34" y="103"/>
                  </a:lnTo>
                  <a:lnTo>
                    <a:pt x="42" y="111"/>
                  </a:lnTo>
                  <a:lnTo>
                    <a:pt x="52" y="118"/>
                  </a:lnTo>
                  <a:lnTo>
                    <a:pt x="62" y="126"/>
                  </a:lnTo>
                  <a:lnTo>
                    <a:pt x="73" y="133"/>
                  </a:lnTo>
                  <a:lnTo>
                    <a:pt x="83" y="139"/>
                  </a:lnTo>
                  <a:lnTo>
                    <a:pt x="94" y="144"/>
                  </a:lnTo>
                  <a:lnTo>
                    <a:pt x="105" y="149"/>
                  </a:lnTo>
                  <a:lnTo>
                    <a:pt x="117" y="153"/>
                  </a:lnTo>
                  <a:lnTo>
                    <a:pt x="128" y="157"/>
                  </a:lnTo>
                  <a:lnTo>
                    <a:pt x="139" y="159"/>
                  </a:lnTo>
                  <a:lnTo>
                    <a:pt x="149" y="161"/>
                  </a:lnTo>
                  <a:lnTo>
                    <a:pt x="159" y="161"/>
                  </a:lnTo>
                  <a:lnTo>
                    <a:pt x="167" y="161"/>
                  </a:lnTo>
                  <a:lnTo>
                    <a:pt x="173" y="160"/>
                  </a:lnTo>
                  <a:lnTo>
                    <a:pt x="179" y="159"/>
                  </a:lnTo>
                  <a:lnTo>
                    <a:pt x="184" y="157"/>
                  </a:lnTo>
                  <a:lnTo>
                    <a:pt x="189" y="155"/>
                  </a:lnTo>
                  <a:lnTo>
                    <a:pt x="193" y="152"/>
                  </a:lnTo>
                  <a:lnTo>
                    <a:pt x="197" y="149"/>
                  </a:lnTo>
                  <a:lnTo>
                    <a:pt x="201" y="145"/>
                  </a:lnTo>
                  <a:lnTo>
                    <a:pt x="202" y="142"/>
                  </a:lnTo>
                  <a:lnTo>
                    <a:pt x="203" y="139"/>
                  </a:lnTo>
                  <a:lnTo>
                    <a:pt x="203" y="135"/>
                  </a:lnTo>
                  <a:lnTo>
                    <a:pt x="203" y="131"/>
                  </a:lnTo>
                  <a:lnTo>
                    <a:pt x="201" y="124"/>
                  </a:lnTo>
                  <a:lnTo>
                    <a:pt x="198" y="117"/>
                  </a:lnTo>
                  <a:lnTo>
                    <a:pt x="193" y="107"/>
                  </a:lnTo>
                  <a:lnTo>
                    <a:pt x="187" y="98"/>
                  </a:lnTo>
                  <a:lnTo>
                    <a:pt x="179" y="88"/>
                  </a:lnTo>
                  <a:lnTo>
                    <a:pt x="171" y="78"/>
                  </a:lnTo>
                  <a:lnTo>
                    <a:pt x="162" y="68"/>
                  </a:lnTo>
                  <a:lnTo>
                    <a:pt x="151" y="58"/>
                  </a:lnTo>
                  <a:lnTo>
                    <a:pt x="140" y="49"/>
                  </a:lnTo>
                  <a:lnTo>
                    <a:pt x="129" y="40"/>
                  </a:lnTo>
                  <a:lnTo>
                    <a:pt x="118" y="32"/>
                  </a:lnTo>
                  <a:lnTo>
                    <a:pt x="105" y="24"/>
                  </a:lnTo>
                  <a:lnTo>
                    <a:pt x="94" y="17"/>
                  </a:lnTo>
                  <a:lnTo>
                    <a:pt x="82" y="11"/>
                  </a:lnTo>
                  <a:lnTo>
                    <a:pt x="71" y="6"/>
                  </a:lnTo>
                  <a:lnTo>
                    <a:pt x="60" y="3"/>
                  </a:lnTo>
                  <a:lnTo>
                    <a:pt x="49" y="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2" name="Freeform 52"/>
            <p:cNvSpPr>
              <a:spLocks/>
            </p:cNvSpPr>
            <p:nvPr userDrawn="1"/>
          </p:nvSpPr>
          <p:spPr bwMode="auto">
            <a:xfrm>
              <a:off x="6162" y="347"/>
              <a:ext cx="109" cy="148"/>
            </a:xfrm>
            <a:custGeom>
              <a:avLst/>
              <a:gdLst>
                <a:gd name="T0" fmla="*/ 139 w 1310"/>
                <a:gd name="T1" fmla="*/ 1401 h 1770"/>
                <a:gd name="T2" fmla="*/ 306 w 1310"/>
                <a:gd name="T3" fmla="*/ 1438 h 1770"/>
                <a:gd name="T4" fmla="*/ 458 w 1310"/>
                <a:gd name="T5" fmla="*/ 1457 h 1770"/>
                <a:gd name="T6" fmla="*/ 615 w 1310"/>
                <a:gd name="T7" fmla="*/ 1458 h 1770"/>
                <a:gd name="T8" fmla="*/ 741 w 1310"/>
                <a:gd name="T9" fmla="*/ 1434 h 1770"/>
                <a:gd name="T10" fmla="*/ 790 w 1310"/>
                <a:gd name="T11" fmla="*/ 1409 h 1770"/>
                <a:gd name="T12" fmla="*/ 825 w 1310"/>
                <a:gd name="T13" fmla="*/ 1378 h 1770"/>
                <a:gd name="T14" fmla="*/ 844 w 1310"/>
                <a:gd name="T15" fmla="*/ 1337 h 1770"/>
                <a:gd name="T16" fmla="*/ 848 w 1310"/>
                <a:gd name="T17" fmla="*/ 1285 h 1770"/>
                <a:gd name="T18" fmla="*/ 824 w 1310"/>
                <a:gd name="T19" fmla="*/ 1220 h 1770"/>
                <a:gd name="T20" fmla="*/ 749 w 1310"/>
                <a:gd name="T21" fmla="*/ 1161 h 1770"/>
                <a:gd name="T22" fmla="*/ 571 w 1310"/>
                <a:gd name="T23" fmla="*/ 1078 h 1770"/>
                <a:gd name="T24" fmla="*/ 321 w 1310"/>
                <a:gd name="T25" fmla="*/ 964 h 1770"/>
                <a:gd name="T26" fmla="*/ 198 w 1310"/>
                <a:gd name="T27" fmla="*/ 893 h 1770"/>
                <a:gd name="T28" fmla="*/ 116 w 1310"/>
                <a:gd name="T29" fmla="*/ 826 h 1770"/>
                <a:gd name="T30" fmla="*/ 52 w 1310"/>
                <a:gd name="T31" fmla="*/ 736 h 1770"/>
                <a:gd name="T32" fmla="*/ 13 w 1310"/>
                <a:gd name="T33" fmla="*/ 633 h 1770"/>
                <a:gd name="T34" fmla="*/ 0 w 1310"/>
                <a:gd name="T35" fmla="*/ 516 h 1770"/>
                <a:gd name="T36" fmla="*/ 19 w 1310"/>
                <a:gd name="T37" fmla="*/ 370 h 1770"/>
                <a:gd name="T38" fmla="*/ 75 w 1310"/>
                <a:gd name="T39" fmla="*/ 247 h 1770"/>
                <a:gd name="T40" fmla="*/ 169 w 1310"/>
                <a:gd name="T41" fmla="*/ 148 h 1770"/>
                <a:gd name="T42" fmla="*/ 294 w 1310"/>
                <a:gd name="T43" fmla="*/ 73 h 1770"/>
                <a:gd name="T44" fmla="*/ 443 w 1310"/>
                <a:gd name="T45" fmla="*/ 24 h 1770"/>
                <a:gd name="T46" fmla="*/ 614 w 1310"/>
                <a:gd name="T47" fmla="*/ 2 h 1770"/>
                <a:gd name="T48" fmla="*/ 836 w 1310"/>
                <a:gd name="T49" fmla="*/ 8 h 1770"/>
                <a:gd name="T50" fmla="*/ 1177 w 1310"/>
                <a:gd name="T51" fmla="*/ 61 h 1770"/>
                <a:gd name="T52" fmla="*/ 1060 w 1310"/>
                <a:gd name="T53" fmla="*/ 344 h 1770"/>
                <a:gd name="T54" fmla="*/ 921 w 1310"/>
                <a:gd name="T55" fmla="*/ 309 h 1770"/>
                <a:gd name="T56" fmla="*/ 787 w 1310"/>
                <a:gd name="T57" fmla="*/ 292 h 1770"/>
                <a:gd name="T58" fmla="*/ 638 w 1310"/>
                <a:gd name="T59" fmla="*/ 296 h 1770"/>
                <a:gd name="T60" fmla="*/ 521 w 1310"/>
                <a:gd name="T61" fmla="*/ 331 h 1770"/>
                <a:gd name="T62" fmla="*/ 483 w 1310"/>
                <a:gd name="T63" fmla="*/ 359 h 1770"/>
                <a:gd name="T64" fmla="*/ 459 w 1310"/>
                <a:gd name="T65" fmla="*/ 395 h 1770"/>
                <a:gd name="T66" fmla="*/ 450 w 1310"/>
                <a:gd name="T67" fmla="*/ 439 h 1770"/>
                <a:gd name="T68" fmla="*/ 463 w 1310"/>
                <a:gd name="T69" fmla="*/ 502 h 1770"/>
                <a:gd name="T70" fmla="*/ 521 w 1310"/>
                <a:gd name="T71" fmla="*/ 553 h 1770"/>
                <a:gd name="T72" fmla="*/ 674 w 1310"/>
                <a:gd name="T73" fmla="*/ 629 h 1770"/>
                <a:gd name="T74" fmla="*/ 946 w 1310"/>
                <a:gd name="T75" fmla="*/ 756 h 1770"/>
                <a:gd name="T76" fmla="*/ 1080 w 1310"/>
                <a:gd name="T77" fmla="*/ 832 h 1770"/>
                <a:gd name="T78" fmla="*/ 1174 w 1310"/>
                <a:gd name="T79" fmla="*/ 901 h 1770"/>
                <a:gd name="T80" fmla="*/ 1241 w 1310"/>
                <a:gd name="T81" fmla="*/ 979 h 1770"/>
                <a:gd name="T82" fmla="*/ 1287 w 1310"/>
                <a:gd name="T83" fmla="*/ 1074 h 1770"/>
                <a:gd name="T84" fmla="*/ 1308 w 1310"/>
                <a:gd name="T85" fmla="*/ 1182 h 1770"/>
                <a:gd name="T86" fmla="*/ 1301 w 1310"/>
                <a:gd name="T87" fmla="*/ 1328 h 1770"/>
                <a:gd name="T88" fmla="*/ 1276 w 1310"/>
                <a:gd name="T89" fmla="*/ 1418 h 1770"/>
                <a:gd name="T90" fmla="*/ 1242 w 1310"/>
                <a:gd name="T91" fmla="*/ 1486 h 1770"/>
                <a:gd name="T92" fmla="*/ 1196 w 1310"/>
                <a:gd name="T93" fmla="*/ 1547 h 1770"/>
                <a:gd name="T94" fmla="*/ 1098 w 1310"/>
                <a:gd name="T95" fmla="*/ 1633 h 1770"/>
                <a:gd name="T96" fmla="*/ 965 w 1310"/>
                <a:gd name="T97" fmla="*/ 1703 h 1770"/>
                <a:gd name="T98" fmla="*/ 813 w 1310"/>
                <a:gd name="T99" fmla="*/ 1747 h 1770"/>
                <a:gd name="T100" fmla="*/ 639 w 1310"/>
                <a:gd name="T101" fmla="*/ 1768 h 1770"/>
                <a:gd name="T102" fmla="*/ 366 w 1310"/>
                <a:gd name="T103" fmla="*/ 1761 h 1770"/>
                <a:gd name="T104" fmla="*/ 34 w 1310"/>
                <a:gd name="T105" fmla="*/ 1707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0" h="1770">
                  <a:moveTo>
                    <a:pt x="34" y="1707"/>
                  </a:moveTo>
                  <a:lnTo>
                    <a:pt x="34" y="1371"/>
                  </a:lnTo>
                  <a:lnTo>
                    <a:pt x="70" y="1382"/>
                  </a:lnTo>
                  <a:lnTo>
                    <a:pt x="105" y="1392"/>
                  </a:lnTo>
                  <a:lnTo>
                    <a:pt x="139" y="1401"/>
                  </a:lnTo>
                  <a:lnTo>
                    <a:pt x="174" y="1410"/>
                  </a:lnTo>
                  <a:lnTo>
                    <a:pt x="208" y="1419"/>
                  </a:lnTo>
                  <a:lnTo>
                    <a:pt x="240" y="1426"/>
                  </a:lnTo>
                  <a:lnTo>
                    <a:pt x="273" y="1432"/>
                  </a:lnTo>
                  <a:lnTo>
                    <a:pt x="306" y="1438"/>
                  </a:lnTo>
                  <a:lnTo>
                    <a:pt x="336" y="1444"/>
                  </a:lnTo>
                  <a:lnTo>
                    <a:pt x="368" y="1448"/>
                  </a:lnTo>
                  <a:lnTo>
                    <a:pt x="399" y="1452"/>
                  </a:lnTo>
                  <a:lnTo>
                    <a:pt x="428" y="1455"/>
                  </a:lnTo>
                  <a:lnTo>
                    <a:pt x="458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3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7" y="1451"/>
                  </a:lnTo>
                  <a:lnTo>
                    <a:pt x="705" y="1445"/>
                  </a:lnTo>
                  <a:lnTo>
                    <a:pt x="729" y="1438"/>
                  </a:lnTo>
                  <a:lnTo>
                    <a:pt x="741" y="1434"/>
                  </a:lnTo>
                  <a:lnTo>
                    <a:pt x="751" y="1430"/>
                  </a:lnTo>
                  <a:lnTo>
                    <a:pt x="763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3" y="1391"/>
                  </a:lnTo>
                  <a:lnTo>
                    <a:pt x="819" y="1385"/>
                  </a:lnTo>
                  <a:lnTo>
                    <a:pt x="825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8" y="1354"/>
                  </a:lnTo>
                  <a:lnTo>
                    <a:pt x="841" y="1346"/>
                  </a:lnTo>
                  <a:lnTo>
                    <a:pt x="844" y="1337"/>
                  </a:lnTo>
                  <a:lnTo>
                    <a:pt x="846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8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5" y="1208"/>
                  </a:lnTo>
                  <a:lnTo>
                    <a:pt x="804" y="1198"/>
                  </a:lnTo>
                  <a:lnTo>
                    <a:pt x="790" y="1187"/>
                  </a:lnTo>
                  <a:lnTo>
                    <a:pt x="773" y="1175"/>
                  </a:lnTo>
                  <a:lnTo>
                    <a:pt x="749" y="1161"/>
                  </a:lnTo>
                  <a:lnTo>
                    <a:pt x="723" y="1146"/>
                  </a:lnTo>
                  <a:lnTo>
                    <a:pt x="691" y="1131"/>
                  </a:lnTo>
                  <a:lnTo>
                    <a:pt x="656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5"/>
                  </a:lnTo>
                  <a:lnTo>
                    <a:pt x="352" y="980"/>
                  </a:lnTo>
                  <a:lnTo>
                    <a:pt x="321" y="964"/>
                  </a:lnTo>
                  <a:lnTo>
                    <a:pt x="292" y="949"/>
                  </a:lnTo>
                  <a:lnTo>
                    <a:pt x="266" y="935"/>
                  </a:lnTo>
                  <a:lnTo>
                    <a:pt x="241" y="921"/>
                  </a:lnTo>
                  <a:lnTo>
                    <a:pt x="219" y="906"/>
                  </a:lnTo>
                  <a:lnTo>
                    <a:pt x="198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6" y="854"/>
                  </a:lnTo>
                  <a:lnTo>
                    <a:pt x="132" y="842"/>
                  </a:lnTo>
                  <a:lnTo>
                    <a:pt x="116" y="826"/>
                  </a:lnTo>
                  <a:lnTo>
                    <a:pt x="101" y="808"/>
                  </a:lnTo>
                  <a:lnTo>
                    <a:pt x="87" y="791"/>
                  </a:lnTo>
                  <a:lnTo>
                    <a:pt x="74" y="773"/>
                  </a:lnTo>
                  <a:lnTo>
                    <a:pt x="62" y="754"/>
                  </a:lnTo>
                  <a:lnTo>
                    <a:pt x="52" y="736"/>
                  </a:lnTo>
                  <a:lnTo>
                    <a:pt x="42" y="715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5" y="588"/>
                  </a:lnTo>
                  <a:lnTo>
                    <a:pt x="2" y="564"/>
                  </a:lnTo>
                  <a:lnTo>
                    <a:pt x="1" y="541"/>
                  </a:lnTo>
                  <a:lnTo>
                    <a:pt x="0" y="516"/>
                  </a:lnTo>
                  <a:lnTo>
                    <a:pt x="1" y="485"/>
                  </a:lnTo>
                  <a:lnTo>
                    <a:pt x="3" y="455"/>
                  </a:lnTo>
                  <a:lnTo>
                    <a:pt x="7" y="425"/>
                  </a:lnTo>
                  <a:lnTo>
                    <a:pt x="12" y="397"/>
                  </a:lnTo>
                  <a:lnTo>
                    <a:pt x="19" y="370"/>
                  </a:lnTo>
                  <a:lnTo>
                    <a:pt x="27" y="344"/>
                  </a:lnTo>
                  <a:lnTo>
                    <a:pt x="36" y="318"/>
                  </a:lnTo>
                  <a:lnTo>
                    <a:pt x="48" y="294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8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3" y="61"/>
                  </a:lnTo>
                  <a:lnTo>
                    <a:pt x="352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6" y="18"/>
                  </a:lnTo>
                  <a:lnTo>
                    <a:pt x="509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1" y="0"/>
                  </a:lnTo>
                  <a:lnTo>
                    <a:pt x="689" y="0"/>
                  </a:lnTo>
                  <a:lnTo>
                    <a:pt x="733" y="0"/>
                  </a:lnTo>
                  <a:lnTo>
                    <a:pt x="783" y="3"/>
                  </a:lnTo>
                  <a:lnTo>
                    <a:pt x="836" y="8"/>
                  </a:lnTo>
                  <a:lnTo>
                    <a:pt x="895" y="15"/>
                  </a:lnTo>
                  <a:lnTo>
                    <a:pt x="958" y="23"/>
                  </a:lnTo>
                  <a:lnTo>
                    <a:pt x="1027" y="35"/>
                  </a:lnTo>
                  <a:lnTo>
                    <a:pt x="1099" y="47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8" y="363"/>
                  </a:lnTo>
                  <a:lnTo>
                    <a:pt x="1089" y="353"/>
                  </a:lnTo>
                  <a:lnTo>
                    <a:pt x="1060" y="344"/>
                  </a:lnTo>
                  <a:lnTo>
                    <a:pt x="1032" y="336"/>
                  </a:lnTo>
                  <a:lnTo>
                    <a:pt x="1003" y="327"/>
                  </a:lnTo>
                  <a:lnTo>
                    <a:pt x="976" y="320"/>
                  </a:lnTo>
                  <a:lnTo>
                    <a:pt x="947" y="314"/>
                  </a:lnTo>
                  <a:lnTo>
                    <a:pt x="921" y="309"/>
                  </a:lnTo>
                  <a:lnTo>
                    <a:pt x="893" y="304"/>
                  </a:lnTo>
                  <a:lnTo>
                    <a:pt x="867" y="300"/>
                  </a:lnTo>
                  <a:lnTo>
                    <a:pt x="839" y="297"/>
                  </a:lnTo>
                  <a:lnTo>
                    <a:pt x="814" y="294"/>
                  </a:lnTo>
                  <a:lnTo>
                    <a:pt x="787" y="292"/>
                  </a:lnTo>
                  <a:lnTo>
                    <a:pt x="762" y="291"/>
                  </a:lnTo>
                  <a:lnTo>
                    <a:pt x="736" y="291"/>
                  </a:lnTo>
                  <a:lnTo>
                    <a:pt x="700" y="292"/>
                  </a:lnTo>
                  <a:lnTo>
                    <a:pt x="669" y="293"/>
                  </a:lnTo>
                  <a:lnTo>
                    <a:pt x="638" y="296"/>
                  </a:lnTo>
                  <a:lnTo>
                    <a:pt x="610" y="301"/>
                  </a:lnTo>
                  <a:lnTo>
                    <a:pt x="584" y="306"/>
                  </a:lnTo>
                  <a:lnTo>
                    <a:pt x="561" y="313"/>
                  </a:lnTo>
                  <a:lnTo>
                    <a:pt x="539" y="321"/>
                  </a:lnTo>
                  <a:lnTo>
                    <a:pt x="521" y="331"/>
                  </a:lnTo>
                  <a:lnTo>
                    <a:pt x="512" y="336"/>
                  </a:lnTo>
                  <a:lnTo>
                    <a:pt x="504" y="341"/>
                  </a:lnTo>
                  <a:lnTo>
                    <a:pt x="496" y="346"/>
                  </a:lnTo>
                  <a:lnTo>
                    <a:pt x="489" y="352"/>
                  </a:lnTo>
                  <a:lnTo>
                    <a:pt x="483" y="359"/>
                  </a:lnTo>
                  <a:lnTo>
                    <a:pt x="477" y="365"/>
                  </a:lnTo>
                  <a:lnTo>
                    <a:pt x="472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6" y="403"/>
                  </a:lnTo>
                  <a:lnTo>
                    <a:pt x="454" y="411"/>
                  </a:lnTo>
                  <a:lnTo>
                    <a:pt x="452" y="420"/>
                  </a:lnTo>
                  <a:lnTo>
                    <a:pt x="450" y="430"/>
                  </a:lnTo>
                  <a:lnTo>
                    <a:pt x="450" y="439"/>
                  </a:lnTo>
                  <a:lnTo>
                    <a:pt x="448" y="449"/>
                  </a:lnTo>
                  <a:lnTo>
                    <a:pt x="450" y="463"/>
                  </a:lnTo>
                  <a:lnTo>
                    <a:pt x="453" y="477"/>
                  </a:lnTo>
                  <a:lnTo>
                    <a:pt x="457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3" y="536"/>
                  </a:lnTo>
                  <a:lnTo>
                    <a:pt x="507" y="545"/>
                  </a:lnTo>
                  <a:lnTo>
                    <a:pt x="521" y="553"/>
                  </a:lnTo>
                  <a:lnTo>
                    <a:pt x="541" y="564"/>
                  </a:lnTo>
                  <a:lnTo>
                    <a:pt x="567" y="577"/>
                  </a:lnTo>
                  <a:lnTo>
                    <a:pt x="597" y="592"/>
                  </a:lnTo>
                  <a:lnTo>
                    <a:pt x="633" y="609"/>
                  </a:lnTo>
                  <a:lnTo>
                    <a:pt x="674" y="629"/>
                  </a:lnTo>
                  <a:lnTo>
                    <a:pt x="720" y="649"/>
                  </a:lnTo>
                  <a:lnTo>
                    <a:pt x="772" y="672"/>
                  </a:lnTo>
                  <a:lnTo>
                    <a:pt x="846" y="707"/>
                  </a:lnTo>
                  <a:lnTo>
                    <a:pt x="915" y="740"/>
                  </a:lnTo>
                  <a:lnTo>
                    <a:pt x="946" y="756"/>
                  </a:lnTo>
                  <a:lnTo>
                    <a:pt x="976" y="771"/>
                  </a:lnTo>
                  <a:lnTo>
                    <a:pt x="1004" y="787"/>
                  </a:lnTo>
                  <a:lnTo>
                    <a:pt x="1032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2" y="846"/>
                  </a:lnTo>
                  <a:lnTo>
                    <a:pt x="1123" y="860"/>
                  </a:lnTo>
                  <a:lnTo>
                    <a:pt x="1141" y="875"/>
                  </a:lnTo>
                  <a:lnTo>
                    <a:pt x="1158" y="888"/>
                  </a:lnTo>
                  <a:lnTo>
                    <a:pt x="1174" y="901"/>
                  </a:lnTo>
                  <a:lnTo>
                    <a:pt x="1187" y="913"/>
                  </a:lnTo>
                  <a:lnTo>
                    <a:pt x="1202" y="930"/>
                  </a:lnTo>
                  <a:lnTo>
                    <a:pt x="1216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2" y="997"/>
                  </a:lnTo>
                  <a:lnTo>
                    <a:pt x="1262" y="1015"/>
                  </a:lnTo>
                  <a:lnTo>
                    <a:pt x="1271" y="1034"/>
                  </a:lnTo>
                  <a:lnTo>
                    <a:pt x="1279" y="1053"/>
                  </a:lnTo>
                  <a:lnTo>
                    <a:pt x="1287" y="1074"/>
                  </a:lnTo>
                  <a:lnTo>
                    <a:pt x="1293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8" y="1182"/>
                  </a:lnTo>
                  <a:lnTo>
                    <a:pt x="1309" y="1204"/>
                  </a:lnTo>
                  <a:lnTo>
                    <a:pt x="1310" y="1229"/>
                  </a:lnTo>
                  <a:lnTo>
                    <a:pt x="1309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7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1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8" y="1633"/>
                  </a:lnTo>
                  <a:lnTo>
                    <a:pt x="1069" y="1651"/>
                  </a:lnTo>
                  <a:lnTo>
                    <a:pt x="1044" y="1666"/>
                  </a:lnTo>
                  <a:lnTo>
                    <a:pt x="1019" y="1679"/>
                  </a:lnTo>
                  <a:lnTo>
                    <a:pt x="992" y="1691"/>
                  </a:lnTo>
                  <a:lnTo>
                    <a:pt x="965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3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2" y="1762"/>
                  </a:lnTo>
                  <a:lnTo>
                    <a:pt x="676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6" y="1761"/>
                  </a:lnTo>
                  <a:lnTo>
                    <a:pt x="300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1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3" name="Freeform 53"/>
            <p:cNvSpPr>
              <a:spLocks/>
            </p:cNvSpPr>
            <p:nvPr userDrawn="1"/>
          </p:nvSpPr>
          <p:spPr bwMode="auto">
            <a:xfrm>
              <a:off x="6294" y="350"/>
              <a:ext cx="39" cy="142"/>
            </a:xfrm>
            <a:custGeom>
              <a:avLst/>
              <a:gdLst>
                <a:gd name="T0" fmla="*/ 476 w 476"/>
                <a:gd name="T1" fmla="*/ 0 h 1706"/>
                <a:gd name="T2" fmla="*/ 476 w 476"/>
                <a:gd name="T3" fmla="*/ 1706 h 1706"/>
                <a:gd name="T4" fmla="*/ 0 w 476"/>
                <a:gd name="T5" fmla="*/ 1706 h 1706"/>
                <a:gd name="T6" fmla="*/ 0 w 476"/>
                <a:gd name="T7" fmla="*/ 0 h 1706"/>
                <a:gd name="T8" fmla="*/ 238 w 476"/>
                <a:gd name="T9" fmla="*/ 285 h 1706"/>
                <a:gd name="T10" fmla="*/ 476 w 476"/>
                <a:gd name="T11" fmla="*/ 0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1706">
                  <a:moveTo>
                    <a:pt x="476" y="0"/>
                  </a:moveTo>
                  <a:lnTo>
                    <a:pt x="476" y="1706"/>
                  </a:lnTo>
                  <a:lnTo>
                    <a:pt x="0" y="1706"/>
                  </a:lnTo>
                  <a:lnTo>
                    <a:pt x="0" y="0"/>
                  </a:lnTo>
                  <a:lnTo>
                    <a:pt x="238" y="285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4" name="Freeform 54"/>
            <p:cNvSpPr>
              <a:spLocks/>
            </p:cNvSpPr>
            <p:nvPr userDrawn="1"/>
          </p:nvSpPr>
          <p:spPr bwMode="auto">
            <a:xfrm>
              <a:off x="6294" y="350"/>
              <a:ext cx="39" cy="44"/>
            </a:xfrm>
            <a:custGeom>
              <a:avLst/>
              <a:gdLst>
                <a:gd name="T0" fmla="*/ 476 w 476"/>
                <a:gd name="T1" fmla="*/ 0 h 530"/>
                <a:gd name="T2" fmla="*/ 0 w 476"/>
                <a:gd name="T3" fmla="*/ 0 h 530"/>
                <a:gd name="T4" fmla="*/ 238 w 476"/>
                <a:gd name="T5" fmla="*/ 530 h 530"/>
                <a:gd name="T6" fmla="*/ 476 w 476"/>
                <a:gd name="T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530">
                  <a:moveTo>
                    <a:pt x="476" y="0"/>
                  </a:moveTo>
                  <a:lnTo>
                    <a:pt x="0" y="0"/>
                  </a:lnTo>
                  <a:lnTo>
                    <a:pt x="238" y="53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55" name="Freeform 55"/>
            <p:cNvSpPr>
              <a:spLocks/>
            </p:cNvSpPr>
            <p:nvPr userDrawn="1"/>
          </p:nvSpPr>
          <p:spPr bwMode="auto">
            <a:xfrm>
              <a:off x="6370" y="350"/>
              <a:ext cx="103" cy="142"/>
            </a:xfrm>
            <a:custGeom>
              <a:avLst/>
              <a:gdLst>
                <a:gd name="T0" fmla="*/ 0 w 1241"/>
                <a:gd name="T1" fmla="*/ 1706 h 1706"/>
                <a:gd name="T2" fmla="*/ 0 w 1241"/>
                <a:gd name="T3" fmla="*/ 0 h 1706"/>
                <a:gd name="T4" fmla="*/ 1222 w 1241"/>
                <a:gd name="T5" fmla="*/ 0 h 1706"/>
                <a:gd name="T6" fmla="*/ 1222 w 1241"/>
                <a:gd name="T7" fmla="*/ 309 h 1706"/>
                <a:gd name="T8" fmla="*/ 459 w 1241"/>
                <a:gd name="T9" fmla="*/ 309 h 1706"/>
                <a:gd name="T10" fmla="*/ 459 w 1241"/>
                <a:gd name="T11" fmla="*/ 693 h 1706"/>
                <a:gd name="T12" fmla="*/ 1123 w 1241"/>
                <a:gd name="T13" fmla="*/ 693 h 1706"/>
                <a:gd name="T14" fmla="*/ 1123 w 1241"/>
                <a:gd name="T15" fmla="*/ 975 h 1706"/>
                <a:gd name="T16" fmla="*/ 459 w 1241"/>
                <a:gd name="T17" fmla="*/ 975 h 1706"/>
                <a:gd name="T18" fmla="*/ 459 w 1241"/>
                <a:gd name="T19" fmla="*/ 1380 h 1706"/>
                <a:gd name="T20" fmla="*/ 1241 w 1241"/>
                <a:gd name="T21" fmla="*/ 1380 h 1706"/>
                <a:gd name="T22" fmla="*/ 1241 w 1241"/>
                <a:gd name="T23" fmla="*/ 1706 h 1706"/>
                <a:gd name="T24" fmla="*/ 0 w 1241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1" h="1706">
                  <a:moveTo>
                    <a:pt x="0" y="1706"/>
                  </a:moveTo>
                  <a:lnTo>
                    <a:pt x="0" y="0"/>
                  </a:lnTo>
                  <a:lnTo>
                    <a:pt x="1222" y="0"/>
                  </a:lnTo>
                  <a:lnTo>
                    <a:pt x="1222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1" y="1380"/>
                  </a:lnTo>
                  <a:lnTo>
                    <a:pt x="1241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77" name="Freeform 56"/>
            <p:cNvSpPr>
              <a:spLocks/>
            </p:cNvSpPr>
            <p:nvPr userDrawn="1"/>
          </p:nvSpPr>
          <p:spPr bwMode="auto">
            <a:xfrm>
              <a:off x="6499" y="350"/>
              <a:ext cx="173" cy="143"/>
            </a:xfrm>
            <a:custGeom>
              <a:avLst/>
              <a:gdLst>
                <a:gd name="T0" fmla="*/ 0 w 2073"/>
                <a:gd name="T1" fmla="*/ 1706 h 1723"/>
                <a:gd name="T2" fmla="*/ 0 w 2073"/>
                <a:gd name="T3" fmla="*/ 0 h 1723"/>
                <a:gd name="T4" fmla="*/ 617 w 2073"/>
                <a:gd name="T5" fmla="*/ 0 h 1723"/>
                <a:gd name="T6" fmla="*/ 1047 w 2073"/>
                <a:gd name="T7" fmla="*/ 1090 h 1723"/>
                <a:gd name="T8" fmla="*/ 1486 w 2073"/>
                <a:gd name="T9" fmla="*/ 0 h 1723"/>
                <a:gd name="T10" fmla="*/ 2073 w 2073"/>
                <a:gd name="T11" fmla="*/ 0 h 1723"/>
                <a:gd name="T12" fmla="*/ 2073 w 2073"/>
                <a:gd name="T13" fmla="*/ 1706 h 1723"/>
                <a:gd name="T14" fmla="*/ 1621 w 2073"/>
                <a:gd name="T15" fmla="*/ 1706 h 1723"/>
                <a:gd name="T16" fmla="*/ 1621 w 2073"/>
                <a:gd name="T17" fmla="*/ 499 h 1723"/>
                <a:gd name="T18" fmla="*/ 1121 w 2073"/>
                <a:gd name="T19" fmla="*/ 1723 h 1723"/>
                <a:gd name="T20" fmla="*/ 826 w 2073"/>
                <a:gd name="T21" fmla="*/ 1723 h 1723"/>
                <a:gd name="T22" fmla="*/ 336 w 2073"/>
                <a:gd name="T23" fmla="*/ 499 h 1723"/>
                <a:gd name="T24" fmla="*/ 336 w 2073"/>
                <a:gd name="T25" fmla="*/ 1706 h 1723"/>
                <a:gd name="T26" fmla="*/ 0 w 2073"/>
                <a:gd name="T27" fmla="*/ 1706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73" h="1723">
                  <a:moveTo>
                    <a:pt x="0" y="1706"/>
                  </a:moveTo>
                  <a:lnTo>
                    <a:pt x="0" y="0"/>
                  </a:lnTo>
                  <a:lnTo>
                    <a:pt x="617" y="0"/>
                  </a:lnTo>
                  <a:lnTo>
                    <a:pt x="1047" y="1090"/>
                  </a:lnTo>
                  <a:lnTo>
                    <a:pt x="1486" y="0"/>
                  </a:lnTo>
                  <a:lnTo>
                    <a:pt x="2073" y="0"/>
                  </a:lnTo>
                  <a:lnTo>
                    <a:pt x="2073" y="1706"/>
                  </a:lnTo>
                  <a:lnTo>
                    <a:pt x="1621" y="1706"/>
                  </a:lnTo>
                  <a:lnTo>
                    <a:pt x="1621" y="499"/>
                  </a:lnTo>
                  <a:lnTo>
                    <a:pt x="1121" y="1723"/>
                  </a:lnTo>
                  <a:lnTo>
                    <a:pt x="826" y="1723"/>
                  </a:lnTo>
                  <a:lnTo>
                    <a:pt x="336" y="499"/>
                  </a:lnTo>
                  <a:lnTo>
                    <a:pt x="336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78" name="Freeform 57"/>
            <p:cNvSpPr>
              <a:spLocks/>
            </p:cNvSpPr>
            <p:nvPr userDrawn="1"/>
          </p:nvSpPr>
          <p:spPr bwMode="auto">
            <a:xfrm>
              <a:off x="6708" y="350"/>
              <a:ext cx="104" cy="142"/>
            </a:xfrm>
            <a:custGeom>
              <a:avLst/>
              <a:gdLst>
                <a:gd name="T0" fmla="*/ 0 w 1242"/>
                <a:gd name="T1" fmla="*/ 1706 h 1706"/>
                <a:gd name="T2" fmla="*/ 0 w 1242"/>
                <a:gd name="T3" fmla="*/ 0 h 1706"/>
                <a:gd name="T4" fmla="*/ 1221 w 1242"/>
                <a:gd name="T5" fmla="*/ 0 h 1706"/>
                <a:gd name="T6" fmla="*/ 1221 w 1242"/>
                <a:gd name="T7" fmla="*/ 309 h 1706"/>
                <a:gd name="T8" fmla="*/ 459 w 1242"/>
                <a:gd name="T9" fmla="*/ 309 h 1706"/>
                <a:gd name="T10" fmla="*/ 459 w 1242"/>
                <a:gd name="T11" fmla="*/ 693 h 1706"/>
                <a:gd name="T12" fmla="*/ 1123 w 1242"/>
                <a:gd name="T13" fmla="*/ 693 h 1706"/>
                <a:gd name="T14" fmla="*/ 1123 w 1242"/>
                <a:gd name="T15" fmla="*/ 975 h 1706"/>
                <a:gd name="T16" fmla="*/ 459 w 1242"/>
                <a:gd name="T17" fmla="*/ 975 h 1706"/>
                <a:gd name="T18" fmla="*/ 459 w 1242"/>
                <a:gd name="T19" fmla="*/ 1380 h 1706"/>
                <a:gd name="T20" fmla="*/ 1242 w 1242"/>
                <a:gd name="T21" fmla="*/ 1380 h 1706"/>
                <a:gd name="T22" fmla="*/ 1242 w 1242"/>
                <a:gd name="T23" fmla="*/ 1706 h 1706"/>
                <a:gd name="T24" fmla="*/ 0 w 1242"/>
                <a:gd name="T25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2" h="1706">
                  <a:moveTo>
                    <a:pt x="0" y="1706"/>
                  </a:moveTo>
                  <a:lnTo>
                    <a:pt x="0" y="0"/>
                  </a:lnTo>
                  <a:lnTo>
                    <a:pt x="1221" y="0"/>
                  </a:lnTo>
                  <a:lnTo>
                    <a:pt x="1221" y="309"/>
                  </a:lnTo>
                  <a:lnTo>
                    <a:pt x="459" y="309"/>
                  </a:lnTo>
                  <a:lnTo>
                    <a:pt x="459" y="693"/>
                  </a:lnTo>
                  <a:lnTo>
                    <a:pt x="1123" y="693"/>
                  </a:lnTo>
                  <a:lnTo>
                    <a:pt x="1123" y="975"/>
                  </a:lnTo>
                  <a:lnTo>
                    <a:pt x="459" y="975"/>
                  </a:lnTo>
                  <a:lnTo>
                    <a:pt x="459" y="1380"/>
                  </a:lnTo>
                  <a:lnTo>
                    <a:pt x="1242" y="1380"/>
                  </a:lnTo>
                  <a:lnTo>
                    <a:pt x="1242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79" name="Freeform 58"/>
            <p:cNvSpPr>
              <a:spLocks/>
            </p:cNvSpPr>
            <p:nvPr userDrawn="1"/>
          </p:nvSpPr>
          <p:spPr bwMode="auto">
            <a:xfrm>
              <a:off x="6838" y="350"/>
              <a:ext cx="123" cy="142"/>
            </a:xfrm>
            <a:custGeom>
              <a:avLst/>
              <a:gdLst>
                <a:gd name="T0" fmla="*/ 0 w 1473"/>
                <a:gd name="T1" fmla="*/ 1706 h 1706"/>
                <a:gd name="T2" fmla="*/ 0 w 1473"/>
                <a:gd name="T3" fmla="*/ 0 h 1706"/>
                <a:gd name="T4" fmla="*/ 551 w 1473"/>
                <a:gd name="T5" fmla="*/ 0 h 1706"/>
                <a:gd name="T6" fmla="*/ 1137 w 1473"/>
                <a:gd name="T7" fmla="*/ 1142 h 1706"/>
                <a:gd name="T8" fmla="*/ 1137 w 1473"/>
                <a:gd name="T9" fmla="*/ 0 h 1706"/>
                <a:gd name="T10" fmla="*/ 1473 w 1473"/>
                <a:gd name="T11" fmla="*/ 0 h 1706"/>
                <a:gd name="T12" fmla="*/ 1473 w 1473"/>
                <a:gd name="T13" fmla="*/ 1706 h 1706"/>
                <a:gd name="T14" fmla="*/ 936 w 1473"/>
                <a:gd name="T15" fmla="*/ 1706 h 1706"/>
                <a:gd name="T16" fmla="*/ 335 w 1473"/>
                <a:gd name="T17" fmla="*/ 549 h 1706"/>
                <a:gd name="T18" fmla="*/ 335 w 1473"/>
                <a:gd name="T19" fmla="*/ 1706 h 1706"/>
                <a:gd name="T20" fmla="*/ 0 w 1473"/>
                <a:gd name="T21" fmla="*/ 1706 h 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73" h="1706">
                  <a:moveTo>
                    <a:pt x="0" y="1706"/>
                  </a:moveTo>
                  <a:lnTo>
                    <a:pt x="0" y="0"/>
                  </a:lnTo>
                  <a:lnTo>
                    <a:pt x="551" y="0"/>
                  </a:lnTo>
                  <a:lnTo>
                    <a:pt x="1137" y="1142"/>
                  </a:lnTo>
                  <a:lnTo>
                    <a:pt x="1137" y="0"/>
                  </a:lnTo>
                  <a:lnTo>
                    <a:pt x="1473" y="0"/>
                  </a:lnTo>
                  <a:lnTo>
                    <a:pt x="1473" y="1706"/>
                  </a:lnTo>
                  <a:lnTo>
                    <a:pt x="936" y="1706"/>
                  </a:lnTo>
                  <a:lnTo>
                    <a:pt x="335" y="549"/>
                  </a:lnTo>
                  <a:lnTo>
                    <a:pt x="335" y="1706"/>
                  </a:lnTo>
                  <a:lnTo>
                    <a:pt x="0" y="1706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  <p:sp>
          <p:nvSpPr>
            <p:cNvPr id="80" name="Freeform 59"/>
            <p:cNvSpPr>
              <a:spLocks/>
            </p:cNvSpPr>
            <p:nvPr userDrawn="1"/>
          </p:nvSpPr>
          <p:spPr bwMode="auto">
            <a:xfrm>
              <a:off x="6986" y="347"/>
              <a:ext cx="109" cy="148"/>
            </a:xfrm>
            <a:custGeom>
              <a:avLst/>
              <a:gdLst>
                <a:gd name="T0" fmla="*/ 138 w 1309"/>
                <a:gd name="T1" fmla="*/ 1401 h 1770"/>
                <a:gd name="T2" fmla="*/ 303 w 1309"/>
                <a:gd name="T3" fmla="*/ 1438 h 1770"/>
                <a:gd name="T4" fmla="*/ 456 w 1309"/>
                <a:gd name="T5" fmla="*/ 1457 h 1770"/>
                <a:gd name="T6" fmla="*/ 615 w 1309"/>
                <a:gd name="T7" fmla="*/ 1458 h 1770"/>
                <a:gd name="T8" fmla="*/ 740 w 1309"/>
                <a:gd name="T9" fmla="*/ 1434 h 1770"/>
                <a:gd name="T10" fmla="*/ 790 w 1309"/>
                <a:gd name="T11" fmla="*/ 1409 h 1770"/>
                <a:gd name="T12" fmla="*/ 824 w 1309"/>
                <a:gd name="T13" fmla="*/ 1378 h 1770"/>
                <a:gd name="T14" fmla="*/ 843 w 1309"/>
                <a:gd name="T15" fmla="*/ 1337 h 1770"/>
                <a:gd name="T16" fmla="*/ 847 w 1309"/>
                <a:gd name="T17" fmla="*/ 1285 h 1770"/>
                <a:gd name="T18" fmla="*/ 824 w 1309"/>
                <a:gd name="T19" fmla="*/ 1220 h 1770"/>
                <a:gd name="T20" fmla="*/ 750 w 1309"/>
                <a:gd name="T21" fmla="*/ 1161 h 1770"/>
                <a:gd name="T22" fmla="*/ 571 w 1309"/>
                <a:gd name="T23" fmla="*/ 1078 h 1770"/>
                <a:gd name="T24" fmla="*/ 321 w 1309"/>
                <a:gd name="T25" fmla="*/ 965 h 1770"/>
                <a:gd name="T26" fmla="*/ 197 w 1309"/>
                <a:gd name="T27" fmla="*/ 893 h 1770"/>
                <a:gd name="T28" fmla="*/ 116 w 1309"/>
                <a:gd name="T29" fmla="*/ 826 h 1770"/>
                <a:gd name="T30" fmla="*/ 51 w 1309"/>
                <a:gd name="T31" fmla="*/ 736 h 1770"/>
                <a:gd name="T32" fmla="*/ 13 w 1309"/>
                <a:gd name="T33" fmla="*/ 633 h 1770"/>
                <a:gd name="T34" fmla="*/ 0 w 1309"/>
                <a:gd name="T35" fmla="*/ 515 h 1770"/>
                <a:gd name="T36" fmla="*/ 18 w 1309"/>
                <a:gd name="T37" fmla="*/ 369 h 1770"/>
                <a:gd name="T38" fmla="*/ 75 w 1309"/>
                <a:gd name="T39" fmla="*/ 247 h 1770"/>
                <a:gd name="T40" fmla="*/ 169 w 1309"/>
                <a:gd name="T41" fmla="*/ 148 h 1770"/>
                <a:gd name="T42" fmla="*/ 294 w 1309"/>
                <a:gd name="T43" fmla="*/ 73 h 1770"/>
                <a:gd name="T44" fmla="*/ 443 w 1309"/>
                <a:gd name="T45" fmla="*/ 24 h 1770"/>
                <a:gd name="T46" fmla="*/ 614 w 1309"/>
                <a:gd name="T47" fmla="*/ 2 h 1770"/>
                <a:gd name="T48" fmla="*/ 832 w 1309"/>
                <a:gd name="T49" fmla="*/ 7 h 1770"/>
                <a:gd name="T50" fmla="*/ 1134 w 1309"/>
                <a:gd name="T51" fmla="*/ 54 h 1770"/>
                <a:gd name="T52" fmla="*/ 1088 w 1309"/>
                <a:gd name="T53" fmla="*/ 353 h 1770"/>
                <a:gd name="T54" fmla="*/ 947 w 1309"/>
                <a:gd name="T55" fmla="*/ 314 h 1770"/>
                <a:gd name="T56" fmla="*/ 811 w 1309"/>
                <a:gd name="T57" fmla="*/ 294 h 1770"/>
                <a:gd name="T58" fmla="*/ 667 w 1309"/>
                <a:gd name="T59" fmla="*/ 293 h 1770"/>
                <a:gd name="T60" fmla="*/ 539 w 1309"/>
                <a:gd name="T61" fmla="*/ 321 h 1770"/>
                <a:gd name="T62" fmla="*/ 488 w 1309"/>
                <a:gd name="T63" fmla="*/ 352 h 1770"/>
                <a:gd name="T64" fmla="*/ 463 w 1309"/>
                <a:gd name="T65" fmla="*/ 387 h 1770"/>
                <a:gd name="T66" fmla="*/ 449 w 1309"/>
                <a:gd name="T67" fmla="*/ 430 h 1770"/>
                <a:gd name="T68" fmla="*/ 456 w 1309"/>
                <a:gd name="T69" fmla="*/ 490 h 1770"/>
                <a:gd name="T70" fmla="*/ 506 w 1309"/>
                <a:gd name="T71" fmla="*/ 545 h 1770"/>
                <a:gd name="T72" fmla="*/ 632 w 1309"/>
                <a:gd name="T73" fmla="*/ 608 h 1770"/>
                <a:gd name="T74" fmla="*/ 914 w 1309"/>
                <a:gd name="T75" fmla="*/ 740 h 1770"/>
                <a:gd name="T76" fmla="*/ 1101 w 1309"/>
                <a:gd name="T77" fmla="*/ 846 h 1770"/>
                <a:gd name="T78" fmla="*/ 1187 w 1309"/>
                <a:gd name="T79" fmla="*/ 913 h 1770"/>
                <a:gd name="T80" fmla="*/ 1251 w 1309"/>
                <a:gd name="T81" fmla="*/ 997 h 1770"/>
                <a:gd name="T82" fmla="*/ 1292 w 1309"/>
                <a:gd name="T83" fmla="*/ 1094 h 1770"/>
                <a:gd name="T84" fmla="*/ 1309 w 1309"/>
                <a:gd name="T85" fmla="*/ 1204 h 1770"/>
                <a:gd name="T86" fmla="*/ 1295 w 1309"/>
                <a:gd name="T87" fmla="*/ 1358 h 1770"/>
                <a:gd name="T88" fmla="*/ 1270 w 1309"/>
                <a:gd name="T89" fmla="*/ 1432 h 1770"/>
                <a:gd name="T90" fmla="*/ 1234 w 1309"/>
                <a:gd name="T91" fmla="*/ 1499 h 1770"/>
                <a:gd name="T92" fmla="*/ 1186 w 1309"/>
                <a:gd name="T93" fmla="*/ 1559 h 1770"/>
                <a:gd name="T94" fmla="*/ 1069 w 1309"/>
                <a:gd name="T95" fmla="*/ 1651 h 1770"/>
                <a:gd name="T96" fmla="*/ 936 w 1309"/>
                <a:gd name="T97" fmla="*/ 1714 h 1770"/>
                <a:gd name="T98" fmla="*/ 780 w 1309"/>
                <a:gd name="T99" fmla="*/ 1752 h 1770"/>
                <a:gd name="T100" fmla="*/ 601 w 1309"/>
                <a:gd name="T101" fmla="*/ 1769 h 1770"/>
                <a:gd name="T102" fmla="*/ 299 w 1309"/>
                <a:gd name="T103" fmla="*/ 1754 h 1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09" h="1770">
                  <a:moveTo>
                    <a:pt x="34" y="1707"/>
                  </a:moveTo>
                  <a:lnTo>
                    <a:pt x="34" y="1371"/>
                  </a:lnTo>
                  <a:lnTo>
                    <a:pt x="69" y="1382"/>
                  </a:lnTo>
                  <a:lnTo>
                    <a:pt x="105" y="1392"/>
                  </a:lnTo>
                  <a:lnTo>
                    <a:pt x="138" y="1401"/>
                  </a:lnTo>
                  <a:lnTo>
                    <a:pt x="173" y="1410"/>
                  </a:lnTo>
                  <a:lnTo>
                    <a:pt x="206" y="1419"/>
                  </a:lnTo>
                  <a:lnTo>
                    <a:pt x="239" y="1426"/>
                  </a:lnTo>
                  <a:lnTo>
                    <a:pt x="272" y="1432"/>
                  </a:lnTo>
                  <a:lnTo>
                    <a:pt x="303" y="1438"/>
                  </a:lnTo>
                  <a:lnTo>
                    <a:pt x="335" y="1444"/>
                  </a:lnTo>
                  <a:lnTo>
                    <a:pt x="366" y="1448"/>
                  </a:lnTo>
                  <a:lnTo>
                    <a:pt x="396" y="1452"/>
                  </a:lnTo>
                  <a:lnTo>
                    <a:pt x="427" y="1455"/>
                  </a:lnTo>
                  <a:lnTo>
                    <a:pt x="456" y="1457"/>
                  </a:lnTo>
                  <a:lnTo>
                    <a:pt x="486" y="1459"/>
                  </a:lnTo>
                  <a:lnTo>
                    <a:pt x="515" y="1460"/>
                  </a:lnTo>
                  <a:lnTo>
                    <a:pt x="542" y="1461"/>
                  </a:lnTo>
                  <a:lnTo>
                    <a:pt x="580" y="1460"/>
                  </a:lnTo>
                  <a:lnTo>
                    <a:pt x="615" y="1458"/>
                  </a:lnTo>
                  <a:lnTo>
                    <a:pt x="646" y="1455"/>
                  </a:lnTo>
                  <a:lnTo>
                    <a:pt x="676" y="1451"/>
                  </a:lnTo>
                  <a:lnTo>
                    <a:pt x="703" y="1445"/>
                  </a:lnTo>
                  <a:lnTo>
                    <a:pt x="729" y="1438"/>
                  </a:lnTo>
                  <a:lnTo>
                    <a:pt x="740" y="1434"/>
                  </a:lnTo>
                  <a:lnTo>
                    <a:pt x="751" y="1430"/>
                  </a:lnTo>
                  <a:lnTo>
                    <a:pt x="761" y="1426"/>
                  </a:lnTo>
                  <a:lnTo>
                    <a:pt x="772" y="1421"/>
                  </a:lnTo>
                  <a:lnTo>
                    <a:pt x="781" y="1416"/>
                  </a:lnTo>
                  <a:lnTo>
                    <a:pt x="790" y="1409"/>
                  </a:lnTo>
                  <a:lnTo>
                    <a:pt x="798" y="1404"/>
                  </a:lnTo>
                  <a:lnTo>
                    <a:pt x="805" y="1398"/>
                  </a:lnTo>
                  <a:lnTo>
                    <a:pt x="812" y="1391"/>
                  </a:lnTo>
                  <a:lnTo>
                    <a:pt x="819" y="1385"/>
                  </a:lnTo>
                  <a:lnTo>
                    <a:pt x="824" y="1378"/>
                  </a:lnTo>
                  <a:lnTo>
                    <a:pt x="829" y="1370"/>
                  </a:lnTo>
                  <a:lnTo>
                    <a:pt x="834" y="1362"/>
                  </a:lnTo>
                  <a:lnTo>
                    <a:pt x="837" y="1354"/>
                  </a:lnTo>
                  <a:lnTo>
                    <a:pt x="841" y="1346"/>
                  </a:lnTo>
                  <a:lnTo>
                    <a:pt x="843" y="1337"/>
                  </a:lnTo>
                  <a:lnTo>
                    <a:pt x="845" y="1329"/>
                  </a:lnTo>
                  <a:lnTo>
                    <a:pt x="847" y="1319"/>
                  </a:lnTo>
                  <a:lnTo>
                    <a:pt x="848" y="1309"/>
                  </a:lnTo>
                  <a:lnTo>
                    <a:pt x="848" y="1299"/>
                  </a:lnTo>
                  <a:lnTo>
                    <a:pt x="847" y="1285"/>
                  </a:lnTo>
                  <a:lnTo>
                    <a:pt x="845" y="1271"/>
                  </a:lnTo>
                  <a:lnTo>
                    <a:pt x="842" y="1257"/>
                  </a:lnTo>
                  <a:lnTo>
                    <a:pt x="837" y="1244"/>
                  </a:lnTo>
                  <a:lnTo>
                    <a:pt x="831" y="1232"/>
                  </a:lnTo>
                  <a:lnTo>
                    <a:pt x="824" y="1220"/>
                  </a:lnTo>
                  <a:lnTo>
                    <a:pt x="814" y="1208"/>
                  </a:lnTo>
                  <a:lnTo>
                    <a:pt x="805" y="1198"/>
                  </a:lnTo>
                  <a:lnTo>
                    <a:pt x="791" y="1187"/>
                  </a:lnTo>
                  <a:lnTo>
                    <a:pt x="773" y="1175"/>
                  </a:lnTo>
                  <a:lnTo>
                    <a:pt x="750" y="1161"/>
                  </a:lnTo>
                  <a:lnTo>
                    <a:pt x="724" y="1146"/>
                  </a:lnTo>
                  <a:lnTo>
                    <a:pt x="692" y="1131"/>
                  </a:lnTo>
                  <a:lnTo>
                    <a:pt x="655" y="1114"/>
                  </a:lnTo>
                  <a:lnTo>
                    <a:pt x="616" y="1096"/>
                  </a:lnTo>
                  <a:lnTo>
                    <a:pt x="571" y="1078"/>
                  </a:lnTo>
                  <a:lnTo>
                    <a:pt x="490" y="1044"/>
                  </a:lnTo>
                  <a:lnTo>
                    <a:pt x="417" y="1011"/>
                  </a:lnTo>
                  <a:lnTo>
                    <a:pt x="383" y="996"/>
                  </a:lnTo>
                  <a:lnTo>
                    <a:pt x="351" y="980"/>
                  </a:lnTo>
                  <a:lnTo>
                    <a:pt x="321" y="965"/>
                  </a:lnTo>
                  <a:lnTo>
                    <a:pt x="293" y="950"/>
                  </a:lnTo>
                  <a:lnTo>
                    <a:pt x="267" y="936"/>
                  </a:lnTo>
                  <a:lnTo>
                    <a:pt x="241" y="922"/>
                  </a:lnTo>
                  <a:lnTo>
                    <a:pt x="219" y="907"/>
                  </a:lnTo>
                  <a:lnTo>
                    <a:pt x="197" y="893"/>
                  </a:lnTo>
                  <a:lnTo>
                    <a:pt x="178" y="880"/>
                  </a:lnTo>
                  <a:lnTo>
                    <a:pt x="161" y="866"/>
                  </a:lnTo>
                  <a:lnTo>
                    <a:pt x="145" y="854"/>
                  </a:lnTo>
                  <a:lnTo>
                    <a:pt x="131" y="842"/>
                  </a:lnTo>
                  <a:lnTo>
                    <a:pt x="116" y="826"/>
                  </a:lnTo>
                  <a:lnTo>
                    <a:pt x="100" y="808"/>
                  </a:lnTo>
                  <a:lnTo>
                    <a:pt x="86" y="791"/>
                  </a:lnTo>
                  <a:lnTo>
                    <a:pt x="74" y="774"/>
                  </a:lnTo>
                  <a:lnTo>
                    <a:pt x="62" y="755"/>
                  </a:lnTo>
                  <a:lnTo>
                    <a:pt x="51" y="736"/>
                  </a:lnTo>
                  <a:lnTo>
                    <a:pt x="41" y="716"/>
                  </a:lnTo>
                  <a:lnTo>
                    <a:pt x="32" y="696"/>
                  </a:lnTo>
                  <a:lnTo>
                    <a:pt x="25" y="676"/>
                  </a:lnTo>
                  <a:lnTo>
                    <a:pt x="18" y="654"/>
                  </a:lnTo>
                  <a:lnTo>
                    <a:pt x="13" y="633"/>
                  </a:lnTo>
                  <a:lnTo>
                    <a:pt x="8" y="610"/>
                  </a:lnTo>
                  <a:lnTo>
                    <a:pt x="4" y="587"/>
                  </a:lnTo>
                  <a:lnTo>
                    <a:pt x="2" y="563"/>
                  </a:lnTo>
                  <a:lnTo>
                    <a:pt x="0" y="540"/>
                  </a:lnTo>
                  <a:lnTo>
                    <a:pt x="0" y="515"/>
                  </a:lnTo>
                  <a:lnTo>
                    <a:pt x="1" y="484"/>
                  </a:lnTo>
                  <a:lnTo>
                    <a:pt x="3" y="454"/>
                  </a:lnTo>
                  <a:lnTo>
                    <a:pt x="7" y="424"/>
                  </a:lnTo>
                  <a:lnTo>
                    <a:pt x="12" y="397"/>
                  </a:lnTo>
                  <a:lnTo>
                    <a:pt x="18" y="369"/>
                  </a:lnTo>
                  <a:lnTo>
                    <a:pt x="26" y="343"/>
                  </a:lnTo>
                  <a:lnTo>
                    <a:pt x="36" y="317"/>
                  </a:lnTo>
                  <a:lnTo>
                    <a:pt x="47" y="293"/>
                  </a:lnTo>
                  <a:lnTo>
                    <a:pt x="61" y="269"/>
                  </a:lnTo>
                  <a:lnTo>
                    <a:pt x="75" y="247"/>
                  </a:lnTo>
                  <a:lnTo>
                    <a:pt x="90" y="225"/>
                  </a:lnTo>
                  <a:lnTo>
                    <a:pt x="108" y="204"/>
                  </a:lnTo>
                  <a:lnTo>
                    <a:pt x="127" y="185"/>
                  </a:lnTo>
                  <a:lnTo>
                    <a:pt x="146" y="165"/>
                  </a:lnTo>
                  <a:lnTo>
                    <a:pt x="169" y="148"/>
                  </a:lnTo>
                  <a:lnTo>
                    <a:pt x="192" y="131"/>
                  </a:lnTo>
                  <a:lnTo>
                    <a:pt x="217" y="115"/>
                  </a:lnTo>
                  <a:lnTo>
                    <a:pt x="241" y="100"/>
                  </a:lnTo>
                  <a:lnTo>
                    <a:pt x="268" y="86"/>
                  </a:lnTo>
                  <a:lnTo>
                    <a:pt x="294" y="73"/>
                  </a:lnTo>
                  <a:lnTo>
                    <a:pt x="322" y="61"/>
                  </a:lnTo>
                  <a:lnTo>
                    <a:pt x="351" y="51"/>
                  </a:lnTo>
                  <a:lnTo>
                    <a:pt x="381" y="41"/>
                  </a:lnTo>
                  <a:lnTo>
                    <a:pt x="412" y="33"/>
                  </a:lnTo>
                  <a:lnTo>
                    <a:pt x="443" y="24"/>
                  </a:lnTo>
                  <a:lnTo>
                    <a:pt x="475" y="18"/>
                  </a:lnTo>
                  <a:lnTo>
                    <a:pt x="508" y="12"/>
                  </a:lnTo>
                  <a:lnTo>
                    <a:pt x="543" y="8"/>
                  </a:lnTo>
                  <a:lnTo>
                    <a:pt x="578" y="4"/>
                  </a:lnTo>
                  <a:lnTo>
                    <a:pt x="614" y="2"/>
                  </a:lnTo>
                  <a:lnTo>
                    <a:pt x="650" y="0"/>
                  </a:lnTo>
                  <a:lnTo>
                    <a:pt x="688" y="0"/>
                  </a:lnTo>
                  <a:lnTo>
                    <a:pt x="733" y="0"/>
                  </a:lnTo>
                  <a:lnTo>
                    <a:pt x="781" y="3"/>
                  </a:lnTo>
                  <a:lnTo>
                    <a:pt x="832" y="7"/>
                  </a:lnTo>
                  <a:lnTo>
                    <a:pt x="886" y="13"/>
                  </a:lnTo>
                  <a:lnTo>
                    <a:pt x="943" y="20"/>
                  </a:lnTo>
                  <a:lnTo>
                    <a:pt x="1004" y="30"/>
                  </a:lnTo>
                  <a:lnTo>
                    <a:pt x="1067" y="42"/>
                  </a:lnTo>
                  <a:lnTo>
                    <a:pt x="1134" y="54"/>
                  </a:lnTo>
                  <a:lnTo>
                    <a:pt x="1177" y="61"/>
                  </a:lnTo>
                  <a:lnTo>
                    <a:pt x="1177" y="386"/>
                  </a:lnTo>
                  <a:lnTo>
                    <a:pt x="1147" y="374"/>
                  </a:lnTo>
                  <a:lnTo>
                    <a:pt x="1117" y="363"/>
                  </a:lnTo>
                  <a:lnTo>
                    <a:pt x="1088" y="353"/>
                  </a:lnTo>
                  <a:lnTo>
                    <a:pt x="1059" y="344"/>
                  </a:lnTo>
                  <a:lnTo>
                    <a:pt x="1031" y="336"/>
                  </a:lnTo>
                  <a:lnTo>
                    <a:pt x="1003" y="327"/>
                  </a:lnTo>
                  <a:lnTo>
                    <a:pt x="975" y="320"/>
                  </a:lnTo>
                  <a:lnTo>
                    <a:pt x="947" y="314"/>
                  </a:lnTo>
                  <a:lnTo>
                    <a:pt x="920" y="309"/>
                  </a:lnTo>
                  <a:lnTo>
                    <a:pt x="892" y="304"/>
                  </a:lnTo>
                  <a:lnTo>
                    <a:pt x="865" y="300"/>
                  </a:lnTo>
                  <a:lnTo>
                    <a:pt x="838" y="297"/>
                  </a:lnTo>
                  <a:lnTo>
                    <a:pt x="811" y="294"/>
                  </a:lnTo>
                  <a:lnTo>
                    <a:pt x="786" y="292"/>
                  </a:lnTo>
                  <a:lnTo>
                    <a:pt x="759" y="291"/>
                  </a:lnTo>
                  <a:lnTo>
                    <a:pt x="734" y="291"/>
                  </a:lnTo>
                  <a:lnTo>
                    <a:pt x="699" y="292"/>
                  </a:lnTo>
                  <a:lnTo>
                    <a:pt x="667" y="293"/>
                  </a:lnTo>
                  <a:lnTo>
                    <a:pt x="637" y="296"/>
                  </a:lnTo>
                  <a:lnTo>
                    <a:pt x="609" y="301"/>
                  </a:lnTo>
                  <a:lnTo>
                    <a:pt x="583" y="306"/>
                  </a:lnTo>
                  <a:lnTo>
                    <a:pt x="559" y="313"/>
                  </a:lnTo>
                  <a:lnTo>
                    <a:pt x="539" y="321"/>
                  </a:lnTo>
                  <a:lnTo>
                    <a:pt x="520" y="331"/>
                  </a:lnTo>
                  <a:lnTo>
                    <a:pt x="512" y="336"/>
                  </a:lnTo>
                  <a:lnTo>
                    <a:pt x="503" y="341"/>
                  </a:lnTo>
                  <a:lnTo>
                    <a:pt x="495" y="346"/>
                  </a:lnTo>
                  <a:lnTo>
                    <a:pt x="488" y="352"/>
                  </a:lnTo>
                  <a:lnTo>
                    <a:pt x="482" y="359"/>
                  </a:lnTo>
                  <a:lnTo>
                    <a:pt x="476" y="365"/>
                  </a:lnTo>
                  <a:lnTo>
                    <a:pt x="471" y="372"/>
                  </a:lnTo>
                  <a:lnTo>
                    <a:pt x="467" y="380"/>
                  </a:lnTo>
                  <a:lnTo>
                    <a:pt x="463" y="387"/>
                  </a:lnTo>
                  <a:lnTo>
                    <a:pt x="459" y="395"/>
                  </a:lnTo>
                  <a:lnTo>
                    <a:pt x="455" y="403"/>
                  </a:lnTo>
                  <a:lnTo>
                    <a:pt x="453" y="411"/>
                  </a:lnTo>
                  <a:lnTo>
                    <a:pt x="451" y="420"/>
                  </a:lnTo>
                  <a:lnTo>
                    <a:pt x="449" y="430"/>
                  </a:lnTo>
                  <a:lnTo>
                    <a:pt x="448" y="439"/>
                  </a:lnTo>
                  <a:lnTo>
                    <a:pt x="448" y="449"/>
                  </a:lnTo>
                  <a:lnTo>
                    <a:pt x="449" y="463"/>
                  </a:lnTo>
                  <a:lnTo>
                    <a:pt x="452" y="477"/>
                  </a:lnTo>
                  <a:lnTo>
                    <a:pt x="456" y="490"/>
                  </a:lnTo>
                  <a:lnTo>
                    <a:pt x="463" y="502"/>
                  </a:lnTo>
                  <a:lnTo>
                    <a:pt x="471" y="514"/>
                  </a:lnTo>
                  <a:lnTo>
                    <a:pt x="481" y="524"/>
                  </a:lnTo>
                  <a:lnTo>
                    <a:pt x="492" y="536"/>
                  </a:lnTo>
                  <a:lnTo>
                    <a:pt x="506" y="545"/>
                  </a:lnTo>
                  <a:lnTo>
                    <a:pt x="521" y="553"/>
                  </a:lnTo>
                  <a:lnTo>
                    <a:pt x="540" y="564"/>
                  </a:lnTo>
                  <a:lnTo>
                    <a:pt x="565" y="577"/>
                  </a:lnTo>
                  <a:lnTo>
                    <a:pt x="595" y="592"/>
                  </a:lnTo>
                  <a:lnTo>
                    <a:pt x="632" y="608"/>
                  </a:lnTo>
                  <a:lnTo>
                    <a:pt x="673" y="628"/>
                  </a:lnTo>
                  <a:lnTo>
                    <a:pt x="720" y="649"/>
                  </a:lnTo>
                  <a:lnTo>
                    <a:pt x="773" y="672"/>
                  </a:lnTo>
                  <a:lnTo>
                    <a:pt x="846" y="707"/>
                  </a:lnTo>
                  <a:lnTo>
                    <a:pt x="914" y="740"/>
                  </a:lnTo>
                  <a:lnTo>
                    <a:pt x="976" y="771"/>
                  </a:lnTo>
                  <a:lnTo>
                    <a:pt x="1031" y="802"/>
                  </a:lnTo>
                  <a:lnTo>
                    <a:pt x="1056" y="817"/>
                  </a:lnTo>
                  <a:lnTo>
                    <a:pt x="1080" y="832"/>
                  </a:lnTo>
                  <a:lnTo>
                    <a:pt x="1101" y="846"/>
                  </a:lnTo>
                  <a:lnTo>
                    <a:pt x="1122" y="860"/>
                  </a:lnTo>
                  <a:lnTo>
                    <a:pt x="1140" y="875"/>
                  </a:lnTo>
                  <a:lnTo>
                    <a:pt x="1157" y="888"/>
                  </a:lnTo>
                  <a:lnTo>
                    <a:pt x="1173" y="901"/>
                  </a:lnTo>
                  <a:lnTo>
                    <a:pt x="1187" y="913"/>
                  </a:lnTo>
                  <a:lnTo>
                    <a:pt x="1201" y="930"/>
                  </a:lnTo>
                  <a:lnTo>
                    <a:pt x="1215" y="945"/>
                  </a:lnTo>
                  <a:lnTo>
                    <a:pt x="1229" y="962"/>
                  </a:lnTo>
                  <a:lnTo>
                    <a:pt x="1241" y="979"/>
                  </a:lnTo>
                  <a:lnTo>
                    <a:pt x="1251" y="997"/>
                  </a:lnTo>
                  <a:lnTo>
                    <a:pt x="1261" y="1015"/>
                  </a:lnTo>
                  <a:lnTo>
                    <a:pt x="1270" y="1034"/>
                  </a:lnTo>
                  <a:lnTo>
                    <a:pt x="1279" y="1053"/>
                  </a:lnTo>
                  <a:lnTo>
                    <a:pt x="1286" y="1074"/>
                  </a:lnTo>
                  <a:lnTo>
                    <a:pt x="1292" y="1094"/>
                  </a:lnTo>
                  <a:lnTo>
                    <a:pt x="1298" y="1114"/>
                  </a:lnTo>
                  <a:lnTo>
                    <a:pt x="1302" y="1137"/>
                  </a:lnTo>
                  <a:lnTo>
                    <a:pt x="1305" y="1158"/>
                  </a:lnTo>
                  <a:lnTo>
                    <a:pt x="1307" y="1182"/>
                  </a:lnTo>
                  <a:lnTo>
                    <a:pt x="1309" y="1204"/>
                  </a:lnTo>
                  <a:lnTo>
                    <a:pt x="1309" y="1229"/>
                  </a:lnTo>
                  <a:lnTo>
                    <a:pt x="1308" y="1262"/>
                  </a:lnTo>
                  <a:lnTo>
                    <a:pt x="1306" y="1296"/>
                  </a:lnTo>
                  <a:lnTo>
                    <a:pt x="1301" y="1328"/>
                  </a:lnTo>
                  <a:lnTo>
                    <a:pt x="1295" y="1358"/>
                  </a:lnTo>
                  <a:lnTo>
                    <a:pt x="1291" y="1374"/>
                  </a:lnTo>
                  <a:lnTo>
                    <a:pt x="1286" y="1389"/>
                  </a:lnTo>
                  <a:lnTo>
                    <a:pt x="1282" y="1403"/>
                  </a:lnTo>
                  <a:lnTo>
                    <a:pt x="1276" y="1418"/>
                  </a:lnTo>
                  <a:lnTo>
                    <a:pt x="1270" y="1432"/>
                  </a:lnTo>
                  <a:lnTo>
                    <a:pt x="1263" y="1446"/>
                  </a:lnTo>
                  <a:lnTo>
                    <a:pt x="1257" y="1459"/>
                  </a:lnTo>
                  <a:lnTo>
                    <a:pt x="1250" y="1473"/>
                  </a:lnTo>
                  <a:lnTo>
                    <a:pt x="1242" y="1486"/>
                  </a:lnTo>
                  <a:lnTo>
                    <a:pt x="1234" y="1499"/>
                  </a:lnTo>
                  <a:lnTo>
                    <a:pt x="1225" y="1511"/>
                  </a:lnTo>
                  <a:lnTo>
                    <a:pt x="1216" y="1524"/>
                  </a:lnTo>
                  <a:lnTo>
                    <a:pt x="1206" y="1536"/>
                  </a:lnTo>
                  <a:lnTo>
                    <a:pt x="1196" y="1547"/>
                  </a:lnTo>
                  <a:lnTo>
                    <a:pt x="1186" y="1559"/>
                  </a:lnTo>
                  <a:lnTo>
                    <a:pt x="1175" y="1571"/>
                  </a:lnTo>
                  <a:lnTo>
                    <a:pt x="1151" y="1592"/>
                  </a:lnTo>
                  <a:lnTo>
                    <a:pt x="1126" y="1613"/>
                  </a:lnTo>
                  <a:lnTo>
                    <a:pt x="1099" y="1633"/>
                  </a:lnTo>
                  <a:lnTo>
                    <a:pt x="1069" y="1651"/>
                  </a:lnTo>
                  <a:lnTo>
                    <a:pt x="1045" y="1666"/>
                  </a:lnTo>
                  <a:lnTo>
                    <a:pt x="1018" y="1679"/>
                  </a:lnTo>
                  <a:lnTo>
                    <a:pt x="992" y="1691"/>
                  </a:lnTo>
                  <a:lnTo>
                    <a:pt x="964" y="1703"/>
                  </a:lnTo>
                  <a:lnTo>
                    <a:pt x="936" y="1714"/>
                  </a:lnTo>
                  <a:lnTo>
                    <a:pt x="906" y="1724"/>
                  </a:lnTo>
                  <a:lnTo>
                    <a:pt x="876" y="1732"/>
                  </a:lnTo>
                  <a:lnTo>
                    <a:pt x="845" y="1740"/>
                  </a:lnTo>
                  <a:lnTo>
                    <a:pt x="812" y="1747"/>
                  </a:lnTo>
                  <a:lnTo>
                    <a:pt x="780" y="1752"/>
                  </a:lnTo>
                  <a:lnTo>
                    <a:pt x="746" y="1757"/>
                  </a:lnTo>
                  <a:lnTo>
                    <a:pt x="710" y="1762"/>
                  </a:lnTo>
                  <a:lnTo>
                    <a:pt x="675" y="1766"/>
                  </a:lnTo>
                  <a:lnTo>
                    <a:pt x="639" y="1768"/>
                  </a:lnTo>
                  <a:lnTo>
                    <a:pt x="601" y="1769"/>
                  </a:lnTo>
                  <a:lnTo>
                    <a:pt x="563" y="1770"/>
                  </a:lnTo>
                  <a:lnTo>
                    <a:pt x="497" y="1769"/>
                  </a:lnTo>
                  <a:lnTo>
                    <a:pt x="431" y="1766"/>
                  </a:lnTo>
                  <a:lnTo>
                    <a:pt x="365" y="1761"/>
                  </a:lnTo>
                  <a:lnTo>
                    <a:pt x="299" y="1754"/>
                  </a:lnTo>
                  <a:lnTo>
                    <a:pt x="233" y="1745"/>
                  </a:lnTo>
                  <a:lnTo>
                    <a:pt x="167" y="1735"/>
                  </a:lnTo>
                  <a:lnTo>
                    <a:pt x="100" y="1722"/>
                  </a:lnTo>
                  <a:lnTo>
                    <a:pt x="34" y="1707"/>
                  </a:lnTo>
                  <a:close/>
                </a:path>
              </a:pathLst>
            </a:custGeom>
            <a:solidFill>
              <a:srgbClr val="00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sz="1799"/>
            </a:p>
          </p:txBody>
        </p:sp>
      </p:grpSp>
    </p:spTree>
    <p:extLst>
      <p:ext uri="{BB962C8B-B14F-4D97-AF65-F5344CB8AC3E}">
        <p14:creationId xmlns:p14="http://schemas.microsoft.com/office/powerpoint/2010/main" val="32128661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userDrawn="1">
  <p:cSld name="1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C941FC10-A7C1-4D71-803C-9509392A94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581928777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Slide" r:id="rId6" imgW="622" imgH="623" progId="TCLayout.ActiveDocument.1">
                  <p:embed/>
                </p:oleObj>
              </mc:Choice>
              <mc:Fallback>
                <p:oleObj name="think-cell Slide" r:id="rId6" imgW="622" imgH="62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C941FC10-A7C1-4D71-803C-9509392A94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FA2B0FB-06C5-4E9D-8744-57CE89397B76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auto">
          <a:xfrm>
            <a:off x="0" y="0"/>
            <a:ext cx="158667" cy="158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charset="0"/>
              <a:buNone/>
            </a:pPr>
            <a:endParaRPr lang="en-US" sz="2199" b="1" i="0" baseline="0" dirty="0">
              <a:solidFill>
                <a:schemeClr val="tx1"/>
              </a:solidFill>
              <a:latin typeface="Arial" panose="020B0604020202020204" pitchFamily="34" charset="0"/>
              <a:ea typeface="Siemens Sans Global" pitchFamily="2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custDataLst>
      <p:custData r:id="rId2"/>
    </p:custDataLst>
    <p:extLst>
      <p:ext uri="{BB962C8B-B14F-4D97-AF65-F5344CB8AC3E}">
        <p14:creationId xmlns:p14="http://schemas.microsoft.com/office/powerpoint/2010/main" val="3744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2021 | Zhou Wen Jing | T RDA IOT INW-CN | 2021-02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48" r:id="rId19"/>
    <p:sldLayoutId id="2147483749" r:id="rId20"/>
    <p:sldLayoutId id="2147483750" r:id="rId21"/>
    <p:sldLayoutId id="2147483745" r:id="rId22"/>
    <p:sldLayoutId id="2147483746" r:id="rId23"/>
    <p:sldLayoutId id="2147483747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4" r:id="rId31"/>
    <p:sldLayoutId id="2147483708" r:id="rId32"/>
    <p:sldLayoutId id="2147483655" r:id="rId33"/>
    <p:sldLayoutId id="2147483742" r:id="rId34"/>
    <p:sldLayoutId id="2147483677" r:id="rId35"/>
    <p:sldLayoutId id="2147483709" r:id="rId36"/>
    <p:sldLayoutId id="2147483751" r:id="rId37"/>
    <p:sldLayoutId id="2147483691" r:id="rId38"/>
    <p:sldLayoutId id="2147483752" r:id="rId39"/>
    <p:sldLayoutId id="2147483692" r:id="rId40"/>
    <p:sldLayoutId id="2147483650" r:id="rId41"/>
    <p:sldLayoutId id="2147483665" r:id="rId42"/>
    <p:sldLayoutId id="2147483666" r:id="rId43"/>
    <p:sldLayoutId id="2147483697" r:id="rId44"/>
    <p:sldLayoutId id="2147483698" r:id="rId45"/>
    <p:sldLayoutId id="2147483652" r:id="rId46"/>
    <p:sldLayoutId id="2147483680" r:id="rId47"/>
    <p:sldLayoutId id="2147483694" r:id="rId48"/>
    <p:sldLayoutId id="2147483687" r:id="rId49"/>
    <p:sldLayoutId id="2147483681" r:id="rId50"/>
    <p:sldLayoutId id="2147483690" r:id="rId51"/>
    <p:sldLayoutId id="2147483711" r:id="rId52"/>
    <p:sldLayoutId id="2147483682" r:id="rId53"/>
    <p:sldLayoutId id="2147483678" r:id="rId54"/>
    <p:sldLayoutId id="2147483753" r:id="rId55"/>
    <p:sldLayoutId id="2147483754" r:id="rId5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6.png"/><Relationship Id="rId3" Type="http://schemas.openxmlformats.org/officeDocument/2006/relationships/tags" Target="../tags/tag6.xml"/><Relationship Id="rId7" Type="http://schemas.openxmlformats.org/officeDocument/2006/relationships/image" Target="../media/image31.emf"/><Relationship Id="rId12" Type="http://schemas.openxmlformats.org/officeDocument/2006/relationships/image" Target="../media/image35.png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34.jpe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38.png"/><Relationship Id="rId10" Type="http://schemas.openxmlformats.org/officeDocument/2006/relationships/hyperlink" Target="http://www.google.de/url?sa=i&amp;rct=j&amp;q=&amp;esrc=s&amp;source=images&amp;cd=&amp;ved=0ahUKEwj_ir2kq-DUAhWLWxoKHW1JAd8QjRwIBw&amp;url=http://w3.siemens.com/mcms/siplus/de/siplus-cms/siplus-cms1200/seiten/default.aspx&amp;psig=AFQjCNEtNxsj27VPc7nt3QpAAFODgQW_1w&amp;ust=1498732361658153" TargetMode="External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33.jpeg"/><Relationship Id="rId14" Type="http://schemas.openxmlformats.org/officeDocument/2006/relationships/image" Target="../media/image3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tags" Target="../tags/tag8.xml"/><Relationship Id="rId7" Type="http://schemas.openxmlformats.org/officeDocument/2006/relationships/image" Target="../media/image31.emf"/><Relationship Id="rId2" Type="http://schemas.openxmlformats.org/officeDocument/2006/relationships/tags" Target="../tags/tag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2.xml"/><Relationship Id="rId10" Type="http://schemas.openxmlformats.org/officeDocument/2006/relationships/image" Target="../media/image41.jpeg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4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tags" Target="../tags/tag10.xml"/><Relationship Id="rId7" Type="http://schemas.openxmlformats.org/officeDocument/2006/relationships/image" Target="../media/image31.emf"/><Relationship Id="rId2" Type="http://schemas.openxmlformats.org/officeDocument/2006/relationships/tags" Target="../tags/tag9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5.png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44.png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3.bin"/><Relationship Id="rId4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tags" Target="../tags/tag14.xml"/><Relationship Id="rId7" Type="http://schemas.openxmlformats.org/officeDocument/2006/relationships/image" Target="../media/image31.emf"/><Relationship Id="rId2" Type="http://schemas.openxmlformats.org/officeDocument/2006/relationships/tags" Target="../tags/tag1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52.png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5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hyperlink" Target="http://www.google.de/url?sa=i&amp;rct=j&amp;q=&amp;esrc=s&amp;source=images&amp;cd=&amp;ved=0ahUKEwj_ir2kq-DUAhWLWxoKHW1JAd8QjRwIBw&amp;url=http://w3.siemens.com/mcms/siplus/de/siplus-cms/siplus-cms1200/seiten/default.aspx&amp;psig=AFQjCNEtNxsj27VPc7nt3QpAAFODgQW_1w&amp;ust=1498732361658153" TargetMode="External"/><Relationship Id="rId3" Type="http://schemas.openxmlformats.org/officeDocument/2006/relationships/tags" Target="../tags/tag16.xml"/><Relationship Id="rId7" Type="http://schemas.openxmlformats.org/officeDocument/2006/relationships/image" Target="../media/image31.emf"/><Relationship Id="rId12" Type="http://schemas.openxmlformats.org/officeDocument/2006/relationships/image" Target="../media/image56.jpeg"/><Relationship Id="rId2" Type="http://schemas.openxmlformats.org/officeDocument/2006/relationships/tags" Target="../tags/tag15.xml"/><Relationship Id="rId16" Type="http://schemas.openxmlformats.org/officeDocument/2006/relationships/image" Target="../media/image58.png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.bin"/><Relationship Id="rId11" Type="http://schemas.openxmlformats.org/officeDocument/2006/relationships/hyperlink" Target="http://www.google.de/url?sa=i&amp;rct=j&amp;q=&amp;esrc=s&amp;source=images&amp;cd=&amp;ved=0ahUKEwjE06yareDUAhWLVxoKHd8YDB4QjRwIBw&amp;url=http://www.conrad.com/ce/en/product/197592/SPS-cable-Siemens-S7-1200-SM-12XX-6ES7290-6AA30-0XA0&amp;psig=AFQjCNHCXLel62cmD_Ot2mDWEUawo8iN0g&amp;ust=1498732459881144" TargetMode="External"/><Relationship Id="rId5" Type="http://schemas.openxmlformats.org/officeDocument/2006/relationships/notesSlide" Target="../notesSlides/notesSlide5.xml"/><Relationship Id="rId15" Type="http://schemas.openxmlformats.org/officeDocument/2006/relationships/image" Target="../media/image57.png"/><Relationship Id="rId10" Type="http://schemas.openxmlformats.org/officeDocument/2006/relationships/image" Target="../media/image55.png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54.png"/><Relationship Id="rId14" Type="http://schemas.openxmlformats.org/officeDocument/2006/relationships/image" Target="../media/image3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tags" Target="../tags/tag18.xml"/><Relationship Id="rId7" Type="http://schemas.openxmlformats.org/officeDocument/2006/relationships/image" Target="../media/image31.emf"/><Relationship Id="rId2" Type="http://schemas.openxmlformats.org/officeDocument/2006/relationships/tags" Target="../tags/tag1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tags" Target="../tags/tag20.xml"/><Relationship Id="rId7" Type="http://schemas.openxmlformats.org/officeDocument/2006/relationships/image" Target="../media/image31.emf"/><Relationship Id="rId2" Type="http://schemas.openxmlformats.org/officeDocument/2006/relationships/tags" Target="../tags/tag19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3.png"/><Relationship Id="rId5" Type="http://schemas.openxmlformats.org/officeDocument/2006/relationships/notesSlide" Target="../notesSlides/notesSlide7.xml"/><Relationship Id="rId10" Type="http://schemas.openxmlformats.org/officeDocument/2006/relationships/image" Target="../media/image62.png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5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tags" Target="../tags/tag21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66.e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A865AB3-8AE0-4AB0-94C2-2E517EC1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18" y="1489752"/>
            <a:ext cx="11610364" cy="1654139"/>
          </a:xfrm>
        </p:spPr>
        <p:txBody>
          <a:bodyPr/>
          <a:lstStyle/>
          <a:p>
            <a:r>
              <a:rPr lang="en-US" altLang="zh-CN" sz="4800" b="0" dirty="0"/>
              <a:t>Rubber Coating Wheel Pre-Maintenance</a:t>
            </a:r>
            <a:br>
              <a:rPr lang="en-US" altLang="zh-CN" sz="4800" b="0" dirty="0"/>
            </a:br>
            <a:r>
              <a:rPr lang="en-US" altLang="zh-CN" sz="4800" b="0" dirty="0"/>
              <a:t>of EMS Line</a:t>
            </a:r>
            <a:br>
              <a:rPr lang="en-US" altLang="zh-CN" sz="4800" b="0" dirty="0"/>
            </a:br>
            <a:endParaRPr lang="en-US" sz="4800" b="0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9F1C4C08-3D5C-4C0E-914A-F70CA07D0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162" y="3876677"/>
            <a:ext cx="10839039" cy="1930398"/>
          </a:xfrm>
        </p:spPr>
        <p:txBody>
          <a:bodyPr/>
          <a:lstStyle/>
          <a:p>
            <a:r>
              <a:rPr lang="en-US" altLang="zh-CN" sz="3200" dirty="0"/>
              <a:t> </a:t>
            </a:r>
            <a:r>
              <a:rPr lang="en-US" altLang="zh-CN" sz="3200" b="0" dirty="0"/>
              <a:t>EMS</a:t>
            </a:r>
            <a:r>
              <a:rPr lang="zh-CN" altLang="en-US" sz="3200" b="0" dirty="0"/>
              <a:t>输送线包胶轮 预测性维护</a:t>
            </a:r>
            <a:endParaRPr lang="en-US" altLang="zh-CN" sz="3200" b="0" dirty="0"/>
          </a:p>
          <a:p>
            <a:r>
              <a:rPr lang="en-US" sz="2400" dirty="0"/>
              <a:t>  </a:t>
            </a:r>
            <a:r>
              <a:rPr lang="en-US" altLang="zh-CN" sz="2400" dirty="0"/>
              <a:t>Nov.</a:t>
            </a:r>
            <a:r>
              <a:rPr lang="en-US" sz="2400" dirty="0"/>
              <a:t>, 2021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AB7F661-939E-4A89-B29B-F0C08FB449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YU HE | T RDA IOT INW-CN | 2021-10</a:t>
            </a:r>
          </a:p>
        </p:txBody>
      </p:sp>
    </p:spTree>
    <p:extLst>
      <p:ext uri="{BB962C8B-B14F-4D97-AF65-F5344CB8AC3E}">
        <p14:creationId xmlns:p14="http://schemas.microsoft.com/office/powerpoint/2010/main" val="132084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FBC1E-0D5C-4273-B46C-134DA914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>
                <a:latin typeface="Arial" pitchFamily="34" charset="0"/>
              </a:rPr>
              <a:t>UseCase</a:t>
            </a:r>
            <a:r>
              <a:rPr lang="zh-CN" altLang="en-US" dirty="0">
                <a:latin typeface="Arial" pitchFamily="34" charset="0"/>
              </a:rPr>
              <a:t>：</a:t>
            </a:r>
            <a:r>
              <a:rPr lang="en-US" altLang="zh-CN" dirty="0">
                <a:latin typeface="Arial" pitchFamily="34" charset="0"/>
              </a:rPr>
              <a:t>Chain Conveyor Pre-Maintenance in FAW-VW</a:t>
            </a:r>
            <a:br>
              <a:rPr lang="en-US" altLang="zh-CN" dirty="0">
                <a:latin typeface="Arial" pitchFamily="34" charset="0"/>
              </a:rPr>
            </a:br>
            <a:r>
              <a:rPr lang="zh-CN" altLang="en-US" dirty="0">
                <a:latin typeface="Arial" pitchFamily="34" charset="0"/>
              </a:rPr>
              <a:t>应用案例 ：底盘线</a:t>
            </a:r>
            <a:r>
              <a:rPr lang="en-US" altLang="zh-CN" dirty="0">
                <a:latin typeface="Arial" pitchFamily="34" charset="0"/>
              </a:rPr>
              <a:t>PA</a:t>
            </a:r>
            <a:r>
              <a:rPr lang="zh-CN" altLang="en-US" dirty="0">
                <a:latin typeface="Arial" pitchFamily="34" charset="0"/>
              </a:rPr>
              <a:t>链床预测性维护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280" name="Rechteck 2093">
            <a:extLst>
              <a:ext uri="{FF2B5EF4-FFF2-40B4-BE49-F238E27FC236}">
                <a16:creationId xmlns:a16="http://schemas.microsoft.com/office/drawing/2014/main" id="{52B517E6-CF4F-45BD-BF76-476521D67556}"/>
              </a:ext>
            </a:extLst>
          </p:cNvPr>
          <p:cNvSpPr>
            <a:spLocks/>
          </p:cNvSpPr>
          <p:nvPr/>
        </p:nvSpPr>
        <p:spPr bwMode="gray">
          <a:xfrm>
            <a:off x="550242" y="4760978"/>
            <a:ext cx="11082915" cy="1474550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Field Level</a:t>
            </a:r>
            <a:endParaRPr lang="en-US" sz="1199" b="1" dirty="0">
              <a:solidFill>
                <a:srgbClr val="4BB9B9"/>
              </a:solidFill>
            </a:endParaRPr>
          </a:p>
        </p:txBody>
      </p:sp>
      <p:sp>
        <p:nvSpPr>
          <p:cNvPr id="281" name="Rechteck 6">
            <a:extLst>
              <a:ext uri="{FF2B5EF4-FFF2-40B4-BE49-F238E27FC236}">
                <a16:creationId xmlns:a16="http://schemas.microsoft.com/office/drawing/2014/main" id="{E96C5988-178E-4CB8-ABB2-D8562B098DCE}"/>
              </a:ext>
            </a:extLst>
          </p:cNvPr>
          <p:cNvSpPr>
            <a:spLocks/>
          </p:cNvSpPr>
          <p:nvPr/>
        </p:nvSpPr>
        <p:spPr bwMode="gray">
          <a:xfrm>
            <a:off x="554969" y="1125880"/>
            <a:ext cx="11082915" cy="1613271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r>
              <a:rPr lang="en-US" altLang="zh-CN" sz="1199" b="1" dirty="0">
                <a:solidFill>
                  <a:srgbClr val="4BB9B9"/>
                </a:solidFill>
              </a:rPr>
              <a:t>Cloud Level</a:t>
            </a:r>
            <a:endParaRPr lang="en-US" sz="1199" b="1" dirty="0">
              <a:solidFill>
                <a:srgbClr val="4BB9B9"/>
              </a:solidFill>
            </a:endParaRPr>
          </a:p>
        </p:txBody>
      </p:sp>
      <p:sp>
        <p:nvSpPr>
          <p:cNvPr id="282" name="Rechteck 7">
            <a:extLst>
              <a:ext uri="{FF2B5EF4-FFF2-40B4-BE49-F238E27FC236}">
                <a16:creationId xmlns:a16="http://schemas.microsoft.com/office/drawing/2014/main" id="{18D73F59-4FE9-4FE1-BD77-92B2E0CCEAA5}"/>
              </a:ext>
            </a:extLst>
          </p:cNvPr>
          <p:cNvSpPr>
            <a:spLocks/>
          </p:cNvSpPr>
          <p:nvPr/>
        </p:nvSpPr>
        <p:spPr bwMode="gray">
          <a:xfrm>
            <a:off x="554969" y="2808155"/>
            <a:ext cx="11082915" cy="1843816"/>
          </a:xfrm>
          <a:prstGeom prst="rect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rot="0" spcFirstLastPara="0" vert="horz" wrap="square" lIns="91392" tIns="45696" rIns="91392" bIns="4569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199" b="1" dirty="0">
                <a:solidFill>
                  <a:srgbClr val="4BB9B9"/>
                </a:solidFill>
              </a:rPr>
              <a:t>Edge Level</a:t>
            </a:r>
            <a:endParaRPr lang="en-US" sz="1199" b="1" dirty="0">
              <a:solidFill>
                <a:srgbClr val="4BB9B9"/>
              </a:solidFill>
            </a:endParaRPr>
          </a:p>
        </p:txBody>
      </p:sp>
      <p:grpSp>
        <p:nvGrpSpPr>
          <p:cNvPr id="283" name="Gruppieren 2">
            <a:extLst>
              <a:ext uri="{FF2B5EF4-FFF2-40B4-BE49-F238E27FC236}">
                <a16:creationId xmlns:a16="http://schemas.microsoft.com/office/drawing/2014/main" id="{BA1F3E1C-C6DA-4304-83D2-9216C6555281}"/>
              </a:ext>
            </a:extLst>
          </p:cNvPr>
          <p:cNvGrpSpPr/>
          <p:nvPr/>
        </p:nvGrpSpPr>
        <p:grpSpPr>
          <a:xfrm>
            <a:off x="5677073" y="2661889"/>
            <a:ext cx="194661" cy="247779"/>
            <a:chOff x="9127836" y="2841703"/>
            <a:chExt cx="194762" cy="247908"/>
          </a:xfrm>
        </p:grpSpPr>
        <p:sp>
          <p:nvSpPr>
            <p:cNvPr id="669" name="Freeform 137">
              <a:extLst>
                <a:ext uri="{FF2B5EF4-FFF2-40B4-BE49-F238E27FC236}">
                  <a16:creationId xmlns:a16="http://schemas.microsoft.com/office/drawing/2014/main" id="{B8F8471B-5E9B-40E9-85FC-04F4E04328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27836" y="2947666"/>
              <a:ext cx="194762" cy="141945"/>
            </a:xfrm>
            <a:custGeom>
              <a:avLst/>
              <a:gdLst>
                <a:gd name="T0" fmla="*/ 0 w 590"/>
                <a:gd name="T1" fmla="*/ 0 h 430"/>
                <a:gd name="T2" fmla="*/ 0 w 590"/>
                <a:gd name="T3" fmla="*/ 430 h 430"/>
                <a:gd name="T4" fmla="*/ 590 w 590"/>
                <a:gd name="T5" fmla="*/ 430 h 430"/>
                <a:gd name="T6" fmla="*/ 590 w 590"/>
                <a:gd name="T7" fmla="*/ 0 h 430"/>
                <a:gd name="T8" fmla="*/ 0 w 590"/>
                <a:gd name="T9" fmla="*/ 0 h 430"/>
                <a:gd name="T10" fmla="*/ 375 w 590"/>
                <a:gd name="T11" fmla="*/ 189 h 430"/>
                <a:gd name="T12" fmla="*/ 335 w 590"/>
                <a:gd name="T13" fmla="*/ 189 h 430"/>
                <a:gd name="T14" fmla="*/ 335 w 590"/>
                <a:gd name="T15" fmla="*/ 350 h 430"/>
                <a:gd name="T16" fmla="*/ 255 w 590"/>
                <a:gd name="T17" fmla="*/ 350 h 430"/>
                <a:gd name="T18" fmla="*/ 255 w 590"/>
                <a:gd name="T19" fmla="*/ 189 h 430"/>
                <a:gd name="T20" fmla="*/ 215 w 590"/>
                <a:gd name="T21" fmla="*/ 189 h 430"/>
                <a:gd name="T22" fmla="*/ 215 w 590"/>
                <a:gd name="T23" fmla="*/ 80 h 430"/>
                <a:gd name="T24" fmla="*/ 375 w 590"/>
                <a:gd name="T25" fmla="*/ 80 h 430"/>
                <a:gd name="T26" fmla="*/ 375 w 590"/>
                <a:gd name="T27" fmla="*/ 18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0" h="430">
                  <a:moveTo>
                    <a:pt x="0" y="0"/>
                  </a:moveTo>
                  <a:lnTo>
                    <a:pt x="0" y="430"/>
                  </a:lnTo>
                  <a:lnTo>
                    <a:pt x="590" y="430"/>
                  </a:lnTo>
                  <a:lnTo>
                    <a:pt x="590" y="0"/>
                  </a:lnTo>
                  <a:lnTo>
                    <a:pt x="0" y="0"/>
                  </a:lnTo>
                  <a:close/>
                  <a:moveTo>
                    <a:pt x="375" y="189"/>
                  </a:moveTo>
                  <a:lnTo>
                    <a:pt x="335" y="189"/>
                  </a:lnTo>
                  <a:lnTo>
                    <a:pt x="335" y="350"/>
                  </a:lnTo>
                  <a:lnTo>
                    <a:pt x="255" y="350"/>
                  </a:lnTo>
                  <a:lnTo>
                    <a:pt x="255" y="189"/>
                  </a:lnTo>
                  <a:lnTo>
                    <a:pt x="215" y="189"/>
                  </a:lnTo>
                  <a:lnTo>
                    <a:pt x="215" y="80"/>
                  </a:lnTo>
                  <a:lnTo>
                    <a:pt x="375" y="80"/>
                  </a:lnTo>
                  <a:lnTo>
                    <a:pt x="375" y="189"/>
                  </a:ln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endParaRPr lang="en-US" sz="1799">
                <a:solidFill>
                  <a:schemeClr val="tx1"/>
                </a:solidFill>
              </a:endParaRPr>
            </a:p>
          </p:txBody>
        </p:sp>
        <p:sp>
          <p:nvSpPr>
            <p:cNvPr id="670" name="Freeform 138">
              <a:extLst>
                <a:ext uri="{FF2B5EF4-FFF2-40B4-BE49-F238E27FC236}">
                  <a16:creationId xmlns:a16="http://schemas.microsoft.com/office/drawing/2014/main" id="{49FA8E70-429A-46DE-AF88-6E76B72AB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5662" y="2841703"/>
              <a:ext cx="159111" cy="105963"/>
            </a:xfrm>
            <a:custGeom>
              <a:avLst/>
              <a:gdLst>
                <a:gd name="T0" fmla="*/ 204 w 204"/>
                <a:gd name="T1" fmla="*/ 45 h 136"/>
                <a:gd name="T2" fmla="*/ 204 w 204"/>
                <a:gd name="T3" fmla="*/ 136 h 136"/>
                <a:gd name="T4" fmla="*/ 159 w 204"/>
                <a:gd name="T5" fmla="*/ 136 h 136"/>
                <a:gd name="T6" fmla="*/ 159 w 204"/>
                <a:gd name="T7" fmla="*/ 68 h 136"/>
                <a:gd name="T8" fmla="*/ 136 w 204"/>
                <a:gd name="T9" fmla="*/ 45 h 136"/>
                <a:gd name="T10" fmla="*/ 68 w 204"/>
                <a:gd name="T11" fmla="*/ 45 h 136"/>
                <a:gd name="T12" fmla="*/ 45 w 204"/>
                <a:gd name="T13" fmla="*/ 68 h 136"/>
                <a:gd name="T14" fmla="*/ 45 w 204"/>
                <a:gd name="T15" fmla="*/ 136 h 136"/>
                <a:gd name="T16" fmla="*/ 0 w 204"/>
                <a:gd name="T17" fmla="*/ 136 h 136"/>
                <a:gd name="T18" fmla="*/ 0 w 204"/>
                <a:gd name="T19" fmla="*/ 45 h 136"/>
                <a:gd name="T20" fmla="*/ 45 w 204"/>
                <a:gd name="T21" fmla="*/ 0 h 136"/>
                <a:gd name="T22" fmla="*/ 159 w 204"/>
                <a:gd name="T23" fmla="*/ 0 h 136"/>
                <a:gd name="T24" fmla="*/ 204 w 204"/>
                <a:gd name="T25" fmla="*/ 45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4" h="136">
                  <a:moveTo>
                    <a:pt x="204" y="45"/>
                  </a:moveTo>
                  <a:cubicBezTo>
                    <a:pt x="204" y="136"/>
                    <a:pt x="204" y="136"/>
                    <a:pt x="204" y="136"/>
                  </a:cubicBezTo>
                  <a:cubicBezTo>
                    <a:pt x="159" y="136"/>
                    <a:pt x="159" y="136"/>
                    <a:pt x="159" y="136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9" y="56"/>
                    <a:pt x="149" y="45"/>
                    <a:pt x="136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56" y="45"/>
                    <a:pt x="45" y="56"/>
                    <a:pt x="45" y="68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159" y="0"/>
                    <a:pt x="159" y="0"/>
                    <a:pt x="159" y="0"/>
                  </a:cubicBezTo>
                  <a:cubicBezTo>
                    <a:pt x="184" y="0"/>
                    <a:pt x="204" y="20"/>
                    <a:pt x="204" y="45"/>
                  </a:cubicBez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endParaRPr lang="en-US" sz="1799">
                <a:solidFill>
                  <a:schemeClr val="tx1"/>
                </a:solidFill>
              </a:endParaRPr>
            </a:p>
          </p:txBody>
        </p:sp>
      </p:grpSp>
      <p:pic>
        <p:nvPicPr>
          <p:cNvPr id="674" name="Picture 673">
            <a:extLst>
              <a:ext uri="{FF2B5EF4-FFF2-40B4-BE49-F238E27FC236}">
                <a16:creationId xmlns:a16="http://schemas.microsoft.com/office/drawing/2014/main" id="{C5197FE6-BEB5-4125-9074-DB71566E956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8983" y="5241420"/>
            <a:ext cx="1500798" cy="836037"/>
          </a:xfrm>
          <a:prstGeom prst="rect">
            <a:avLst/>
          </a:prstGeom>
          <a:ln>
            <a:solidFill>
              <a:srgbClr val="4BB9B9"/>
            </a:solidFill>
          </a:ln>
        </p:spPr>
      </p:pic>
      <p:sp>
        <p:nvSpPr>
          <p:cNvPr id="677" name="Textfeld 899">
            <a:extLst>
              <a:ext uri="{FF2B5EF4-FFF2-40B4-BE49-F238E27FC236}">
                <a16:creationId xmlns:a16="http://schemas.microsoft.com/office/drawing/2014/main" id="{8587752A-38A3-4A6A-AE29-38B0D91ED13D}"/>
              </a:ext>
            </a:extLst>
          </p:cNvPr>
          <p:cNvSpPr txBox="1">
            <a:spLocks/>
          </p:cNvSpPr>
          <p:nvPr/>
        </p:nvSpPr>
        <p:spPr bwMode="gray">
          <a:xfrm>
            <a:off x="967907" y="5498254"/>
            <a:ext cx="1604515" cy="30761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Chain Conveyor</a:t>
            </a:r>
          </a:p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TF3100</a:t>
            </a:r>
          </a:p>
        </p:txBody>
      </p:sp>
      <p:sp>
        <p:nvSpPr>
          <p:cNvPr id="680" name="Textfeld 899">
            <a:extLst>
              <a:ext uri="{FF2B5EF4-FFF2-40B4-BE49-F238E27FC236}">
                <a16:creationId xmlns:a16="http://schemas.microsoft.com/office/drawing/2014/main" id="{72B87BAB-D29E-4523-B202-1F2D564ADFDF}"/>
              </a:ext>
            </a:extLst>
          </p:cNvPr>
          <p:cNvSpPr txBox="1">
            <a:spLocks/>
          </p:cNvSpPr>
          <p:nvPr/>
        </p:nvSpPr>
        <p:spPr bwMode="gray">
          <a:xfrm>
            <a:off x="9964218" y="5578312"/>
            <a:ext cx="1604515" cy="30761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Chain Conveyor</a:t>
            </a:r>
          </a:p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TF3110</a:t>
            </a:r>
          </a:p>
        </p:txBody>
      </p:sp>
      <p:pic>
        <p:nvPicPr>
          <p:cNvPr id="686" name="Picture 685">
            <a:extLst>
              <a:ext uri="{FF2B5EF4-FFF2-40B4-BE49-F238E27FC236}">
                <a16:creationId xmlns:a16="http://schemas.microsoft.com/office/drawing/2014/main" id="{21B250EE-891C-4563-B900-BF780047D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6199" y="4892809"/>
            <a:ext cx="274578" cy="331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7" name="Textfeld 899">
            <a:extLst>
              <a:ext uri="{FF2B5EF4-FFF2-40B4-BE49-F238E27FC236}">
                <a16:creationId xmlns:a16="http://schemas.microsoft.com/office/drawing/2014/main" id="{7C64E1A5-F37F-4F36-8607-797119051DC8}"/>
              </a:ext>
            </a:extLst>
          </p:cNvPr>
          <p:cNvSpPr txBox="1">
            <a:spLocks/>
          </p:cNvSpPr>
          <p:nvPr/>
        </p:nvSpPr>
        <p:spPr bwMode="gray">
          <a:xfrm>
            <a:off x="8622680" y="4881170"/>
            <a:ext cx="1347394" cy="290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2 PCB</a:t>
            </a:r>
          </a:p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Vibration Sensor</a:t>
            </a:r>
          </a:p>
        </p:txBody>
      </p:sp>
      <p:pic>
        <p:nvPicPr>
          <p:cNvPr id="693" name="Picture 692" descr="Bildergebnis für CMS1281">
            <a:hlinkClick r:id="rId10"/>
            <a:extLst>
              <a:ext uri="{FF2B5EF4-FFF2-40B4-BE49-F238E27FC236}">
                <a16:creationId xmlns:a16="http://schemas.microsoft.com/office/drawing/2014/main" id="{303680E5-27FB-431E-99FA-73F4ABCF2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31325" y="4007993"/>
            <a:ext cx="485509" cy="59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1" name="Straight Connector 710">
            <a:extLst>
              <a:ext uri="{FF2B5EF4-FFF2-40B4-BE49-F238E27FC236}">
                <a16:creationId xmlns:a16="http://schemas.microsoft.com/office/drawing/2014/main" id="{124F35BB-0DA4-4B49-8A73-1BADE5082B11}"/>
              </a:ext>
            </a:extLst>
          </p:cNvPr>
          <p:cNvCxnSpPr>
            <a:stCxn id="96" idx="0"/>
          </p:cNvCxnSpPr>
          <p:nvPr/>
        </p:nvCxnSpPr>
        <p:spPr bwMode="auto">
          <a:xfrm flipH="1" flipV="1">
            <a:off x="7308540" y="2678861"/>
            <a:ext cx="1" cy="966057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3" name="Textfeld 899">
            <a:extLst>
              <a:ext uri="{FF2B5EF4-FFF2-40B4-BE49-F238E27FC236}">
                <a16:creationId xmlns:a16="http://schemas.microsoft.com/office/drawing/2014/main" id="{7617804C-BC9D-4965-BA24-C4C22BF3E017}"/>
              </a:ext>
            </a:extLst>
          </p:cNvPr>
          <p:cNvSpPr txBox="1">
            <a:spLocks/>
          </p:cNvSpPr>
          <p:nvPr/>
        </p:nvSpPr>
        <p:spPr bwMode="gray">
          <a:xfrm>
            <a:off x="1256134" y="4129775"/>
            <a:ext cx="1583806" cy="30684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Siemens</a:t>
            </a:r>
          </a:p>
          <a:p>
            <a:pPr algn="r"/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</a:t>
            </a:r>
          </a:p>
        </p:txBody>
      </p:sp>
      <p:sp>
        <p:nvSpPr>
          <p:cNvPr id="715" name="Textfeld 899">
            <a:extLst>
              <a:ext uri="{FF2B5EF4-FFF2-40B4-BE49-F238E27FC236}">
                <a16:creationId xmlns:a16="http://schemas.microsoft.com/office/drawing/2014/main" id="{55B651A3-A726-4A4F-A7CF-F1ED43AF8127}"/>
              </a:ext>
            </a:extLst>
          </p:cNvPr>
          <p:cNvSpPr txBox="1">
            <a:spLocks/>
          </p:cNvSpPr>
          <p:nvPr/>
        </p:nvSpPr>
        <p:spPr bwMode="gray">
          <a:xfrm>
            <a:off x="2017019" y="3959515"/>
            <a:ext cx="850114" cy="24549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CMS2000</a:t>
            </a:r>
            <a:endParaRPr lang="en-US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18" name="Textfeld 899">
            <a:extLst>
              <a:ext uri="{FF2B5EF4-FFF2-40B4-BE49-F238E27FC236}">
                <a16:creationId xmlns:a16="http://schemas.microsoft.com/office/drawing/2014/main" id="{463660BB-B49B-4653-AD94-D644A37170C8}"/>
              </a:ext>
            </a:extLst>
          </p:cNvPr>
          <p:cNvSpPr txBox="1">
            <a:spLocks/>
          </p:cNvSpPr>
          <p:nvPr/>
        </p:nvSpPr>
        <p:spPr bwMode="gray">
          <a:xfrm>
            <a:off x="6427747" y="2692095"/>
            <a:ext cx="1347394" cy="290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10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MQTT</a:t>
            </a:r>
            <a:endParaRPr lang="en-US" sz="1099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26" name="Textfeld 899">
            <a:extLst>
              <a:ext uri="{FF2B5EF4-FFF2-40B4-BE49-F238E27FC236}">
                <a16:creationId xmlns:a16="http://schemas.microsoft.com/office/drawing/2014/main" id="{C437B689-4781-4266-BFCC-08919BE025D0}"/>
              </a:ext>
            </a:extLst>
          </p:cNvPr>
          <p:cNvSpPr txBox="1">
            <a:spLocks/>
          </p:cNvSpPr>
          <p:nvPr/>
        </p:nvSpPr>
        <p:spPr bwMode="gray">
          <a:xfrm>
            <a:off x="4507657" y="2326268"/>
            <a:ext cx="2576533" cy="2658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0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Cloud-based IoT Operating System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58491BE-D779-41A9-8A1E-9655C9C549E5}"/>
              </a:ext>
            </a:extLst>
          </p:cNvPr>
          <p:cNvGrpSpPr/>
          <p:nvPr/>
        </p:nvGrpSpPr>
        <p:grpSpPr>
          <a:xfrm>
            <a:off x="2137512" y="1246739"/>
            <a:ext cx="2933832" cy="1306565"/>
            <a:chOff x="2138625" y="1381063"/>
            <a:chExt cx="2935360" cy="1307246"/>
          </a:xfrm>
        </p:grpSpPr>
        <p:sp>
          <p:nvSpPr>
            <p:cNvPr id="739" name="Rechteck 416">
              <a:extLst>
                <a:ext uri="{FF2B5EF4-FFF2-40B4-BE49-F238E27FC236}">
                  <a16:creationId xmlns:a16="http://schemas.microsoft.com/office/drawing/2014/main" id="{D506711B-E101-421D-AE66-F92096BD72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38625" y="1381063"/>
              <a:ext cx="1983149" cy="16306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800" b="1" dirty="0" err="1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MindSphere</a:t>
              </a:r>
              <a:r>
                <a:rPr lang="en-US" sz="8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 Native Apps</a:t>
              </a:r>
            </a:p>
          </p:txBody>
        </p:sp>
        <p:sp>
          <p:nvSpPr>
            <p:cNvPr id="741" name="Rechteck 44">
              <a:extLst>
                <a:ext uri="{FF2B5EF4-FFF2-40B4-BE49-F238E27FC236}">
                  <a16:creationId xmlns:a16="http://schemas.microsoft.com/office/drawing/2014/main" id="{17FA83BD-E843-41DD-9CB5-C7BA4F06DA38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5928" y="1534778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B61EF21-CC56-4B38-AF08-BE7321894FC6}"/>
                </a:ext>
              </a:extLst>
            </p:cNvPr>
            <p:cNvCxnSpPr/>
            <p:nvPr/>
          </p:nvCxnSpPr>
          <p:spPr bwMode="auto">
            <a:xfrm flipH="1" flipV="1">
              <a:off x="4121776" y="1411485"/>
              <a:ext cx="952209" cy="546090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  <p:cxnSp>
          <p:nvCxnSpPr>
            <p:cNvPr id="752" name="Straight Connector 751">
              <a:extLst>
                <a:ext uri="{FF2B5EF4-FFF2-40B4-BE49-F238E27FC236}">
                  <a16:creationId xmlns:a16="http://schemas.microsoft.com/office/drawing/2014/main" id="{09F6BECE-B37F-436D-B05B-5B7DB9F052AD}"/>
                </a:ext>
              </a:extLst>
            </p:cNvPr>
            <p:cNvCxnSpPr/>
            <p:nvPr/>
          </p:nvCxnSpPr>
          <p:spPr bwMode="auto">
            <a:xfrm flipH="1">
              <a:off x="4121774" y="1943374"/>
              <a:ext cx="952211" cy="731117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EB12263-101A-4315-9DEB-58313116F643}"/>
              </a:ext>
            </a:extLst>
          </p:cNvPr>
          <p:cNvGrpSpPr/>
          <p:nvPr/>
        </p:nvGrpSpPr>
        <p:grpSpPr>
          <a:xfrm>
            <a:off x="6693822" y="1244256"/>
            <a:ext cx="3072776" cy="1306565"/>
            <a:chOff x="6697309" y="1378579"/>
            <a:chExt cx="3074376" cy="1307246"/>
          </a:xfrm>
        </p:grpSpPr>
        <p:grpSp>
          <p:nvGrpSpPr>
            <p:cNvPr id="728" name="Group 727">
              <a:extLst>
                <a:ext uri="{FF2B5EF4-FFF2-40B4-BE49-F238E27FC236}">
                  <a16:creationId xmlns:a16="http://schemas.microsoft.com/office/drawing/2014/main" id="{2E868E73-195A-45A0-8DF8-9A122E8E3A66}"/>
                </a:ext>
              </a:extLst>
            </p:cNvPr>
            <p:cNvGrpSpPr/>
            <p:nvPr/>
          </p:nvGrpSpPr>
          <p:grpSpPr>
            <a:xfrm>
              <a:off x="7788536" y="1378579"/>
              <a:ext cx="1983149" cy="1283876"/>
              <a:chOff x="616129" y="1602821"/>
              <a:chExt cx="2149468" cy="1283876"/>
            </a:xfrm>
          </p:grpSpPr>
          <p:pic>
            <p:nvPicPr>
              <p:cNvPr id="730" name="Picture 729">
                <a:extLst>
                  <a:ext uri="{FF2B5EF4-FFF2-40B4-BE49-F238E27FC236}">
                    <a16:creationId xmlns:a16="http://schemas.microsoft.com/office/drawing/2014/main" id="{44E8259F-BDE7-4CE3-A99F-B4776E3C6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87036" y="2201912"/>
                <a:ext cx="1436957" cy="684785"/>
              </a:xfrm>
              <a:prstGeom prst="rect">
                <a:avLst/>
              </a:prstGeom>
            </p:spPr>
          </p:pic>
          <p:sp>
            <p:nvSpPr>
              <p:cNvPr id="731" name="Rechteck 416">
                <a:extLst>
                  <a:ext uri="{FF2B5EF4-FFF2-40B4-BE49-F238E27FC236}">
                    <a16:creationId xmlns:a16="http://schemas.microsoft.com/office/drawing/2014/main" id="{74090D0C-8F0D-4D9C-88B9-AF0C09C1A903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16129" y="1602821"/>
                <a:ext cx="2149468" cy="163065"/>
              </a:xfrm>
              <a:prstGeom prst="rect">
                <a:avLst/>
              </a:prstGeom>
              <a:solidFill>
                <a:srgbClr val="4BB9B9"/>
              </a:solidFill>
              <a:ln>
                <a:noFill/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>
                <a:defPPr>
                  <a:defRPr lang="de-DE"/>
                </a:defPPr>
                <a:lvl1pPr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1pPr>
                <a:lvl2pPr marL="4572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2pPr>
                <a:lvl3pPr marL="9144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3pPr>
                <a:lvl4pPr marL="13716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4pPr>
                <a:lvl5pPr marL="18288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9pPr>
              </a:lstStyle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r>
                  <a:rPr lang="en-US" altLang="zh-CN" sz="800" b="1" dirty="0">
                    <a:solidFill>
                      <a:schemeClr val="bg1"/>
                    </a:solidFill>
                    <a:latin typeface="Arial"/>
                    <a:ea typeface="Arial Unicode MS" panose="020B0604020202020204" pitchFamily="34" charset="-128"/>
                    <a:cs typeface="Arial Unicode MS" panose="020B0604020202020204" pitchFamily="34" charset="-128"/>
                  </a:rPr>
                  <a:t>Maintenance Service</a:t>
                </a:r>
                <a:endParaRPr lang="en-US" sz="800" b="1" dirty="0">
                  <a:solidFill>
                    <a:schemeClr val="bg1"/>
                  </a:solidFill>
                  <a:latin typeface="Arial"/>
                  <a:ea typeface="Arial Unicode MS" panose="020B0604020202020204" pitchFamily="34" charset="-128"/>
                  <a:cs typeface="Arial Unicode MS" panose="020B0604020202020204" pitchFamily="34" charset="-128"/>
                </a:endParaRPr>
              </a:p>
            </p:txBody>
          </p:sp>
          <p:pic>
            <p:nvPicPr>
              <p:cNvPr id="733" name="Picture 732">
                <a:extLst>
                  <a:ext uri="{FF2B5EF4-FFF2-40B4-BE49-F238E27FC236}">
                    <a16:creationId xmlns:a16="http://schemas.microsoft.com/office/drawing/2014/main" id="{637E59EB-EBDD-4E4D-A852-810D88F85B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0966" y="1763058"/>
                <a:ext cx="1497082" cy="693269"/>
              </a:xfrm>
              <a:prstGeom prst="rect">
                <a:avLst/>
              </a:prstGeom>
            </p:spPr>
          </p:pic>
        </p:grpSp>
        <p:sp>
          <p:nvSpPr>
            <p:cNvPr id="729" name="Rechteck 44">
              <a:extLst>
                <a:ext uri="{FF2B5EF4-FFF2-40B4-BE49-F238E27FC236}">
                  <a16:creationId xmlns:a16="http://schemas.microsoft.com/office/drawing/2014/main" id="{C3791AA9-9A24-4894-B7C1-40C94A75E5F3}"/>
                </a:ext>
              </a:extLst>
            </p:cNvPr>
            <p:cNvSpPr>
              <a:spLocks/>
            </p:cNvSpPr>
            <p:nvPr/>
          </p:nvSpPr>
          <p:spPr bwMode="gray">
            <a:xfrm>
              <a:off x="7805839" y="1532294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sz="1799" dirty="0" err="1">
                <a:solidFill>
                  <a:schemeClr val="tx1"/>
                </a:solidFill>
              </a:endParaRPr>
            </a:p>
          </p:txBody>
        </p:sp>
        <p:cxnSp>
          <p:nvCxnSpPr>
            <p:cNvPr id="753" name="Straight Connector 752">
              <a:extLst>
                <a:ext uri="{FF2B5EF4-FFF2-40B4-BE49-F238E27FC236}">
                  <a16:creationId xmlns:a16="http://schemas.microsoft.com/office/drawing/2014/main" id="{863B7769-1E71-488A-92D8-000C02C29484}"/>
                </a:ext>
              </a:extLst>
            </p:cNvPr>
            <p:cNvCxnSpPr/>
            <p:nvPr/>
          </p:nvCxnSpPr>
          <p:spPr bwMode="auto">
            <a:xfrm flipH="1">
              <a:off x="6697309" y="1407450"/>
              <a:ext cx="1071553" cy="557551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  <p:cxnSp>
          <p:nvCxnSpPr>
            <p:cNvPr id="754" name="Straight Connector 753">
              <a:extLst>
                <a:ext uri="{FF2B5EF4-FFF2-40B4-BE49-F238E27FC236}">
                  <a16:creationId xmlns:a16="http://schemas.microsoft.com/office/drawing/2014/main" id="{6D8E2804-63C2-4DBA-B936-DDBE6D512C61}"/>
                </a:ext>
              </a:extLst>
            </p:cNvPr>
            <p:cNvCxnSpPr/>
            <p:nvPr/>
          </p:nvCxnSpPr>
          <p:spPr bwMode="auto">
            <a:xfrm flipH="1" flipV="1">
              <a:off x="6726134" y="1977671"/>
              <a:ext cx="1042728" cy="673445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</p:grpSp>
      <p:sp>
        <p:nvSpPr>
          <p:cNvPr id="756" name="Textfeld 899">
            <a:extLst>
              <a:ext uri="{FF2B5EF4-FFF2-40B4-BE49-F238E27FC236}">
                <a16:creationId xmlns:a16="http://schemas.microsoft.com/office/drawing/2014/main" id="{09A52513-3EE1-4C0D-800C-B9CEDAAD8FD2}"/>
              </a:ext>
            </a:extLst>
          </p:cNvPr>
          <p:cNvSpPr txBox="1">
            <a:spLocks/>
          </p:cNvSpPr>
          <p:nvPr/>
        </p:nvSpPr>
        <p:spPr bwMode="gray">
          <a:xfrm>
            <a:off x="1544507" y="1411442"/>
            <a:ext cx="949867" cy="2775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999" dirty="0">
                <a:solidFill>
                  <a:schemeClr val="bg1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1*</a:t>
            </a:r>
          </a:p>
        </p:txBody>
      </p:sp>
      <p:sp>
        <p:nvSpPr>
          <p:cNvPr id="757" name="Textfeld 899">
            <a:extLst>
              <a:ext uri="{FF2B5EF4-FFF2-40B4-BE49-F238E27FC236}">
                <a16:creationId xmlns:a16="http://schemas.microsoft.com/office/drawing/2014/main" id="{16529F7E-F039-4898-B1EA-56EFEDF83838}"/>
              </a:ext>
            </a:extLst>
          </p:cNvPr>
          <p:cNvSpPr txBox="1">
            <a:spLocks/>
          </p:cNvSpPr>
          <p:nvPr/>
        </p:nvSpPr>
        <p:spPr bwMode="gray">
          <a:xfrm>
            <a:off x="8791429" y="6391822"/>
            <a:ext cx="4294062" cy="29228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X-tools*: 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Siemens standard vibration analysis tool</a:t>
            </a:r>
          </a:p>
          <a:p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</p:txBody>
      </p:sp>
      <p:sp>
        <p:nvSpPr>
          <p:cNvPr id="81" name="Textfeld 899">
            <a:extLst>
              <a:ext uri="{FF2B5EF4-FFF2-40B4-BE49-F238E27FC236}">
                <a16:creationId xmlns:a16="http://schemas.microsoft.com/office/drawing/2014/main" id="{3EA071CF-B7E9-429E-B7EA-D25098ACDF50}"/>
              </a:ext>
            </a:extLst>
          </p:cNvPr>
          <p:cNvSpPr txBox="1">
            <a:spLocks/>
          </p:cNvSpPr>
          <p:nvPr/>
        </p:nvSpPr>
        <p:spPr bwMode="gray">
          <a:xfrm>
            <a:off x="2186147" y="4912473"/>
            <a:ext cx="1347394" cy="290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2 PCB</a:t>
            </a:r>
          </a:p>
          <a:p>
            <a:pPr algn="ctr"/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Vibration Sensor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E758EFFF-990C-44AD-8C92-B3BDC3B35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14472" y="4882266"/>
            <a:ext cx="274578" cy="331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" name="Picture 83" descr="Bildergebnis für CMS1281">
            <a:hlinkClick r:id="rId10"/>
            <a:extLst>
              <a:ext uri="{FF2B5EF4-FFF2-40B4-BE49-F238E27FC236}">
                <a16:creationId xmlns:a16="http://schemas.microsoft.com/office/drawing/2014/main" id="{534BF1D0-E872-4267-B81C-BB04E3F7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94327" y="3966984"/>
            <a:ext cx="485509" cy="59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681D16F-3CE0-4BA3-A709-5966AF36E0D9}"/>
              </a:ext>
            </a:extLst>
          </p:cNvPr>
          <p:cNvCxnSpPr/>
          <p:nvPr/>
        </p:nvCxnSpPr>
        <p:spPr bwMode="auto">
          <a:xfrm flipV="1">
            <a:off x="3128570" y="4543246"/>
            <a:ext cx="0" cy="415126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9" name="Straight Connector 688">
            <a:extLst>
              <a:ext uri="{FF2B5EF4-FFF2-40B4-BE49-F238E27FC236}">
                <a16:creationId xmlns:a16="http://schemas.microsoft.com/office/drawing/2014/main" id="{46B7434A-3058-4E00-8CE4-7C6C905DE3F2}"/>
              </a:ext>
            </a:extLst>
          </p:cNvPr>
          <p:cNvCxnSpPr/>
          <p:nvPr/>
        </p:nvCxnSpPr>
        <p:spPr bwMode="auto">
          <a:xfrm flipV="1">
            <a:off x="9586084" y="4559757"/>
            <a:ext cx="0" cy="452638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Textfeld 899">
            <a:extLst>
              <a:ext uri="{FF2B5EF4-FFF2-40B4-BE49-F238E27FC236}">
                <a16:creationId xmlns:a16="http://schemas.microsoft.com/office/drawing/2014/main" id="{CD58D2EC-1947-4D54-AD65-963038ABC963}"/>
              </a:ext>
            </a:extLst>
          </p:cNvPr>
          <p:cNvSpPr txBox="1">
            <a:spLocks/>
          </p:cNvSpPr>
          <p:nvPr/>
        </p:nvSpPr>
        <p:spPr bwMode="gray">
          <a:xfrm>
            <a:off x="9920672" y="4137244"/>
            <a:ext cx="1583806" cy="30684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Siemens</a:t>
            </a:r>
          </a:p>
          <a:p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Data Acquisition</a:t>
            </a:r>
          </a:p>
        </p:txBody>
      </p:sp>
      <p:sp>
        <p:nvSpPr>
          <p:cNvPr id="89" name="Textfeld 899">
            <a:extLst>
              <a:ext uri="{FF2B5EF4-FFF2-40B4-BE49-F238E27FC236}">
                <a16:creationId xmlns:a16="http://schemas.microsoft.com/office/drawing/2014/main" id="{C4389BA5-DE9E-4C9A-84A6-EE202C1179DE}"/>
              </a:ext>
            </a:extLst>
          </p:cNvPr>
          <p:cNvSpPr txBox="1">
            <a:spLocks/>
          </p:cNvSpPr>
          <p:nvPr/>
        </p:nvSpPr>
        <p:spPr bwMode="gray">
          <a:xfrm>
            <a:off x="9912925" y="3966984"/>
            <a:ext cx="850114" cy="24549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CMS2000</a:t>
            </a:r>
            <a:endParaRPr lang="en-US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92" name="Gruppieren 59">
            <a:extLst>
              <a:ext uri="{FF2B5EF4-FFF2-40B4-BE49-F238E27FC236}">
                <a16:creationId xmlns:a16="http://schemas.microsoft.com/office/drawing/2014/main" id="{CD2CCA7F-22A4-483F-8AA8-AE2403169411}"/>
              </a:ext>
            </a:extLst>
          </p:cNvPr>
          <p:cNvGrpSpPr/>
          <p:nvPr/>
        </p:nvGrpSpPr>
        <p:grpSpPr bwMode="gray">
          <a:xfrm>
            <a:off x="5665992" y="3644917"/>
            <a:ext cx="1418198" cy="755335"/>
            <a:chOff x="5926381" y="5091508"/>
            <a:chExt cx="1418937" cy="755728"/>
          </a:xfrm>
        </p:grpSpPr>
        <p:sp>
          <p:nvSpPr>
            <p:cNvPr id="93" name="Freeform 29">
              <a:extLst>
                <a:ext uri="{FF2B5EF4-FFF2-40B4-BE49-F238E27FC236}">
                  <a16:creationId xmlns:a16="http://schemas.microsoft.com/office/drawing/2014/main" id="{CD10008B-29C5-4517-8FA1-5FA25211C9CD}"/>
                </a:ext>
              </a:extLst>
            </p:cNvPr>
            <p:cNvSpPr>
              <a:spLocks noChangeAspect="1" noEditPoints="1"/>
            </p:cNvSpPr>
            <p:nvPr/>
          </p:nvSpPr>
          <p:spPr bwMode="gray">
            <a:xfrm>
              <a:off x="5926382" y="5094259"/>
              <a:ext cx="1227074" cy="752977"/>
            </a:xfrm>
            <a:custGeom>
              <a:avLst/>
              <a:gdLst>
                <a:gd name="T0" fmla="*/ 537 w 5984"/>
                <a:gd name="T1" fmla="*/ 3672 h 3672"/>
                <a:gd name="T2" fmla="*/ 929 w 5984"/>
                <a:gd name="T3" fmla="*/ 3672 h 3672"/>
                <a:gd name="T4" fmla="*/ 929 w 5984"/>
                <a:gd name="T5" fmla="*/ 962 h 3672"/>
                <a:gd name="T6" fmla="*/ 537 w 5984"/>
                <a:gd name="T7" fmla="*/ 962 h 3672"/>
                <a:gd name="T8" fmla="*/ 537 w 5984"/>
                <a:gd name="T9" fmla="*/ 3672 h 3672"/>
                <a:gd name="T10" fmla="*/ 0 w 5984"/>
                <a:gd name="T11" fmla="*/ 3672 h 3672"/>
                <a:gd name="T12" fmla="*/ 385 w 5984"/>
                <a:gd name="T13" fmla="*/ 3672 h 3672"/>
                <a:gd name="T14" fmla="*/ 385 w 5984"/>
                <a:gd name="T15" fmla="*/ 962 h 3672"/>
                <a:gd name="T16" fmla="*/ 0 w 5984"/>
                <a:gd name="T17" fmla="*/ 962 h 3672"/>
                <a:gd name="T18" fmla="*/ 0 w 5984"/>
                <a:gd name="T19" fmla="*/ 3672 h 3672"/>
                <a:gd name="T20" fmla="*/ 1081 w 5984"/>
                <a:gd name="T21" fmla="*/ 3672 h 3672"/>
                <a:gd name="T22" fmla="*/ 2091 w 5984"/>
                <a:gd name="T23" fmla="*/ 3672 h 3672"/>
                <a:gd name="T24" fmla="*/ 2091 w 5984"/>
                <a:gd name="T25" fmla="*/ 962 h 3672"/>
                <a:gd name="T26" fmla="*/ 1081 w 5984"/>
                <a:gd name="T27" fmla="*/ 962 h 3672"/>
                <a:gd name="T28" fmla="*/ 1081 w 5984"/>
                <a:gd name="T29" fmla="*/ 3672 h 3672"/>
                <a:gd name="T30" fmla="*/ 5023 w 5984"/>
                <a:gd name="T31" fmla="*/ 2221 h 3672"/>
                <a:gd name="T32" fmla="*/ 4871 w 5984"/>
                <a:gd name="T33" fmla="*/ 2069 h 3672"/>
                <a:gd name="T34" fmla="*/ 3909 w 5984"/>
                <a:gd name="T35" fmla="*/ 1106 h 3672"/>
                <a:gd name="T36" fmla="*/ 3757 w 5984"/>
                <a:gd name="T37" fmla="*/ 962 h 3672"/>
                <a:gd name="T38" fmla="*/ 2243 w 5984"/>
                <a:gd name="T39" fmla="*/ 962 h 3672"/>
                <a:gd name="T40" fmla="*/ 2243 w 5984"/>
                <a:gd name="T41" fmla="*/ 3672 h 3672"/>
                <a:gd name="T42" fmla="*/ 2403 w 5984"/>
                <a:gd name="T43" fmla="*/ 3672 h 3672"/>
                <a:gd name="T44" fmla="*/ 2403 w 5984"/>
                <a:gd name="T45" fmla="*/ 3455 h 3672"/>
                <a:gd name="T46" fmla="*/ 2612 w 5984"/>
                <a:gd name="T47" fmla="*/ 3455 h 3672"/>
                <a:gd name="T48" fmla="*/ 2612 w 5984"/>
                <a:gd name="T49" fmla="*/ 3672 h 3672"/>
                <a:gd name="T50" fmla="*/ 2772 w 5984"/>
                <a:gd name="T51" fmla="*/ 3672 h 3672"/>
                <a:gd name="T52" fmla="*/ 2772 w 5984"/>
                <a:gd name="T53" fmla="*/ 3455 h 3672"/>
                <a:gd name="T54" fmla="*/ 2980 w 5984"/>
                <a:gd name="T55" fmla="*/ 3455 h 3672"/>
                <a:gd name="T56" fmla="*/ 2980 w 5984"/>
                <a:gd name="T57" fmla="*/ 3672 h 3672"/>
                <a:gd name="T58" fmla="*/ 3140 w 5984"/>
                <a:gd name="T59" fmla="*/ 3672 h 3672"/>
                <a:gd name="T60" fmla="*/ 3140 w 5984"/>
                <a:gd name="T61" fmla="*/ 3455 h 3672"/>
                <a:gd name="T62" fmla="*/ 3348 w 5984"/>
                <a:gd name="T63" fmla="*/ 3455 h 3672"/>
                <a:gd name="T64" fmla="*/ 3348 w 5984"/>
                <a:gd name="T65" fmla="*/ 3672 h 3672"/>
                <a:gd name="T66" fmla="*/ 3509 w 5984"/>
                <a:gd name="T67" fmla="*/ 3672 h 3672"/>
                <a:gd name="T68" fmla="*/ 3509 w 5984"/>
                <a:gd name="T69" fmla="*/ 3455 h 3672"/>
                <a:gd name="T70" fmla="*/ 3717 w 5984"/>
                <a:gd name="T71" fmla="*/ 3455 h 3672"/>
                <a:gd name="T72" fmla="*/ 3717 w 5984"/>
                <a:gd name="T73" fmla="*/ 3672 h 3672"/>
                <a:gd name="T74" fmla="*/ 5031 w 5984"/>
                <a:gd name="T75" fmla="*/ 3672 h 3672"/>
                <a:gd name="T76" fmla="*/ 5031 w 5984"/>
                <a:gd name="T77" fmla="*/ 2221 h 3672"/>
                <a:gd name="T78" fmla="*/ 5023 w 5984"/>
                <a:gd name="T79" fmla="*/ 2221 h 3672"/>
                <a:gd name="T80" fmla="*/ 5984 w 5984"/>
                <a:gd name="T81" fmla="*/ 962 h 3672"/>
                <a:gd name="T82" fmla="*/ 5023 w 5984"/>
                <a:gd name="T83" fmla="*/ 0 h 3672"/>
                <a:gd name="T84" fmla="*/ 4061 w 5984"/>
                <a:gd name="T85" fmla="*/ 962 h 3672"/>
                <a:gd name="T86" fmla="*/ 5023 w 5984"/>
                <a:gd name="T87" fmla="*/ 1924 h 3672"/>
                <a:gd name="T88" fmla="*/ 5984 w 5984"/>
                <a:gd name="T89" fmla="*/ 962 h 3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984" h="3672">
                  <a:moveTo>
                    <a:pt x="537" y="3672"/>
                  </a:moveTo>
                  <a:lnTo>
                    <a:pt x="929" y="3672"/>
                  </a:lnTo>
                  <a:lnTo>
                    <a:pt x="929" y="962"/>
                  </a:lnTo>
                  <a:lnTo>
                    <a:pt x="537" y="962"/>
                  </a:lnTo>
                  <a:lnTo>
                    <a:pt x="537" y="3672"/>
                  </a:lnTo>
                  <a:close/>
                  <a:moveTo>
                    <a:pt x="0" y="3672"/>
                  </a:moveTo>
                  <a:lnTo>
                    <a:pt x="385" y="3672"/>
                  </a:lnTo>
                  <a:lnTo>
                    <a:pt x="385" y="962"/>
                  </a:lnTo>
                  <a:lnTo>
                    <a:pt x="0" y="962"/>
                  </a:lnTo>
                  <a:lnTo>
                    <a:pt x="0" y="3672"/>
                  </a:lnTo>
                  <a:close/>
                  <a:moveTo>
                    <a:pt x="1081" y="3672"/>
                  </a:moveTo>
                  <a:lnTo>
                    <a:pt x="2091" y="3672"/>
                  </a:lnTo>
                  <a:lnTo>
                    <a:pt x="2091" y="962"/>
                  </a:lnTo>
                  <a:lnTo>
                    <a:pt x="1081" y="962"/>
                  </a:lnTo>
                  <a:lnTo>
                    <a:pt x="1081" y="3672"/>
                  </a:lnTo>
                  <a:close/>
                  <a:moveTo>
                    <a:pt x="5023" y="2221"/>
                  </a:moveTo>
                  <a:lnTo>
                    <a:pt x="4871" y="2069"/>
                  </a:lnTo>
                  <a:lnTo>
                    <a:pt x="3909" y="1106"/>
                  </a:lnTo>
                  <a:lnTo>
                    <a:pt x="3757" y="962"/>
                  </a:lnTo>
                  <a:lnTo>
                    <a:pt x="2243" y="962"/>
                  </a:lnTo>
                  <a:lnTo>
                    <a:pt x="2243" y="3672"/>
                  </a:lnTo>
                  <a:lnTo>
                    <a:pt x="2403" y="3672"/>
                  </a:lnTo>
                  <a:lnTo>
                    <a:pt x="2403" y="3455"/>
                  </a:lnTo>
                  <a:lnTo>
                    <a:pt x="2612" y="3455"/>
                  </a:lnTo>
                  <a:lnTo>
                    <a:pt x="2612" y="3672"/>
                  </a:lnTo>
                  <a:lnTo>
                    <a:pt x="2772" y="3672"/>
                  </a:lnTo>
                  <a:lnTo>
                    <a:pt x="2772" y="3455"/>
                  </a:lnTo>
                  <a:lnTo>
                    <a:pt x="2980" y="3455"/>
                  </a:lnTo>
                  <a:lnTo>
                    <a:pt x="2980" y="3672"/>
                  </a:lnTo>
                  <a:lnTo>
                    <a:pt x="3140" y="3672"/>
                  </a:lnTo>
                  <a:lnTo>
                    <a:pt x="3140" y="3455"/>
                  </a:lnTo>
                  <a:lnTo>
                    <a:pt x="3348" y="3455"/>
                  </a:lnTo>
                  <a:lnTo>
                    <a:pt x="3348" y="3672"/>
                  </a:lnTo>
                  <a:lnTo>
                    <a:pt x="3509" y="3672"/>
                  </a:lnTo>
                  <a:lnTo>
                    <a:pt x="3509" y="3455"/>
                  </a:lnTo>
                  <a:lnTo>
                    <a:pt x="3717" y="3455"/>
                  </a:lnTo>
                  <a:lnTo>
                    <a:pt x="3717" y="3672"/>
                  </a:lnTo>
                  <a:lnTo>
                    <a:pt x="5031" y="3672"/>
                  </a:lnTo>
                  <a:lnTo>
                    <a:pt x="5031" y="2221"/>
                  </a:lnTo>
                  <a:lnTo>
                    <a:pt x="5023" y="2221"/>
                  </a:lnTo>
                  <a:close/>
                  <a:moveTo>
                    <a:pt x="5984" y="962"/>
                  </a:moveTo>
                  <a:lnTo>
                    <a:pt x="5023" y="0"/>
                  </a:lnTo>
                  <a:lnTo>
                    <a:pt x="4061" y="962"/>
                  </a:lnTo>
                  <a:lnTo>
                    <a:pt x="5023" y="1924"/>
                  </a:lnTo>
                  <a:lnTo>
                    <a:pt x="5984" y="962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  <p:sp>
          <p:nvSpPr>
            <p:cNvPr id="94" name="Rechteck 26">
              <a:extLst>
                <a:ext uri="{FF2B5EF4-FFF2-40B4-BE49-F238E27FC236}">
                  <a16:creationId xmlns:a16="http://schemas.microsoft.com/office/drawing/2014/main" id="{12B1344E-C60B-430C-8411-C1C6ACB29658}"/>
                </a:ext>
              </a:extLst>
            </p:cNvPr>
            <p:cNvSpPr/>
            <p:nvPr/>
          </p:nvSpPr>
          <p:spPr bwMode="gray">
            <a:xfrm>
              <a:off x="5926381" y="5673596"/>
              <a:ext cx="1034254" cy="173335"/>
            </a:xfrm>
            <a:prstGeom prst="rect">
              <a:avLst/>
            </a:prstGeom>
            <a:solidFill>
              <a:srgbClr val="41AAAA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392" tIns="45696" rIns="91392" bIns="4569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</a:rPr>
                <a:t>IPC</a:t>
              </a:r>
            </a:p>
          </p:txBody>
        </p:sp>
        <p:sp>
          <p:nvSpPr>
            <p:cNvPr id="95" name="Freeform 13">
              <a:extLst>
                <a:ext uri="{FF2B5EF4-FFF2-40B4-BE49-F238E27FC236}">
                  <a16:creationId xmlns:a16="http://schemas.microsoft.com/office/drawing/2014/main" id="{91557425-F733-48F2-BC21-736B9E724511}"/>
                </a:ext>
              </a:extLst>
            </p:cNvPr>
            <p:cNvSpPr>
              <a:spLocks noChangeAspect="1" noEditPoints="1"/>
            </p:cNvSpPr>
            <p:nvPr/>
          </p:nvSpPr>
          <p:spPr bwMode="gray">
            <a:xfrm>
              <a:off x="6755422" y="5091508"/>
              <a:ext cx="589896" cy="401801"/>
            </a:xfrm>
            <a:custGeom>
              <a:avLst/>
              <a:gdLst>
                <a:gd name="T0" fmla="*/ 3525 w 5344"/>
                <a:gd name="T1" fmla="*/ 0 h 3640"/>
                <a:gd name="T2" fmla="*/ 3261 w 5344"/>
                <a:gd name="T3" fmla="*/ 264 h 3640"/>
                <a:gd name="T4" fmla="*/ 4647 w 5344"/>
                <a:gd name="T5" fmla="*/ 1660 h 3640"/>
                <a:gd name="T6" fmla="*/ 4807 w 5344"/>
                <a:gd name="T7" fmla="*/ 1820 h 3640"/>
                <a:gd name="T8" fmla="*/ 4647 w 5344"/>
                <a:gd name="T9" fmla="*/ 1980 h 3640"/>
                <a:gd name="T10" fmla="*/ 3261 w 5344"/>
                <a:gd name="T11" fmla="*/ 3375 h 3640"/>
                <a:gd name="T12" fmla="*/ 3525 w 5344"/>
                <a:gd name="T13" fmla="*/ 3640 h 3640"/>
                <a:gd name="T14" fmla="*/ 5344 w 5344"/>
                <a:gd name="T15" fmla="*/ 1820 h 3640"/>
                <a:gd name="T16" fmla="*/ 3525 w 5344"/>
                <a:gd name="T17" fmla="*/ 0 h 3640"/>
                <a:gd name="T18" fmla="*/ 1819 w 5344"/>
                <a:gd name="T19" fmla="*/ 3640 h 3640"/>
                <a:gd name="T20" fmla="*/ 3637 w 5344"/>
                <a:gd name="T21" fmla="*/ 1820 h 3640"/>
                <a:gd name="T22" fmla="*/ 1819 w 5344"/>
                <a:gd name="T23" fmla="*/ 0 h 3640"/>
                <a:gd name="T24" fmla="*/ 0 w 5344"/>
                <a:gd name="T25" fmla="*/ 1820 h 3640"/>
                <a:gd name="T26" fmla="*/ 1819 w 5344"/>
                <a:gd name="T27" fmla="*/ 3640 h 3640"/>
                <a:gd name="T28" fmla="*/ 2668 w 5344"/>
                <a:gd name="T29" fmla="*/ 0 h 3640"/>
                <a:gd name="T30" fmla="*/ 2404 w 5344"/>
                <a:gd name="T31" fmla="*/ 264 h 3640"/>
                <a:gd name="T32" fmla="*/ 3798 w 5344"/>
                <a:gd name="T33" fmla="*/ 1660 h 3640"/>
                <a:gd name="T34" fmla="*/ 3958 w 5344"/>
                <a:gd name="T35" fmla="*/ 1820 h 3640"/>
                <a:gd name="T36" fmla="*/ 3798 w 5344"/>
                <a:gd name="T37" fmla="*/ 1980 h 3640"/>
                <a:gd name="T38" fmla="*/ 2404 w 5344"/>
                <a:gd name="T39" fmla="*/ 3375 h 3640"/>
                <a:gd name="T40" fmla="*/ 2668 w 5344"/>
                <a:gd name="T41" fmla="*/ 3640 h 3640"/>
                <a:gd name="T42" fmla="*/ 4487 w 5344"/>
                <a:gd name="T43" fmla="*/ 1820 h 3640"/>
                <a:gd name="T44" fmla="*/ 2668 w 5344"/>
                <a:gd name="T45" fmla="*/ 0 h 3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44" h="3640">
                  <a:moveTo>
                    <a:pt x="3525" y="0"/>
                  </a:moveTo>
                  <a:lnTo>
                    <a:pt x="3261" y="264"/>
                  </a:lnTo>
                  <a:lnTo>
                    <a:pt x="4647" y="1660"/>
                  </a:lnTo>
                  <a:lnTo>
                    <a:pt x="4807" y="1820"/>
                  </a:lnTo>
                  <a:lnTo>
                    <a:pt x="4647" y="1980"/>
                  </a:lnTo>
                  <a:lnTo>
                    <a:pt x="3261" y="3375"/>
                  </a:lnTo>
                  <a:lnTo>
                    <a:pt x="3525" y="3640"/>
                  </a:lnTo>
                  <a:lnTo>
                    <a:pt x="5344" y="1820"/>
                  </a:lnTo>
                  <a:lnTo>
                    <a:pt x="3525" y="0"/>
                  </a:lnTo>
                  <a:close/>
                  <a:moveTo>
                    <a:pt x="1819" y="3640"/>
                  </a:moveTo>
                  <a:lnTo>
                    <a:pt x="3637" y="1820"/>
                  </a:lnTo>
                  <a:lnTo>
                    <a:pt x="1819" y="0"/>
                  </a:lnTo>
                  <a:lnTo>
                    <a:pt x="0" y="1820"/>
                  </a:lnTo>
                  <a:lnTo>
                    <a:pt x="1819" y="3640"/>
                  </a:lnTo>
                  <a:close/>
                  <a:moveTo>
                    <a:pt x="2668" y="0"/>
                  </a:moveTo>
                  <a:lnTo>
                    <a:pt x="2404" y="264"/>
                  </a:lnTo>
                  <a:lnTo>
                    <a:pt x="3798" y="1660"/>
                  </a:lnTo>
                  <a:lnTo>
                    <a:pt x="3958" y="1820"/>
                  </a:lnTo>
                  <a:lnTo>
                    <a:pt x="3798" y="1980"/>
                  </a:lnTo>
                  <a:lnTo>
                    <a:pt x="2404" y="3375"/>
                  </a:lnTo>
                  <a:lnTo>
                    <a:pt x="2668" y="3640"/>
                  </a:lnTo>
                  <a:lnTo>
                    <a:pt x="4487" y="1820"/>
                  </a:lnTo>
                  <a:lnTo>
                    <a:pt x="2668" y="0"/>
                  </a:ln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/>
            </a:p>
          </p:txBody>
        </p:sp>
      </p:grpSp>
      <p:sp>
        <p:nvSpPr>
          <p:cNvPr id="96" name="Rechteck 104">
            <a:extLst>
              <a:ext uri="{FF2B5EF4-FFF2-40B4-BE49-F238E27FC236}">
                <a16:creationId xmlns:a16="http://schemas.microsoft.com/office/drawing/2014/main" id="{BB4150C1-43F4-4D47-83CB-807CC3A6BBDE}"/>
              </a:ext>
            </a:extLst>
          </p:cNvPr>
          <p:cNvSpPr/>
          <p:nvPr/>
        </p:nvSpPr>
        <p:spPr bwMode="gray">
          <a:xfrm>
            <a:off x="7125024" y="3644917"/>
            <a:ext cx="367032" cy="363075"/>
          </a:xfrm>
          <a:prstGeom prst="rect">
            <a:avLst/>
          </a:prstGeom>
          <a:solidFill>
            <a:srgbClr val="41AAAA"/>
          </a:solidFill>
          <a:ln>
            <a:noFill/>
          </a:ln>
          <a:effectLst/>
        </p:spPr>
        <p:txBody>
          <a:bodyPr rot="0" spcFirstLastPara="0" vertOverflow="overflow" horzOverflow="overflow" vert="horz" wrap="square" lIns="71963" tIns="45696" rIns="35981" bIns="4569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700" b="1" dirty="0">
                <a:solidFill>
                  <a:schemeClr val="bg1"/>
                </a:solidFill>
              </a:rPr>
              <a:t>Edge </a:t>
            </a:r>
            <a:br>
              <a:rPr lang="en-US" sz="700" b="1" dirty="0">
                <a:solidFill>
                  <a:schemeClr val="bg1"/>
                </a:solidFill>
              </a:rPr>
            </a:br>
            <a:r>
              <a:rPr lang="en-US" sz="700" b="1" dirty="0">
                <a:solidFill>
                  <a:schemeClr val="bg1"/>
                </a:solidFill>
              </a:rPr>
              <a:t>App</a:t>
            </a:r>
          </a:p>
        </p:txBody>
      </p:sp>
      <p:sp>
        <p:nvSpPr>
          <p:cNvPr id="97" name="Textfeld 899">
            <a:extLst>
              <a:ext uri="{FF2B5EF4-FFF2-40B4-BE49-F238E27FC236}">
                <a16:creationId xmlns:a16="http://schemas.microsoft.com/office/drawing/2014/main" id="{485558C2-C765-480B-BE9E-65667BDBEB08}"/>
              </a:ext>
            </a:extLst>
          </p:cNvPr>
          <p:cNvSpPr txBox="1">
            <a:spLocks/>
          </p:cNvSpPr>
          <p:nvPr/>
        </p:nvSpPr>
        <p:spPr bwMode="gray">
          <a:xfrm>
            <a:off x="5326651" y="4435227"/>
            <a:ext cx="1583806" cy="30684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IPC </a:t>
            </a:r>
            <a:r>
              <a:rPr lang="en-US" altLang="zh-CN" sz="999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MicroBox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+ X-tools</a:t>
            </a:r>
            <a:r>
              <a:rPr lang="en-US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*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endParaRPr lang="en-US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99F4F15-211E-4B29-B863-3726515E883C}"/>
              </a:ext>
            </a:extLst>
          </p:cNvPr>
          <p:cNvCxnSpPr>
            <a:stCxn id="84" idx="3"/>
          </p:cNvCxnSpPr>
          <p:nvPr/>
        </p:nvCxnSpPr>
        <p:spPr bwMode="auto">
          <a:xfrm flipV="1">
            <a:off x="3379836" y="4256414"/>
            <a:ext cx="2177030" cy="6957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0CC99A81-33FA-4C47-8C85-593476761801}"/>
              </a:ext>
            </a:extLst>
          </p:cNvPr>
          <p:cNvCxnSpPr/>
          <p:nvPr/>
        </p:nvCxnSpPr>
        <p:spPr bwMode="auto">
          <a:xfrm flipH="1" flipV="1">
            <a:off x="6860600" y="4256606"/>
            <a:ext cx="2317984" cy="19230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08" name="Picture 107">
            <a:extLst>
              <a:ext uri="{FF2B5EF4-FFF2-40B4-BE49-F238E27FC236}">
                <a16:creationId xmlns:a16="http://schemas.microsoft.com/office/drawing/2014/main" id="{9F5D09EE-594C-4EFF-8BF9-C6C710A7332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9329" y="5264192"/>
            <a:ext cx="1500798" cy="836037"/>
          </a:xfrm>
          <a:prstGeom prst="rect">
            <a:avLst/>
          </a:prstGeom>
          <a:ln>
            <a:solidFill>
              <a:srgbClr val="4BB9B9"/>
            </a:solidFill>
          </a:ln>
        </p:spPr>
      </p:pic>
      <p:sp>
        <p:nvSpPr>
          <p:cNvPr id="111" name="Textfeld 899">
            <a:extLst>
              <a:ext uri="{FF2B5EF4-FFF2-40B4-BE49-F238E27FC236}">
                <a16:creationId xmlns:a16="http://schemas.microsoft.com/office/drawing/2014/main" id="{C4B410C8-3CF3-415A-B64B-EA6ED3C05AC1}"/>
              </a:ext>
            </a:extLst>
          </p:cNvPr>
          <p:cNvSpPr txBox="1">
            <a:spLocks/>
          </p:cNvSpPr>
          <p:nvPr/>
        </p:nvSpPr>
        <p:spPr bwMode="gray">
          <a:xfrm>
            <a:off x="3739681" y="4032962"/>
            <a:ext cx="1347394" cy="290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TCP</a:t>
            </a:r>
            <a:endParaRPr lang="en-US" sz="1099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2" name="Textfeld 899">
            <a:extLst>
              <a:ext uri="{FF2B5EF4-FFF2-40B4-BE49-F238E27FC236}">
                <a16:creationId xmlns:a16="http://schemas.microsoft.com/office/drawing/2014/main" id="{71678EA7-14BF-4E50-9470-0636EFEFA668}"/>
              </a:ext>
            </a:extLst>
          </p:cNvPr>
          <p:cNvSpPr txBox="1">
            <a:spLocks/>
          </p:cNvSpPr>
          <p:nvPr/>
        </p:nvSpPr>
        <p:spPr bwMode="gray">
          <a:xfrm>
            <a:off x="7444035" y="4053857"/>
            <a:ext cx="1347394" cy="290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TCP</a:t>
            </a:r>
            <a:endParaRPr lang="en-US" sz="1099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13" name="Gruppieren 969">
            <a:extLst>
              <a:ext uri="{FF2B5EF4-FFF2-40B4-BE49-F238E27FC236}">
                <a16:creationId xmlns:a16="http://schemas.microsoft.com/office/drawing/2014/main" id="{3E11637C-E2DA-43EC-B9B8-26A8997A26E4}"/>
              </a:ext>
            </a:extLst>
          </p:cNvPr>
          <p:cNvGrpSpPr/>
          <p:nvPr/>
        </p:nvGrpSpPr>
        <p:grpSpPr bwMode="gray">
          <a:xfrm>
            <a:off x="4735770" y="1436489"/>
            <a:ext cx="2509571" cy="715498"/>
            <a:chOff x="6932060" y="1450853"/>
            <a:chExt cx="4007796" cy="1142654"/>
          </a:xfrm>
        </p:grpSpPr>
        <p:sp>
          <p:nvSpPr>
            <p:cNvPr id="114" name="Textfeld 970">
              <a:extLst>
                <a:ext uri="{FF2B5EF4-FFF2-40B4-BE49-F238E27FC236}">
                  <a16:creationId xmlns:a16="http://schemas.microsoft.com/office/drawing/2014/main" id="{98970574-0D67-420C-93C9-BA556610649B}"/>
                </a:ext>
              </a:extLst>
            </p:cNvPr>
            <p:cNvSpPr txBox="1"/>
            <p:nvPr/>
          </p:nvSpPr>
          <p:spPr bwMode="gray">
            <a:xfrm>
              <a:off x="8313929" y="1955118"/>
              <a:ext cx="1289569" cy="2701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r>
                <a:rPr lang="en-US" sz="1099" b="1" dirty="0" err="1">
                  <a:solidFill>
                    <a:srgbClr val="00646E"/>
                  </a:solidFill>
                  <a:latin typeface="Arial"/>
                </a:rPr>
                <a:t>MindSphere</a:t>
              </a:r>
              <a:endParaRPr lang="en-US" sz="1099" b="1" dirty="0">
                <a:solidFill>
                  <a:srgbClr val="00646E"/>
                </a:solidFill>
                <a:latin typeface="Arial"/>
              </a:endParaRPr>
            </a:p>
          </p:txBody>
        </p:sp>
        <p:grpSp>
          <p:nvGrpSpPr>
            <p:cNvPr id="115" name="Gruppieren 971">
              <a:extLst>
                <a:ext uri="{FF2B5EF4-FFF2-40B4-BE49-F238E27FC236}">
                  <a16:creationId xmlns:a16="http://schemas.microsoft.com/office/drawing/2014/main" id="{F5F140B6-7498-42CD-8E4E-AE818681E680}"/>
                </a:ext>
              </a:extLst>
            </p:cNvPr>
            <p:cNvGrpSpPr/>
            <p:nvPr/>
          </p:nvGrpSpPr>
          <p:grpSpPr bwMode="gray">
            <a:xfrm>
              <a:off x="6940454" y="1509988"/>
              <a:ext cx="3981028" cy="1070062"/>
              <a:chOff x="5427516" y="2972295"/>
              <a:chExt cx="6230431" cy="1603267"/>
            </a:xfrm>
          </p:grpSpPr>
          <p:sp>
            <p:nvSpPr>
              <p:cNvPr id="371" name="Freihandform 1662">
                <a:extLst>
                  <a:ext uri="{FF2B5EF4-FFF2-40B4-BE49-F238E27FC236}">
                    <a16:creationId xmlns:a16="http://schemas.microsoft.com/office/drawing/2014/main" id="{DE20A586-C48D-4CF1-BFFA-02DB87146E9D}"/>
                  </a:ext>
                </a:extLst>
              </p:cNvPr>
              <p:cNvSpPr/>
              <p:nvPr/>
            </p:nvSpPr>
            <p:spPr bwMode="gray">
              <a:xfrm>
                <a:off x="6224226" y="4079768"/>
                <a:ext cx="1617707" cy="492263"/>
              </a:xfrm>
              <a:custGeom>
                <a:avLst/>
                <a:gdLst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790576 w 1362075"/>
                  <a:gd name="connsiteY4" fmla="*/ 280988 h 414338"/>
                  <a:gd name="connsiteX5" fmla="*/ 914401 w 1362075"/>
                  <a:gd name="connsiteY5" fmla="*/ 404813 h 414338"/>
                  <a:gd name="connsiteX6" fmla="*/ 1362075 w 1362075"/>
                  <a:gd name="connsiteY6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790576 w 1362075"/>
                  <a:gd name="connsiteY4" fmla="*/ 280988 h 414338"/>
                  <a:gd name="connsiteX5" fmla="*/ 914401 w 1362075"/>
                  <a:gd name="connsiteY5" fmla="*/ 404813 h 414338"/>
                  <a:gd name="connsiteX6" fmla="*/ 950119 w 1362075"/>
                  <a:gd name="connsiteY6" fmla="*/ 407194 h 414338"/>
                  <a:gd name="connsiteX7" fmla="*/ 1362075 w 1362075"/>
                  <a:gd name="connsiteY7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821532 w 1362075"/>
                  <a:gd name="connsiteY4" fmla="*/ 273844 h 414338"/>
                  <a:gd name="connsiteX5" fmla="*/ 914401 w 1362075"/>
                  <a:gd name="connsiteY5" fmla="*/ 404813 h 414338"/>
                  <a:gd name="connsiteX6" fmla="*/ 950119 w 1362075"/>
                  <a:gd name="connsiteY6" fmla="*/ 407194 h 414338"/>
                  <a:gd name="connsiteX7" fmla="*/ 1362075 w 1362075"/>
                  <a:gd name="connsiteY7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66751 w 1362075"/>
                  <a:gd name="connsiteY3" fmla="*/ 404813 h 414338"/>
                  <a:gd name="connsiteX4" fmla="*/ 821532 w 1362075"/>
                  <a:gd name="connsiteY4" fmla="*/ 273844 h 414338"/>
                  <a:gd name="connsiteX5" fmla="*/ 950119 w 1362075"/>
                  <a:gd name="connsiteY5" fmla="*/ 407194 h 414338"/>
                  <a:gd name="connsiteX6" fmla="*/ 1362075 w 1362075"/>
                  <a:gd name="connsiteY6" fmla="*/ 0 h 414338"/>
                  <a:gd name="connsiteX0" fmla="*/ 0 w 1362075"/>
                  <a:gd name="connsiteY0" fmla="*/ 414338 h 414338"/>
                  <a:gd name="connsiteX1" fmla="*/ 138113 w 1362075"/>
                  <a:gd name="connsiteY1" fmla="*/ 276225 h 414338"/>
                  <a:gd name="connsiteX2" fmla="*/ 538163 w 1362075"/>
                  <a:gd name="connsiteY2" fmla="*/ 276225 h 414338"/>
                  <a:gd name="connsiteX3" fmla="*/ 673895 w 1362075"/>
                  <a:gd name="connsiteY3" fmla="*/ 409575 h 414338"/>
                  <a:gd name="connsiteX4" fmla="*/ 821532 w 1362075"/>
                  <a:gd name="connsiteY4" fmla="*/ 273844 h 414338"/>
                  <a:gd name="connsiteX5" fmla="*/ 950119 w 1362075"/>
                  <a:gd name="connsiteY5" fmla="*/ 407194 h 414338"/>
                  <a:gd name="connsiteX6" fmla="*/ 1362075 w 1362075"/>
                  <a:gd name="connsiteY6" fmla="*/ 0 h 414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2075" h="414338">
                    <a:moveTo>
                      <a:pt x="0" y="414338"/>
                    </a:moveTo>
                    <a:lnTo>
                      <a:pt x="138113" y="276225"/>
                    </a:lnTo>
                    <a:lnTo>
                      <a:pt x="538163" y="276225"/>
                    </a:lnTo>
                    <a:lnTo>
                      <a:pt x="673895" y="409575"/>
                    </a:lnTo>
                    <a:lnTo>
                      <a:pt x="821532" y="273844"/>
                    </a:lnTo>
                    <a:lnTo>
                      <a:pt x="950119" y="407194"/>
                    </a:lnTo>
                    <a:lnTo>
                      <a:pt x="1362075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2" name="Freihandform 1663">
                <a:extLst>
                  <a:ext uri="{FF2B5EF4-FFF2-40B4-BE49-F238E27FC236}">
                    <a16:creationId xmlns:a16="http://schemas.microsoft.com/office/drawing/2014/main" id="{EE0B4911-B290-44FF-A0FD-D25F3F66275C}"/>
                  </a:ext>
                </a:extLst>
              </p:cNvPr>
              <p:cNvSpPr/>
              <p:nvPr/>
            </p:nvSpPr>
            <p:spPr bwMode="gray">
              <a:xfrm>
                <a:off x="5427516" y="3934888"/>
                <a:ext cx="656133" cy="314030"/>
              </a:xfrm>
              <a:custGeom>
                <a:avLst/>
                <a:gdLst>
                  <a:gd name="connsiteX0" fmla="*/ 0 w 552450"/>
                  <a:gd name="connsiteY0" fmla="*/ 0 h 264319"/>
                  <a:gd name="connsiteX1" fmla="*/ 138113 w 552450"/>
                  <a:gd name="connsiteY1" fmla="*/ 135732 h 264319"/>
                  <a:gd name="connsiteX2" fmla="*/ 278607 w 552450"/>
                  <a:gd name="connsiteY2" fmla="*/ 135732 h 264319"/>
                  <a:gd name="connsiteX3" fmla="*/ 278607 w 552450"/>
                  <a:gd name="connsiteY3" fmla="*/ 264319 h 264319"/>
                  <a:gd name="connsiteX4" fmla="*/ 552450 w 552450"/>
                  <a:gd name="connsiteY4" fmla="*/ 264319 h 264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2450" h="264319">
                    <a:moveTo>
                      <a:pt x="0" y="0"/>
                    </a:moveTo>
                    <a:lnTo>
                      <a:pt x="138113" y="135732"/>
                    </a:lnTo>
                    <a:lnTo>
                      <a:pt x="278607" y="135732"/>
                    </a:lnTo>
                    <a:lnTo>
                      <a:pt x="278607" y="264319"/>
                    </a:lnTo>
                    <a:lnTo>
                      <a:pt x="552450" y="264319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3" name="Freihandform 1664">
                <a:extLst>
                  <a:ext uri="{FF2B5EF4-FFF2-40B4-BE49-F238E27FC236}">
                    <a16:creationId xmlns:a16="http://schemas.microsoft.com/office/drawing/2014/main" id="{F0DA31F4-765A-4D5D-A8F1-1E7103B7EE5E}"/>
                  </a:ext>
                </a:extLst>
              </p:cNvPr>
              <p:cNvSpPr/>
              <p:nvPr/>
            </p:nvSpPr>
            <p:spPr bwMode="gray">
              <a:xfrm>
                <a:off x="5428938" y="3450412"/>
                <a:ext cx="325239" cy="319687"/>
              </a:xfrm>
              <a:custGeom>
                <a:avLst/>
                <a:gdLst>
                  <a:gd name="connsiteX0" fmla="*/ 0 w 273844"/>
                  <a:gd name="connsiteY0" fmla="*/ 269081 h 269081"/>
                  <a:gd name="connsiteX1" fmla="*/ 142875 w 273844"/>
                  <a:gd name="connsiteY1" fmla="*/ 269081 h 269081"/>
                  <a:gd name="connsiteX2" fmla="*/ 142875 w 273844"/>
                  <a:gd name="connsiteY2" fmla="*/ 133350 h 269081"/>
                  <a:gd name="connsiteX3" fmla="*/ 273844 w 273844"/>
                  <a:gd name="connsiteY3" fmla="*/ 0 h 269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3844" h="269081">
                    <a:moveTo>
                      <a:pt x="0" y="269081"/>
                    </a:moveTo>
                    <a:lnTo>
                      <a:pt x="142875" y="269081"/>
                    </a:lnTo>
                    <a:lnTo>
                      <a:pt x="142875" y="133350"/>
                    </a:lnTo>
                    <a:lnTo>
                      <a:pt x="273844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4" name="Freihandform 1665">
                <a:extLst>
                  <a:ext uri="{FF2B5EF4-FFF2-40B4-BE49-F238E27FC236}">
                    <a16:creationId xmlns:a16="http://schemas.microsoft.com/office/drawing/2014/main" id="{E35F4DE5-A51B-45EB-A0A2-1406B98316DC}"/>
                  </a:ext>
                </a:extLst>
              </p:cNvPr>
              <p:cNvSpPr/>
              <p:nvPr/>
            </p:nvSpPr>
            <p:spPr bwMode="gray">
              <a:xfrm>
                <a:off x="5739781" y="3148273"/>
                <a:ext cx="656133" cy="472459"/>
              </a:xfrm>
              <a:custGeom>
                <a:avLst/>
                <a:gdLst>
                  <a:gd name="connsiteX0" fmla="*/ 0 w 552450"/>
                  <a:gd name="connsiteY0" fmla="*/ 397669 h 397669"/>
                  <a:gd name="connsiteX1" fmla="*/ 290512 w 552450"/>
                  <a:gd name="connsiteY1" fmla="*/ 116681 h 397669"/>
                  <a:gd name="connsiteX2" fmla="*/ 416718 w 552450"/>
                  <a:gd name="connsiteY2" fmla="*/ 116681 h 397669"/>
                  <a:gd name="connsiteX3" fmla="*/ 552450 w 552450"/>
                  <a:gd name="connsiteY3" fmla="*/ 0 h 397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2450" h="397669">
                    <a:moveTo>
                      <a:pt x="0" y="397669"/>
                    </a:moveTo>
                    <a:lnTo>
                      <a:pt x="290512" y="116681"/>
                    </a:lnTo>
                    <a:lnTo>
                      <a:pt x="416718" y="116681"/>
                    </a:lnTo>
                    <a:lnTo>
                      <a:pt x="552450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5" name="Freihandform 1666">
                <a:extLst>
                  <a:ext uri="{FF2B5EF4-FFF2-40B4-BE49-F238E27FC236}">
                    <a16:creationId xmlns:a16="http://schemas.microsoft.com/office/drawing/2014/main" id="{CC73CA33-10CF-4E52-AF75-47093AF1BBA8}"/>
                  </a:ext>
                </a:extLst>
              </p:cNvPr>
              <p:cNvSpPr/>
              <p:nvPr/>
            </p:nvSpPr>
            <p:spPr bwMode="gray">
              <a:xfrm>
                <a:off x="6400401" y="3456069"/>
                <a:ext cx="469475" cy="158429"/>
              </a:xfrm>
              <a:custGeom>
                <a:avLst/>
                <a:gdLst>
                  <a:gd name="connsiteX0" fmla="*/ 0 w 395288"/>
                  <a:gd name="connsiteY0" fmla="*/ 133350 h 133350"/>
                  <a:gd name="connsiteX1" fmla="*/ 135732 w 395288"/>
                  <a:gd name="connsiteY1" fmla="*/ 133350 h 133350"/>
                  <a:gd name="connsiteX2" fmla="*/ 269082 w 395288"/>
                  <a:gd name="connsiteY2" fmla="*/ 0 h 133350"/>
                  <a:gd name="connsiteX3" fmla="*/ 395288 w 395288"/>
                  <a:gd name="connsiteY3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5288" h="133350">
                    <a:moveTo>
                      <a:pt x="0" y="133350"/>
                    </a:moveTo>
                    <a:lnTo>
                      <a:pt x="135732" y="133350"/>
                    </a:lnTo>
                    <a:lnTo>
                      <a:pt x="269082" y="0"/>
                    </a:lnTo>
                    <a:lnTo>
                      <a:pt x="395288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6" name="Freihandform 1667">
                <a:extLst>
                  <a:ext uri="{FF2B5EF4-FFF2-40B4-BE49-F238E27FC236}">
                    <a16:creationId xmlns:a16="http://schemas.microsoft.com/office/drawing/2014/main" id="{0090A240-38EF-4960-A491-36CB30DA362F}"/>
                  </a:ext>
                </a:extLst>
              </p:cNvPr>
              <p:cNvSpPr/>
              <p:nvPr/>
            </p:nvSpPr>
            <p:spPr bwMode="gray">
              <a:xfrm>
                <a:off x="5913959" y="3772927"/>
                <a:ext cx="964403" cy="319689"/>
              </a:xfrm>
              <a:custGeom>
                <a:avLst/>
                <a:gdLst>
                  <a:gd name="connsiteX0" fmla="*/ 0 w 812007"/>
                  <a:gd name="connsiteY0" fmla="*/ 0 h 269082"/>
                  <a:gd name="connsiteX1" fmla="*/ 150019 w 812007"/>
                  <a:gd name="connsiteY1" fmla="*/ 0 h 269082"/>
                  <a:gd name="connsiteX2" fmla="*/ 273844 w 812007"/>
                  <a:gd name="connsiteY2" fmla="*/ 140494 h 269082"/>
                  <a:gd name="connsiteX3" fmla="*/ 411957 w 812007"/>
                  <a:gd name="connsiteY3" fmla="*/ 140494 h 269082"/>
                  <a:gd name="connsiteX4" fmla="*/ 538163 w 812007"/>
                  <a:gd name="connsiteY4" fmla="*/ 269082 h 269082"/>
                  <a:gd name="connsiteX5" fmla="*/ 812007 w 812007"/>
                  <a:gd name="connsiteY5" fmla="*/ 269082 h 269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12007" h="269082">
                    <a:moveTo>
                      <a:pt x="0" y="0"/>
                    </a:moveTo>
                    <a:lnTo>
                      <a:pt x="150019" y="0"/>
                    </a:lnTo>
                    <a:lnTo>
                      <a:pt x="273844" y="140494"/>
                    </a:lnTo>
                    <a:lnTo>
                      <a:pt x="411957" y="140494"/>
                    </a:lnTo>
                    <a:lnTo>
                      <a:pt x="538163" y="269082"/>
                    </a:lnTo>
                    <a:lnTo>
                      <a:pt x="812007" y="269082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7" name="Freihandform 1668">
                <a:extLst>
                  <a:ext uri="{FF2B5EF4-FFF2-40B4-BE49-F238E27FC236}">
                    <a16:creationId xmlns:a16="http://schemas.microsoft.com/office/drawing/2014/main" id="{C352A319-43BF-41C3-B8E1-FD22C151C13F}"/>
                  </a:ext>
                </a:extLst>
              </p:cNvPr>
              <p:cNvSpPr/>
              <p:nvPr/>
            </p:nvSpPr>
            <p:spPr bwMode="gray">
              <a:xfrm>
                <a:off x="9415219" y="2972295"/>
                <a:ext cx="1111465" cy="322516"/>
              </a:xfrm>
              <a:custGeom>
                <a:avLst/>
                <a:gdLst>
                  <a:gd name="connsiteX0" fmla="*/ 0 w 935831"/>
                  <a:gd name="connsiteY0" fmla="*/ 271462 h 271462"/>
                  <a:gd name="connsiteX1" fmla="*/ 133350 w 935831"/>
                  <a:gd name="connsiteY1" fmla="*/ 130968 h 271462"/>
                  <a:gd name="connsiteX2" fmla="*/ 411956 w 935831"/>
                  <a:gd name="connsiteY2" fmla="*/ 130968 h 271462"/>
                  <a:gd name="connsiteX3" fmla="*/ 535781 w 935831"/>
                  <a:gd name="connsiteY3" fmla="*/ 0 h 271462"/>
                  <a:gd name="connsiteX4" fmla="*/ 671512 w 935831"/>
                  <a:gd name="connsiteY4" fmla="*/ 0 h 271462"/>
                  <a:gd name="connsiteX5" fmla="*/ 807244 w 935831"/>
                  <a:gd name="connsiteY5" fmla="*/ 145256 h 271462"/>
                  <a:gd name="connsiteX6" fmla="*/ 935831 w 935831"/>
                  <a:gd name="connsiteY6" fmla="*/ 4762 h 27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35831" h="271462">
                    <a:moveTo>
                      <a:pt x="0" y="271462"/>
                    </a:moveTo>
                    <a:lnTo>
                      <a:pt x="133350" y="130968"/>
                    </a:lnTo>
                    <a:lnTo>
                      <a:pt x="411956" y="130968"/>
                    </a:lnTo>
                    <a:lnTo>
                      <a:pt x="535781" y="0"/>
                    </a:lnTo>
                    <a:lnTo>
                      <a:pt x="671512" y="0"/>
                    </a:lnTo>
                    <a:lnTo>
                      <a:pt x="807244" y="145256"/>
                    </a:lnTo>
                    <a:lnTo>
                      <a:pt x="935831" y="4762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8" name="Freihandform 1669">
                <a:extLst>
                  <a:ext uri="{FF2B5EF4-FFF2-40B4-BE49-F238E27FC236}">
                    <a16:creationId xmlns:a16="http://schemas.microsoft.com/office/drawing/2014/main" id="{5FCA26D3-3354-4D7B-8E97-45249AA52D1A}"/>
                  </a:ext>
                </a:extLst>
              </p:cNvPr>
              <p:cNvSpPr/>
              <p:nvPr/>
            </p:nvSpPr>
            <p:spPr bwMode="gray">
              <a:xfrm>
                <a:off x="9727484" y="3288324"/>
                <a:ext cx="486443" cy="164087"/>
              </a:xfrm>
              <a:custGeom>
                <a:avLst/>
                <a:gdLst>
                  <a:gd name="connsiteX0" fmla="*/ 0 w 409575"/>
                  <a:gd name="connsiteY0" fmla="*/ 138112 h 138112"/>
                  <a:gd name="connsiteX1" fmla="*/ 140494 w 409575"/>
                  <a:gd name="connsiteY1" fmla="*/ 0 h 138112"/>
                  <a:gd name="connsiteX2" fmla="*/ 409575 w 409575"/>
                  <a:gd name="connsiteY2" fmla="*/ 0 h 13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9575" h="138112">
                    <a:moveTo>
                      <a:pt x="0" y="138112"/>
                    </a:moveTo>
                    <a:lnTo>
                      <a:pt x="140494" y="0"/>
                    </a:lnTo>
                    <a:lnTo>
                      <a:pt x="409575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79" name="Freihandform 1670">
                <a:extLst>
                  <a:ext uri="{FF2B5EF4-FFF2-40B4-BE49-F238E27FC236}">
                    <a16:creationId xmlns:a16="http://schemas.microsoft.com/office/drawing/2014/main" id="{24CA448F-F0D1-4B71-8E4F-1E1FC2C27976}"/>
                  </a:ext>
                </a:extLst>
              </p:cNvPr>
              <p:cNvSpPr/>
              <p:nvPr/>
            </p:nvSpPr>
            <p:spPr bwMode="gray">
              <a:xfrm>
                <a:off x="7982409" y="4086128"/>
                <a:ext cx="2081524" cy="489434"/>
              </a:xfrm>
              <a:custGeom>
                <a:avLst/>
                <a:gdLst>
                  <a:gd name="connsiteX0" fmla="*/ 0 w 1752600"/>
                  <a:gd name="connsiteY0" fmla="*/ 138113 h 411957"/>
                  <a:gd name="connsiteX1" fmla="*/ 145256 w 1752600"/>
                  <a:gd name="connsiteY1" fmla="*/ 271463 h 411957"/>
                  <a:gd name="connsiteX2" fmla="*/ 400050 w 1752600"/>
                  <a:gd name="connsiteY2" fmla="*/ 0 h 411957"/>
                  <a:gd name="connsiteX3" fmla="*/ 804862 w 1752600"/>
                  <a:gd name="connsiteY3" fmla="*/ 0 h 411957"/>
                  <a:gd name="connsiteX4" fmla="*/ 938212 w 1752600"/>
                  <a:gd name="connsiteY4" fmla="*/ 140494 h 411957"/>
                  <a:gd name="connsiteX5" fmla="*/ 1202531 w 1752600"/>
                  <a:gd name="connsiteY5" fmla="*/ 140494 h 411957"/>
                  <a:gd name="connsiteX6" fmla="*/ 1335881 w 1752600"/>
                  <a:gd name="connsiteY6" fmla="*/ 273844 h 411957"/>
                  <a:gd name="connsiteX7" fmla="*/ 1469231 w 1752600"/>
                  <a:gd name="connsiteY7" fmla="*/ 130969 h 411957"/>
                  <a:gd name="connsiteX8" fmla="*/ 1752600 w 1752600"/>
                  <a:gd name="connsiteY8" fmla="*/ 411957 h 411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52600" h="411957">
                    <a:moveTo>
                      <a:pt x="0" y="138113"/>
                    </a:moveTo>
                    <a:lnTo>
                      <a:pt x="145256" y="271463"/>
                    </a:lnTo>
                    <a:lnTo>
                      <a:pt x="400050" y="0"/>
                    </a:lnTo>
                    <a:lnTo>
                      <a:pt x="804862" y="0"/>
                    </a:lnTo>
                    <a:lnTo>
                      <a:pt x="938212" y="140494"/>
                    </a:lnTo>
                    <a:lnTo>
                      <a:pt x="1202531" y="140494"/>
                    </a:lnTo>
                    <a:lnTo>
                      <a:pt x="1335881" y="273844"/>
                    </a:lnTo>
                    <a:lnTo>
                      <a:pt x="1469231" y="130969"/>
                    </a:lnTo>
                    <a:lnTo>
                      <a:pt x="1752600" y="411957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0" name="Freihandform 1671">
                <a:extLst>
                  <a:ext uri="{FF2B5EF4-FFF2-40B4-BE49-F238E27FC236}">
                    <a16:creationId xmlns:a16="http://schemas.microsoft.com/office/drawing/2014/main" id="{1336B30E-EDAE-40D1-A2D4-B36F8530FBB9}"/>
                  </a:ext>
                </a:extLst>
              </p:cNvPr>
              <p:cNvSpPr/>
              <p:nvPr/>
            </p:nvSpPr>
            <p:spPr bwMode="gray">
              <a:xfrm>
                <a:off x="9729145" y="4086957"/>
                <a:ext cx="653303" cy="169745"/>
              </a:xfrm>
              <a:custGeom>
                <a:avLst/>
                <a:gdLst>
                  <a:gd name="connsiteX0" fmla="*/ 0 w 550068"/>
                  <a:gd name="connsiteY0" fmla="*/ 0 h 142875"/>
                  <a:gd name="connsiteX1" fmla="*/ 278606 w 550068"/>
                  <a:gd name="connsiteY1" fmla="*/ 0 h 142875"/>
                  <a:gd name="connsiteX2" fmla="*/ 402431 w 550068"/>
                  <a:gd name="connsiteY2" fmla="*/ 142875 h 142875"/>
                  <a:gd name="connsiteX3" fmla="*/ 550068 w 550068"/>
                  <a:gd name="connsiteY3" fmla="*/ 142875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0068" h="142875">
                    <a:moveTo>
                      <a:pt x="0" y="0"/>
                    </a:moveTo>
                    <a:lnTo>
                      <a:pt x="278606" y="0"/>
                    </a:lnTo>
                    <a:lnTo>
                      <a:pt x="402431" y="142875"/>
                    </a:lnTo>
                    <a:lnTo>
                      <a:pt x="550068" y="142875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1" name="Freihandform 1672">
                <a:extLst>
                  <a:ext uri="{FF2B5EF4-FFF2-40B4-BE49-F238E27FC236}">
                    <a16:creationId xmlns:a16="http://schemas.microsoft.com/office/drawing/2014/main" id="{2276C819-7231-425F-9A84-EB21108DE0BA}"/>
                  </a:ext>
                </a:extLst>
              </p:cNvPr>
              <p:cNvSpPr/>
              <p:nvPr/>
            </p:nvSpPr>
            <p:spPr bwMode="gray">
              <a:xfrm>
                <a:off x="10685061" y="3142041"/>
                <a:ext cx="967231" cy="469629"/>
              </a:xfrm>
              <a:custGeom>
                <a:avLst/>
                <a:gdLst>
                  <a:gd name="connsiteX0" fmla="*/ 0 w 814388"/>
                  <a:gd name="connsiteY0" fmla="*/ 0 h 395287"/>
                  <a:gd name="connsiteX1" fmla="*/ 135731 w 814388"/>
                  <a:gd name="connsiteY1" fmla="*/ 130968 h 395287"/>
                  <a:gd name="connsiteX2" fmla="*/ 273844 w 814388"/>
                  <a:gd name="connsiteY2" fmla="*/ 130968 h 395287"/>
                  <a:gd name="connsiteX3" fmla="*/ 538163 w 814388"/>
                  <a:gd name="connsiteY3" fmla="*/ 395287 h 395287"/>
                  <a:gd name="connsiteX4" fmla="*/ 814388 w 814388"/>
                  <a:gd name="connsiteY4" fmla="*/ 395287 h 39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4388" h="395287">
                    <a:moveTo>
                      <a:pt x="0" y="0"/>
                    </a:moveTo>
                    <a:lnTo>
                      <a:pt x="135731" y="130968"/>
                    </a:lnTo>
                    <a:lnTo>
                      <a:pt x="273844" y="130968"/>
                    </a:lnTo>
                    <a:lnTo>
                      <a:pt x="538163" y="395287"/>
                    </a:lnTo>
                    <a:lnTo>
                      <a:pt x="814388" y="395287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2" name="Freihandform 1673">
                <a:extLst>
                  <a:ext uri="{FF2B5EF4-FFF2-40B4-BE49-F238E27FC236}">
                    <a16:creationId xmlns:a16="http://schemas.microsoft.com/office/drawing/2014/main" id="{C162620A-9BC0-4AC1-9714-8FF830437172}"/>
                  </a:ext>
                </a:extLst>
              </p:cNvPr>
              <p:cNvSpPr/>
              <p:nvPr/>
            </p:nvSpPr>
            <p:spPr bwMode="gray">
              <a:xfrm>
                <a:off x="10834953" y="3934187"/>
                <a:ext cx="822994" cy="472458"/>
              </a:xfrm>
              <a:custGeom>
                <a:avLst/>
                <a:gdLst>
                  <a:gd name="connsiteX0" fmla="*/ 0 w 692944"/>
                  <a:gd name="connsiteY0" fmla="*/ 397668 h 397668"/>
                  <a:gd name="connsiteX1" fmla="*/ 145257 w 692944"/>
                  <a:gd name="connsiteY1" fmla="*/ 397668 h 397668"/>
                  <a:gd name="connsiteX2" fmla="*/ 542925 w 692944"/>
                  <a:gd name="connsiteY2" fmla="*/ 0 h 397668"/>
                  <a:gd name="connsiteX3" fmla="*/ 692944 w 692944"/>
                  <a:gd name="connsiteY3" fmla="*/ 0 h 397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92944" h="397668">
                    <a:moveTo>
                      <a:pt x="0" y="397668"/>
                    </a:moveTo>
                    <a:lnTo>
                      <a:pt x="145257" y="397668"/>
                    </a:lnTo>
                    <a:lnTo>
                      <a:pt x="542925" y="0"/>
                    </a:lnTo>
                    <a:lnTo>
                      <a:pt x="692944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3" name="Freihandform 1674">
                <a:extLst>
                  <a:ext uri="{FF2B5EF4-FFF2-40B4-BE49-F238E27FC236}">
                    <a16:creationId xmlns:a16="http://schemas.microsoft.com/office/drawing/2014/main" id="{08E050A7-98E6-4925-94C8-E8028078E257}"/>
                  </a:ext>
                </a:extLst>
              </p:cNvPr>
              <p:cNvSpPr/>
              <p:nvPr/>
            </p:nvSpPr>
            <p:spPr bwMode="gray">
              <a:xfrm>
                <a:off x="10843438" y="3614498"/>
                <a:ext cx="483615" cy="164088"/>
              </a:xfrm>
              <a:custGeom>
                <a:avLst/>
                <a:gdLst>
                  <a:gd name="connsiteX0" fmla="*/ 0 w 407194"/>
                  <a:gd name="connsiteY0" fmla="*/ 0 h 138113"/>
                  <a:gd name="connsiteX1" fmla="*/ 133350 w 407194"/>
                  <a:gd name="connsiteY1" fmla="*/ 0 h 138113"/>
                  <a:gd name="connsiteX2" fmla="*/ 271463 w 407194"/>
                  <a:gd name="connsiteY2" fmla="*/ 138113 h 138113"/>
                  <a:gd name="connsiteX3" fmla="*/ 407194 w 407194"/>
                  <a:gd name="connsiteY3" fmla="*/ 138113 h 138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7194" h="138113">
                    <a:moveTo>
                      <a:pt x="0" y="0"/>
                    </a:moveTo>
                    <a:lnTo>
                      <a:pt x="133350" y="0"/>
                    </a:lnTo>
                    <a:lnTo>
                      <a:pt x="271463" y="138113"/>
                    </a:lnTo>
                    <a:lnTo>
                      <a:pt x="407194" y="138113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4" name="Freihandform 1675">
                <a:extLst>
                  <a:ext uri="{FF2B5EF4-FFF2-40B4-BE49-F238E27FC236}">
                    <a16:creationId xmlns:a16="http://schemas.microsoft.com/office/drawing/2014/main" id="{E002DAD2-53DC-4399-A6AE-09435AE8817D}"/>
                  </a:ext>
                </a:extLst>
              </p:cNvPr>
              <p:cNvSpPr/>
              <p:nvPr/>
            </p:nvSpPr>
            <p:spPr bwMode="gray">
              <a:xfrm>
                <a:off x="11171504" y="3770097"/>
                <a:ext cx="311098" cy="161259"/>
              </a:xfrm>
              <a:custGeom>
                <a:avLst/>
                <a:gdLst>
                  <a:gd name="connsiteX0" fmla="*/ 0 w 261938"/>
                  <a:gd name="connsiteY0" fmla="*/ 135732 h 135732"/>
                  <a:gd name="connsiteX1" fmla="*/ 126206 w 261938"/>
                  <a:gd name="connsiteY1" fmla="*/ 135732 h 135732"/>
                  <a:gd name="connsiteX2" fmla="*/ 261938 w 261938"/>
                  <a:gd name="connsiteY2" fmla="*/ 0 h 13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1938" h="135732">
                    <a:moveTo>
                      <a:pt x="0" y="135732"/>
                    </a:moveTo>
                    <a:lnTo>
                      <a:pt x="126206" y="135732"/>
                    </a:lnTo>
                    <a:lnTo>
                      <a:pt x="261938" y="0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5" name="Freihandform 1676">
                <a:extLst>
                  <a:ext uri="{FF2B5EF4-FFF2-40B4-BE49-F238E27FC236}">
                    <a16:creationId xmlns:a16="http://schemas.microsoft.com/office/drawing/2014/main" id="{0D6343F9-A2E7-401C-AF35-175B1428209D}"/>
                  </a:ext>
                </a:extLst>
              </p:cNvPr>
              <p:cNvSpPr/>
              <p:nvPr/>
            </p:nvSpPr>
            <p:spPr bwMode="gray">
              <a:xfrm>
                <a:off x="7027311" y="3611670"/>
                <a:ext cx="478901" cy="147113"/>
              </a:xfrm>
              <a:custGeom>
                <a:avLst/>
                <a:gdLst>
                  <a:gd name="connsiteX0" fmla="*/ 0 w 403225"/>
                  <a:gd name="connsiteY0" fmla="*/ 0 h 123825"/>
                  <a:gd name="connsiteX1" fmla="*/ 279400 w 403225"/>
                  <a:gd name="connsiteY1" fmla="*/ 0 h 123825"/>
                  <a:gd name="connsiteX2" fmla="*/ 403225 w 403225"/>
                  <a:gd name="connsiteY2" fmla="*/ 123825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3225" h="123825">
                    <a:moveTo>
                      <a:pt x="0" y="0"/>
                    </a:moveTo>
                    <a:lnTo>
                      <a:pt x="279400" y="0"/>
                    </a:lnTo>
                    <a:lnTo>
                      <a:pt x="403225" y="123825"/>
                    </a:lnTo>
                  </a:path>
                </a:pathLst>
              </a:custGeom>
              <a:noFill/>
              <a:ln w="12700">
                <a:solidFill>
                  <a:srgbClr val="41AAAA"/>
                </a:solidFill>
              </a:ln>
              <a:effectLst/>
            </p:spPr>
            <p:txBody>
              <a:bodyPr wrap="square" lIns="107944" tIns="53972" rIns="107944" bIns="53972" numCol="1" spcCol="72000" rtlCol="0" anchor="ctr">
                <a:noAutofit/>
              </a:bodyPr>
              <a:lstStyle/>
              <a:p>
                <a:pPr algn="ctr" rtl="0">
                  <a:spcBef>
                    <a:spcPct val="0"/>
                  </a:spcBef>
                  <a:buFont typeface="Wingdings" charset="0"/>
                  <a:buNone/>
                </a:pPr>
                <a:endParaRPr lang="en-US" sz="999" b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16" name="Ellipse 972">
              <a:extLst>
                <a:ext uri="{FF2B5EF4-FFF2-40B4-BE49-F238E27FC236}">
                  <a16:creationId xmlns:a16="http://schemas.microsoft.com/office/drawing/2014/main" id="{A7B88BC0-3611-4041-A753-06A98284CC67}"/>
                </a:ext>
              </a:extLst>
            </p:cNvPr>
            <p:cNvSpPr/>
            <p:nvPr/>
          </p:nvSpPr>
          <p:spPr bwMode="gray">
            <a:xfrm flipV="1">
              <a:off x="8053160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17" name="Ellipse 973">
              <a:extLst>
                <a:ext uri="{FF2B5EF4-FFF2-40B4-BE49-F238E27FC236}">
                  <a16:creationId xmlns:a16="http://schemas.microsoft.com/office/drawing/2014/main" id="{703D850D-0B89-49DB-81CE-2BFEEC683BB0}"/>
                </a:ext>
              </a:extLst>
            </p:cNvPr>
            <p:cNvSpPr/>
            <p:nvPr/>
          </p:nvSpPr>
          <p:spPr bwMode="gray">
            <a:xfrm flipV="1">
              <a:off x="7950749" y="25578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18" name="Ellipse 974">
              <a:extLst>
                <a:ext uri="{FF2B5EF4-FFF2-40B4-BE49-F238E27FC236}">
                  <a16:creationId xmlns:a16="http://schemas.microsoft.com/office/drawing/2014/main" id="{7CC2EDA2-014A-479E-A0F2-FC65068E700E}"/>
                </a:ext>
              </a:extLst>
            </p:cNvPr>
            <p:cNvSpPr/>
            <p:nvPr/>
          </p:nvSpPr>
          <p:spPr bwMode="gray">
            <a:xfrm flipV="1">
              <a:off x="7441978" y="25578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19" name="Ellipse 975">
              <a:extLst>
                <a:ext uri="{FF2B5EF4-FFF2-40B4-BE49-F238E27FC236}">
                  <a16:creationId xmlns:a16="http://schemas.microsoft.com/office/drawing/2014/main" id="{F0067CCB-4302-401E-8BE8-2D1DAE33A73F}"/>
                </a:ext>
              </a:extLst>
            </p:cNvPr>
            <p:cNvSpPr/>
            <p:nvPr/>
          </p:nvSpPr>
          <p:spPr bwMode="gray">
            <a:xfrm flipV="1">
              <a:off x="7344594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0" name="Ellipse 976">
              <a:extLst>
                <a:ext uri="{FF2B5EF4-FFF2-40B4-BE49-F238E27FC236}">
                  <a16:creationId xmlns:a16="http://schemas.microsoft.com/office/drawing/2014/main" id="{D5F3EE4A-86EC-49D7-86F0-245A10A3473B}"/>
                </a:ext>
              </a:extLst>
            </p:cNvPr>
            <p:cNvSpPr/>
            <p:nvPr/>
          </p:nvSpPr>
          <p:spPr bwMode="gray">
            <a:xfrm flipV="1">
              <a:off x="9778750" y="25578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1" name="Ellipse 977">
              <a:extLst>
                <a:ext uri="{FF2B5EF4-FFF2-40B4-BE49-F238E27FC236}">
                  <a16:creationId xmlns:a16="http://schemas.microsoft.com/office/drawing/2014/main" id="{87B692E9-A874-4F6E-9041-02222FF6E5E0}"/>
                </a:ext>
              </a:extLst>
            </p:cNvPr>
            <p:cNvSpPr/>
            <p:nvPr/>
          </p:nvSpPr>
          <p:spPr bwMode="gray">
            <a:xfrm flipV="1">
              <a:off x="10185459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2" name="Ellipse 978">
              <a:extLst>
                <a:ext uri="{FF2B5EF4-FFF2-40B4-BE49-F238E27FC236}">
                  <a16:creationId xmlns:a16="http://schemas.microsoft.com/office/drawing/2014/main" id="{5F484660-A235-4124-A55B-23EAB5BC9ADD}"/>
                </a:ext>
              </a:extLst>
            </p:cNvPr>
            <p:cNvSpPr/>
            <p:nvPr/>
          </p:nvSpPr>
          <p:spPr bwMode="gray">
            <a:xfrm flipV="1">
              <a:off x="10185459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3" name="Ellipse 979">
              <a:extLst>
                <a:ext uri="{FF2B5EF4-FFF2-40B4-BE49-F238E27FC236}">
                  <a16:creationId xmlns:a16="http://schemas.microsoft.com/office/drawing/2014/main" id="{C2D5C356-8932-4D19-955F-8984A117F349}"/>
                </a:ext>
              </a:extLst>
            </p:cNvPr>
            <p:cNvSpPr/>
            <p:nvPr/>
          </p:nvSpPr>
          <p:spPr bwMode="gray">
            <a:xfrm flipV="1">
              <a:off x="1018545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4" name="Ellipse 980">
              <a:extLst>
                <a:ext uri="{FF2B5EF4-FFF2-40B4-BE49-F238E27FC236}">
                  <a16:creationId xmlns:a16="http://schemas.microsoft.com/office/drawing/2014/main" id="{1DC58E73-0EA4-480B-8DB8-6232498D585B}"/>
                </a:ext>
              </a:extLst>
            </p:cNvPr>
            <p:cNvSpPr/>
            <p:nvPr/>
          </p:nvSpPr>
          <p:spPr bwMode="gray">
            <a:xfrm flipV="1">
              <a:off x="10185459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5" name="Ellipse 981">
              <a:extLst>
                <a:ext uri="{FF2B5EF4-FFF2-40B4-BE49-F238E27FC236}">
                  <a16:creationId xmlns:a16="http://schemas.microsoft.com/office/drawing/2014/main" id="{9045D7F1-5256-43FC-87C1-FE2313DE8C82}"/>
                </a:ext>
              </a:extLst>
            </p:cNvPr>
            <p:cNvSpPr/>
            <p:nvPr/>
          </p:nvSpPr>
          <p:spPr bwMode="gray">
            <a:xfrm flipV="1">
              <a:off x="10286625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6" name="Ellipse 982">
              <a:extLst>
                <a:ext uri="{FF2B5EF4-FFF2-40B4-BE49-F238E27FC236}">
                  <a16:creationId xmlns:a16="http://schemas.microsoft.com/office/drawing/2014/main" id="{AE66055D-D420-482C-8260-DDC571B330F2}"/>
                </a:ext>
              </a:extLst>
            </p:cNvPr>
            <p:cNvSpPr/>
            <p:nvPr/>
          </p:nvSpPr>
          <p:spPr bwMode="gray">
            <a:xfrm flipV="1">
              <a:off x="10385977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7" name="Ellipse 983">
              <a:extLst>
                <a:ext uri="{FF2B5EF4-FFF2-40B4-BE49-F238E27FC236}">
                  <a16:creationId xmlns:a16="http://schemas.microsoft.com/office/drawing/2014/main" id="{1AAE2C32-BC23-4566-AB54-06325D7D63DE}"/>
                </a:ext>
              </a:extLst>
            </p:cNvPr>
            <p:cNvSpPr/>
            <p:nvPr/>
          </p:nvSpPr>
          <p:spPr bwMode="gray">
            <a:xfrm flipV="1">
              <a:off x="1028662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8" name="Ellipse 984">
              <a:extLst>
                <a:ext uri="{FF2B5EF4-FFF2-40B4-BE49-F238E27FC236}">
                  <a16:creationId xmlns:a16="http://schemas.microsoft.com/office/drawing/2014/main" id="{5796F952-195B-4DAD-B549-C2BBFEB941BD}"/>
                </a:ext>
              </a:extLst>
            </p:cNvPr>
            <p:cNvSpPr/>
            <p:nvPr/>
          </p:nvSpPr>
          <p:spPr bwMode="gray">
            <a:xfrm flipV="1">
              <a:off x="10385977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29" name="Ellipse 985">
              <a:extLst>
                <a:ext uri="{FF2B5EF4-FFF2-40B4-BE49-F238E27FC236}">
                  <a16:creationId xmlns:a16="http://schemas.microsoft.com/office/drawing/2014/main" id="{DA624D97-6905-4D59-95B0-E482236BECC2}"/>
                </a:ext>
              </a:extLst>
            </p:cNvPr>
            <p:cNvSpPr/>
            <p:nvPr/>
          </p:nvSpPr>
          <p:spPr bwMode="gray">
            <a:xfrm flipV="1">
              <a:off x="10385977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0" name="Ellipse 986">
              <a:extLst>
                <a:ext uri="{FF2B5EF4-FFF2-40B4-BE49-F238E27FC236}">
                  <a16:creationId xmlns:a16="http://schemas.microsoft.com/office/drawing/2014/main" id="{32787A4C-C0ED-4AED-886B-AA6F8CEE1175}"/>
                </a:ext>
              </a:extLst>
            </p:cNvPr>
            <p:cNvSpPr/>
            <p:nvPr/>
          </p:nvSpPr>
          <p:spPr bwMode="gray">
            <a:xfrm flipV="1">
              <a:off x="10084935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1" name="Ellipse 987">
              <a:extLst>
                <a:ext uri="{FF2B5EF4-FFF2-40B4-BE49-F238E27FC236}">
                  <a16:creationId xmlns:a16="http://schemas.microsoft.com/office/drawing/2014/main" id="{06CE7700-ED65-44D7-A16F-AE6FD34DA53C}"/>
                </a:ext>
              </a:extLst>
            </p:cNvPr>
            <p:cNvSpPr/>
            <p:nvPr/>
          </p:nvSpPr>
          <p:spPr bwMode="gray">
            <a:xfrm flipV="1">
              <a:off x="1008493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2" name="Ellipse 988">
              <a:extLst>
                <a:ext uri="{FF2B5EF4-FFF2-40B4-BE49-F238E27FC236}">
                  <a16:creationId xmlns:a16="http://schemas.microsoft.com/office/drawing/2014/main" id="{5BE53FC3-101B-4769-842D-F9C3E698C0BA}"/>
                </a:ext>
              </a:extLst>
            </p:cNvPr>
            <p:cNvSpPr/>
            <p:nvPr/>
          </p:nvSpPr>
          <p:spPr bwMode="gray">
            <a:xfrm flipV="1">
              <a:off x="10084935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3" name="Ellipse 989">
              <a:extLst>
                <a:ext uri="{FF2B5EF4-FFF2-40B4-BE49-F238E27FC236}">
                  <a16:creationId xmlns:a16="http://schemas.microsoft.com/office/drawing/2014/main" id="{787EBAD6-E520-4C60-838A-81346DFA6F49}"/>
                </a:ext>
              </a:extLst>
            </p:cNvPr>
            <p:cNvSpPr/>
            <p:nvPr/>
          </p:nvSpPr>
          <p:spPr bwMode="gray">
            <a:xfrm flipV="1">
              <a:off x="10691133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4" name="Ellipse 990">
              <a:extLst>
                <a:ext uri="{FF2B5EF4-FFF2-40B4-BE49-F238E27FC236}">
                  <a16:creationId xmlns:a16="http://schemas.microsoft.com/office/drawing/2014/main" id="{320C7281-1259-4590-BB16-E8E95AE0CC7A}"/>
                </a:ext>
              </a:extLst>
            </p:cNvPr>
            <p:cNvSpPr/>
            <p:nvPr/>
          </p:nvSpPr>
          <p:spPr bwMode="gray">
            <a:xfrm flipV="1">
              <a:off x="10691133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5" name="Ellipse 991">
              <a:extLst>
                <a:ext uri="{FF2B5EF4-FFF2-40B4-BE49-F238E27FC236}">
                  <a16:creationId xmlns:a16="http://schemas.microsoft.com/office/drawing/2014/main" id="{5D70E04D-D298-4328-9B47-164E328C3D39}"/>
                </a:ext>
              </a:extLst>
            </p:cNvPr>
            <p:cNvSpPr/>
            <p:nvPr/>
          </p:nvSpPr>
          <p:spPr bwMode="gray">
            <a:xfrm flipV="1">
              <a:off x="10593948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6" name="Ellipse 992">
              <a:extLst>
                <a:ext uri="{FF2B5EF4-FFF2-40B4-BE49-F238E27FC236}">
                  <a16:creationId xmlns:a16="http://schemas.microsoft.com/office/drawing/2014/main" id="{E2FB3913-AD07-49D0-9678-03C04FA06E5B}"/>
                </a:ext>
              </a:extLst>
            </p:cNvPr>
            <p:cNvSpPr/>
            <p:nvPr/>
          </p:nvSpPr>
          <p:spPr bwMode="gray">
            <a:xfrm flipV="1">
              <a:off x="10691133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7" name="Ellipse 993">
              <a:extLst>
                <a:ext uri="{FF2B5EF4-FFF2-40B4-BE49-F238E27FC236}">
                  <a16:creationId xmlns:a16="http://schemas.microsoft.com/office/drawing/2014/main" id="{53AAED8E-1094-40C1-9429-991FAF3D8BB6}"/>
                </a:ext>
              </a:extLst>
            </p:cNvPr>
            <p:cNvSpPr/>
            <p:nvPr/>
          </p:nvSpPr>
          <p:spPr bwMode="gray">
            <a:xfrm flipV="1">
              <a:off x="10691133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8" name="Ellipse 994">
              <a:extLst>
                <a:ext uri="{FF2B5EF4-FFF2-40B4-BE49-F238E27FC236}">
                  <a16:creationId xmlns:a16="http://schemas.microsoft.com/office/drawing/2014/main" id="{C5AB5DD1-0517-42DA-BF0D-815B3972A76A}"/>
                </a:ext>
              </a:extLst>
            </p:cNvPr>
            <p:cNvSpPr/>
            <p:nvPr/>
          </p:nvSpPr>
          <p:spPr bwMode="gray">
            <a:xfrm flipV="1">
              <a:off x="10691133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39" name="Ellipse 995">
              <a:extLst>
                <a:ext uri="{FF2B5EF4-FFF2-40B4-BE49-F238E27FC236}">
                  <a16:creationId xmlns:a16="http://schemas.microsoft.com/office/drawing/2014/main" id="{C5BB47A3-40CD-494B-90A0-E9F96F472CB6}"/>
                </a:ext>
              </a:extLst>
            </p:cNvPr>
            <p:cNvSpPr/>
            <p:nvPr/>
          </p:nvSpPr>
          <p:spPr bwMode="gray">
            <a:xfrm flipV="1">
              <a:off x="988380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0" name="Ellipse 996">
              <a:extLst>
                <a:ext uri="{FF2B5EF4-FFF2-40B4-BE49-F238E27FC236}">
                  <a16:creationId xmlns:a16="http://schemas.microsoft.com/office/drawing/2014/main" id="{E53FB38B-F66B-447B-8E8A-E7DCA61590BC}"/>
                </a:ext>
              </a:extLst>
            </p:cNvPr>
            <p:cNvSpPr/>
            <p:nvPr/>
          </p:nvSpPr>
          <p:spPr bwMode="gray">
            <a:xfrm flipV="1">
              <a:off x="9778750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1" name="Ellipse 997">
              <a:extLst>
                <a:ext uri="{FF2B5EF4-FFF2-40B4-BE49-F238E27FC236}">
                  <a16:creationId xmlns:a16="http://schemas.microsoft.com/office/drawing/2014/main" id="{6C31E90D-F5DB-401C-A18C-056DDAF53805}"/>
                </a:ext>
              </a:extLst>
            </p:cNvPr>
            <p:cNvSpPr/>
            <p:nvPr/>
          </p:nvSpPr>
          <p:spPr bwMode="gray">
            <a:xfrm flipV="1">
              <a:off x="9676998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2" name="Ellipse 998">
              <a:extLst>
                <a:ext uri="{FF2B5EF4-FFF2-40B4-BE49-F238E27FC236}">
                  <a16:creationId xmlns:a16="http://schemas.microsoft.com/office/drawing/2014/main" id="{784F9BEB-0C42-44AD-A2EA-17502B33FCD0}"/>
                </a:ext>
              </a:extLst>
            </p:cNvPr>
            <p:cNvSpPr/>
            <p:nvPr/>
          </p:nvSpPr>
          <p:spPr bwMode="gray">
            <a:xfrm flipV="1">
              <a:off x="10593948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3" name="Ellipse 999">
              <a:extLst>
                <a:ext uri="{FF2B5EF4-FFF2-40B4-BE49-F238E27FC236}">
                  <a16:creationId xmlns:a16="http://schemas.microsoft.com/office/drawing/2014/main" id="{407B07C8-B14F-4B7B-B811-1607D4400536}"/>
                </a:ext>
              </a:extLst>
            </p:cNvPr>
            <p:cNvSpPr/>
            <p:nvPr/>
          </p:nvSpPr>
          <p:spPr bwMode="gray">
            <a:xfrm flipV="1">
              <a:off x="10593948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4" name="Ellipse 1000">
              <a:extLst>
                <a:ext uri="{FF2B5EF4-FFF2-40B4-BE49-F238E27FC236}">
                  <a16:creationId xmlns:a16="http://schemas.microsoft.com/office/drawing/2014/main" id="{2B9FC412-40B0-45F3-9D8E-7CB0DF5151AF}"/>
                </a:ext>
              </a:extLst>
            </p:cNvPr>
            <p:cNvSpPr/>
            <p:nvPr/>
          </p:nvSpPr>
          <p:spPr bwMode="gray">
            <a:xfrm flipV="1">
              <a:off x="10385977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5" name="Ellipse 1001">
              <a:extLst>
                <a:ext uri="{FF2B5EF4-FFF2-40B4-BE49-F238E27FC236}">
                  <a16:creationId xmlns:a16="http://schemas.microsoft.com/office/drawing/2014/main" id="{894CCF9C-7E37-4B51-B432-A298DE1C5073}"/>
                </a:ext>
              </a:extLst>
            </p:cNvPr>
            <p:cNvSpPr/>
            <p:nvPr/>
          </p:nvSpPr>
          <p:spPr bwMode="gray">
            <a:xfrm flipV="1">
              <a:off x="10490310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6" name="Ellipse 1002">
              <a:extLst>
                <a:ext uri="{FF2B5EF4-FFF2-40B4-BE49-F238E27FC236}">
                  <a16:creationId xmlns:a16="http://schemas.microsoft.com/office/drawing/2014/main" id="{FEF51106-D889-41D5-B411-CE4EC4D15C71}"/>
                </a:ext>
              </a:extLst>
            </p:cNvPr>
            <p:cNvSpPr/>
            <p:nvPr/>
          </p:nvSpPr>
          <p:spPr bwMode="gray">
            <a:xfrm flipV="1">
              <a:off x="1049031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7" name="Ellipse 1003">
              <a:extLst>
                <a:ext uri="{FF2B5EF4-FFF2-40B4-BE49-F238E27FC236}">
                  <a16:creationId xmlns:a16="http://schemas.microsoft.com/office/drawing/2014/main" id="{2083BA2A-8D13-487F-AD8A-110F888FC902}"/>
                </a:ext>
              </a:extLst>
            </p:cNvPr>
            <p:cNvSpPr/>
            <p:nvPr/>
          </p:nvSpPr>
          <p:spPr bwMode="gray">
            <a:xfrm flipV="1">
              <a:off x="10490310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8" name="Ellipse 1004">
              <a:extLst>
                <a:ext uri="{FF2B5EF4-FFF2-40B4-BE49-F238E27FC236}">
                  <a16:creationId xmlns:a16="http://schemas.microsoft.com/office/drawing/2014/main" id="{960CF8CF-8E3F-46C3-924F-1514073B84C6}"/>
                </a:ext>
              </a:extLst>
            </p:cNvPr>
            <p:cNvSpPr/>
            <p:nvPr/>
          </p:nvSpPr>
          <p:spPr bwMode="gray">
            <a:xfrm flipV="1">
              <a:off x="9778750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49" name="Ellipse 1005">
              <a:extLst>
                <a:ext uri="{FF2B5EF4-FFF2-40B4-BE49-F238E27FC236}">
                  <a16:creationId xmlns:a16="http://schemas.microsoft.com/office/drawing/2014/main" id="{576B41AD-9375-44F2-82E3-7CB93D11BAEB}"/>
                </a:ext>
              </a:extLst>
            </p:cNvPr>
            <p:cNvSpPr/>
            <p:nvPr/>
          </p:nvSpPr>
          <p:spPr bwMode="gray">
            <a:xfrm flipV="1">
              <a:off x="9883804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0" name="Ellipse 1006">
              <a:extLst>
                <a:ext uri="{FF2B5EF4-FFF2-40B4-BE49-F238E27FC236}">
                  <a16:creationId xmlns:a16="http://schemas.microsoft.com/office/drawing/2014/main" id="{FD4EDD90-35AD-4129-A134-F5E25FFE40C0}"/>
                </a:ext>
              </a:extLst>
            </p:cNvPr>
            <p:cNvSpPr/>
            <p:nvPr/>
          </p:nvSpPr>
          <p:spPr bwMode="gray">
            <a:xfrm flipV="1">
              <a:off x="9979215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1" name="Ellipse 1007">
              <a:extLst>
                <a:ext uri="{FF2B5EF4-FFF2-40B4-BE49-F238E27FC236}">
                  <a16:creationId xmlns:a16="http://schemas.microsoft.com/office/drawing/2014/main" id="{8A8A4C4D-3AC5-43E9-91B5-E68A6A903F5C}"/>
                </a:ext>
              </a:extLst>
            </p:cNvPr>
            <p:cNvSpPr/>
            <p:nvPr/>
          </p:nvSpPr>
          <p:spPr bwMode="gray">
            <a:xfrm flipV="1">
              <a:off x="9979215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2" name="Ellipse 1008">
              <a:extLst>
                <a:ext uri="{FF2B5EF4-FFF2-40B4-BE49-F238E27FC236}">
                  <a16:creationId xmlns:a16="http://schemas.microsoft.com/office/drawing/2014/main" id="{D4729E76-28A1-40FA-945B-DC4EA6687FD3}"/>
                </a:ext>
              </a:extLst>
            </p:cNvPr>
            <p:cNvSpPr/>
            <p:nvPr/>
          </p:nvSpPr>
          <p:spPr bwMode="gray">
            <a:xfrm flipV="1">
              <a:off x="9979215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3" name="Ellipse 1009">
              <a:extLst>
                <a:ext uri="{FF2B5EF4-FFF2-40B4-BE49-F238E27FC236}">
                  <a16:creationId xmlns:a16="http://schemas.microsoft.com/office/drawing/2014/main" id="{055FF851-EB92-4ACF-AAB2-B11E677CFD31}"/>
                </a:ext>
              </a:extLst>
            </p:cNvPr>
            <p:cNvSpPr/>
            <p:nvPr/>
          </p:nvSpPr>
          <p:spPr bwMode="gray">
            <a:xfrm flipV="1">
              <a:off x="9979215" y="224145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4" name="Ellipse 1010">
              <a:extLst>
                <a:ext uri="{FF2B5EF4-FFF2-40B4-BE49-F238E27FC236}">
                  <a16:creationId xmlns:a16="http://schemas.microsoft.com/office/drawing/2014/main" id="{0F24C506-7131-4E0C-B11B-D56C3ED736EC}"/>
                </a:ext>
              </a:extLst>
            </p:cNvPr>
            <p:cNvSpPr/>
            <p:nvPr/>
          </p:nvSpPr>
          <p:spPr bwMode="gray">
            <a:xfrm flipV="1">
              <a:off x="9778750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5" name="Ellipse 1011">
              <a:extLst>
                <a:ext uri="{FF2B5EF4-FFF2-40B4-BE49-F238E27FC236}">
                  <a16:creationId xmlns:a16="http://schemas.microsoft.com/office/drawing/2014/main" id="{751E3B8D-0E09-400F-838A-799A0BBC3BDC}"/>
                </a:ext>
              </a:extLst>
            </p:cNvPr>
            <p:cNvSpPr/>
            <p:nvPr/>
          </p:nvSpPr>
          <p:spPr bwMode="gray">
            <a:xfrm flipV="1">
              <a:off x="9778750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6" name="Ellipse 1012">
              <a:extLst>
                <a:ext uri="{FF2B5EF4-FFF2-40B4-BE49-F238E27FC236}">
                  <a16:creationId xmlns:a16="http://schemas.microsoft.com/office/drawing/2014/main" id="{B2425CD8-7666-428C-9C40-8BAF4D2E29D9}"/>
                </a:ext>
              </a:extLst>
            </p:cNvPr>
            <p:cNvSpPr/>
            <p:nvPr/>
          </p:nvSpPr>
          <p:spPr bwMode="gray">
            <a:xfrm flipV="1">
              <a:off x="977875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7" name="Ellipse 1013">
              <a:extLst>
                <a:ext uri="{FF2B5EF4-FFF2-40B4-BE49-F238E27FC236}">
                  <a16:creationId xmlns:a16="http://schemas.microsoft.com/office/drawing/2014/main" id="{F0466CC1-BD77-4238-B498-304AA815630C}"/>
                </a:ext>
              </a:extLst>
            </p:cNvPr>
            <p:cNvSpPr/>
            <p:nvPr/>
          </p:nvSpPr>
          <p:spPr bwMode="gray">
            <a:xfrm flipV="1">
              <a:off x="977875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8" name="Ellipse 1014">
              <a:extLst>
                <a:ext uri="{FF2B5EF4-FFF2-40B4-BE49-F238E27FC236}">
                  <a16:creationId xmlns:a16="http://schemas.microsoft.com/office/drawing/2014/main" id="{E6737D88-6891-44C3-B6DC-1A7C16ABCCAA}"/>
                </a:ext>
              </a:extLst>
            </p:cNvPr>
            <p:cNvSpPr/>
            <p:nvPr/>
          </p:nvSpPr>
          <p:spPr bwMode="gray">
            <a:xfrm flipV="1">
              <a:off x="9676998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59" name="Ellipse 1015">
              <a:extLst>
                <a:ext uri="{FF2B5EF4-FFF2-40B4-BE49-F238E27FC236}">
                  <a16:creationId xmlns:a16="http://schemas.microsoft.com/office/drawing/2014/main" id="{564AABFB-939F-42E8-9768-CF8FB80BD4FB}"/>
                </a:ext>
              </a:extLst>
            </p:cNvPr>
            <p:cNvSpPr/>
            <p:nvPr/>
          </p:nvSpPr>
          <p:spPr bwMode="gray">
            <a:xfrm flipV="1">
              <a:off x="9676998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0" name="Ellipse 1016">
              <a:extLst>
                <a:ext uri="{FF2B5EF4-FFF2-40B4-BE49-F238E27FC236}">
                  <a16:creationId xmlns:a16="http://schemas.microsoft.com/office/drawing/2014/main" id="{75C1F792-B7FD-4C27-BBD0-58BBB9FD0AA7}"/>
                </a:ext>
              </a:extLst>
            </p:cNvPr>
            <p:cNvSpPr/>
            <p:nvPr/>
          </p:nvSpPr>
          <p:spPr bwMode="gray">
            <a:xfrm flipV="1">
              <a:off x="9471345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1" name="Ellipse 1017">
              <a:extLst>
                <a:ext uri="{FF2B5EF4-FFF2-40B4-BE49-F238E27FC236}">
                  <a16:creationId xmlns:a16="http://schemas.microsoft.com/office/drawing/2014/main" id="{3E891A29-0D9C-43F6-93C2-513FD18CA690}"/>
                </a:ext>
              </a:extLst>
            </p:cNvPr>
            <p:cNvSpPr/>
            <p:nvPr/>
          </p:nvSpPr>
          <p:spPr bwMode="gray">
            <a:xfrm flipV="1">
              <a:off x="9471345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2" name="Ellipse 1018">
              <a:extLst>
                <a:ext uri="{FF2B5EF4-FFF2-40B4-BE49-F238E27FC236}">
                  <a16:creationId xmlns:a16="http://schemas.microsoft.com/office/drawing/2014/main" id="{AD07A1BD-EAAE-4176-942A-910011D4371B}"/>
                </a:ext>
              </a:extLst>
            </p:cNvPr>
            <p:cNvSpPr/>
            <p:nvPr/>
          </p:nvSpPr>
          <p:spPr bwMode="gray">
            <a:xfrm flipV="1">
              <a:off x="9471345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3" name="Ellipse 1019">
              <a:extLst>
                <a:ext uri="{FF2B5EF4-FFF2-40B4-BE49-F238E27FC236}">
                  <a16:creationId xmlns:a16="http://schemas.microsoft.com/office/drawing/2014/main" id="{D1E939EE-0204-4B26-8F94-608E5C4E2DCB}"/>
                </a:ext>
              </a:extLst>
            </p:cNvPr>
            <p:cNvSpPr/>
            <p:nvPr/>
          </p:nvSpPr>
          <p:spPr bwMode="gray">
            <a:xfrm flipV="1">
              <a:off x="9471345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4" name="Ellipse 1020">
              <a:extLst>
                <a:ext uri="{FF2B5EF4-FFF2-40B4-BE49-F238E27FC236}">
                  <a16:creationId xmlns:a16="http://schemas.microsoft.com/office/drawing/2014/main" id="{C41AA422-1C50-403D-B69C-C0E4B15B5868}"/>
                </a:ext>
              </a:extLst>
            </p:cNvPr>
            <p:cNvSpPr/>
            <p:nvPr/>
          </p:nvSpPr>
          <p:spPr bwMode="gray">
            <a:xfrm flipV="1">
              <a:off x="9471345" y="170790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5" name="Ellipse 1021">
              <a:extLst>
                <a:ext uri="{FF2B5EF4-FFF2-40B4-BE49-F238E27FC236}">
                  <a16:creationId xmlns:a16="http://schemas.microsoft.com/office/drawing/2014/main" id="{19CA4F00-7307-41BB-87DD-7474A430AB63}"/>
                </a:ext>
              </a:extLst>
            </p:cNvPr>
            <p:cNvSpPr/>
            <p:nvPr/>
          </p:nvSpPr>
          <p:spPr bwMode="gray">
            <a:xfrm flipV="1">
              <a:off x="9471345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6" name="Ellipse 1022">
              <a:extLst>
                <a:ext uri="{FF2B5EF4-FFF2-40B4-BE49-F238E27FC236}">
                  <a16:creationId xmlns:a16="http://schemas.microsoft.com/office/drawing/2014/main" id="{D7099958-E36C-471A-B91B-24E28E48167E}"/>
                </a:ext>
              </a:extLst>
            </p:cNvPr>
            <p:cNvSpPr/>
            <p:nvPr/>
          </p:nvSpPr>
          <p:spPr bwMode="gray">
            <a:xfrm flipV="1">
              <a:off x="9574906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7" name="Ellipse 1023">
              <a:extLst>
                <a:ext uri="{FF2B5EF4-FFF2-40B4-BE49-F238E27FC236}">
                  <a16:creationId xmlns:a16="http://schemas.microsoft.com/office/drawing/2014/main" id="{7E269E0D-4DAB-4EAC-885C-B139B9A8A796}"/>
                </a:ext>
              </a:extLst>
            </p:cNvPr>
            <p:cNvSpPr/>
            <p:nvPr/>
          </p:nvSpPr>
          <p:spPr bwMode="gray">
            <a:xfrm flipV="1">
              <a:off x="9471345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8" name="Ellipse 1024">
              <a:extLst>
                <a:ext uri="{FF2B5EF4-FFF2-40B4-BE49-F238E27FC236}">
                  <a16:creationId xmlns:a16="http://schemas.microsoft.com/office/drawing/2014/main" id="{50DC8780-2A0E-4B2B-BA01-EC043915289E}"/>
                </a:ext>
              </a:extLst>
            </p:cNvPr>
            <p:cNvSpPr/>
            <p:nvPr/>
          </p:nvSpPr>
          <p:spPr bwMode="gray">
            <a:xfrm flipV="1">
              <a:off x="937195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69" name="Ellipse 1025">
              <a:extLst>
                <a:ext uri="{FF2B5EF4-FFF2-40B4-BE49-F238E27FC236}">
                  <a16:creationId xmlns:a16="http://schemas.microsoft.com/office/drawing/2014/main" id="{B3DF9E28-5D9E-4EFE-82AB-11F58D7B0B80}"/>
                </a:ext>
              </a:extLst>
            </p:cNvPr>
            <p:cNvSpPr/>
            <p:nvPr/>
          </p:nvSpPr>
          <p:spPr bwMode="gray">
            <a:xfrm flipV="1">
              <a:off x="9371954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0" name="Ellipse 1026">
              <a:extLst>
                <a:ext uri="{FF2B5EF4-FFF2-40B4-BE49-F238E27FC236}">
                  <a16:creationId xmlns:a16="http://schemas.microsoft.com/office/drawing/2014/main" id="{748C35BB-FC99-469A-ABF4-E2F4DD0B18F8}"/>
                </a:ext>
              </a:extLst>
            </p:cNvPr>
            <p:cNvSpPr/>
            <p:nvPr/>
          </p:nvSpPr>
          <p:spPr bwMode="gray">
            <a:xfrm flipV="1">
              <a:off x="9268950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1" name="Ellipse 1027">
              <a:extLst>
                <a:ext uri="{FF2B5EF4-FFF2-40B4-BE49-F238E27FC236}">
                  <a16:creationId xmlns:a16="http://schemas.microsoft.com/office/drawing/2014/main" id="{E1CA51A6-3F65-4F5C-A5DE-7F8E42883AAF}"/>
                </a:ext>
              </a:extLst>
            </p:cNvPr>
            <p:cNvSpPr/>
            <p:nvPr/>
          </p:nvSpPr>
          <p:spPr bwMode="gray">
            <a:xfrm flipV="1">
              <a:off x="926895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2" name="Ellipse 1028">
              <a:extLst>
                <a:ext uri="{FF2B5EF4-FFF2-40B4-BE49-F238E27FC236}">
                  <a16:creationId xmlns:a16="http://schemas.microsoft.com/office/drawing/2014/main" id="{0158EF72-BE23-4C8A-90F4-5A1ECB2CAF77}"/>
                </a:ext>
              </a:extLst>
            </p:cNvPr>
            <p:cNvSpPr/>
            <p:nvPr/>
          </p:nvSpPr>
          <p:spPr bwMode="gray">
            <a:xfrm flipV="1">
              <a:off x="9268950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3" name="Ellipse 1029">
              <a:extLst>
                <a:ext uri="{FF2B5EF4-FFF2-40B4-BE49-F238E27FC236}">
                  <a16:creationId xmlns:a16="http://schemas.microsoft.com/office/drawing/2014/main" id="{574FE080-B63F-4F63-980B-61DBA8383D6F}"/>
                </a:ext>
              </a:extLst>
            </p:cNvPr>
            <p:cNvSpPr/>
            <p:nvPr/>
          </p:nvSpPr>
          <p:spPr bwMode="gray">
            <a:xfrm flipV="1">
              <a:off x="9268950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4" name="Ellipse 1030">
              <a:extLst>
                <a:ext uri="{FF2B5EF4-FFF2-40B4-BE49-F238E27FC236}">
                  <a16:creationId xmlns:a16="http://schemas.microsoft.com/office/drawing/2014/main" id="{763B2CCE-C6C6-4F83-84A8-D2064C1DBC65}"/>
                </a:ext>
              </a:extLst>
            </p:cNvPr>
            <p:cNvSpPr/>
            <p:nvPr/>
          </p:nvSpPr>
          <p:spPr bwMode="gray">
            <a:xfrm flipV="1">
              <a:off x="9169531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5" name="Ellipse 1031">
              <a:extLst>
                <a:ext uri="{FF2B5EF4-FFF2-40B4-BE49-F238E27FC236}">
                  <a16:creationId xmlns:a16="http://schemas.microsoft.com/office/drawing/2014/main" id="{AEADC952-3EFE-4765-9474-8A4EE5A64767}"/>
                </a:ext>
              </a:extLst>
            </p:cNvPr>
            <p:cNvSpPr/>
            <p:nvPr/>
          </p:nvSpPr>
          <p:spPr bwMode="gray">
            <a:xfrm flipV="1">
              <a:off x="9063923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6" name="Ellipse 1032">
              <a:extLst>
                <a:ext uri="{FF2B5EF4-FFF2-40B4-BE49-F238E27FC236}">
                  <a16:creationId xmlns:a16="http://schemas.microsoft.com/office/drawing/2014/main" id="{66B44F16-2AAF-481E-966C-2F603BF136CB}"/>
                </a:ext>
              </a:extLst>
            </p:cNvPr>
            <p:cNvSpPr/>
            <p:nvPr/>
          </p:nvSpPr>
          <p:spPr bwMode="gray">
            <a:xfrm flipV="1">
              <a:off x="8865794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7" name="Ellipse 1033">
              <a:extLst>
                <a:ext uri="{FF2B5EF4-FFF2-40B4-BE49-F238E27FC236}">
                  <a16:creationId xmlns:a16="http://schemas.microsoft.com/office/drawing/2014/main" id="{F8561315-F5BF-4779-A2EE-37F990EFD34E}"/>
                </a:ext>
              </a:extLst>
            </p:cNvPr>
            <p:cNvSpPr/>
            <p:nvPr/>
          </p:nvSpPr>
          <p:spPr bwMode="gray">
            <a:xfrm flipV="1">
              <a:off x="8762410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8" name="Ellipse 1034">
              <a:extLst>
                <a:ext uri="{FF2B5EF4-FFF2-40B4-BE49-F238E27FC236}">
                  <a16:creationId xmlns:a16="http://schemas.microsoft.com/office/drawing/2014/main" id="{53A4127C-C10C-48EC-9516-5F752FE960C1}"/>
                </a:ext>
              </a:extLst>
            </p:cNvPr>
            <p:cNvSpPr/>
            <p:nvPr/>
          </p:nvSpPr>
          <p:spPr bwMode="gray">
            <a:xfrm flipV="1">
              <a:off x="8666236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79" name="Ellipse 1035">
              <a:extLst>
                <a:ext uri="{FF2B5EF4-FFF2-40B4-BE49-F238E27FC236}">
                  <a16:creationId xmlns:a16="http://schemas.microsoft.com/office/drawing/2014/main" id="{53A8AE17-938A-4E5E-9D05-2B2C4E88802C}"/>
                </a:ext>
              </a:extLst>
            </p:cNvPr>
            <p:cNvSpPr/>
            <p:nvPr/>
          </p:nvSpPr>
          <p:spPr bwMode="gray">
            <a:xfrm flipV="1">
              <a:off x="845881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0" name="Ellipse 1036">
              <a:extLst>
                <a:ext uri="{FF2B5EF4-FFF2-40B4-BE49-F238E27FC236}">
                  <a16:creationId xmlns:a16="http://schemas.microsoft.com/office/drawing/2014/main" id="{1AB8B7F6-97A9-432D-A954-86053B8EEE29}"/>
                </a:ext>
              </a:extLst>
            </p:cNvPr>
            <p:cNvSpPr/>
            <p:nvPr/>
          </p:nvSpPr>
          <p:spPr bwMode="gray">
            <a:xfrm flipV="1">
              <a:off x="8458819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1" name="Ellipse 1037">
              <a:extLst>
                <a:ext uri="{FF2B5EF4-FFF2-40B4-BE49-F238E27FC236}">
                  <a16:creationId xmlns:a16="http://schemas.microsoft.com/office/drawing/2014/main" id="{9C93665C-087F-4247-87B0-BF632B5883F7}"/>
                </a:ext>
              </a:extLst>
            </p:cNvPr>
            <p:cNvSpPr/>
            <p:nvPr/>
          </p:nvSpPr>
          <p:spPr bwMode="gray">
            <a:xfrm flipV="1">
              <a:off x="8458819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2" name="Ellipse 1038">
              <a:extLst>
                <a:ext uri="{FF2B5EF4-FFF2-40B4-BE49-F238E27FC236}">
                  <a16:creationId xmlns:a16="http://schemas.microsoft.com/office/drawing/2014/main" id="{019EF36B-8AF6-4F14-888B-F727A5C67D7E}"/>
                </a:ext>
              </a:extLst>
            </p:cNvPr>
            <p:cNvSpPr/>
            <p:nvPr/>
          </p:nvSpPr>
          <p:spPr bwMode="gray">
            <a:xfrm flipV="1">
              <a:off x="8355188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3" name="Ellipse 1039">
              <a:extLst>
                <a:ext uri="{FF2B5EF4-FFF2-40B4-BE49-F238E27FC236}">
                  <a16:creationId xmlns:a16="http://schemas.microsoft.com/office/drawing/2014/main" id="{4DC3DF18-D133-44CA-83D0-2F08818E6B6B}"/>
                </a:ext>
              </a:extLst>
            </p:cNvPr>
            <p:cNvSpPr/>
            <p:nvPr/>
          </p:nvSpPr>
          <p:spPr bwMode="gray">
            <a:xfrm flipV="1">
              <a:off x="8355188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4" name="Ellipse 1040">
              <a:extLst>
                <a:ext uri="{FF2B5EF4-FFF2-40B4-BE49-F238E27FC236}">
                  <a16:creationId xmlns:a16="http://schemas.microsoft.com/office/drawing/2014/main" id="{C1B92E67-2A6B-4B37-8A3A-C3B18059D17B}"/>
                </a:ext>
              </a:extLst>
            </p:cNvPr>
            <p:cNvSpPr/>
            <p:nvPr/>
          </p:nvSpPr>
          <p:spPr bwMode="gray">
            <a:xfrm flipV="1">
              <a:off x="8257598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5" name="Ellipse 1041">
              <a:extLst>
                <a:ext uri="{FF2B5EF4-FFF2-40B4-BE49-F238E27FC236}">
                  <a16:creationId xmlns:a16="http://schemas.microsoft.com/office/drawing/2014/main" id="{A6740227-04A3-455B-8F37-800044BB21EA}"/>
                </a:ext>
              </a:extLst>
            </p:cNvPr>
            <p:cNvSpPr/>
            <p:nvPr/>
          </p:nvSpPr>
          <p:spPr bwMode="gray">
            <a:xfrm flipV="1">
              <a:off x="8257598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6" name="Ellipse 1042">
              <a:extLst>
                <a:ext uri="{FF2B5EF4-FFF2-40B4-BE49-F238E27FC236}">
                  <a16:creationId xmlns:a16="http://schemas.microsoft.com/office/drawing/2014/main" id="{E8BFA493-A0EB-4D09-940A-4EEC14FABC0B}"/>
                </a:ext>
              </a:extLst>
            </p:cNvPr>
            <p:cNvSpPr/>
            <p:nvPr/>
          </p:nvSpPr>
          <p:spPr bwMode="gray">
            <a:xfrm flipV="1">
              <a:off x="8257598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7" name="Ellipse 1043">
              <a:extLst>
                <a:ext uri="{FF2B5EF4-FFF2-40B4-BE49-F238E27FC236}">
                  <a16:creationId xmlns:a16="http://schemas.microsoft.com/office/drawing/2014/main" id="{B52B95A7-BEF9-4F37-9C22-D3BC594743BB}"/>
                </a:ext>
              </a:extLst>
            </p:cNvPr>
            <p:cNvSpPr/>
            <p:nvPr/>
          </p:nvSpPr>
          <p:spPr bwMode="gray">
            <a:xfrm flipV="1">
              <a:off x="8257598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8" name="Ellipse 1044">
              <a:extLst>
                <a:ext uri="{FF2B5EF4-FFF2-40B4-BE49-F238E27FC236}">
                  <a16:creationId xmlns:a16="http://schemas.microsoft.com/office/drawing/2014/main" id="{A4754AA5-1C2D-4531-B233-7774042BF29D}"/>
                </a:ext>
              </a:extLst>
            </p:cNvPr>
            <p:cNvSpPr/>
            <p:nvPr/>
          </p:nvSpPr>
          <p:spPr bwMode="gray">
            <a:xfrm flipV="1">
              <a:off x="8156400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89" name="Ellipse 1045">
              <a:extLst>
                <a:ext uri="{FF2B5EF4-FFF2-40B4-BE49-F238E27FC236}">
                  <a16:creationId xmlns:a16="http://schemas.microsoft.com/office/drawing/2014/main" id="{787CDFB7-BB24-40C4-9A94-9A537E03387C}"/>
                </a:ext>
              </a:extLst>
            </p:cNvPr>
            <p:cNvSpPr/>
            <p:nvPr/>
          </p:nvSpPr>
          <p:spPr bwMode="gray">
            <a:xfrm flipV="1">
              <a:off x="8053160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0" name="Ellipse 1046">
              <a:extLst>
                <a:ext uri="{FF2B5EF4-FFF2-40B4-BE49-F238E27FC236}">
                  <a16:creationId xmlns:a16="http://schemas.microsoft.com/office/drawing/2014/main" id="{011CE15D-FBF9-4864-B31D-9E036839213D}"/>
                </a:ext>
              </a:extLst>
            </p:cNvPr>
            <p:cNvSpPr/>
            <p:nvPr/>
          </p:nvSpPr>
          <p:spPr bwMode="gray">
            <a:xfrm flipV="1">
              <a:off x="8053160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1" name="Ellipse 1047">
              <a:extLst>
                <a:ext uri="{FF2B5EF4-FFF2-40B4-BE49-F238E27FC236}">
                  <a16:creationId xmlns:a16="http://schemas.microsoft.com/office/drawing/2014/main" id="{172461EB-BB50-41E3-9158-7BAF29C58260}"/>
                </a:ext>
              </a:extLst>
            </p:cNvPr>
            <p:cNvSpPr/>
            <p:nvPr/>
          </p:nvSpPr>
          <p:spPr bwMode="gray">
            <a:xfrm flipV="1">
              <a:off x="805316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2" name="Ellipse 1048">
              <a:extLst>
                <a:ext uri="{FF2B5EF4-FFF2-40B4-BE49-F238E27FC236}">
                  <a16:creationId xmlns:a16="http://schemas.microsoft.com/office/drawing/2014/main" id="{D70CC32E-81F4-4D7B-ADF5-C5B12FF847BF}"/>
                </a:ext>
              </a:extLst>
            </p:cNvPr>
            <p:cNvSpPr/>
            <p:nvPr/>
          </p:nvSpPr>
          <p:spPr bwMode="gray">
            <a:xfrm flipV="1">
              <a:off x="8053160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3" name="Ellipse 1049">
              <a:extLst>
                <a:ext uri="{FF2B5EF4-FFF2-40B4-BE49-F238E27FC236}">
                  <a16:creationId xmlns:a16="http://schemas.microsoft.com/office/drawing/2014/main" id="{34A2129B-4048-493E-8FDF-DE3FAD718E96}"/>
                </a:ext>
              </a:extLst>
            </p:cNvPr>
            <p:cNvSpPr/>
            <p:nvPr/>
          </p:nvSpPr>
          <p:spPr bwMode="gray">
            <a:xfrm flipV="1">
              <a:off x="8053160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4" name="Ellipse 1050">
              <a:extLst>
                <a:ext uri="{FF2B5EF4-FFF2-40B4-BE49-F238E27FC236}">
                  <a16:creationId xmlns:a16="http://schemas.microsoft.com/office/drawing/2014/main" id="{90B57D40-B1EA-4987-B56D-42C459C2D05C}"/>
                </a:ext>
              </a:extLst>
            </p:cNvPr>
            <p:cNvSpPr/>
            <p:nvPr/>
          </p:nvSpPr>
          <p:spPr bwMode="gray">
            <a:xfrm flipV="1">
              <a:off x="8053160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5" name="Ellipse 1051">
              <a:extLst>
                <a:ext uri="{FF2B5EF4-FFF2-40B4-BE49-F238E27FC236}">
                  <a16:creationId xmlns:a16="http://schemas.microsoft.com/office/drawing/2014/main" id="{A2606A3E-9387-4FF1-BC8B-FBB7013036AC}"/>
                </a:ext>
              </a:extLst>
            </p:cNvPr>
            <p:cNvSpPr/>
            <p:nvPr/>
          </p:nvSpPr>
          <p:spPr bwMode="gray">
            <a:xfrm flipV="1">
              <a:off x="7950749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6" name="Ellipse 1052">
              <a:extLst>
                <a:ext uri="{FF2B5EF4-FFF2-40B4-BE49-F238E27FC236}">
                  <a16:creationId xmlns:a16="http://schemas.microsoft.com/office/drawing/2014/main" id="{76388D33-14BC-4EE7-ADAC-F38D3957B5CF}"/>
                </a:ext>
              </a:extLst>
            </p:cNvPr>
            <p:cNvSpPr/>
            <p:nvPr/>
          </p:nvSpPr>
          <p:spPr bwMode="gray">
            <a:xfrm flipV="1">
              <a:off x="7950749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7" name="Ellipse 1053">
              <a:extLst>
                <a:ext uri="{FF2B5EF4-FFF2-40B4-BE49-F238E27FC236}">
                  <a16:creationId xmlns:a16="http://schemas.microsoft.com/office/drawing/2014/main" id="{947BBE04-841D-4F72-AA2E-A8C04667ECA7}"/>
                </a:ext>
              </a:extLst>
            </p:cNvPr>
            <p:cNvSpPr/>
            <p:nvPr/>
          </p:nvSpPr>
          <p:spPr bwMode="gray">
            <a:xfrm flipV="1">
              <a:off x="785059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8" name="Ellipse 1054">
              <a:extLst>
                <a:ext uri="{FF2B5EF4-FFF2-40B4-BE49-F238E27FC236}">
                  <a16:creationId xmlns:a16="http://schemas.microsoft.com/office/drawing/2014/main" id="{969405BE-4152-42B6-B383-4F87381075C8}"/>
                </a:ext>
              </a:extLst>
            </p:cNvPr>
            <p:cNvSpPr/>
            <p:nvPr/>
          </p:nvSpPr>
          <p:spPr bwMode="gray">
            <a:xfrm flipV="1">
              <a:off x="7850594" y="145798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199" name="Ellipse 1055">
              <a:extLst>
                <a:ext uri="{FF2B5EF4-FFF2-40B4-BE49-F238E27FC236}">
                  <a16:creationId xmlns:a16="http://schemas.microsoft.com/office/drawing/2014/main" id="{4E52E276-7016-4303-B28D-819F91591D8E}"/>
                </a:ext>
              </a:extLst>
            </p:cNvPr>
            <p:cNvSpPr/>
            <p:nvPr/>
          </p:nvSpPr>
          <p:spPr bwMode="gray">
            <a:xfrm flipV="1">
              <a:off x="7850594" y="245324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0" name="Ellipse 1056">
              <a:extLst>
                <a:ext uri="{FF2B5EF4-FFF2-40B4-BE49-F238E27FC236}">
                  <a16:creationId xmlns:a16="http://schemas.microsoft.com/office/drawing/2014/main" id="{220BA242-5436-4AD9-89BA-30B77F6EF967}"/>
                </a:ext>
              </a:extLst>
            </p:cNvPr>
            <p:cNvSpPr/>
            <p:nvPr/>
          </p:nvSpPr>
          <p:spPr bwMode="gray">
            <a:xfrm flipV="1">
              <a:off x="7646801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1" name="Ellipse 1057">
              <a:extLst>
                <a:ext uri="{FF2B5EF4-FFF2-40B4-BE49-F238E27FC236}">
                  <a16:creationId xmlns:a16="http://schemas.microsoft.com/office/drawing/2014/main" id="{588DD97A-C25A-41AA-A435-81A8DC7A7EC6}"/>
                </a:ext>
              </a:extLst>
            </p:cNvPr>
            <p:cNvSpPr/>
            <p:nvPr/>
          </p:nvSpPr>
          <p:spPr bwMode="gray">
            <a:xfrm flipV="1">
              <a:off x="7748160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2" name="Ellipse 1058">
              <a:extLst>
                <a:ext uri="{FF2B5EF4-FFF2-40B4-BE49-F238E27FC236}">
                  <a16:creationId xmlns:a16="http://schemas.microsoft.com/office/drawing/2014/main" id="{5997178E-543E-4570-A9A5-828268BF0C47}"/>
                </a:ext>
              </a:extLst>
            </p:cNvPr>
            <p:cNvSpPr/>
            <p:nvPr/>
          </p:nvSpPr>
          <p:spPr bwMode="gray">
            <a:xfrm flipV="1">
              <a:off x="7748160" y="202859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3" name="Ellipse 1059">
              <a:extLst>
                <a:ext uri="{FF2B5EF4-FFF2-40B4-BE49-F238E27FC236}">
                  <a16:creationId xmlns:a16="http://schemas.microsoft.com/office/drawing/2014/main" id="{BDAD3E08-8385-4382-ABB9-C2F8AA145420}"/>
                </a:ext>
              </a:extLst>
            </p:cNvPr>
            <p:cNvSpPr/>
            <p:nvPr/>
          </p:nvSpPr>
          <p:spPr bwMode="gray">
            <a:xfrm flipV="1">
              <a:off x="7549603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4" name="Ellipse 1060">
              <a:extLst>
                <a:ext uri="{FF2B5EF4-FFF2-40B4-BE49-F238E27FC236}">
                  <a16:creationId xmlns:a16="http://schemas.microsoft.com/office/drawing/2014/main" id="{9A531D09-D2DF-4473-97A6-3D424F5001F1}"/>
                </a:ext>
              </a:extLst>
            </p:cNvPr>
            <p:cNvSpPr/>
            <p:nvPr/>
          </p:nvSpPr>
          <p:spPr bwMode="gray">
            <a:xfrm flipV="1">
              <a:off x="7549603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5" name="Ellipse 1061">
              <a:extLst>
                <a:ext uri="{FF2B5EF4-FFF2-40B4-BE49-F238E27FC236}">
                  <a16:creationId xmlns:a16="http://schemas.microsoft.com/office/drawing/2014/main" id="{01449600-622D-449F-B0A2-326C7AB180B0}"/>
                </a:ext>
              </a:extLst>
            </p:cNvPr>
            <p:cNvSpPr/>
            <p:nvPr/>
          </p:nvSpPr>
          <p:spPr bwMode="gray">
            <a:xfrm flipV="1">
              <a:off x="7549603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6" name="Ellipse 1062">
              <a:extLst>
                <a:ext uri="{FF2B5EF4-FFF2-40B4-BE49-F238E27FC236}">
                  <a16:creationId xmlns:a16="http://schemas.microsoft.com/office/drawing/2014/main" id="{244F574D-C6C8-4CF0-94D7-D6F9AE6984D6}"/>
                </a:ext>
              </a:extLst>
            </p:cNvPr>
            <p:cNvSpPr/>
            <p:nvPr/>
          </p:nvSpPr>
          <p:spPr bwMode="gray">
            <a:xfrm flipV="1">
              <a:off x="7441978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7" name="Ellipse 1063">
              <a:extLst>
                <a:ext uri="{FF2B5EF4-FFF2-40B4-BE49-F238E27FC236}">
                  <a16:creationId xmlns:a16="http://schemas.microsoft.com/office/drawing/2014/main" id="{CB9A9B05-79FA-44B3-A70B-BFA078E035C0}"/>
                </a:ext>
              </a:extLst>
            </p:cNvPr>
            <p:cNvSpPr/>
            <p:nvPr/>
          </p:nvSpPr>
          <p:spPr bwMode="gray">
            <a:xfrm flipV="1">
              <a:off x="7441978" y="2347090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8" name="Ellipse 1064">
              <a:extLst>
                <a:ext uri="{FF2B5EF4-FFF2-40B4-BE49-F238E27FC236}">
                  <a16:creationId xmlns:a16="http://schemas.microsoft.com/office/drawing/2014/main" id="{D5CC4999-D919-4BDE-B7D8-4692385875A1}"/>
                </a:ext>
              </a:extLst>
            </p:cNvPr>
            <p:cNvSpPr/>
            <p:nvPr/>
          </p:nvSpPr>
          <p:spPr bwMode="gray">
            <a:xfrm flipV="1">
              <a:off x="7344594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09" name="Ellipse 1065">
              <a:extLst>
                <a:ext uri="{FF2B5EF4-FFF2-40B4-BE49-F238E27FC236}">
                  <a16:creationId xmlns:a16="http://schemas.microsoft.com/office/drawing/2014/main" id="{70F69C07-0A7F-4A01-A2A7-6BB7EBDAFD55}"/>
                </a:ext>
              </a:extLst>
            </p:cNvPr>
            <p:cNvSpPr/>
            <p:nvPr/>
          </p:nvSpPr>
          <p:spPr bwMode="gray">
            <a:xfrm flipV="1">
              <a:off x="7344594" y="192322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10" name="Ellipse 1066">
              <a:extLst>
                <a:ext uri="{FF2B5EF4-FFF2-40B4-BE49-F238E27FC236}">
                  <a16:creationId xmlns:a16="http://schemas.microsoft.com/office/drawing/2014/main" id="{8DFFE184-6C3C-402C-8A9D-A1C0B2EEB8FA}"/>
                </a:ext>
              </a:extLst>
            </p:cNvPr>
            <p:cNvSpPr/>
            <p:nvPr/>
          </p:nvSpPr>
          <p:spPr bwMode="gray">
            <a:xfrm flipV="1">
              <a:off x="7344594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11" name="Ellipse 1067">
              <a:extLst>
                <a:ext uri="{FF2B5EF4-FFF2-40B4-BE49-F238E27FC236}">
                  <a16:creationId xmlns:a16="http://schemas.microsoft.com/office/drawing/2014/main" id="{1C81853C-B6F3-4905-8126-7724F6E77E30}"/>
                </a:ext>
              </a:extLst>
            </p:cNvPr>
            <p:cNvSpPr/>
            <p:nvPr/>
          </p:nvSpPr>
          <p:spPr bwMode="gray">
            <a:xfrm flipV="1">
              <a:off x="7344594" y="160243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12" name="Ellipse 1068">
              <a:extLst>
                <a:ext uri="{FF2B5EF4-FFF2-40B4-BE49-F238E27FC236}">
                  <a16:creationId xmlns:a16="http://schemas.microsoft.com/office/drawing/2014/main" id="{6ADA22FC-ECBC-4EC0-ABD7-71F3F695DD1C}"/>
                </a:ext>
              </a:extLst>
            </p:cNvPr>
            <p:cNvSpPr/>
            <p:nvPr/>
          </p:nvSpPr>
          <p:spPr bwMode="gray">
            <a:xfrm flipV="1">
              <a:off x="7239583" y="2453244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13" name="Ellipse 1069">
              <a:extLst>
                <a:ext uri="{FF2B5EF4-FFF2-40B4-BE49-F238E27FC236}">
                  <a16:creationId xmlns:a16="http://schemas.microsoft.com/office/drawing/2014/main" id="{52A7946A-CD6D-408C-A623-8839A500D7D2}"/>
                </a:ext>
              </a:extLst>
            </p:cNvPr>
            <p:cNvSpPr/>
            <p:nvPr/>
          </p:nvSpPr>
          <p:spPr bwMode="gray">
            <a:xfrm flipV="1">
              <a:off x="7239583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14" name="Ellipse 1070">
              <a:extLst>
                <a:ext uri="{FF2B5EF4-FFF2-40B4-BE49-F238E27FC236}">
                  <a16:creationId xmlns:a16="http://schemas.microsoft.com/office/drawing/2014/main" id="{97C7B08E-B5D8-4644-9A36-6F9080A39E26}"/>
                </a:ext>
              </a:extLst>
            </p:cNvPr>
            <p:cNvSpPr/>
            <p:nvPr/>
          </p:nvSpPr>
          <p:spPr bwMode="gray">
            <a:xfrm flipV="1">
              <a:off x="7239583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15" name="Ellipse 1071">
              <a:extLst>
                <a:ext uri="{FF2B5EF4-FFF2-40B4-BE49-F238E27FC236}">
                  <a16:creationId xmlns:a16="http://schemas.microsoft.com/office/drawing/2014/main" id="{78695192-3E28-4B36-8DC9-A5000D74565C}"/>
                </a:ext>
              </a:extLst>
            </p:cNvPr>
            <p:cNvSpPr/>
            <p:nvPr/>
          </p:nvSpPr>
          <p:spPr bwMode="gray">
            <a:xfrm flipV="1">
              <a:off x="7239583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16" name="Ellipse 1072">
              <a:extLst>
                <a:ext uri="{FF2B5EF4-FFF2-40B4-BE49-F238E27FC236}">
                  <a16:creationId xmlns:a16="http://schemas.microsoft.com/office/drawing/2014/main" id="{917B54A2-3A00-4189-9D69-7A9A1CD5B0D3}"/>
                </a:ext>
              </a:extLst>
            </p:cNvPr>
            <p:cNvSpPr/>
            <p:nvPr/>
          </p:nvSpPr>
          <p:spPr bwMode="gray">
            <a:xfrm flipV="1">
              <a:off x="7136579" y="2347090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17" name="Ellipse 1073">
              <a:extLst>
                <a:ext uri="{FF2B5EF4-FFF2-40B4-BE49-F238E27FC236}">
                  <a16:creationId xmlns:a16="http://schemas.microsoft.com/office/drawing/2014/main" id="{5B63ABF4-30D6-49C1-AD60-731019B45FD5}"/>
                </a:ext>
              </a:extLst>
            </p:cNvPr>
            <p:cNvSpPr/>
            <p:nvPr/>
          </p:nvSpPr>
          <p:spPr bwMode="gray">
            <a:xfrm flipV="1">
              <a:off x="7136579" y="1816026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18" name="Ellipse 1074">
              <a:extLst>
                <a:ext uri="{FF2B5EF4-FFF2-40B4-BE49-F238E27FC236}">
                  <a16:creationId xmlns:a16="http://schemas.microsoft.com/office/drawing/2014/main" id="{4FFAF5D5-4A07-41A3-825B-39F8CB2B14DE}"/>
                </a:ext>
              </a:extLst>
            </p:cNvPr>
            <p:cNvSpPr/>
            <p:nvPr/>
          </p:nvSpPr>
          <p:spPr bwMode="gray">
            <a:xfrm flipV="1">
              <a:off x="7136579" y="1707909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19" name="Ellipse 1075">
              <a:extLst>
                <a:ext uri="{FF2B5EF4-FFF2-40B4-BE49-F238E27FC236}">
                  <a16:creationId xmlns:a16="http://schemas.microsoft.com/office/drawing/2014/main" id="{1A2D1C7B-104E-4409-8CD2-DEFF27133577}"/>
                </a:ext>
              </a:extLst>
            </p:cNvPr>
            <p:cNvSpPr/>
            <p:nvPr/>
          </p:nvSpPr>
          <p:spPr bwMode="gray">
            <a:xfrm flipV="1">
              <a:off x="7033574" y="192322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20" name="Ellipse 1076">
              <a:extLst>
                <a:ext uri="{FF2B5EF4-FFF2-40B4-BE49-F238E27FC236}">
                  <a16:creationId xmlns:a16="http://schemas.microsoft.com/office/drawing/2014/main" id="{1C7C32BD-18F8-4709-A1C9-FB12973B2A7F}"/>
                </a:ext>
              </a:extLst>
            </p:cNvPr>
            <p:cNvSpPr/>
            <p:nvPr/>
          </p:nvSpPr>
          <p:spPr bwMode="gray">
            <a:xfrm flipV="1">
              <a:off x="7033574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21" name="Ellipse 1077">
              <a:extLst>
                <a:ext uri="{FF2B5EF4-FFF2-40B4-BE49-F238E27FC236}">
                  <a16:creationId xmlns:a16="http://schemas.microsoft.com/office/drawing/2014/main" id="{F1B7DEF9-0CFE-4831-9DAB-1CD5B78DBF15}"/>
                </a:ext>
              </a:extLst>
            </p:cNvPr>
            <p:cNvSpPr/>
            <p:nvPr/>
          </p:nvSpPr>
          <p:spPr bwMode="gray">
            <a:xfrm flipV="1">
              <a:off x="7033574" y="2135502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22" name="Ellipse 1078">
              <a:extLst>
                <a:ext uri="{FF2B5EF4-FFF2-40B4-BE49-F238E27FC236}">
                  <a16:creationId xmlns:a16="http://schemas.microsoft.com/office/drawing/2014/main" id="{4C62CD36-96E2-464F-BF2C-8C2658BBC157}"/>
                </a:ext>
              </a:extLst>
            </p:cNvPr>
            <p:cNvSpPr/>
            <p:nvPr/>
          </p:nvSpPr>
          <p:spPr bwMode="gray">
            <a:xfrm flipV="1">
              <a:off x="7033574" y="224145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23" name="Ellipse 1079">
              <a:extLst>
                <a:ext uri="{FF2B5EF4-FFF2-40B4-BE49-F238E27FC236}">
                  <a16:creationId xmlns:a16="http://schemas.microsoft.com/office/drawing/2014/main" id="{AAA83B16-AEF5-4CCC-887D-52FA61E22ADC}"/>
                </a:ext>
              </a:extLst>
            </p:cNvPr>
            <p:cNvSpPr/>
            <p:nvPr/>
          </p:nvSpPr>
          <p:spPr bwMode="gray">
            <a:xfrm flipV="1">
              <a:off x="6932060" y="202859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24" name="Ellipse 1080">
              <a:extLst>
                <a:ext uri="{FF2B5EF4-FFF2-40B4-BE49-F238E27FC236}">
                  <a16:creationId xmlns:a16="http://schemas.microsoft.com/office/drawing/2014/main" id="{7FE2DAD9-1852-4DEE-A45D-87D7063BD620}"/>
                </a:ext>
              </a:extLst>
            </p:cNvPr>
            <p:cNvSpPr/>
            <p:nvPr/>
          </p:nvSpPr>
          <p:spPr bwMode="gray">
            <a:xfrm flipV="1">
              <a:off x="6932060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25" name="Ellipse 1081">
              <a:extLst>
                <a:ext uri="{FF2B5EF4-FFF2-40B4-BE49-F238E27FC236}">
                  <a16:creationId xmlns:a16="http://schemas.microsoft.com/office/drawing/2014/main" id="{9B1634B8-CD00-4874-BEBB-4511C75A4B2F}"/>
                </a:ext>
              </a:extLst>
            </p:cNvPr>
            <p:cNvSpPr/>
            <p:nvPr/>
          </p:nvSpPr>
          <p:spPr bwMode="gray">
            <a:xfrm flipV="1">
              <a:off x="6932060" y="1816026"/>
              <a:ext cx="27320" cy="28546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226" name="Ellipse 1082">
              <a:extLst>
                <a:ext uri="{FF2B5EF4-FFF2-40B4-BE49-F238E27FC236}">
                  <a16:creationId xmlns:a16="http://schemas.microsoft.com/office/drawing/2014/main" id="{246C14B3-EDED-4028-9499-3F6904F58147}"/>
                </a:ext>
              </a:extLst>
            </p:cNvPr>
            <p:cNvSpPr/>
            <p:nvPr/>
          </p:nvSpPr>
          <p:spPr bwMode="gray">
            <a:xfrm flipV="1">
              <a:off x="10483480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27" name="Ellipse 1083">
              <a:extLst>
                <a:ext uri="{FF2B5EF4-FFF2-40B4-BE49-F238E27FC236}">
                  <a16:creationId xmlns:a16="http://schemas.microsoft.com/office/drawing/2014/main" id="{507244B4-E24C-40B9-9568-1386FEFAE21E}"/>
                </a:ext>
              </a:extLst>
            </p:cNvPr>
            <p:cNvSpPr/>
            <p:nvPr/>
          </p:nvSpPr>
          <p:spPr bwMode="gray">
            <a:xfrm flipV="1">
              <a:off x="1048348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28" name="Ellipse 1084">
              <a:extLst>
                <a:ext uri="{FF2B5EF4-FFF2-40B4-BE49-F238E27FC236}">
                  <a16:creationId xmlns:a16="http://schemas.microsoft.com/office/drawing/2014/main" id="{FEFCAF99-D963-4748-AAF5-0023A32069CE}"/>
                </a:ext>
              </a:extLst>
            </p:cNvPr>
            <p:cNvSpPr/>
            <p:nvPr/>
          </p:nvSpPr>
          <p:spPr bwMode="gray">
            <a:xfrm flipV="1">
              <a:off x="10483480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29" name="Ellipse 1085">
              <a:extLst>
                <a:ext uri="{FF2B5EF4-FFF2-40B4-BE49-F238E27FC236}">
                  <a16:creationId xmlns:a16="http://schemas.microsoft.com/office/drawing/2014/main" id="{6212D160-7BB2-4C63-8F66-B1FE7CA59F46}"/>
                </a:ext>
              </a:extLst>
            </p:cNvPr>
            <p:cNvSpPr/>
            <p:nvPr/>
          </p:nvSpPr>
          <p:spPr bwMode="gray">
            <a:xfrm flipV="1">
              <a:off x="10483480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0" name="Ellipse 1086">
              <a:extLst>
                <a:ext uri="{FF2B5EF4-FFF2-40B4-BE49-F238E27FC236}">
                  <a16:creationId xmlns:a16="http://schemas.microsoft.com/office/drawing/2014/main" id="{4A5F8A0C-C62E-4B39-89FB-DA684C0C9999}"/>
                </a:ext>
              </a:extLst>
            </p:cNvPr>
            <p:cNvSpPr/>
            <p:nvPr/>
          </p:nvSpPr>
          <p:spPr bwMode="gray">
            <a:xfrm flipV="1">
              <a:off x="10483480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1" name="Ellipse 1087">
              <a:extLst>
                <a:ext uri="{FF2B5EF4-FFF2-40B4-BE49-F238E27FC236}">
                  <a16:creationId xmlns:a16="http://schemas.microsoft.com/office/drawing/2014/main" id="{0C441DC5-839B-4C1C-8545-B6ACE116405C}"/>
                </a:ext>
              </a:extLst>
            </p:cNvPr>
            <p:cNvSpPr/>
            <p:nvPr/>
          </p:nvSpPr>
          <p:spPr bwMode="gray">
            <a:xfrm flipV="1">
              <a:off x="10483480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2" name="Ellipse 1088">
              <a:extLst>
                <a:ext uri="{FF2B5EF4-FFF2-40B4-BE49-F238E27FC236}">
                  <a16:creationId xmlns:a16="http://schemas.microsoft.com/office/drawing/2014/main" id="{2320A6D2-8015-4017-A865-1FE6FEE87565}"/>
                </a:ext>
              </a:extLst>
            </p:cNvPr>
            <p:cNvSpPr/>
            <p:nvPr/>
          </p:nvSpPr>
          <p:spPr bwMode="gray">
            <a:xfrm flipV="1">
              <a:off x="10379147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3" name="Ellipse 1089">
              <a:extLst>
                <a:ext uri="{FF2B5EF4-FFF2-40B4-BE49-F238E27FC236}">
                  <a16:creationId xmlns:a16="http://schemas.microsoft.com/office/drawing/2014/main" id="{5A9C1815-44B0-4008-947A-878751D72B15}"/>
                </a:ext>
              </a:extLst>
            </p:cNvPr>
            <p:cNvSpPr/>
            <p:nvPr/>
          </p:nvSpPr>
          <p:spPr bwMode="gray">
            <a:xfrm flipV="1">
              <a:off x="10279795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4" name="Ellipse 1090">
              <a:extLst>
                <a:ext uri="{FF2B5EF4-FFF2-40B4-BE49-F238E27FC236}">
                  <a16:creationId xmlns:a16="http://schemas.microsoft.com/office/drawing/2014/main" id="{A282BDC2-0474-4061-AED9-994798F79813}"/>
                </a:ext>
              </a:extLst>
            </p:cNvPr>
            <p:cNvSpPr/>
            <p:nvPr/>
          </p:nvSpPr>
          <p:spPr bwMode="gray">
            <a:xfrm flipV="1">
              <a:off x="10178629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5" name="Ellipse 1091">
              <a:extLst>
                <a:ext uri="{FF2B5EF4-FFF2-40B4-BE49-F238E27FC236}">
                  <a16:creationId xmlns:a16="http://schemas.microsoft.com/office/drawing/2014/main" id="{8D7C8FA9-DFFE-40C3-8768-95C0468B5AE9}"/>
                </a:ext>
              </a:extLst>
            </p:cNvPr>
            <p:cNvSpPr/>
            <p:nvPr/>
          </p:nvSpPr>
          <p:spPr bwMode="gray">
            <a:xfrm flipV="1">
              <a:off x="10286625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6" name="Ellipse 1092">
              <a:extLst>
                <a:ext uri="{FF2B5EF4-FFF2-40B4-BE49-F238E27FC236}">
                  <a16:creationId xmlns:a16="http://schemas.microsoft.com/office/drawing/2014/main" id="{C9F56805-789D-434E-B592-FFBA30A9AB7C}"/>
                </a:ext>
              </a:extLst>
            </p:cNvPr>
            <p:cNvSpPr/>
            <p:nvPr/>
          </p:nvSpPr>
          <p:spPr bwMode="gray">
            <a:xfrm flipV="1">
              <a:off x="10078105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7" name="Ellipse 1093">
              <a:extLst>
                <a:ext uri="{FF2B5EF4-FFF2-40B4-BE49-F238E27FC236}">
                  <a16:creationId xmlns:a16="http://schemas.microsoft.com/office/drawing/2014/main" id="{AF63D25A-B59E-4D2E-A602-B55129ADDC8E}"/>
                </a:ext>
              </a:extLst>
            </p:cNvPr>
            <p:cNvSpPr/>
            <p:nvPr/>
          </p:nvSpPr>
          <p:spPr bwMode="gray">
            <a:xfrm flipV="1">
              <a:off x="10078105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8" name="Ellipse 1094">
              <a:extLst>
                <a:ext uri="{FF2B5EF4-FFF2-40B4-BE49-F238E27FC236}">
                  <a16:creationId xmlns:a16="http://schemas.microsoft.com/office/drawing/2014/main" id="{BAF364FC-6B84-4C71-A614-31D1B09CF13A}"/>
                </a:ext>
              </a:extLst>
            </p:cNvPr>
            <p:cNvSpPr/>
            <p:nvPr/>
          </p:nvSpPr>
          <p:spPr bwMode="gray">
            <a:xfrm flipV="1">
              <a:off x="10078105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39" name="Ellipse 1095">
              <a:extLst>
                <a:ext uri="{FF2B5EF4-FFF2-40B4-BE49-F238E27FC236}">
                  <a16:creationId xmlns:a16="http://schemas.microsoft.com/office/drawing/2014/main" id="{D59969F3-4519-4AC3-B8B2-61991C504BC1}"/>
                </a:ext>
              </a:extLst>
            </p:cNvPr>
            <p:cNvSpPr/>
            <p:nvPr/>
          </p:nvSpPr>
          <p:spPr bwMode="gray">
            <a:xfrm flipV="1">
              <a:off x="10178629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0" name="Ellipse 1096">
              <a:extLst>
                <a:ext uri="{FF2B5EF4-FFF2-40B4-BE49-F238E27FC236}">
                  <a16:creationId xmlns:a16="http://schemas.microsoft.com/office/drawing/2014/main" id="{37678F11-9A0C-4142-BC5F-A971939E63C1}"/>
                </a:ext>
              </a:extLst>
            </p:cNvPr>
            <p:cNvSpPr/>
            <p:nvPr/>
          </p:nvSpPr>
          <p:spPr bwMode="gray">
            <a:xfrm flipV="1">
              <a:off x="10279795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1" name="Ellipse 1097">
              <a:extLst>
                <a:ext uri="{FF2B5EF4-FFF2-40B4-BE49-F238E27FC236}">
                  <a16:creationId xmlns:a16="http://schemas.microsoft.com/office/drawing/2014/main" id="{FD2058A9-5400-4309-8E16-9BC9B39BEB86}"/>
                </a:ext>
              </a:extLst>
            </p:cNvPr>
            <p:cNvSpPr/>
            <p:nvPr/>
          </p:nvSpPr>
          <p:spPr bwMode="gray">
            <a:xfrm flipV="1">
              <a:off x="10379147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2" name="Ellipse 1098">
              <a:extLst>
                <a:ext uri="{FF2B5EF4-FFF2-40B4-BE49-F238E27FC236}">
                  <a16:creationId xmlns:a16="http://schemas.microsoft.com/office/drawing/2014/main" id="{4A99D437-40CB-4774-B1D8-031CF354C22E}"/>
                </a:ext>
              </a:extLst>
            </p:cNvPr>
            <p:cNvSpPr/>
            <p:nvPr/>
          </p:nvSpPr>
          <p:spPr bwMode="gray">
            <a:xfrm flipV="1">
              <a:off x="10379147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3" name="Ellipse 1099">
              <a:extLst>
                <a:ext uri="{FF2B5EF4-FFF2-40B4-BE49-F238E27FC236}">
                  <a16:creationId xmlns:a16="http://schemas.microsoft.com/office/drawing/2014/main" id="{783F424B-022C-41C5-AD54-581B757DBD05}"/>
                </a:ext>
              </a:extLst>
            </p:cNvPr>
            <p:cNvSpPr/>
            <p:nvPr/>
          </p:nvSpPr>
          <p:spPr bwMode="gray">
            <a:xfrm flipV="1">
              <a:off x="10379147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4" name="Ellipse 1100">
              <a:extLst>
                <a:ext uri="{FF2B5EF4-FFF2-40B4-BE49-F238E27FC236}">
                  <a16:creationId xmlns:a16="http://schemas.microsoft.com/office/drawing/2014/main" id="{F72FE0C0-DA04-40FB-9D10-494E892AB8C2}"/>
                </a:ext>
              </a:extLst>
            </p:cNvPr>
            <p:cNvSpPr/>
            <p:nvPr/>
          </p:nvSpPr>
          <p:spPr bwMode="gray">
            <a:xfrm flipV="1">
              <a:off x="10587118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5" name="Ellipse 1101">
              <a:extLst>
                <a:ext uri="{FF2B5EF4-FFF2-40B4-BE49-F238E27FC236}">
                  <a16:creationId xmlns:a16="http://schemas.microsoft.com/office/drawing/2014/main" id="{277BFE0B-9F41-4AAB-B7C3-A55C09AEDBB5}"/>
                </a:ext>
              </a:extLst>
            </p:cNvPr>
            <p:cNvSpPr/>
            <p:nvPr/>
          </p:nvSpPr>
          <p:spPr bwMode="gray">
            <a:xfrm flipV="1">
              <a:off x="1058711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6" name="Ellipse 1102">
              <a:extLst>
                <a:ext uri="{FF2B5EF4-FFF2-40B4-BE49-F238E27FC236}">
                  <a16:creationId xmlns:a16="http://schemas.microsoft.com/office/drawing/2014/main" id="{AAEC2C5E-C400-4DFA-98AD-F5BFF04EBD9B}"/>
                </a:ext>
              </a:extLst>
            </p:cNvPr>
            <p:cNvSpPr/>
            <p:nvPr/>
          </p:nvSpPr>
          <p:spPr bwMode="gray">
            <a:xfrm flipV="1">
              <a:off x="10684303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7" name="Ellipse 1103">
              <a:extLst>
                <a:ext uri="{FF2B5EF4-FFF2-40B4-BE49-F238E27FC236}">
                  <a16:creationId xmlns:a16="http://schemas.microsoft.com/office/drawing/2014/main" id="{549C6151-54CD-40AC-A81F-6224DF415C72}"/>
                </a:ext>
              </a:extLst>
            </p:cNvPr>
            <p:cNvSpPr/>
            <p:nvPr/>
          </p:nvSpPr>
          <p:spPr bwMode="gray">
            <a:xfrm flipV="1">
              <a:off x="10787307" y="202146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8" name="Ellipse 1104">
              <a:extLst>
                <a:ext uri="{FF2B5EF4-FFF2-40B4-BE49-F238E27FC236}">
                  <a16:creationId xmlns:a16="http://schemas.microsoft.com/office/drawing/2014/main" id="{5DED6619-A1B3-4C57-A8E8-3D68A525B46A}"/>
                </a:ext>
              </a:extLst>
            </p:cNvPr>
            <p:cNvSpPr/>
            <p:nvPr/>
          </p:nvSpPr>
          <p:spPr bwMode="gray">
            <a:xfrm flipV="1">
              <a:off x="10794137" y="213550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49" name="Ellipse 1105">
              <a:extLst>
                <a:ext uri="{FF2B5EF4-FFF2-40B4-BE49-F238E27FC236}">
                  <a16:creationId xmlns:a16="http://schemas.microsoft.com/office/drawing/2014/main" id="{2236A409-744A-40D3-ACF2-F309BCF93868}"/>
                </a:ext>
              </a:extLst>
            </p:cNvPr>
            <p:cNvSpPr/>
            <p:nvPr/>
          </p:nvSpPr>
          <p:spPr bwMode="gray">
            <a:xfrm flipV="1">
              <a:off x="10587118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0" name="Ellipse 1106">
              <a:extLst>
                <a:ext uri="{FF2B5EF4-FFF2-40B4-BE49-F238E27FC236}">
                  <a16:creationId xmlns:a16="http://schemas.microsoft.com/office/drawing/2014/main" id="{43E3B0E2-4D34-4FC4-98EB-4304FAFE225B}"/>
                </a:ext>
              </a:extLst>
            </p:cNvPr>
            <p:cNvSpPr/>
            <p:nvPr/>
          </p:nvSpPr>
          <p:spPr bwMode="gray">
            <a:xfrm flipV="1">
              <a:off x="10279795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1" name="Ellipse 1107">
              <a:extLst>
                <a:ext uri="{FF2B5EF4-FFF2-40B4-BE49-F238E27FC236}">
                  <a16:creationId xmlns:a16="http://schemas.microsoft.com/office/drawing/2014/main" id="{4FE4D437-080D-4106-B45A-8D062E3CECDB}"/>
                </a:ext>
              </a:extLst>
            </p:cNvPr>
            <p:cNvSpPr/>
            <p:nvPr/>
          </p:nvSpPr>
          <p:spPr bwMode="gray">
            <a:xfrm flipV="1">
              <a:off x="1027979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2" name="Ellipse 1108">
              <a:extLst>
                <a:ext uri="{FF2B5EF4-FFF2-40B4-BE49-F238E27FC236}">
                  <a16:creationId xmlns:a16="http://schemas.microsoft.com/office/drawing/2014/main" id="{D7B7D7EB-6FE7-4938-BFD2-E491C3FF2745}"/>
                </a:ext>
              </a:extLst>
            </p:cNvPr>
            <p:cNvSpPr/>
            <p:nvPr/>
          </p:nvSpPr>
          <p:spPr bwMode="gray">
            <a:xfrm flipV="1">
              <a:off x="1007810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3" name="Ellipse 1109">
              <a:extLst>
                <a:ext uri="{FF2B5EF4-FFF2-40B4-BE49-F238E27FC236}">
                  <a16:creationId xmlns:a16="http://schemas.microsoft.com/office/drawing/2014/main" id="{7541CBE3-8196-4ED6-A6E8-519801A9E681}"/>
                </a:ext>
              </a:extLst>
            </p:cNvPr>
            <p:cNvSpPr/>
            <p:nvPr/>
          </p:nvSpPr>
          <p:spPr bwMode="gray">
            <a:xfrm flipV="1">
              <a:off x="10178629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4" name="Ellipse 1110">
              <a:extLst>
                <a:ext uri="{FF2B5EF4-FFF2-40B4-BE49-F238E27FC236}">
                  <a16:creationId xmlns:a16="http://schemas.microsoft.com/office/drawing/2014/main" id="{6697D462-A137-455D-B82D-E25034C55EAD}"/>
                </a:ext>
              </a:extLst>
            </p:cNvPr>
            <p:cNvSpPr/>
            <p:nvPr/>
          </p:nvSpPr>
          <p:spPr bwMode="gray">
            <a:xfrm flipV="1">
              <a:off x="10178629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5" name="Ellipse 1111">
              <a:extLst>
                <a:ext uri="{FF2B5EF4-FFF2-40B4-BE49-F238E27FC236}">
                  <a16:creationId xmlns:a16="http://schemas.microsoft.com/office/drawing/2014/main" id="{0E4A1A5C-AF25-4F9A-B742-AA260235B5B2}"/>
                </a:ext>
              </a:extLst>
            </p:cNvPr>
            <p:cNvSpPr/>
            <p:nvPr/>
          </p:nvSpPr>
          <p:spPr bwMode="gray">
            <a:xfrm flipV="1">
              <a:off x="10084935" y="1602439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6" name="Ellipse 1112">
              <a:extLst>
                <a:ext uri="{FF2B5EF4-FFF2-40B4-BE49-F238E27FC236}">
                  <a16:creationId xmlns:a16="http://schemas.microsoft.com/office/drawing/2014/main" id="{CD140688-788A-48F8-96A2-D7D59C50206B}"/>
                </a:ext>
              </a:extLst>
            </p:cNvPr>
            <p:cNvSpPr/>
            <p:nvPr/>
          </p:nvSpPr>
          <p:spPr bwMode="gray">
            <a:xfrm flipV="1">
              <a:off x="9972385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7" name="Ellipse 1113">
              <a:extLst>
                <a:ext uri="{FF2B5EF4-FFF2-40B4-BE49-F238E27FC236}">
                  <a16:creationId xmlns:a16="http://schemas.microsoft.com/office/drawing/2014/main" id="{207D9B8F-EECC-4366-9592-EA97616B2AEA}"/>
                </a:ext>
              </a:extLst>
            </p:cNvPr>
            <p:cNvSpPr/>
            <p:nvPr/>
          </p:nvSpPr>
          <p:spPr bwMode="gray">
            <a:xfrm flipV="1">
              <a:off x="9972385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8" name="Ellipse 1114">
              <a:extLst>
                <a:ext uri="{FF2B5EF4-FFF2-40B4-BE49-F238E27FC236}">
                  <a16:creationId xmlns:a16="http://schemas.microsoft.com/office/drawing/2014/main" id="{9375686B-8655-457C-9370-147E46610D84}"/>
                </a:ext>
              </a:extLst>
            </p:cNvPr>
            <p:cNvSpPr/>
            <p:nvPr/>
          </p:nvSpPr>
          <p:spPr bwMode="gray">
            <a:xfrm flipV="1">
              <a:off x="9972385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59" name="Ellipse 1115">
              <a:extLst>
                <a:ext uri="{FF2B5EF4-FFF2-40B4-BE49-F238E27FC236}">
                  <a16:creationId xmlns:a16="http://schemas.microsoft.com/office/drawing/2014/main" id="{F500CFC5-873B-44EE-A2E1-B9D99763DCDA}"/>
                </a:ext>
              </a:extLst>
            </p:cNvPr>
            <p:cNvSpPr/>
            <p:nvPr/>
          </p:nvSpPr>
          <p:spPr bwMode="gray">
            <a:xfrm flipV="1">
              <a:off x="9972385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0" name="Ellipse 1116">
              <a:extLst>
                <a:ext uri="{FF2B5EF4-FFF2-40B4-BE49-F238E27FC236}">
                  <a16:creationId xmlns:a16="http://schemas.microsoft.com/office/drawing/2014/main" id="{2D623DC3-1F91-46ED-9241-D339E822E0E1}"/>
                </a:ext>
              </a:extLst>
            </p:cNvPr>
            <p:cNvSpPr/>
            <p:nvPr/>
          </p:nvSpPr>
          <p:spPr bwMode="gray">
            <a:xfrm flipV="1">
              <a:off x="9972385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1" name="Ellipse 1117">
              <a:extLst>
                <a:ext uri="{FF2B5EF4-FFF2-40B4-BE49-F238E27FC236}">
                  <a16:creationId xmlns:a16="http://schemas.microsoft.com/office/drawing/2014/main" id="{083DBF53-52BC-42E6-9FCC-4435666C866D}"/>
                </a:ext>
              </a:extLst>
            </p:cNvPr>
            <p:cNvSpPr/>
            <p:nvPr/>
          </p:nvSpPr>
          <p:spPr bwMode="gray">
            <a:xfrm flipV="1">
              <a:off x="10078105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2" name="Ellipse 1118">
              <a:extLst>
                <a:ext uri="{FF2B5EF4-FFF2-40B4-BE49-F238E27FC236}">
                  <a16:creationId xmlns:a16="http://schemas.microsoft.com/office/drawing/2014/main" id="{1C1C6A9D-2C99-4021-8C8C-5CD498E26859}"/>
                </a:ext>
              </a:extLst>
            </p:cNvPr>
            <p:cNvSpPr/>
            <p:nvPr/>
          </p:nvSpPr>
          <p:spPr bwMode="gray">
            <a:xfrm flipV="1">
              <a:off x="10279795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3" name="Ellipse 1119">
              <a:extLst>
                <a:ext uri="{FF2B5EF4-FFF2-40B4-BE49-F238E27FC236}">
                  <a16:creationId xmlns:a16="http://schemas.microsoft.com/office/drawing/2014/main" id="{E66C1615-D52F-464B-9322-D089092CE39C}"/>
                </a:ext>
              </a:extLst>
            </p:cNvPr>
            <p:cNvSpPr/>
            <p:nvPr/>
          </p:nvSpPr>
          <p:spPr bwMode="gray">
            <a:xfrm flipV="1">
              <a:off x="9876974" y="25506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4" name="Ellipse 1120">
              <a:extLst>
                <a:ext uri="{FF2B5EF4-FFF2-40B4-BE49-F238E27FC236}">
                  <a16:creationId xmlns:a16="http://schemas.microsoft.com/office/drawing/2014/main" id="{59F9AA21-243F-49B2-965A-62C0FA900110}"/>
                </a:ext>
              </a:extLst>
            </p:cNvPr>
            <p:cNvSpPr/>
            <p:nvPr/>
          </p:nvSpPr>
          <p:spPr bwMode="gray">
            <a:xfrm flipV="1">
              <a:off x="987697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5" name="Ellipse 1121">
              <a:extLst>
                <a:ext uri="{FF2B5EF4-FFF2-40B4-BE49-F238E27FC236}">
                  <a16:creationId xmlns:a16="http://schemas.microsoft.com/office/drawing/2014/main" id="{D6D49605-68E2-438D-B4C3-7BB0D84E61F1}"/>
                </a:ext>
              </a:extLst>
            </p:cNvPr>
            <p:cNvSpPr/>
            <p:nvPr/>
          </p:nvSpPr>
          <p:spPr bwMode="gray">
            <a:xfrm flipV="1">
              <a:off x="9876974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6" name="Ellipse 1122">
              <a:extLst>
                <a:ext uri="{FF2B5EF4-FFF2-40B4-BE49-F238E27FC236}">
                  <a16:creationId xmlns:a16="http://schemas.microsoft.com/office/drawing/2014/main" id="{C18910B5-F8EC-4923-9037-80D15CC8B6A0}"/>
                </a:ext>
              </a:extLst>
            </p:cNvPr>
            <p:cNvSpPr/>
            <p:nvPr/>
          </p:nvSpPr>
          <p:spPr bwMode="gray">
            <a:xfrm flipV="1">
              <a:off x="987697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7" name="Ellipse 1123">
              <a:extLst>
                <a:ext uri="{FF2B5EF4-FFF2-40B4-BE49-F238E27FC236}">
                  <a16:creationId xmlns:a16="http://schemas.microsoft.com/office/drawing/2014/main" id="{29CE7E91-FF24-4578-9964-DD962D030FEF}"/>
                </a:ext>
              </a:extLst>
            </p:cNvPr>
            <p:cNvSpPr/>
            <p:nvPr/>
          </p:nvSpPr>
          <p:spPr bwMode="gray">
            <a:xfrm flipV="1">
              <a:off x="9876974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8" name="Ellipse 1124">
              <a:extLst>
                <a:ext uri="{FF2B5EF4-FFF2-40B4-BE49-F238E27FC236}">
                  <a16:creationId xmlns:a16="http://schemas.microsoft.com/office/drawing/2014/main" id="{78B812AD-1221-4056-8279-0E86903C2FBD}"/>
                </a:ext>
              </a:extLst>
            </p:cNvPr>
            <p:cNvSpPr/>
            <p:nvPr/>
          </p:nvSpPr>
          <p:spPr bwMode="gray">
            <a:xfrm flipV="1">
              <a:off x="9876974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69" name="Ellipse 1125">
              <a:extLst>
                <a:ext uri="{FF2B5EF4-FFF2-40B4-BE49-F238E27FC236}">
                  <a16:creationId xmlns:a16="http://schemas.microsoft.com/office/drawing/2014/main" id="{D9D9498C-2D9C-4BA6-A6EB-D352340359E3}"/>
                </a:ext>
              </a:extLst>
            </p:cNvPr>
            <p:cNvSpPr/>
            <p:nvPr/>
          </p:nvSpPr>
          <p:spPr bwMode="gray">
            <a:xfrm flipV="1">
              <a:off x="987697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0" name="Ellipse 1126">
              <a:extLst>
                <a:ext uri="{FF2B5EF4-FFF2-40B4-BE49-F238E27FC236}">
                  <a16:creationId xmlns:a16="http://schemas.microsoft.com/office/drawing/2014/main" id="{AC5B528C-7130-4754-8E4E-DA7BCCA6DB1C}"/>
                </a:ext>
              </a:extLst>
            </p:cNvPr>
            <p:cNvSpPr/>
            <p:nvPr/>
          </p:nvSpPr>
          <p:spPr bwMode="gray">
            <a:xfrm flipV="1">
              <a:off x="9876974" y="1488599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1" name="Ellipse 1127">
              <a:extLst>
                <a:ext uri="{FF2B5EF4-FFF2-40B4-BE49-F238E27FC236}">
                  <a16:creationId xmlns:a16="http://schemas.microsoft.com/office/drawing/2014/main" id="{4E3AA4CF-3E91-430E-AAD7-0A5941F5FB5E}"/>
                </a:ext>
              </a:extLst>
            </p:cNvPr>
            <p:cNvSpPr/>
            <p:nvPr/>
          </p:nvSpPr>
          <p:spPr bwMode="gray">
            <a:xfrm flipV="1">
              <a:off x="9771920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2" name="Ellipse 1128">
              <a:extLst>
                <a:ext uri="{FF2B5EF4-FFF2-40B4-BE49-F238E27FC236}">
                  <a16:creationId xmlns:a16="http://schemas.microsoft.com/office/drawing/2014/main" id="{2C0C26F2-6DFA-4CCE-AC05-2F5D946F7A3E}"/>
                </a:ext>
              </a:extLst>
            </p:cNvPr>
            <p:cNvSpPr/>
            <p:nvPr/>
          </p:nvSpPr>
          <p:spPr bwMode="gray">
            <a:xfrm flipV="1">
              <a:off x="977192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3" name="Ellipse 1129">
              <a:extLst>
                <a:ext uri="{FF2B5EF4-FFF2-40B4-BE49-F238E27FC236}">
                  <a16:creationId xmlns:a16="http://schemas.microsoft.com/office/drawing/2014/main" id="{94D41331-0F77-4F7B-BF0D-B84C1F22D25D}"/>
                </a:ext>
              </a:extLst>
            </p:cNvPr>
            <p:cNvSpPr/>
            <p:nvPr/>
          </p:nvSpPr>
          <p:spPr bwMode="gray">
            <a:xfrm flipV="1">
              <a:off x="977192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4" name="Ellipse 1130">
              <a:extLst>
                <a:ext uri="{FF2B5EF4-FFF2-40B4-BE49-F238E27FC236}">
                  <a16:creationId xmlns:a16="http://schemas.microsoft.com/office/drawing/2014/main" id="{485B8B0B-6B7D-4ECF-A3FD-F6E9EEEB3B97}"/>
                </a:ext>
              </a:extLst>
            </p:cNvPr>
            <p:cNvSpPr/>
            <p:nvPr/>
          </p:nvSpPr>
          <p:spPr bwMode="gray">
            <a:xfrm flipV="1">
              <a:off x="9670168" y="25506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5" name="Ellipse 1131">
              <a:extLst>
                <a:ext uri="{FF2B5EF4-FFF2-40B4-BE49-F238E27FC236}">
                  <a16:creationId xmlns:a16="http://schemas.microsoft.com/office/drawing/2014/main" id="{2A55DB59-FD35-44EB-8F9C-1D698615D15D}"/>
                </a:ext>
              </a:extLst>
            </p:cNvPr>
            <p:cNvSpPr/>
            <p:nvPr/>
          </p:nvSpPr>
          <p:spPr bwMode="gray">
            <a:xfrm flipV="1">
              <a:off x="9568076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6" name="Ellipse 1132">
              <a:extLst>
                <a:ext uri="{FF2B5EF4-FFF2-40B4-BE49-F238E27FC236}">
                  <a16:creationId xmlns:a16="http://schemas.microsoft.com/office/drawing/2014/main" id="{8732F888-4F56-4927-99FE-62E4F94D29C0}"/>
                </a:ext>
              </a:extLst>
            </p:cNvPr>
            <p:cNvSpPr/>
            <p:nvPr/>
          </p:nvSpPr>
          <p:spPr bwMode="gray">
            <a:xfrm flipV="1">
              <a:off x="9670168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7" name="Ellipse 1133">
              <a:extLst>
                <a:ext uri="{FF2B5EF4-FFF2-40B4-BE49-F238E27FC236}">
                  <a16:creationId xmlns:a16="http://schemas.microsoft.com/office/drawing/2014/main" id="{3230F781-3132-4189-A5FD-741B59D106B6}"/>
                </a:ext>
              </a:extLst>
            </p:cNvPr>
            <p:cNvSpPr/>
            <p:nvPr/>
          </p:nvSpPr>
          <p:spPr bwMode="gray">
            <a:xfrm flipV="1">
              <a:off x="9670168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8" name="Ellipse 1134">
              <a:extLst>
                <a:ext uri="{FF2B5EF4-FFF2-40B4-BE49-F238E27FC236}">
                  <a16:creationId xmlns:a16="http://schemas.microsoft.com/office/drawing/2014/main" id="{914DFE5B-BA10-4AF4-A680-7C7EE61AEE7A}"/>
                </a:ext>
              </a:extLst>
            </p:cNvPr>
            <p:cNvSpPr/>
            <p:nvPr/>
          </p:nvSpPr>
          <p:spPr bwMode="gray">
            <a:xfrm flipV="1">
              <a:off x="9670168" y="1808890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79" name="Ellipse 1135">
              <a:extLst>
                <a:ext uri="{FF2B5EF4-FFF2-40B4-BE49-F238E27FC236}">
                  <a16:creationId xmlns:a16="http://schemas.microsoft.com/office/drawing/2014/main" id="{93467F0A-A85C-4AD4-99C8-972624D5C353}"/>
                </a:ext>
              </a:extLst>
            </p:cNvPr>
            <p:cNvSpPr/>
            <p:nvPr/>
          </p:nvSpPr>
          <p:spPr bwMode="gray">
            <a:xfrm flipV="1">
              <a:off x="967016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84" name="Ellipse 1136">
              <a:extLst>
                <a:ext uri="{FF2B5EF4-FFF2-40B4-BE49-F238E27FC236}">
                  <a16:creationId xmlns:a16="http://schemas.microsoft.com/office/drawing/2014/main" id="{1888FEB8-CB6B-4874-A04D-F1BEA33789CE}"/>
                </a:ext>
              </a:extLst>
            </p:cNvPr>
            <p:cNvSpPr/>
            <p:nvPr/>
          </p:nvSpPr>
          <p:spPr bwMode="gray">
            <a:xfrm flipV="1">
              <a:off x="9568076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85" name="Ellipse 1137">
              <a:extLst>
                <a:ext uri="{FF2B5EF4-FFF2-40B4-BE49-F238E27FC236}">
                  <a16:creationId xmlns:a16="http://schemas.microsoft.com/office/drawing/2014/main" id="{006539B7-8281-46AB-83B1-7CAB2EDE0316}"/>
                </a:ext>
              </a:extLst>
            </p:cNvPr>
            <p:cNvSpPr/>
            <p:nvPr/>
          </p:nvSpPr>
          <p:spPr bwMode="gray">
            <a:xfrm flipV="1">
              <a:off x="9568076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86" name="Ellipse 1138">
              <a:extLst>
                <a:ext uri="{FF2B5EF4-FFF2-40B4-BE49-F238E27FC236}">
                  <a16:creationId xmlns:a16="http://schemas.microsoft.com/office/drawing/2014/main" id="{E7B73FB2-5588-4B4F-BC5B-CB88E6481729}"/>
                </a:ext>
              </a:extLst>
            </p:cNvPr>
            <p:cNvSpPr/>
            <p:nvPr/>
          </p:nvSpPr>
          <p:spPr bwMode="gray">
            <a:xfrm flipV="1">
              <a:off x="9568076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87" name="Ellipse 1139">
              <a:extLst>
                <a:ext uri="{FF2B5EF4-FFF2-40B4-BE49-F238E27FC236}">
                  <a16:creationId xmlns:a16="http://schemas.microsoft.com/office/drawing/2014/main" id="{8F3350F0-90A9-47F0-8999-F84B01B0BB60}"/>
                </a:ext>
              </a:extLst>
            </p:cNvPr>
            <p:cNvSpPr/>
            <p:nvPr/>
          </p:nvSpPr>
          <p:spPr bwMode="gray">
            <a:xfrm flipV="1">
              <a:off x="9568076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88" name="Ellipse 1140">
              <a:extLst>
                <a:ext uri="{FF2B5EF4-FFF2-40B4-BE49-F238E27FC236}">
                  <a16:creationId xmlns:a16="http://schemas.microsoft.com/office/drawing/2014/main" id="{3F89181A-3D0F-47A7-BA50-F4087D0C19F3}"/>
                </a:ext>
              </a:extLst>
            </p:cNvPr>
            <p:cNvSpPr/>
            <p:nvPr/>
          </p:nvSpPr>
          <p:spPr bwMode="gray">
            <a:xfrm flipV="1">
              <a:off x="9568076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89" name="Ellipse 1141">
              <a:extLst>
                <a:ext uri="{FF2B5EF4-FFF2-40B4-BE49-F238E27FC236}">
                  <a16:creationId xmlns:a16="http://schemas.microsoft.com/office/drawing/2014/main" id="{A80F88D4-F283-4208-9842-2551BF2AEC25}"/>
                </a:ext>
              </a:extLst>
            </p:cNvPr>
            <p:cNvSpPr/>
            <p:nvPr/>
          </p:nvSpPr>
          <p:spPr bwMode="gray">
            <a:xfrm flipV="1">
              <a:off x="936512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0" name="Ellipse 1142">
              <a:extLst>
                <a:ext uri="{FF2B5EF4-FFF2-40B4-BE49-F238E27FC236}">
                  <a16:creationId xmlns:a16="http://schemas.microsoft.com/office/drawing/2014/main" id="{EE37170A-B577-4E08-B157-F22BEC89D63D}"/>
                </a:ext>
              </a:extLst>
            </p:cNvPr>
            <p:cNvSpPr/>
            <p:nvPr/>
          </p:nvSpPr>
          <p:spPr bwMode="gray">
            <a:xfrm flipV="1">
              <a:off x="936512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1" name="Ellipse 1143">
              <a:extLst>
                <a:ext uri="{FF2B5EF4-FFF2-40B4-BE49-F238E27FC236}">
                  <a16:creationId xmlns:a16="http://schemas.microsoft.com/office/drawing/2014/main" id="{130F5EFE-27D1-4C5E-AE23-9B1C70832664}"/>
                </a:ext>
              </a:extLst>
            </p:cNvPr>
            <p:cNvSpPr/>
            <p:nvPr/>
          </p:nvSpPr>
          <p:spPr bwMode="gray">
            <a:xfrm flipV="1">
              <a:off x="906148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2" name="Ellipse 1144">
              <a:extLst>
                <a:ext uri="{FF2B5EF4-FFF2-40B4-BE49-F238E27FC236}">
                  <a16:creationId xmlns:a16="http://schemas.microsoft.com/office/drawing/2014/main" id="{EAA4747F-95CB-47DB-A7F0-8C769AD5AF89}"/>
                </a:ext>
              </a:extLst>
            </p:cNvPr>
            <p:cNvSpPr/>
            <p:nvPr/>
          </p:nvSpPr>
          <p:spPr bwMode="gray">
            <a:xfrm flipV="1">
              <a:off x="9162701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3" name="Ellipse 1145">
              <a:extLst>
                <a:ext uri="{FF2B5EF4-FFF2-40B4-BE49-F238E27FC236}">
                  <a16:creationId xmlns:a16="http://schemas.microsoft.com/office/drawing/2014/main" id="{A7AC5F52-20E1-4DA3-80BA-E34A6D24761D}"/>
                </a:ext>
              </a:extLst>
            </p:cNvPr>
            <p:cNvSpPr/>
            <p:nvPr/>
          </p:nvSpPr>
          <p:spPr bwMode="gray">
            <a:xfrm flipV="1">
              <a:off x="8960337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4" name="Ellipse 1146">
              <a:extLst>
                <a:ext uri="{FF2B5EF4-FFF2-40B4-BE49-F238E27FC236}">
                  <a16:creationId xmlns:a16="http://schemas.microsoft.com/office/drawing/2014/main" id="{55987980-0CA7-47EE-864F-D499D07C22ED}"/>
                </a:ext>
              </a:extLst>
            </p:cNvPr>
            <p:cNvSpPr/>
            <p:nvPr/>
          </p:nvSpPr>
          <p:spPr bwMode="gray">
            <a:xfrm flipV="1">
              <a:off x="885896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5" name="Ellipse 1147">
              <a:extLst>
                <a:ext uri="{FF2B5EF4-FFF2-40B4-BE49-F238E27FC236}">
                  <a16:creationId xmlns:a16="http://schemas.microsoft.com/office/drawing/2014/main" id="{48B70C70-D0CA-4ACF-B226-CEDC9F5E3556}"/>
                </a:ext>
              </a:extLst>
            </p:cNvPr>
            <p:cNvSpPr/>
            <p:nvPr/>
          </p:nvSpPr>
          <p:spPr bwMode="gray">
            <a:xfrm flipV="1">
              <a:off x="855358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6" name="Ellipse 1148">
              <a:extLst>
                <a:ext uri="{FF2B5EF4-FFF2-40B4-BE49-F238E27FC236}">
                  <a16:creationId xmlns:a16="http://schemas.microsoft.com/office/drawing/2014/main" id="{AF6D9BB8-57F2-4E6B-B474-870442A759CC}"/>
                </a:ext>
              </a:extLst>
            </p:cNvPr>
            <p:cNvSpPr/>
            <p:nvPr/>
          </p:nvSpPr>
          <p:spPr bwMode="gray">
            <a:xfrm flipV="1">
              <a:off x="8553584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7" name="Ellipse 1149">
              <a:extLst>
                <a:ext uri="{FF2B5EF4-FFF2-40B4-BE49-F238E27FC236}">
                  <a16:creationId xmlns:a16="http://schemas.microsoft.com/office/drawing/2014/main" id="{9A9E6DD2-F1BA-4FA0-8ED9-E15F4B3C990F}"/>
                </a:ext>
              </a:extLst>
            </p:cNvPr>
            <p:cNvSpPr/>
            <p:nvPr/>
          </p:nvSpPr>
          <p:spPr bwMode="gray">
            <a:xfrm flipV="1">
              <a:off x="8553584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8" name="Ellipse 1150">
              <a:extLst>
                <a:ext uri="{FF2B5EF4-FFF2-40B4-BE49-F238E27FC236}">
                  <a16:creationId xmlns:a16="http://schemas.microsoft.com/office/drawing/2014/main" id="{92BED904-A5ED-4723-9B82-4BB3F2EF3FCA}"/>
                </a:ext>
              </a:extLst>
            </p:cNvPr>
            <p:cNvSpPr/>
            <p:nvPr/>
          </p:nvSpPr>
          <p:spPr bwMode="gray">
            <a:xfrm flipV="1">
              <a:off x="8659406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299" name="Ellipse 1151">
              <a:extLst>
                <a:ext uri="{FF2B5EF4-FFF2-40B4-BE49-F238E27FC236}">
                  <a16:creationId xmlns:a16="http://schemas.microsoft.com/office/drawing/2014/main" id="{29993A7A-1E5B-4816-A693-7EE80964E674}"/>
                </a:ext>
              </a:extLst>
            </p:cNvPr>
            <p:cNvSpPr/>
            <p:nvPr/>
          </p:nvSpPr>
          <p:spPr bwMode="gray">
            <a:xfrm flipV="1">
              <a:off x="8451989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0" name="Ellipse 1152">
              <a:extLst>
                <a:ext uri="{FF2B5EF4-FFF2-40B4-BE49-F238E27FC236}">
                  <a16:creationId xmlns:a16="http://schemas.microsoft.com/office/drawing/2014/main" id="{4BC0818B-2E09-4F70-B2DB-2FDD45F17729}"/>
                </a:ext>
              </a:extLst>
            </p:cNvPr>
            <p:cNvSpPr/>
            <p:nvPr/>
          </p:nvSpPr>
          <p:spPr bwMode="gray">
            <a:xfrm flipV="1">
              <a:off x="8451989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1" name="Ellipse 1153">
              <a:extLst>
                <a:ext uri="{FF2B5EF4-FFF2-40B4-BE49-F238E27FC236}">
                  <a16:creationId xmlns:a16="http://schemas.microsoft.com/office/drawing/2014/main" id="{DF785E61-B9B9-489A-B687-414E396A8BC9}"/>
                </a:ext>
              </a:extLst>
            </p:cNvPr>
            <p:cNvSpPr/>
            <p:nvPr/>
          </p:nvSpPr>
          <p:spPr bwMode="gray">
            <a:xfrm flipV="1">
              <a:off x="834835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2" name="Ellipse 1154">
              <a:extLst>
                <a:ext uri="{FF2B5EF4-FFF2-40B4-BE49-F238E27FC236}">
                  <a16:creationId xmlns:a16="http://schemas.microsoft.com/office/drawing/2014/main" id="{5C040338-281C-4C41-95AD-7A90B76584BE}"/>
                </a:ext>
              </a:extLst>
            </p:cNvPr>
            <p:cNvSpPr/>
            <p:nvPr/>
          </p:nvSpPr>
          <p:spPr bwMode="gray">
            <a:xfrm flipV="1">
              <a:off x="8250768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3" name="Ellipse 1155">
              <a:extLst>
                <a:ext uri="{FF2B5EF4-FFF2-40B4-BE49-F238E27FC236}">
                  <a16:creationId xmlns:a16="http://schemas.microsoft.com/office/drawing/2014/main" id="{5F9E3FD6-0872-4B8E-89C7-196A2E23B467}"/>
                </a:ext>
              </a:extLst>
            </p:cNvPr>
            <p:cNvSpPr/>
            <p:nvPr/>
          </p:nvSpPr>
          <p:spPr bwMode="gray">
            <a:xfrm flipV="1">
              <a:off x="825076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4" name="Ellipse 1156">
              <a:extLst>
                <a:ext uri="{FF2B5EF4-FFF2-40B4-BE49-F238E27FC236}">
                  <a16:creationId xmlns:a16="http://schemas.microsoft.com/office/drawing/2014/main" id="{AF6EB7AF-B9BE-4A4F-AFAC-42C669B5E938}"/>
                </a:ext>
              </a:extLst>
            </p:cNvPr>
            <p:cNvSpPr/>
            <p:nvPr/>
          </p:nvSpPr>
          <p:spPr bwMode="gray">
            <a:xfrm flipV="1">
              <a:off x="8250768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5" name="Ellipse 1157">
              <a:extLst>
                <a:ext uri="{FF2B5EF4-FFF2-40B4-BE49-F238E27FC236}">
                  <a16:creationId xmlns:a16="http://schemas.microsoft.com/office/drawing/2014/main" id="{0E44841B-F9CB-4262-AD22-0FBF733443CB}"/>
                </a:ext>
              </a:extLst>
            </p:cNvPr>
            <p:cNvSpPr/>
            <p:nvPr/>
          </p:nvSpPr>
          <p:spPr bwMode="gray">
            <a:xfrm flipV="1">
              <a:off x="814957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6" name="Ellipse 1158">
              <a:extLst>
                <a:ext uri="{FF2B5EF4-FFF2-40B4-BE49-F238E27FC236}">
                  <a16:creationId xmlns:a16="http://schemas.microsoft.com/office/drawing/2014/main" id="{A2F0FCD6-634C-4CE2-9765-7D6222515F66}"/>
                </a:ext>
              </a:extLst>
            </p:cNvPr>
            <p:cNvSpPr/>
            <p:nvPr/>
          </p:nvSpPr>
          <p:spPr bwMode="gray">
            <a:xfrm flipV="1">
              <a:off x="8149570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7" name="Ellipse 1159">
              <a:extLst>
                <a:ext uri="{FF2B5EF4-FFF2-40B4-BE49-F238E27FC236}">
                  <a16:creationId xmlns:a16="http://schemas.microsoft.com/office/drawing/2014/main" id="{9A97A63D-75D4-43A1-B6AD-185149DA8ABB}"/>
                </a:ext>
              </a:extLst>
            </p:cNvPr>
            <p:cNvSpPr/>
            <p:nvPr/>
          </p:nvSpPr>
          <p:spPr bwMode="gray">
            <a:xfrm flipV="1">
              <a:off x="8149570" y="25506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8" name="Ellipse 1160">
              <a:extLst>
                <a:ext uri="{FF2B5EF4-FFF2-40B4-BE49-F238E27FC236}">
                  <a16:creationId xmlns:a16="http://schemas.microsoft.com/office/drawing/2014/main" id="{80BE9FD3-855F-46EC-8225-4DE033791893}"/>
                </a:ext>
              </a:extLst>
            </p:cNvPr>
            <p:cNvSpPr/>
            <p:nvPr/>
          </p:nvSpPr>
          <p:spPr bwMode="gray">
            <a:xfrm flipV="1">
              <a:off x="814957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09" name="Ellipse 1161">
              <a:extLst>
                <a:ext uri="{FF2B5EF4-FFF2-40B4-BE49-F238E27FC236}">
                  <a16:creationId xmlns:a16="http://schemas.microsoft.com/office/drawing/2014/main" id="{2DD1A840-1455-4141-B613-D8B36C5C93CF}"/>
                </a:ext>
              </a:extLst>
            </p:cNvPr>
            <p:cNvSpPr/>
            <p:nvPr/>
          </p:nvSpPr>
          <p:spPr bwMode="gray">
            <a:xfrm flipV="1">
              <a:off x="8149570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0" name="Ellipse 1162">
              <a:extLst>
                <a:ext uri="{FF2B5EF4-FFF2-40B4-BE49-F238E27FC236}">
                  <a16:creationId xmlns:a16="http://schemas.microsoft.com/office/drawing/2014/main" id="{8DACCE57-2DEA-4FC1-95BB-6A933E830D51}"/>
                </a:ext>
              </a:extLst>
            </p:cNvPr>
            <p:cNvSpPr/>
            <p:nvPr/>
          </p:nvSpPr>
          <p:spPr bwMode="gray">
            <a:xfrm flipV="1">
              <a:off x="814957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1" name="Ellipse 1163">
              <a:extLst>
                <a:ext uri="{FF2B5EF4-FFF2-40B4-BE49-F238E27FC236}">
                  <a16:creationId xmlns:a16="http://schemas.microsoft.com/office/drawing/2014/main" id="{CF1E6D4B-E149-4D82-931D-9095AFBDC702}"/>
                </a:ext>
              </a:extLst>
            </p:cNvPr>
            <p:cNvSpPr/>
            <p:nvPr/>
          </p:nvSpPr>
          <p:spPr bwMode="gray">
            <a:xfrm flipV="1">
              <a:off x="814957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2" name="Ellipse 1164">
              <a:extLst>
                <a:ext uri="{FF2B5EF4-FFF2-40B4-BE49-F238E27FC236}">
                  <a16:creationId xmlns:a16="http://schemas.microsoft.com/office/drawing/2014/main" id="{EF117A4D-FCEA-4CC2-BC47-E6341E848397}"/>
                </a:ext>
              </a:extLst>
            </p:cNvPr>
            <p:cNvSpPr/>
            <p:nvPr/>
          </p:nvSpPr>
          <p:spPr bwMode="gray">
            <a:xfrm flipV="1">
              <a:off x="8149570" y="145085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3" name="Ellipse 1165">
              <a:extLst>
                <a:ext uri="{FF2B5EF4-FFF2-40B4-BE49-F238E27FC236}">
                  <a16:creationId xmlns:a16="http://schemas.microsoft.com/office/drawing/2014/main" id="{451B1F93-1B8D-4246-A26B-87A43D0DBF3C}"/>
                </a:ext>
              </a:extLst>
            </p:cNvPr>
            <p:cNvSpPr/>
            <p:nvPr/>
          </p:nvSpPr>
          <p:spPr bwMode="gray">
            <a:xfrm flipV="1">
              <a:off x="804633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4" name="Ellipse 1166">
              <a:extLst>
                <a:ext uri="{FF2B5EF4-FFF2-40B4-BE49-F238E27FC236}">
                  <a16:creationId xmlns:a16="http://schemas.microsoft.com/office/drawing/2014/main" id="{30386A88-7C12-420D-BBE0-AE63214C919A}"/>
                </a:ext>
              </a:extLst>
            </p:cNvPr>
            <p:cNvSpPr/>
            <p:nvPr/>
          </p:nvSpPr>
          <p:spPr bwMode="gray">
            <a:xfrm flipV="1">
              <a:off x="8046330" y="145085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5" name="Ellipse 1167">
              <a:extLst>
                <a:ext uri="{FF2B5EF4-FFF2-40B4-BE49-F238E27FC236}">
                  <a16:creationId xmlns:a16="http://schemas.microsoft.com/office/drawing/2014/main" id="{EC1E658E-4CEB-4481-8C19-CE0F9BAFCE24}"/>
                </a:ext>
              </a:extLst>
            </p:cNvPr>
            <p:cNvSpPr/>
            <p:nvPr/>
          </p:nvSpPr>
          <p:spPr bwMode="gray">
            <a:xfrm flipV="1">
              <a:off x="794392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6" name="Ellipse 1168">
              <a:extLst>
                <a:ext uri="{FF2B5EF4-FFF2-40B4-BE49-F238E27FC236}">
                  <a16:creationId xmlns:a16="http://schemas.microsoft.com/office/drawing/2014/main" id="{133E1C65-A8BA-4A59-A891-8EDE347BDD8B}"/>
                </a:ext>
              </a:extLst>
            </p:cNvPr>
            <p:cNvSpPr/>
            <p:nvPr/>
          </p:nvSpPr>
          <p:spPr bwMode="gray">
            <a:xfrm flipV="1">
              <a:off x="804633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7" name="Ellipse 1169">
              <a:extLst>
                <a:ext uri="{FF2B5EF4-FFF2-40B4-BE49-F238E27FC236}">
                  <a16:creationId xmlns:a16="http://schemas.microsoft.com/office/drawing/2014/main" id="{01D1B4D6-BCFA-4536-87E1-A35667CDAE5D}"/>
                </a:ext>
              </a:extLst>
            </p:cNvPr>
            <p:cNvSpPr/>
            <p:nvPr/>
          </p:nvSpPr>
          <p:spPr bwMode="gray">
            <a:xfrm flipV="1">
              <a:off x="7943920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8" name="Ellipse 1170">
              <a:extLst>
                <a:ext uri="{FF2B5EF4-FFF2-40B4-BE49-F238E27FC236}">
                  <a16:creationId xmlns:a16="http://schemas.microsoft.com/office/drawing/2014/main" id="{F3D821FF-492B-4A82-ADB5-0789145B42F2}"/>
                </a:ext>
              </a:extLst>
            </p:cNvPr>
            <p:cNvSpPr/>
            <p:nvPr/>
          </p:nvSpPr>
          <p:spPr bwMode="gray">
            <a:xfrm flipV="1">
              <a:off x="794392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19" name="Ellipse 1171">
              <a:extLst>
                <a:ext uri="{FF2B5EF4-FFF2-40B4-BE49-F238E27FC236}">
                  <a16:creationId xmlns:a16="http://schemas.microsoft.com/office/drawing/2014/main" id="{A32E7740-E414-400F-BA7D-8FAB1311479F}"/>
                </a:ext>
              </a:extLst>
            </p:cNvPr>
            <p:cNvSpPr/>
            <p:nvPr/>
          </p:nvSpPr>
          <p:spPr bwMode="gray">
            <a:xfrm flipV="1">
              <a:off x="794392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0" name="Ellipse 1172">
              <a:extLst>
                <a:ext uri="{FF2B5EF4-FFF2-40B4-BE49-F238E27FC236}">
                  <a16:creationId xmlns:a16="http://schemas.microsoft.com/office/drawing/2014/main" id="{2471E505-16F6-4038-833A-5F88BF29EFD3}"/>
                </a:ext>
              </a:extLst>
            </p:cNvPr>
            <p:cNvSpPr/>
            <p:nvPr/>
          </p:nvSpPr>
          <p:spPr bwMode="gray">
            <a:xfrm flipV="1">
              <a:off x="7943920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1" name="Ellipse 1173">
              <a:extLst>
                <a:ext uri="{FF2B5EF4-FFF2-40B4-BE49-F238E27FC236}">
                  <a16:creationId xmlns:a16="http://schemas.microsoft.com/office/drawing/2014/main" id="{F1550718-989B-4C27-BEDB-CB871A79DF39}"/>
                </a:ext>
              </a:extLst>
            </p:cNvPr>
            <p:cNvSpPr/>
            <p:nvPr/>
          </p:nvSpPr>
          <p:spPr bwMode="gray">
            <a:xfrm flipV="1">
              <a:off x="794392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2" name="Ellipse 1174">
              <a:extLst>
                <a:ext uri="{FF2B5EF4-FFF2-40B4-BE49-F238E27FC236}">
                  <a16:creationId xmlns:a16="http://schemas.microsoft.com/office/drawing/2014/main" id="{82D89E43-60D5-4186-93E3-59B9B8CB47CD}"/>
                </a:ext>
              </a:extLst>
            </p:cNvPr>
            <p:cNvSpPr/>
            <p:nvPr/>
          </p:nvSpPr>
          <p:spPr bwMode="gray">
            <a:xfrm flipV="1">
              <a:off x="7843764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3" name="Ellipse 1175">
              <a:extLst>
                <a:ext uri="{FF2B5EF4-FFF2-40B4-BE49-F238E27FC236}">
                  <a16:creationId xmlns:a16="http://schemas.microsoft.com/office/drawing/2014/main" id="{98DD0180-D416-4EB0-9B9E-995DE17FB1B6}"/>
                </a:ext>
              </a:extLst>
            </p:cNvPr>
            <p:cNvSpPr/>
            <p:nvPr/>
          </p:nvSpPr>
          <p:spPr bwMode="gray">
            <a:xfrm flipV="1">
              <a:off x="7843764" y="1808890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4" name="Ellipse 1176">
              <a:extLst>
                <a:ext uri="{FF2B5EF4-FFF2-40B4-BE49-F238E27FC236}">
                  <a16:creationId xmlns:a16="http://schemas.microsoft.com/office/drawing/2014/main" id="{D2642B25-6011-42D3-A245-E40743414BED}"/>
                </a:ext>
              </a:extLst>
            </p:cNvPr>
            <p:cNvSpPr/>
            <p:nvPr/>
          </p:nvSpPr>
          <p:spPr bwMode="gray">
            <a:xfrm flipV="1">
              <a:off x="7843764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5" name="Ellipse 1177">
              <a:extLst>
                <a:ext uri="{FF2B5EF4-FFF2-40B4-BE49-F238E27FC236}">
                  <a16:creationId xmlns:a16="http://schemas.microsoft.com/office/drawing/2014/main" id="{1663BBBF-3EF5-4A1D-B1E5-F7568742BE55}"/>
                </a:ext>
              </a:extLst>
            </p:cNvPr>
            <p:cNvSpPr/>
            <p:nvPr/>
          </p:nvSpPr>
          <p:spPr bwMode="gray">
            <a:xfrm flipV="1">
              <a:off x="784376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6" name="Ellipse 1178">
              <a:extLst>
                <a:ext uri="{FF2B5EF4-FFF2-40B4-BE49-F238E27FC236}">
                  <a16:creationId xmlns:a16="http://schemas.microsoft.com/office/drawing/2014/main" id="{1AE42698-7B78-422F-92A0-F1EE7878B1DB}"/>
                </a:ext>
              </a:extLst>
            </p:cNvPr>
            <p:cNvSpPr/>
            <p:nvPr/>
          </p:nvSpPr>
          <p:spPr bwMode="gray">
            <a:xfrm flipV="1">
              <a:off x="7843764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7" name="Ellipse 1179">
              <a:extLst>
                <a:ext uri="{FF2B5EF4-FFF2-40B4-BE49-F238E27FC236}">
                  <a16:creationId xmlns:a16="http://schemas.microsoft.com/office/drawing/2014/main" id="{536F018D-9117-4AA4-AC05-5F389C29B7B1}"/>
                </a:ext>
              </a:extLst>
            </p:cNvPr>
            <p:cNvSpPr/>
            <p:nvPr/>
          </p:nvSpPr>
          <p:spPr bwMode="gray">
            <a:xfrm flipV="1">
              <a:off x="7843764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8" name="Ellipse 1180">
              <a:extLst>
                <a:ext uri="{FF2B5EF4-FFF2-40B4-BE49-F238E27FC236}">
                  <a16:creationId xmlns:a16="http://schemas.microsoft.com/office/drawing/2014/main" id="{3F3302B3-9802-4D5E-B200-8E3C16E282B7}"/>
                </a:ext>
              </a:extLst>
            </p:cNvPr>
            <p:cNvSpPr/>
            <p:nvPr/>
          </p:nvSpPr>
          <p:spPr bwMode="gray">
            <a:xfrm flipV="1">
              <a:off x="7741330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29" name="Ellipse 1181">
              <a:extLst>
                <a:ext uri="{FF2B5EF4-FFF2-40B4-BE49-F238E27FC236}">
                  <a16:creationId xmlns:a16="http://schemas.microsoft.com/office/drawing/2014/main" id="{11192031-B2DB-45CA-B5CC-F2E78FCD38D9}"/>
                </a:ext>
              </a:extLst>
            </p:cNvPr>
            <p:cNvSpPr/>
            <p:nvPr/>
          </p:nvSpPr>
          <p:spPr bwMode="gray">
            <a:xfrm flipV="1">
              <a:off x="7741330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0" name="Ellipse 1182">
              <a:extLst>
                <a:ext uri="{FF2B5EF4-FFF2-40B4-BE49-F238E27FC236}">
                  <a16:creationId xmlns:a16="http://schemas.microsoft.com/office/drawing/2014/main" id="{CEC515B1-BCEF-4CE9-B44A-C39C595E2238}"/>
                </a:ext>
              </a:extLst>
            </p:cNvPr>
            <p:cNvSpPr/>
            <p:nvPr/>
          </p:nvSpPr>
          <p:spPr bwMode="gray">
            <a:xfrm flipV="1">
              <a:off x="7741330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1" name="Ellipse 1183">
              <a:extLst>
                <a:ext uri="{FF2B5EF4-FFF2-40B4-BE49-F238E27FC236}">
                  <a16:creationId xmlns:a16="http://schemas.microsoft.com/office/drawing/2014/main" id="{7E39D5E5-6B2F-40EA-A571-98F46C803AC4}"/>
                </a:ext>
              </a:extLst>
            </p:cNvPr>
            <p:cNvSpPr/>
            <p:nvPr/>
          </p:nvSpPr>
          <p:spPr bwMode="gray">
            <a:xfrm flipV="1">
              <a:off x="7741330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2" name="Ellipse 1184">
              <a:extLst>
                <a:ext uri="{FF2B5EF4-FFF2-40B4-BE49-F238E27FC236}">
                  <a16:creationId xmlns:a16="http://schemas.microsoft.com/office/drawing/2014/main" id="{765125C3-94C7-4367-8776-5338DE90BB3D}"/>
                </a:ext>
              </a:extLst>
            </p:cNvPr>
            <p:cNvSpPr/>
            <p:nvPr/>
          </p:nvSpPr>
          <p:spPr bwMode="gray">
            <a:xfrm flipV="1">
              <a:off x="7741330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3" name="Ellipse 1185">
              <a:extLst>
                <a:ext uri="{FF2B5EF4-FFF2-40B4-BE49-F238E27FC236}">
                  <a16:creationId xmlns:a16="http://schemas.microsoft.com/office/drawing/2014/main" id="{123CA0C3-E152-4249-96B6-250B38D4D2EC}"/>
                </a:ext>
              </a:extLst>
            </p:cNvPr>
            <p:cNvSpPr/>
            <p:nvPr/>
          </p:nvSpPr>
          <p:spPr bwMode="gray">
            <a:xfrm flipV="1">
              <a:off x="7741330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4" name="Ellipse 1186">
              <a:extLst>
                <a:ext uri="{FF2B5EF4-FFF2-40B4-BE49-F238E27FC236}">
                  <a16:creationId xmlns:a16="http://schemas.microsoft.com/office/drawing/2014/main" id="{E521AF0E-BF82-401B-A284-837A138EDD91}"/>
                </a:ext>
              </a:extLst>
            </p:cNvPr>
            <p:cNvSpPr/>
            <p:nvPr/>
          </p:nvSpPr>
          <p:spPr bwMode="gray">
            <a:xfrm flipV="1">
              <a:off x="7741330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5" name="Ellipse 1187">
              <a:extLst>
                <a:ext uri="{FF2B5EF4-FFF2-40B4-BE49-F238E27FC236}">
                  <a16:creationId xmlns:a16="http://schemas.microsoft.com/office/drawing/2014/main" id="{9C1056BB-6DD9-4F35-9D35-8C7A13DAEF07}"/>
                </a:ext>
              </a:extLst>
            </p:cNvPr>
            <p:cNvSpPr/>
            <p:nvPr/>
          </p:nvSpPr>
          <p:spPr bwMode="gray">
            <a:xfrm flipV="1">
              <a:off x="7639971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6" name="Ellipse 1188">
              <a:extLst>
                <a:ext uri="{FF2B5EF4-FFF2-40B4-BE49-F238E27FC236}">
                  <a16:creationId xmlns:a16="http://schemas.microsoft.com/office/drawing/2014/main" id="{62D5EECF-EE83-4D8D-AF68-CD4EA58E90C7}"/>
                </a:ext>
              </a:extLst>
            </p:cNvPr>
            <p:cNvSpPr/>
            <p:nvPr/>
          </p:nvSpPr>
          <p:spPr bwMode="gray">
            <a:xfrm flipV="1">
              <a:off x="7639971" y="159530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7" name="Ellipse 1189">
              <a:extLst>
                <a:ext uri="{FF2B5EF4-FFF2-40B4-BE49-F238E27FC236}">
                  <a16:creationId xmlns:a16="http://schemas.microsoft.com/office/drawing/2014/main" id="{710F3DF5-FC2B-4640-B10F-93B66D78FA44}"/>
                </a:ext>
              </a:extLst>
            </p:cNvPr>
            <p:cNvSpPr/>
            <p:nvPr/>
          </p:nvSpPr>
          <p:spPr bwMode="gray">
            <a:xfrm flipV="1">
              <a:off x="7843764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8" name="Ellipse 1190">
              <a:extLst>
                <a:ext uri="{FF2B5EF4-FFF2-40B4-BE49-F238E27FC236}">
                  <a16:creationId xmlns:a16="http://schemas.microsoft.com/office/drawing/2014/main" id="{37D31D05-C298-48D4-86D6-D9FD8C9C2F49}"/>
                </a:ext>
              </a:extLst>
            </p:cNvPr>
            <p:cNvSpPr/>
            <p:nvPr/>
          </p:nvSpPr>
          <p:spPr bwMode="gray">
            <a:xfrm flipV="1">
              <a:off x="7639971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39" name="Ellipse 1191">
              <a:extLst>
                <a:ext uri="{FF2B5EF4-FFF2-40B4-BE49-F238E27FC236}">
                  <a16:creationId xmlns:a16="http://schemas.microsoft.com/office/drawing/2014/main" id="{E828A158-3251-4503-A9A0-FBA10280CBE8}"/>
                </a:ext>
              </a:extLst>
            </p:cNvPr>
            <p:cNvSpPr/>
            <p:nvPr/>
          </p:nvSpPr>
          <p:spPr bwMode="gray">
            <a:xfrm flipV="1">
              <a:off x="7639971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0" name="Ellipse 1192">
              <a:extLst>
                <a:ext uri="{FF2B5EF4-FFF2-40B4-BE49-F238E27FC236}">
                  <a16:creationId xmlns:a16="http://schemas.microsoft.com/office/drawing/2014/main" id="{247D8A54-DC3C-4CE0-A486-6CC0B680EAF9}"/>
                </a:ext>
              </a:extLst>
            </p:cNvPr>
            <p:cNvSpPr/>
            <p:nvPr/>
          </p:nvSpPr>
          <p:spPr bwMode="gray">
            <a:xfrm flipV="1">
              <a:off x="7639971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1" name="Ellipse 1193">
              <a:extLst>
                <a:ext uri="{FF2B5EF4-FFF2-40B4-BE49-F238E27FC236}">
                  <a16:creationId xmlns:a16="http://schemas.microsoft.com/office/drawing/2014/main" id="{052D871B-A5BC-4412-81EB-EA33E00BCAF6}"/>
                </a:ext>
              </a:extLst>
            </p:cNvPr>
            <p:cNvSpPr/>
            <p:nvPr/>
          </p:nvSpPr>
          <p:spPr bwMode="gray">
            <a:xfrm flipV="1">
              <a:off x="7639971" y="2339954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2" name="Ellipse 1194">
              <a:extLst>
                <a:ext uri="{FF2B5EF4-FFF2-40B4-BE49-F238E27FC236}">
                  <a16:creationId xmlns:a16="http://schemas.microsoft.com/office/drawing/2014/main" id="{E0FBCB71-95C3-4B13-9EAF-FACB323BBFA1}"/>
                </a:ext>
              </a:extLst>
            </p:cNvPr>
            <p:cNvSpPr/>
            <p:nvPr/>
          </p:nvSpPr>
          <p:spPr bwMode="gray">
            <a:xfrm flipV="1">
              <a:off x="7639971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3" name="Ellipse 1195">
              <a:extLst>
                <a:ext uri="{FF2B5EF4-FFF2-40B4-BE49-F238E27FC236}">
                  <a16:creationId xmlns:a16="http://schemas.microsoft.com/office/drawing/2014/main" id="{664CCBDA-B78B-49D7-9FC0-B29E5C152419}"/>
                </a:ext>
              </a:extLst>
            </p:cNvPr>
            <p:cNvSpPr/>
            <p:nvPr/>
          </p:nvSpPr>
          <p:spPr bwMode="gray">
            <a:xfrm flipV="1">
              <a:off x="7639971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4" name="Ellipse 1196">
              <a:extLst>
                <a:ext uri="{FF2B5EF4-FFF2-40B4-BE49-F238E27FC236}">
                  <a16:creationId xmlns:a16="http://schemas.microsoft.com/office/drawing/2014/main" id="{9DC37255-C11D-4643-B744-1ACAAB1B5F52}"/>
                </a:ext>
              </a:extLst>
            </p:cNvPr>
            <p:cNvSpPr/>
            <p:nvPr/>
          </p:nvSpPr>
          <p:spPr bwMode="gray">
            <a:xfrm flipV="1">
              <a:off x="7542773" y="244610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5" name="Ellipse 1197">
              <a:extLst>
                <a:ext uri="{FF2B5EF4-FFF2-40B4-BE49-F238E27FC236}">
                  <a16:creationId xmlns:a16="http://schemas.microsoft.com/office/drawing/2014/main" id="{2015B59F-C165-437D-8839-46971A430DA0}"/>
                </a:ext>
              </a:extLst>
            </p:cNvPr>
            <p:cNvSpPr/>
            <p:nvPr/>
          </p:nvSpPr>
          <p:spPr bwMode="gray">
            <a:xfrm flipV="1">
              <a:off x="7542773" y="25506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6" name="Ellipse 1198">
              <a:extLst>
                <a:ext uri="{FF2B5EF4-FFF2-40B4-BE49-F238E27FC236}">
                  <a16:creationId xmlns:a16="http://schemas.microsoft.com/office/drawing/2014/main" id="{F59AD0B4-6D03-44B5-BABA-B2587B24A768}"/>
                </a:ext>
              </a:extLst>
            </p:cNvPr>
            <p:cNvSpPr/>
            <p:nvPr/>
          </p:nvSpPr>
          <p:spPr bwMode="gray">
            <a:xfrm flipV="1">
              <a:off x="7542773" y="2128366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7" name="Ellipse 1199">
              <a:extLst>
                <a:ext uri="{FF2B5EF4-FFF2-40B4-BE49-F238E27FC236}">
                  <a16:creationId xmlns:a16="http://schemas.microsoft.com/office/drawing/2014/main" id="{C6B69EDF-584F-43B2-A9F3-5748BCF7525A}"/>
                </a:ext>
              </a:extLst>
            </p:cNvPr>
            <p:cNvSpPr/>
            <p:nvPr/>
          </p:nvSpPr>
          <p:spPr bwMode="gray">
            <a:xfrm flipV="1">
              <a:off x="7542773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8" name="Ellipse 1200">
              <a:extLst>
                <a:ext uri="{FF2B5EF4-FFF2-40B4-BE49-F238E27FC236}">
                  <a16:creationId xmlns:a16="http://schemas.microsoft.com/office/drawing/2014/main" id="{17F72189-05CF-4AB5-8077-10A859020184}"/>
                </a:ext>
              </a:extLst>
            </p:cNvPr>
            <p:cNvSpPr/>
            <p:nvPr/>
          </p:nvSpPr>
          <p:spPr bwMode="gray">
            <a:xfrm flipV="1">
              <a:off x="7542773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49" name="Ellipse 1201">
              <a:extLst>
                <a:ext uri="{FF2B5EF4-FFF2-40B4-BE49-F238E27FC236}">
                  <a16:creationId xmlns:a16="http://schemas.microsoft.com/office/drawing/2014/main" id="{84868EAC-F243-4F9B-98C0-248082712BBE}"/>
                </a:ext>
              </a:extLst>
            </p:cNvPr>
            <p:cNvSpPr/>
            <p:nvPr/>
          </p:nvSpPr>
          <p:spPr bwMode="gray">
            <a:xfrm flipV="1">
              <a:off x="7542773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0" name="Ellipse 1202">
              <a:extLst>
                <a:ext uri="{FF2B5EF4-FFF2-40B4-BE49-F238E27FC236}">
                  <a16:creationId xmlns:a16="http://schemas.microsoft.com/office/drawing/2014/main" id="{2BD477AC-2E40-42D5-8037-B19350EC166B}"/>
                </a:ext>
              </a:extLst>
            </p:cNvPr>
            <p:cNvSpPr/>
            <p:nvPr/>
          </p:nvSpPr>
          <p:spPr bwMode="gray">
            <a:xfrm flipV="1">
              <a:off x="7542773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1" name="Ellipse 1203">
              <a:extLst>
                <a:ext uri="{FF2B5EF4-FFF2-40B4-BE49-F238E27FC236}">
                  <a16:creationId xmlns:a16="http://schemas.microsoft.com/office/drawing/2014/main" id="{3C89E49A-5BD0-41F3-98E7-6EEB19CB8A8E}"/>
                </a:ext>
              </a:extLst>
            </p:cNvPr>
            <p:cNvSpPr/>
            <p:nvPr/>
          </p:nvSpPr>
          <p:spPr bwMode="gray">
            <a:xfrm flipV="1">
              <a:off x="7435148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2" name="Ellipse 1204">
              <a:extLst>
                <a:ext uri="{FF2B5EF4-FFF2-40B4-BE49-F238E27FC236}">
                  <a16:creationId xmlns:a16="http://schemas.microsoft.com/office/drawing/2014/main" id="{D0ABCCBE-71F4-44C3-8D8E-16CAAA60ECC5}"/>
                </a:ext>
              </a:extLst>
            </p:cNvPr>
            <p:cNvSpPr/>
            <p:nvPr/>
          </p:nvSpPr>
          <p:spPr bwMode="gray">
            <a:xfrm flipV="1">
              <a:off x="7435148" y="1808890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3" name="Ellipse 1205">
              <a:extLst>
                <a:ext uri="{FF2B5EF4-FFF2-40B4-BE49-F238E27FC236}">
                  <a16:creationId xmlns:a16="http://schemas.microsoft.com/office/drawing/2014/main" id="{89937ED7-1007-436D-80E8-4A2F017DC6FB}"/>
                </a:ext>
              </a:extLst>
            </p:cNvPr>
            <p:cNvSpPr/>
            <p:nvPr/>
          </p:nvSpPr>
          <p:spPr bwMode="gray">
            <a:xfrm flipV="1">
              <a:off x="7435148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4" name="Ellipse 1206">
              <a:extLst>
                <a:ext uri="{FF2B5EF4-FFF2-40B4-BE49-F238E27FC236}">
                  <a16:creationId xmlns:a16="http://schemas.microsoft.com/office/drawing/2014/main" id="{9AE85133-8090-44F7-AD49-E277085BC621}"/>
                </a:ext>
              </a:extLst>
            </p:cNvPr>
            <p:cNvSpPr/>
            <p:nvPr/>
          </p:nvSpPr>
          <p:spPr bwMode="gray">
            <a:xfrm flipV="1">
              <a:off x="7435148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5" name="Ellipse 1207">
              <a:extLst>
                <a:ext uri="{FF2B5EF4-FFF2-40B4-BE49-F238E27FC236}">
                  <a16:creationId xmlns:a16="http://schemas.microsoft.com/office/drawing/2014/main" id="{48877C48-4D4E-4575-92C7-70370C7F3A58}"/>
                </a:ext>
              </a:extLst>
            </p:cNvPr>
            <p:cNvSpPr/>
            <p:nvPr/>
          </p:nvSpPr>
          <p:spPr bwMode="gray">
            <a:xfrm flipV="1">
              <a:off x="7435148" y="2128366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6" name="Ellipse 1208">
              <a:extLst>
                <a:ext uri="{FF2B5EF4-FFF2-40B4-BE49-F238E27FC236}">
                  <a16:creationId xmlns:a16="http://schemas.microsoft.com/office/drawing/2014/main" id="{C9E6504D-1677-4DC0-99D3-E3906F5C8530}"/>
                </a:ext>
              </a:extLst>
            </p:cNvPr>
            <p:cNvSpPr/>
            <p:nvPr/>
          </p:nvSpPr>
          <p:spPr bwMode="gray">
            <a:xfrm flipV="1">
              <a:off x="7337764" y="170077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7" name="Ellipse 1209">
              <a:extLst>
                <a:ext uri="{FF2B5EF4-FFF2-40B4-BE49-F238E27FC236}">
                  <a16:creationId xmlns:a16="http://schemas.microsoft.com/office/drawing/2014/main" id="{E0A70A0F-BC38-4319-96EA-DF6CD692210F}"/>
                </a:ext>
              </a:extLst>
            </p:cNvPr>
            <p:cNvSpPr/>
            <p:nvPr/>
          </p:nvSpPr>
          <p:spPr bwMode="gray">
            <a:xfrm flipV="1">
              <a:off x="7232753" y="170077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8" name="Ellipse 1210">
              <a:extLst>
                <a:ext uri="{FF2B5EF4-FFF2-40B4-BE49-F238E27FC236}">
                  <a16:creationId xmlns:a16="http://schemas.microsoft.com/office/drawing/2014/main" id="{E0BBAF92-490C-4A90-A3FB-4896FFABD39D}"/>
                </a:ext>
              </a:extLst>
            </p:cNvPr>
            <p:cNvSpPr/>
            <p:nvPr/>
          </p:nvSpPr>
          <p:spPr bwMode="gray">
            <a:xfrm flipV="1">
              <a:off x="7232753" y="191608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59" name="Ellipse 1211">
              <a:extLst>
                <a:ext uri="{FF2B5EF4-FFF2-40B4-BE49-F238E27FC236}">
                  <a16:creationId xmlns:a16="http://schemas.microsoft.com/office/drawing/2014/main" id="{387879D6-011C-476C-A615-1D6513D7E43B}"/>
                </a:ext>
              </a:extLst>
            </p:cNvPr>
            <p:cNvSpPr/>
            <p:nvPr/>
          </p:nvSpPr>
          <p:spPr bwMode="gray">
            <a:xfrm flipV="1">
              <a:off x="7232753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60" name="Ellipse 1212">
              <a:extLst>
                <a:ext uri="{FF2B5EF4-FFF2-40B4-BE49-F238E27FC236}">
                  <a16:creationId xmlns:a16="http://schemas.microsoft.com/office/drawing/2014/main" id="{B3BC1096-B685-4E24-9F10-47938994D9DF}"/>
                </a:ext>
              </a:extLst>
            </p:cNvPr>
            <p:cNvSpPr/>
            <p:nvPr/>
          </p:nvSpPr>
          <p:spPr bwMode="gray">
            <a:xfrm flipV="1">
              <a:off x="7232753" y="223432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61" name="Ellipse 1213">
              <a:extLst>
                <a:ext uri="{FF2B5EF4-FFF2-40B4-BE49-F238E27FC236}">
                  <a16:creationId xmlns:a16="http://schemas.microsoft.com/office/drawing/2014/main" id="{725C93A4-6E01-48BD-A321-09FEA594D288}"/>
                </a:ext>
              </a:extLst>
            </p:cNvPr>
            <p:cNvSpPr/>
            <p:nvPr/>
          </p:nvSpPr>
          <p:spPr bwMode="gray">
            <a:xfrm flipV="1">
              <a:off x="7337764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62" name="Ellipse 1214">
              <a:extLst>
                <a:ext uri="{FF2B5EF4-FFF2-40B4-BE49-F238E27FC236}">
                  <a16:creationId xmlns:a16="http://schemas.microsoft.com/office/drawing/2014/main" id="{C3F1C458-6ED1-4F74-972D-D40B4CD089D2}"/>
                </a:ext>
              </a:extLst>
            </p:cNvPr>
            <p:cNvSpPr/>
            <p:nvPr/>
          </p:nvSpPr>
          <p:spPr bwMode="gray">
            <a:xfrm flipV="1">
              <a:off x="7337764" y="2339954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63" name="Ellipse 1215">
              <a:extLst>
                <a:ext uri="{FF2B5EF4-FFF2-40B4-BE49-F238E27FC236}">
                  <a16:creationId xmlns:a16="http://schemas.microsoft.com/office/drawing/2014/main" id="{136CC543-88DC-483E-AF9D-7F35B5B7537C}"/>
                </a:ext>
              </a:extLst>
            </p:cNvPr>
            <p:cNvSpPr/>
            <p:nvPr/>
          </p:nvSpPr>
          <p:spPr bwMode="gray">
            <a:xfrm flipV="1">
              <a:off x="7337764" y="2446108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64" name="Ellipse 1216">
              <a:extLst>
                <a:ext uri="{FF2B5EF4-FFF2-40B4-BE49-F238E27FC236}">
                  <a16:creationId xmlns:a16="http://schemas.microsoft.com/office/drawing/2014/main" id="{A139820F-6063-4EBA-9558-38DC662FE151}"/>
                </a:ext>
              </a:extLst>
            </p:cNvPr>
            <p:cNvSpPr/>
            <p:nvPr/>
          </p:nvSpPr>
          <p:spPr bwMode="gray">
            <a:xfrm flipV="1">
              <a:off x="7129749" y="1916088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365" name="Ellipse 1217">
              <a:extLst>
                <a:ext uri="{FF2B5EF4-FFF2-40B4-BE49-F238E27FC236}">
                  <a16:creationId xmlns:a16="http://schemas.microsoft.com/office/drawing/2014/main" id="{ED3C3ED7-753E-40D0-B758-49A7A9901F68}"/>
                </a:ext>
              </a:extLst>
            </p:cNvPr>
            <p:cNvSpPr/>
            <p:nvPr/>
          </p:nvSpPr>
          <p:spPr bwMode="gray">
            <a:xfrm flipV="1">
              <a:off x="7129749" y="2128366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366" name="Ellipse 1218">
              <a:extLst>
                <a:ext uri="{FF2B5EF4-FFF2-40B4-BE49-F238E27FC236}">
                  <a16:creationId xmlns:a16="http://schemas.microsoft.com/office/drawing/2014/main" id="{9A734409-4560-452C-AF0D-BEAAE2BD3047}"/>
                </a:ext>
              </a:extLst>
            </p:cNvPr>
            <p:cNvSpPr/>
            <p:nvPr/>
          </p:nvSpPr>
          <p:spPr bwMode="gray">
            <a:xfrm flipV="1">
              <a:off x="7129749" y="2234323"/>
              <a:ext cx="40979" cy="42819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367" name="Ellipse 1219">
              <a:extLst>
                <a:ext uri="{FF2B5EF4-FFF2-40B4-BE49-F238E27FC236}">
                  <a16:creationId xmlns:a16="http://schemas.microsoft.com/office/drawing/2014/main" id="{A692C51A-3454-42E5-B2BE-770AE3C3741E}"/>
                </a:ext>
              </a:extLst>
            </p:cNvPr>
            <p:cNvSpPr/>
            <p:nvPr/>
          </p:nvSpPr>
          <p:spPr bwMode="gray">
            <a:xfrm flipV="1">
              <a:off x="7129749" y="2021463"/>
              <a:ext cx="40979" cy="42819"/>
            </a:xfrm>
            <a:prstGeom prst="ellipse">
              <a:avLst/>
            </a:prstGeom>
            <a:solidFill>
              <a:srgbClr val="9BAFB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6487"/>
                </a:solidFill>
              </a:endParaRPr>
            </a:p>
          </p:txBody>
        </p:sp>
        <p:sp>
          <p:nvSpPr>
            <p:cNvPr id="368" name="Ellipse 1220">
              <a:extLst>
                <a:ext uri="{FF2B5EF4-FFF2-40B4-BE49-F238E27FC236}">
                  <a16:creationId xmlns:a16="http://schemas.microsoft.com/office/drawing/2014/main" id="{6C273EBD-C697-4AFF-BC95-BB56605132E5}"/>
                </a:ext>
              </a:extLst>
            </p:cNvPr>
            <p:cNvSpPr/>
            <p:nvPr/>
          </p:nvSpPr>
          <p:spPr bwMode="gray">
            <a:xfrm flipV="1">
              <a:off x="10912536" y="2135412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69" name="Ellipse 1221">
              <a:extLst>
                <a:ext uri="{FF2B5EF4-FFF2-40B4-BE49-F238E27FC236}">
                  <a16:creationId xmlns:a16="http://schemas.microsoft.com/office/drawing/2014/main" id="{5F217514-4E87-4861-B5EC-0F5098C1B016}"/>
                </a:ext>
              </a:extLst>
            </p:cNvPr>
            <p:cNvSpPr/>
            <p:nvPr/>
          </p:nvSpPr>
          <p:spPr bwMode="gray">
            <a:xfrm flipV="1">
              <a:off x="10912536" y="1923134"/>
              <a:ext cx="27320" cy="28546"/>
            </a:xfrm>
            <a:prstGeom prst="ellipse">
              <a:avLst/>
            </a:prstGeom>
            <a:solidFill>
              <a:srgbClr val="00646E"/>
            </a:solidFill>
            <a:ln w="12700">
              <a:noFill/>
            </a:ln>
            <a:effectLst/>
          </p:spPr>
          <p:txBody>
            <a:bodyPr wrap="square" lIns="107944" tIns="53972" rIns="107944" bIns="53972" numCol="1" spcCol="72000" rtlCol="0" anchor="ctr">
              <a:noAutofit/>
            </a:bodyPr>
            <a:lstStyle/>
            <a:p>
              <a:pPr algn="ctr" rtl="0">
                <a:spcBef>
                  <a:spcPct val="0"/>
                </a:spcBef>
                <a:buFont typeface="Wingdings" charset="0"/>
                <a:buNone/>
              </a:pPr>
              <a:endParaRPr lang="en-US" sz="999" b="1" dirty="0">
                <a:solidFill>
                  <a:srgbClr val="000000"/>
                </a:solidFill>
              </a:endParaRPr>
            </a:p>
          </p:txBody>
        </p:sp>
        <p:sp>
          <p:nvSpPr>
            <p:cNvPr id="370" name="Freeform 17">
              <a:extLst>
                <a:ext uri="{FF2B5EF4-FFF2-40B4-BE49-F238E27FC236}">
                  <a16:creationId xmlns:a16="http://schemas.microsoft.com/office/drawing/2014/main" id="{DA18C79C-DF85-4006-85E3-C8E45CB139E5}"/>
                </a:ext>
              </a:extLst>
            </p:cNvPr>
            <p:cNvSpPr>
              <a:spLocks noChangeAspect="1" noEditPoints="1"/>
            </p:cNvSpPr>
            <p:nvPr/>
          </p:nvSpPr>
          <p:spPr bwMode="gray">
            <a:xfrm>
              <a:off x="8811984" y="1562226"/>
              <a:ext cx="264319" cy="348457"/>
            </a:xfrm>
            <a:custGeom>
              <a:avLst/>
              <a:gdLst>
                <a:gd name="T0" fmla="*/ 280 w 1760"/>
                <a:gd name="T1" fmla="*/ 920 h 2320"/>
                <a:gd name="T2" fmla="*/ 280 w 1760"/>
                <a:gd name="T3" fmla="*/ 594 h 2320"/>
                <a:gd name="T4" fmla="*/ 874 w 1760"/>
                <a:gd name="T5" fmla="*/ 0 h 2320"/>
                <a:gd name="T6" fmla="*/ 886 w 1760"/>
                <a:gd name="T7" fmla="*/ 0 h 2320"/>
                <a:gd name="T8" fmla="*/ 1480 w 1760"/>
                <a:gd name="T9" fmla="*/ 594 h 2320"/>
                <a:gd name="T10" fmla="*/ 1480 w 1760"/>
                <a:gd name="T11" fmla="*/ 920 h 2320"/>
                <a:gd name="T12" fmla="*/ 1280 w 1760"/>
                <a:gd name="T13" fmla="*/ 920 h 2320"/>
                <a:gd name="T14" fmla="*/ 1280 w 1760"/>
                <a:gd name="T15" fmla="*/ 619 h 2320"/>
                <a:gd name="T16" fmla="*/ 884 w 1760"/>
                <a:gd name="T17" fmla="*/ 200 h 2320"/>
                <a:gd name="T18" fmla="*/ 876 w 1760"/>
                <a:gd name="T19" fmla="*/ 200 h 2320"/>
                <a:gd name="T20" fmla="*/ 480 w 1760"/>
                <a:gd name="T21" fmla="*/ 619 h 2320"/>
                <a:gd name="T22" fmla="*/ 480 w 1760"/>
                <a:gd name="T23" fmla="*/ 920 h 2320"/>
                <a:gd name="T24" fmla="*/ 280 w 1760"/>
                <a:gd name="T25" fmla="*/ 920 h 2320"/>
                <a:gd name="T26" fmla="*/ 1760 w 1760"/>
                <a:gd name="T27" fmla="*/ 960 h 2320"/>
                <a:gd name="T28" fmla="*/ 1760 w 1760"/>
                <a:gd name="T29" fmla="*/ 2320 h 2320"/>
                <a:gd name="T30" fmla="*/ 0 w 1760"/>
                <a:gd name="T31" fmla="*/ 2320 h 2320"/>
                <a:gd name="T32" fmla="*/ 0 w 1760"/>
                <a:gd name="T33" fmla="*/ 960 h 2320"/>
                <a:gd name="T34" fmla="*/ 1760 w 1760"/>
                <a:gd name="T35" fmla="*/ 960 h 2320"/>
                <a:gd name="T36" fmla="*/ 1340 w 1760"/>
                <a:gd name="T37" fmla="*/ 1640 h 2320"/>
                <a:gd name="T38" fmla="*/ 880 w 1760"/>
                <a:gd name="T39" fmla="*/ 1180 h 2320"/>
                <a:gd name="T40" fmla="*/ 420 w 1760"/>
                <a:gd name="T41" fmla="*/ 1640 h 2320"/>
                <a:gd name="T42" fmla="*/ 880 w 1760"/>
                <a:gd name="T43" fmla="*/ 2100 h 2320"/>
                <a:gd name="T44" fmla="*/ 1340 w 1760"/>
                <a:gd name="T45" fmla="*/ 1640 h 2320"/>
                <a:gd name="T46" fmla="*/ 1300 w 1760"/>
                <a:gd name="T47" fmla="*/ 1640 h 2320"/>
                <a:gd name="T48" fmla="*/ 880 w 1760"/>
                <a:gd name="T49" fmla="*/ 2060 h 2320"/>
                <a:gd name="T50" fmla="*/ 460 w 1760"/>
                <a:gd name="T51" fmla="*/ 1640 h 2320"/>
                <a:gd name="T52" fmla="*/ 880 w 1760"/>
                <a:gd name="T53" fmla="*/ 1220 h 2320"/>
                <a:gd name="T54" fmla="*/ 1300 w 1760"/>
                <a:gd name="T55" fmla="*/ 1640 h 2320"/>
                <a:gd name="T56" fmla="*/ 1000 w 1760"/>
                <a:gd name="T57" fmla="*/ 1560 h 2320"/>
                <a:gd name="T58" fmla="*/ 880 w 1760"/>
                <a:gd name="T59" fmla="*/ 1440 h 2320"/>
                <a:gd name="T60" fmla="*/ 760 w 1760"/>
                <a:gd name="T61" fmla="*/ 1560 h 2320"/>
                <a:gd name="T62" fmla="*/ 820 w 1760"/>
                <a:gd name="T63" fmla="*/ 1664 h 2320"/>
                <a:gd name="T64" fmla="*/ 820 w 1760"/>
                <a:gd name="T65" fmla="*/ 1840 h 2320"/>
                <a:gd name="T66" fmla="*/ 940 w 1760"/>
                <a:gd name="T67" fmla="*/ 1840 h 2320"/>
                <a:gd name="T68" fmla="*/ 940 w 1760"/>
                <a:gd name="T69" fmla="*/ 1664 h 2320"/>
                <a:gd name="T70" fmla="*/ 1000 w 1760"/>
                <a:gd name="T71" fmla="*/ 1560 h 2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60" h="2320">
                  <a:moveTo>
                    <a:pt x="280" y="920"/>
                  </a:moveTo>
                  <a:cubicBezTo>
                    <a:pt x="280" y="594"/>
                    <a:pt x="280" y="594"/>
                    <a:pt x="280" y="594"/>
                  </a:cubicBezTo>
                  <a:cubicBezTo>
                    <a:pt x="280" y="266"/>
                    <a:pt x="546" y="0"/>
                    <a:pt x="874" y="0"/>
                  </a:cubicBezTo>
                  <a:cubicBezTo>
                    <a:pt x="886" y="0"/>
                    <a:pt x="886" y="0"/>
                    <a:pt x="886" y="0"/>
                  </a:cubicBezTo>
                  <a:cubicBezTo>
                    <a:pt x="1214" y="0"/>
                    <a:pt x="1480" y="266"/>
                    <a:pt x="1480" y="594"/>
                  </a:cubicBezTo>
                  <a:cubicBezTo>
                    <a:pt x="1480" y="920"/>
                    <a:pt x="1480" y="920"/>
                    <a:pt x="1480" y="920"/>
                  </a:cubicBezTo>
                  <a:cubicBezTo>
                    <a:pt x="1280" y="920"/>
                    <a:pt x="1280" y="920"/>
                    <a:pt x="1280" y="920"/>
                  </a:cubicBezTo>
                  <a:cubicBezTo>
                    <a:pt x="1280" y="619"/>
                    <a:pt x="1280" y="619"/>
                    <a:pt x="1280" y="619"/>
                  </a:cubicBezTo>
                  <a:cubicBezTo>
                    <a:pt x="1280" y="388"/>
                    <a:pt x="1103" y="200"/>
                    <a:pt x="884" y="200"/>
                  </a:cubicBezTo>
                  <a:cubicBezTo>
                    <a:pt x="876" y="200"/>
                    <a:pt x="876" y="200"/>
                    <a:pt x="876" y="200"/>
                  </a:cubicBezTo>
                  <a:cubicBezTo>
                    <a:pt x="657" y="200"/>
                    <a:pt x="480" y="388"/>
                    <a:pt x="480" y="619"/>
                  </a:cubicBezTo>
                  <a:cubicBezTo>
                    <a:pt x="480" y="920"/>
                    <a:pt x="480" y="920"/>
                    <a:pt x="480" y="920"/>
                  </a:cubicBezTo>
                  <a:lnTo>
                    <a:pt x="280" y="920"/>
                  </a:lnTo>
                  <a:close/>
                  <a:moveTo>
                    <a:pt x="1760" y="960"/>
                  </a:moveTo>
                  <a:cubicBezTo>
                    <a:pt x="1760" y="2320"/>
                    <a:pt x="1760" y="2320"/>
                    <a:pt x="1760" y="2320"/>
                  </a:cubicBezTo>
                  <a:cubicBezTo>
                    <a:pt x="0" y="2320"/>
                    <a:pt x="0" y="2320"/>
                    <a:pt x="0" y="2320"/>
                  </a:cubicBezTo>
                  <a:cubicBezTo>
                    <a:pt x="0" y="960"/>
                    <a:pt x="0" y="960"/>
                    <a:pt x="0" y="960"/>
                  </a:cubicBezTo>
                  <a:lnTo>
                    <a:pt x="1760" y="960"/>
                  </a:lnTo>
                  <a:close/>
                  <a:moveTo>
                    <a:pt x="1340" y="1640"/>
                  </a:moveTo>
                  <a:cubicBezTo>
                    <a:pt x="1340" y="1386"/>
                    <a:pt x="1134" y="1180"/>
                    <a:pt x="880" y="1180"/>
                  </a:cubicBezTo>
                  <a:cubicBezTo>
                    <a:pt x="626" y="1180"/>
                    <a:pt x="420" y="1386"/>
                    <a:pt x="420" y="1640"/>
                  </a:cubicBezTo>
                  <a:cubicBezTo>
                    <a:pt x="420" y="1894"/>
                    <a:pt x="626" y="2100"/>
                    <a:pt x="880" y="2100"/>
                  </a:cubicBezTo>
                  <a:cubicBezTo>
                    <a:pt x="1134" y="2100"/>
                    <a:pt x="1340" y="1894"/>
                    <a:pt x="1340" y="1640"/>
                  </a:cubicBezTo>
                  <a:close/>
                  <a:moveTo>
                    <a:pt x="1300" y="1640"/>
                  </a:moveTo>
                  <a:cubicBezTo>
                    <a:pt x="1300" y="1872"/>
                    <a:pt x="1112" y="2060"/>
                    <a:pt x="880" y="2060"/>
                  </a:cubicBezTo>
                  <a:cubicBezTo>
                    <a:pt x="648" y="2060"/>
                    <a:pt x="460" y="1872"/>
                    <a:pt x="460" y="1640"/>
                  </a:cubicBezTo>
                  <a:cubicBezTo>
                    <a:pt x="460" y="1408"/>
                    <a:pt x="648" y="1220"/>
                    <a:pt x="880" y="1220"/>
                  </a:cubicBezTo>
                  <a:cubicBezTo>
                    <a:pt x="1112" y="1220"/>
                    <a:pt x="1300" y="1408"/>
                    <a:pt x="1300" y="1640"/>
                  </a:cubicBezTo>
                  <a:close/>
                  <a:moveTo>
                    <a:pt x="1000" y="1560"/>
                  </a:moveTo>
                  <a:cubicBezTo>
                    <a:pt x="1000" y="1494"/>
                    <a:pt x="946" y="1440"/>
                    <a:pt x="880" y="1440"/>
                  </a:cubicBezTo>
                  <a:cubicBezTo>
                    <a:pt x="814" y="1440"/>
                    <a:pt x="760" y="1494"/>
                    <a:pt x="760" y="1560"/>
                  </a:cubicBezTo>
                  <a:cubicBezTo>
                    <a:pt x="760" y="1604"/>
                    <a:pt x="784" y="1643"/>
                    <a:pt x="820" y="1664"/>
                  </a:cubicBezTo>
                  <a:cubicBezTo>
                    <a:pt x="820" y="1840"/>
                    <a:pt x="820" y="1840"/>
                    <a:pt x="820" y="1840"/>
                  </a:cubicBezTo>
                  <a:cubicBezTo>
                    <a:pt x="940" y="1840"/>
                    <a:pt x="940" y="1840"/>
                    <a:pt x="940" y="1840"/>
                  </a:cubicBezTo>
                  <a:cubicBezTo>
                    <a:pt x="940" y="1664"/>
                    <a:pt x="940" y="1664"/>
                    <a:pt x="940" y="1664"/>
                  </a:cubicBezTo>
                  <a:cubicBezTo>
                    <a:pt x="976" y="1643"/>
                    <a:pt x="1000" y="1604"/>
                    <a:pt x="1000" y="1560"/>
                  </a:cubicBezTo>
                  <a:close/>
                </a:path>
              </a:pathLst>
            </a:custGeom>
            <a:solidFill>
              <a:srgbClr val="41AAAA"/>
            </a:solidFill>
            <a:ln>
              <a:noFill/>
            </a:ln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199">
                <a:solidFill>
                  <a:srgbClr val="788791"/>
                </a:solidFill>
              </a:endParaRPr>
            </a:p>
          </p:txBody>
        </p:sp>
      </p:grpSp>
      <p:pic>
        <p:nvPicPr>
          <p:cNvPr id="387" name="Picture 386">
            <a:extLst>
              <a:ext uri="{FF2B5EF4-FFF2-40B4-BE49-F238E27FC236}">
                <a16:creationId xmlns:a16="http://schemas.microsoft.com/office/drawing/2014/main" id="{49B8BE0C-22F4-4EE3-8C37-36AF4F11A9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4" t="4836" r="13328" b="3486"/>
          <a:stretch/>
        </p:blipFill>
        <p:spPr bwMode="auto">
          <a:xfrm>
            <a:off x="4987240" y="2910817"/>
            <a:ext cx="1061838" cy="72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2F61512F-67BD-4BC8-ABF1-227E6FADA214}"/>
              </a:ext>
            </a:extLst>
          </p:cNvPr>
          <p:cNvCxnSpPr/>
          <p:nvPr/>
        </p:nvCxnSpPr>
        <p:spPr bwMode="auto">
          <a:xfrm flipH="1" flipV="1">
            <a:off x="5798213" y="3571110"/>
            <a:ext cx="1" cy="273721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8" name="Textfeld 899">
            <a:extLst>
              <a:ext uri="{FF2B5EF4-FFF2-40B4-BE49-F238E27FC236}">
                <a16:creationId xmlns:a16="http://schemas.microsoft.com/office/drawing/2014/main" id="{27E61C30-C97E-461A-9356-FB127D1B67D4}"/>
              </a:ext>
            </a:extLst>
          </p:cNvPr>
          <p:cNvSpPr txBox="1">
            <a:spLocks/>
          </p:cNvSpPr>
          <p:nvPr/>
        </p:nvSpPr>
        <p:spPr bwMode="gray">
          <a:xfrm>
            <a:off x="4707411" y="3649311"/>
            <a:ext cx="1347394" cy="290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OPC UA</a:t>
            </a:r>
            <a:endParaRPr lang="en-US" sz="1099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89" name="Textfeld 899">
            <a:extLst>
              <a:ext uri="{FF2B5EF4-FFF2-40B4-BE49-F238E27FC236}">
                <a16:creationId xmlns:a16="http://schemas.microsoft.com/office/drawing/2014/main" id="{1F43C950-E278-442B-98CC-A7FE37C6ECF3}"/>
              </a:ext>
            </a:extLst>
          </p:cNvPr>
          <p:cNvSpPr txBox="1">
            <a:spLocks/>
          </p:cNvSpPr>
          <p:nvPr/>
        </p:nvSpPr>
        <p:spPr bwMode="gray">
          <a:xfrm>
            <a:off x="2219118" y="3046480"/>
            <a:ext cx="2661824" cy="3575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zh-CN" sz="999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MindConnect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Nano</a:t>
            </a:r>
          </a:p>
          <a:p>
            <a:pPr algn="r"/>
            <a:r>
              <a:rPr lang="en-US" altLang="zh-CN" sz="999" dirty="0" err="1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 Native Gateway</a:t>
            </a:r>
          </a:p>
          <a:p>
            <a:pPr algn="r"/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(transfer processed real-time data)</a:t>
            </a:r>
          </a:p>
          <a:p>
            <a:pPr algn="r"/>
            <a:endParaRPr lang="en-US" altLang="zh-CN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B00987DF-7D98-49DC-A967-6C40F1C30B30}"/>
              </a:ext>
            </a:extLst>
          </p:cNvPr>
          <p:cNvCxnSpPr/>
          <p:nvPr/>
        </p:nvCxnSpPr>
        <p:spPr bwMode="auto">
          <a:xfrm flipH="1" flipV="1">
            <a:off x="5332314" y="2668691"/>
            <a:ext cx="1" cy="273721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2" name="Textfeld 899">
            <a:extLst>
              <a:ext uri="{FF2B5EF4-FFF2-40B4-BE49-F238E27FC236}">
                <a16:creationId xmlns:a16="http://schemas.microsoft.com/office/drawing/2014/main" id="{724BEC23-D482-4DB4-9BF0-C9DCC052C726}"/>
              </a:ext>
            </a:extLst>
          </p:cNvPr>
          <p:cNvSpPr txBox="1">
            <a:spLocks/>
          </p:cNvSpPr>
          <p:nvPr/>
        </p:nvSpPr>
        <p:spPr bwMode="gray">
          <a:xfrm>
            <a:off x="4142745" y="2692095"/>
            <a:ext cx="1347394" cy="2906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099" b="1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HTTPs</a:t>
            </a:r>
            <a:endParaRPr lang="en-US" sz="1099" b="1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93" name="Textfeld 899">
            <a:extLst>
              <a:ext uri="{FF2B5EF4-FFF2-40B4-BE49-F238E27FC236}">
                <a16:creationId xmlns:a16="http://schemas.microsoft.com/office/drawing/2014/main" id="{438D8D25-C1BB-40F5-A5EA-44110661F514}"/>
              </a:ext>
            </a:extLst>
          </p:cNvPr>
          <p:cNvSpPr txBox="1">
            <a:spLocks/>
          </p:cNvSpPr>
          <p:nvPr/>
        </p:nvSpPr>
        <p:spPr bwMode="gray">
          <a:xfrm>
            <a:off x="7432969" y="3063974"/>
            <a:ext cx="2661824" cy="3575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Advanced diagnosis algorithm </a:t>
            </a:r>
          </a:p>
          <a:p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based on x-tools output </a:t>
            </a:r>
          </a:p>
          <a:p>
            <a:r>
              <a:rPr lang="en-US" altLang="zh-CN" sz="999" dirty="0">
                <a:solidFill>
                  <a:srgbClr val="000000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(transfer the alert alarm info)</a:t>
            </a:r>
          </a:p>
          <a:p>
            <a:endParaRPr lang="en-US" altLang="zh-CN" sz="999" dirty="0">
              <a:solidFill>
                <a:srgbClr val="000000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94" name="Picture 393">
            <a:extLst>
              <a:ext uri="{FF2B5EF4-FFF2-40B4-BE49-F238E27FC236}">
                <a16:creationId xmlns:a16="http://schemas.microsoft.com/office/drawing/2014/main" id="{BACF941B-F5EA-49AA-80BF-3C2E2EF24648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4232" y="1472198"/>
            <a:ext cx="1854721" cy="1010713"/>
          </a:xfrm>
          <a:prstGeom prst="rect">
            <a:avLst/>
          </a:prstGeom>
        </p:spPr>
      </p:pic>
      <p:sp>
        <p:nvSpPr>
          <p:cNvPr id="390" name="Footer Placeholder 3">
            <a:extLst>
              <a:ext uri="{FF2B5EF4-FFF2-40B4-BE49-F238E27FC236}">
                <a16:creationId xmlns:a16="http://schemas.microsoft.com/office/drawing/2014/main" id="{0D846AB8-FE0D-45D7-ABCE-34CC84C8ED8B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</p:spTree>
    <p:extLst>
      <p:ext uri="{BB962C8B-B14F-4D97-AF65-F5344CB8AC3E}">
        <p14:creationId xmlns:p14="http://schemas.microsoft.com/office/powerpoint/2010/main" val="106344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3" name="Rechteck 2169">
            <a:extLst>
              <a:ext uri="{FF2B5EF4-FFF2-40B4-BE49-F238E27FC236}">
                <a16:creationId xmlns:a16="http://schemas.microsoft.com/office/drawing/2014/main" id="{65036EC9-251A-458B-9471-34FAD8ADC2F1}"/>
              </a:ext>
            </a:extLst>
          </p:cNvPr>
          <p:cNvSpPr>
            <a:spLocks/>
          </p:cNvSpPr>
          <p:nvPr/>
        </p:nvSpPr>
        <p:spPr bwMode="gray">
          <a:xfrm>
            <a:off x="5170846" y="4503717"/>
            <a:ext cx="5569017" cy="9071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399" b="1" dirty="0">
                <a:solidFill>
                  <a:schemeClr val="tx1"/>
                </a:solidFill>
                <a:cs typeface="Arial" panose="020B0604020202020204" pitchFamily="34" charset="0"/>
              </a:rPr>
              <a:t>On-Site sensors installation in Chain Conveyor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-Two sensors in one station 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 2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个传感器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工位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- For bearing and chain vibration signals 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 主要监测轴承和链的振动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- Magnet adsorption installation (recommend rigid connection)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目前是采用磁吸的方式安装传感器，建议采用刚性连接</a:t>
            </a:r>
            <a:endParaRPr lang="en-US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C06635-8668-4B49-B1BC-F7224BF3EFD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280" y="1267961"/>
            <a:ext cx="3367380" cy="2233543"/>
          </a:xfrm>
          <a:prstGeom prst="rect">
            <a:avLst/>
          </a:prstGeom>
          <a:ln w="28575">
            <a:solidFill>
              <a:srgbClr val="4BB9B9"/>
            </a:solidFill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D8B94BB-9DA3-4C8F-B320-B2E7A89E1BFA}"/>
              </a:ext>
            </a:extLst>
          </p:cNvPr>
          <p:cNvSpPr/>
          <p:nvPr/>
        </p:nvSpPr>
        <p:spPr bwMode="auto">
          <a:xfrm>
            <a:off x="1145225" y="2349413"/>
            <a:ext cx="431835" cy="227690"/>
          </a:xfrm>
          <a:prstGeom prst="ellipse">
            <a:avLst/>
          </a:prstGeom>
          <a:noFill/>
          <a:ln w="19050">
            <a:solidFill>
              <a:srgbClr val="4BB9B9"/>
            </a:solidFill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FD4819-8552-4A38-859C-AE2DB6675CA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280" y="3680699"/>
            <a:ext cx="3367380" cy="2239669"/>
          </a:xfrm>
          <a:prstGeom prst="rect">
            <a:avLst/>
          </a:prstGeom>
          <a:ln w="28575">
            <a:solidFill>
              <a:srgbClr val="4BB9B9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80218F-342B-4C74-9746-03F261889BAF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4772" y="1296117"/>
            <a:ext cx="6379631" cy="342838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F26A3B1-5EAD-41E3-AA0D-17DC5B5CB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>
                <a:latin typeface="Arial" pitchFamily="34" charset="0"/>
              </a:rPr>
              <a:t>UseCase</a:t>
            </a:r>
            <a:r>
              <a:rPr lang="zh-CN" altLang="en-US" dirty="0">
                <a:latin typeface="Arial" pitchFamily="34" charset="0"/>
              </a:rPr>
              <a:t>：</a:t>
            </a:r>
            <a:r>
              <a:rPr lang="en-US" altLang="zh-CN" dirty="0">
                <a:latin typeface="Arial" pitchFamily="34" charset="0"/>
              </a:rPr>
              <a:t>Chain Conveyor Pre-Maintenance in FAW-VW</a:t>
            </a:r>
            <a:br>
              <a:rPr lang="en-US" altLang="zh-CN" dirty="0">
                <a:latin typeface="Arial" pitchFamily="34" charset="0"/>
              </a:rPr>
            </a:br>
            <a:r>
              <a:rPr lang="zh-CN" altLang="en-US" dirty="0">
                <a:latin typeface="Arial" pitchFamily="34" charset="0"/>
              </a:rPr>
              <a:t>应用案例 ：底盘线</a:t>
            </a:r>
            <a:r>
              <a:rPr lang="en-US" altLang="zh-CN" dirty="0">
                <a:latin typeface="Arial" pitchFamily="34" charset="0"/>
              </a:rPr>
              <a:t>PA</a:t>
            </a:r>
            <a:r>
              <a:rPr lang="zh-CN" altLang="en-US" dirty="0">
                <a:latin typeface="Arial" pitchFamily="34" charset="0"/>
              </a:rPr>
              <a:t>链床预测性维护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61799BE-F3C2-42F6-ADB3-23A54F46F04C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</p:spTree>
    <p:extLst>
      <p:ext uri="{BB962C8B-B14F-4D97-AF65-F5344CB8AC3E}">
        <p14:creationId xmlns:p14="http://schemas.microsoft.com/office/powerpoint/2010/main" val="394965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D51DDDBB-3F0D-4642-B2FE-E61834557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7924" y="2061522"/>
            <a:ext cx="1655368" cy="165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8BCC69-CC28-44CA-8DA2-04E678620552}"/>
              </a:ext>
            </a:extLst>
          </p:cNvPr>
          <p:cNvCxnSpPr/>
          <p:nvPr/>
        </p:nvCxnSpPr>
        <p:spPr bwMode="auto">
          <a:xfrm>
            <a:off x="3361044" y="1269825"/>
            <a:ext cx="0" cy="4894131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4BB9B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feld 1554">
            <a:extLst>
              <a:ext uri="{FF2B5EF4-FFF2-40B4-BE49-F238E27FC236}">
                <a16:creationId xmlns:a16="http://schemas.microsoft.com/office/drawing/2014/main" id="{A81B93B5-A429-4095-9FCB-C7A2A102AF21}"/>
              </a:ext>
            </a:extLst>
          </p:cNvPr>
          <p:cNvSpPr txBox="1">
            <a:spLocks/>
          </p:cNvSpPr>
          <p:nvPr/>
        </p:nvSpPr>
        <p:spPr bwMode="gray">
          <a:xfrm>
            <a:off x="1189374" y="4111013"/>
            <a:ext cx="1392467" cy="21899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999" b="1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SiMaint</a:t>
            </a:r>
            <a:endParaRPr lang="en-US" sz="1999" b="1" dirty="0">
              <a:solidFill>
                <a:srgbClr val="0F8287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Textfeld 899">
            <a:extLst>
              <a:ext uri="{FF2B5EF4-FFF2-40B4-BE49-F238E27FC236}">
                <a16:creationId xmlns:a16="http://schemas.microsoft.com/office/drawing/2014/main" id="{22FCAA9A-8040-4A7D-89AF-A8840FE64DF1}"/>
              </a:ext>
            </a:extLst>
          </p:cNvPr>
          <p:cNvSpPr txBox="1">
            <a:spLocks/>
          </p:cNvSpPr>
          <p:nvPr/>
        </p:nvSpPr>
        <p:spPr bwMode="gray">
          <a:xfrm>
            <a:off x="554695" y="4662440"/>
            <a:ext cx="2661824" cy="3575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Pre-Maintenance Service</a:t>
            </a:r>
          </a:p>
          <a:p>
            <a:pPr algn="ctr"/>
            <a:r>
              <a:rPr lang="zh-CN" altLang="en-US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预维护应用服务</a:t>
            </a:r>
            <a:endParaRPr lang="en-US" altLang="zh-CN" sz="999" dirty="0">
              <a:solidFill>
                <a:srgbClr val="0F8287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ctr"/>
            <a:r>
              <a:rPr lang="en-US" altLang="zh-CN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Application was deployed in </a:t>
            </a:r>
            <a:r>
              <a:rPr lang="en-US" altLang="zh-CN" sz="999" dirty="0" err="1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MindSphere</a:t>
            </a:r>
            <a:endParaRPr lang="en-US" altLang="zh-CN" sz="999" dirty="0">
              <a:solidFill>
                <a:srgbClr val="0F8287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ctr"/>
            <a:r>
              <a:rPr lang="en-US" altLang="zh-CN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(also support local deployment)</a:t>
            </a:r>
          </a:p>
          <a:p>
            <a:pPr algn="ctr"/>
            <a:endParaRPr lang="en-US" altLang="zh-CN" sz="999" dirty="0">
              <a:solidFill>
                <a:srgbClr val="0F8287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898A66-1912-45DA-B183-779A58E01C7A}"/>
              </a:ext>
            </a:extLst>
          </p:cNvPr>
          <p:cNvPicPr/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3460" y="1154137"/>
            <a:ext cx="7052723" cy="3407121"/>
          </a:xfrm>
          <a:prstGeom prst="rect">
            <a:avLst/>
          </a:prstGeom>
          <a:ln w="28575">
            <a:solidFill>
              <a:srgbClr val="4BB9B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5947E3-0339-4E57-AB29-2783FF286ADA}"/>
              </a:ext>
            </a:extLst>
          </p:cNvPr>
          <p:cNvPicPr/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8295" y="4662440"/>
            <a:ext cx="3118801" cy="1764871"/>
          </a:xfrm>
          <a:prstGeom prst="rect">
            <a:avLst/>
          </a:prstGeom>
          <a:ln w="19050">
            <a:solidFill>
              <a:srgbClr val="4BB9B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6D8D24-1D67-4011-B5E3-00E3DA28AA72}"/>
              </a:ext>
            </a:extLst>
          </p:cNvPr>
          <p:cNvPicPr/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5585" y="4662440"/>
            <a:ext cx="3670598" cy="1768697"/>
          </a:xfrm>
          <a:prstGeom prst="rect">
            <a:avLst/>
          </a:prstGeom>
          <a:ln w="19050">
            <a:solidFill>
              <a:srgbClr val="4BB9B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33B749E2-208F-4B44-A78C-504C14A2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7798" y="33792"/>
            <a:ext cx="12725011" cy="576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626074" tIns="431775" rIns="2122894" bIns="23387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>
                <a:latin typeface="Arial" pitchFamily="34" charset="0"/>
              </a:rPr>
              <a:t>UseCase</a:t>
            </a:r>
            <a:r>
              <a:rPr lang="zh-CN" altLang="en-US" dirty="0">
                <a:latin typeface="Arial" pitchFamily="34" charset="0"/>
              </a:rPr>
              <a:t>：</a:t>
            </a:r>
            <a:r>
              <a:rPr lang="en-US" altLang="zh-CN" dirty="0">
                <a:latin typeface="Arial" pitchFamily="34" charset="0"/>
              </a:rPr>
              <a:t>Chain Conveyor Pre-Maintenance in FAW-VW</a:t>
            </a:r>
            <a:br>
              <a:rPr lang="en-US" altLang="zh-CN" dirty="0">
                <a:latin typeface="Arial" pitchFamily="34" charset="0"/>
              </a:rPr>
            </a:br>
            <a:r>
              <a:rPr lang="zh-CN" altLang="en-US" dirty="0">
                <a:latin typeface="Arial" pitchFamily="34" charset="0"/>
              </a:rPr>
              <a:t>应用案例 ：底盘线</a:t>
            </a:r>
            <a:r>
              <a:rPr lang="en-US" altLang="zh-CN" dirty="0">
                <a:latin typeface="Arial" pitchFamily="34" charset="0"/>
              </a:rPr>
              <a:t>PA</a:t>
            </a:r>
            <a:r>
              <a:rPr lang="zh-CN" altLang="en-US" dirty="0">
                <a:latin typeface="Arial" pitchFamily="34" charset="0"/>
              </a:rPr>
              <a:t>链床预测性维护</a:t>
            </a:r>
            <a:endParaRPr lang="en-US" dirty="0">
              <a:latin typeface="Arial" pitchFamily="34" charset="0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EAF85D1-8518-4C9B-BAC5-AAB90C60709E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</p:spTree>
    <p:extLst>
      <p:ext uri="{BB962C8B-B14F-4D97-AF65-F5344CB8AC3E}">
        <p14:creationId xmlns:p14="http://schemas.microsoft.com/office/powerpoint/2010/main" val="78925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3416-D6E6-489E-A6F5-BBE4A039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Successful Case</a:t>
            </a:r>
            <a:endParaRPr lang="en-US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8D13068-C932-435B-8A66-935783FDA1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578849"/>
              </p:ext>
            </p:extLst>
          </p:nvPr>
        </p:nvGraphicFramePr>
        <p:xfrm>
          <a:off x="422785" y="1328261"/>
          <a:ext cx="3021150" cy="1304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21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altLang="zh-CN" sz="1400" b="0" u="none" strike="noStrike" dirty="0">
                          <a:solidFill>
                            <a:srgbClr val="005F87"/>
                          </a:solidFill>
                          <a:effectLst/>
                        </a:rPr>
                        <a:t>FAW</a:t>
                      </a:r>
                      <a:r>
                        <a:rPr lang="en-GB" sz="1400" b="0" u="none" strike="noStrike" dirty="0">
                          <a:solidFill>
                            <a:srgbClr val="005F87"/>
                          </a:solidFill>
                          <a:effectLst/>
                        </a:rPr>
                        <a:t>-VW, </a:t>
                      </a:r>
                      <a:r>
                        <a:rPr lang="en-US" altLang="zh-CN" sz="1400" b="0" u="none" strike="noStrike" kern="1200" dirty="0">
                          <a:solidFill>
                            <a:srgbClr val="005F87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Chengdu West</a:t>
                      </a:r>
                      <a:endParaRPr lang="en-US" sz="1400" b="0" u="none" strike="noStrike" kern="1200" dirty="0">
                        <a:solidFill>
                          <a:srgbClr val="005F87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44" marR="107944" marT="35981" marB="3598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6E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rgbClr val="0F8287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8000" marR="108000" marT="1800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F82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82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9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47">
                <a:tc>
                  <a:txBody>
                    <a:bodyPr/>
                    <a:lstStyle/>
                    <a:p>
                      <a:pPr algn="l"/>
                      <a:r>
                        <a:rPr lang="en-US" sz="1200" b="0" spc="-10" dirty="0">
                          <a:solidFill>
                            <a:schemeClr val="tx1"/>
                          </a:solidFill>
                        </a:rPr>
                        <a:t>Plant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07944" marR="107944" marT="35981" marB="3598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spc="-10" dirty="0">
                          <a:solidFill>
                            <a:schemeClr val="tx1"/>
                          </a:solidFill>
                        </a:rPr>
                        <a:t>FAW-VW West</a:t>
                      </a:r>
                      <a:endParaRPr lang="en-US" sz="1200" b="0" spc="-10" dirty="0">
                        <a:solidFill>
                          <a:schemeClr val="tx1"/>
                        </a:solidFill>
                      </a:endParaRPr>
                    </a:p>
                  </a:txBody>
                  <a:tcPr marL="107944" marR="107944" marT="17991" marB="17991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005F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47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Device</a:t>
                      </a:r>
                    </a:p>
                  </a:txBody>
                  <a:tcPr marL="107944" marR="107944" marT="35981" marB="3598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spc="-10" dirty="0">
                          <a:solidFill>
                            <a:schemeClr val="tx1"/>
                          </a:solidFill>
                        </a:rPr>
                        <a:t>Chain Conveyor </a:t>
                      </a:r>
                      <a:endParaRPr lang="de-DE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44" marR="107944" marT="17991" marB="17991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47">
                <a:tc>
                  <a:txBody>
                    <a:bodyPr/>
                    <a:lstStyle/>
                    <a:p>
                      <a:pPr algn="l"/>
                      <a:r>
                        <a:rPr lang="en-US" sz="1200" b="0" spc="-10" dirty="0" err="1">
                          <a:solidFill>
                            <a:schemeClr val="tx1"/>
                          </a:solidFill>
                        </a:rPr>
                        <a:t>CarType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07944" marR="107944" marT="35981" marB="3598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kern="1200" spc="-1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Sagitar</a:t>
                      </a:r>
                      <a:r>
                        <a:rPr lang="en-GB" sz="1200" b="0" kern="1200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200" b="0" kern="1200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Jetta VA3</a:t>
                      </a:r>
                      <a:endParaRPr lang="en-US" sz="1200" b="0" kern="1200" spc="-1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7944" marR="107944" marT="17991" marB="17991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spc="-10" dirty="0">
                          <a:solidFill>
                            <a:schemeClr val="tx1"/>
                          </a:solidFill>
                        </a:rPr>
                        <a:t>Cycle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07944" marR="107944" marT="35981" marB="35981"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200" b="0" dirty="0">
                          <a:solidFill>
                            <a:schemeClr val="tx1"/>
                          </a:solidFill>
                        </a:rPr>
                        <a:t>60 JPH</a:t>
                      </a:r>
                    </a:p>
                  </a:txBody>
                  <a:tcPr marL="107944" marR="107944" marT="17991" marB="17991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dtText Box 4 Id114692">
            <a:extLst>
              <a:ext uri="{FF2B5EF4-FFF2-40B4-BE49-F238E27FC236}">
                <a16:creationId xmlns:a16="http://schemas.microsoft.com/office/drawing/2014/main" id="{9024CC6E-5082-47C1-AA5D-3D19FCB77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85" y="4676980"/>
            <a:ext cx="3021151" cy="1558948"/>
          </a:xfrm>
          <a:prstGeom prst="rect">
            <a:avLst/>
          </a:prstGeo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lIns="143925" tIns="0" rIns="0" bIns="0" anchor="ctr" anchorCtr="0">
            <a:noAutofit/>
          </a:bodyPr>
          <a:lstStyle/>
          <a:p>
            <a:pPr algn="ctr" defTabSz="914218" hangingPunct="0"/>
            <a:endParaRPr lang="en-US" altLang="zh-CN" sz="1399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8416D-92ED-4275-8831-904F2CF91AE6}"/>
              </a:ext>
            </a:extLst>
          </p:cNvPr>
          <p:cNvSpPr txBox="1"/>
          <p:nvPr/>
        </p:nvSpPr>
        <p:spPr>
          <a:xfrm>
            <a:off x="513551" y="5106724"/>
            <a:ext cx="2980864" cy="4921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5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en-US" altLang="zh-CN" sz="1599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5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Jun, Rear-Axle Pallet Return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928DB-C077-42FB-A53C-886FEF777BA7}"/>
              </a:ext>
            </a:extLst>
          </p:cNvPr>
          <p:cNvSpPr/>
          <p:nvPr/>
        </p:nvSpPr>
        <p:spPr bwMode="auto">
          <a:xfrm>
            <a:off x="3592698" y="1278275"/>
            <a:ext cx="8299883" cy="4969082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solidFill>
              <a:srgbClr val="32A0A0"/>
            </a:solidFill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rtlCol="0" anchor="ctr"/>
          <a:lstStyle/>
          <a:p>
            <a:pPr algn="ctr"/>
            <a:endParaRPr lang="en-US" sz="1199" b="1" dirty="0" err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hteck 2169">
            <a:extLst>
              <a:ext uri="{FF2B5EF4-FFF2-40B4-BE49-F238E27FC236}">
                <a16:creationId xmlns:a16="http://schemas.microsoft.com/office/drawing/2014/main" id="{05968824-9AF4-4307-978E-EC1BE9E94703}"/>
              </a:ext>
            </a:extLst>
          </p:cNvPr>
          <p:cNvSpPr>
            <a:spLocks/>
          </p:cNvSpPr>
          <p:nvPr/>
        </p:nvSpPr>
        <p:spPr bwMode="gray">
          <a:xfrm>
            <a:off x="3941536" y="1401991"/>
            <a:ext cx="2377337" cy="5245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buClr>
                <a:srgbClr val="879BAA"/>
              </a:buClr>
            </a:pPr>
            <a:r>
              <a:rPr lang="en-US" altLang="zh-CN" sz="15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Characteristics</a:t>
            </a:r>
            <a:endParaRPr lang="en-US" sz="1599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hteck 2169">
            <a:extLst>
              <a:ext uri="{FF2B5EF4-FFF2-40B4-BE49-F238E27FC236}">
                <a16:creationId xmlns:a16="http://schemas.microsoft.com/office/drawing/2014/main" id="{DE2CAF49-B633-48FB-B21D-B66E063F034E}"/>
              </a:ext>
            </a:extLst>
          </p:cNvPr>
          <p:cNvSpPr>
            <a:spLocks/>
          </p:cNvSpPr>
          <p:nvPr/>
        </p:nvSpPr>
        <p:spPr bwMode="gray">
          <a:xfrm>
            <a:off x="7595731" y="5697974"/>
            <a:ext cx="4446560" cy="5245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buClr>
                <a:srgbClr val="879BAA"/>
              </a:buClr>
            </a:pPr>
            <a:r>
              <a:rPr lang="en-US" altLang="zh-CN" sz="999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Source</a:t>
            </a:r>
            <a:r>
              <a:rPr lang="zh-CN" altLang="en-US" sz="9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vibration sensor</a:t>
            </a:r>
            <a:r>
              <a:rPr lang="zh-CN" altLang="en-US" sz="9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9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unit: g (g=9.8</a:t>
            </a:r>
            <a:r>
              <a:rPr lang="zh-CN" altLang="en-US" sz="9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9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m/s2)</a:t>
            </a:r>
            <a:r>
              <a:rPr lang="zh-CN" altLang="en-US" sz="9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999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rgbClr val="879BAA"/>
              </a:buClr>
            </a:pPr>
            <a:r>
              <a:rPr lang="en-US" altLang="zh-CN" sz="999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Segment</a:t>
            </a:r>
            <a:r>
              <a:rPr lang="zh-CN" altLang="en-US" sz="9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Fetch Data Points on 2020-06-21 and 2020-06-24</a:t>
            </a:r>
            <a:endParaRPr lang="en-US" sz="999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hteck 2169">
            <a:extLst>
              <a:ext uri="{FF2B5EF4-FFF2-40B4-BE49-F238E27FC236}">
                <a16:creationId xmlns:a16="http://schemas.microsoft.com/office/drawing/2014/main" id="{832F95CB-D362-4025-896F-AAEB7A12AE01}"/>
              </a:ext>
            </a:extLst>
          </p:cNvPr>
          <p:cNvSpPr>
            <a:spLocks/>
          </p:cNvSpPr>
          <p:nvPr/>
        </p:nvSpPr>
        <p:spPr bwMode="gray">
          <a:xfrm>
            <a:off x="4249252" y="3882178"/>
            <a:ext cx="2734956" cy="168653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buClr>
                <a:srgbClr val="879BAA"/>
              </a:buClr>
            </a:pPr>
            <a:r>
              <a:rPr lang="en-US" altLang="zh-CN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Fault Station</a:t>
            </a:r>
            <a:r>
              <a:rPr lang="zh-CN" altLang="en-US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TF3110</a:t>
            </a:r>
          </a:p>
          <a:p>
            <a:pPr>
              <a:buClr>
                <a:srgbClr val="879BAA"/>
              </a:buClr>
            </a:pPr>
            <a:r>
              <a:rPr lang="en-US" altLang="zh-CN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Characteristics</a:t>
            </a:r>
            <a:r>
              <a:rPr lang="zh-CN" altLang="en-US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monitoring data value is abnormally high energy in short-time interval, higher than the algorithm threshold.</a:t>
            </a:r>
          </a:p>
          <a:p>
            <a:pPr>
              <a:buClr>
                <a:srgbClr val="879BAA"/>
              </a:buClr>
            </a:pPr>
            <a:r>
              <a:rPr lang="en-US" altLang="zh-CN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Feedback from engineer</a:t>
            </a:r>
            <a:r>
              <a:rPr lang="zh-CN" altLang="en-US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After tightening the gun to jack up the prattle, the rear-axle pallet not return its original position automatically; when the prattle runs to this station, the rear- axle pallet returns back to position .</a:t>
            </a:r>
            <a:endParaRPr lang="en-US" sz="1199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hteck 2169">
            <a:extLst>
              <a:ext uri="{FF2B5EF4-FFF2-40B4-BE49-F238E27FC236}">
                <a16:creationId xmlns:a16="http://schemas.microsoft.com/office/drawing/2014/main" id="{79191F1A-A8CA-484B-BAC6-5ADB47FD4C17}"/>
              </a:ext>
            </a:extLst>
          </p:cNvPr>
          <p:cNvSpPr>
            <a:spLocks/>
          </p:cNvSpPr>
          <p:nvPr/>
        </p:nvSpPr>
        <p:spPr bwMode="gray">
          <a:xfrm>
            <a:off x="8111230" y="3882178"/>
            <a:ext cx="2734956" cy="168653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buClr>
                <a:srgbClr val="879BAA"/>
              </a:buClr>
            </a:pPr>
            <a:r>
              <a:rPr lang="en-US" altLang="zh-CN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Impact Station</a:t>
            </a:r>
            <a:r>
              <a:rPr lang="zh-CN" altLang="en-US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TF3110</a:t>
            </a:r>
          </a:p>
          <a:p>
            <a:pPr>
              <a:buClr>
                <a:srgbClr val="879BAA"/>
              </a:buClr>
            </a:pPr>
            <a:r>
              <a:rPr lang="en-US" altLang="zh-CN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Characteristics</a:t>
            </a:r>
            <a:r>
              <a:rPr lang="zh-CN" altLang="en-US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The monitoring data value has multiple times burst abnormal energy, which is higher than the algorithm threshold</a:t>
            </a:r>
          </a:p>
          <a:p>
            <a:pPr>
              <a:buClr>
                <a:srgbClr val="879BAA"/>
              </a:buClr>
            </a:pPr>
            <a:r>
              <a:rPr lang="en-US" altLang="zh-CN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Feedback from engineer</a:t>
            </a:r>
            <a:r>
              <a:rPr lang="zh-CN" altLang="en-US" sz="119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99" dirty="0">
                <a:latin typeface="微软雅黑" panose="020B0503020204020204" pitchFamily="34" charset="-122"/>
                <a:ea typeface="微软雅黑" panose="020B0503020204020204" pitchFamily="34" charset="-122"/>
              </a:rPr>
              <a:t>Due to the chain was  clipped by a screw.</a:t>
            </a:r>
            <a:endParaRPr lang="en-US" sz="1199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CD04AA-CA95-4E0F-841B-14F07EE1D83A}"/>
              </a:ext>
            </a:extLst>
          </p:cNvPr>
          <p:cNvSpPr txBox="1"/>
          <p:nvPr/>
        </p:nvSpPr>
        <p:spPr>
          <a:xfrm>
            <a:off x="509613" y="4819069"/>
            <a:ext cx="2980864" cy="2768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7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TF3110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A6125C-2336-4DB2-A768-67F38A04811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208" y="3033824"/>
            <a:ext cx="2916302" cy="1558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D21106-D93D-46A7-8902-4A041EDEB067}"/>
              </a:ext>
            </a:extLst>
          </p:cNvPr>
          <p:cNvSpPr txBox="1"/>
          <p:nvPr/>
        </p:nvSpPr>
        <p:spPr>
          <a:xfrm>
            <a:off x="513551" y="5681483"/>
            <a:ext cx="2787294" cy="4921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5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en-US" altLang="zh-CN" sz="1599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599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Jun, Chain Clipped because of screw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A14945-62DB-4EE2-9303-8A27D8A2FC5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5810" y="1745271"/>
            <a:ext cx="3158093" cy="19658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B39A7-9DED-47B7-9CB6-0DF82DB0500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2639" y="1745270"/>
            <a:ext cx="3158093" cy="197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spcBef>
                <a:spcPct val="0"/>
              </a:spcBef>
              <a:buFont typeface="Wingdings" charset="0"/>
              <a:buNone/>
            </a:pPr>
            <a:endParaRPr lang="en-US" sz="4398" b="1" dirty="0">
              <a:cs typeface="+mn-ea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735" y="4094044"/>
            <a:ext cx="11311835" cy="2136412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Rubber Coating Wheel Pre-Maintenance of EMS Line </a:t>
            </a:r>
            <a:br>
              <a:rPr lang="en-US" altLang="zh-CN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EMS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输送线包胶轮 预测性维护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299702"/>
            <a:ext cx="9863997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Summary of field investigation </a:t>
            </a:r>
            <a:r>
              <a:rPr lang="en-US" altLang="zh-CN" dirty="0"/>
              <a:t>on rubber coating wheel</a:t>
            </a:r>
            <a:br>
              <a:rPr lang="en-US" altLang="zh-CN" dirty="0"/>
            </a:br>
            <a:r>
              <a:rPr lang="en-US" altLang="zh-CN" dirty="0"/>
              <a:t>EMS</a:t>
            </a:r>
            <a:r>
              <a:rPr lang="zh-CN" altLang="en-US" dirty="0"/>
              <a:t>线包胶轮现场调研总结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8B093-647B-494F-AC22-600395B18F1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021" y="1058299"/>
            <a:ext cx="3411130" cy="280478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FD71FE-5E29-4765-B94F-92EE1F69789B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5253" y="1058298"/>
            <a:ext cx="3279549" cy="280478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7" name="Arrow: Chevron 6">
            <a:extLst>
              <a:ext uri="{FF2B5EF4-FFF2-40B4-BE49-F238E27FC236}">
                <a16:creationId xmlns:a16="http://schemas.microsoft.com/office/drawing/2014/main" id="{CB7FF401-301A-45CC-88FD-6FD6ADA0CDC3}"/>
              </a:ext>
            </a:extLst>
          </p:cNvPr>
          <p:cNvSpPr/>
          <p:nvPr/>
        </p:nvSpPr>
        <p:spPr>
          <a:xfrm>
            <a:off x="4118998" y="1957258"/>
            <a:ext cx="380144" cy="50343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" name="内容占位符 11">
            <a:extLst>
              <a:ext uri="{FF2B5EF4-FFF2-40B4-BE49-F238E27FC236}">
                <a16:creationId xmlns:a16="http://schemas.microsoft.com/office/drawing/2014/main" id="{9666610E-DCF8-4A81-B6AF-A8568E43C950}"/>
              </a:ext>
            </a:extLst>
          </p:cNvPr>
          <p:cNvPicPr preferRelativeResize="0">
            <a:picLocks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90905" y="1058299"/>
            <a:ext cx="3160442" cy="2804784"/>
          </a:xfrm>
          <a:prstGeom prst="rect">
            <a:avLst/>
          </a:prstGeom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2BBC9D97-3663-426F-B579-B08C1196D1A7}"/>
              </a:ext>
            </a:extLst>
          </p:cNvPr>
          <p:cNvSpPr/>
          <p:nvPr/>
        </p:nvSpPr>
        <p:spPr>
          <a:xfrm>
            <a:off x="8122781" y="1957257"/>
            <a:ext cx="380144" cy="503433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hteck 2169">
            <a:extLst>
              <a:ext uri="{FF2B5EF4-FFF2-40B4-BE49-F238E27FC236}">
                <a16:creationId xmlns:a16="http://schemas.microsoft.com/office/drawing/2014/main" id="{CBDE902B-3653-4AC1-B98D-63A5A0543B0A}"/>
              </a:ext>
            </a:extLst>
          </p:cNvPr>
          <p:cNvSpPr>
            <a:spLocks/>
          </p:cNvSpPr>
          <p:nvPr/>
        </p:nvSpPr>
        <p:spPr bwMode="gray">
          <a:xfrm>
            <a:off x="488020" y="4067627"/>
            <a:ext cx="3935111" cy="17540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sz="14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Regular Inspection 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+mn-ea"/>
                <a:ea typeface="+mn-ea"/>
              </a:rPr>
              <a:t>正常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巡检</a:t>
            </a:r>
            <a:endParaRPr lang="en-US" sz="14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Number of FAW-VW EMS Spreader 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110 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现场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EMS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线，含有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110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架吊具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Number of Rubber Driving Wheel on each Spreader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每个吊具上有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个驱动包胶轮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Daily times of inspection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每天巡检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次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Time cost of inspection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1 hour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每次巡检消耗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小时</a:t>
            </a:r>
            <a:endParaRPr lang="en-US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hteck 2169">
            <a:extLst>
              <a:ext uri="{FF2B5EF4-FFF2-40B4-BE49-F238E27FC236}">
                <a16:creationId xmlns:a16="http://schemas.microsoft.com/office/drawing/2014/main" id="{CB91E078-C15F-471C-9F28-4E8E20162A9B}"/>
              </a:ext>
            </a:extLst>
          </p:cNvPr>
          <p:cNvSpPr>
            <a:spLocks/>
          </p:cNvSpPr>
          <p:nvPr/>
        </p:nvSpPr>
        <p:spPr bwMode="gray">
          <a:xfrm>
            <a:off x="4488868" y="4045678"/>
            <a:ext cx="3935111" cy="270754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sz="1400" b="1" dirty="0">
                <a:solidFill>
                  <a:srgbClr val="333333"/>
                </a:solidFill>
                <a:latin typeface="+mn-ea"/>
                <a:ea typeface="+mn-ea"/>
              </a:rPr>
              <a:t>Rubber Coating Wheel Fault 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包胶轮故障</a:t>
            </a:r>
            <a:endParaRPr lang="en-US" sz="14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Cost of Rubber Coating Wheel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2000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CNY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国产包胶轮价格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2000+ CNY</a:t>
            </a: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Times of unplanned shutdown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10 +/Year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每年的计划外停机次数：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次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Inspection Method for the fault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based-on rubber chip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检查故障的方式：巡检时查看橡胶碎块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General service life (based on experience): 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2 +/-  years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包胶轮的经验寿命：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年左右，进行定时更换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Clr>
                <a:srgbClr val="879BAA"/>
              </a:buClr>
            </a:pP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hteck 2169">
            <a:extLst>
              <a:ext uri="{FF2B5EF4-FFF2-40B4-BE49-F238E27FC236}">
                <a16:creationId xmlns:a16="http://schemas.microsoft.com/office/drawing/2014/main" id="{AE3A84A9-53D4-4CAC-A84C-26AEE8ABEC3E}"/>
              </a:ext>
            </a:extLst>
          </p:cNvPr>
          <p:cNvSpPr>
            <a:spLocks/>
          </p:cNvSpPr>
          <p:nvPr/>
        </p:nvSpPr>
        <p:spPr bwMode="gray">
          <a:xfrm>
            <a:off x="8583543" y="4045678"/>
            <a:ext cx="3536948" cy="17540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>
              <a:defRPr lang="de-DE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bg2"/>
                </a:solidFill>
                <a:latin typeface="Arial" pitchFamily="34" charset="0"/>
                <a:ea typeface="ＭＳ Ｐゴシック" charset="-128"/>
                <a:cs typeface="+mn-cs"/>
              </a:defRPr>
            </a:lvl9pPr>
          </a:lstStyle>
          <a:p>
            <a:pPr algn="l" rtl="0"/>
            <a:r>
              <a:rPr lang="en-US" altLang="zh-CN" sz="1400" b="1" dirty="0">
                <a:solidFill>
                  <a:srgbClr val="333333"/>
                </a:solidFill>
                <a:latin typeface="+mn-ea"/>
                <a:ea typeface="+mn-ea"/>
              </a:rPr>
              <a:t>Maintenance</a:t>
            </a:r>
            <a:r>
              <a:rPr lang="en-US" sz="1400" b="1" dirty="0">
                <a:solidFill>
                  <a:srgbClr val="333333"/>
                </a:solidFill>
                <a:latin typeface="+mn-ea"/>
                <a:ea typeface="+mn-ea"/>
              </a:rPr>
              <a:t> </a:t>
            </a:r>
            <a:r>
              <a:rPr lang="zh-CN" altLang="en-US" sz="1400" b="1" dirty="0">
                <a:solidFill>
                  <a:srgbClr val="333333"/>
                </a:solidFill>
                <a:latin typeface="+mn-ea"/>
                <a:ea typeface="+mn-ea"/>
              </a:rPr>
              <a:t>维修</a:t>
            </a:r>
            <a:endParaRPr lang="en-US" sz="14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Maintenance time of fault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30~60 mins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维修时长一般是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30~60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分钟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Difficulty of maintenance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High altitude operation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so it is more difficult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高空作业维护，所以难度较高，特别是两端的驱动轮更难更换</a:t>
            </a:r>
            <a:endParaRPr lang="en-US" altLang="zh-CN" sz="1399" dirty="0">
              <a:solidFill>
                <a:schemeClr val="tx1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indent="-285750">
              <a:spcBef>
                <a:spcPts val="0"/>
              </a:spcBef>
              <a:buClr>
                <a:srgbClr val="879BAA"/>
              </a:buClr>
              <a:buFont typeface="Wingdings" panose="05000000000000000000" pitchFamily="2" charset="2"/>
              <a:buChar char="§"/>
            </a:pP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Maintenance engineer requirements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need trained engineers,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at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least</a:t>
            </a:r>
            <a:r>
              <a:rPr lang="zh-CN" altLang="en-US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399" dirty="0">
                <a:solidFill>
                  <a:schemeClr val="tx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3 engineers to maintenance</a:t>
            </a:r>
          </a:p>
          <a:p>
            <a:pPr>
              <a:spcBef>
                <a:spcPts val="0"/>
              </a:spcBef>
              <a:buClr>
                <a:srgbClr val="879BAA"/>
              </a:buClr>
            </a:pPr>
            <a:r>
              <a:rPr lang="zh-CN" altLang="en-US" sz="1399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需要经过培训的工程师进行维修，且需要至少</a:t>
            </a:r>
            <a:r>
              <a:rPr lang="en-US" altLang="zh-CN" sz="1399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1399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人协同合作维修</a:t>
            </a:r>
            <a:endParaRPr lang="en-US" sz="1399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A01D50-B253-4DD5-A1AA-C3D2724236CB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</p:spTree>
    <p:extLst>
      <p:ext uri="{BB962C8B-B14F-4D97-AF65-F5344CB8AC3E}">
        <p14:creationId xmlns:p14="http://schemas.microsoft.com/office/powerpoint/2010/main" val="272784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299702"/>
            <a:ext cx="10637180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/>
              <a:t>Solution of Rubber Coating Wheel Pre-Maintenance based on Vibration</a:t>
            </a:r>
            <a:br>
              <a:rPr lang="en-US" altLang="zh-CN" dirty="0"/>
            </a:br>
            <a:r>
              <a:rPr lang="zh-CN" altLang="en-US" dirty="0"/>
              <a:t>基于振动的包胶轮预测维护方案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B087B7-5138-4E3D-9510-2A38EF93BE6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2793" y="3789344"/>
            <a:ext cx="1727684" cy="1295763"/>
          </a:xfrm>
          <a:prstGeom prst="rect">
            <a:avLst/>
          </a:prstGeom>
        </p:spPr>
      </p:pic>
      <p:cxnSp>
        <p:nvCxnSpPr>
          <p:cNvPr id="14" name="Gerade Verbindung 126">
            <a:extLst>
              <a:ext uri="{FF2B5EF4-FFF2-40B4-BE49-F238E27FC236}">
                <a16:creationId xmlns:a16="http://schemas.microsoft.com/office/drawing/2014/main" id="{30566FA0-7BEE-4A4F-AFB5-D8B36FDAA37B}"/>
              </a:ext>
            </a:extLst>
          </p:cNvPr>
          <p:cNvCxnSpPr/>
          <p:nvPr/>
        </p:nvCxnSpPr>
        <p:spPr bwMode="auto">
          <a:xfrm flipV="1">
            <a:off x="1988456" y="2954194"/>
            <a:ext cx="7673456" cy="7408"/>
          </a:xfrm>
          <a:prstGeom prst="line">
            <a:avLst/>
          </a:prstGeom>
          <a:solidFill>
            <a:schemeClr val="tx2"/>
          </a:solidFill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Gerade Verbindung 141">
            <a:extLst>
              <a:ext uri="{FF2B5EF4-FFF2-40B4-BE49-F238E27FC236}">
                <a16:creationId xmlns:a16="http://schemas.microsoft.com/office/drawing/2014/main" id="{622A65D8-2357-4DC1-A71A-CD8705E64F24}"/>
              </a:ext>
            </a:extLst>
          </p:cNvPr>
          <p:cNvCxnSpPr/>
          <p:nvPr/>
        </p:nvCxnSpPr>
        <p:spPr bwMode="auto">
          <a:xfrm>
            <a:off x="5542112" y="2517205"/>
            <a:ext cx="3" cy="416861"/>
          </a:xfrm>
          <a:prstGeom prst="line">
            <a:avLst/>
          </a:prstGeom>
          <a:solidFill>
            <a:schemeClr val="tx2"/>
          </a:solidFill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hteck 52">
            <a:extLst>
              <a:ext uri="{FF2B5EF4-FFF2-40B4-BE49-F238E27FC236}">
                <a16:creationId xmlns:a16="http://schemas.microsoft.com/office/drawing/2014/main" id="{B8447DBB-5D2B-45EE-B68D-1FE67AFE0F49}"/>
              </a:ext>
            </a:extLst>
          </p:cNvPr>
          <p:cNvSpPr/>
          <p:nvPr/>
        </p:nvSpPr>
        <p:spPr>
          <a:xfrm>
            <a:off x="5880869" y="3155674"/>
            <a:ext cx="874341" cy="25391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de-DE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Ethernet</a:t>
            </a:r>
          </a:p>
        </p:txBody>
      </p:sp>
      <p:cxnSp>
        <p:nvCxnSpPr>
          <p:cNvPr id="18" name="Gewinkelte Verbindung 35">
            <a:extLst>
              <a:ext uri="{FF2B5EF4-FFF2-40B4-BE49-F238E27FC236}">
                <a16:creationId xmlns:a16="http://schemas.microsoft.com/office/drawing/2014/main" id="{CB7E9D57-09B3-47CE-BD20-A5E420FD5651}"/>
              </a:ext>
            </a:extLst>
          </p:cNvPr>
          <p:cNvCxnSpPr/>
          <p:nvPr/>
        </p:nvCxnSpPr>
        <p:spPr bwMode="auto">
          <a:xfrm flipV="1">
            <a:off x="3995971" y="4129823"/>
            <a:ext cx="3106822" cy="451787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50800" cap="flat" cmpd="sng" algn="ctr">
            <a:solidFill>
              <a:srgbClr val="FFB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hteck 38">
            <a:extLst>
              <a:ext uri="{FF2B5EF4-FFF2-40B4-BE49-F238E27FC236}">
                <a16:creationId xmlns:a16="http://schemas.microsoft.com/office/drawing/2014/main" id="{1C38737D-7F4A-4476-90FD-15FE3F48EACB}"/>
              </a:ext>
            </a:extLst>
          </p:cNvPr>
          <p:cNvSpPr/>
          <p:nvPr/>
        </p:nvSpPr>
        <p:spPr>
          <a:xfrm>
            <a:off x="5653215" y="4436183"/>
            <a:ext cx="1576167" cy="73866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- Vibration sensor</a:t>
            </a:r>
            <a:r>
              <a:rPr lang="de-DE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zh-CN" altLang="en-US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* </a:t>
            </a:r>
            <a:r>
              <a:rPr lang="en-US" altLang="zh-CN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</a:p>
          <a:p>
            <a:r>
              <a:rPr lang="en-US" altLang="zh-CN" sz="1050" b="1" dirty="0">
                <a:solidFill>
                  <a:srgbClr val="000000"/>
                </a:solidFill>
                <a:cs typeface="+mn-ea"/>
                <a:sym typeface="+mn-lt"/>
              </a:rPr>
              <a:t>on EMS track</a:t>
            </a:r>
            <a:endParaRPr lang="en-US" altLang="zh-CN" sz="105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在包胶轮轨道上安装</a:t>
            </a:r>
            <a:r>
              <a:rPr lang="en-US" altLang="zh-CN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个振动传感器</a:t>
            </a:r>
            <a:endParaRPr lang="en-US" altLang="zh-CN" sz="105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Rechteck 94">
            <a:extLst>
              <a:ext uri="{FF2B5EF4-FFF2-40B4-BE49-F238E27FC236}">
                <a16:creationId xmlns:a16="http://schemas.microsoft.com/office/drawing/2014/main" id="{4EF16FC2-23D5-4ACB-AAC3-E94EFFD99121}"/>
              </a:ext>
            </a:extLst>
          </p:cNvPr>
          <p:cNvSpPr/>
          <p:nvPr/>
        </p:nvSpPr>
        <p:spPr>
          <a:xfrm>
            <a:off x="3188277" y="4963154"/>
            <a:ext cx="2003293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DAQ</a:t>
            </a:r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SM1281</a:t>
            </a:r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*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</a:p>
          <a:p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在线边安装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SM1281</a:t>
            </a:r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endParaRPr lang="en-US" altLang="zh-CN" sz="120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与传感器距离不超过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20</a:t>
            </a:r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米</a:t>
            </a:r>
            <a:endParaRPr lang="de-DE" sz="120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27" name="Gewinkelte Verbindung 41">
            <a:extLst>
              <a:ext uri="{FF2B5EF4-FFF2-40B4-BE49-F238E27FC236}">
                <a16:creationId xmlns:a16="http://schemas.microsoft.com/office/drawing/2014/main" id="{E73386F7-D62C-4FF7-8D05-E1088CCEBA4F}"/>
              </a:ext>
            </a:extLst>
          </p:cNvPr>
          <p:cNvCxnSpPr/>
          <p:nvPr/>
        </p:nvCxnSpPr>
        <p:spPr bwMode="auto">
          <a:xfrm flipV="1">
            <a:off x="4075856" y="2492212"/>
            <a:ext cx="1832434" cy="1481989"/>
          </a:xfrm>
          <a:prstGeom prst="bentConnector2">
            <a:avLst/>
          </a:prstGeom>
          <a:solidFill>
            <a:schemeClr val="tx2"/>
          </a:solidFill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ADEE4DD-94B6-4EF6-A95C-EC35D868CACC}"/>
              </a:ext>
            </a:extLst>
          </p:cNvPr>
          <p:cNvSpPr/>
          <p:nvPr/>
        </p:nvSpPr>
        <p:spPr bwMode="auto">
          <a:xfrm>
            <a:off x="5152760" y="1151816"/>
            <a:ext cx="1628044" cy="1333313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lang="en-US" sz="1100" b="1" dirty="0" err="1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Rechteck 105">
            <a:extLst>
              <a:ext uri="{FF2B5EF4-FFF2-40B4-BE49-F238E27FC236}">
                <a16:creationId xmlns:a16="http://schemas.microsoft.com/office/drawing/2014/main" id="{0B04C4F8-1559-402E-B0DE-7AA1B77B477D}"/>
              </a:ext>
            </a:extLst>
          </p:cNvPr>
          <p:cNvSpPr/>
          <p:nvPr/>
        </p:nvSpPr>
        <p:spPr>
          <a:xfrm>
            <a:off x="6004355" y="2510971"/>
            <a:ext cx="1291006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dirty="0">
                <a:cs typeface="+mn-ea"/>
                <a:sym typeface="+mn-lt"/>
              </a:rPr>
              <a:t>Local</a:t>
            </a:r>
            <a:r>
              <a:rPr lang="zh-CN" altLang="en-US" sz="1200" b="1" dirty="0">
                <a:cs typeface="+mn-ea"/>
                <a:sym typeface="+mn-lt"/>
              </a:rPr>
              <a:t> </a:t>
            </a:r>
            <a:r>
              <a:rPr lang="en-US" altLang="zh-CN" sz="1200" b="1" dirty="0">
                <a:cs typeface="+mn-ea"/>
                <a:sym typeface="+mn-lt"/>
              </a:rPr>
              <a:t>Server</a:t>
            </a:r>
          </a:p>
          <a:p>
            <a:r>
              <a:rPr lang="zh-CN" altLang="en-US" sz="1200" b="1" dirty="0">
                <a:cs typeface="+mn-ea"/>
                <a:sym typeface="+mn-lt"/>
              </a:rPr>
              <a:t>     服务器</a:t>
            </a:r>
            <a:endParaRPr lang="de-DE" sz="1200" b="1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Rechteck 148">
            <a:extLst>
              <a:ext uri="{FF2B5EF4-FFF2-40B4-BE49-F238E27FC236}">
                <a16:creationId xmlns:a16="http://schemas.microsoft.com/office/drawing/2014/main" id="{58653AA1-8060-41AB-BF71-4D8CD96C4E0B}"/>
              </a:ext>
            </a:extLst>
          </p:cNvPr>
          <p:cNvSpPr/>
          <p:nvPr/>
        </p:nvSpPr>
        <p:spPr>
          <a:xfrm>
            <a:off x="5203193" y="1202663"/>
            <a:ext cx="1527179" cy="43088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Web Application</a:t>
            </a:r>
          </a:p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应用程序</a:t>
            </a:r>
            <a:endParaRPr lang="de-DE" sz="110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" name="Rechteck 148">
            <a:extLst>
              <a:ext uri="{FF2B5EF4-FFF2-40B4-BE49-F238E27FC236}">
                <a16:creationId xmlns:a16="http://schemas.microsoft.com/office/drawing/2014/main" id="{84C8086F-088D-40D4-9C74-57013ED647F8}"/>
              </a:ext>
            </a:extLst>
          </p:cNvPr>
          <p:cNvSpPr/>
          <p:nvPr/>
        </p:nvSpPr>
        <p:spPr>
          <a:xfrm>
            <a:off x="5203193" y="1688761"/>
            <a:ext cx="1527179" cy="2616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Data Base </a:t>
            </a:r>
            <a:r>
              <a:rPr lang="zh-CN" altLang="en-US" sz="11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数据库</a:t>
            </a:r>
            <a:endParaRPr lang="de-DE" sz="110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3" name="Rechteck 148">
            <a:extLst>
              <a:ext uri="{FF2B5EF4-FFF2-40B4-BE49-F238E27FC236}">
                <a16:creationId xmlns:a16="http://schemas.microsoft.com/office/drawing/2014/main" id="{29D520AD-B702-441F-8D79-EFD6DB7AFE91}"/>
              </a:ext>
            </a:extLst>
          </p:cNvPr>
          <p:cNvSpPr/>
          <p:nvPr/>
        </p:nvSpPr>
        <p:spPr>
          <a:xfrm>
            <a:off x="5202431" y="1984651"/>
            <a:ext cx="1527179" cy="43088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1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Edge Computing</a:t>
            </a:r>
          </a:p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边缘算法</a:t>
            </a:r>
            <a:endParaRPr lang="de-DE" sz="110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EE06448-B1D1-425C-B8EF-B4F01F6C743A}"/>
              </a:ext>
            </a:extLst>
          </p:cNvPr>
          <p:cNvGrpSpPr/>
          <p:nvPr/>
        </p:nvGrpSpPr>
        <p:grpSpPr>
          <a:xfrm>
            <a:off x="6730373" y="1418107"/>
            <a:ext cx="2415921" cy="1351972"/>
            <a:chOff x="6709458" y="1333853"/>
            <a:chExt cx="3062227" cy="135197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35742BB-7783-4707-9594-36344E65B0E8}"/>
                </a:ext>
              </a:extLst>
            </p:cNvPr>
            <p:cNvGrpSpPr/>
            <p:nvPr/>
          </p:nvGrpSpPr>
          <p:grpSpPr>
            <a:xfrm>
              <a:off x="7788536" y="1378579"/>
              <a:ext cx="1983149" cy="1283876"/>
              <a:chOff x="616129" y="1602821"/>
              <a:chExt cx="2149468" cy="1283876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F6FD7E91-9BB3-4856-8828-0CD8853E8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87036" y="2201912"/>
                <a:ext cx="1436957" cy="684785"/>
              </a:xfrm>
              <a:prstGeom prst="rect">
                <a:avLst/>
              </a:prstGeom>
            </p:spPr>
          </p:pic>
          <p:sp>
            <p:nvSpPr>
              <p:cNvPr id="40" name="Rechteck 416">
                <a:extLst>
                  <a:ext uri="{FF2B5EF4-FFF2-40B4-BE49-F238E27FC236}">
                    <a16:creationId xmlns:a16="http://schemas.microsoft.com/office/drawing/2014/main" id="{FD2BBAA5-2AF6-4471-A540-9B34510F04A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616129" y="1602821"/>
                <a:ext cx="2149468" cy="163065"/>
              </a:xfrm>
              <a:prstGeom prst="rect">
                <a:avLst/>
              </a:prstGeom>
              <a:solidFill>
                <a:srgbClr val="4BB9B9"/>
              </a:solidFill>
              <a:ln>
                <a:noFill/>
              </a:ln>
              <a:effectLst/>
            </p:spPr>
            <p:txBody>
              <a:bodyPr wrap="square" lIns="108000" tIns="54000" rIns="108000" bIns="54000" numCol="1" spcCol="72000" rtlCol="0" anchor="ctr">
                <a:noAutofit/>
              </a:bodyPr>
              <a:lstStyle>
                <a:defPPr>
                  <a:defRPr lang="de-DE"/>
                </a:defPPr>
                <a:lvl1pPr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1pPr>
                <a:lvl2pPr marL="4572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2pPr>
                <a:lvl3pPr marL="9144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3pPr>
                <a:lvl4pPr marL="13716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4pPr>
                <a:lvl5pPr marL="1828800" algn="l" rtl="0" fontAlgn="base">
                  <a:spcBef>
                    <a:spcPct val="50000"/>
                  </a:spcBef>
                  <a:spcAft>
                    <a:spcPct val="0"/>
                  </a:spcAft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bg2"/>
                    </a:solidFill>
                    <a:latin typeface="Arial" pitchFamily="34" charset="0"/>
                    <a:ea typeface="ＭＳ Ｐゴシック" charset="-128"/>
                    <a:cs typeface="+mn-cs"/>
                  </a:defRPr>
                </a:lvl9pPr>
              </a:lstStyle>
              <a:p>
                <a:pPr algn="ctr">
                  <a:lnSpc>
                    <a:spcPct val="110000"/>
                  </a:lnSpc>
                  <a:spcBef>
                    <a:spcPct val="0"/>
                  </a:spcBef>
                  <a:buFont typeface="Wingdings" charset="0"/>
                  <a:buNone/>
                </a:pPr>
                <a:r>
                  <a:rPr lang="en-US" altLang="zh-CN" sz="800" b="1" dirty="0" err="1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SiMaint</a:t>
                </a:r>
                <a:r>
                  <a:rPr lang="en-US" altLang="zh-CN" sz="800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 </a:t>
                </a:r>
                <a:r>
                  <a:rPr lang="zh-CN" altLang="en-US" sz="800" b="1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应用</a:t>
                </a:r>
                <a:endParaRPr lang="en-US" sz="8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36065944-745B-40E4-8B58-446FCCAC49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0966" y="1763058"/>
                <a:ext cx="1497082" cy="693269"/>
              </a:xfrm>
              <a:prstGeom prst="rect">
                <a:avLst/>
              </a:prstGeom>
            </p:spPr>
          </p:pic>
        </p:grpSp>
        <p:sp>
          <p:nvSpPr>
            <p:cNvPr id="36" name="Rechteck 44">
              <a:extLst>
                <a:ext uri="{FF2B5EF4-FFF2-40B4-BE49-F238E27FC236}">
                  <a16:creationId xmlns:a16="http://schemas.microsoft.com/office/drawing/2014/main" id="{EF0B23A7-3F10-40ED-BD2D-5CC2DE1D4474}"/>
                </a:ext>
              </a:extLst>
            </p:cNvPr>
            <p:cNvSpPr>
              <a:spLocks/>
            </p:cNvSpPr>
            <p:nvPr/>
          </p:nvSpPr>
          <p:spPr bwMode="gray">
            <a:xfrm>
              <a:off x="7805839" y="1532294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54DF4A5-1291-43EA-923B-3F314878AE9F}"/>
                </a:ext>
              </a:extLst>
            </p:cNvPr>
            <p:cNvCxnSpPr>
              <a:cxnSpLocks/>
              <a:endCxn id="31" idx="3"/>
            </p:cNvCxnSpPr>
            <p:nvPr/>
          </p:nvCxnSpPr>
          <p:spPr bwMode="auto">
            <a:xfrm flipH="1" flipV="1">
              <a:off x="6709460" y="1333853"/>
              <a:ext cx="1059404" cy="73598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A960F67-C8F3-48F4-9591-8C3DA101900F}"/>
                </a:ext>
              </a:extLst>
            </p:cNvPr>
            <p:cNvCxnSpPr>
              <a:cxnSpLocks/>
              <a:endCxn id="31" idx="3"/>
            </p:cNvCxnSpPr>
            <p:nvPr/>
          </p:nvCxnSpPr>
          <p:spPr bwMode="auto">
            <a:xfrm flipH="1" flipV="1">
              <a:off x="6709458" y="1333853"/>
              <a:ext cx="1059404" cy="1317264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4AC5E66-C6D1-4F1D-B6B7-198D349D297B}"/>
              </a:ext>
            </a:extLst>
          </p:cNvPr>
          <p:cNvGrpSpPr/>
          <p:nvPr/>
        </p:nvGrpSpPr>
        <p:grpSpPr>
          <a:xfrm>
            <a:off x="2891474" y="1338045"/>
            <a:ext cx="2310957" cy="1364833"/>
            <a:chOff x="2138625" y="1381063"/>
            <a:chExt cx="2987174" cy="1307246"/>
          </a:xfrm>
        </p:grpSpPr>
        <p:sp>
          <p:nvSpPr>
            <p:cNvPr id="43" name="Rechteck 416">
              <a:extLst>
                <a:ext uri="{FF2B5EF4-FFF2-40B4-BE49-F238E27FC236}">
                  <a16:creationId xmlns:a16="http://schemas.microsoft.com/office/drawing/2014/main" id="{AB8007A7-3536-407A-B74D-45DDDADDF22B}"/>
                </a:ext>
              </a:extLst>
            </p:cNvPr>
            <p:cNvSpPr>
              <a:spLocks/>
            </p:cNvSpPr>
            <p:nvPr/>
          </p:nvSpPr>
          <p:spPr bwMode="gray">
            <a:xfrm>
              <a:off x="2138625" y="1381063"/>
              <a:ext cx="1983149" cy="163065"/>
            </a:xfrm>
            <a:prstGeom prst="rect">
              <a:avLst/>
            </a:prstGeom>
            <a:solidFill>
              <a:srgbClr val="4BB9B9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r>
                <a:rPr lang="en-US" sz="800" b="1" dirty="0" err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MaintLoop</a:t>
              </a:r>
              <a:r>
                <a:rPr lang="en-US" sz="8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  <a:r>
                <a:rPr lang="zh-CN" altLang="en-US" sz="8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边缘计算应用</a:t>
              </a:r>
              <a:endParaRPr lang="en-US" sz="8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Rechteck 44">
              <a:extLst>
                <a:ext uri="{FF2B5EF4-FFF2-40B4-BE49-F238E27FC236}">
                  <a16:creationId xmlns:a16="http://schemas.microsoft.com/office/drawing/2014/main" id="{D9DCBB88-223A-46A5-9863-193FA0D7B21C}"/>
                </a:ext>
              </a:extLst>
            </p:cNvPr>
            <p:cNvSpPr>
              <a:spLocks/>
            </p:cNvSpPr>
            <p:nvPr/>
          </p:nvSpPr>
          <p:spPr bwMode="gray">
            <a:xfrm>
              <a:off x="2155928" y="1534778"/>
              <a:ext cx="1950906" cy="1153531"/>
            </a:xfrm>
            <a:prstGeom prst="rect">
              <a:avLst/>
            </a:prstGeom>
            <a:noFill/>
            <a:ln w="19050">
              <a:solidFill>
                <a:srgbClr val="4BB9B9"/>
              </a:solidFill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algn="ctr" rtl="0"/>
              <a:endParaRPr lang="de-de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14643A6-FAC8-44BE-B987-DEBDC6468DC9}"/>
                </a:ext>
              </a:extLst>
            </p:cNvPr>
            <p:cNvSpPr/>
            <p:nvPr/>
          </p:nvSpPr>
          <p:spPr bwMode="auto">
            <a:xfrm>
              <a:off x="3943095" y="2413811"/>
              <a:ext cx="20861" cy="2252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 rtl="0" eaLnBrk="1" fontAlgn="base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Font typeface="Wingdings" charset="0"/>
                <a:buNone/>
              </a:pPr>
              <a:endParaRPr lang="en-US" sz="1800" b="0" i="0" u="none" baseline="0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2AA33CA-9BF9-4EBB-B573-D82053A3BA12}"/>
                </a:ext>
              </a:extLst>
            </p:cNvPr>
            <p:cNvCxnSpPr>
              <a:cxnSpLocks/>
              <a:stCxn id="33" idx="1"/>
            </p:cNvCxnSpPr>
            <p:nvPr/>
          </p:nvCxnSpPr>
          <p:spPr bwMode="auto">
            <a:xfrm flipH="1" flipV="1">
              <a:off x="4121777" y="1411485"/>
              <a:ext cx="1004022" cy="795255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3731ED6-DD47-4C4E-AF44-F17CD4DCB529}"/>
                </a:ext>
              </a:extLst>
            </p:cNvPr>
            <p:cNvCxnSpPr>
              <a:cxnSpLocks/>
              <a:stCxn id="33" idx="1"/>
            </p:cNvCxnSpPr>
            <p:nvPr/>
          </p:nvCxnSpPr>
          <p:spPr bwMode="auto">
            <a:xfrm flipH="1">
              <a:off x="4121774" y="2206740"/>
              <a:ext cx="1004025" cy="467751"/>
            </a:xfrm>
            <a:prstGeom prst="line">
              <a:avLst/>
            </a:prstGeom>
            <a:solidFill>
              <a:schemeClr val="tx2"/>
            </a:solidFill>
            <a:ln w="9525" cap="flat" cmpd="sng" algn="ctr">
              <a:solidFill>
                <a:srgbClr val="4BB9B9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srgbClr val="41AAAA">
                  <a:alpha val="40000"/>
                </a:srgbClr>
              </a:outerShdw>
            </a:effectLst>
          </p:spPr>
        </p:cxnSp>
      </p:grpSp>
      <p:sp>
        <p:nvSpPr>
          <p:cNvPr id="55" name="Rechteck 38">
            <a:extLst>
              <a:ext uri="{FF2B5EF4-FFF2-40B4-BE49-F238E27FC236}">
                <a16:creationId xmlns:a16="http://schemas.microsoft.com/office/drawing/2014/main" id="{57169EEB-39BC-4309-906B-0366E4CF23BF}"/>
              </a:ext>
            </a:extLst>
          </p:cNvPr>
          <p:cNvSpPr/>
          <p:nvPr/>
        </p:nvSpPr>
        <p:spPr>
          <a:xfrm>
            <a:off x="5597584" y="5139337"/>
            <a:ext cx="2885729" cy="41549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050" b="1" dirty="0">
                <a:solidFill>
                  <a:srgbClr val="000000"/>
                </a:solidFill>
                <a:cs typeface="+mn-ea"/>
                <a:sym typeface="+mn-lt"/>
              </a:rPr>
              <a:t>- Vertical and horizontal installation</a:t>
            </a:r>
          </a:p>
          <a:p>
            <a:r>
              <a:rPr lang="de-DE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分别采用垂直和水平的安装角度</a:t>
            </a:r>
            <a:endParaRPr lang="de-DE" sz="105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Rechteck 38">
            <a:extLst>
              <a:ext uri="{FF2B5EF4-FFF2-40B4-BE49-F238E27FC236}">
                <a16:creationId xmlns:a16="http://schemas.microsoft.com/office/drawing/2014/main" id="{752AA5C9-BAE7-4B4F-854D-8A3D5A4C7CEF}"/>
              </a:ext>
            </a:extLst>
          </p:cNvPr>
          <p:cNvSpPr/>
          <p:nvPr/>
        </p:nvSpPr>
        <p:spPr>
          <a:xfrm>
            <a:off x="5597583" y="5533145"/>
            <a:ext cx="3365835" cy="90024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050" b="1" dirty="0">
                <a:solidFill>
                  <a:srgbClr val="000000"/>
                </a:solidFill>
                <a:cs typeface="+mn-ea"/>
                <a:sym typeface="+mn-lt"/>
              </a:rPr>
              <a:t>- Monitoring position near to OP line </a:t>
            </a:r>
          </a:p>
          <a:p>
            <a:r>
              <a:rPr lang="zh-CN" altLang="en-US" sz="1050" b="1" dirty="0">
                <a:solidFill>
                  <a:srgbClr val="000000"/>
                </a:solidFill>
                <a:cs typeface="+mn-ea"/>
                <a:sym typeface="+mn-lt"/>
              </a:rPr>
              <a:t>（</a:t>
            </a:r>
            <a:r>
              <a:rPr lang="en-US" altLang="zh-CN" sz="1050" b="1" dirty="0">
                <a:solidFill>
                  <a:srgbClr val="000000"/>
                </a:solidFill>
                <a:cs typeface="+mn-ea"/>
                <a:sym typeface="+mn-lt"/>
              </a:rPr>
              <a:t>no-load</a:t>
            </a:r>
            <a:r>
              <a:rPr lang="zh-CN" altLang="en-US" sz="1050" b="1" dirty="0">
                <a:solidFill>
                  <a:srgbClr val="000000"/>
                </a:solidFill>
                <a:cs typeface="+mn-ea"/>
                <a:sym typeface="+mn-lt"/>
              </a:rPr>
              <a:t>，</a:t>
            </a:r>
            <a:r>
              <a:rPr lang="en-US" altLang="zh-CN" sz="1050" b="1" dirty="0">
                <a:solidFill>
                  <a:srgbClr val="000000"/>
                </a:solidFill>
                <a:cs typeface="+mn-ea"/>
                <a:sym typeface="+mn-lt"/>
              </a:rPr>
              <a:t>uniform speed</a:t>
            </a:r>
            <a:r>
              <a:rPr lang="zh-CN" altLang="en-US" sz="1050" b="1" dirty="0">
                <a:solidFill>
                  <a:srgbClr val="000000"/>
                </a:solidFill>
                <a:cs typeface="+mn-ea"/>
                <a:sym typeface="+mn-lt"/>
              </a:rPr>
              <a:t>）</a:t>
            </a:r>
            <a:r>
              <a:rPr lang="en-US" altLang="zh-CN" sz="1050" b="1" dirty="0">
                <a:solidFill>
                  <a:srgbClr val="000000"/>
                </a:solidFill>
                <a:cs typeface="+mn-ea"/>
                <a:sym typeface="+mn-lt"/>
              </a:rPr>
              <a:t>need on-site test data to confirm</a:t>
            </a:r>
          </a:p>
          <a:p>
            <a:r>
              <a:rPr lang="de-DE" sz="105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050" b="1" dirty="0">
                <a:solidFill>
                  <a:srgbClr val="000000"/>
                </a:solidFill>
                <a:cs typeface="+mn-ea"/>
                <a:sym typeface="+mn-lt"/>
              </a:rPr>
              <a:t>在</a:t>
            </a:r>
            <a:r>
              <a:rPr lang="en-US" altLang="zh-CN" sz="1050" b="1" dirty="0">
                <a:solidFill>
                  <a:srgbClr val="000000"/>
                </a:solidFill>
                <a:cs typeface="+mn-ea"/>
                <a:sym typeface="+mn-lt"/>
              </a:rPr>
              <a:t>OP</a:t>
            </a:r>
            <a:r>
              <a:rPr lang="zh-CN" altLang="en-US" sz="1050" b="1" dirty="0">
                <a:solidFill>
                  <a:srgbClr val="000000"/>
                </a:solidFill>
                <a:cs typeface="+mn-ea"/>
                <a:sym typeface="+mn-lt"/>
              </a:rPr>
              <a:t>线附近，寻找无负载、匀速的位置布设传感器进行信号采集</a:t>
            </a:r>
            <a:r>
              <a:rPr lang="en-US" altLang="zh-CN" sz="1050" b="1" dirty="0">
                <a:solidFill>
                  <a:srgbClr val="000000"/>
                </a:solidFill>
                <a:cs typeface="+mn-ea"/>
                <a:sym typeface="+mn-lt"/>
              </a:rPr>
              <a:t>(</a:t>
            </a:r>
            <a:r>
              <a:rPr lang="zh-CN" altLang="en-US" sz="1050" b="1" dirty="0">
                <a:solidFill>
                  <a:srgbClr val="000000"/>
                </a:solidFill>
                <a:cs typeface="+mn-ea"/>
                <a:sym typeface="+mn-lt"/>
              </a:rPr>
              <a:t>详细位置需根据现场数据进一步确认</a:t>
            </a:r>
            <a:r>
              <a:rPr lang="en-US" altLang="zh-CN" sz="1050" b="1" dirty="0">
                <a:solidFill>
                  <a:srgbClr val="000000"/>
                </a:solidFill>
                <a:cs typeface="+mn-ea"/>
                <a:sym typeface="+mn-lt"/>
              </a:rPr>
              <a:t>)</a:t>
            </a:r>
            <a:endParaRPr lang="de-DE" sz="105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61" name="Picture 60" descr="Bildergebnis für cpu 1200">
            <a:hlinkClick r:id="rId11"/>
            <a:extLst>
              <a:ext uri="{FF2B5EF4-FFF2-40B4-BE49-F238E27FC236}">
                <a16:creationId xmlns:a16="http://schemas.microsoft.com/office/drawing/2014/main" id="{FECA73AF-69A9-476F-BED8-5382722C9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32256" y="3689621"/>
            <a:ext cx="465634" cy="46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2" name="Gerade Verbindung 141">
            <a:extLst>
              <a:ext uri="{FF2B5EF4-FFF2-40B4-BE49-F238E27FC236}">
                <a16:creationId xmlns:a16="http://schemas.microsoft.com/office/drawing/2014/main" id="{D6487131-0665-4E71-889E-78D35B64013E}"/>
              </a:ext>
            </a:extLst>
          </p:cNvPr>
          <p:cNvCxnSpPr/>
          <p:nvPr/>
        </p:nvCxnSpPr>
        <p:spPr bwMode="auto">
          <a:xfrm>
            <a:off x="3885860" y="4128653"/>
            <a:ext cx="0" cy="265706"/>
          </a:xfrm>
          <a:prstGeom prst="line">
            <a:avLst/>
          </a:prstGeom>
          <a:solidFill>
            <a:schemeClr val="tx2"/>
          </a:solidFill>
          <a:ln w="50800" cap="flat" cmpd="sng" algn="ctr">
            <a:solidFill>
              <a:srgbClr val="4BB9B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63" name="Picture 62" descr="Bildergebnis für CMS1281">
            <a:hlinkClick r:id="rId13"/>
            <a:extLst>
              <a:ext uri="{FF2B5EF4-FFF2-40B4-BE49-F238E27FC236}">
                <a16:creationId xmlns:a16="http://schemas.microsoft.com/office/drawing/2014/main" id="{63C27FF2-DC72-4D94-A524-E19CDD8CA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32278" y="4239944"/>
            <a:ext cx="485762" cy="593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Rechteck 94">
            <a:extLst>
              <a:ext uri="{FF2B5EF4-FFF2-40B4-BE49-F238E27FC236}">
                <a16:creationId xmlns:a16="http://schemas.microsoft.com/office/drawing/2014/main" id="{2935301C-A00C-4315-B030-53698A8456A7}"/>
              </a:ext>
            </a:extLst>
          </p:cNvPr>
          <p:cNvSpPr/>
          <p:nvPr/>
        </p:nvSpPr>
        <p:spPr>
          <a:xfrm>
            <a:off x="2114747" y="3776744"/>
            <a:ext cx="2003293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PLC</a:t>
            </a:r>
            <a:r>
              <a:rPr lang="zh-CN" altLang="en-US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sz="1200" b="1" dirty="0">
                <a:solidFill>
                  <a:srgbClr val="000000"/>
                </a:solidFill>
                <a:latin typeface="+mn-lt"/>
                <a:ea typeface="+mn-ea"/>
                <a:cs typeface="+mn-ea"/>
                <a:sym typeface="+mn-lt"/>
              </a:rPr>
              <a:t>1215C</a:t>
            </a:r>
          </a:p>
          <a:p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Sampling Cycle:1s</a:t>
            </a:r>
          </a:p>
          <a:p>
            <a:endParaRPr lang="de-DE" sz="1200" b="1" dirty="0">
              <a:solidFill>
                <a:srgbClr val="0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7" name="Footer Placeholder 3">
            <a:extLst>
              <a:ext uri="{FF2B5EF4-FFF2-40B4-BE49-F238E27FC236}">
                <a16:creationId xmlns:a16="http://schemas.microsoft.com/office/drawing/2014/main" id="{9A054287-C5F0-472F-9A3D-9DDA1A2D9CF5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513EA5-9E4F-4720-9DAC-373523365FA8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0488" y="1971244"/>
            <a:ext cx="976707" cy="6901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8BCFF2B2-542A-4271-922A-A10737BAEF81}"/>
              </a:ext>
            </a:extLst>
          </p:cNvPr>
          <p:cNvPicPr>
            <a:picLocks noChangeAspect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2208" y="1589493"/>
            <a:ext cx="1008729" cy="603017"/>
          </a:xfrm>
          <a:prstGeom prst="rect">
            <a:avLst/>
          </a:prstGeom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409964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299702"/>
            <a:ext cx="10637180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/>
              <a:t>Solution of Rubber Coating Wheel Pre-Maintenance based on Vibration</a:t>
            </a:r>
            <a:br>
              <a:rPr lang="en-US" altLang="zh-CN" dirty="0"/>
            </a:br>
            <a:r>
              <a:rPr lang="zh-CN" altLang="en-US" dirty="0"/>
              <a:t>基于振动的包胶轮预测维护方案</a:t>
            </a:r>
            <a:endParaRPr lang="en-US" dirty="0"/>
          </a:p>
        </p:txBody>
      </p:sp>
      <p:sp>
        <p:nvSpPr>
          <p:cNvPr id="67" name="Rectangle 15">
            <a:extLst>
              <a:ext uri="{FF2B5EF4-FFF2-40B4-BE49-F238E27FC236}">
                <a16:creationId xmlns:a16="http://schemas.microsoft.com/office/drawing/2014/main" id="{E7D2DC03-826D-4443-AC6C-3A716A8CA2E2}"/>
              </a:ext>
            </a:extLst>
          </p:cNvPr>
          <p:cNvSpPr>
            <a:spLocks/>
          </p:cNvSpPr>
          <p:nvPr/>
        </p:nvSpPr>
        <p:spPr bwMode="gray">
          <a:xfrm>
            <a:off x="915456" y="3886798"/>
            <a:ext cx="4200660" cy="23006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zh-CN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Project Scope </a:t>
            </a:r>
            <a:r>
              <a:rPr lang="zh-CN" altLang="en-US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项目范围</a:t>
            </a:r>
            <a:r>
              <a:rPr lang="en-US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:</a:t>
            </a:r>
          </a:p>
          <a:p>
            <a:pPr marL="171450" lvl="2" indent="-171450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Monitoring the vibration of EMS track,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200" spc="-10" dirty="0">
                <a:cs typeface="+mn-ea"/>
                <a:sym typeface="+mn-lt"/>
              </a:rPr>
              <a:t>realize the real-time state monitoring of the rubber coating wheel and pre-maintenance.</a:t>
            </a:r>
          </a:p>
          <a:p>
            <a:pPr marL="0" lvl="2"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spc="-10" dirty="0">
                <a:cs typeface="+mn-ea"/>
                <a:sym typeface="+mn-lt"/>
              </a:rPr>
              <a:t>     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通过监测包胶轮所在</a:t>
            </a: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EMS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车身线轨道的振动强度情况，实现对包胶轮的实时状态监控</a:t>
            </a:r>
            <a:r>
              <a:rPr lang="zh-CN" altLang="en-US" sz="1200" spc="-10" dirty="0">
                <a:cs typeface="+mn-ea"/>
                <a:sym typeface="+mn-lt"/>
              </a:rPr>
              <a:t>和预维护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171450" lvl="2" indent="-171450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cs typeface="+mn-ea"/>
                <a:sym typeface="+mn-lt"/>
              </a:rPr>
              <a:t>Realize fault alarm and statistics by edge computing.</a:t>
            </a:r>
          </a:p>
          <a:p>
            <a:pPr marL="0" lvl="2"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spc="-10" dirty="0">
                <a:cs typeface="+mn-ea"/>
                <a:sym typeface="+mn-lt"/>
              </a:rPr>
              <a:t>    </a:t>
            </a:r>
            <a:r>
              <a:rPr lang="zh-CN" altLang="en-US" sz="1200" spc="-10" dirty="0">
                <a:cs typeface="+mn-ea"/>
                <a:sym typeface="+mn-lt"/>
              </a:rPr>
              <a:t>通过边缘计算算法，实现及时的故障报警和统计</a:t>
            </a:r>
            <a:endParaRPr lang="en-US" altLang="zh-CN" sz="1200" spc="-10" dirty="0">
              <a:cs typeface="+mn-ea"/>
              <a:sym typeface="+mn-lt"/>
            </a:endParaRPr>
          </a:p>
          <a:p>
            <a:pPr marL="171450" lvl="2" indent="-171450"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Provide pre-maintenance app to customer</a:t>
            </a:r>
          </a:p>
          <a:p>
            <a:pPr marL="0" lvl="2">
              <a:spcBef>
                <a:spcPts val="300"/>
              </a:spcBef>
              <a:buClr>
                <a:schemeClr val="accent1"/>
              </a:buClr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提供维护</a:t>
            </a: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APP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，实现预防性维护支持。</a:t>
            </a:r>
            <a:endParaRPr lang="en-US" sz="1400" b="1" dirty="0">
              <a:solidFill>
                <a:srgbClr val="005F87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7" name="Rectangle 15">
            <a:extLst>
              <a:ext uri="{FF2B5EF4-FFF2-40B4-BE49-F238E27FC236}">
                <a16:creationId xmlns:a16="http://schemas.microsoft.com/office/drawing/2014/main" id="{22267089-3AEA-4707-A213-9999AC51ED25}"/>
              </a:ext>
            </a:extLst>
          </p:cNvPr>
          <p:cNvSpPr>
            <a:spLocks/>
          </p:cNvSpPr>
          <p:nvPr/>
        </p:nvSpPr>
        <p:spPr bwMode="gray">
          <a:xfrm>
            <a:off x="5667374" y="1455167"/>
            <a:ext cx="5730875" cy="24160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zh-CN" sz="1200" b="1" spc="-10" dirty="0">
                <a:cs typeface="+mn-ea"/>
                <a:sym typeface="+mn-lt"/>
              </a:rPr>
              <a:t>Hardware  </a:t>
            </a:r>
            <a:r>
              <a:rPr lang="zh-CN" altLang="en-US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硬件</a:t>
            </a:r>
            <a:r>
              <a:rPr lang="en-US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:</a:t>
            </a: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Vibration sensors and DAQ</a:t>
            </a: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振动传感器与数据采集硬件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Local Server</a:t>
            </a: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本地服务器硬件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K-Box and corresponding </a:t>
            </a:r>
            <a:r>
              <a:rPr lang="en-US" altLang="zh-CN" sz="1200" spc="-10" dirty="0" err="1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hardwares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cs typeface="+mn-ea"/>
                <a:sym typeface="+mn-lt"/>
              </a:rPr>
              <a:t>    K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箱及相应配件和辅料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8" name="Rectangle 15">
            <a:extLst>
              <a:ext uri="{FF2B5EF4-FFF2-40B4-BE49-F238E27FC236}">
                <a16:creationId xmlns:a16="http://schemas.microsoft.com/office/drawing/2014/main" id="{478A1862-3698-427C-8CB7-5CA8870D5256}"/>
              </a:ext>
            </a:extLst>
          </p:cNvPr>
          <p:cNvSpPr>
            <a:spLocks/>
          </p:cNvSpPr>
          <p:nvPr/>
        </p:nvSpPr>
        <p:spPr bwMode="gray">
          <a:xfrm>
            <a:off x="8459786" y="1455167"/>
            <a:ext cx="4322763" cy="21929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zh-CN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Software  </a:t>
            </a:r>
            <a:r>
              <a:rPr lang="zh-CN" altLang="en-US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软件</a:t>
            </a:r>
            <a:r>
              <a:rPr lang="en-US" altLang="zh-CN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: </a:t>
            </a: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cs typeface="+mn-ea"/>
                <a:sym typeface="+mn-lt"/>
              </a:rPr>
              <a:t>Edge computing application </a:t>
            </a:r>
            <a:r>
              <a:rPr lang="en-US" altLang="zh-CN" sz="1200" spc="-10" dirty="0" err="1">
                <a:cs typeface="+mn-ea"/>
                <a:sym typeface="+mn-lt"/>
              </a:rPr>
              <a:t>MaintLoop</a:t>
            </a:r>
            <a:endParaRPr lang="en-US" altLang="zh-CN" sz="1200" spc="-10" dirty="0"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lang="zh-CN" altLang="en-US" sz="1200" spc="-10" dirty="0">
                <a:cs typeface="+mn-ea"/>
                <a:sym typeface="+mn-lt"/>
              </a:rPr>
              <a:t>自研发边缘计算应用工具</a:t>
            </a:r>
            <a:r>
              <a:rPr lang="en-US" altLang="zh-CN" sz="1200" spc="-10" dirty="0" err="1">
                <a:cs typeface="+mn-ea"/>
                <a:sym typeface="+mn-lt"/>
              </a:rPr>
              <a:t>MaintLoop</a:t>
            </a:r>
            <a:r>
              <a:rPr lang="zh-CN" altLang="en-US" sz="1200" spc="-10" dirty="0">
                <a:cs typeface="+mn-ea"/>
                <a:sym typeface="+mn-lt"/>
              </a:rPr>
              <a:t>（不含源码）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Data Storage System</a:t>
            </a: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本地服务器存储系统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cs typeface="+mn-ea"/>
                <a:sym typeface="+mn-lt"/>
              </a:rPr>
              <a:t>Pre-Maintenance application </a:t>
            </a:r>
            <a:r>
              <a:rPr lang="en-US" altLang="zh-CN" sz="1200" spc="-10" dirty="0" err="1">
                <a:cs typeface="+mn-ea"/>
                <a:sym typeface="+mn-lt"/>
              </a:rPr>
              <a:t>SiMaint</a:t>
            </a:r>
            <a:endParaRPr lang="en-US" altLang="zh-CN" sz="1200" spc="-10" dirty="0"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cs typeface="+mn-ea"/>
                <a:sym typeface="+mn-lt"/>
              </a:rPr>
              <a:t>    </a:t>
            </a:r>
            <a:r>
              <a:rPr lang="zh-CN" altLang="en-US" sz="1200" spc="-10" dirty="0">
                <a:cs typeface="+mn-ea"/>
                <a:sym typeface="+mn-lt"/>
              </a:rPr>
              <a:t>自研发预维护应用程序 </a:t>
            </a:r>
            <a:r>
              <a:rPr lang="en-US" altLang="zh-CN" sz="1200" spc="-10" dirty="0" err="1">
                <a:cs typeface="+mn-ea"/>
                <a:sym typeface="+mn-lt"/>
              </a:rPr>
              <a:t>SiMaint</a:t>
            </a:r>
            <a:r>
              <a:rPr lang="en-US" altLang="zh-CN" sz="1200" spc="-10" dirty="0">
                <a:cs typeface="+mn-ea"/>
                <a:sym typeface="+mn-lt"/>
              </a:rPr>
              <a:t> </a:t>
            </a: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zh-CN" altLang="en-US" sz="1200" spc="-10" dirty="0">
                <a:cs typeface="+mn-ea"/>
                <a:sym typeface="+mn-lt"/>
              </a:rPr>
              <a:t>（建议打通现场网络环境，对预警进行邮件通知服务）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Rectangle 15">
            <a:extLst>
              <a:ext uri="{FF2B5EF4-FFF2-40B4-BE49-F238E27FC236}">
                <a16:creationId xmlns:a16="http://schemas.microsoft.com/office/drawing/2014/main" id="{76754068-A399-4730-86FF-41B88B95C118}"/>
              </a:ext>
            </a:extLst>
          </p:cNvPr>
          <p:cNvSpPr>
            <a:spLocks/>
          </p:cNvSpPr>
          <p:nvPr/>
        </p:nvSpPr>
        <p:spPr bwMode="gray">
          <a:xfrm>
            <a:off x="5667374" y="3886798"/>
            <a:ext cx="5730875" cy="21929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8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altLang="zh-CN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Deployment  </a:t>
            </a:r>
            <a:r>
              <a:rPr lang="zh-CN" altLang="en-US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部署</a:t>
            </a:r>
            <a:r>
              <a:rPr lang="en-US" sz="1200" b="1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:</a:t>
            </a: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cs typeface="+mn-ea"/>
                <a:sym typeface="+mn-lt"/>
              </a:rPr>
              <a:t>Field implementation and commissioning of hardware and electrical</a:t>
            </a: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cs typeface="+mn-ea"/>
                <a:sym typeface="+mn-lt"/>
              </a:rPr>
              <a:t>    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硬件与电气现场实施调试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Software integration </a:t>
            </a:r>
            <a:r>
              <a:rPr lang="en-US" altLang="zh-CN" sz="1200" spc="-10" dirty="0">
                <a:cs typeface="+mn-ea"/>
                <a:sym typeface="+mn-lt"/>
              </a:rPr>
              <a:t>c</a:t>
            </a: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ommissioning</a:t>
            </a: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软件现场实施调试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Implement system maintenance and algorithm optimization 3 months after delivery</a:t>
            </a: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  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实施交付后</a:t>
            </a: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个月系统维护和算法优化</a:t>
            </a:r>
            <a:endParaRPr lang="en-US" altLang="zh-CN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171450" lvl="2" indent="-17145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CN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Documentation and Training</a:t>
            </a: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r>
              <a:rPr lang="en-US" altLang="zh-CN" sz="1200" spc="-10" dirty="0">
                <a:cs typeface="+mn-ea"/>
                <a:sym typeface="+mn-lt"/>
              </a:rPr>
              <a:t>    </a:t>
            </a:r>
            <a:r>
              <a:rPr lang="zh-CN" altLang="en-US" sz="1200" spc="-1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文档和培训</a:t>
            </a:r>
            <a:endParaRPr lang="en-US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0" lvl="2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</a:pPr>
            <a:endParaRPr lang="en-US" sz="1200" spc="-1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22DB841-9583-4E67-967F-9B16D70318B0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89074-13D2-4A75-9250-C89D9EB16A5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3751" y="1155845"/>
            <a:ext cx="4200660" cy="249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53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2" name="Object 621" hidden="1">
            <a:extLst>
              <a:ext uri="{FF2B5EF4-FFF2-40B4-BE49-F238E27FC236}">
                <a16:creationId xmlns:a16="http://schemas.microsoft.com/office/drawing/2014/main" id="{B87B3CA8-15F3-4EB5-A9D1-D948709D5CD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7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think-cell Slide" r:id="rId6" imgW="400" imgH="393" progId="TCLayout.ActiveDocument.1">
                  <p:embed/>
                </p:oleObj>
              </mc:Choice>
              <mc:Fallback>
                <p:oleObj name="think-cell Slide" r:id="rId6" imgW="400" imgH="393" progId="TCLayout.ActiveDocument.1">
                  <p:embed/>
                  <p:pic>
                    <p:nvPicPr>
                      <p:cNvPr id="622" name="Object 621" hidden="1">
                        <a:extLst>
                          <a:ext uri="{FF2B5EF4-FFF2-40B4-BE49-F238E27FC236}">
                            <a16:creationId xmlns:a16="http://schemas.microsoft.com/office/drawing/2014/main" id="{B87B3CA8-15F3-4EB5-A9D1-D948709D5C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7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" name="Rectangle 620" hidden="1">
            <a:extLst>
              <a:ext uri="{FF2B5EF4-FFF2-40B4-BE49-F238E27FC236}">
                <a16:creationId xmlns:a16="http://schemas.microsoft.com/office/drawing/2014/main" id="{053ED296-6FFE-4305-AE81-ABE4314C78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0" y="1785"/>
            <a:ext cx="158667" cy="15866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numCol="1" spcCol="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2199" b="1" dirty="0">
              <a:latin typeface="Siemens Sans" pitchFamily="2" charset="0"/>
              <a:ea typeface="Siemens Sans Global" pitchFamily="2" charset="-122"/>
              <a:cs typeface="Arial" panose="020B0604020202020204" pitchFamily="34" charset="0"/>
              <a:sym typeface="Siemens Sans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FBCF74-581A-4EB3-9DEC-A0A5357EC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95" y="299702"/>
            <a:ext cx="10637180" cy="5760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dirty="0" err="1"/>
              <a:t>MaintLoop</a:t>
            </a:r>
            <a:r>
              <a:rPr lang="en-US" altLang="zh-CN" dirty="0"/>
              <a:t> as the Edge Computing Application </a:t>
            </a:r>
            <a:br>
              <a:rPr lang="en-US" altLang="zh-CN" dirty="0"/>
            </a:br>
            <a:r>
              <a:rPr lang="zh-CN" altLang="en-US" dirty="0"/>
              <a:t>提供基于</a:t>
            </a:r>
            <a:r>
              <a:rPr lang="en-US" altLang="zh-CN" dirty="0" err="1"/>
              <a:t>MaintLoop</a:t>
            </a:r>
            <a:r>
              <a:rPr lang="zh-CN" altLang="en-US" dirty="0"/>
              <a:t>的边缘计算应用程序</a:t>
            </a:r>
            <a:endParaRPr lang="en-US" dirty="0"/>
          </a:p>
        </p:txBody>
      </p:sp>
      <p:sp>
        <p:nvSpPr>
          <p:cNvPr id="57" name="Footer Placeholder 3">
            <a:extLst>
              <a:ext uri="{FF2B5EF4-FFF2-40B4-BE49-F238E27FC236}">
                <a16:creationId xmlns:a16="http://schemas.microsoft.com/office/drawing/2014/main" id="{9A054287-C5F0-472F-9A3D-9DDA1A2D9CF5}"/>
              </a:ext>
            </a:extLst>
          </p:cNvPr>
          <p:cNvSpPr txBox="1">
            <a:spLocks/>
          </p:cNvSpPr>
          <p:nvPr/>
        </p:nvSpPr>
        <p:spPr>
          <a:xfrm>
            <a:off x="439669" y="6580152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2021 | T RDA IOT INW-CN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D74AE-EE78-4743-B098-5BAB8C8A281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323" y="2008377"/>
            <a:ext cx="1750191" cy="1725284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ADBD402-901C-447C-BDD6-0420AF19AEC5}"/>
              </a:ext>
            </a:extLst>
          </p:cNvPr>
          <p:cNvCxnSpPr/>
          <p:nvPr/>
        </p:nvCxnSpPr>
        <p:spPr bwMode="auto">
          <a:xfrm>
            <a:off x="3361044" y="1269825"/>
            <a:ext cx="0" cy="4894131"/>
          </a:xfrm>
          <a:prstGeom prst="line">
            <a:avLst/>
          </a:prstGeom>
          <a:solidFill>
            <a:schemeClr val="tx2"/>
          </a:solidFill>
          <a:ln w="19050" cap="flat" cmpd="sng" algn="ctr">
            <a:solidFill>
              <a:srgbClr val="4BB9B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feld 1554">
            <a:extLst>
              <a:ext uri="{FF2B5EF4-FFF2-40B4-BE49-F238E27FC236}">
                <a16:creationId xmlns:a16="http://schemas.microsoft.com/office/drawing/2014/main" id="{6C1173EB-708A-4FB5-9324-95E89711A731}"/>
              </a:ext>
            </a:extLst>
          </p:cNvPr>
          <p:cNvSpPr txBox="1">
            <a:spLocks/>
          </p:cNvSpPr>
          <p:nvPr/>
        </p:nvSpPr>
        <p:spPr bwMode="gray">
          <a:xfrm>
            <a:off x="1189374" y="4111013"/>
            <a:ext cx="1392467" cy="21899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999" b="1" dirty="0" err="1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endParaRPr lang="en-US" sz="1999" b="1" dirty="0">
              <a:solidFill>
                <a:srgbClr val="0F8287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0" name="Textfeld 899">
            <a:extLst>
              <a:ext uri="{FF2B5EF4-FFF2-40B4-BE49-F238E27FC236}">
                <a16:creationId xmlns:a16="http://schemas.microsoft.com/office/drawing/2014/main" id="{D0509BE0-7C79-4DD8-815D-A256B75DA293}"/>
              </a:ext>
            </a:extLst>
          </p:cNvPr>
          <p:cNvSpPr txBox="1">
            <a:spLocks/>
          </p:cNvSpPr>
          <p:nvPr/>
        </p:nvSpPr>
        <p:spPr bwMode="gray">
          <a:xfrm>
            <a:off x="278687" y="4702433"/>
            <a:ext cx="3082357" cy="42326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Pre-Maintenance Edge Service</a:t>
            </a:r>
          </a:p>
          <a:p>
            <a:pPr algn="ctr"/>
            <a:r>
              <a:rPr lang="zh-CN" altLang="en-US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预维护边缘端应用服务</a:t>
            </a:r>
            <a:endParaRPr lang="en-US" altLang="zh-CN" sz="999" dirty="0">
              <a:solidFill>
                <a:srgbClr val="0F8287"/>
              </a:solidFill>
              <a:latin typeface="Arial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algn="ctr"/>
            <a:r>
              <a:rPr lang="en-US" altLang="zh-CN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Support device and data management</a:t>
            </a:r>
          </a:p>
          <a:p>
            <a:pPr algn="ctr"/>
            <a:r>
              <a:rPr lang="en-US" altLang="zh-CN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Integrated edge computing algorithms</a:t>
            </a:r>
          </a:p>
          <a:p>
            <a:pPr algn="ctr"/>
            <a:r>
              <a:rPr lang="en-US" altLang="zh-CN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Guide maintenance engineer to label data sample</a:t>
            </a:r>
          </a:p>
          <a:p>
            <a:pPr algn="ctr"/>
            <a:r>
              <a:rPr lang="en-US" altLang="zh-CN" sz="999" dirty="0">
                <a:solidFill>
                  <a:srgbClr val="0F8287"/>
                </a:solidFill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rPr>
              <a:t>Data insight by statistic report charts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925D73-8512-40F7-B4D5-190D93C6B802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3963" y="1269825"/>
            <a:ext cx="7211577" cy="228503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425E3D-EBF5-4D40-AC55-0D42D4ADE06A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3962" y="3796250"/>
            <a:ext cx="3143009" cy="2426118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53F86A-A263-4DE0-9510-B4ADD965FCE5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2815" y="3796248"/>
            <a:ext cx="3852726" cy="242611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2722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28F4-0AF0-42EB-890B-E5A6BBD25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附：</a:t>
            </a:r>
            <a:r>
              <a:rPr lang="en-US" dirty="0"/>
              <a:t>M621C40</a:t>
            </a:r>
            <a:r>
              <a:rPr lang="zh-CN" altLang="en-US" dirty="0"/>
              <a:t>振动传感器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C44B1B-F708-481F-A049-B87D6E5A2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440" y="1553692"/>
            <a:ext cx="6187602" cy="48255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EBFFBD-661A-4445-AB82-7C4ABBA98DE2}"/>
              </a:ext>
            </a:extLst>
          </p:cNvPr>
          <p:cNvSpPr txBox="1"/>
          <p:nvPr/>
        </p:nvSpPr>
        <p:spPr>
          <a:xfrm>
            <a:off x="6162908" y="5974080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sz="1400" dirty="0"/>
              <a:t>固定传感器</a:t>
            </a:r>
            <a:endParaRPr lang="en-US" sz="1400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38F15-3074-4F72-A25E-B0BF6A0FB709}"/>
              </a:ext>
            </a:extLst>
          </p:cNvPr>
          <p:cNvSpPr txBox="1"/>
          <p:nvPr/>
        </p:nvSpPr>
        <p:spPr>
          <a:xfrm>
            <a:off x="5354995" y="2750820"/>
            <a:ext cx="2077492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dirty="0"/>
              <a:t>连接传感器线缆接头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27A9D-6DAB-43B5-8D1F-1FBBC6D0C92A}"/>
              </a:ext>
            </a:extLst>
          </p:cNvPr>
          <p:cNvSpPr txBox="1"/>
          <p:nvPr/>
        </p:nvSpPr>
        <p:spPr>
          <a:xfrm>
            <a:off x="9798351" y="3836906"/>
            <a:ext cx="100027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dirty="0"/>
              <a:t>传感器</a:t>
            </a:r>
            <a:endParaRPr lang="en-US" altLang="zh-CN" dirty="0"/>
          </a:p>
          <a:p>
            <a:pPr algn="l"/>
            <a:r>
              <a:rPr lang="en-US" altLang="zh-CN" dirty="0"/>
              <a:t>M621C40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D2171E-6657-4D07-A226-B797D8232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20" y="4140557"/>
            <a:ext cx="5652640" cy="17361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3B6F2D-D3D7-4390-B146-AA4FD97C89E4}"/>
              </a:ext>
            </a:extLst>
          </p:cNvPr>
          <p:cNvSpPr txBox="1"/>
          <p:nvPr/>
        </p:nvSpPr>
        <p:spPr>
          <a:xfrm>
            <a:off x="410400" y="2065604"/>
            <a:ext cx="4842774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由于</a:t>
            </a:r>
            <a:r>
              <a:rPr lang="en-US" altLang="zh-CN" dirty="0"/>
              <a:t>M621C40</a:t>
            </a:r>
            <a:r>
              <a:rPr lang="zh-CN" altLang="en-US" dirty="0"/>
              <a:t>是</a:t>
            </a:r>
            <a:r>
              <a:rPr lang="en-US" altLang="zh-CN" dirty="0"/>
              <a:t>IEPE</a:t>
            </a:r>
            <a:r>
              <a:rPr lang="zh-CN" altLang="en-US" dirty="0"/>
              <a:t>型传感器，选用</a:t>
            </a:r>
            <a:r>
              <a:rPr lang="en-US" altLang="zh-CN" dirty="0"/>
              <a:t>2</a:t>
            </a:r>
            <a:r>
              <a:rPr lang="zh-CN" altLang="en-US" dirty="0"/>
              <a:t>芯线缆，一头直接接入采集卡</a:t>
            </a:r>
            <a:r>
              <a:rPr lang="en-US" altLang="zh-CN" dirty="0"/>
              <a:t>SM1281</a:t>
            </a:r>
            <a:r>
              <a:rPr lang="zh-CN" altLang="en-US" dirty="0"/>
              <a:t>；线缆另一头使用</a:t>
            </a:r>
            <a:r>
              <a:rPr lang="en-US" altLang="zh-CN" dirty="0"/>
              <a:t>coaxial jack</a:t>
            </a:r>
            <a:r>
              <a:rPr lang="zh-CN" altLang="en-US" dirty="0"/>
              <a:t>连接传感器。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1483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kt 1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3373"/>
          <a:ext cx="1586" cy="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3" name="Objekt 1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3373"/>
                        <a:ext cx="1586" cy="15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Freeform 10">
            <a:extLst>
              <a:ext uri="{FF2B5EF4-FFF2-40B4-BE49-F238E27FC236}">
                <a16:creationId xmlns:a16="http://schemas.microsoft.com/office/drawing/2014/main" id="{5DE8E61E-EEF5-4B33-BF97-CAB03B81F2C9}"/>
              </a:ext>
            </a:extLst>
          </p:cNvPr>
          <p:cNvSpPr/>
          <p:nvPr/>
        </p:nvSpPr>
        <p:spPr bwMode="auto">
          <a:xfrm>
            <a:off x="660653" y="586165"/>
            <a:ext cx="3912225" cy="3290987"/>
          </a:xfrm>
          <a:custGeom>
            <a:avLst/>
            <a:gdLst>
              <a:gd name="connsiteX0" fmla="*/ 0 w 7170801"/>
              <a:gd name="connsiteY0" fmla="*/ 0 h 6032118"/>
              <a:gd name="connsiteX1" fmla="*/ 7170801 w 7170801"/>
              <a:gd name="connsiteY1" fmla="*/ 7572 h 6032118"/>
              <a:gd name="connsiteX2" fmla="*/ 6573992 w 7170801"/>
              <a:gd name="connsiteY2" fmla="*/ 5131398 h 6032118"/>
              <a:gd name="connsiteX3" fmla="*/ 2970687 w 7170801"/>
              <a:gd name="connsiteY3" fmla="*/ 5131398 h 6032118"/>
              <a:gd name="connsiteX4" fmla="*/ 1602497 w 7170801"/>
              <a:gd name="connsiteY4" fmla="*/ 6032118 h 6032118"/>
              <a:gd name="connsiteX5" fmla="*/ 1602497 w 7170801"/>
              <a:gd name="connsiteY5" fmla="*/ 5131398 h 6032118"/>
              <a:gd name="connsiteX6" fmla="*/ 484094 w 7170801"/>
              <a:gd name="connsiteY6" fmla="*/ 5131398 h 603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70801" h="6032118">
                <a:moveTo>
                  <a:pt x="0" y="0"/>
                </a:moveTo>
                <a:lnTo>
                  <a:pt x="7170801" y="7572"/>
                </a:lnTo>
                <a:lnTo>
                  <a:pt x="6573992" y="5131398"/>
                </a:lnTo>
                <a:lnTo>
                  <a:pt x="2970687" y="5131398"/>
                </a:lnTo>
                <a:lnTo>
                  <a:pt x="1602497" y="6032118"/>
                </a:lnTo>
                <a:lnTo>
                  <a:pt x="1602497" y="5131398"/>
                </a:lnTo>
                <a:lnTo>
                  <a:pt x="484094" y="5131398"/>
                </a:lnTo>
                <a:close/>
              </a:path>
            </a:pathLst>
          </a:custGeom>
          <a:solidFill>
            <a:srgbClr val="CDD9E1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86" name="Freeform 9">
            <a:extLst>
              <a:ext uri="{FF2B5EF4-FFF2-40B4-BE49-F238E27FC236}">
                <a16:creationId xmlns:a16="http://schemas.microsoft.com/office/drawing/2014/main" id="{8EB4F48C-C696-4BD1-8FD6-34E9A53D4AF5}"/>
              </a:ext>
            </a:extLst>
          </p:cNvPr>
          <p:cNvSpPr/>
          <p:nvPr/>
        </p:nvSpPr>
        <p:spPr bwMode="auto">
          <a:xfrm>
            <a:off x="3612269" y="2601396"/>
            <a:ext cx="4354965" cy="3060704"/>
          </a:xfrm>
          <a:custGeom>
            <a:avLst/>
            <a:gdLst>
              <a:gd name="connsiteX0" fmla="*/ 0 w 4357233"/>
              <a:gd name="connsiteY0" fmla="*/ 0 h 3062298"/>
              <a:gd name="connsiteX1" fmla="*/ 4357233 w 4357233"/>
              <a:gd name="connsiteY1" fmla="*/ 0 h 3062298"/>
              <a:gd name="connsiteX2" fmla="*/ 4061717 w 4357233"/>
              <a:gd name="connsiteY2" fmla="*/ 2542701 h 3062298"/>
              <a:gd name="connsiteX3" fmla="*/ 1670637 w 4357233"/>
              <a:gd name="connsiteY3" fmla="*/ 2542700 h 3062298"/>
              <a:gd name="connsiteX4" fmla="*/ 883104 w 4357233"/>
              <a:gd name="connsiteY4" fmla="*/ 3062298 h 3062298"/>
              <a:gd name="connsiteX5" fmla="*/ 883104 w 4357233"/>
              <a:gd name="connsiteY5" fmla="*/ 2542700 h 3062298"/>
              <a:gd name="connsiteX6" fmla="*/ 239350 w 4357233"/>
              <a:gd name="connsiteY6" fmla="*/ 2542700 h 306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7233" h="3062298">
                <a:moveTo>
                  <a:pt x="0" y="0"/>
                </a:moveTo>
                <a:lnTo>
                  <a:pt x="4357233" y="0"/>
                </a:lnTo>
                <a:lnTo>
                  <a:pt x="4061717" y="2542701"/>
                </a:lnTo>
                <a:lnTo>
                  <a:pt x="1670637" y="2542700"/>
                </a:lnTo>
                <a:lnTo>
                  <a:pt x="883104" y="3062298"/>
                </a:lnTo>
                <a:lnTo>
                  <a:pt x="883104" y="2542700"/>
                </a:lnTo>
                <a:lnTo>
                  <a:pt x="239350" y="2542700"/>
                </a:lnTo>
                <a:close/>
              </a:path>
            </a:pathLst>
          </a:custGeom>
          <a:solidFill>
            <a:srgbClr val="50BED7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87" name="Textfeld 2">
            <a:extLst>
              <a:ext uri="{FF2B5EF4-FFF2-40B4-BE49-F238E27FC236}">
                <a16:creationId xmlns:a16="http://schemas.microsoft.com/office/drawing/2014/main" id="{51997959-81F4-4657-B02F-E5A3A0A860A5}"/>
              </a:ext>
            </a:extLst>
          </p:cNvPr>
          <p:cNvSpPr txBox="1"/>
          <p:nvPr/>
        </p:nvSpPr>
        <p:spPr>
          <a:xfrm>
            <a:off x="1083410" y="1421607"/>
            <a:ext cx="3250157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399"/>
              </a:spcBef>
            </a:pPr>
            <a:r>
              <a:rPr lang="en-US" sz="4798" dirty="0">
                <a:solidFill>
                  <a:srgbClr val="00646E"/>
                </a:solidFill>
                <a:cs typeface="+mn-ea"/>
                <a:sym typeface="+mn-lt"/>
              </a:rPr>
              <a:t>Questions?</a:t>
            </a:r>
          </a:p>
        </p:txBody>
      </p:sp>
      <p:sp>
        <p:nvSpPr>
          <p:cNvPr id="89" name="Textfeld 2">
            <a:extLst>
              <a:ext uri="{FF2B5EF4-FFF2-40B4-BE49-F238E27FC236}">
                <a16:creationId xmlns:a16="http://schemas.microsoft.com/office/drawing/2014/main" id="{698F534C-48DA-4BBB-85C4-C92545AA254A}"/>
              </a:ext>
            </a:extLst>
          </p:cNvPr>
          <p:cNvSpPr txBox="1"/>
          <p:nvPr/>
        </p:nvSpPr>
        <p:spPr>
          <a:xfrm>
            <a:off x="4054474" y="3326897"/>
            <a:ext cx="3312825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399"/>
              </a:spcBef>
            </a:pPr>
            <a:r>
              <a:rPr lang="en-US" sz="4798" dirty="0">
                <a:solidFill>
                  <a:srgbClr val="FFFFFF"/>
                </a:solidFill>
                <a:cs typeface="+mn-ea"/>
                <a:sym typeface="+mn-lt"/>
              </a:rPr>
              <a:t>Answers!</a:t>
            </a:r>
          </a:p>
        </p:txBody>
      </p:sp>
      <p:grpSp>
        <p:nvGrpSpPr>
          <p:cNvPr id="91" name="Gruppieren 134">
            <a:extLst>
              <a:ext uri="{FF2B5EF4-FFF2-40B4-BE49-F238E27FC236}">
                <a16:creationId xmlns:a16="http://schemas.microsoft.com/office/drawing/2014/main" id="{F7870ADA-0F45-4D51-ABFA-20146F7C5ED1}"/>
              </a:ext>
            </a:extLst>
          </p:cNvPr>
          <p:cNvGrpSpPr/>
          <p:nvPr/>
        </p:nvGrpSpPr>
        <p:grpSpPr bwMode="gray">
          <a:xfrm>
            <a:off x="5880089" y="4415959"/>
            <a:ext cx="6328151" cy="1960727"/>
            <a:chOff x="3846455" y="4452590"/>
            <a:chExt cx="6087317" cy="2155882"/>
          </a:xfrm>
        </p:grpSpPr>
        <p:sp>
          <p:nvSpPr>
            <p:cNvPr id="92" name="Rectangle 1622">
              <a:extLst>
                <a:ext uri="{FF2B5EF4-FFF2-40B4-BE49-F238E27FC236}">
                  <a16:creationId xmlns:a16="http://schemas.microsoft.com/office/drawing/2014/main" id="{19FEFF4B-52B3-4D6C-BC6C-306242A389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26503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3" name="Rectangle 1623">
              <a:extLst>
                <a:ext uri="{FF2B5EF4-FFF2-40B4-BE49-F238E27FC236}">
                  <a16:creationId xmlns:a16="http://schemas.microsoft.com/office/drawing/2014/main" id="{5BF10F21-5E59-412A-97F0-62923CCF866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64099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4" name="Freeform 1997">
              <a:extLst>
                <a:ext uri="{FF2B5EF4-FFF2-40B4-BE49-F238E27FC236}">
                  <a16:creationId xmlns:a16="http://schemas.microsoft.com/office/drawing/2014/main" id="{AFB89CD5-544B-4C8D-9BBF-6E6615A12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8706101" y="5468223"/>
              <a:ext cx="166130" cy="26705"/>
            </a:xfrm>
            <a:custGeom>
              <a:avLst/>
              <a:gdLst>
                <a:gd name="T0" fmla="*/ 548 w 4846"/>
                <a:gd name="T1" fmla="*/ 0 h 779"/>
                <a:gd name="T2" fmla="*/ 0 w 4846"/>
                <a:gd name="T3" fmla="*/ 750 h 779"/>
                <a:gd name="T4" fmla="*/ 4846 w 4846"/>
                <a:gd name="T5" fmla="*/ 779 h 779"/>
                <a:gd name="T6" fmla="*/ 4846 w 4846"/>
                <a:gd name="T7" fmla="*/ 29 h 779"/>
                <a:gd name="T8" fmla="*/ 548 w 4846"/>
                <a:gd name="T9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6" h="779">
                  <a:moveTo>
                    <a:pt x="548" y="0"/>
                  </a:moveTo>
                  <a:lnTo>
                    <a:pt x="0" y="750"/>
                  </a:lnTo>
                  <a:lnTo>
                    <a:pt x="4846" y="779"/>
                  </a:lnTo>
                  <a:lnTo>
                    <a:pt x="4846" y="29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5" name="Freeform 1998">
              <a:extLst>
                <a:ext uri="{FF2B5EF4-FFF2-40B4-BE49-F238E27FC236}">
                  <a16:creationId xmlns:a16="http://schemas.microsoft.com/office/drawing/2014/main" id="{F9237FAD-F468-47A4-A89D-69B28C9A395A}"/>
                </a:ext>
              </a:extLst>
            </p:cNvPr>
            <p:cNvSpPr>
              <a:spLocks/>
            </p:cNvSpPr>
            <p:nvPr/>
          </p:nvSpPr>
          <p:spPr bwMode="gray">
            <a:xfrm>
              <a:off x="8872231" y="5469219"/>
              <a:ext cx="27700" cy="25711"/>
            </a:xfrm>
            <a:custGeom>
              <a:avLst/>
              <a:gdLst>
                <a:gd name="T0" fmla="*/ 0 w 808"/>
                <a:gd name="T1" fmla="*/ 0 h 750"/>
                <a:gd name="T2" fmla="*/ 808 w 808"/>
                <a:gd name="T3" fmla="*/ 346 h 750"/>
                <a:gd name="T4" fmla="*/ 0 w 808"/>
                <a:gd name="T5" fmla="*/ 750 h 750"/>
                <a:gd name="T6" fmla="*/ 0 w 808"/>
                <a:gd name="T7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8" h="750">
                  <a:moveTo>
                    <a:pt x="0" y="0"/>
                  </a:moveTo>
                  <a:lnTo>
                    <a:pt x="808" y="346"/>
                  </a:lnTo>
                  <a:lnTo>
                    <a:pt x="0" y="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6" name="Freeform 1999">
              <a:extLst>
                <a:ext uri="{FF2B5EF4-FFF2-40B4-BE49-F238E27FC236}">
                  <a16:creationId xmlns:a16="http://schemas.microsoft.com/office/drawing/2014/main" id="{C5CA0D76-FD54-4595-BD17-CA8FA01F95E7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774807"/>
              <a:ext cx="534933" cy="55365"/>
            </a:xfrm>
            <a:custGeom>
              <a:avLst/>
              <a:gdLst>
                <a:gd name="T0" fmla="*/ 485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5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7" name="Freeform 2000">
              <a:extLst>
                <a:ext uri="{FF2B5EF4-FFF2-40B4-BE49-F238E27FC236}">
                  <a16:creationId xmlns:a16="http://schemas.microsoft.com/office/drawing/2014/main" id="{09E0BBE6-47D3-4E6A-8E97-710320D50CD6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8" name="Freeform 2001">
              <a:extLst>
                <a:ext uri="{FF2B5EF4-FFF2-40B4-BE49-F238E27FC236}">
                  <a16:creationId xmlns:a16="http://schemas.microsoft.com/office/drawing/2014/main" id="{A2186172-B232-4DA9-9858-863D2C475394}"/>
                </a:ext>
              </a:extLst>
            </p:cNvPr>
            <p:cNvSpPr>
              <a:spLocks/>
            </p:cNvSpPr>
            <p:nvPr/>
          </p:nvSpPr>
          <p:spPr bwMode="gray">
            <a:xfrm>
              <a:off x="575656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9" name="Freeform 2002">
              <a:extLst>
                <a:ext uri="{FF2B5EF4-FFF2-40B4-BE49-F238E27FC236}">
                  <a16:creationId xmlns:a16="http://schemas.microsoft.com/office/drawing/2014/main" id="{213A3F6F-40BF-4980-9C06-752CD77527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0" name="Freeform 2003">
              <a:extLst>
                <a:ext uri="{FF2B5EF4-FFF2-40B4-BE49-F238E27FC236}">
                  <a16:creationId xmlns:a16="http://schemas.microsoft.com/office/drawing/2014/main" id="{BD0EA405-48FF-40A6-BEED-535581D605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24501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1" name="Freeform 2004">
              <a:extLst>
                <a:ext uri="{FF2B5EF4-FFF2-40B4-BE49-F238E27FC236}">
                  <a16:creationId xmlns:a16="http://schemas.microsoft.com/office/drawing/2014/main" id="{14508009-0B52-4528-A1D1-71C75B124E8C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246696"/>
              <a:ext cx="534933" cy="208673"/>
            </a:xfrm>
            <a:custGeom>
              <a:avLst/>
              <a:gdLst>
                <a:gd name="T0" fmla="*/ 404 w 541"/>
                <a:gd name="T1" fmla="*/ 0 h 211"/>
                <a:gd name="T2" fmla="*/ 136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4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2" name="Freeform 2005">
              <a:extLst>
                <a:ext uri="{FF2B5EF4-FFF2-40B4-BE49-F238E27FC236}">
                  <a16:creationId xmlns:a16="http://schemas.microsoft.com/office/drawing/2014/main" id="{08623B0E-46F3-436D-A676-E16050E82FF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03872" y="4895649"/>
              <a:ext cx="209633" cy="477648"/>
            </a:xfrm>
            <a:custGeom>
              <a:avLst/>
              <a:gdLst>
                <a:gd name="T0" fmla="*/ 0 w 6115"/>
                <a:gd name="T1" fmla="*/ 0 h 13933"/>
                <a:gd name="T2" fmla="*/ 0 w 6115"/>
                <a:gd name="T3" fmla="*/ 836 h 13933"/>
                <a:gd name="T4" fmla="*/ 1298 w 6115"/>
                <a:gd name="T5" fmla="*/ 7846 h 13933"/>
                <a:gd name="T6" fmla="*/ 2279 w 6115"/>
                <a:gd name="T7" fmla="*/ 11913 h 13933"/>
                <a:gd name="T8" fmla="*/ 3115 w 6115"/>
                <a:gd name="T9" fmla="*/ 13933 h 13933"/>
                <a:gd name="T10" fmla="*/ 4010 w 6115"/>
                <a:gd name="T11" fmla="*/ 12000 h 13933"/>
                <a:gd name="T12" fmla="*/ 6115 w 6115"/>
                <a:gd name="T13" fmla="*/ 778 h 13933"/>
                <a:gd name="T14" fmla="*/ 6115 w 6115"/>
                <a:gd name="T15" fmla="*/ 0 h 13933"/>
                <a:gd name="T16" fmla="*/ 0 w 6115"/>
                <a:gd name="T17" fmla="*/ 0 h 13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15" h="13933">
                  <a:moveTo>
                    <a:pt x="0" y="0"/>
                  </a:moveTo>
                  <a:lnTo>
                    <a:pt x="0" y="836"/>
                  </a:lnTo>
                  <a:lnTo>
                    <a:pt x="1298" y="7846"/>
                  </a:lnTo>
                  <a:lnTo>
                    <a:pt x="2279" y="11913"/>
                  </a:lnTo>
                  <a:lnTo>
                    <a:pt x="3115" y="13933"/>
                  </a:lnTo>
                  <a:lnTo>
                    <a:pt x="4010" y="12000"/>
                  </a:lnTo>
                  <a:lnTo>
                    <a:pt x="6115" y="778"/>
                  </a:lnTo>
                  <a:lnTo>
                    <a:pt x="61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3" name="Freeform 2006">
              <a:extLst>
                <a:ext uri="{FF2B5EF4-FFF2-40B4-BE49-F238E27FC236}">
                  <a16:creationId xmlns:a16="http://schemas.microsoft.com/office/drawing/2014/main" id="{957EA48C-D2BF-4D69-B561-9890133580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1709" y="4456533"/>
              <a:ext cx="353000" cy="510320"/>
            </a:xfrm>
            <a:custGeom>
              <a:avLst/>
              <a:gdLst>
                <a:gd name="T0" fmla="*/ 354 w 357"/>
                <a:gd name="T1" fmla="*/ 248 h 516"/>
                <a:gd name="T2" fmla="*/ 329 w 357"/>
                <a:gd name="T3" fmla="*/ 312 h 516"/>
                <a:gd name="T4" fmla="*/ 315 w 357"/>
                <a:gd name="T5" fmla="*/ 322 h 516"/>
                <a:gd name="T6" fmla="*/ 302 w 357"/>
                <a:gd name="T7" fmla="*/ 322 h 516"/>
                <a:gd name="T8" fmla="*/ 289 w 357"/>
                <a:gd name="T9" fmla="*/ 377 h 516"/>
                <a:gd name="T10" fmla="*/ 272 w 357"/>
                <a:gd name="T11" fmla="*/ 386 h 516"/>
                <a:gd name="T12" fmla="*/ 271 w 357"/>
                <a:gd name="T13" fmla="*/ 452 h 516"/>
                <a:gd name="T14" fmla="*/ 189 w 357"/>
                <a:gd name="T15" fmla="*/ 516 h 516"/>
                <a:gd name="T16" fmla="*/ 168 w 357"/>
                <a:gd name="T17" fmla="*/ 516 h 516"/>
                <a:gd name="T18" fmla="*/ 85 w 357"/>
                <a:gd name="T19" fmla="*/ 453 h 516"/>
                <a:gd name="T20" fmla="*/ 84 w 357"/>
                <a:gd name="T21" fmla="*/ 386 h 516"/>
                <a:gd name="T22" fmla="*/ 68 w 357"/>
                <a:gd name="T23" fmla="*/ 377 h 516"/>
                <a:gd name="T24" fmla="*/ 55 w 357"/>
                <a:gd name="T25" fmla="*/ 322 h 516"/>
                <a:gd name="T26" fmla="*/ 42 w 357"/>
                <a:gd name="T27" fmla="*/ 322 h 516"/>
                <a:gd name="T28" fmla="*/ 27 w 357"/>
                <a:gd name="T29" fmla="*/ 312 h 516"/>
                <a:gd name="T30" fmla="*/ 3 w 357"/>
                <a:gd name="T31" fmla="*/ 248 h 516"/>
                <a:gd name="T32" fmla="*/ 11 w 357"/>
                <a:gd name="T33" fmla="*/ 229 h 516"/>
                <a:gd name="T34" fmla="*/ 39 w 357"/>
                <a:gd name="T35" fmla="*/ 244 h 516"/>
                <a:gd name="T36" fmla="*/ 32 w 357"/>
                <a:gd name="T37" fmla="*/ 150 h 516"/>
                <a:gd name="T38" fmla="*/ 45 w 357"/>
                <a:gd name="T39" fmla="*/ 46 h 516"/>
                <a:gd name="T40" fmla="*/ 138 w 357"/>
                <a:gd name="T41" fmla="*/ 0 h 516"/>
                <a:gd name="T42" fmla="*/ 218 w 357"/>
                <a:gd name="T43" fmla="*/ 0 h 516"/>
                <a:gd name="T44" fmla="*/ 313 w 357"/>
                <a:gd name="T45" fmla="*/ 49 h 516"/>
                <a:gd name="T46" fmla="*/ 330 w 357"/>
                <a:gd name="T47" fmla="*/ 150 h 516"/>
                <a:gd name="T48" fmla="*/ 321 w 357"/>
                <a:gd name="T49" fmla="*/ 240 h 516"/>
                <a:gd name="T50" fmla="*/ 345 w 357"/>
                <a:gd name="T51" fmla="*/ 229 h 516"/>
                <a:gd name="T52" fmla="*/ 354 w 357"/>
                <a:gd name="T53" fmla="*/ 248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7" h="516">
                  <a:moveTo>
                    <a:pt x="354" y="248"/>
                  </a:moveTo>
                  <a:cubicBezTo>
                    <a:pt x="329" y="312"/>
                    <a:pt x="329" y="312"/>
                    <a:pt x="329" y="312"/>
                  </a:cubicBezTo>
                  <a:cubicBezTo>
                    <a:pt x="326" y="318"/>
                    <a:pt x="321" y="322"/>
                    <a:pt x="315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289" y="377"/>
                    <a:pt x="289" y="377"/>
                    <a:pt x="289" y="377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1" y="452"/>
                    <a:pt x="271" y="452"/>
                    <a:pt x="271" y="452"/>
                  </a:cubicBezTo>
                  <a:cubicBezTo>
                    <a:pt x="189" y="516"/>
                    <a:pt x="189" y="516"/>
                    <a:pt x="189" y="516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84" y="397"/>
                    <a:pt x="84" y="386"/>
                    <a:pt x="84" y="386"/>
                  </a:cubicBezTo>
                  <a:cubicBezTo>
                    <a:pt x="68" y="377"/>
                    <a:pt x="68" y="377"/>
                    <a:pt x="68" y="377"/>
                  </a:cubicBezTo>
                  <a:cubicBezTo>
                    <a:pt x="55" y="322"/>
                    <a:pt x="55" y="322"/>
                    <a:pt x="55" y="322"/>
                  </a:cubicBezTo>
                  <a:cubicBezTo>
                    <a:pt x="42" y="322"/>
                    <a:pt x="42" y="322"/>
                    <a:pt x="42" y="322"/>
                  </a:cubicBezTo>
                  <a:cubicBezTo>
                    <a:pt x="36" y="322"/>
                    <a:pt x="30" y="318"/>
                    <a:pt x="27" y="312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0" y="241"/>
                    <a:pt x="4" y="233"/>
                    <a:pt x="11" y="229"/>
                  </a:cubicBezTo>
                  <a:cubicBezTo>
                    <a:pt x="29" y="219"/>
                    <a:pt x="39" y="244"/>
                    <a:pt x="39" y="244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13" y="49"/>
                    <a:pt x="313" y="49"/>
                    <a:pt x="313" y="49"/>
                  </a:cubicBezTo>
                  <a:cubicBezTo>
                    <a:pt x="330" y="150"/>
                    <a:pt x="330" y="150"/>
                    <a:pt x="330" y="150"/>
                  </a:cubicBezTo>
                  <a:cubicBezTo>
                    <a:pt x="321" y="240"/>
                    <a:pt x="321" y="240"/>
                    <a:pt x="321" y="240"/>
                  </a:cubicBezTo>
                  <a:cubicBezTo>
                    <a:pt x="323" y="230"/>
                    <a:pt x="336" y="225"/>
                    <a:pt x="345" y="229"/>
                  </a:cubicBezTo>
                  <a:cubicBezTo>
                    <a:pt x="353" y="232"/>
                    <a:pt x="357" y="241"/>
                    <a:pt x="354" y="248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4" name="Freeform 2007">
              <a:extLst>
                <a:ext uri="{FF2B5EF4-FFF2-40B4-BE49-F238E27FC236}">
                  <a16:creationId xmlns:a16="http://schemas.microsoft.com/office/drawing/2014/main" id="{7BD747D3-A1F4-421B-A3E0-70C15B784662}"/>
                </a:ext>
              </a:extLst>
            </p:cNvPr>
            <p:cNvSpPr>
              <a:spLocks/>
            </p:cNvSpPr>
            <p:nvPr/>
          </p:nvSpPr>
          <p:spPr bwMode="gray">
            <a:xfrm>
              <a:off x="5858415" y="4452590"/>
              <a:ext cx="299589" cy="264038"/>
            </a:xfrm>
            <a:custGeom>
              <a:avLst/>
              <a:gdLst>
                <a:gd name="T0" fmla="*/ 8739 w 8739"/>
                <a:gd name="T1" fmla="*/ 4471 h 7702"/>
                <a:gd name="T2" fmla="*/ 8479 w 8739"/>
                <a:gd name="T3" fmla="*/ 7039 h 7702"/>
                <a:gd name="T4" fmla="*/ 8364 w 8739"/>
                <a:gd name="T5" fmla="*/ 7702 h 7702"/>
                <a:gd name="T6" fmla="*/ 8364 w 8739"/>
                <a:gd name="T7" fmla="*/ 7702 h 7702"/>
                <a:gd name="T8" fmla="*/ 7210 w 8739"/>
                <a:gd name="T9" fmla="*/ 3260 h 7702"/>
                <a:gd name="T10" fmla="*/ 7528 w 8739"/>
                <a:gd name="T11" fmla="*/ 2250 h 7702"/>
                <a:gd name="T12" fmla="*/ 6287 w 8739"/>
                <a:gd name="T13" fmla="*/ 1500 h 7702"/>
                <a:gd name="T14" fmla="*/ 3720 w 8739"/>
                <a:gd name="T15" fmla="*/ 2510 h 7702"/>
                <a:gd name="T16" fmla="*/ 1846 w 8739"/>
                <a:gd name="T17" fmla="*/ 2481 h 7702"/>
                <a:gd name="T18" fmla="*/ 1067 w 8739"/>
                <a:gd name="T19" fmla="*/ 2394 h 7702"/>
                <a:gd name="T20" fmla="*/ 1500 w 8739"/>
                <a:gd name="T21" fmla="*/ 3404 h 7702"/>
                <a:gd name="T22" fmla="*/ 403 w 8739"/>
                <a:gd name="T23" fmla="*/ 7702 h 7702"/>
                <a:gd name="T24" fmla="*/ 403 w 8739"/>
                <a:gd name="T25" fmla="*/ 7702 h 7702"/>
                <a:gd name="T26" fmla="*/ 259 w 8739"/>
                <a:gd name="T27" fmla="*/ 7039 h 7702"/>
                <a:gd name="T28" fmla="*/ 0 w 8739"/>
                <a:gd name="T29" fmla="*/ 4471 h 7702"/>
                <a:gd name="T30" fmla="*/ 375 w 8739"/>
                <a:gd name="T31" fmla="*/ 1356 h 7702"/>
                <a:gd name="T32" fmla="*/ 3201 w 8739"/>
                <a:gd name="T33" fmla="*/ 0 h 7702"/>
                <a:gd name="T34" fmla="*/ 5538 w 8739"/>
                <a:gd name="T35" fmla="*/ 0 h 7702"/>
                <a:gd name="T36" fmla="*/ 8393 w 8739"/>
                <a:gd name="T37" fmla="*/ 1356 h 7702"/>
                <a:gd name="T38" fmla="*/ 8739 w 8739"/>
                <a:gd name="T39" fmla="*/ 4471 h 7702"/>
                <a:gd name="T40" fmla="*/ 8739 w 8739"/>
                <a:gd name="T41" fmla="*/ 4471 h 7702"/>
                <a:gd name="T42" fmla="*/ 8739 w 8739"/>
                <a:gd name="T43" fmla="*/ 4471 h 7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39" h="7702">
                  <a:moveTo>
                    <a:pt x="8739" y="4471"/>
                  </a:moveTo>
                  <a:lnTo>
                    <a:pt x="8479" y="7039"/>
                  </a:lnTo>
                  <a:lnTo>
                    <a:pt x="8364" y="7702"/>
                  </a:lnTo>
                  <a:lnTo>
                    <a:pt x="8364" y="7702"/>
                  </a:lnTo>
                  <a:lnTo>
                    <a:pt x="7210" y="3260"/>
                  </a:lnTo>
                  <a:lnTo>
                    <a:pt x="7528" y="2250"/>
                  </a:lnTo>
                  <a:lnTo>
                    <a:pt x="6287" y="1500"/>
                  </a:lnTo>
                  <a:lnTo>
                    <a:pt x="3720" y="2510"/>
                  </a:lnTo>
                  <a:lnTo>
                    <a:pt x="1846" y="2481"/>
                  </a:lnTo>
                  <a:lnTo>
                    <a:pt x="1067" y="2394"/>
                  </a:lnTo>
                  <a:lnTo>
                    <a:pt x="1500" y="3404"/>
                  </a:lnTo>
                  <a:lnTo>
                    <a:pt x="403" y="7702"/>
                  </a:lnTo>
                  <a:lnTo>
                    <a:pt x="403" y="7702"/>
                  </a:lnTo>
                  <a:lnTo>
                    <a:pt x="259" y="7039"/>
                  </a:lnTo>
                  <a:lnTo>
                    <a:pt x="0" y="4471"/>
                  </a:lnTo>
                  <a:lnTo>
                    <a:pt x="375" y="1356"/>
                  </a:lnTo>
                  <a:lnTo>
                    <a:pt x="3201" y="0"/>
                  </a:lnTo>
                  <a:lnTo>
                    <a:pt x="5538" y="0"/>
                  </a:lnTo>
                  <a:lnTo>
                    <a:pt x="8393" y="1356"/>
                  </a:lnTo>
                  <a:lnTo>
                    <a:pt x="8739" y="4471"/>
                  </a:lnTo>
                  <a:lnTo>
                    <a:pt x="8739" y="4471"/>
                  </a:lnTo>
                  <a:lnTo>
                    <a:pt x="8739" y="4471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5" name="Freeform 2008">
              <a:extLst>
                <a:ext uri="{FF2B5EF4-FFF2-40B4-BE49-F238E27FC236}">
                  <a16:creationId xmlns:a16="http://schemas.microsoft.com/office/drawing/2014/main" id="{3A2D19F2-AC3F-4E67-A7CB-F2848414C3F1}"/>
                </a:ext>
              </a:extLst>
            </p:cNvPr>
            <p:cNvSpPr>
              <a:spLocks/>
            </p:cNvSpPr>
            <p:nvPr/>
          </p:nvSpPr>
          <p:spPr bwMode="gray">
            <a:xfrm>
              <a:off x="6018579" y="4875867"/>
              <a:ext cx="81077" cy="111725"/>
            </a:xfrm>
            <a:custGeom>
              <a:avLst/>
              <a:gdLst>
                <a:gd name="T0" fmla="*/ 2365 w 2365"/>
                <a:gd name="T1" fmla="*/ 1269 h 3259"/>
                <a:gd name="T2" fmla="*/ 548 w 2365"/>
                <a:gd name="T3" fmla="*/ 3259 h 3259"/>
                <a:gd name="T4" fmla="*/ 0 w 2365"/>
                <a:gd name="T5" fmla="*/ 1846 h 3259"/>
                <a:gd name="T6" fmla="*/ 2365 w 2365"/>
                <a:gd name="T7" fmla="*/ 0 h 3259"/>
                <a:gd name="T8" fmla="*/ 2365 w 2365"/>
                <a:gd name="T9" fmla="*/ 126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2365" y="1269"/>
                  </a:moveTo>
                  <a:lnTo>
                    <a:pt x="548" y="3259"/>
                  </a:lnTo>
                  <a:lnTo>
                    <a:pt x="0" y="1846"/>
                  </a:lnTo>
                  <a:lnTo>
                    <a:pt x="2365" y="0"/>
                  </a:lnTo>
                  <a:lnTo>
                    <a:pt x="2365" y="12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6" name="Freeform 2009">
              <a:extLst>
                <a:ext uri="{FF2B5EF4-FFF2-40B4-BE49-F238E27FC236}">
                  <a16:creationId xmlns:a16="http://schemas.microsoft.com/office/drawing/2014/main" id="{97B8DA8C-8CE5-4F4B-A326-5B42A712CF2A}"/>
                </a:ext>
              </a:extLst>
            </p:cNvPr>
            <p:cNvSpPr>
              <a:spLocks/>
            </p:cNvSpPr>
            <p:nvPr/>
          </p:nvSpPr>
          <p:spPr bwMode="gray">
            <a:xfrm>
              <a:off x="5956289" y="4939153"/>
              <a:ext cx="107782" cy="431163"/>
            </a:xfrm>
            <a:custGeom>
              <a:avLst/>
              <a:gdLst>
                <a:gd name="T0" fmla="*/ 3144 w 3144"/>
                <a:gd name="T1" fmla="*/ 8135 h 12577"/>
                <a:gd name="T2" fmla="*/ 1500 w 3144"/>
                <a:gd name="T3" fmla="*/ 12577 h 12577"/>
                <a:gd name="T4" fmla="*/ 0 w 3144"/>
                <a:gd name="T5" fmla="*/ 8135 h 12577"/>
                <a:gd name="T6" fmla="*/ 837 w 3144"/>
                <a:gd name="T7" fmla="*/ 2336 h 12577"/>
                <a:gd name="T8" fmla="*/ 635 w 3144"/>
                <a:gd name="T9" fmla="*/ 1413 h 12577"/>
                <a:gd name="T10" fmla="*/ 1183 w 3144"/>
                <a:gd name="T11" fmla="*/ 0 h 12577"/>
                <a:gd name="T12" fmla="*/ 1817 w 3144"/>
                <a:gd name="T13" fmla="*/ 0 h 12577"/>
                <a:gd name="T14" fmla="*/ 2365 w 3144"/>
                <a:gd name="T15" fmla="*/ 1413 h 12577"/>
                <a:gd name="T16" fmla="*/ 2163 w 3144"/>
                <a:gd name="T17" fmla="*/ 2336 h 12577"/>
                <a:gd name="T18" fmla="*/ 3144 w 3144"/>
                <a:gd name="T19" fmla="*/ 8135 h 12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44" h="12577">
                  <a:moveTo>
                    <a:pt x="3144" y="8135"/>
                  </a:moveTo>
                  <a:lnTo>
                    <a:pt x="1500" y="12577"/>
                  </a:lnTo>
                  <a:lnTo>
                    <a:pt x="0" y="8135"/>
                  </a:lnTo>
                  <a:lnTo>
                    <a:pt x="837" y="2336"/>
                  </a:lnTo>
                  <a:lnTo>
                    <a:pt x="635" y="1413"/>
                  </a:lnTo>
                  <a:lnTo>
                    <a:pt x="1183" y="0"/>
                  </a:lnTo>
                  <a:lnTo>
                    <a:pt x="1817" y="0"/>
                  </a:lnTo>
                  <a:lnTo>
                    <a:pt x="2365" y="1413"/>
                  </a:lnTo>
                  <a:lnTo>
                    <a:pt x="2163" y="2336"/>
                  </a:lnTo>
                  <a:lnTo>
                    <a:pt x="3144" y="8135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7" name="Freeform 2010">
              <a:extLst>
                <a:ext uri="{FF2B5EF4-FFF2-40B4-BE49-F238E27FC236}">
                  <a16:creationId xmlns:a16="http://schemas.microsoft.com/office/drawing/2014/main" id="{2209C59C-C8AD-40B7-8916-23BC62BECED5}"/>
                </a:ext>
              </a:extLst>
            </p:cNvPr>
            <p:cNvSpPr>
              <a:spLocks/>
            </p:cNvSpPr>
            <p:nvPr/>
          </p:nvSpPr>
          <p:spPr bwMode="gray">
            <a:xfrm>
              <a:off x="5915768" y="4875867"/>
              <a:ext cx="81077" cy="111725"/>
            </a:xfrm>
            <a:custGeom>
              <a:avLst/>
              <a:gdLst>
                <a:gd name="T0" fmla="*/ 1817 w 2365"/>
                <a:gd name="T1" fmla="*/ 3259 h 3259"/>
                <a:gd name="T2" fmla="*/ 28 w 2365"/>
                <a:gd name="T3" fmla="*/ 1269 h 3259"/>
                <a:gd name="T4" fmla="*/ 0 w 2365"/>
                <a:gd name="T5" fmla="*/ 0 h 3259"/>
                <a:gd name="T6" fmla="*/ 2365 w 2365"/>
                <a:gd name="T7" fmla="*/ 1846 h 3259"/>
                <a:gd name="T8" fmla="*/ 1817 w 2365"/>
                <a:gd name="T9" fmla="*/ 325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1817" y="3259"/>
                  </a:moveTo>
                  <a:lnTo>
                    <a:pt x="28" y="1269"/>
                  </a:lnTo>
                  <a:lnTo>
                    <a:pt x="0" y="0"/>
                  </a:lnTo>
                  <a:lnTo>
                    <a:pt x="2365" y="1846"/>
                  </a:lnTo>
                  <a:lnTo>
                    <a:pt x="1817" y="3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8" name="Freeform 2011">
              <a:extLst>
                <a:ext uri="{FF2B5EF4-FFF2-40B4-BE49-F238E27FC236}">
                  <a16:creationId xmlns:a16="http://schemas.microsoft.com/office/drawing/2014/main" id="{B887865F-D762-43D7-BBB2-C88A27E94156}"/>
                </a:ext>
              </a:extLst>
            </p:cNvPr>
            <p:cNvSpPr>
              <a:spLocks/>
            </p:cNvSpPr>
            <p:nvPr/>
          </p:nvSpPr>
          <p:spPr bwMode="gray">
            <a:xfrm>
              <a:off x="5681417" y="4875867"/>
              <a:ext cx="651594" cy="829723"/>
            </a:xfrm>
            <a:custGeom>
              <a:avLst/>
              <a:gdLst>
                <a:gd name="T0" fmla="*/ 16152 w 19007"/>
                <a:gd name="T1" fmla="*/ 17943 h 24203"/>
                <a:gd name="T2" fmla="*/ 16123 w 19007"/>
                <a:gd name="T3" fmla="*/ 23510 h 24203"/>
                <a:gd name="T4" fmla="*/ 15661 w 19007"/>
                <a:gd name="T5" fmla="*/ 24203 h 24203"/>
                <a:gd name="T6" fmla="*/ 3374 w 19007"/>
                <a:gd name="T7" fmla="*/ 24203 h 24203"/>
                <a:gd name="T8" fmla="*/ 2913 w 19007"/>
                <a:gd name="T9" fmla="*/ 23510 h 24203"/>
                <a:gd name="T10" fmla="*/ 2884 w 19007"/>
                <a:gd name="T11" fmla="*/ 17885 h 24203"/>
                <a:gd name="T12" fmla="*/ 1211 w 19007"/>
                <a:gd name="T13" fmla="*/ 17077 h 24203"/>
                <a:gd name="T14" fmla="*/ 0 w 19007"/>
                <a:gd name="T15" fmla="*/ 14741 h 24203"/>
                <a:gd name="T16" fmla="*/ 432 w 19007"/>
                <a:gd name="T17" fmla="*/ 4644 h 24203"/>
                <a:gd name="T18" fmla="*/ 2048 w 19007"/>
                <a:gd name="T19" fmla="*/ 2279 h 24203"/>
                <a:gd name="T20" fmla="*/ 4701 w 19007"/>
                <a:gd name="T21" fmla="*/ 1096 h 24203"/>
                <a:gd name="T22" fmla="*/ 4730 w 19007"/>
                <a:gd name="T23" fmla="*/ 836 h 24203"/>
                <a:gd name="T24" fmla="*/ 6836 w 19007"/>
                <a:gd name="T25" fmla="*/ 0 h 24203"/>
                <a:gd name="T26" fmla="*/ 6864 w 19007"/>
                <a:gd name="T27" fmla="*/ 1269 h 24203"/>
                <a:gd name="T28" fmla="*/ 8191 w 19007"/>
                <a:gd name="T29" fmla="*/ 8740 h 24203"/>
                <a:gd name="T30" fmla="*/ 9518 w 19007"/>
                <a:gd name="T31" fmla="*/ 14423 h 24203"/>
                <a:gd name="T32" fmla="*/ 10874 w 19007"/>
                <a:gd name="T33" fmla="*/ 8740 h 24203"/>
                <a:gd name="T34" fmla="*/ 10874 w 19007"/>
                <a:gd name="T35" fmla="*/ 8711 h 24203"/>
                <a:gd name="T36" fmla="*/ 12172 w 19007"/>
                <a:gd name="T37" fmla="*/ 1269 h 24203"/>
                <a:gd name="T38" fmla="*/ 12200 w 19007"/>
                <a:gd name="T39" fmla="*/ 0 h 24203"/>
                <a:gd name="T40" fmla="*/ 14335 w 19007"/>
                <a:gd name="T41" fmla="*/ 836 h 24203"/>
                <a:gd name="T42" fmla="*/ 14364 w 19007"/>
                <a:gd name="T43" fmla="*/ 1096 h 24203"/>
                <a:gd name="T44" fmla="*/ 16988 w 19007"/>
                <a:gd name="T45" fmla="*/ 2279 h 24203"/>
                <a:gd name="T46" fmla="*/ 18575 w 19007"/>
                <a:gd name="T47" fmla="*/ 4644 h 24203"/>
                <a:gd name="T48" fmla="*/ 19007 w 19007"/>
                <a:gd name="T49" fmla="*/ 14741 h 24203"/>
                <a:gd name="T50" fmla="*/ 17854 w 19007"/>
                <a:gd name="T51" fmla="*/ 17077 h 24203"/>
                <a:gd name="T52" fmla="*/ 16152 w 19007"/>
                <a:gd name="T53" fmla="*/ 17943 h 24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007" h="24203">
                  <a:moveTo>
                    <a:pt x="16152" y="17943"/>
                  </a:moveTo>
                  <a:lnTo>
                    <a:pt x="16123" y="23510"/>
                  </a:lnTo>
                  <a:lnTo>
                    <a:pt x="15661" y="24203"/>
                  </a:lnTo>
                  <a:lnTo>
                    <a:pt x="3374" y="24203"/>
                  </a:lnTo>
                  <a:lnTo>
                    <a:pt x="2913" y="23510"/>
                  </a:lnTo>
                  <a:lnTo>
                    <a:pt x="2884" y="17885"/>
                  </a:lnTo>
                  <a:lnTo>
                    <a:pt x="1211" y="17077"/>
                  </a:lnTo>
                  <a:lnTo>
                    <a:pt x="0" y="14741"/>
                  </a:lnTo>
                  <a:lnTo>
                    <a:pt x="432" y="4644"/>
                  </a:lnTo>
                  <a:lnTo>
                    <a:pt x="2048" y="2279"/>
                  </a:lnTo>
                  <a:lnTo>
                    <a:pt x="4701" y="1096"/>
                  </a:lnTo>
                  <a:lnTo>
                    <a:pt x="4730" y="836"/>
                  </a:lnTo>
                  <a:lnTo>
                    <a:pt x="6836" y="0"/>
                  </a:lnTo>
                  <a:lnTo>
                    <a:pt x="6864" y="1269"/>
                  </a:lnTo>
                  <a:lnTo>
                    <a:pt x="8191" y="8740"/>
                  </a:lnTo>
                  <a:lnTo>
                    <a:pt x="9518" y="14423"/>
                  </a:lnTo>
                  <a:lnTo>
                    <a:pt x="10874" y="8740"/>
                  </a:lnTo>
                  <a:lnTo>
                    <a:pt x="10874" y="8711"/>
                  </a:lnTo>
                  <a:lnTo>
                    <a:pt x="12172" y="1269"/>
                  </a:lnTo>
                  <a:lnTo>
                    <a:pt x="12200" y="0"/>
                  </a:lnTo>
                  <a:lnTo>
                    <a:pt x="14335" y="836"/>
                  </a:lnTo>
                  <a:lnTo>
                    <a:pt x="14364" y="1096"/>
                  </a:lnTo>
                  <a:lnTo>
                    <a:pt x="16988" y="2279"/>
                  </a:lnTo>
                  <a:lnTo>
                    <a:pt x="18575" y="4644"/>
                  </a:lnTo>
                  <a:lnTo>
                    <a:pt x="19007" y="14741"/>
                  </a:lnTo>
                  <a:lnTo>
                    <a:pt x="17854" y="17077"/>
                  </a:lnTo>
                  <a:lnTo>
                    <a:pt x="16152" y="17943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9" name="Line 2012">
              <a:extLst>
                <a:ext uri="{FF2B5EF4-FFF2-40B4-BE49-F238E27FC236}">
                  <a16:creationId xmlns:a16="http://schemas.microsoft.com/office/drawing/2014/main" id="{27C9BE56-84DF-4B90-8302-C2F182D19EB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795130" y="5491946"/>
              <a:ext cx="0" cy="0"/>
            </a:xfrm>
            <a:prstGeom prst="line">
              <a:avLst/>
            </a:prstGeom>
            <a:noFill/>
            <a:ln w="5953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0" name="Freeform 2013">
              <a:extLst>
                <a:ext uri="{FF2B5EF4-FFF2-40B4-BE49-F238E27FC236}">
                  <a16:creationId xmlns:a16="http://schemas.microsoft.com/office/drawing/2014/main" id="{40057AD7-F5CB-42BF-BD30-B781D8E862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784228" y="5577994"/>
              <a:ext cx="446932" cy="196812"/>
            </a:xfrm>
            <a:custGeom>
              <a:avLst/>
              <a:gdLst>
                <a:gd name="T0" fmla="*/ 429 w 452"/>
                <a:gd name="T1" fmla="*/ 199 h 199"/>
                <a:gd name="T2" fmla="*/ 23 w 452"/>
                <a:gd name="T3" fmla="*/ 199 h 199"/>
                <a:gd name="T4" fmla="*/ 0 w 452"/>
                <a:gd name="T5" fmla="*/ 176 h 199"/>
                <a:gd name="T6" fmla="*/ 0 w 452"/>
                <a:gd name="T7" fmla="*/ 0 h 199"/>
                <a:gd name="T8" fmla="*/ 452 w 452"/>
                <a:gd name="T9" fmla="*/ 0 h 199"/>
                <a:gd name="T10" fmla="*/ 452 w 452"/>
                <a:gd name="T11" fmla="*/ 176 h 199"/>
                <a:gd name="T12" fmla="*/ 429 w 452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99">
                  <a:moveTo>
                    <a:pt x="429" y="199"/>
                  </a:moveTo>
                  <a:cubicBezTo>
                    <a:pt x="23" y="199"/>
                    <a:pt x="23" y="199"/>
                    <a:pt x="23" y="199"/>
                  </a:cubicBezTo>
                  <a:cubicBezTo>
                    <a:pt x="14" y="190"/>
                    <a:pt x="9" y="185"/>
                    <a:pt x="0" y="1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43" y="185"/>
                    <a:pt x="438" y="190"/>
                    <a:pt x="429" y="199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1" name="Freeform 2014">
              <a:extLst>
                <a:ext uri="{FF2B5EF4-FFF2-40B4-BE49-F238E27FC236}">
                  <a16:creationId xmlns:a16="http://schemas.microsoft.com/office/drawing/2014/main" id="{1EC2DCAC-7F2F-478E-966A-4AA9DDC8A12E}"/>
                </a:ext>
              </a:extLst>
            </p:cNvPr>
            <p:cNvSpPr>
              <a:spLocks/>
            </p:cNvSpPr>
            <p:nvPr/>
          </p:nvSpPr>
          <p:spPr bwMode="gray">
            <a:xfrm>
              <a:off x="5797084" y="5609636"/>
              <a:ext cx="189853" cy="729860"/>
            </a:xfrm>
            <a:custGeom>
              <a:avLst/>
              <a:gdLst>
                <a:gd name="T0" fmla="*/ 0 w 192"/>
                <a:gd name="T1" fmla="*/ 47 h 738"/>
                <a:gd name="T2" fmla="*/ 0 w 192"/>
                <a:gd name="T3" fmla="*/ 95 h 738"/>
                <a:gd name="T4" fmla="*/ 0 w 192"/>
                <a:gd name="T5" fmla="*/ 98 h 738"/>
                <a:gd name="T6" fmla="*/ 61 w 192"/>
                <a:gd name="T7" fmla="*/ 738 h 738"/>
                <a:gd name="T8" fmla="*/ 192 w 192"/>
                <a:gd name="T9" fmla="*/ 738 h 738"/>
                <a:gd name="T10" fmla="*/ 192 w 192"/>
                <a:gd name="T11" fmla="*/ 37 h 738"/>
                <a:gd name="T12" fmla="*/ 155 w 192"/>
                <a:gd name="T13" fmla="*/ 0 h 738"/>
                <a:gd name="T14" fmla="*/ 47 w 192"/>
                <a:gd name="T15" fmla="*/ 0 h 738"/>
                <a:gd name="T16" fmla="*/ 0 w 192"/>
                <a:gd name="T17" fmla="*/ 47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38">
                  <a:moveTo>
                    <a:pt x="0" y="47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0" y="97"/>
                    <a:pt x="0" y="98"/>
                  </a:cubicBezTo>
                  <a:cubicBezTo>
                    <a:pt x="61" y="738"/>
                    <a:pt x="61" y="738"/>
                    <a:pt x="61" y="738"/>
                  </a:cubicBezTo>
                  <a:cubicBezTo>
                    <a:pt x="192" y="738"/>
                    <a:pt x="192" y="738"/>
                    <a:pt x="192" y="738"/>
                  </a:cubicBezTo>
                  <a:cubicBezTo>
                    <a:pt x="192" y="37"/>
                    <a:pt x="192" y="37"/>
                    <a:pt x="192" y="37"/>
                  </a:cubicBezTo>
                  <a:cubicBezTo>
                    <a:pt x="177" y="23"/>
                    <a:pt x="169" y="14"/>
                    <a:pt x="155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8" y="18"/>
                    <a:pt x="18" y="28"/>
                    <a:pt x="0" y="47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2" name="Freeform 2015">
              <a:extLst>
                <a:ext uri="{FF2B5EF4-FFF2-40B4-BE49-F238E27FC236}">
                  <a16:creationId xmlns:a16="http://schemas.microsoft.com/office/drawing/2014/main" id="{1A3DF324-AA09-462D-8557-931EBEAE4417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6497" y="5609636"/>
              <a:ext cx="191806" cy="729860"/>
            </a:xfrm>
            <a:custGeom>
              <a:avLst/>
              <a:gdLst>
                <a:gd name="T0" fmla="*/ 0 w 194"/>
                <a:gd name="T1" fmla="*/ 35 h 738"/>
                <a:gd name="T2" fmla="*/ 0 w 194"/>
                <a:gd name="T3" fmla="*/ 738 h 738"/>
                <a:gd name="T4" fmla="*/ 131 w 194"/>
                <a:gd name="T5" fmla="*/ 738 h 738"/>
                <a:gd name="T6" fmla="*/ 194 w 194"/>
                <a:gd name="T7" fmla="*/ 98 h 738"/>
                <a:gd name="T8" fmla="*/ 194 w 194"/>
                <a:gd name="T9" fmla="*/ 95 h 738"/>
                <a:gd name="T10" fmla="*/ 194 w 194"/>
                <a:gd name="T11" fmla="*/ 45 h 738"/>
                <a:gd name="T12" fmla="*/ 149 w 194"/>
                <a:gd name="T13" fmla="*/ 0 h 738"/>
                <a:gd name="T14" fmla="*/ 35 w 194"/>
                <a:gd name="T15" fmla="*/ 0 h 738"/>
                <a:gd name="T16" fmla="*/ 0 w 194"/>
                <a:gd name="T17" fmla="*/ 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738">
                  <a:moveTo>
                    <a:pt x="0" y="35"/>
                  </a:moveTo>
                  <a:cubicBezTo>
                    <a:pt x="0" y="738"/>
                    <a:pt x="0" y="738"/>
                    <a:pt x="0" y="738"/>
                  </a:cubicBezTo>
                  <a:cubicBezTo>
                    <a:pt x="131" y="738"/>
                    <a:pt x="131" y="738"/>
                    <a:pt x="131" y="73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7"/>
                    <a:pt x="194" y="96"/>
                    <a:pt x="194" y="95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77" y="27"/>
                    <a:pt x="167" y="17"/>
                    <a:pt x="14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1" y="14"/>
                    <a:pt x="13" y="21"/>
                    <a:pt x="0" y="35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3" name="Freeform 2016">
              <a:extLst>
                <a:ext uri="{FF2B5EF4-FFF2-40B4-BE49-F238E27FC236}">
                  <a16:creationId xmlns:a16="http://schemas.microsoft.com/office/drawing/2014/main" id="{2041F163-2C26-4D20-B544-91961625ACFD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9446" y="6255436"/>
              <a:ext cx="174049" cy="84058"/>
            </a:xfrm>
            <a:custGeom>
              <a:avLst/>
              <a:gdLst>
                <a:gd name="T0" fmla="*/ 5077 w 5077"/>
                <a:gd name="T1" fmla="*/ 2452 h 2452"/>
                <a:gd name="T2" fmla="*/ 0 w 5077"/>
                <a:gd name="T3" fmla="*/ 2452 h 2452"/>
                <a:gd name="T4" fmla="*/ 0 w 5077"/>
                <a:gd name="T5" fmla="*/ 2336 h 2452"/>
                <a:gd name="T6" fmla="*/ 895 w 5077"/>
                <a:gd name="T7" fmla="*/ 0 h 2452"/>
                <a:gd name="T8" fmla="*/ 3952 w 5077"/>
                <a:gd name="T9" fmla="*/ 0 h 2452"/>
                <a:gd name="T10" fmla="*/ 5077 w 5077"/>
                <a:gd name="T11" fmla="*/ 2452 h 2452"/>
                <a:gd name="T12" fmla="*/ 5077 w 5077"/>
                <a:gd name="T13" fmla="*/ 2452 h 2452"/>
                <a:gd name="T14" fmla="*/ 5077 w 5077"/>
                <a:gd name="T15" fmla="*/ 2452 h 2452"/>
                <a:gd name="T16" fmla="*/ 5077 w 5077"/>
                <a:gd name="T17" fmla="*/ 2452 h 2452"/>
                <a:gd name="T18" fmla="*/ 5077 w 5077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77" h="2452">
                  <a:moveTo>
                    <a:pt x="5077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95" y="0"/>
                  </a:lnTo>
                  <a:lnTo>
                    <a:pt x="3952" y="0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4" name="Freeform 2017">
              <a:extLst>
                <a:ext uri="{FF2B5EF4-FFF2-40B4-BE49-F238E27FC236}">
                  <a16:creationId xmlns:a16="http://schemas.microsoft.com/office/drawing/2014/main" id="{D1B538EB-3853-41E3-8672-F456E0CE5E83}"/>
                </a:ext>
              </a:extLst>
            </p:cNvPr>
            <p:cNvSpPr>
              <a:spLocks/>
            </p:cNvSpPr>
            <p:nvPr/>
          </p:nvSpPr>
          <p:spPr bwMode="gray">
            <a:xfrm>
              <a:off x="5810934" y="6255436"/>
              <a:ext cx="173054" cy="84058"/>
            </a:xfrm>
            <a:custGeom>
              <a:avLst/>
              <a:gdLst>
                <a:gd name="T0" fmla="*/ 5048 w 5048"/>
                <a:gd name="T1" fmla="*/ 2336 h 2452"/>
                <a:gd name="T2" fmla="*/ 5048 w 5048"/>
                <a:gd name="T3" fmla="*/ 2452 h 2452"/>
                <a:gd name="T4" fmla="*/ 0 w 5048"/>
                <a:gd name="T5" fmla="*/ 2452 h 2452"/>
                <a:gd name="T6" fmla="*/ 1096 w 5048"/>
                <a:gd name="T7" fmla="*/ 0 h 2452"/>
                <a:gd name="T8" fmla="*/ 4182 w 5048"/>
                <a:gd name="T9" fmla="*/ 0 h 2452"/>
                <a:gd name="T10" fmla="*/ 5048 w 5048"/>
                <a:gd name="T11" fmla="*/ 2336 h 2452"/>
                <a:gd name="T12" fmla="*/ 5048 w 5048"/>
                <a:gd name="T13" fmla="*/ 2336 h 2452"/>
                <a:gd name="T14" fmla="*/ 5048 w 5048"/>
                <a:gd name="T15" fmla="*/ 2336 h 2452"/>
                <a:gd name="T16" fmla="*/ 5048 w 5048"/>
                <a:gd name="T17" fmla="*/ 2336 h 2452"/>
                <a:gd name="T18" fmla="*/ 5048 w 5048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336"/>
                  </a:moveTo>
                  <a:lnTo>
                    <a:pt x="5048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5" name="Freeform 2018">
              <a:extLst>
                <a:ext uri="{FF2B5EF4-FFF2-40B4-BE49-F238E27FC236}">
                  <a16:creationId xmlns:a16="http://schemas.microsoft.com/office/drawing/2014/main" id="{FFC6A90F-64EE-443F-948F-E2351524EC65}"/>
                </a:ext>
              </a:extLst>
            </p:cNvPr>
            <p:cNvSpPr>
              <a:spLocks/>
            </p:cNvSpPr>
            <p:nvPr/>
          </p:nvSpPr>
          <p:spPr bwMode="gray">
            <a:xfrm>
              <a:off x="6212375" y="5152762"/>
              <a:ext cx="29688" cy="368873"/>
            </a:xfrm>
            <a:custGeom>
              <a:avLst/>
              <a:gdLst>
                <a:gd name="T0" fmla="*/ 606 w 866"/>
                <a:gd name="T1" fmla="*/ 10760 h 10760"/>
                <a:gd name="T2" fmla="*/ 375 w 866"/>
                <a:gd name="T3" fmla="*/ 6779 h 10760"/>
                <a:gd name="T4" fmla="*/ 866 w 866"/>
                <a:gd name="T5" fmla="*/ 29 h 10760"/>
                <a:gd name="T6" fmla="*/ 491 w 866"/>
                <a:gd name="T7" fmla="*/ 0 h 10760"/>
                <a:gd name="T8" fmla="*/ 0 w 866"/>
                <a:gd name="T9" fmla="*/ 6779 h 10760"/>
                <a:gd name="T10" fmla="*/ 145 w 866"/>
                <a:gd name="T11" fmla="*/ 10760 h 10760"/>
                <a:gd name="T12" fmla="*/ 606 w 866"/>
                <a:gd name="T13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760">
                  <a:moveTo>
                    <a:pt x="606" y="10760"/>
                  </a:moveTo>
                  <a:lnTo>
                    <a:pt x="375" y="6779"/>
                  </a:lnTo>
                  <a:lnTo>
                    <a:pt x="866" y="29"/>
                  </a:lnTo>
                  <a:lnTo>
                    <a:pt x="491" y="0"/>
                  </a:lnTo>
                  <a:lnTo>
                    <a:pt x="0" y="6779"/>
                  </a:lnTo>
                  <a:lnTo>
                    <a:pt x="145" y="10760"/>
                  </a:lnTo>
                  <a:lnTo>
                    <a:pt x="606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6" name="Freeform 2019">
              <a:extLst>
                <a:ext uri="{FF2B5EF4-FFF2-40B4-BE49-F238E27FC236}">
                  <a16:creationId xmlns:a16="http://schemas.microsoft.com/office/drawing/2014/main" id="{BBB83026-9A9E-4DAA-9B3F-4A15255D785D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8633" y="4920366"/>
              <a:ext cx="339150" cy="601269"/>
            </a:xfrm>
            <a:custGeom>
              <a:avLst/>
              <a:gdLst>
                <a:gd name="T0" fmla="*/ 4759 w 9893"/>
                <a:gd name="T1" fmla="*/ 13154 h 17539"/>
                <a:gd name="T2" fmla="*/ 4759 w 9893"/>
                <a:gd name="T3" fmla="*/ 13154 h 17539"/>
                <a:gd name="T4" fmla="*/ 4759 w 9893"/>
                <a:gd name="T5" fmla="*/ 17539 h 17539"/>
                <a:gd name="T6" fmla="*/ 5163 w 9893"/>
                <a:gd name="T7" fmla="*/ 17539 h 17539"/>
                <a:gd name="T8" fmla="*/ 5163 w 9893"/>
                <a:gd name="T9" fmla="*/ 13125 h 17539"/>
                <a:gd name="T10" fmla="*/ 5134 w 9893"/>
                <a:gd name="T11" fmla="*/ 13125 h 17539"/>
                <a:gd name="T12" fmla="*/ 7874 w 9893"/>
                <a:gd name="T13" fmla="*/ 6548 h 17539"/>
                <a:gd name="T14" fmla="*/ 9893 w 9893"/>
                <a:gd name="T15" fmla="*/ 1154 h 17539"/>
                <a:gd name="T16" fmla="*/ 9431 w 9893"/>
                <a:gd name="T17" fmla="*/ 461 h 17539"/>
                <a:gd name="T18" fmla="*/ 9864 w 9893"/>
                <a:gd name="T19" fmla="*/ 375 h 17539"/>
                <a:gd name="T20" fmla="*/ 9806 w 9893"/>
                <a:gd name="T21" fmla="*/ 0 h 17539"/>
                <a:gd name="T22" fmla="*/ 8797 w 9893"/>
                <a:gd name="T23" fmla="*/ 144 h 17539"/>
                <a:gd name="T24" fmla="*/ 9460 w 9893"/>
                <a:gd name="T25" fmla="*/ 1182 h 17539"/>
                <a:gd name="T26" fmla="*/ 7528 w 9893"/>
                <a:gd name="T27" fmla="*/ 6433 h 17539"/>
                <a:gd name="T28" fmla="*/ 4961 w 9893"/>
                <a:gd name="T29" fmla="*/ 12606 h 17539"/>
                <a:gd name="T30" fmla="*/ 461 w 9893"/>
                <a:gd name="T31" fmla="*/ 1182 h 17539"/>
                <a:gd name="T32" fmla="*/ 1096 w 9893"/>
                <a:gd name="T33" fmla="*/ 144 h 17539"/>
                <a:gd name="T34" fmla="*/ 86 w 9893"/>
                <a:gd name="T35" fmla="*/ 0 h 17539"/>
                <a:gd name="T36" fmla="*/ 29 w 9893"/>
                <a:gd name="T37" fmla="*/ 375 h 17539"/>
                <a:gd name="T38" fmla="*/ 461 w 9893"/>
                <a:gd name="T39" fmla="*/ 461 h 17539"/>
                <a:gd name="T40" fmla="*/ 0 w 9893"/>
                <a:gd name="T41" fmla="*/ 1154 h 17539"/>
                <a:gd name="T42" fmla="*/ 4759 w 9893"/>
                <a:gd name="T43" fmla="*/ 13154 h 17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893" h="17539">
                  <a:moveTo>
                    <a:pt x="4759" y="13154"/>
                  </a:moveTo>
                  <a:lnTo>
                    <a:pt x="4759" y="13154"/>
                  </a:lnTo>
                  <a:lnTo>
                    <a:pt x="4759" y="17539"/>
                  </a:lnTo>
                  <a:lnTo>
                    <a:pt x="5163" y="17539"/>
                  </a:lnTo>
                  <a:lnTo>
                    <a:pt x="5163" y="13125"/>
                  </a:lnTo>
                  <a:lnTo>
                    <a:pt x="5134" y="13125"/>
                  </a:lnTo>
                  <a:lnTo>
                    <a:pt x="7874" y="6548"/>
                  </a:lnTo>
                  <a:lnTo>
                    <a:pt x="9893" y="1154"/>
                  </a:lnTo>
                  <a:lnTo>
                    <a:pt x="9431" y="461"/>
                  </a:lnTo>
                  <a:lnTo>
                    <a:pt x="9864" y="375"/>
                  </a:lnTo>
                  <a:lnTo>
                    <a:pt x="9806" y="0"/>
                  </a:lnTo>
                  <a:lnTo>
                    <a:pt x="8797" y="144"/>
                  </a:lnTo>
                  <a:lnTo>
                    <a:pt x="9460" y="1182"/>
                  </a:lnTo>
                  <a:lnTo>
                    <a:pt x="7528" y="6433"/>
                  </a:lnTo>
                  <a:lnTo>
                    <a:pt x="4961" y="12606"/>
                  </a:lnTo>
                  <a:lnTo>
                    <a:pt x="461" y="1182"/>
                  </a:lnTo>
                  <a:lnTo>
                    <a:pt x="1096" y="144"/>
                  </a:lnTo>
                  <a:lnTo>
                    <a:pt x="86" y="0"/>
                  </a:lnTo>
                  <a:lnTo>
                    <a:pt x="29" y="375"/>
                  </a:lnTo>
                  <a:lnTo>
                    <a:pt x="461" y="461"/>
                  </a:lnTo>
                  <a:lnTo>
                    <a:pt x="0" y="1154"/>
                  </a:lnTo>
                  <a:lnTo>
                    <a:pt x="4759" y="13154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7" name="Freeform 2020">
              <a:extLst>
                <a:ext uri="{FF2B5EF4-FFF2-40B4-BE49-F238E27FC236}">
                  <a16:creationId xmlns:a16="http://schemas.microsoft.com/office/drawing/2014/main" id="{081CE925-ABEE-472A-8B9F-4BA774149DE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5349" y="5152762"/>
              <a:ext cx="29654" cy="368873"/>
            </a:xfrm>
            <a:custGeom>
              <a:avLst/>
              <a:gdLst>
                <a:gd name="T0" fmla="*/ 231 w 865"/>
                <a:gd name="T1" fmla="*/ 10760 h 10760"/>
                <a:gd name="T2" fmla="*/ 634 w 865"/>
                <a:gd name="T3" fmla="*/ 10760 h 10760"/>
                <a:gd name="T4" fmla="*/ 865 w 865"/>
                <a:gd name="T5" fmla="*/ 6779 h 10760"/>
                <a:gd name="T6" fmla="*/ 865 w 865"/>
                <a:gd name="T7" fmla="*/ 6779 h 10760"/>
                <a:gd name="T8" fmla="*/ 375 w 865"/>
                <a:gd name="T9" fmla="*/ 0 h 10760"/>
                <a:gd name="T10" fmla="*/ 0 w 865"/>
                <a:gd name="T11" fmla="*/ 29 h 10760"/>
                <a:gd name="T12" fmla="*/ 461 w 865"/>
                <a:gd name="T13" fmla="*/ 6779 h 10760"/>
                <a:gd name="T14" fmla="*/ 231 w 865"/>
                <a:gd name="T15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5" h="10760">
                  <a:moveTo>
                    <a:pt x="231" y="10760"/>
                  </a:moveTo>
                  <a:lnTo>
                    <a:pt x="634" y="10760"/>
                  </a:lnTo>
                  <a:lnTo>
                    <a:pt x="865" y="6779"/>
                  </a:lnTo>
                  <a:lnTo>
                    <a:pt x="865" y="6779"/>
                  </a:lnTo>
                  <a:lnTo>
                    <a:pt x="375" y="0"/>
                  </a:lnTo>
                  <a:lnTo>
                    <a:pt x="0" y="29"/>
                  </a:lnTo>
                  <a:lnTo>
                    <a:pt x="461" y="6779"/>
                  </a:lnTo>
                  <a:lnTo>
                    <a:pt x="231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8" name="Freeform 2021">
              <a:extLst>
                <a:ext uri="{FF2B5EF4-FFF2-40B4-BE49-F238E27FC236}">
                  <a16:creationId xmlns:a16="http://schemas.microsoft.com/office/drawing/2014/main" id="{1F130027-1652-461D-BC07-76204DAEBB31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7338" y="5340661"/>
              <a:ext cx="464725" cy="140419"/>
            </a:xfrm>
            <a:custGeom>
              <a:avLst/>
              <a:gdLst>
                <a:gd name="T0" fmla="*/ 13354 w 13556"/>
                <a:gd name="T1" fmla="*/ 0 h 4096"/>
                <a:gd name="T2" fmla="*/ 9922 w 13556"/>
                <a:gd name="T3" fmla="*/ 2538 h 4096"/>
                <a:gd name="T4" fmla="*/ 3691 w 13556"/>
                <a:gd name="T5" fmla="*/ 2538 h 4096"/>
                <a:gd name="T6" fmla="*/ 173 w 13556"/>
                <a:gd name="T7" fmla="*/ 0 h 4096"/>
                <a:gd name="T8" fmla="*/ 144 w 13556"/>
                <a:gd name="T9" fmla="*/ 606 h 4096"/>
                <a:gd name="T10" fmla="*/ 86 w 13556"/>
                <a:gd name="T11" fmla="*/ 1356 h 4096"/>
                <a:gd name="T12" fmla="*/ 0 w 13556"/>
                <a:gd name="T13" fmla="*/ 4096 h 4096"/>
                <a:gd name="T14" fmla="*/ 13556 w 13556"/>
                <a:gd name="T15" fmla="*/ 4067 h 4096"/>
                <a:gd name="T16" fmla="*/ 13412 w 13556"/>
                <a:gd name="T17" fmla="*/ 1327 h 4096"/>
                <a:gd name="T18" fmla="*/ 13354 w 13556"/>
                <a:gd name="T19" fmla="*/ 0 h 4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56" h="4096">
                  <a:moveTo>
                    <a:pt x="13354" y="0"/>
                  </a:moveTo>
                  <a:lnTo>
                    <a:pt x="9922" y="2538"/>
                  </a:lnTo>
                  <a:lnTo>
                    <a:pt x="3691" y="2538"/>
                  </a:lnTo>
                  <a:lnTo>
                    <a:pt x="173" y="0"/>
                  </a:lnTo>
                  <a:lnTo>
                    <a:pt x="144" y="606"/>
                  </a:lnTo>
                  <a:lnTo>
                    <a:pt x="86" y="1356"/>
                  </a:lnTo>
                  <a:lnTo>
                    <a:pt x="0" y="4096"/>
                  </a:lnTo>
                  <a:lnTo>
                    <a:pt x="13556" y="4067"/>
                  </a:lnTo>
                  <a:lnTo>
                    <a:pt x="13412" y="1327"/>
                  </a:lnTo>
                  <a:lnTo>
                    <a:pt x="13354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9" name="Freeform 2022">
              <a:extLst>
                <a:ext uri="{FF2B5EF4-FFF2-40B4-BE49-F238E27FC236}">
                  <a16:creationId xmlns:a16="http://schemas.microsoft.com/office/drawing/2014/main" id="{4A2FCBEA-828A-4803-BBE8-7F0D6F3EE2BB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2428" y="5420743"/>
              <a:ext cx="138430" cy="60336"/>
            </a:xfrm>
            <a:custGeom>
              <a:avLst/>
              <a:gdLst>
                <a:gd name="T0" fmla="*/ 4038 w 4038"/>
                <a:gd name="T1" fmla="*/ 1760 h 1760"/>
                <a:gd name="T2" fmla="*/ 0 w 4038"/>
                <a:gd name="T3" fmla="*/ 1760 h 1760"/>
                <a:gd name="T4" fmla="*/ 0 w 4038"/>
                <a:gd name="T5" fmla="*/ 1674 h 1760"/>
                <a:gd name="T6" fmla="*/ 692 w 4038"/>
                <a:gd name="T7" fmla="*/ 0 h 1760"/>
                <a:gd name="T8" fmla="*/ 3144 w 4038"/>
                <a:gd name="T9" fmla="*/ 0 h 1760"/>
                <a:gd name="T10" fmla="*/ 4038 w 4038"/>
                <a:gd name="T11" fmla="*/ 1760 h 1760"/>
                <a:gd name="T12" fmla="*/ 4038 w 4038"/>
                <a:gd name="T13" fmla="*/ 1760 h 1760"/>
                <a:gd name="T14" fmla="*/ 4038 w 4038"/>
                <a:gd name="T15" fmla="*/ 1760 h 1760"/>
                <a:gd name="T16" fmla="*/ 4038 w 4038"/>
                <a:gd name="T17" fmla="*/ 1760 h 1760"/>
                <a:gd name="T18" fmla="*/ 4038 w 4038"/>
                <a:gd name="T1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8" h="1760">
                  <a:moveTo>
                    <a:pt x="4038" y="1760"/>
                  </a:moveTo>
                  <a:lnTo>
                    <a:pt x="0" y="1760"/>
                  </a:lnTo>
                  <a:lnTo>
                    <a:pt x="0" y="1674"/>
                  </a:lnTo>
                  <a:lnTo>
                    <a:pt x="692" y="0"/>
                  </a:lnTo>
                  <a:lnTo>
                    <a:pt x="3144" y="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0" name="Freeform 2024">
              <a:extLst>
                <a:ext uri="{FF2B5EF4-FFF2-40B4-BE49-F238E27FC236}">
                  <a16:creationId xmlns:a16="http://schemas.microsoft.com/office/drawing/2014/main" id="{53442A0A-BC6A-445B-B7D7-4B2B3EDB9314}"/>
                </a:ext>
              </a:extLst>
            </p:cNvPr>
            <p:cNvSpPr>
              <a:spLocks/>
            </p:cNvSpPr>
            <p:nvPr/>
          </p:nvSpPr>
          <p:spPr bwMode="gray">
            <a:xfrm>
              <a:off x="5844564" y="5420743"/>
              <a:ext cx="139425" cy="60336"/>
            </a:xfrm>
            <a:custGeom>
              <a:avLst/>
              <a:gdLst>
                <a:gd name="T0" fmla="*/ 4067 w 4067"/>
                <a:gd name="T1" fmla="*/ 1674 h 1760"/>
                <a:gd name="T2" fmla="*/ 4067 w 4067"/>
                <a:gd name="T3" fmla="*/ 1760 h 1760"/>
                <a:gd name="T4" fmla="*/ 0 w 4067"/>
                <a:gd name="T5" fmla="*/ 1760 h 1760"/>
                <a:gd name="T6" fmla="*/ 894 w 4067"/>
                <a:gd name="T7" fmla="*/ 0 h 1760"/>
                <a:gd name="T8" fmla="*/ 3346 w 4067"/>
                <a:gd name="T9" fmla="*/ 0 h 1760"/>
                <a:gd name="T10" fmla="*/ 4067 w 4067"/>
                <a:gd name="T11" fmla="*/ 1674 h 1760"/>
                <a:gd name="T12" fmla="*/ 4067 w 4067"/>
                <a:gd name="T13" fmla="*/ 1674 h 1760"/>
                <a:gd name="T14" fmla="*/ 4067 w 4067"/>
                <a:gd name="T15" fmla="*/ 1674 h 1760"/>
                <a:gd name="T16" fmla="*/ 4067 w 4067"/>
                <a:gd name="T17" fmla="*/ 1674 h 1760"/>
                <a:gd name="T18" fmla="*/ 4067 w 4067"/>
                <a:gd name="T19" fmla="*/ 1674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67" h="1760">
                  <a:moveTo>
                    <a:pt x="4067" y="1674"/>
                  </a:moveTo>
                  <a:lnTo>
                    <a:pt x="4067" y="1760"/>
                  </a:lnTo>
                  <a:lnTo>
                    <a:pt x="0" y="1760"/>
                  </a:lnTo>
                  <a:lnTo>
                    <a:pt x="894" y="0"/>
                  </a:lnTo>
                  <a:lnTo>
                    <a:pt x="3346" y="0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1" name="Rectangle 2025">
              <a:extLst>
                <a:ext uri="{FF2B5EF4-FFF2-40B4-BE49-F238E27FC236}">
                  <a16:creationId xmlns:a16="http://schemas.microsoft.com/office/drawing/2014/main" id="{2F5C423B-C4C6-4045-ACC0-80CF949D20A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02775" y="5427669"/>
              <a:ext cx="12856" cy="52417"/>
            </a:xfrm>
            <a:prstGeom prst="rect">
              <a:avLst/>
            </a:pr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2" name="Freeform 2026">
              <a:extLst>
                <a:ext uri="{FF2B5EF4-FFF2-40B4-BE49-F238E27FC236}">
                  <a16:creationId xmlns:a16="http://schemas.microsoft.com/office/drawing/2014/main" id="{896075A1-C2CE-4A09-BE72-119A086C735B}"/>
                </a:ext>
              </a:extLst>
            </p:cNvPr>
            <p:cNvSpPr>
              <a:spLocks/>
            </p:cNvSpPr>
            <p:nvPr/>
          </p:nvSpPr>
          <p:spPr bwMode="gray">
            <a:xfrm>
              <a:off x="5704145" y="5446488"/>
              <a:ext cx="607131" cy="48441"/>
            </a:xfrm>
            <a:custGeom>
              <a:avLst/>
              <a:gdLst>
                <a:gd name="T0" fmla="*/ 614 w 614"/>
                <a:gd name="T1" fmla="*/ 49 h 49"/>
                <a:gd name="T2" fmla="*/ 0 w 614"/>
                <a:gd name="T3" fmla="*/ 49 h 49"/>
                <a:gd name="T4" fmla="*/ 0 w 614"/>
                <a:gd name="T5" fmla="*/ 45 h 49"/>
                <a:gd name="T6" fmla="*/ 45 w 614"/>
                <a:gd name="T7" fmla="*/ 0 h 49"/>
                <a:gd name="T8" fmla="*/ 569 w 614"/>
                <a:gd name="T9" fmla="*/ 0 h 49"/>
                <a:gd name="T10" fmla="*/ 614 w 614"/>
                <a:gd name="T11" fmla="*/ 45 h 49"/>
                <a:gd name="T12" fmla="*/ 614 w 614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4" h="49">
                  <a:moveTo>
                    <a:pt x="614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7" y="27"/>
                    <a:pt x="27" y="17"/>
                    <a:pt x="45" y="0"/>
                  </a:cubicBezTo>
                  <a:cubicBezTo>
                    <a:pt x="569" y="0"/>
                    <a:pt x="569" y="0"/>
                    <a:pt x="569" y="0"/>
                  </a:cubicBezTo>
                  <a:cubicBezTo>
                    <a:pt x="587" y="17"/>
                    <a:pt x="596" y="27"/>
                    <a:pt x="614" y="45"/>
                  </a:cubicBezTo>
                  <a:lnTo>
                    <a:pt x="614" y="49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3" name="Freeform 2027">
              <a:extLst>
                <a:ext uri="{FF2B5EF4-FFF2-40B4-BE49-F238E27FC236}">
                  <a16:creationId xmlns:a16="http://schemas.microsoft.com/office/drawing/2014/main" id="{D711A0A4-6B81-4E28-87A1-E02F37AAF53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38771" y="5087490"/>
              <a:ext cx="537882" cy="382722"/>
            </a:xfrm>
            <a:custGeom>
              <a:avLst/>
              <a:gdLst>
                <a:gd name="T0" fmla="*/ 521 w 544"/>
                <a:gd name="T1" fmla="*/ 387 h 387"/>
                <a:gd name="T2" fmla="*/ 23 w 544"/>
                <a:gd name="T3" fmla="*/ 387 h 387"/>
                <a:gd name="T4" fmla="*/ 0 w 544"/>
                <a:gd name="T5" fmla="*/ 364 h 387"/>
                <a:gd name="T6" fmla="*/ 0 w 544"/>
                <a:gd name="T7" fmla="*/ 24 h 387"/>
                <a:gd name="T8" fmla="*/ 23 w 544"/>
                <a:gd name="T9" fmla="*/ 0 h 387"/>
                <a:gd name="T10" fmla="*/ 521 w 544"/>
                <a:gd name="T11" fmla="*/ 0 h 387"/>
                <a:gd name="T12" fmla="*/ 544 w 544"/>
                <a:gd name="T13" fmla="*/ 24 h 387"/>
                <a:gd name="T14" fmla="*/ 544 w 544"/>
                <a:gd name="T15" fmla="*/ 364 h 387"/>
                <a:gd name="T16" fmla="*/ 521 w 544"/>
                <a:gd name="T17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4" h="387">
                  <a:moveTo>
                    <a:pt x="521" y="387"/>
                  </a:moveTo>
                  <a:cubicBezTo>
                    <a:pt x="23" y="387"/>
                    <a:pt x="23" y="387"/>
                    <a:pt x="23" y="387"/>
                  </a:cubicBezTo>
                  <a:cubicBezTo>
                    <a:pt x="10" y="387"/>
                    <a:pt x="0" y="377"/>
                    <a:pt x="0" y="36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34" y="0"/>
                    <a:pt x="544" y="11"/>
                    <a:pt x="544" y="24"/>
                  </a:cubicBezTo>
                  <a:cubicBezTo>
                    <a:pt x="544" y="364"/>
                    <a:pt x="544" y="364"/>
                    <a:pt x="544" y="364"/>
                  </a:cubicBezTo>
                  <a:cubicBezTo>
                    <a:pt x="544" y="377"/>
                    <a:pt x="534" y="387"/>
                    <a:pt x="521" y="387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4" name="Oval 2028">
              <a:extLst>
                <a:ext uri="{FF2B5EF4-FFF2-40B4-BE49-F238E27FC236}">
                  <a16:creationId xmlns:a16="http://schemas.microsoft.com/office/drawing/2014/main" id="{CB88D317-E65A-49A3-BFAF-B07F8CBCD0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957283" y="5198255"/>
              <a:ext cx="104800" cy="104833"/>
            </a:xfrm>
            <a:prstGeom prst="ellipse">
              <a:avLst/>
            </a:prstGeom>
            <a:solidFill>
              <a:srgbClr val="879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5" name="Freeform 2029">
              <a:extLst>
                <a:ext uri="{FF2B5EF4-FFF2-40B4-BE49-F238E27FC236}">
                  <a16:creationId xmlns:a16="http://schemas.microsoft.com/office/drawing/2014/main" id="{B2BF1672-D015-43CC-A60F-D4DDDA5C5940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774807"/>
              <a:ext cx="534933" cy="55365"/>
            </a:xfrm>
            <a:custGeom>
              <a:avLst/>
              <a:gdLst>
                <a:gd name="T0" fmla="*/ 486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6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6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6" name="Freeform 2030">
              <a:extLst>
                <a:ext uri="{FF2B5EF4-FFF2-40B4-BE49-F238E27FC236}">
                  <a16:creationId xmlns:a16="http://schemas.microsoft.com/office/drawing/2014/main" id="{3624AF13-7A67-4CA4-BA08-0086A73A069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7" name="Freeform 2031">
              <a:extLst>
                <a:ext uri="{FF2B5EF4-FFF2-40B4-BE49-F238E27FC236}">
                  <a16:creationId xmlns:a16="http://schemas.microsoft.com/office/drawing/2014/main" id="{99F84051-9599-4828-BAB4-9AAD20F8803B}"/>
                </a:ext>
              </a:extLst>
            </p:cNvPr>
            <p:cNvSpPr>
              <a:spLocks/>
            </p:cNvSpPr>
            <p:nvPr/>
          </p:nvSpPr>
          <p:spPr bwMode="gray">
            <a:xfrm>
              <a:off x="6573292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8" name="Freeform 2032">
              <a:extLst>
                <a:ext uri="{FF2B5EF4-FFF2-40B4-BE49-F238E27FC236}">
                  <a16:creationId xmlns:a16="http://schemas.microsoft.com/office/drawing/2014/main" id="{70EF6605-EEB2-4079-9D86-5BABC786BE99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455367"/>
              <a:ext cx="32602" cy="884129"/>
            </a:xfrm>
            <a:custGeom>
              <a:avLst/>
              <a:gdLst>
                <a:gd name="T0" fmla="*/ 0 w 951"/>
                <a:gd name="T1" fmla="*/ 0 h 25790"/>
                <a:gd name="T2" fmla="*/ 951 w 951"/>
                <a:gd name="T3" fmla="*/ 0 h 25790"/>
                <a:gd name="T4" fmla="*/ 951 w 951"/>
                <a:gd name="T5" fmla="*/ 25790 h 25790"/>
                <a:gd name="T6" fmla="*/ 0 w 951"/>
                <a:gd name="T7" fmla="*/ 25790 h 25790"/>
                <a:gd name="T8" fmla="*/ 0 w 951"/>
                <a:gd name="T9" fmla="*/ 0 h 25790"/>
                <a:gd name="T10" fmla="*/ 0 w 951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1" h="25790">
                  <a:moveTo>
                    <a:pt x="0" y="0"/>
                  </a:moveTo>
                  <a:lnTo>
                    <a:pt x="951" y="0"/>
                  </a:lnTo>
                  <a:lnTo>
                    <a:pt x="951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9" name="Freeform 2033">
              <a:extLst>
                <a:ext uri="{FF2B5EF4-FFF2-40B4-BE49-F238E27FC236}">
                  <a16:creationId xmlns:a16="http://schemas.microsoft.com/office/drawing/2014/main" id="{96E81AB1-1E20-4E05-BB69-D000ABB3AEC9}"/>
                </a:ext>
              </a:extLst>
            </p:cNvPr>
            <p:cNvSpPr>
              <a:spLocks/>
            </p:cNvSpPr>
            <p:nvPr/>
          </p:nvSpPr>
          <p:spPr bwMode="gray">
            <a:xfrm>
              <a:off x="706078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0" name="Freeform 2034">
              <a:extLst>
                <a:ext uri="{FF2B5EF4-FFF2-40B4-BE49-F238E27FC236}">
                  <a16:creationId xmlns:a16="http://schemas.microsoft.com/office/drawing/2014/main" id="{C40FC22B-80C2-4E31-81A4-63EEB4660227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246696"/>
              <a:ext cx="534933" cy="208673"/>
            </a:xfrm>
            <a:custGeom>
              <a:avLst/>
              <a:gdLst>
                <a:gd name="T0" fmla="*/ 405 w 541"/>
                <a:gd name="T1" fmla="*/ 0 h 211"/>
                <a:gd name="T2" fmla="*/ 137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5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5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80" y="0"/>
                    <a:pt x="405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1" name="Freeform 2035">
              <a:extLst>
                <a:ext uri="{FF2B5EF4-FFF2-40B4-BE49-F238E27FC236}">
                  <a16:creationId xmlns:a16="http://schemas.microsoft.com/office/drawing/2014/main" id="{F016599F-C042-46D7-AF23-E03EBE45AC26}"/>
                </a:ext>
              </a:extLst>
            </p:cNvPr>
            <p:cNvSpPr>
              <a:spLocks/>
            </p:cNvSpPr>
            <p:nvPr/>
          </p:nvSpPr>
          <p:spPr bwMode="gray">
            <a:xfrm>
              <a:off x="6512992" y="5161641"/>
              <a:ext cx="124580" cy="330305"/>
            </a:xfrm>
            <a:custGeom>
              <a:avLst/>
              <a:gdLst>
                <a:gd name="T0" fmla="*/ 403 w 3634"/>
                <a:gd name="T1" fmla="*/ 6030 h 9635"/>
                <a:gd name="T2" fmla="*/ 0 w 3634"/>
                <a:gd name="T3" fmla="*/ 0 h 9635"/>
                <a:gd name="T4" fmla="*/ 3115 w 3634"/>
                <a:gd name="T5" fmla="*/ 0 h 9635"/>
                <a:gd name="T6" fmla="*/ 2971 w 3634"/>
                <a:gd name="T7" fmla="*/ 4818 h 9635"/>
                <a:gd name="T8" fmla="*/ 3634 w 3634"/>
                <a:gd name="T9" fmla="*/ 7212 h 9635"/>
                <a:gd name="T10" fmla="*/ 2884 w 3634"/>
                <a:gd name="T11" fmla="*/ 9635 h 9635"/>
                <a:gd name="T12" fmla="*/ 1673 w 3634"/>
                <a:gd name="T13" fmla="*/ 8453 h 9635"/>
                <a:gd name="T14" fmla="*/ 403 w 3634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34" h="9635">
                  <a:moveTo>
                    <a:pt x="403" y="6030"/>
                  </a:moveTo>
                  <a:lnTo>
                    <a:pt x="0" y="0"/>
                  </a:lnTo>
                  <a:lnTo>
                    <a:pt x="3115" y="0"/>
                  </a:lnTo>
                  <a:lnTo>
                    <a:pt x="2971" y="4818"/>
                  </a:lnTo>
                  <a:lnTo>
                    <a:pt x="3634" y="7212"/>
                  </a:lnTo>
                  <a:lnTo>
                    <a:pt x="2884" y="9635"/>
                  </a:lnTo>
                  <a:lnTo>
                    <a:pt x="1673" y="8453"/>
                  </a:lnTo>
                  <a:lnTo>
                    <a:pt x="403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2" name="Freeform 2036">
              <a:extLst>
                <a:ext uri="{FF2B5EF4-FFF2-40B4-BE49-F238E27FC236}">
                  <a16:creationId xmlns:a16="http://schemas.microsoft.com/office/drawing/2014/main" id="{AC695C71-21FC-45D4-910C-2C8B75E32653}"/>
                </a:ext>
              </a:extLst>
            </p:cNvPr>
            <p:cNvSpPr>
              <a:spLocks/>
            </p:cNvSpPr>
            <p:nvPr/>
          </p:nvSpPr>
          <p:spPr bwMode="gray">
            <a:xfrm>
              <a:off x="7024167" y="5161641"/>
              <a:ext cx="118684" cy="330305"/>
            </a:xfrm>
            <a:custGeom>
              <a:avLst/>
              <a:gdLst>
                <a:gd name="T0" fmla="*/ 3289 w 3462"/>
                <a:gd name="T1" fmla="*/ 6030 h 9635"/>
                <a:gd name="T2" fmla="*/ 3462 w 3462"/>
                <a:gd name="T3" fmla="*/ 0 h 9635"/>
                <a:gd name="T4" fmla="*/ 231 w 3462"/>
                <a:gd name="T5" fmla="*/ 0 h 9635"/>
                <a:gd name="T6" fmla="*/ 779 w 3462"/>
                <a:gd name="T7" fmla="*/ 4818 h 9635"/>
                <a:gd name="T8" fmla="*/ 0 w 3462"/>
                <a:gd name="T9" fmla="*/ 7385 h 9635"/>
                <a:gd name="T10" fmla="*/ 520 w 3462"/>
                <a:gd name="T11" fmla="*/ 9635 h 9635"/>
                <a:gd name="T12" fmla="*/ 2048 w 3462"/>
                <a:gd name="T13" fmla="*/ 8453 h 9635"/>
                <a:gd name="T14" fmla="*/ 3289 w 3462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2" h="9635">
                  <a:moveTo>
                    <a:pt x="3289" y="6030"/>
                  </a:moveTo>
                  <a:lnTo>
                    <a:pt x="3462" y="0"/>
                  </a:lnTo>
                  <a:lnTo>
                    <a:pt x="231" y="0"/>
                  </a:lnTo>
                  <a:lnTo>
                    <a:pt x="779" y="4818"/>
                  </a:lnTo>
                  <a:lnTo>
                    <a:pt x="0" y="7385"/>
                  </a:lnTo>
                  <a:lnTo>
                    <a:pt x="520" y="9635"/>
                  </a:lnTo>
                  <a:lnTo>
                    <a:pt x="2048" y="8453"/>
                  </a:lnTo>
                  <a:lnTo>
                    <a:pt x="3289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3" name="Freeform 2037">
              <a:extLst>
                <a:ext uri="{FF2B5EF4-FFF2-40B4-BE49-F238E27FC236}">
                  <a16:creationId xmlns:a16="http://schemas.microsoft.com/office/drawing/2014/main" id="{B6EC6AA8-1597-40FB-81CE-2B8336D0E3F3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5577994"/>
              <a:ext cx="438052" cy="196812"/>
            </a:xfrm>
            <a:custGeom>
              <a:avLst/>
              <a:gdLst>
                <a:gd name="T0" fmla="*/ 399 w 443"/>
                <a:gd name="T1" fmla="*/ 199 h 199"/>
                <a:gd name="T2" fmla="*/ 42 w 443"/>
                <a:gd name="T3" fmla="*/ 199 h 199"/>
                <a:gd name="T4" fmla="*/ 25 w 443"/>
                <a:gd name="T5" fmla="*/ 184 h 199"/>
                <a:gd name="T6" fmla="*/ 0 w 443"/>
                <a:gd name="T7" fmla="*/ 0 h 199"/>
                <a:gd name="T8" fmla="*/ 443 w 443"/>
                <a:gd name="T9" fmla="*/ 0 h 199"/>
                <a:gd name="T10" fmla="*/ 416 w 443"/>
                <a:gd name="T11" fmla="*/ 184 h 199"/>
                <a:gd name="T12" fmla="*/ 399 w 443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3" h="199">
                  <a:moveTo>
                    <a:pt x="399" y="199"/>
                  </a:moveTo>
                  <a:cubicBezTo>
                    <a:pt x="42" y="199"/>
                    <a:pt x="42" y="199"/>
                    <a:pt x="42" y="199"/>
                  </a:cubicBezTo>
                  <a:cubicBezTo>
                    <a:pt x="36" y="193"/>
                    <a:pt x="31" y="189"/>
                    <a:pt x="25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16" y="184"/>
                    <a:pt x="416" y="184"/>
                    <a:pt x="416" y="184"/>
                  </a:cubicBezTo>
                  <a:cubicBezTo>
                    <a:pt x="410" y="190"/>
                    <a:pt x="406" y="193"/>
                    <a:pt x="399" y="199"/>
                  </a:cubicBezTo>
                  <a:close/>
                </a:path>
              </a:pathLst>
            </a:custGeom>
            <a:solidFill>
              <a:srgbClr val="005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4" name="Freeform 2038">
              <a:extLst>
                <a:ext uri="{FF2B5EF4-FFF2-40B4-BE49-F238E27FC236}">
                  <a16:creationId xmlns:a16="http://schemas.microsoft.com/office/drawing/2014/main" id="{5F8490AA-ED76-4F45-B714-45C0B92F7115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4501030"/>
              <a:ext cx="434111" cy="392630"/>
            </a:xfrm>
            <a:custGeom>
              <a:avLst/>
              <a:gdLst>
                <a:gd name="T0" fmla="*/ 395 w 439"/>
                <a:gd name="T1" fmla="*/ 125 h 397"/>
                <a:gd name="T2" fmla="*/ 220 w 439"/>
                <a:gd name="T3" fmla="*/ 0 h 397"/>
                <a:gd name="T4" fmla="*/ 219 w 439"/>
                <a:gd name="T5" fmla="*/ 0 h 397"/>
                <a:gd name="T6" fmla="*/ 44 w 439"/>
                <a:gd name="T7" fmla="*/ 125 h 397"/>
                <a:gd name="T8" fmla="*/ 8 w 439"/>
                <a:gd name="T9" fmla="*/ 356 h 397"/>
                <a:gd name="T10" fmla="*/ 130 w 439"/>
                <a:gd name="T11" fmla="*/ 392 h 397"/>
                <a:gd name="T12" fmla="*/ 225 w 439"/>
                <a:gd name="T13" fmla="*/ 397 h 397"/>
                <a:gd name="T14" fmla="*/ 353 w 439"/>
                <a:gd name="T15" fmla="*/ 386 h 397"/>
                <a:gd name="T16" fmla="*/ 432 w 439"/>
                <a:gd name="T17" fmla="*/ 356 h 397"/>
                <a:gd name="T18" fmla="*/ 395 w 439"/>
                <a:gd name="T19" fmla="*/ 12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9" h="397">
                  <a:moveTo>
                    <a:pt x="395" y="125"/>
                  </a:moveTo>
                  <a:cubicBezTo>
                    <a:pt x="350" y="0"/>
                    <a:pt x="220" y="0"/>
                    <a:pt x="220" y="0"/>
                  </a:cubicBezTo>
                  <a:cubicBezTo>
                    <a:pt x="220" y="0"/>
                    <a:pt x="220" y="0"/>
                    <a:pt x="219" y="0"/>
                  </a:cubicBezTo>
                  <a:cubicBezTo>
                    <a:pt x="219" y="0"/>
                    <a:pt x="89" y="0"/>
                    <a:pt x="44" y="125"/>
                  </a:cubicBezTo>
                  <a:cubicBezTo>
                    <a:pt x="0" y="247"/>
                    <a:pt x="8" y="356"/>
                    <a:pt x="8" y="356"/>
                  </a:cubicBezTo>
                  <a:cubicBezTo>
                    <a:pt x="44" y="384"/>
                    <a:pt x="111" y="390"/>
                    <a:pt x="130" y="392"/>
                  </a:cubicBezTo>
                  <a:cubicBezTo>
                    <a:pt x="158" y="395"/>
                    <a:pt x="190" y="397"/>
                    <a:pt x="225" y="397"/>
                  </a:cubicBezTo>
                  <a:cubicBezTo>
                    <a:pt x="276" y="397"/>
                    <a:pt x="322" y="393"/>
                    <a:pt x="353" y="386"/>
                  </a:cubicBezTo>
                  <a:cubicBezTo>
                    <a:pt x="379" y="381"/>
                    <a:pt x="410" y="372"/>
                    <a:pt x="432" y="356"/>
                  </a:cubicBezTo>
                  <a:cubicBezTo>
                    <a:pt x="432" y="356"/>
                    <a:pt x="439" y="247"/>
                    <a:pt x="395" y="125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5" name="Freeform 2039">
              <a:extLst>
                <a:ext uri="{FF2B5EF4-FFF2-40B4-BE49-F238E27FC236}">
                  <a16:creationId xmlns:a16="http://schemas.microsoft.com/office/drawing/2014/main" id="{4B92A58F-81D7-49BC-A7FC-823A3AC5FBD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48438" y="4606859"/>
              <a:ext cx="355983" cy="382722"/>
            </a:xfrm>
            <a:custGeom>
              <a:avLst/>
              <a:gdLst>
                <a:gd name="T0" fmla="*/ 347 w 360"/>
                <a:gd name="T1" fmla="*/ 73 h 387"/>
                <a:gd name="T2" fmla="*/ 327 w 360"/>
                <a:gd name="T3" fmla="*/ 84 h 387"/>
                <a:gd name="T4" fmla="*/ 316 w 360"/>
                <a:gd name="T5" fmla="*/ 125 h 387"/>
                <a:gd name="T6" fmla="*/ 303 w 360"/>
                <a:gd name="T7" fmla="*/ 120 h 387"/>
                <a:gd name="T8" fmla="*/ 307 w 360"/>
                <a:gd name="T9" fmla="*/ 89 h 387"/>
                <a:gd name="T10" fmla="*/ 291 w 360"/>
                <a:gd name="T11" fmla="*/ 0 h 387"/>
                <a:gd name="T12" fmla="*/ 188 w 360"/>
                <a:gd name="T13" fmla="*/ 53 h 387"/>
                <a:gd name="T14" fmla="*/ 179 w 360"/>
                <a:gd name="T15" fmla="*/ 2 h 387"/>
                <a:gd name="T16" fmla="*/ 177 w 360"/>
                <a:gd name="T17" fmla="*/ 6 h 387"/>
                <a:gd name="T18" fmla="*/ 54 w 360"/>
                <a:gd name="T19" fmla="*/ 79 h 387"/>
                <a:gd name="T20" fmla="*/ 51 w 360"/>
                <a:gd name="T21" fmla="*/ 80 h 387"/>
                <a:gd name="T22" fmla="*/ 55 w 360"/>
                <a:gd name="T23" fmla="*/ 120 h 387"/>
                <a:gd name="T24" fmla="*/ 43 w 360"/>
                <a:gd name="T25" fmla="*/ 124 h 387"/>
                <a:gd name="T26" fmla="*/ 33 w 360"/>
                <a:gd name="T27" fmla="*/ 84 h 387"/>
                <a:gd name="T28" fmla="*/ 14 w 360"/>
                <a:gd name="T29" fmla="*/ 73 h 387"/>
                <a:gd name="T30" fmla="*/ 8 w 360"/>
                <a:gd name="T31" fmla="*/ 99 h 387"/>
                <a:gd name="T32" fmla="*/ 32 w 360"/>
                <a:gd name="T33" fmla="*/ 158 h 387"/>
                <a:gd name="T34" fmla="*/ 46 w 360"/>
                <a:gd name="T35" fmla="*/ 168 h 387"/>
                <a:gd name="T36" fmla="*/ 51 w 360"/>
                <a:gd name="T37" fmla="*/ 168 h 387"/>
                <a:gd name="T38" fmla="*/ 51 w 360"/>
                <a:gd name="T39" fmla="*/ 168 h 387"/>
                <a:gd name="T40" fmla="*/ 51 w 360"/>
                <a:gd name="T41" fmla="*/ 168 h 387"/>
                <a:gd name="T42" fmla="*/ 51 w 360"/>
                <a:gd name="T43" fmla="*/ 168 h 387"/>
                <a:gd name="T44" fmla="*/ 85 w 360"/>
                <a:gd name="T45" fmla="*/ 243 h 387"/>
                <a:gd name="T46" fmla="*/ 100 w 360"/>
                <a:gd name="T47" fmla="*/ 259 h 387"/>
                <a:gd name="T48" fmla="*/ 100 w 360"/>
                <a:gd name="T49" fmla="*/ 260 h 387"/>
                <a:gd name="T50" fmla="*/ 100 w 360"/>
                <a:gd name="T51" fmla="*/ 260 h 387"/>
                <a:gd name="T52" fmla="*/ 101 w 360"/>
                <a:gd name="T53" fmla="*/ 325 h 387"/>
                <a:gd name="T54" fmla="*/ 168 w 360"/>
                <a:gd name="T55" fmla="*/ 387 h 387"/>
                <a:gd name="T56" fmla="*/ 190 w 360"/>
                <a:gd name="T57" fmla="*/ 387 h 387"/>
                <a:gd name="T58" fmla="*/ 258 w 360"/>
                <a:gd name="T59" fmla="*/ 323 h 387"/>
                <a:gd name="T60" fmla="*/ 259 w 360"/>
                <a:gd name="T61" fmla="*/ 277 h 387"/>
                <a:gd name="T62" fmla="*/ 259 w 360"/>
                <a:gd name="T63" fmla="*/ 259 h 387"/>
                <a:gd name="T64" fmla="*/ 308 w 360"/>
                <a:gd name="T65" fmla="*/ 168 h 387"/>
                <a:gd name="T66" fmla="*/ 308 w 360"/>
                <a:gd name="T67" fmla="*/ 168 h 387"/>
                <a:gd name="T68" fmla="*/ 315 w 360"/>
                <a:gd name="T69" fmla="*/ 168 h 387"/>
                <a:gd name="T70" fmla="*/ 328 w 360"/>
                <a:gd name="T71" fmla="*/ 158 h 387"/>
                <a:gd name="T72" fmla="*/ 352 w 360"/>
                <a:gd name="T73" fmla="*/ 99 h 387"/>
                <a:gd name="T74" fmla="*/ 347 w 360"/>
                <a:gd name="T75" fmla="*/ 73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387">
                  <a:moveTo>
                    <a:pt x="347" y="73"/>
                  </a:moveTo>
                  <a:cubicBezTo>
                    <a:pt x="338" y="70"/>
                    <a:pt x="329" y="74"/>
                    <a:pt x="327" y="84"/>
                  </a:cubicBezTo>
                  <a:cubicBezTo>
                    <a:pt x="327" y="84"/>
                    <a:pt x="327" y="84"/>
                    <a:pt x="316" y="125"/>
                  </a:cubicBezTo>
                  <a:cubicBezTo>
                    <a:pt x="303" y="120"/>
                    <a:pt x="303" y="120"/>
                    <a:pt x="303" y="120"/>
                  </a:cubicBezTo>
                  <a:cubicBezTo>
                    <a:pt x="307" y="89"/>
                    <a:pt x="307" y="89"/>
                    <a:pt x="307" y="89"/>
                  </a:cubicBezTo>
                  <a:cubicBezTo>
                    <a:pt x="308" y="40"/>
                    <a:pt x="291" y="0"/>
                    <a:pt x="291" y="0"/>
                  </a:cubicBezTo>
                  <a:cubicBezTo>
                    <a:pt x="260" y="46"/>
                    <a:pt x="188" y="53"/>
                    <a:pt x="188" y="53"/>
                  </a:cubicBezTo>
                  <a:cubicBezTo>
                    <a:pt x="179" y="2"/>
                    <a:pt x="179" y="2"/>
                    <a:pt x="179" y="2"/>
                  </a:cubicBezTo>
                  <a:cubicBezTo>
                    <a:pt x="179" y="2"/>
                    <a:pt x="178" y="4"/>
                    <a:pt x="177" y="6"/>
                  </a:cubicBezTo>
                  <a:cubicBezTo>
                    <a:pt x="148" y="47"/>
                    <a:pt x="103" y="73"/>
                    <a:pt x="54" y="79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5" y="120"/>
                    <a:pt x="55" y="120"/>
                    <a:pt x="55" y="120"/>
                  </a:cubicBezTo>
                  <a:cubicBezTo>
                    <a:pt x="49" y="122"/>
                    <a:pt x="45" y="124"/>
                    <a:pt x="43" y="124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1" y="74"/>
                    <a:pt x="22" y="70"/>
                    <a:pt x="14" y="73"/>
                  </a:cubicBezTo>
                  <a:cubicBezTo>
                    <a:pt x="14" y="73"/>
                    <a:pt x="0" y="78"/>
                    <a:pt x="8" y="99"/>
                  </a:cubicBezTo>
                  <a:cubicBezTo>
                    <a:pt x="8" y="99"/>
                    <a:pt x="8" y="99"/>
                    <a:pt x="32" y="158"/>
                  </a:cubicBezTo>
                  <a:cubicBezTo>
                    <a:pt x="34" y="164"/>
                    <a:pt x="40" y="168"/>
                    <a:pt x="46" y="168"/>
                  </a:cubicBezTo>
                  <a:cubicBezTo>
                    <a:pt x="46" y="168"/>
                    <a:pt x="46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61" y="201"/>
                    <a:pt x="73" y="225"/>
                    <a:pt x="85" y="243"/>
                  </a:cubicBezTo>
                  <a:cubicBezTo>
                    <a:pt x="90" y="249"/>
                    <a:pt x="95" y="255"/>
                    <a:pt x="100" y="259"/>
                  </a:cubicBezTo>
                  <a:cubicBezTo>
                    <a:pt x="100" y="259"/>
                    <a:pt x="100" y="259"/>
                    <a:pt x="100" y="260"/>
                  </a:cubicBezTo>
                  <a:cubicBezTo>
                    <a:pt x="100" y="260"/>
                    <a:pt x="100" y="260"/>
                    <a:pt x="100" y="260"/>
                  </a:cubicBezTo>
                  <a:cubicBezTo>
                    <a:pt x="101" y="277"/>
                    <a:pt x="101" y="303"/>
                    <a:pt x="101" y="325"/>
                  </a:cubicBezTo>
                  <a:cubicBezTo>
                    <a:pt x="168" y="387"/>
                    <a:pt x="168" y="387"/>
                    <a:pt x="168" y="387"/>
                  </a:cubicBezTo>
                  <a:cubicBezTo>
                    <a:pt x="190" y="387"/>
                    <a:pt x="190" y="387"/>
                    <a:pt x="190" y="387"/>
                  </a:cubicBezTo>
                  <a:cubicBezTo>
                    <a:pt x="258" y="323"/>
                    <a:pt x="258" y="323"/>
                    <a:pt x="258" y="323"/>
                  </a:cubicBezTo>
                  <a:cubicBezTo>
                    <a:pt x="259" y="277"/>
                    <a:pt x="259" y="277"/>
                    <a:pt x="259" y="277"/>
                  </a:cubicBezTo>
                  <a:cubicBezTo>
                    <a:pt x="259" y="272"/>
                    <a:pt x="259" y="261"/>
                    <a:pt x="259" y="259"/>
                  </a:cubicBezTo>
                  <a:cubicBezTo>
                    <a:pt x="278" y="241"/>
                    <a:pt x="295" y="213"/>
                    <a:pt x="308" y="168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9" y="168"/>
                    <a:pt x="311" y="168"/>
                    <a:pt x="315" y="168"/>
                  </a:cubicBezTo>
                  <a:cubicBezTo>
                    <a:pt x="321" y="168"/>
                    <a:pt x="326" y="164"/>
                    <a:pt x="328" y="158"/>
                  </a:cubicBezTo>
                  <a:cubicBezTo>
                    <a:pt x="328" y="158"/>
                    <a:pt x="328" y="158"/>
                    <a:pt x="352" y="99"/>
                  </a:cubicBezTo>
                  <a:cubicBezTo>
                    <a:pt x="360" y="78"/>
                    <a:pt x="347" y="73"/>
                    <a:pt x="347" y="73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6" name="Freeform 2040">
              <a:extLst>
                <a:ext uri="{FF2B5EF4-FFF2-40B4-BE49-F238E27FC236}">
                  <a16:creationId xmlns:a16="http://schemas.microsoft.com/office/drawing/2014/main" id="{87F3A97F-E40C-4575-9823-3BA3ED1D4AFF}"/>
                </a:ext>
              </a:extLst>
            </p:cNvPr>
            <p:cNvSpPr>
              <a:spLocks/>
            </p:cNvSpPr>
            <p:nvPr/>
          </p:nvSpPr>
          <p:spPr bwMode="gray">
            <a:xfrm>
              <a:off x="6491222" y="4896608"/>
              <a:ext cx="659514" cy="656668"/>
            </a:xfrm>
            <a:custGeom>
              <a:avLst/>
              <a:gdLst>
                <a:gd name="T0" fmla="*/ 520 w 667"/>
                <a:gd name="T1" fmla="*/ 422 h 664"/>
                <a:gd name="T2" fmla="*/ 564 w 667"/>
                <a:gd name="T3" fmla="*/ 663 h 664"/>
                <a:gd name="T4" fmla="*/ 109 w 667"/>
                <a:gd name="T5" fmla="*/ 664 h 664"/>
                <a:gd name="T6" fmla="*/ 159 w 667"/>
                <a:gd name="T7" fmla="*/ 422 h 664"/>
                <a:gd name="T8" fmla="*/ 118 w 667"/>
                <a:gd name="T9" fmla="*/ 291 h 664"/>
                <a:gd name="T10" fmla="*/ 11 w 667"/>
                <a:gd name="T11" fmla="*/ 277 h 664"/>
                <a:gd name="T12" fmla="*/ 103 w 667"/>
                <a:gd name="T13" fmla="*/ 63 h 664"/>
                <a:gd name="T14" fmla="*/ 260 w 667"/>
                <a:gd name="T15" fmla="*/ 0 h 664"/>
                <a:gd name="T16" fmla="*/ 326 w 667"/>
                <a:gd name="T17" fmla="*/ 67 h 664"/>
                <a:gd name="T18" fmla="*/ 351 w 667"/>
                <a:gd name="T19" fmla="*/ 67 h 664"/>
                <a:gd name="T20" fmla="*/ 417 w 667"/>
                <a:gd name="T21" fmla="*/ 0 h 664"/>
                <a:gd name="T22" fmla="*/ 575 w 667"/>
                <a:gd name="T23" fmla="*/ 63 h 664"/>
                <a:gd name="T24" fmla="*/ 667 w 667"/>
                <a:gd name="T25" fmla="*/ 277 h 664"/>
                <a:gd name="T26" fmla="*/ 560 w 667"/>
                <a:gd name="T27" fmla="*/ 291 h 664"/>
                <a:gd name="T28" fmla="*/ 560 w 667"/>
                <a:gd name="T29" fmla="*/ 291 h 664"/>
                <a:gd name="T30" fmla="*/ 520 w 667"/>
                <a:gd name="T31" fmla="*/ 422 h 664"/>
                <a:gd name="T32" fmla="*/ 520 w 667"/>
                <a:gd name="T33" fmla="*/ 422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7" h="664">
                  <a:moveTo>
                    <a:pt x="520" y="422"/>
                  </a:moveTo>
                  <a:cubicBezTo>
                    <a:pt x="564" y="663"/>
                    <a:pt x="564" y="663"/>
                    <a:pt x="564" y="663"/>
                  </a:cubicBezTo>
                  <a:cubicBezTo>
                    <a:pt x="109" y="664"/>
                    <a:pt x="109" y="664"/>
                    <a:pt x="109" y="664"/>
                  </a:cubicBezTo>
                  <a:cubicBezTo>
                    <a:pt x="159" y="422"/>
                    <a:pt x="159" y="422"/>
                    <a:pt x="159" y="422"/>
                  </a:cubicBezTo>
                  <a:cubicBezTo>
                    <a:pt x="118" y="291"/>
                    <a:pt x="118" y="291"/>
                    <a:pt x="118" y="291"/>
                  </a:cubicBezTo>
                  <a:cubicBezTo>
                    <a:pt x="11" y="277"/>
                    <a:pt x="11" y="277"/>
                    <a:pt x="11" y="277"/>
                  </a:cubicBezTo>
                  <a:cubicBezTo>
                    <a:pt x="11" y="277"/>
                    <a:pt x="0" y="105"/>
                    <a:pt x="103" y="63"/>
                  </a:cubicBezTo>
                  <a:cubicBezTo>
                    <a:pt x="241" y="5"/>
                    <a:pt x="260" y="0"/>
                    <a:pt x="260" y="0"/>
                  </a:cubicBezTo>
                  <a:cubicBezTo>
                    <a:pt x="326" y="67"/>
                    <a:pt x="326" y="67"/>
                    <a:pt x="326" y="67"/>
                  </a:cubicBezTo>
                  <a:cubicBezTo>
                    <a:pt x="351" y="67"/>
                    <a:pt x="351" y="67"/>
                    <a:pt x="351" y="67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575" y="63"/>
                    <a:pt x="575" y="63"/>
                    <a:pt x="575" y="63"/>
                  </a:cubicBezTo>
                  <a:cubicBezTo>
                    <a:pt x="654" y="138"/>
                    <a:pt x="667" y="277"/>
                    <a:pt x="667" y="277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20" y="422"/>
                    <a:pt x="520" y="422"/>
                    <a:pt x="520" y="422"/>
                  </a:cubicBezTo>
                  <a:cubicBezTo>
                    <a:pt x="520" y="422"/>
                    <a:pt x="520" y="422"/>
                    <a:pt x="520" y="422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7" name="Freeform 2041">
              <a:extLst>
                <a:ext uri="{FF2B5EF4-FFF2-40B4-BE49-F238E27FC236}">
                  <a16:creationId xmlns:a16="http://schemas.microsoft.com/office/drawing/2014/main" id="{C54CA694-EAE4-4243-B6FF-63948155860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8565" y="5625475"/>
              <a:ext cx="170073" cy="714022"/>
            </a:xfrm>
            <a:custGeom>
              <a:avLst/>
              <a:gdLst>
                <a:gd name="T0" fmla="*/ 0 w 172"/>
                <a:gd name="T1" fmla="*/ 46 h 722"/>
                <a:gd name="T2" fmla="*/ 0 w 172"/>
                <a:gd name="T3" fmla="*/ 94 h 722"/>
                <a:gd name="T4" fmla="*/ 0 w 172"/>
                <a:gd name="T5" fmla="*/ 96 h 722"/>
                <a:gd name="T6" fmla="*/ 55 w 172"/>
                <a:gd name="T7" fmla="*/ 722 h 722"/>
                <a:gd name="T8" fmla="*/ 172 w 172"/>
                <a:gd name="T9" fmla="*/ 722 h 722"/>
                <a:gd name="T10" fmla="*/ 172 w 172"/>
                <a:gd name="T11" fmla="*/ 37 h 722"/>
                <a:gd name="T12" fmla="*/ 138 w 172"/>
                <a:gd name="T13" fmla="*/ 0 h 722"/>
                <a:gd name="T14" fmla="*/ 42 w 172"/>
                <a:gd name="T15" fmla="*/ 0 h 722"/>
                <a:gd name="T16" fmla="*/ 0 w 172"/>
                <a:gd name="T17" fmla="*/ 4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722">
                  <a:moveTo>
                    <a:pt x="0" y="46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5"/>
                    <a:pt x="0" y="95"/>
                    <a:pt x="0" y="96"/>
                  </a:cubicBezTo>
                  <a:cubicBezTo>
                    <a:pt x="55" y="722"/>
                    <a:pt x="55" y="722"/>
                    <a:pt x="55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59" y="23"/>
                    <a:pt x="151" y="15"/>
                    <a:pt x="138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6" y="18"/>
                    <a:pt x="17" y="28"/>
                    <a:pt x="0" y="46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8" name="Freeform 2042">
              <a:extLst>
                <a:ext uri="{FF2B5EF4-FFF2-40B4-BE49-F238E27FC236}">
                  <a16:creationId xmlns:a16="http://schemas.microsoft.com/office/drawing/2014/main" id="{F42FEC69-9337-4B7D-9EC4-CC42670FA59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45216" y="5625475"/>
              <a:ext cx="168084" cy="714022"/>
            </a:xfrm>
            <a:custGeom>
              <a:avLst/>
              <a:gdLst>
                <a:gd name="T0" fmla="*/ 0 w 170"/>
                <a:gd name="T1" fmla="*/ 35 h 722"/>
                <a:gd name="T2" fmla="*/ 0 w 170"/>
                <a:gd name="T3" fmla="*/ 722 h 722"/>
                <a:gd name="T4" fmla="*/ 115 w 170"/>
                <a:gd name="T5" fmla="*/ 722 h 722"/>
                <a:gd name="T6" fmla="*/ 170 w 170"/>
                <a:gd name="T7" fmla="*/ 96 h 722"/>
                <a:gd name="T8" fmla="*/ 170 w 170"/>
                <a:gd name="T9" fmla="*/ 94 h 722"/>
                <a:gd name="T10" fmla="*/ 170 w 170"/>
                <a:gd name="T11" fmla="*/ 44 h 722"/>
                <a:gd name="T12" fmla="*/ 131 w 170"/>
                <a:gd name="T13" fmla="*/ 0 h 722"/>
                <a:gd name="T14" fmla="*/ 31 w 170"/>
                <a:gd name="T15" fmla="*/ 0 h 722"/>
                <a:gd name="T16" fmla="*/ 0 w 170"/>
                <a:gd name="T17" fmla="*/ 3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722">
                  <a:moveTo>
                    <a:pt x="0" y="35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115" y="722"/>
                    <a:pt x="115" y="722"/>
                    <a:pt x="115" y="722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5"/>
                    <a:pt x="170" y="95"/>
                    <a:pt x="170" y="94"/>
                  </a:cubicBezTo>
                  <a:cubicBezTo>
                    <a:pt x="170" y="44"/>
                    <a:pt x="170" y="44"/>
                    <a:pt x="170" y="44"/>
                  </a:cubicBezTo>
                  <a:cubicBezTo>
                    <a:pt x="155" y="27"/>
                    <a:pt x="146" y="17"/>
                    <a:pt x="1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9" y="14"/>
                    <a:pt x="12" y="21"/>
                    <a:pt x="0" y="35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9" name="Freeform 2043">
              <a:extLst>
                <a:ext uri="{FF2B5EF4-FFF2-40B4-BE49-F238E27FC236}">
                  <a16:creationId xmlns:a16="http://schemas.microsoft.com/office/drawing/2014/main" id="{BB50AF77-DEAE-4DCF-9830-5D9B0BDC384E}"/>
                </a:ext>
              </a:extLst>
            </p:cNvPr>
            <p:cNvSpPr>
              <a:spLocks/>
            </p:cNvSpPr>
            <p:nvPr/>
          </p:nvSpPr>
          <p:spPr bwMode="gray">
            <a:xfrm>
              <a:off x="6825437" y="6255436"/>
              <a:ext cx="173054" cy="84058"/>
            </a:xfrm>
            <a:custGeom>
              <a:avLst/>
              <a:gdLst>
                <a:gd name="T0" fmla="*/ 5048 w 5048"/>
                <a:gd name="T1" fmla="*/ 2452 h 2452"/>
                <a:gd name="T2" fmla="*/ 0 w 5048"/>
                <a:gd name="T3" fmla="*/ 2452 h 2452"/>
                <a:gd name="T4" fmla="*/ 0 w 5048"/>
                <a:gd name="T5" fmla="*/ 2336 h 2452"/>
                <a:gd name="T6" fmla="*/ 865 w 5048"/>
                <a:gd name="T7" fmla="*/ 0 h 2452"/>
                <a:gd name="T8" fmla="*/ 3923 w 5048"/>
                <a:gd name="T9" fmla="*/ 0 h 2452"/>
                <a:gd name="T10" fmla="*/ 5048 w 5048"/>
                <a:gd name="T11" fmla="*/ 2452 h 2452"/>
                <a:gd name="T12" fmla="*/ 5048 w 5048"/>
                <a:gd name="T13" fmla="*/ 2452 h 2452"/>
                <a:gd name="T14" fmla="*/ 5048 w 5048"/>
                <a:gd name="T15" fmla="*/ 2452 h 2452"/>
                <a:gd name="T16" fmla="*/ 5048 w 5048"/>
                <a:gd name="T17" fmla="*/ 2452 h 2452"/>
                <a:gd name="T18" fmla="*/ 5048 w 5048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65" y="0"/>
                  </a:lnTo>
                  <a:lnTo>
                    <a:pt x="3923" y="0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0" name="Freeform 2044">
              <a:extLst>
                <a:ext uri="{FF2B5EF4-FFF2-40B4-BE49-F238E27FC236}">
                  <a16:creationId xmlns:a16="http://schemas.microsoft.com/office/drawing/2014/main" id="{C0D535A2-E1A5-4EBC-87F3-E00FDABA4B6A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6255436"/>
              <a:ext cx="172060" cy="84058"/>
            </a:xfrm>
            <a:custGeom>
              <a:avLst/>
              <a:gdLst>
                <a:gd name="T0" fmla="*/ 5019 w 5019"/>
                <a:gd name="T1" fmla="*/ 2336 h 2452"/>
                <a:gd name="T2" fmla="*/ 5019 w 5019"/>
                <a:gd name="T3" fmla="*/ 2452 h 2452"/>
                <a:gd name="T4" fmla="*/ 0 w 5019"/>
                <a:gd name="T5" fmla="*/ 2452 h 2452"/>
                <a:gd name="T6" fmla="*/ 1096 w 5019"/>
                <a:gd name="T7" fmla="*/ 0 h 2452"/>
                <a:gd name="T8" fmla="*/ 4154 w 5019"/>
                <a:gd name="T9" fmla="*/ 0 h 2452"/>
                <a:gd name="T10" fmla="*/ 5019 w 5019"/>
                <a:gd name="T11" fmla="*/ 2336 h 2452"/>
                <a:gd name="T12" fmla="*/ 5019 w 5019"/>
                <a:gd name="T13" fmla="*/ 2336 h 2452"/>
                <a:gd name="T14" fmla="*/ 5019 w 5019"/>
                <a:gd name="T15" fmla="*/ 2336 h 2452"/>
                <a:gd name="T16" fmla="*/ 5019 w 5019"/>
                <a:gd name="T17" fmla="*/ 2336 h 2452"/>
                <a:gd name="T18" fmla="*/ 5019 w 5019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19" h="2452">
                  <a:moveTo>
                    <a:pt x="5019" y="2336"/>
                  </a:moveTo>
                  <a:lnTo>
                    <a:pt x="5019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54" y="0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1" name="Rectangle 2045">
              <a:extLst>
                <a:ext uri="{FF2B5EF4-FFF2-40B4-BE49-F238E27FC236}">
                  <a16:creationId xmlns:a16="http://schemas.microsoft.com/office/drawing/2014/main" id="{79BAF718-AE6C-4B19-B445-640E7912264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601987" y="5565138"/>
              <a:ext cx="448886" cy="34625"/>
            </a:xfrm>
            <a:prstGeom prst="rect">
              <a:avLst/>
            </a:pr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2" name="Freeform 2046">
              <a:extLst>
                <a:ext uri="{FF2B5EF4-FFF2-40B4-BE49-F238E27FC236}">
                  <a16:creationId xmlns:a16="http://schemas.microsoft.com/office/drawing/2014/main" id="{4F565ED0-99BF-4D63-82C4-5811C8B67B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611859" y="5384165"/>
              <a:ext cx="105794" cy="107782"/>
            </a:xfrm>
            <a:custGeom>
              <a:avLst/>
              <a:gdLst>
                <a:gd name="T0" fmla="*/ 2394 w 3086"/>
                <a:gd name="T1" fmla="*/ 1789 h 3144"/>
                <a:gd name="T2" fmla="*/ 375 w 3086"/>
                <a:gd name="T3" fmla="*/ 0 h 3144"/>
                <a:gd name="T4" fmla="*/ 0 w 3086"/>
                <a:gd name="T5" fmla="*/ 3144 h 3144"/>
                <a:gd name="T6" fmla="*/ 3086 w 3086"/>
                <a:gd name="T7" fmla="*/ 3144 h 3144"/>
                <a:gd name="T8" fmla="*/ 2394 w 3086"/>
                <a:gd name="T9" fmla="*/ 1789 h 3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6" h="3144">
                  <a:moveTo>
                    <a:pt x="2394" y="1789"/>
                  </a:moveTo>
                  <a:lnTo>
                    <a:pt x="375" y="0"/>
                  </a:lnTo>
                  <a:lnTo>
                    <a:pt x="0" y="3144"/>
                  </a:lnTo>
                  <a:lnTo>
                    <a:pt x="3086" y="3144"/>
                  </a:lnTo>
                  <a:lnTo>
                    <a:pt x="2394" y="178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3" name="Freeform 2047">
              <a:extLst>
                <a:ext uri="{FF2B5EF4-FFF2-40B4-BE49-F238E27FC236}">
                  <a16:creationId xmlns:a16="http://schemas.microsoft.com/office/drawing/2014/main" id="{78E13A8A-9E47-435D-8510-FB908DEE169C}"/>
                </a:ext>
              </a:extLst>
            </p:cNvPr>
            <p:cNvSpPr>
              <a:spLocks/>
            </p:cNvSpPr>
            <p:nvPr/>
          </p:nvSpPr>
          <p:spPr bwMode="gray">
            <a:xfrm>
              <a:off x="6957934" y="5394073"/>
              <a:ext cx="84059" cy="97874"/>
            </a:xfrm>
            <a:custGeom>
              <a:avLst/>
              <a:gdLst>
                <a:gd name="T0" fmla="*/ 0 w 2452"/>
                <a:gd name="T1" fmla="*/ 1269 h 2855"/>
                <a:gd name="T2" fmla="*/ 0 w 2452"/>
                <a:gd name="T3" fmla="*/ 2855 h 2855"/>
                <a:gd name="T4" fmla="*/ 2452 w 2452"/>
                <a:gd name="T5" fmla="*/ 2855 h 2855"/>
                <a:gd name="T6" fmla="*/ 2452 w 2452"/>
                <a:gd name="T7" fmla="*/ 0 h 2855"/>
                <a:gd name="T8" fmla="*/ 0 w 2452"/>
                <a:gd name="T9" fmla="*/ 1269 h 2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2" h="2855">
                  <a:moveTo>
                    <a:pt x="0" y="1269"/>
                  </a:moveTo>
                  <a:lnTo>
                    <a:pt x="0" y="2855"/>
                  </a:lnTo>
                  <a:lnTo>
                    <a:pt x="2452" y="2855"/>
                  </a:lnTo>
                  <a:lnTo>
                    <a:pt x="2452" y="0"/>
                  </a:lnTo>
                  <a:lnTo>
                    <a:pt x="0" y="126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4" name="Freeform 2048">
              <a:extLst>
                <a:ext uri="{FF2B5EF4-FFF2-40B4-BE49-F238E27FC236}">
                  <a16:creationId xmlns:a16="http://schemas.microsoft.com/office/drawing/2014/main" id="{0A8C4400-44F3-479D-8F68-9AA10740655F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5217040"/>
              <a:ext cx="348063" cy="274906"/>
            </a:xfrm>
            <a:custGeom>
              <a:avLst/>
              <a:gdLst>
                <a:gd name="T0" fmla="*/ 635 w 10153"/>
                <a:gd name="T1" fmla="*/ 8019 h 8019"/>
                <a:gd name="T2" fmla="*/ 0 w 10153"/>
                <a:gd name="T3" fmla="*/ 0 h 8019"/>
                <a:gd name="T4" fmla="*/ 10153 w 10153"/>
                <a:gd name="T5" fmla="*/ 0 h 8019"/>
                <a:gd name="T6" fmla="*/ 9461 w 10153"/>
                <a:gd name="T7" fmla="*/ 8019 h 8019"/>
                <a:gd name="T8" fmla="*/ 635 w 10153"/>
                <a:gd name="T9" fmla="*/ 8019 h 8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53" h="8019">
                  <a:moveTo>
                    <a:pt x="635" y="8019"/>
                  </a:moveTo>
                  <a:lnTo>
                    <a:pt x="0" y="0"/>
                  </a:lnTo>
                  <a:lnTo>
                    <a:pt x="10153" y="0"/>
                  </a:lnTo>
                  <a:lnTo>
                    <a:pt x="9461" y="8019"/>
                  </a:lnTo>
                  <a:lnTo>
                    <a:pt x="635" y="8019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5" name="Freeform 2049">
              <a:extLst>
                <a:ext uri="{FF2B5EF4-FFF2-40B4-BE49-F238E27FC236}">
                  <a16:creationId xmlns:a16="http://schemas.microsoft.com/office/drawing/2014/main" id="{64C41E82-C1DA-4EB6-8707-D5847F228D2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74869" y="5431646"/>
              <a:ext cx="149298" cy="60301"/>
            </a:xfrm>
            <a:custGeom>
              <a:avLst/>
              <a:gdLst>
                <a:gd name="T0" fmla="*/ 606 w 4355"/>
                <a:gd name="T1" fmla="*/ 1759 h 1759"/>
                <a:gd name="T2" fmla="*/ 606 w 4355"/>
                <a:gd name="T3" fmla="*/ 1644 h 1759"/>
                <a:gd name="T4" fmla="*/ 0 w 4355"/>
                <a:gd name="T5" fmla="*/ 0 h 1759"/>
                <a:gd name="T6" fmla="*/ 3519 w 4355"/>
                <a:gd name="T7" fmla="*/ 0 h 1759"/>
                <a:gd name="T8" fmla="*/ 4355 w 4355"/>
                <a:gd name="T9" fmla="*/ 1759 h 1759"/>
                <a:gd name="T10" fmla="*/ 4355 w 4355"/>
                <a:gd name="T11" fmla="*/ 1759 h 1759"/>
                <a:gd name="T12" fmla="*/ 4355 w 4355"/>
                <a:gd name="T13" fmla="*/ 1759 h 1759"/>
                <a:gd name="T14" fmla="*/ 4355 w 4355"/>
                <a:gd name="T15" fmla="*/ 1759 h 1759"/>
                <a:gd name="T16" fmla="*/ 606 w 4355"/>
                <a:gd name="T17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55" h="1759">
                  <a:moveTo>
                    <a:pt x="606" y="1759"/>
                  </a:moveTo>
                  <a:lnTo>
                    <a:pt x="606" y="1644"/>
                  </a:lnTo>
                  <a:lnTo>
                    <a:pt x="0" y="0"/>
                  </a:lnTo>
                  <a:lnTo>
                    <a:pt x="3519" y="0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606" y="1759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6" name="Freeform 2050">
              <a:extLst>
                <a:ext uri="{FF2B5EF4-FFF2-40B4-BE49-F238E27FC236}">
                  <a16:creationId xmlns:a16="http://schemas.microsoft.com/office/drawing/2014/main" id="{827F9869-2E05-41A5-9DE3-B3667186EAFB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7572" y="5431646"/>
              <a:ext cx="143366" cy="60301"/>
            </a:xfrm>
            <a:custGeom>
              <a:avLst/>
              <a:gdLst>
                <a:gd name="T0" fmla="*/ 3490 w 4182"/>
                <a:gd name="T1" fmla="*/ 1644 h 1759"/>
                <a:gd name="T2" fmla="*/ 3490 w 4182"/>
                <a:gd name="T3" fmla="*/ 1759 h 1759"/>
                <a:gd name="T4" fmla="*/ 0 w 4182"/>
                <a:gd name="T5" fmla="*/ 1759 h 1759"/>
                <a:gd name="T6" fmla="*/ 750 w 4182"/>
                <a:gd name="T7" fmla="*/ 0 h 1759"/>
                <a:gd name="T8" fmla="*/ 4182 w 4182"/>
                <a:gd name="T9" fmla="*/ 0 h 1759"/>
                <a:gd name="T10" fmla="*/ 3490 w 4182"/>
                <a:gd name="T11" fmla="*/ 1644 h 1759"/>
                <a:gd name="T12" fmla="*/ 3490 w 4182"/>
                <a:gd name="T13" fmla="*/ 1644 h 1759"/>
                <a:gd name="T14" fmla="*/ 3490 w 4182"/>
                <a:gd name="T15" fmla="*/ 1644 h 1759"/>
                <a:gd name="T16" fmla="*/ 3490 w 4182"/>
                <a:gd name="T17" fmla="*/ 1644 h 1759"/>
                <a:gd name="T18" fmla="*/ 3490 w 4182"/>
                <a:gd name="T19" fmla="*/ 1644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82" h="1759">
                  <a:moveTo>
                    <a:pt x="3490" y="1644"/>
                  </a:moveTo>
                  <a:lnTo>
                    <a:pt x="3490" y="1759"/>
                  </a:lnTo>
                  <a:lnTo>
                    <a:pt x="0" y="1759"/>
                  </a:lnTo>
                  <a:lnTo>
                    <a:pt x="750" y="0"/>
                  </a:lnTo>
                  <a:lnTo>
                    <a:pt x="4182" y="0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7" name="Freeform 2051">
              <a:extLst>
                <a:ext uri="{FF2B5EF4-FFF2-40B4-BE49-F238E27FC236}">
                  <a16:creationId xmlns:a16="http://schemas.microsoft.com/office/drawing/2014/main" id="{651AE214-EF3D-4FF4-BDAD-56A852F4385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774807"/>
              <a:ext cx="533940" cy="55365"/>
            </a:xfrm>
            <a:custGeom>
              <a:avLst/>
              <a:gdLst>
                <a:gd name="T0" fmla="*/ 485 w 540"/>
                <a:gd name="T1" fmla="*/ 0 h 56"/>
                <a:gd name="T2" fmla="*/ 56 w 540"/>
                <a:gd name="T3" fmla="*/ 0 h 56"/>
                <a:gd name="T4" fmla="*/ 0 w 540"/>
                <a:gd name="T5" fmla="*/ 56 h 56"/>
                <a:gd name="T6" fmla="*/ 540 w 540"/>
                <a:gd name="T7" fmla="*/ 56 h 56"/>
                <a:gd name="T8" fmla="*/ 485 w 540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0" y="56"/>
                    <a:pt x="540" y="56"/>
                    <a:pt x="540" y="56"/>
                  </a:cubicBezTo>
                  <a:cubicBezTo>
                    <a:pt x="540" y="25"/>
                    <a:pt x="515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8" name="Freeform 2052">
              <a:extLst>
                <a:ext uri="{FF2B5EF4-FFF2-40B4-BE49-F238E27FC236}">
                  <a16:creationId xmlns:a16="http://schemas.microsoft.com/office/drawing/2014/main" id="{F46EA028-6387-4B8E-9E6E-E5AD697053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830171"/>
              <a:ext cx="533940" cy="37573"/>
            </a:xfrm>
            <a:custGeom>
              <a:avLst/>
              <a:gdLst>
                <a:gd name="T0" fmla="*/ 0 w 15575"/>
                <a:gd name="T1" fmla="*/ 0 h 1096"/>
                <a:gd name="T2" fmla="*/ 15575 w 15575"/>
                <a:gd name="T3" fmla="*/ 0 h 1096"/>
                <a:gd name="T4" fmla="*/ 15575 w 15575"/>
                <a:gd name="T5" fmla="*/ 1096 h 1096"/>
                <a:gd name="T6" fmla="*/ 0 w 15575"/>
                <a:gd name="T7" fmla="*/ 1096 h 1096"/>
                <a:gd name="T8" fmla="*/ 0 w 15575"/>
                <a:gd name="T9" fmla="*/ 0 h 1096"/>
                <a:gd name="T10" fmla="*/ 0 w 15575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75" h="1096">
                  <a:moveTo>
                    <a:pt x="0" y="0"/>
                  </a:moveTo>
                  <a:lnTo>
                    <a:pt x="15575" y="0"/>
                  </a:lnTo>
                  <a:lnTo>
                    <a:pt x="15575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9" name="Freeform 2053">
              <a:extLst>
                <a:ext uri="{FF2B5EF4-FFF2-40B4-BE49-F238E27FC236}">
                  <a16:creationId xmlns:a16="http://schemas.microsoft.com/office/drawing/2014/main" id="{A150A7AF-7088-4560-8AC3-56BE921FB3A6}"/>
                </a:ext>
              </a:extLst>
            </p:cNvPr>
            <p:cNvSpPr>
              <a:spLocks/>
            </p:cNvSpPr>
            <p:nvPr/>
          </p:nvSpPr>
          <p:spPr bwMode="gray">
            <a:xfrm>
              <a:off x="817017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0" name="Freeform 2054">
              <a:extLst>
                <a:ext uri="{FF2B5EF4-FFF2-40B4-BE49-F238E27FC236}">
                  <a16:creationId xmlns:a16="http://schemas.microsoft.com/office/drawing/2014/main" id="{5F1C88E2-8B2B-46CF-BBA9-1E7F82556E0B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120126"/>
              <a:ext cx="121598" cy="371821"/>
            </a:xfrm>
            <a:custGeom>
              <a:avLst/>
              <a:gdLst>
                <a:gd name="T0" fmla="*/ 1240 w 3547"/>
                <a:gd name="T1" fmla="*/ 0 h 10846"/>
                <a:gd name="T2" fmla="*/ 317 w 3547"/>
                <a:gd name="T3" fmla="*/ 5135 h 10846"/>
                <a:gd name="T4" fmla="*/ 0 w 3547"/>
                <a:gd name="T5" fmla="*/ 8106 h 10846"/>
                <a:gd name="T6" fmla="*/ 548 w 3547"/>
                <a:gd name="T7" fmla="*/ 10846 h 10846"/>
                <a:gd name="T8" fmla="*/ 2538 w 3547"/>
                <a:gd name="T9" fmla="*/ 10846 h 10846"/>
                <a:gd name="T10" fmla="*/ 3547 w 3547"/>
                <a:gd name="T11" fmla="*/ 8798 h 10846"/>
                <a:gd name="T12" fmla="*/ 3547 w 3547"/>
                <a:gd name="T13" fmla="*/ 0 h 10846"/>
                <a:gd name="T14" fmla="*/ 1240 w 3547"/>
                <a:gd name="T15" fmla="*/ 0 h 10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47" h="10846">
                  <a:moveTo>
                    <a:pt x="1240" y="0"/>
                  </a:moveTo>
                  <a:lnTo>
                    <a:pt x="317" y="5135"/>
                  </a:lnTo>
                  <a:lnTo>
                    <a:pt x="0" y="8106"/>
                  </a:lnTo>
                  <a:lnTo>
                    <a:pt x="548" y="10846"/>
                  </a:lnTo>
                  <a:lnTo>
                    <a:pt x="2538" y="10846"/>
                  </a:lnTo>
                  <a:lnTo>
                    <a:pt x="3547" y="8798"/>
                  </a:lnTo>
                  <a:lnTo>
                    <a:pt x="3547" y="0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1" name="Freeform 2055">
              <a:extLst>
                <a:ext uri="{FF2B5EF4-FFF2-40B4-BE49-F238E27FC236}">
                  <a16:creationId xmlns:a16="http://schemas.microsoft.com/office/drawing/2014/main" id="{B0D47087-92C7-40DF-8B56-F4E80332B37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2" name="Freeform 2056">
              <a:extLst>
                <a:ext uri="{FF2B5EF4-FFF2-40B4-BE49-F238E27FC236}">
                  <a16:creationId xmlns:a16="http://schemas.microsoft.com/office/drawing/2014/main" id="{63291F21-D514-44AF-B702-30C463488FC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58654" y="5455367"/>
              <a:ext cx="30648" cy="884129"/>
            </a:xfrm>
            <a:custGeom>
              <a:avLst/>
              <a:gdLst>
                <a:gd name="T0" fmla="*/ 0 w 894"/>
                <a:gd name="T1" fmla="*/ 0 h 25790"/>
                <a:gd name="T2" fmla="*/ 894 w 894"/>
                <a:gd name="T3" fmla="*/ 0 h 25790"/>
                <a:gd name="T4" fmla="*/ 894 w 894"/>
                <a:gd name="T5" fmla="*/ 25790 h 25790"/>
                <a:gd name="T6" fmla="*/ 0 w 894"/>
                <a:gd name="T7" fmla="*/ 25790 h 25790"/>
                <a:gd name="T8" fmla="*/ 0 w 894"/>
                <a:gd name="T9" fmla="*/ 0 h 25790"/>
                <a:gd name="T10" fmla="*/ 0 w 894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4" h="25790">
                  <a:moveTo>
                    <a:pt x="0" y="0"/>
                  </a:moveTo>
                  <a:lnTo>
                    <a:pt x="894" y="0"/>
                  </a:lnTo>
                  <a:lnTo>
                    <a:pt x="894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3" name="Freeform 2057">
              <a:extLst>
                <a:ext uri="{FF2B5EF4-FFF2-40B4-BE49-F238E27FC236}">
                  <a16:creationId xmlns:a16="http://schemas.microsoft.com/office/drawing/2014/main" id="{57C79B19-C7F9-4336-A571-5F550FC571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246696"/>
              <a:ext cx="533940" cy="208673"/>
            </a:xfrm>
            <a:custGeom>
              <a:avLst/>
              <a:gdLst>
                <a:gd name="T0" fmla="*/ 404 w 540"/>
                <a:gd name="T1" fmla="*/ 0 h 211"/>
                <a:gd name="T2" fmla="*/ 136 w 540"/>
                <a:gd name="T3" fmla="*/ 0 h 211"/>
                <a:gd name="T4" fmla="*/ 0 w 540"/>
                <a:gd name="T5" fmla="*/ 119 h 211"/>
                <a:gd name="T6" fmla="*/ 0 w 540"/>
                <a:gd name="T7" fmla="*/ 211 h 211"/>
                <a:gd name="T8" fmla="*/ 540 w 540"/>
                <a:gd name="T9" fmla="*/ 211 h 211"/>
                <a:gd name="T10" fmla="*/ 540 w 540"/>
                <a:gd name="T11" fmla="*/ 119 h 211"/>
                <a:gd name="T12" fmla="*/ 404 w 540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0" y="211"/>
                    <a:pt x="540" y="211"/>
                    <a:pt x="540" y="211"/>
                  </a:cubicBezTo>
                  <a:cubicBezTo>
                    <a:pt x="540" y="119"/>
                    <a:pt x="540" y="119"/>
                    <a:pt x="540" y="119"/>
                  </a:cubicBezTo>
                  <a:cubicBezTo>
                    <a:pt x="540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4" name="Freeform 2058">
              <a:extLst>
                <a:ext uri="{FF2B5EF4-FFF2-40B4-BE49-F238E27FC236}">
                  <a16:creationId xmlns:a16="http://schemas.microsoft.com/office/drawing/2014/main" id="{CDAED7E9-E4C4-4B67-A75D-A2CCCD25AC22}"/>
                </a:ext>
              </a:extLst>
            </p:cNvPr>
            <p:cNvSpPr>
              <a:spLocks/>
            </p:cNvSpPr>
            <p:nvPr/>
          </p:nvSpPr>
          <p:spPr bwMode="gray">
            <a:xfrm>
              <a:off x="8609220" y="5142856"/>
              <a:ext cx="118649" cy="349091"/>
            </a:xfrm>
            <a:custGeom>
              <a:avLst/>
              <a:gdLst>
                <a:gd name="T0" fmla="*/ 3288 w 3461"/>
                <a:gd name="T1" fmla="*/ 6578 h 10183"/>
                <a:gd name="T2" fmla="*/ 3461 w 3461"/>
                <a:gd name="T3" fmla="*/ 0 h 10183"/>
                <a:gd name="T4" fmla="*/ 259 w 3461"/>
                <a:gd name="T5" fmla="*/ 29 h 10183"/>
                <a:gd name="T6" fmla="*/ 778 w 3461"/>
                <a:gd name="T7" fmla="*/ 5366 h 10183"/>
                <a:gd name="T8" fmla="*/ 0 w 3461"/>
                <a:gd name="T9" fmla="*/ 7933 h 10183"/>
                <a:gd name="T10" fmla="*/ 634 w 3461"/>
                <a:gd name="T11" fmla="*/ 10183 h 10183"/>
                <a:gd name="T12" fmla="*/ 2048 w 3461"/>
                <a:gd name="T13" fmla="*/ 9001 h 10183"/>
                <a:gd name="T14" fmla="*/ 3288 w 3461"/>
                <a:gd name="T15" fmla="*/ 6578 h 10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1" h="10183">
                  <a:moveTo>
                    <a:pt x="3288" y="6578"/>
                  </a:moveTo>
                  <a:lnTo>
                    <a:pt x="3461" y="0"/>
                  </a:lnTo>
                  <a:lnTo>
                    <a:pt x="259" y="29"/>
                  </a:lnTo>
                  <a:lnTo>
                    <a:pt x="778" y="5366"/>
                  </a:lnTo>
                  <a:lnTo>
                    <a:pt x="0" y="7933"/>
                  </a:lnTo>
                  <a:lnTo>
                    <a:pt x="634" y="10183"/>
                  </a:lnTo>
                  <a:lnTo>
                    <a:pt x="2048" y="9001"/>
                  </a:lnTo>
                  <a:lnTo>
                    <a:pt x="3288" y="6578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5" name="Freeform 2059">
              <a:extLst>
                <a:ext uri="{FF2B5EF4-FFF2-40B4-BE49-F238E27FC236}">
                  <a16:creationId xmlns:a16="http://schemas.microsoft.com/office/drawing/2014/main" id="{58EE1ED2-6C6B-4591-B1AE-4875AD96AD9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7746" y="4515875"/>
              <a:ext cx="403428" cy="619095"/>
            </a:xfrm>
            <a:custGeom>
              <a:avLst/>
              <a:gdLst>
                <a:gd name="T0" fmla="*/ 374 w 408"/>
                <a:gd name="T1" fmla="*/ 100 h 626"/>
                <a:gd name="T2" fmla="*/ 216 w 408"/>
                <a:gd name="T3" fmla="*/ 0 h 626"/>
                <a:gd name="T4" fmla="*/ 207 w 408"/>
                <a:gd name="T5" fmla="*/ 0 h 626"/>
                <a:gd name="T6" fmla="*/ 205 w 408"/>
                <a:gd name="T7" fmla="*/ 0 h 626"/>
                <a:gd name="T8" fmla="*/ 196 w 408"/>
                <a:gd name="T9" fmla="*/ 0 h 626"/>
                <a:gd name="T10" fmla="*/ 38 w 408"/>
                <a:gd name="T11" fmla="*/ 100 h 626"/>
                <a:gd name="T12" fmla="*/ 26 w 408"/>
                <a:gd name="T13" fmla="*/ 558 h 626"/>
                <a:gd name="T14" fmla="*/ 154 w 408"/>
                <a:gd name="T15" fmla="*/ 626 h 626"/>
                <a:gd name="T16" fmla="*/ 205 w 408"/>
                <a:gd name="T17" fmla="*/ 626 h 626"/>
                <a:gd name="T18" fmla="*/ 207 w 408"/>
                <a:gd name="T19" fmla="*/ 626 h 626"/>
                <a:gd name="T20" fmla="*/ 259 w 408"/>
                <a:gd name="T21" fmla="*/ 626 h 626"/>
                <a:gd name="T22" fmla="*/ 382 w 408"/>
                <a:gd name="T23" fmla="*/ 558 h 626"/>
                <a:gd name="T24" fmla="*/ 374 w 408"/>
                <a:gd name="T25" fmla="*/ 10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" h="626">
                  <a:moveTo>
                    <a:pt x="374" y="100"/>
                  </a:moveTo>
                  <a:cubicBezTo>
                    <a:pt x="342" y="40"/>
                    <a:pt x="287" y="0"/>
                    <a:pt x="216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27" y="0"/>
                    <a:pt x="70" y="40"/>
                    <a:pt x="38" y="100"/>
                  </a:cubicBezTo>
                  <a:cubicBezTo>
                    <a:pt x="8" y="156"/>
                    <a:pt x="0" y="495"/>
                    <a:pt x="26" y="558"/>
                  </a:cubicBezTo>
                  <a:cubicBezTo>
                    <a:pt x="47" y="610"/>
                    <a:pt x="95" y="626"/>
                    <a:pt x="154" y="626"/>
                  </a:cubicBezTo>
                  <a:cubicBezTo>
                    <a:pt x="205" y="626"/>
                    <a:pt x="205" y="626"/>
                    <a:pt x="205" y="626"/>
                  </a:cubicBezTo>
                  <a:cubicBezTo>
                    <a:pt x="207" y="626"/>
                    <a:pt x="207" y="626"/>
                    <a:pt x="207" y="626"/>
                  </a:cubicBezTo>
                  <a:cubicBezTo>
                    <a:pt x="259" y="626"/>
                    <a:pt x="259" y="626"/>
                    <a:pt x="259" y="626"/>
                  </a:cubicBezTo>
                  <a:cubicBezTo>
                    <a:pt x="317" y="626"/>
                    <a:pt x="361" y="610"/>
                    <a:pt x="382" y="558"/>
                  </a:cubicBezTo>
                  <a:cubicBezTo>
                    <a:pt x="408" y="495"/>
                    <a:pt x="404" y="156"/>
                    <a:pt x="374" y="100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6" name="Freeform 2060">
              <a:extLst>
                <a:ext uri="{FF2B5EF4-FFF2-40B4-BE49-F238E27FC236}">
                  <a16:creationId xmlns:a16="http://schemas.microsoft.com/office/drawing/2014/main" id="{06D660E2-D0CC-4918-99B1-87ACA6EF803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84160" y="4914435"/>
              <a:ext cx="651628" cy="638842"/>
            </a:xfrm>
            <a:custGeom>
              <a:avLst/>
              <a:gdLst>
                <a:gd name="T0" fmla="*/ 513 w 659"/>
                <a:gd name="T1" fmla="*/ 410 h 646"/>
                <a:gd name="T2" fmla="*/ 557 w 659"/>
                <a:gd name="T3" fmla="*/ 645 h 646"/>
                <a:gd name="T4" fmla="*/ 108 w 659"/>
                <a:gd name="T5" fmla="*/ 646 h 646"/>
                <a:gd name="T6" fmla="*/ 157 w 659"/>
                <a:gd name="T7" fmla="*/ 410 h 646"/>
                <a:gd name="T8" fmla="*/ 117 w 659"/>
                <a:gd name="T9" fmla="*/ 282 h 646"/>
                <a:gd name="T10" fmla="*/ 11 w 659"/>
                <a:gd name="T11" fmla="*/ 269 h 646"/>
                <a:gd name="T12" fmla="*/ 102 w 659"/>
                <a:gd name="T13" fmla="*/ 60 h 646"/>
                <a:gd name="T14" fmla="*/ 252 w 659"/>
                <a:gd name="T15" fmla="*/ 0 h 646"/>
                <a:gd name="T16" fmla="*/ 322 w 659"/>
                <a:gd name="T17" fmla="*/ 46 h 646"/>
                <a:gd name="T18" fmla="*/ 346 w 659"/>
                <a:gd name="T19" fmla="*/ 45 h 646"/>
                <a:gd name="T20" fmla="*/ 416 w 659"/>
                <a:gd name="T21" fmla="*/ 0 h 646"/>
                <a:gd name="T22" fmla="*/ 568 w 659"/>
                <a:gd name="T23" fmla="*/ 60 h 646"/>
                <a:gd name="T24" fmla="*/ 659 w 659"/>
                <a:gd name="T25" fmla="*/ 269 h 646"/>
                <a:gd name="T26" fmla="*/ 553 w 659"/>
                <a:gd name="T27" fmla="*/ 282 h 646"/>
                <a:gd name="T28" fmla="*/ 552 w 659"/>
                <a:gd name="T29" fmla="*/ 282 h 646"/>
                <a:gd name="T30" fmla="*/ 513 w 659"/>
                <a:gd name="T31" fmla="*/ 410 h 646"/>
                <a:gd name="T32" fmla="*/ 513 w 659"/>
                <a:gd name="T33" fmla="*/ 41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9" h="646">
                  <a:moveTo>
                    <a:pt x="513" y="410"/>
                  </a:moveTo>
                  <a:cubicBezTo>
                    <a:pt x="557" y="645"/>
                    <a:pt x="557" y="645"/>
                    <a:pt x="557" y="645"/>
                  </a:cubicBezTo>
                  <a:cubicBezTo>
                    <a:pt x="108" y="646"/>
                    <a:pt x="108" y="646"/>
                    <a:pt x="108" y="646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17" y="282"/>
                    <a:pt x="117" y="282"/>
                    <a:pt x="117" y="282"/>
                  </a:cubicBezTo>
                  <a:cubicBezTo>
                    <a:pt x="11" y="269"/>
                    <a:pt x="11" y="269"/>
                    <a:pt x="11" y="269"/>
                  </a:cubicBezTo>
                  <a:cubicBezTo>
                    <a:pt x="11" y="269"/>
                    <a:pt x="0" y="102"/>
                    <a:pt x="102" y="60"/>
                  </a:cubicBezTo>
                  <a:cubicBezTo>
                    <a:pt x="238" y="4"/>
                    <a:pt x="252" y="0"/>
                    <a:pt x="252" y="0"/>
                  </a:cubicBezTo>
                  <a:cubicBezTo>
                    <a:pt x="322" y="46"/>
                    <a:pt x="322" y="46"/>
                    <a:pt x="322" y="46"/>
                  </a:cubicBezTo>
                  <a:cubicBezTo>
                    <a:pt x="346" y="45"/>
                    <a:pt x="346" y="45"/>
                    <a:pt x="346" y="45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568" y="60"/>
                    <a:pt x="568" y="60"/>
                    <a:pt x="568" y="60"/>
                  </a:cubicBezTo>
                  <a:cubicBezTo>
                    <a:pt x="646" y="134"/>
                    <a:pt x="659" y="269"/>
                    <a:pt x="659" y="269"/>
                  </a:cubicBezTo>
                  <a:cubicBezTo>
                    <a:pt x="553" y="282"/>
                    <a:pt x="553" y="282"/>
                    <a:pt x="553" y="282"/>
                  </a:cubicBezTo>
                  <a:cubicBezTo>
                    <a:pt x="552" y="282"/>
                    <a:pt x="552" y="282"/>
                    <a:pt x="552" y="282"/>
                  </a:cubicBezTo>
                  <a:cubicBezTo>
                    <a:pt x="513" y="410"/>
                    <a:pt x="513" y="410"/>
                    <a:pt x="513" y="410"/>
                  </a:cubicBezTo>
                  <a:cubicBezTo>
                    <a:pt x="513" y="410"/>
                    <a:pt x="513" y="410"/>
                    <a:pt x="513" y="410"/>
                  </a:cubicBezTo>
                  <a:close/>
                </a:path>
              </a:pathLst>
            </a:cu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7" name="Freeform 2061">
              <a:extLst>
                <a:ext uri="{FF2B5EF4-FFF2-40B4-BE49-F238E27FC236}">
                  <a16:creationId xmlns:a16="http://schemas.microsoft.com/office/drawing/2014/main" id="{5F63D238-BF05-4572-ACC8-8EAADB13EF1C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0856" y="5577994"/>
              <a:ext cx="430099" cy="196812"/>
            </a:xfrm>
            <a:custGeom>
              <a:avLst/>
              <a:gdLst>
                <a:gd name="T0" fmla="*/ 393 w 435"/>
                <a:gd name="T1" fmla="*/ 199 h 199"/>
                <a:gd name="T2" fmla="*/ 41 w 435"/>
                <a:gd name="T3" fmla="*/ 199 h 199"/>
                <a:gd name="T4" fmla="*/ 0 w 435"/>
                <a:gd name="T5" fmla="*/ 159 h 199"/>
                <a:gd name="T6" fmla="*/ 0 w 435"/>
                <a:gd name="T7" fmla="*/ 0 h 199"/>
                <a:gd name="T8" fmla="*/ 435 w 435"/>
                <a:gd name="T9" fmla="*/ 0 h 199"/>
                <a:gd name="T10" fmla="*/ 435 w 435"/>
                <a:gd name="T11" fmla="*/ 159 h 199"/>
                <a:gd name="T12" fmla="*/ 393 w 435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99">
                  <a:moveTo>
                    <a:pt x="393" y="199"/>
                  </a:moveTo>
                  <a:cubicBezTo>
                    <a:pt x="41" y="199"/>
                    <a:pt x="41" y="199"/>
                    <a:pt x="41" y="199"/>
                  </a:cubicBezTo>
                  <a:cubicBezTo>
                    <a:pt x="25" y="183"/>
                    <a:pt x="16" y="175"/>
                    <a:pt x="0" y="15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5" y="0"/>
                    <a:pt x="435" y="0"/>
                    <a:pt x="435" y="0"/>
                  </a:cubicBezTo>
                  <a:cubicBezTo>
                    <a:pt x="435" y="159"/>
                    <a:pt x="435" y="159"/>
                    <a:pt x="435" y="159"/>
                  </a:cubicBezTo>
                  <a:cubicBezTo>
                    <a:pt x="419" y="175"/>
                    <a:pt x="409" y="183"/>
                    <a:pt x="393" y="199"/>
                  </a:cubicBezTo>
                  <a:close/>
                </a:path>
              </a:pathLst>
            </a:custGeom>
            <a:solidFill>
              <a:srgbClr val="3750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8" name="Freeform 2062">
              <a:extLst>
                <a:ext uri="{FF2B5EF4-FFF2-40B4-BE49-F238E27FC236}">
                  <a16:creationId xmlns:a16="http://schemas.microsoft.com/office/drawing/2014/main" id="{C084FF0D-6405-44D2-B80B-F09A48207C3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2069" y="5565138"/>
              <a:ext cx="465719" cy="54405"/>
            </a:xfrm>
            <a:custGeom>
              <a:avLst/>
              <a:gdLst>
                <a:gd name="T0" fmla="*/ 13585 w 13585"/>
                <a:gd name="T1" fmla="*/ 1587 h 1587"/>
                <a:gd name="T2" fmla="*/ 0 w 13585"/>
                <a:gd name="T3" fmla="*/ 1587 h 1587"/>
                <a:gd name="T4" fmla="*/ 346 w 13585"/>
                <a:gd name="T5" fmla="*/ 0 h 1587"/>
                <a:gd name="T6" fmla="*/ 13210 w 13585"/>
                <a:gd name="T7" fmla="*/ 0 h 1587"/>
                <a:gd name="T8" fmla="*/ 13585 w 13585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5" h="1587">
                  <a:moveTo>
                    <a:pt x="13585" y="1587"/>
                  </a:moveTo>
                  <a:lnTo>
                    <a:pt x="0" y="1587"/>
                  </a:lnTo>
                  <a:lnTo>
                    <a:pt x="346" y="0"/>
                  </a:lnTo>
                  <a:lnTo>
                    <a:pt x="13210" y="0"/>
                  </a:lnTo>
                  <a:lnTo>
                    <a:pt x="13585" y="1587"/>
                  </a:lnTo>
                  <a:close/>
                </a:path>
              </a:pathLst>
            </a:custGeom>
            <a:solidFill>
              <a:srgbClr val="64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9" name="Freeform 2063">
              <a:extLst>
                <a:ext uri="{FF2B5EF4-FFF2-40B4-BE49-F238E27FC236}">
                  <a16:creationId xmlns:a16="http://schemas.microsoft.com/office/drawing/2014/main" id="{CDDCC23D-1AF2-42B7-9E6B-4D5FF3815CE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93931" y="5596780"/>
              <a:ext cx="403428" cy="624032"/>
            </a:xfrm>
            <a:custGeom>
              <a:avLst/>
              <a:gdLst>
                <a:gd name="T0" fmla="*/ 274 w 408"/>
                <a:gd name="T1" fmla="*/ 16 h 631"/>
                <a:gd name="T2" fmla="*/ 0 w 408"/>
                <a:gd name="T3" fmla="*/ 586 h 631"/>
                <a:gd name="T4" fmla="*/ 92 w 408"/>
                <a:gd name="T5" fmla="*/ 631 h 631"/>
                <a:gd name="T6" fmla="*/ 387 w 408"/>
                <a:gd name="T7" fmla="*/ 133 h 631"/>
                <a:gd name="T8" fmla="*/ 388 w 408"/>
                <a:gd name="T9" fmla="*/ 131 h 631"/>
                <a:gd name="T10" fmla="*/ 408 w 408"/>
                <a:gd name="T11" fmla="*/ 90 h 631"/>
                <a:gd name="T12" fmla="*/ 394 w 408"/>
                <a:gd name="T13" fmla="*/ 38 h 631"/>
                <a:gd name="T14" fmla="*/ 313 w 408"/>
                <a:gd name="T15" fmla="*/ 0 h 631"/>
                <a:gd name="T16" fmla="*/ 274 w 408"/>
                <a:gd name="T17" fmla="*/ 16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8" h="631">
                  <a:moveTo>
                    <a:pt x="274" y="16"/>
                  </a:moveTo>
                  <a:cubicBezTo>
                    <a:pt x="0" y="586"/>
                    <a:pt x="0" y="586"/>
                    <a:pt x="0" y="586"/>
                  </a:cubicBezTo>
                  <a:cubicBezTo>
                    <a:pt x="92" y="631"/>
                    <a:pt x="92" y="631"/>
                    <a:pt x="92" y="631"/>
                  </a:cubicBezTo>
                  <a:cubicBezTo>
                    <a:pt x="387" y="133"/>
                    <a:pt x="387" y="133"/>
                    <a:pt x="387" y="133"/>
                  </a:cubicBezTo>
                  <a:cubicBezTo>
                    <a:pt x="387" y="132"/>
                    <a:pt x="388" y="132"/>
                    <a:pt x="388" y="131"/>
                  </a:cubicBezTo>
                  <a:cubicBezTo>
                    <a:pt x="408" y="90"/>
                    <a:pt x="408" y="90"/>
                    <a:pt x="408" y="90"/>
                  </a:cubicBezTo>
                  <a:cubicBezTo>
                    <a:pt x="402" y="70"/>
                    <a:pt x="399" y="59"/>
                    <a:pt x="394" y="38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298" y="6"/>
                    <a:pt x="290" y="10"/>
                    <a:pt x="274" y="16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0" name="Freeform 2064">
              <a:extLst>
                <a:ext uri="{FF2B5EF4-FFF2-40B4-BE49-F238E27FC236}">
                  <a16:creationId xmlns:a16="http://schemas.microsoft.com/office/drawing/2014/main" id="{02248A3D-353F-4752-B6F2-3B0484F661D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62289" y="6108059"/>
              <a:ext cx="159170" cy="135482"/>
            </a:xfrm>
            <a:custGeom>
              <a:avLst/>
              <a:gdLst>
                <a:gd name="T0" fmla="*/ 4643 w 4643"/>
                <a:gd name="T1" fmla="*/ 3952 h 3952"/>
                <a:gd name="T2" fmla="*/ 0 w 4643"/>
                <a:gd name="T3" fmla="*/ 1904 h 3952"/>
                <a:gd name="T4" fmla="*/ 57 w 4643"/>
                <a:gd name="T5" fmla="*/ 1789 h 3952"/>
                <a:gd name="T6" fmla="*/ 1788 w 4643"/>
                <a:gd name="T7" fmla="*/ 0 h 3952"/>
                <a:gd name="T8" fmla="*/ 4586 w 4643"/>
                <a:gd name="T9" fmla="*/ 1241 h 3952"/>
                <a:gd name="T10" fmla="*/ 4643 w 4643"/>
                <a:gd name="T11" fmla="*/ 3952 h 3952"/>
                <a:gd name="T12" fmla="*/ 4643 w 4643"/>
                <a:gd name="T13" fmla="*/ 3952 h 3952"/>
                <a:gd name="T14" fmla="*/ 4643 w 4643"/>
                <a:gd name="T15" fmla="*/ 3952 h 3952"/>
                <a:gd name="T16" fmla="*/ 4643 w 4643"/>
                <a:gd name="T17" fmla="*/ 3952 h 3952"/>
                <a:gd name="T18" fmla="*/ 4643 w 4643"/>
                <a:gd name="T19" fmla="*/ 3952 h 3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43" h="3952">
                  <a:moveTo>
                    <a:pt x="4643" y="3952"/>
                  </a:moveTo>
                  <a:lnTo>
                    <a:pt x="0" y="1904"/>
                  </a:lnTo>
                  <a:lnTo>
                    <a:pt x="57" y="1789"/>
                  </a:lnTo>
                  <a:lnTo>
                    <a:pt x="1788" y="0"/>
                  </a:lnTo>
                  <a:lnTo>
                    <a:pt x="4586" y="1241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1" name="Freeform 2065">
              <a:extLst>
                <a:ext uri="{FF2B5EF4-FFF2-40B4-BE49-F238E27FC236}">
                  <a16:creationId xmlns:a16="http://schemas.microsoft.com/office/drawing/2014/main" id="{72124AB1-6FA9-479D-AD4A-93346B071277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2025" y="5631404"/>
              <a:ext cx="150291" cy="708091"/>
            </a:xfrm>
            <a:custGeom>
              <a:avLst/>
              <a:gdLst>
                <a:gd name="T0" fmla="*/ 0 w 152"/>
                <a:gd name="T1" fmla="*/ 46 h 716"/>
                <a:gd name="T2" fmla="*/ 0 w 152"/>
                <a:gd name="T3" fmla="*/ 93 h 716"/>
                <a:gd name="T4" fmla="*/ 1 w 152"/>
                <a:gd name="T5" fmla="*/ 95 h 716"/>
                <a:gd name="T6" fmla="*/ 49 w 152"/>
                <a:gd name="T7" fmla="*/ 716 h 716"/>
                <a:gd name="T8" fmla="*/ 152 w 152"/>
                <a:gd name="T9" fmla="*/ 716 h 716"/>
                <a:gd name="T10" fmla="*/ 152 w 152"/>
                <a:gd name="T11" fmla="*/ 37 h 716"/>
                <a:gd name="T12" fmla="*/ 122 w 152"/>
                <a:gd name="T13" fmla="*/ 0 h 716"/>
                <a:gd name="T14" fmla="*/ 37 w 152"/>
                <a:gd name="T15" fmla="*/ 0 h 716"/>
                <a:gd name="T16" fmla="*/ 0 w 152"/>
                <a:gd name="T17" fmla="*/ 4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716">
                  <a:moveTo>
                    <a:pt x="0" y="46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1" y="95"/>
                    <a:pt x="1" y="95"/>
                  </a:cubicBezTo>
                  <a:cubicBezTo>
                    <a:pt x="49" y="716"/>
                    <a:pt x="49" y="716"/>
                    <a:pt x="49" y="716"/>
                  </a:cubicBezTo>
                  <a:cubicBezTo>
                    <a:pt x="152" y="716"/>
                    <a:pt x="152" y="716"/>
                    <a:pt x="152" y="716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40" y="22"/>
                    <a:pt x="134" y="14"/>
                    <a:pt x="12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3" y="18"/>
                    <a:pt x="15" y="28"/>
                    <a:pt x="0" y="46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2" name="Freeform 2066">
              <a:extLst>
                <a:ext uri="{FF2B5EF4-FFF2-40B4-BE49-F238E27FC236}">
                  <a16:creationId xmlns:a16="http://schemas.microsoft.com/office/drawing/2014/main" id="{7B9A27C4-4E6B-4EF2-BAD3-D129C76E133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0071" y="6255436"/>
              <a:ext cx="173020" cy="84058"/>
            </a:xfrm>
            <a:custGeom>
              <a:avLst/>
              <a:gdLst>
                <a:gd name="T0" fmla="*/ 5047 w 5047"/>
                <a:gd name="T1" fmla="*/ 2336 h 2452"/>
                <a:gd name="T2" fmla="*/ 5047 w 5047"/>
                <a:gd name="T3" fmla="*/ 2452 h 2452"/>
                <a:gd name="T4" fmla="*/ 0 w 5047"/>
                <a:gd name="T5" fmla="*/ 2452 h 2452"/>
                <a:gd name="T6" fmla="*/ 1096 w 5047"/>
                <a:gd name="T7" fmla="*/ 0 h 2452"/>
                <a:gd name="T8" fmla="*/ 4182 w 5047"/>
                <a:gd name="T9" fmla="*/ 0 h 2452"/>
                <a:gd name="T10" fmla="*/ 5047 w 5047"/>
                <a:gd name="T11" fmla="*/ 2336 h 2452"/>
                <a:gd name="T12" fmla="*/ 5047 w 5047"/>
                <a:gd name="T13" fmla="*/ 2336 h 2452"/>
                <a:gd name="T14" fmla="*/ 5047 w 5047"/>
                <a:gd name="T15" fmla="*/ 2336 h 2452"/>
                <a:gd name="T16" fmla="*/ 5047 w 5047"/>
                <a:gd name="T17" fmla="*/ 2336 h 2452"/>
                <a:gd name="T18" fmla="*/ 5047 w 5047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7" h="2452">
                  <a:moveTo>
                    <a:pt x="5047" y="2336"/>
                  </a:moveTo>
                  <a:lnTo>
                    <a:pt x="5047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3" name="Freeform 2067">
              <a:extLst>
                <a:ext uri="{FF2B5EF4-FFF2-40B4-BE49-F238E27FC236}">
                  <a16:creationId xmlns:a16="http://schemas.microsoft.com/office/drawing/2014/main" id="{8AB664F0-5EDD-45CB-AF96-D11C3A5AD1EF}"/>
                </a:ext>
              </a:extLst>
            </p:cNvPr>
            <p:cNvSpPr>
              <a:spLocks/>
            </p:cNvSpPr>
            <p:nvPr/>
          </p:nvSpPr>
          <p:spPr bwMode="gray">
            <a:xfrm>
              <a:off x="8527149" y="5399009"/>
              <a:ext cx="103805" cy="92938"/>
            </a:xfrm>
            <a:custGeom>
              <a:avLst/>
              <a:gdLst>
                <a:gd name="T0" fmla="*/ 0 w 3028"/>
                <a:gd name="T1" fmla="*/ 1356 h 2711"/>
                <a:gd name="T2" fmla="*/ 0 w 3028"/>
                <a:gd name="T3" fmla="*/ 2711 h 2711"/>
                <a:gd name="T4" fmla="*/ 3028 w 3028"/>
                <a:gd name="T5" fmla="*/ 2711 h 2711"/>
                <a:gd name="T6" fmla="*/ 3028 w 3028"/>
                <a:gd name="T7" fmla="*/ 0 h 2711"/>
                <a:gd name="T8" fmla="*/ 0 w 3028"/>
                <a:gd name="T9" fmla="*/ 1356 h 2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8" h="2711">
                  <a:moveTo>
                    <a:pt x="0" y="1356"/>
                  </a:moveTo>
                  <a:lnTo>
                    <a:pt x="0" y="2711"/>
                  </a:lnTo>
                  <a:lnTo>
                    <a:pt x="3028" y="2711"/>
                  </a:lnTo>
                  <a:lnTo>
                    <a:pt x="3028" y="0"/>
                  </a:lnTo>
                  <a:lnTo>
                    <a:pt x="0" y="135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4" name="Freeform 2068">
              <a:extLst>
                <a:ext uri="{FF2B5EF4-FFF2-40B4-BE49-F238E27FC236}">
                  <a16:creationId xmlns:a16="http://schemas.microsoft.com/office/drawing/2014/main" id="{50852EB7-22CF-45A6-8B3B-7AAAC7D4608B}"/>
                </a:ext>
              </a:extLst>
            </p:cNvPr>
            <p:cNvSpPr>
              <a:spLocks/>
            </p:cNvSpPr>
            <p:nvPr/>
          </p:nvSpPr>
          <p:spPr bwMode="gray">
            <a:xfrm>
              <a:off x="8498457" y="5431646"/>
              <a:ext cx="128557" cy="60301"/>
            </a:xfrm>
            <a:custGeom>
              <a:avLst/>
              <a:gdLst>
                <a:gd name="T0" fmla="*/ 3750 w 3750"/>
                <a:gd name="T1" fmla="*/ 1759 h 1759"/>
                <a:gd name="T2" fmla="*/ 0 w 3750"/>
                <a:gd name="T3" fmla="*/ 1759 h 1759"/>
                <a:gd name="T4" fmla="*/ 0 w 3750"/>
                <a:gd name="T5" fmla="*/ 1644 h 1759"/>
                <a:gd name="T6" fmla="*/ 635 w 3750"/>
                <a:gd name="T7" fmla="*/ 0 h 1759"/>
                <a:gd name="T8" fmla="*/ 2913 w 3750"/>
                <a:gd name="T9" fmla="*/ 0 h 1759"/>
                <a:gd name="T10" fmla="*/ 3750 w 3750"/>
                <a:gd name="T11" fmla="*/ 1759 h 1759"/>
                <a:gd name="T12" fmla="*/ 3750 w 3750"/>
                <a:gd name="T13" fmla="*/ 1759 h 1759"/>
                <a:gd name="T14" fmla="*/ 3750 w 3750"/>
                <a:gd name="T15" fmla="*/ 1759 h 1759"/>
                <a:gd name="T16" fmla="*/ 3750 w 3750"/>
                <a:gd name="T17" fmla="*/ 1759 h 1759"/>
                <a:gd name="T18" fmla="*/ 3750 w 3750"/>
                <a:gd name="T19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50" h="1759">
                  <a:moveTo>
                    <a:pt x="3750" y="1759"/>
                  </a:moveTo>
                  <a:lnTo>
                    <a:pt x="0" y="1759"/>
                  </a:lnTo>
                  <a:lnTo>
                    <a:pt x="0" y="1644"/>
                  </a:lnTo>
                  <a:lnTo>
                    <a:pt x="635" y="0"/>
                  </a:lnTo>
                  <a:lnTo>
                    <a:pt x="2913" y="0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5" name="Freeform 2069">
              <a:extLst>
                <a:ext uri="{FF2B5EF4-FFF2-40B4-BE49-F238E27FC236}">
                  <a16:creationId xmlns:a16="http://schemas.microsoft.com/office/drawing/2014/main" id="{C8E7BC21-9165-4B5E-95B3-EBA0381DC4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1031" y="4588072"/>
              <a:ext cx="282825" cy="390642"/>
            </a:xfrm>
            <a:custGeom>
              <a:avLst/>
              <a:gdLst>
                <a:gd name="T0" fmla="*/ 273 w 286"/>
                <a:gd name="T1" fmla="*/ 119 h 395"/>
                <a:gd name="T2" fmla="*/ 266 w 286"/>
                <a:gd name="T3" fmla="*/ 121 h 395"/>
                <a:gd name="T4" fmla="*/ 266 w 286"/>
                <a:gd name="T5" fmla="*/ 86 h 395"/>
                <a:gd name="T6" fmla="*/ 183 w 286"/>
                <a:gd name="T7" fmla="*/ 0 h 395"/>
                <a:gd name="T8" fmla="*/ 142 w 286"/>
                <a:gd name="T9" fmla="*/ 0 h 395"/>
                <a:gd name="T10" fmla="*/ 102 w 286"/>
                <a:gd name="T11" fmla="*/ 0 h 395"/>
                <a:gd name="T12" fmla="*/ 19 w 286"/>
                <a:gd name="T13" fmla="*/ 86 h 395"/>
                <a:gd name="T14" fmla="*/ 19 w 286"/>
                <a:gd name="T15" fmla="*/ 121 h 395"/>
                <a:gd name="T16" fmla="*/ 14 w 286"/>
                <a:gd name="T17" fmla="*/ 119 h 395"/>
                <a:gd name="T18" fmla="*/ 0 w 286"/>
                <a:gd name="T19" fmla="*/ 133 h 395"/>
                <a:gd name="T20" fmla="*/ 0 w 286"/>
                <a:gd name="T21" fmla="*/ 186 h 395"/>
                <a:gd name="T22" fmla="*/ 14 w 286"/>
                <a:gd name="T23" fmla="*/ 200 h 395"/>
                <a:gd name="T24" fmla="*/ 19 w 286"/>
                <a:gd name="T25" fmla="*/ 198 h 395"/>
                <a:gd name="T26" fmla="*/ 63 w 286"/>
                <a:gd name="T27" fmla="*/ 275 h 395"/>
                <a:gd name="T28" fmla="*/ 63 w 286"/>
                <a:gd name="T29" fmla="*/ 338 h 395"/>
                <a:gd name="T30" fmla="*/ 145 w 286"/>
                <a:gd name="T31" fmla="*/ 394 h 395"/>
                <a:gd name="T32" fmla="*/ 227 w 286"/>
                <a:gd name="T33" fmla="*/ 338 h 395"/>
                <a:gd name="T34" fmla="*/ 227 w 286"/>
                <a:gd name="T35" fmla="*/ 270 h 395"/>
                <a:gd name="T36" fmla="*/ 266 w 286"/>
                <a:gd name="T37" fmla="*/ 198 h 395"/>
                <a:gd name="T38" fmla="*/ 273 w 286"/>
                <a:gd name="T39" fmla="*/ 200 h 395"/>
                <a:gd name="T40" fmla="*/ 286 w 286"/>
                <a:gd name="T41" fmla="*/ 186 h 395"/>
                <a:gd name="T42" fmla="*/ 286 w 286"/>
                <a:gd name="T43" fmla="*/ 133 h 395"/>
                <a:gd name="T44" fmla="*/ 273 w 286"/>
                <a:gd name="T45" fmla="*/ 11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" h="395">
                  <a:moveTo>
                    <a:pt x="273" y="119"/>
                  </a:moveTo>
                  <a:cubicBezTo>
                    <a:pt x="270" y="119"/>
                    <a:pt x="268" y="121"/>
                    <a:pt x="266" y="121"/>
                  </a:cubicBezTo>
                  <a:cubicBezTo>
                    <a:pt x="266" y="86"/>
                    <a:pt x="266" y="86"/>
                    <a:pt x="266" y="86"/>
                  </a:cubicBezTo>
                  <a:cubicBezTo>
                    <a:pt x="262" y="37"/>
                    <a:pt x="226" y="0"/>
                    <a:pt x="183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59" y="0"/>
                    <a:pt x="24" y="37"/>
                    <a:pt x="19" y="86"/>
                  </a:cubicBezTo>
                  <a:cubicBezTo>
                    <a:pt x="19" y="121"/>
                    <a:pt x="19" y="121"/>
                    <a:pt x="19" y="121"/>
                  </a:cubicBezTo>
                  <a:cubicBezTo>
                    <a:pt x="17" y="121"/>
                    <a:pt x="16" y="119"/>
                    <a:pt x="14" y="119"/>
                  </a:cubicBezTo>
                  <a:cubicBezTo>
                    <a:pt x="6" y="119"/>
                    <a:pt x="0" y="125"/>
                    <a:pt x="0" y="133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94"/>
                    <a:pt x="6" y="200"/>
                    <a:pt x="14" y="200"/>
                  </a:cubicBezTo>
                  <a:cubicBezTo>
                    <a:pt x="16" y="200"/>
                    <a:pt x="17" y="200"/>
                    <a:pt x="19" y="198"/>
                  </a:cubicBezTo>
                  <a:cubicBezTo>
                    <a:pt x="22" y="222"/>
                    <a:pt x="40" y="251"/>
                    <a:pt x="63" y="275"/>
                  </a:cubicBezTo>
                  <a:cubicBezTo>
                    <a:pt x="63" y="284"/>
                    <a:pt x="63" y="285"/>
                    <a:pt x="63" y="338"/>
                  </a:cubicBezTo>
                  <a:cubicBezTo>
                    <a:pt x="79" y="368"/>
                    <a:pt x="110" y="394"/>
                    <a:pt x="145" y="394"/>
                  </a:cubicBezTo>
                  <a:cubicBezTo>
                    <a:pt x="179" y="395"/>
                    <a:pt x="211" y="368"/>
                    <a:pt x="227" y="338"/>
                  </a:cubicBezTo>
                  <a:cubicBezTo>
                    <a:pt x="227" y="270"/>
                    <a:pt x="227" y="270"/>
                    <a:pt x="227" y="270"/>
                  </a:cubicBezTo>
                  <a:cubicBezTo>
                    <a:pt x="247" y="247"/>
                    <a:pt x="263" y="220"/>
                    <a:pt x="266" y="198"/>
                  </a:cubicBezTo>
                  <a:cubicBezTo>
                    <a:pt x="268" y="200"/>
                    <a:pt x="270" y="200"/>
                    <a:pt x="273" y="200"/>
                  </a:cubicBezTo>
                  <a:cubicBezTo>
                    <a:pt x="279" y="200"/>
                    <a:pt x="286" y="194"/>
                    <a:pt x="286" y="186"/>
                  </a:cubicBezTo>
                  <a:cubicBezTo>
                    <a:pt x="286" y="133"/>
                    <a:pt x="286" y="133"/>
                    <a:pt x="286" y="133"/>
                  </a:cubicBezTo>
                  <a:cubicBezTo>
                    <a:pt x="286" y="125"/>
                    <a:pt x="279" y="119"/>
                    <a:pt x="273" y="119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6" name="Freeform 2070">
              <a:extLst>
                <a:ext uri="{FF2B5EF4-FFF2-40B4-BE49-F238E27FC236}">
                  <a16:creationId xmlns:a16="http://schemas.microsoft.com/office/drawing/2014/main" id="{CACBFA0A-7413-41D6-9508-585EE6259645}"/>
                </a:ext>
              </a:extLst>
            </p:cNvPr>
            <p:cNvSpPr>
              <a:spLocks/>
            </p:cNvSpPr>
            <p:nvPr/>
          </p:nvSpPr>
          <p:spPr bwMode="gray">
            <a:xfrm>
              <a:off x="8344222" y="4552487"/>
              <a:ext cx="198732" cy="199760"/>
            </a:xfrm>
            <a:custGeom>
              <a:avLst/>
              <a:gdLst>
                <a:gd name="T0" fmla="*/ 199 w 201"/>
                <a:gd name="T1" fmla="*/ 132 h 202"/>
                <a:gd name="T2" fmla="*/ 169 w 201"/>
                <a:gd name="T3" fmla="*/ 64 h 202"/>
                <a:gd name="T4" fmla="*/ 108 w 201"/>
                <a:gd name="T5" fmla="*/ 11 h 202"/>
                <a:gd name="T6" fmla="*/ 69 w 201"/>
                <a:gd name="T7" fmla="*/ 2 h 202"/>
                <a:gd name="T8" fmla="*/ 69 w 201"/>
                <a:gd name="T9" fmla="*/ 2 h 202"/>
                <a:gd name="T10" fmla="*/ 56 w 201"/>
                <a:gd name="T11" fmla="*/ 0 h 202"/>
                <a:gd name="T12" fmla="*/ 16 w 201"/>
                <a:gd name="T13" fmla="*/ 6 h 202"/>
                <a:gd name="T14" fmla="*/ 24 w 201"/>
                <a:gd name="T15" fmla="*/ 65 h 202"/>
                <a:gd name="T16" fmla="*/ 67 w 201"/>
                <a:gd name="T17" fmla="*/ 94 h 202"/>
                <a:gd name="T18" fmla="*/ 67 w 201"/>
                <a:gd name="T19" fmla="*/ 94 h 202"/>
                <a:gd name="T20" fmla="*/ 91 w 201"/>
                <a:gd name="T21" fmla="*/ 105 h 202"/>
                <a:gd name="T22" fmla="*/ 159 w 201"/>
                <a:gd name="T23" fmla="*/ 143 h 202"/>
                <a:gd name="T24" fmla="*/ 174 w 201"/>
                <a:gd name="T25" fmla="*/ 202 h 202"/>
                <a:gd name="T26" fmla="*/ 199 w 201"/>
                <a:gd name="T27" fmla="*/ 13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1" h="202">
                  <a:moveTo>
                    <a:pt x="199" y="132"/>
                  </a:moveTo>
                  <a:cubicBezTo>
                    <a:pt x="198" y="108"/>
                    <a:pt x="186" y="86"/>
                    <a:pt x="169" y="64"/>
                  </a:cubicBezTo>
                  <a:cubicBezTo>
                    <a:pt x="153" y="45"/>
                    <a:pt x="137" y="24"/>
                    <a:pt x="108" y="11"/>
                  </a:cubicBezTo>
                  <a:cubicBezTo>
                    <a:pt x="96" y="6"/>
                    <a:pt x="83" y="3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4" y="2"/>
                    <a:pt x="61" y="0"/>
                    <a:pt x="56" y="0"/>
                  </a:cubicBezTo>
                  <a:cubicBezTo>
                    <a:pt x="45" y="0"/>
                    <a:pt x="22" y="0"/>
                    <a:pt x="16" y="6"/>
                  </a:cubicBezTo>
                  <a:cubicBezTo>
                    <a:pt x="0" y="22"/>
                    <a:pt x="7" y="48"/>
                    <a:pt x="24" y="65"/>
                  </a:cubicBezTo>
                  <a:cubicBezTo>
                    <a:pt x="35" y="78"/>
                    <a:pt x="51" y="86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75" y="99"/>
                    <a:pt x="83" y="102"/>
                    <a:pt x="91" y="105"/>
                  </a:cubicBezTo>
                  <a:cubicBezTo>
                    <a:pt x="116" y="116"/>
                    <a:pt x="142" y="127"/>
                    <a:pt x="159" y="143"/>
                  </a:cubicBezTo>
                  <a:cubicBezTo>
                    <a:pt x="177" y="159"/>
                    <a:pt x="190" y="184"/>
                    <a:pt x="174" y="202"/>
                  </a:cubicBezTo>
                  <a:cubicBezTo>
                    <a:pt x="191" y="181"/>
                    <a:pt x="201" y="157"/>
                    <a:pt x="199" y="132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7" name="Rectangle 2071">
              <a:extLst>
                <a:ext uri="{FF2B5EF4-FFF2-40B4-BE49-F238E27FC236}">
                  <a16:creationId xmlns:a16="http://schemas.microsoft.com/office/drawing/2014/main" id="{4186FCCF-C70E-4495-BB03-F9D4C6E658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82000" y="5491946"/>
              <a:ext cx="4883649" cy="86047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8" name="Freeform 2072">
              <a:extLst>
                <a:ext uri="{FF2B5EF4-FFF2-40B4-BE49-F238E27FC236}">
                  <a16:creationId xmlns:a16="http://schemas.microsoft.com/office/drawing/2014/main" id="{546AF57F-17F3-4721-92DD-917E009BE7A9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60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60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9" name="Freeform 2073">
              <a:extLst>
                <a:ext uri="{FF2B5EF4-FFF2-40B4-BE49-F238E27FC236}">
                  <a16:creationId xmlns:a16="http://schemas.microsoft.com/office/drawing/2014/main" id="{FCD9F3CC-8EB0-41C8-BC94-170170D9BC1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6356294"/>
              <a:ext cx="168118" cy="60336"/>
            </a:xfrm>
            <a:custGeom>
              <a:avLst/>
              <a:gdLst>
                <a:gd name="T0" fmla="*/ 85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5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5 w 170"/>
                <a:gd name="T13" fmla="*/ 0 h 61"/>
                <a:gd name="T14" fmla="*/ 85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0" name="Freeform 2074">
              <a:extLst>
                <a:ext uri="{FF2B5EF4-FFF2-40B4-BE49-F238E27FC236}">
                  <a16:creationId xmlns:a16="http://schemas.microsoft.com/office/drawing/2014/main" id="{97043CB6-22C0-49F5-A9BC-CA73BEDC8FEE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5864796"/>
              <a:ext cx="170073" cy="491500"/>
            </a:xfrm>
            <a:custGeom>
              <a:avLst/>
              <a:gdLst>
                <a:gd name="T0" fmla="*/ 4961 w 4961"/>
                <a:gd name="T1" fmla="*/ 0 h 14337"/>
                <a:gd name="T2" fmla="*/ 4586 w 4961"/>
                <a:gd name="T3" fmla="*/ 14337 h 14337"/>
                <a:gd name="T4" fmla="*/ 173 w 4961"/>
                <a:gd name="T5" fmla="*/ 14337 h 14337"/>
                <a:gd name="T6" fmla="*/ 0 w 4961"/>
                <a:gd name="T7" fmla="*/ 0 h 14337"/>
                <a:gd name="T8" fmla="*/ 4961 w 4961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1" h="14337">
                  <a:moveTo>
                    <a:pt x="4961" y="0"/>
                  </a:moveTo>
                  <a:lnTo>
                    <a:pt x="4586" y="14337"/>
                  </a:lnTo>
                  <a:lnTo>
                    <a:pt x="173" y="14337"/>
                  </a:lnTo>
                  <a:lnTo>
                    <a:pt x="0" y="0"/>
                  </a:lnTo>
                  <a:lnTo>
                    <a:pt x="4961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1" name="Freeform 2075">
              <a:extLst>
                <a:ext uri="{FF2B5EF4-FFF2-40B4-BE49-F238E27FC236}">
                  <a16:creationId xmlns:a16="http://schemas.microsoft.com/office/drawing/2014/main" id="{A2433154-962A-4D3A-9B71-A70960E2D155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5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2" name="Freeform 2076">
              <a:extLst>
                <a:ext uri="{FF2B5EF4-FFF2-40B4-BE49-F238E27FC236}">
                  <a16:creationId xmlns:a16="http://schemas.microsoft.com/office/drawing/2014/main" id="{6751BB8A-1DF3-479C-A674-98ACF2E03D8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763940"/>
              <a:ext cx="581420" cy="60301"/>
            </a:xfrm>
            <a:custGeom>
              <a:avLst/>
              <a:gdLst>
                <a:gd name="T0" fmla="*/ 528 w 588"/>
                <a:gd name="T1" fmla="*/ 0 h 61"/>
                <a:gd name="T2" fmla="*/ 61 w 588"/>
                <a:gd name="T3" fmla="*/ 0 h 61"/>
                <a:gd name="T4" fmla="*/ 0 w 588"/>
                <a:gd name="T5" fmla="*/ 61 h 61"/>
                <a:gd name="T6" fmla="*/ 588 w 588"/>
                <a:gd name="T7" fmla="*/ 61 h 61"/>
                <a:gd name="T8" fmla="*/ 528 w 588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8" y="61"/>
                    <a:pt x="588" y="61"/>
                    <a:pt x="588" y="61"/>
                  </a:cubicBezTo>
                  <a:cubicBezTo>
                    <a:pt x="588" y="27"/>
                    <a:pt x="561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3" name="Freeform 2077">
              <a:extLst>
                <a:ext uri="{FF2B5EF4-FFF2-40B4-BE49-F238E27FC236}">
                  <a16:creationId xmlns:a16="http://schemas.microsoft.com/office/drawing/2014/main" id="{5BFEFBCF-C690-44AF-94DB-DA03B86B6BEB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2771" y="5616561"/>
              <a:ext cx="432088" cy="170106"/>
            </a:xfrm>
            <a:custGeom>
              <a:avLst/>
              <a:gdLst>
                <a:gd name="T0" fmla="*/ 6 w 437"/>
                <a:gd name="T1" fmla="*/ 105 h 172"/>
                <a:gd name="T2" fmla="*/ 71 w 437"/>
                <a:gd name="T3" fmla="*/ 172 h 172"/>
                <a:gd name="T4" fmla="*/ 364 w 437"/>
                <a:gd name="T5" fmla="*/ 172 h 172"/>
                <a:gd name="T6" fmla="*/ 432 w 437"/>
                <a:gd name="T7" fmla="*/ 105 h 172"/>
                <a:gd name="T8" fmla="*/ 437 w 437"/>
                <a:gd name="T9" fmla="*/ 0 h 172"/>
                <a:gd name="T10" fmla="*/ 0 w 437"/>
                <a:gd name="T11" fmla="*/ 0 h 172"/>
                <a:gd name="T12" fmla="*/ 6 w 437"/>
                <a:gd name="T13" fmla="*/ 105 h 172"/>
                <a:gd name="T14" fmla="*/ 6 w 437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7" h="172">
                  <a:moveTo>
                    <a:pt x="6" y="105"/>
                  </a:moveTo>
                  <a:cubicBezTo>
                    <a:pt x="6" y="105"/>
                    <a:pt x="18" y="172"/>
                    <a:pt x="71" y="172"/>
                  </a:cubicBezTo>
                  <a:cubicBezTo>
                    <a:pt x="304" y="172"/>
                    <a:pt x="364" y="172"/>
                    <a:pt x="364" y="172"/>
                  </a:cubicBezTo>
                  <a:cubicBezTo>
                    <a:pt x="417" y="172"/>
                    <a:pt x="432" y="105"/>
                    <a:pt x="432" y="105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4" name="Freeform 2078">
              <a:extLst>
                <a:ext uri="{FF2B5EF4-FFF2-40B4-BE49-F238E27FC236}">
                  <a16:creationId xmlns:a16="http://schemas.microsoft.com/office/drawing/2014/main" id="{D53126BA-C98F-4B8F-A6A1-635DE101739D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824240"/>
              <a:ext cx="581420" cy="40556"/>
            </a:xfrm>
            <a:custGeom>
              <a:avLst/>
              <a:gdLst>
                <a:gd name="T0" fmla="*/ 0 w 16960"/>
                <a:gd name="T1" fmla="*/ 0 h 1183"/>
                <a:gd name="T2" fmla="*/ 16960 w 16960"/>
                <a:gd name="T3" fmla="*/ 0 h 1183"/>
                <a:gd name="T4" fmla="*/ 16960 w 16960"/>
                <a:gd name="T5" fmla="*/ 1183 h 1183"/>
                <a:gd name="T6" fmla="*/ 0 w 16960"/>
                <a:gd name="T7" fmla="*/ 1183 h 1183"/>
                <a:gd name="T8" fmla="*/ 0 w 16960"/>
                <a:gd name="T9" fmla="*/ 0 h 1183"/>
                <a:gd name="T10" fmla="*/ 0 w 16960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60" h="1183">
                  <a:moveTo>
                    <a:pt x="0" y="0"/>
                  </a:moveTo>
                  <a:lnTo>
                    <a:pt x="16960" y="0"/>
                  </a:lnTo>
                  <a:lnTo>
                    <a:pt x="16960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5" name="Freeform 2079">
              <a:extLst>
                <a:ext uri="{FF2B5EF4-FFF2-40B4-BE49-F238E27FC236}">
                  <a16:creationId xmlns:a16="http://schemas.microsoft.com/office/drawing/2014/main" id="{7D013510-FD4D-4CA6-8D2F-CBF4323E1E11}"/>
                </a:ext>
              </a:extLst>
            </p:cNvPr>
            <p:cNvSpPr>
              <a:spLocks/>
            </p:cNvSpPr>
            <p:nvPr/>
          </p:nvSpPr>
          <p:spPr bwMode="gray">
            <a:xfrm>
              <a:off x="4966504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6" name="Freeform 2080">
              <a:extLst>
                <a:ext uri="{FF2B5EF4-FFF2-40B4-BE49-F238E27FC236}">
                  <a16:creationId xmlns:a16="http://schemas.microsoft.com/office/drawing/2014/main" id="{6F2B200D-38E9-48C6-AD3A-D24D81A7E7BF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9223" y="4508950"/>
              <a:ext cx="345115" cy="464793"/>
            </a:xfrm>
            <a:custGeom>
              <a:avLst/>
              <a:gdLst>
                <a:gd name="T0" fmla="*/ 346 w 349"/>
                <a:gd name="T1" fmla="*/ 244 h 470"/>
                <a:gd name="T2" fmla="*/ 322 w 349"/>
                <a:gd name="T3" fmla="*/ 307 h 470"/>
                <a:gd name="T4" fmla="*/ 308 w 349"/>
                <a:gd name="T5" fmla="*/ 316 h 470"/>
                <a:gd name="T6" fmla="*/ 295 w 349"/>
                <a:gd name="T7" fmla="*/ 316 h 470"/>
                <a:gd name="T8" fmla="*/ 282 w 349"/>
                <a:gd name="T9" fmla="*/ 371 h 470"/>
                <a:gd name="T10" fmla="*/ 267 w 349"/>
                <a:gd name="T11" fmla="*/ 380 h 470"/>
                <a:gd name="T12" fmla="*/ 270 w 349"/>
                <a:gd name="T13" fmla="*/ 454 h 470"/>
                <a:gd name="T14" fmla="*/ 205 w 349"/>
                <a:gd name="T15" fmla="*/ 470 h 470"/>
                <a:gd name="T16" fmla="*/ 142 w 349"/>
                <a:gd name="T17" fmla="*/ 470 h 470"/>
                <a:gd name="T18" fmla="*/ 80 w 349"/>
                <a:gd name="T19" fmla="*/ 451 h 470"/>
                <a:gd name="T20" fmla="*/ 82 w 349"/>
                <a:gd name="T21" fmla="*/ 380 h 470"/>
                <a:gd name="T22" fmla="*/ 66 w 349"/>
                <a:gd name="T23" fmla="*/ 371 h 470"/>
                <a:gd name="T24" fmla="*/ 53 w 349"/>
                <a:gd name="T25" fmla="*/ 316 h 470"/>
                <a:gd name="T26" fmla="*/ 41 w 349"/>
                <a:gd name="T27" fmla="*/ 316 h 470"/>
                <a:gd name="T28" fmla="*/ 26 w 349"/>
                <a:gd name="T29" fmla="*/ 307 h 470"/>
                <a:gd name="T30" fmla="*/ 2 w 349"/>
                <a:gd name="T31" fmla="*/ 244 h 470"/>
                <a:gd name="T32" fmla="*/ 11 w 349"/>
                <a:gd name="T33" fmla="*/ 225 h 470"/>
                <a:gd name="T34" fmla="*/ 35 w 349"/>
                <a:gd name="T35" fmla="*/ 235 h 470"/>
                <a:gd name="T36" fmla="*/ 33 w 349"/>
                <a:gd name="T37" fmla="*/ 148 h 470"/>
                <a:gd name="T38" fmla="*/ 45 w 349"/>
                <a:gd name="T39" fmla="*/ 47 h 470"/>
                <a:gd name="T40" fmla="*/ 136 w 349"/>
                <a:gd name="T41" fmla="*/ 0 h 470"/>
                <a:gd name="T42" fmla="*/ 215 w 349"/>
                <a:gd name="T43" fmla="*/ 0 h 470"/>
                <a:gd name="T44" fmla="*/ 303 w 349"/>
                <a:gd name="T45" fmla="*/ 46 h 470"/>
                <a:gd name="T46" fmla="*/ 316 w 349"/>
                <a:gd name="T47" fmla="*/ 151 h 470"/>
                <a:gd name="T48" fmla="*/ 314 w 349"/>
                <a:gd name="T49" fmla="*/ 235 h 470"/>
                <a:gd name="T50" fmla="*/ 338 w 349"/>
                <a:gd name="T51" fmla="*/ 225 h 470"/>
                <a:gd name="T52" fmla="*/ 346 w 349"/>
                <a:gd name="T53" fmla="*/ 244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9" h="470">
                  <a:moveTo>
                    <a:pt x="346" y="244"/>
                  </a:moveTo>
                  <a:cubicBezTo>
                    <a:pt x="322" y="307"/>
                    <a:pt x="322" y="307"/>
                    <a:pt x="322" y="307"/>
                  </a:cubicBezTo>
                  <a:cubicBezTo>
                    <a:pt x="319" y="314"/>
                    <a:pt x="314" y="316"/>
                    <a:pt x="308" y="316"/>
                  </a:cubicBezTo>
                  <a:cubicBezTo>
                    <a:pt x="295" y="316"/>
                    <a:pt x="295" y="316"/>
                    <a:pt x="295" y="316"/>
                  </a:cubicBezTo>
                  <a:cubicBezTo>
                    <a:pt x="282" y="371"/>
                    <a:pt x="282" y="371"/>
                    <a:pt x="282" y="371"/>
                  </a:cubicBezTo>
                  <a:cubicBezTo>
                    <a:pt x="267" y="380"/>
                    <a:pt x="267" y="380"/>
                    <a:pt x="267" y="380"/>
                  </a:cubicBezTo>
                  <a:cubicBezTo>
                    <a:pt x="267" y="413"/>
                    <a:pt x="270" y="454"/>
                    <a:pt x="270" y="454"/>
                  </a:cubicBezTo>
                  <a:cubicBezTo>
                    <a:pt x="205" y="470"/>
                    <a:pt x="205" y="470"/>
                    <a:pt x="205" y="470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80" y="451"/>
                    <a:pt x="80" y="451"/>
                    <a:pt x="80" y="451"/>
                  </a:cubicBezTo>
                  <a:cubicBezTo>
                    <a:pt x="82" y="380"/>
                    <a:pt x="82" y="380"/>
                    <a:pt x="82" y="380"/>
                  </a:cubicBezTo>
                  <a:cubicBezTo>
                    <a:pt x="66" y="371"/>
                    <a:pt x="66" y="371"/>
                    <a:pt x="66" y="371"/>
                  </a:cubicBezTo>
                  <a:cubicBezTo>
                    <a:pt x="53" y="316"/>
                    <a:pt x="53" y="316"/>
                    <a:pt x="53" y="316"/>
                  </a:cubicBezTo>
                  <a:cubicBezTo>
                    <a:pt x="41" y="316"/>
                    <a:pt x="41" y="316"/>
                    <a:pt x="41" y="316"/>
                  </a:cubicBezTo>
                  <a:cubicBezTo>
                    <a:pt x="35" y="316"/>
                    <a:pt x="29" y="314"/>
                    <a:pt x="26" y="307"/>
                  </a:cubicBezTo>
                  <a:cubicBezTo>
                    <a:pt x="2" y="244"/>
                    <a:pt x="2" y="244"/>
                    <a:pt x="2" y="244"/>
                  </a:cubicBezTo>
                  <a:cubicBezTo>
                    <a:pt x="0" y="237"/>
                    <a:pt x="4" y="229"/>
                    <a:pt x="11" y="225"/>
                  </a:cubicBezTo>
                  <a:cubicBezTo>
                    <a:pt x="26" y="216"/>
                    <a:pt x="35" y="235"/>
                    <a:pt x="35" y="235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303" y="46"/>
                    <a:pt x="303" y="46"/>
                    <a:pt x="303" y="46"/>
                  </a:cubicBezTo>
                  <a:cubicBezTo>
                    <a:pt x="316" y="151"/>
                    <a:pt x="316" y="151"/>
                    <a:pt x="316" y="151"/>
                  </a:cubicBezTo>
                  <a:cubicBezTo>
                    <a:pt x="314" y="235"/>
                    <a:pt x="314" y="235"/>
                    <a:pt x="314" y="235"/>
                  </a:cubicBezTo>
                  <a:cubicBezTo>
                    <a:pt x="315" y="226"/>
                    <a:pt x="329" y="221"/>
                    <a:pt x="338" y="225"/>
                  </a:cubicBezTo>
                  <a:cubicBezTo>
                    <a:pt x="346" y="228"/>
                    <a:pt x="349" y="237"/>
                    <a:pt x="346" y="244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7" name="Freeform 2081">
              <a:extLst>
                <a:ext uri="{FF2B5EF4-FFF2-40B4-BE49-F238E27FC236}">
                  <a16:creationId xmlns:a16="http://schemas.microsoft.com/office/drawing/2014/main" id="{F5D54EB4-17DD-475C-BD1C-47226BC16488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3995" y="5305042"/>
              <a:ext cx="104800" cy="182962"/>
            </a:xfrm>
            <a:custGeom>
              <a:avLst/>
              <a:gdLst>
                <a:gd name="T0" fmla="*/ 173 w 3057"/>
                <a:gd name="T1" fmla="*/ 4154 h 5337"/>
                <a:gd name="T2" fmla="*/ 0 w 3057"/>
                <a:gd name="T3" fmla="*/ 0 h 5337"/>
                <a:gd name="T4" fmla="*/ 3057 w 3057"/>
                <a:gd name="T5" fmla="*/ 0 h 5337"/>
                <a:gd name="T6" fmla="*/ 3057 w 3057"/>
                <a:gd name="T7" fmla="*/ 5337 h 5337"/>
                <a:gd name="T8" fmla="*/ 894 w 3057"/>
                <a:gd name="T9" fmla="*/ 5337 h 5337"/>
                <a:gd name="T10" fmla="*/ 173 w 3057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7" h="5337">
                  <a:moveTo>
                    <a:pt x="173" y="4154"/>
                  </a:moveTo>
                  <a:lnTo>
                    <a:pt x="0" y="0"/>
                  </a:lnTo>
                  <a:lnTo>
                    <a:pt x="3057" y="0"/>
                  </a:lnTo>
                  <a:lnTo>
                    <a:pt x="3057" y="5337"/>
                  </a:lnTo>
                  <a:lnTo>
                    <a:pt x="894" y="5337"/>
                  </a:lnTo>
                  <a:lnTo>
                    <a:pt x="173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8" name="Freeform 2082">
              <a:extLst>
                <a:ext uri="{FF2B5EF4-FFF2-40B4-BE49-F238E27FC236}">
                  <a16:creationId xmlns:a16="http://schemas.microsoft.com/office/drawing/2014/main" id="{0F39B51E-8F96-4FF3-BBB9-626D33A0B188}"/>
                </a:ext>
              </a:extLst>
            </p:cNvPr>
            <p:cNvSpPr>
              <a:spLocks/>
            </p:cNvSpPr>
            <p:nvPr/>
          </p:nvSpPr>
          <p:spPr bwMode="gray">
            <a:xfrm>
              <a:off x="5463865" y="5305042"/>
              <a:ext cx="108776" cy="182962"/>
            </a:xfrm>
            <a:custGeom>
              <a:avLst/>
              <a:gdLst>
                <a:gd name="T0" fmla="*/ 3000 w 3173"/>
                <a:gd name="T1" fmla="*/ 4154 h 5337"/>
                <a:gd name="T2" fmla="*/ 3173 w 3173"/>
                <a:gd name="T3" fmla="*/ 0 h 5337"/>
                <a:gd name="T4" fmla="*/ 0 w 3173"/>
                <a:gd name="T5" fmla="*/ 0 h 5337"/>
                <a:gd name="T6" fmla="*/ 0 w 3173"/>
                <a:gd name="T7" fmla="*/ 5337 h 5337"/>
                <a:gd name="T8" fmla="*/ 1991 w 3173"/>
                <a:gd name="T9" fmla="*/ 5337 h 5337"/>
                <a:gd name="T10" fmla="*/ 3000 w 3173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3" h="5337">
                  <a:moveTo>
                    <a:pt x="3000" y="4154"/>
                  </a:moveTo>
                  <a:lnTo>
                    <a:pt x="3173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1991" y="5337"/>
                  </a:lnTo>
                  <a:lnTo>
                    <a:pt x="3000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9" name="Freeform 2083">
              <a:extLst>
                <a:ext uri="{FF2B5EF4-FFF2-40B4-BE49-F238E27FC236}">
                  <a16:creationId xmlns:a16="http://schemas.microsoft.com/office/drawing/2014/main" id="{D1A8F5D3-B4FE-4CAF-B01F-7EFA8569F2E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0053" y="4940146"/>
              <a:ext cx="657525" cy="732808"/>
            </a:xfrm>
            <a:custGeom>
              <a:avLst/>
              <a:gdLst>
                <a:gd name="T0" fmla="*/ 15863 w 19180"/>
                <a:gd name="T1" fmla="*/ 11019 h 21376"/>
                <a:gd name="T2" fmla="*/ 15950 w 19180"/>
                <a:gd name="T3" fmla="*/ 21376 h 21376"/>
                <a:gd name="T4" fmla="*/ 3086 w 19180"/>
                <a:gd name="T5" fmla="*/ 21376 h 21376"/>
                <a:gd name="T6" fmla="*/ 3144 w 19180"/>
                <a:gd name="T7" fmla="*/ 11019 h 21376"/>
                <a:gd name="T8" fmla="*/ 0 w 19180"/>
                <a:gd name="T9" fmla="*/ 11019 h 21376"/>
                <a:gd name="T10" fmla="*/ 202 w 19180"/>
                <a:gd name="T11" fmla="*/ 4875 h 21376"/>
                <a:gd name="T12" fmla="*/ 1730 w 19180"/>
                <a:gd name="T13" fmla="*/ 2394 h 21376"/>
                <a:gd name="T14" fmla="*/ 6807 w 19180"/>
                <a:gd name="T15" fmla="*/ 0 h 21376"/>
                <a:gd name="T16" fmla="*/ 12460 w 19180"/>
                <a:gd name="T17" fmla="*/ 0 h 21376"/>
                <a:gd name="T18" fmla="*/ 17450 w 19180"/>
                <a:gd name="T19" fmla="*/ 2394 h 21376"/>
                <a:gd name="T20" fmla="*/ 19036 w 19180"/>
                <a:gd name="T21" fmla="*/ 4933 h 21376"/>
                <a:gd name="T22" fmla="*/ 19180 w 19180"/>
                <a:gd name="T23" fmla="*/ 11019 h 21376"/>
                <a:gd name="T24" fmla="*/ 15863 w 19180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80" h="21376">
                  <a:moveTo>
                    <a:pt x="15863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44" y="11019"/>
                  </a:lnTo>
                  <a:lnTo>
                    <a:pt x="0" y="11019"/>
                  </a:lnTo>
                  <a:lnTo>
                    <a:pt x="202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460" y="0"/>
                  </a:lnTo>
                  <a:lnTo>
                    <a:pt x="17450" y="2394"/>
                  </a:lnTo>
                  <a:lnTo>
                    <a:pt x="19036" y="4933"/>
                  </a:lnTo>
                  <a:lnTo>
                    <a:pt x="19180" y="11019"/>
                  </a:lnTo>
                  <a:lnTo>
                    <a:pt x="15863" y="11019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0" name="Freeform 2084">
              <a:extLst>
                <a:ext uri="{FF2B5EF4-FFF2-40B4-BE49-F238E27FC236}">
                  <a16:creationId xmlns:a16="http://schemas.microsoft.com/office/drawing/2014/main" id="{49CB3971-84EC-4B6A-8BA1-8CB0F5EB3C60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453380"/>
              <a:ext cx="34590" cy="963250"/>
            </a:xfrm>
            <a:custGeom>
              <a:avLst/>
              <a:gdLst>
                <a:gd name="T0" fmla="*/ 0 w 1009"/>
                <a:gd name="T1" fmla="*/ 0 h 28098"/>
                <a:gd name="T2" fmla="*/ 1009 w 1009"/>
                <a:gd name="T3" fmla="*/ 0 h 28098"/>
                <a:gd name="T4" fmla="*/ 1009 w 1009"/>
                <a:gd name="T5" fmla="*/ 28098 h 28098"/>
                <a:gd name="T6" fmla="*/ 0 w 1009"/>
                <a:gd name="T7" fmla="*/ 28098 h 28098"/>
                <a:gd name="T8" fmla="*/ 0 w 1009"/>
                <a:gd name="T9" fmla="*/ 0 h 28098"/>
                <a:gd name="T10" fmla="*/ 0 w 1009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9" h="28098">
                  <a:moveTo>
                    <a:pt x="0" y="0"/>
                  </a:moveTo>
                  <a:lnTo>
                    <a:pt x="1009" y="0"/>
                  </a:lnTo>
                  <a:lnTo>
                    <a:pt x="1009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1" name="Freeform 2085">
              <a:extLst>
                <a:ext uri="{FF2B5EF4-FFF2-40B4-BE49-F238E27FC236}">
                  <a16:creationId xmlns:a16="http://schemas.microsoft.com/office/drawing/2014/main" id="{89C3FF7F-211C-4B52-9279-56A7217BDA23}"/>
                </a:ext>
              </a:extLst>
            </p:cNvPr>
            <p:cNvSpPr>
              <a:spLocks/>
            </p:cNvSpPr>
            <p:nvPr/>
          </p:nvSpPr>
          <p:spPr bwMode="gray">
            <a:xfrm>
              <a:off x="5498490" y="5453380"/>
              <a:ext cx="33631" cy="963250"/>
            </a:xfrm>
            <a:custGeom>
              <a:avLst/>
              <a:gdLst>
                <a:gd name="T0" fmla="*/ 0 w 981"/>
                <a:gd name="T1" fmla="*/ 0 h 28098"/>
                <a:gd name="T2" fmla="*/ 981 w 981"/>
                <a:gd name="T3" fmla="*/ 0 h 28098"/>
                <a:gd name="T4" fmla="*/ 981 w 981"/>
                <a:gd name="T5" fmla="*/ 28098 h 28098"/>
                <a:gd name="T6" fmla="*/ 0 w 981"/>
                <a:gd name="T7" fmla="*/ 28098 h 28098"/>
                <a:gd name="T8" fmla="*/ 0 w 981"/>
                <a:gd name="T9" fmla="*/ 0 h 28098"/>
                <a:gd name="T10" fmla="*/ 0 w 981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1" h="28098">
                  <a:moveTo>
                    <a:pt x="0" y="0"/>
                  </a:moveTo>
                  <a:lnTo>
                    <a:pt x="981" y="0"/>
                  </a:lnTo>
                  <a:lnTo>
                    <a:pt x="981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2" name="Freeform 2086">
              <a:extLst>
                <a:ext uri="{FF2B5EF4-FFF2-40B4-BE49-F238E27FC236}">
                  <a16:creationId xmlns:a16="http://schemas.microsoft.com/office/drawing/2014/main" id="{DBDED725-33B4-488F-9E3F-062972556396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225955"/>
              <a:ext cx="581420" cy="227426"/>
            </a:xfrm>
            <a:custGeom>
              <a:avLst/>
              <a:gdLst>
                <a:gd name="T0" fmla="*/ 440 w 588"/>
                <a:gd name="T1" fmla="*/ 0 h 230"/>
                <a:gd name="T2" fmla="*/ 148 w 588"/>
                <a:gd name="T3" fmla="*/ 0 h 230"/>
                <a:gd name="T4" fmla="*/ 0 w 588"/>
                <a:gd name="T5" fmla="*/ 131 h 230"/>
                <a:gd name="T6" fmla="*/ 0 w 588"/>
                <a:gd name="T7" fmla="*/ 230 h 230"/>
                <a:gd name="T8" fmla="*/ 588 w 588"/>
                <a:gd name="T9" fmla="*/ 230 h 230"/>
                <a:gd name="T10" fmla="*/ 588 w 588"/>
                <a:gd name="T11" fmla="*/ 131 h 230"/>
                <a:gd name="T12" fmla="*/ 440 w 588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30">
                  <a:moveTo>
                    <a:pt x="440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66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131"/>
                    <a:pt x="588" y="131"/>
                    <a:pt x="588" y="131"/>
                  </a:cubicBezTo>
                  <a:cubicBezTo>
                    <a:pt x="588" y="58"/>
                    <a:pt x="522" y="0"/>
                    <a:pt x="4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3" name="Freeform 2087">
              <a:extLst>
                <a:ext uri="{FF2B5EF4-FFF2-40B4-BE49-F238E27FC236}">
                  <a16:creationId xmlns:a16="http://schemas.microsoft.com/office/drawing/2014/main" id="{AA81026C-931E-49BA-A423-6BC8E8BAC2E2}"/>
                </a:ext>
              </a:extLst>
            </p:cNvPr>
            <p:cNvSpPr>
              <a:spLocks/>
            </p:cNvSpPr>
            <p:nvPr/>
          </p:nvSpPr>
          <p:spPr bwMode="gray">
            <a:xfrm>
              <a:off x="5104934" y="4503019"/>
              <a:ext cx="295646" cy="400515"/>
            </a:xfrm>
            <a:custGeom>
              <a:avLst/>
              <a:gdLst>
                <a:gd name="T0" fmla="*/ 8249 w 8624"/>
                <a:gd name="T1" fmla="*/ 1356 h 11683"/>
                <a:gd name="T2" fmla="*/ 5423 w 8624"/>
                <a:gd name="T3" fmla="*/ 0 h 11683"/>
                <a:gd name="T4" fmla="*/ 3115 w 8624"/>
                <a:gd name="T5" fmla="*/ 0 h 11683"/>
                <a:gd name="T6" fmla="*/ 346 w 8624"/>
                <a:gd name="T7" fmla="*/ 1356 h 11683"/>
                <a:gd name="T8" fmla="*/ 0 w 8624"/>
                <a:gd name="T9" fmla="*/ 4443 h 11683"/>
                <a:gd name="T10" fmla="*/ 260 w 8624"/>
                <a:gd name="T11" fmla="*/ 7010 h 11683"/>
                <a:gd name="T12" fmla="*/ 375 w 8624"/>
                <a:gd name="T13" fmla="*/ 7674 h 11683"/>
                <a:gd name="T14" fmla="*/ 1183 w 8624"/>
                <a:gd name="T15" fmla="*/ 10904 h 11683"/>
                <a:gd name="T16" fmla="*/ 1731 w 8624"/>
                <a:gd name="T17" fmla="*/ 11222 h 11683"/>
                <a:gd name="T18" fmla="*/ 3029 w 8624"/>
                <a:gd name="T19" fmla="*/ 11683 h 11683"/>
                <a:gd name="T20" fmla="*/ 5625 w 8624"/>
                <a:gd name="T21" fmla="*/ 11683 h 11683"/>
                <a:gd name="T22" fmla="*/ 6952 w 8624"/>
                <a:gd name="T23" fmla="*/ 11193 h 11683"/>
                <a:gd name="T24" fmla="*/ 7442 w 8624"/>
                <a:gd name="T25" fmla="*/ 10904 h 11683"/>
                <a:gd name="T26" fmla="*/ 7817 w 8624"/>
                <a:gd name="T27" fmla="*/ 9347 h 11683"/>
                <a:gd name="T28" fmla="*/ 8221 w 8624"/>
                <a:gd name="T29" fmla="*/ 7674 h 11683"/>
                <a:gd name="T30" fmla="*/ 8336 w 8624"/>
                <a:gd name="T31" fmla="*/ 7010 h 11683"/>
                <a:gd name="T32" fmla="*/ 8624 w 8624"/>
                <a:gd name="T33" fmla="*/ 4443 h 11683"/>
                <a:gd name="T34" fmla="*/ 8249 w 8624"/>
                <a:gd name="T35" fmla="*/ 1356 h 11683"/>
                <a:gd name="T36" fmla="*/ 8249 w 8624"/>
                <a:gd name="T37" fmla="*/ 1356 h 11683"/>
                <a:gd name="T38" fmla="*/ 8249 w 8624"/>
                <a:gd name="T39" fmla="*/ 1356 h 11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24" h="11683">
                  <a:moveTo>
                    <a:pt x="8249" y="1356"/>
                  </a:moveTo>
                  <a:lnTo>
                    <a:pt x="5423" y="0"/>
                  </a:lnTo>
                  <a:lnTo>
                    <a:pt x="3115" y="0"/>
                  </a:lnTo>
                  <a:lnTo>
                    <a:pt x="346" y="1356"/>
                  </a:lnTo>
                  <a:lnTo>
                    <a:pt x="0" y="4443"/>
                  </a:lnTo>
                  <a:lnTo>
                    <a:pt x="260" y="7010"/>
                  </a:lnTo>
                  <a:lnTo>
                    <a:pt x="375" y="7674"/>
                  </a:lnTo>
                  <a:lnTo>
                    <a:pt x="1183" y="10904"/>
                  </a:lnTo>
                  <a:lnTo>
                    <a:pt x="1731" y="11222"/>
                  </a:lnTo>
                  <a:lnTo>
                    <a:pt x="3029" y="11683"/>
                  </a:lnTo>
                  <a:lnTo>
                    <a:pt x="5625" y="11683"/>
                  </a:lnTo>
                  <a:lnTo>
                    <a:pt x="6952" y="11193"/>
                  </a:lnTo>
                  <a:lnTo>
                    <a:pt x="7442" y="10904"/>
                  </a:lnTo>
                  <a:lnTo>
                    <a:pt x="7817" y="9347"/>
                  </a:lnTo>
                  <a:lnTo>
                    <a:pt x="8221" y="7674"/>
                  </a:lnTo>
                  <a:lnTo>
                    <a:pt x="8336" y="7010"/>
                  </a:lnTo>
                  <a:lnTo>
                    <a:pt x="8624" y="4443"/>
                  </a:lnTo>
                  <a:lnTo>
                    <a:pt x="8249" y="1356"/>
                  </a:lnTo>
                  <a:lnTo>
                    <a:pt x="8249" y="1356"/>
                  </a:lnTo>
                  <a:lnTo>
                    <a:pt x="8249" y="1356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4" name="Freeform 2088">
              <a:extLst>
                <a:ext uri="{FF2B5EF4-FFF2-40B4-BE49-F238E27FC236}">
                  <a16:creationId xmlns:a16="http://schemas.microsoft.com/office/drawing/2014/main" id="{D9CD8619-EF37-4B86-BED2-38014EF8568F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7732" y="5305042"/>
              <a:ext cx="105794" cy="182962"/>
            </a:xfrm>
            <a:custGeom>
              <a:avLst/>
              <a:gdLst>
                <a:gd name="T0" fmla="*/ 202 w 3086"/>
                <a:gd name="T1" fmla="*/ 4154 h 5337"/>
                <a:gd name="T2" fmla="*/ 0 w 3086"/>
                <a:gd name="T3" fmla="*/ 0 h 5337"/>
                <a:gd name="T4" fmla="*/ 3058 w 3086"/>
                <a:gd name="T5" fmla="*/ 0 h 5337"/>
                <a:gd name="T6" fmla="*/ 3086 w 3086"/>
                <a:gd name="T7" fmla="*/ 5337 h 5337"/>
                <a:gd name="T8" fmla="*/ 923 w 3086"/>
                <a:gd name="T9" fmla="*/ 5337 h 5337"/>
                <a:gd name="T10" fmla="*/ 202 w 3086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6" h="5337">
                  <a:moveTo>
                    <a:pt x="202" y="4154"/>
                  </a:moveTo>
                  <a:lnTo>
                    <a:pt x="0" y="0"/>
                  </a:lnTo>
                  <a:lnTo>
                    <a:pt x="3058" y="0"/>
                  </a:lnTo>
                  <a:lnTo>
                    <a:pt x="3086" y="5337"/>
                  </a:lnTo>
                  <a:lnTo>
                    <a:pt x="923" y="5337"/>
                  </a:lnTo>
                  <a:lnTo>
                    <a:pt x="202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5" name="Freeform 2089">
              <a:extLst>
                <a:ext uri="{FF2B5EF4-FFF2-40B4-BE49-F238E27FC236}">
                  <a16:creationId xmlns:a16="http://schemas.microsoft.com/office/drawing/2014/main" id="{B7D61834-2C96-4D1C-AD96-49E8BB357046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453380"/>
              <a:ext cx="35584" cy="963250"/>
            </a:xfrm>
            <a:custGeom>
              <a:avLst/>
              <a:gdLst>
                <a:gd name="T0" fmla="*/ 0 w 1038"/>
                <a:gd name="T1" fmla="*/ 0 h 28098"/>
                <a:gd name="T2" fmla="*/ 1038 w 1038"/>
                <a:gd name="T3" fmla="*/ 0 h 28098"/>
                <a:gd name="T4" fmla="*/ 1038 w 1038"/>
                <a:gd name="T5" fmla="*/ 28098 h 28098"/>
                <a:gd name="T6" fmla="*/ 0 w 1038"/>
                <a:gd name="T7" fmla="*/ 28098 h 28098"/>
                <a:gd name="T8" fmla="*/ 0 w 1038"/>
                <a:gd name="T9" fmla="*/ 0 h 28098"/>
                <a:gd name="T10" fmla="*/ 0 w 1038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8" h="28098">
                  <a:moveTo>
                    <a:pt x="0" y="0"/>
                  </a:moveTo>
                  <a:lnTo>
                    <a:pt x="1038" y="0"/>
                  </a:lnTo>
                  <a:lnTo>
                    <a:pt x="1038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6" name="Freeform 2090">
              <a:extLst>
                <a:ext uri="{FF2B5EF4-FFF2-40B4-BE49-F238E27FC236}">
                  <a16:creationId xmlns:a16="http://schemas.microsoft.com/office/drawing/2014/main" id="{CAE6896A-60C9-43B8-BB55-DE845AD5F4A6}"/>
                </a:ext>
              </a:extLst>
            </p:cNvPr>
            <p:cNvSpPr>
              <a:spLocks/>
            </p:cNvSpPr>
            <p:nvPr/>
          </p:nvSpPr>
          <p:spPr bwMode="gray">
            <a:xfrm>
              <a:off x="7502741" y="4636546"/>
              <a:ext cx="294686" cy="304594"/>
            </a:xfrm>
            <a:custGeom>
              <a:avLst/>
              <a:gdLst>
                <a:gd name="T0" fmla="*/ 1 w 298"/>
                <a:gd name="T1" fmla="*/ 140 h 308"/>
                <a:gd name="T2" fmla="*/ 159 w 298"/>
                <a:gd name="T3" fmla="*/ 308 h 308"/>
                <a:gd name="T4" fmla="*/ 298 w 298"/>
                <a:gd name="T5" fmla="*/ 168 h 308"/>
                <a:gd name="T6" fmla="*/ 298 w 298"/>
                <a:gd name="T7" fmla="*/ 0 h 308"/>
                <a:gd name="T8" fmla="*/ 0 w 298"/>
                <a:gd name="T9" fmla="*/ 0 h 308"/>
                <a:gd name="T10" fmla="*/ 1 w 298"/>
                <a:gd name="T11" fmla="*/ 14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8" h="308">
                  <a:moveTo>
                    <a:pt x="1" y="140"/>
                  </a:moveTo>
                  <a:cubicBezTo>
                    <a:pt x="1" y="217"/>
                    <a:pt x="82" y="308"/>
                    <a:pt x="159" y="308"/>
                  </a:cubicBezTo>
                  <a:cubicBezTo>
                    <a:pt x="236" y="308"/>
                    <a:pt x="298" y="245"/>
                    <a:pt x="298" y="168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40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7" name="Freeform 2091">
              <a:extLst>
                <a:ext uri="{FF2B5EF4-FFF2-40B4-BE49-F238E27FC236}">
                  <a16:creationId xmlns:a16="http://schemas.microsoft.com/office/drawing/2014/main" id="{8892B9AA-C830-4F90-9F68-0596785441F9}"/>
                </a:ext>
              </a:extLst>
            </p:cNvPr>
            <p:cNvSpPr>
              <a:spLocks/>
            </p:cNvSpPr>
            <p:nvPr/>
          </p:nvSpPr>
          <p:spPr bwMode="gray">
            <a:xfrm>
              <a:off x="7556152" y="4828387"/>
              <a:ext cx="183922" cy="187899"/>
            </a:xfrm>
            <a:custGeom>
              <a:avLst/>
              <a:gdLst>
                <a:gd name="T0" fmla="*/ 0 w 186"/>
                <a:gd name="T1" fmla="*/ 146 h 190"/>
                <a:gd name="T2" fmla="*/ 83 w 186"/>
                <a:gd name="T3" fmla="*/ 184 h 190"/>
                <a:gd name="T4" fmla="*/ 186 w 186"/>
                <a:gd name="T5" fmla="*/ 145 h 190"/>
                <a:gd name="T6" fmla="*/ 171 w 186"/>
                <a:gd name="T7" fmla="*/ 0 h 190"/>
                <a:gd name="T8" fmla="*/ 5 w 186"/>
                <a:gd name="T9" fmla="*/ 0 h 190"/>
                <a:gd name="T10" fmla="*/ 0 w 186"/>
                <a:gd name="T11" fmla="*/ 1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190">
                  <a:moveTo>
                    <a:pt x="0" y="146"/>
                  </a:moveTo>
                  <a:cubicBezTo>
                    <a:pt x="14" y="172"/>
                    <a:pt x="80" y="184"/>
                    <a:pt x="83" y="184"/>
                  </a:cubicBezTo>
                  <a:cubicBezTo>
                    <a:pt x="135" y="190"/>
                    <a:pt x="186" y="145"/>
                    <a:pt x="186" y="145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146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8" name="Freeform 2092">
              <a:extLst>
                <a:ext uri="{FF2B5EF4-FFF2-40B4-BE49-F238E27FC236}">
                  <a16:creationId xmlns:a16="http://schemas.microsoft.com/office/drawing/2014/main" id="{A3D6CDAB-5C11-45FE-8409-79CA145BAC3F}"/>
                </a:ext>
              </a:extLst>
            </p:cNvPr>
            <p:cNvSpPr>
              <a:spLocks/>
            </p:cNvSpPr>
            <p:nvPr/>
          </p:nvSpPr>
          <p:spPr bwMode="gray">
            <a:xfrm>
              <a:off x="7490879" y="4506996"/>
              <a:ext cx="328283" cy="396538"/>
            </a:xfrm>
            <a:custGeom>
              <a:avLst/>
              <a:gdLst>
                <a:gd name="T0" fmla="*/ 0 w 9576"/>
                <a:gd name="T1" fmla="*/ 3721 h 11567"/>
                <a:gd name="T2" fmla="*/ 87 w 9576"/>
                <a:gd name="T3" fmla="*/ 7673 h 11567"/>
                <a:gd name="T4" fmla="*/ 866 w 9576"/>
                <a:gd name="T5" fmla="*/ 10038 h 11567"/>
                <a:gd name="T6" fmla="*/ 2394 w 9576"/>
                <a:gd name="T7" fmla="*/ 11567 h 11567"/>
                <a:gd name="T8" fmla="*/ 6346 w 9576"/>
                <a:gd name="T9" fmla="*/ 11538 h 11567"/>
                <a:gd name="T10" fmla="*/ 7961 w 9576"/>
                <a:gd name="T11" fmla="*/ 8481 h 11567"/>
                <a:gd name="T12" fmla="*/ 7961 w 9576"/>
                <a:gd name="T13" fmla="*/ 5106 h 11567"/>
                <a:gd name="T14" fmla="*/ 8942 w 9576"/>
                <a:gd name="T15" fmla="*/ 3779 h 11567"/>
                <a:gd name="T16" fmla="*/ 9576 w 9576"/>
                <a:gd name="T17" fmla="*/ 2423 h 11567"/>
                <a:gd name="T18" fmla="*/ 8624 w 9576"/>
                <a:gd name="T19" fmla="*/ 375 h 11567"/>
                <a:gd name="T20" fmla="*/ 4327 w 9576"/>
                <a:gd name="T21" fmla="*/ 0 h 11567"/>
                <a:gd name="T22" fmla="*/ 1817 w 9576"/>
                <a:gd name="T23" fmla="*/ 894 h 11567"/>
                <a:gd name="T24" fmla="*/ 548 w 9576"/>
                <a:gd name="T25" fmla="*/ 1817 h 11567"/>
                <a:gd name="T26" fmla="*/ 0 w 9576"/>
                <a:gd name="T27" fmla="*/ 3721 h 11567"/>
                <a:gd name="T28" fmla="*/ 0 w 9576"/>
                <a:gd name="T29" fmla="*/ 3721 h 11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576" h="11567">
                  <a:moveTo>
                    <a:pt x="0" y="3721"/>
                  </a:moveTo>
                  <a:lnTo>
                    <a:pt x="87" y="7673"/>
                  </a:lnTo>
                  <a:lnTo>
                    <a:pt x="866" y="10038"/>
                  </a:lnTo>
                  <a:lnTo>
                    <a:pt x="2394" y="11567"/>
                  </a:lnTo>
                  <a:lnTo>
                    <a:pt x="6346" y="11538"/>
                  </a:lnTo>
                  <a:lnTo>
                    <a:pt x="7961" y="8481"/>
                  </a:lnTo>
                  <a:lnTo>
                    <a:pt x="7961" y="5106"/>
                  </a:lnTo>
                  <a:lnTo>
                    <a:pt x="8942" y="3779"/>
                  </a:lnTo>
                  <a:lnTo>
                    <a:pt x="9576" y="2423"/>
                  </a:lnTo>
                  <a:lnTo>
                    <a:pt x="8624" y="375"/>
                  </a:lnTo>
                  <a:lnTo>
                    <a:pt x="4327" y="0"/>
                  </a:lnTo>
                  <a:lnTo>
                    <a:pt x="1817" y="894"/>
                  </a:lnTo>
                  <a:lnTo>
                    <a:pt x="548" y="1817"/>
                  </a:lnTo>
                  <a:lnTo>
                    <a:pt x="0" y="3721"/>
                  </a:lnTo>
                  <a:lnTo>
                    <a:pt x="0" y="3721"/>
                  </a:lnTo>
                  <a:close/>
                </a:path>
              </a:pathLst>
            </a:custGeom>
            <a:solidFill>
              <a:srgbClr val="645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9" name="Freeform 2093">
              <a:extLst>
                <a:ext uri="{FF2B5EF4-FFF2-40B4-BE49-F238E27FC236}">
                  <a16:creationId xmlns:a16="http://schemas.microsoft.com/office/drawing/2014/main" id="{5462B879-5E8F-4AEB-B622-3EA065A70326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31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31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0" name="Freeform 2094">
              <a:extLst>
                <a:ext uri="{FF2B5EF4-FFF2-40B4-BE49-F238E27FC236}">
                  <a16:creationId xmlns:a16="http://schemas.microsoft.com/office/drawing/2014/main" id="{CC3ED701-CD4E-47B3-8972-8076D70BF475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6356294"/>
              <a:ext cx="168118" cy="60336"/>
            </a:xfrm>
            <a:custGeom>
              <a:avLst/>
              <a:gdLst>
                <a:gd name="T0" fmla="*/ 84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4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4 w 170"/>
                <a:gd name="T13" fmla="*/ 0 h 61"/>
                <a:gd name="T14" fmla="*/ 84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1" name="Freeform 2095">
              <a:extLst>
                <a:ext uri="{FF2B5EF4-FFF2-40B4-BE49-F238E27FC236}">
                  <a16:creationId xmlns:a16="http://schemas.microsoft.com/office/drawing/2014/main" id="{53837532-0DA0-4516-8E0D-945C17B1D603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5864796"/>
              <a:ext cx="169078" cy="491500"/>
            </a:xfrm>
            <a:custGeom>
              <a:avLst/>
              <a:gdLst>
                <a:gd name="T0" fmla="*/ 4932 w 4932"/>
                <a:gd name="T1" fmla="*/ 0 h 14337"/>
                <a:gd name="T2" fmla="*/ 4586 w 4932"/>
                <a:gd name="T3" fmla="*/ 14337 h 14337"/>
                <a:gd name="T4" fmla="*/ 144 w 4932"/>
                <a:gd name="T5" fmla="*/ 14337 h 14337"/>
                <a:gd name="T6" fmla="*/ 0 w 4932"/>
                <a:gd name="T7" fmla="*/ 0 h 14337"/>
                <a:gd name="T8" fmla="*/ 4932 w 4932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32" h="14337">
                  <a:moveTo>
                    <a:pt x="4932" y="0"/>
                  </a:moveTo>
                  <a:lnTo>
                    <a:pt x="4586" y="14337"/>
                  </a:lnTo>
                  <a:lnTo>
                    <a:pt x="144" y="14337"/>
                  </a:lnTo>
                  <a:lnTo>
                    <a:pt x="0" y="0"/>
                  </a:lnTo>
                  <a:lnTo>
                    <a:pt x="4932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2" name="Freeform 2096">
              <a:extLst>
                <a:ext uri="{FF2B5EF4-FFF2-40B4-BE49-F238E27FC236}">
                  <a16:creationId xmlns:a16="http://schemas.microsoft.com/office/drawing/2014/main" id="{4488853F-E511-482D-8576-12E3C0C69EEE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4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3" name="Freeform 2097">
              <a:extLst>
                <a:ext uri="{FF2B5EF4-FFF2-40B4-BE49-F238E27FC236}">
                  <a16:creationId xmlns:a16="http://schemas.microsoft.com/office/drawing/2014/main" id="{6A3997E1-2E5C-47E8-9093-08FE06B1376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763940"/>
              <a:ext cx="582414" cy="60301"/>
            </a:xfrm>
            <a:custGeom>
              <a:avLst/>
              <a:gdLst>
                <a:gd name="T0" fmla="*/ 528 w 589"/>
                <a:gd name="T1" fmla="*/ 0 h 61"/>
                <a:gd name="T2" fmla="*/ 61 w 589"/>
                <a:gd name="T3" fmla="*/ 0 h 61"/>
                <a:gd name="T4" fmla="*/ 0 w 589"/>
                <a:gd name="T5" fmla="*/ 61 h 61"/>
                <a:gd name="T6" fmla="*/ 589 w 589"/>
                <a:gd name="T7" fmla="*/ 61 h 61"/>
                <a:gd name="T8" fmla="*/ 528 w 589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9" y="61"/>
                    <a:pt x="589" y="61"/>
                    <a:pt x="589" y="61"/>
                  </a:cubicBezTo>
                  <a:cubicBezTo>
                    <a:pt x="589" y="27"/>
                    <a:pt x="562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4" name="Freeform 2098">
              <a:extLst>
                <a:ext uri="{FF2B5EF4-FFF2-40B4-BE49-F238E27FC236}">
                  <a16:creationId xmlns:a16="http://schemas.microsoft.com/office/drawing/2014/main" id="{2FE14518-8831-49F8-8EC9-E2404CA39840}"/>
                </a:ext>
              </a:extLst>
            </p:cNvPr>
            <p:cNvSpPr>
              <a:spLocks/>
            </p:cNvSpPr>
            <p:nvPr/>
          </p:nvSpPr>
          <p:spPr bwMode="gray">
            <a:xfrm>
              <a:off x="7436508" y="5616561"/>
              <a:ext cx="433082" cy="170106"/>
            </a:xfrm>
            <a:custGeom>
              <a:avLst/>
              <a:gdLst>
                <a:gd name="T0" fmla="*/ 7 w 438"/>
                <a:gd name="T1" fmla="*/ 105 h 172"/>
                <a:gd name="T2" fmla="*/ 72 w 438"/>
                <a:gd name="T3" fmla="*/ 172 h 172"/>
                <a:gd name="T4" fmla="*/ 365 w 438"/>
                <a:gd name="T5" fmla="*/ 172 h 172"/>
                <a:gd name="T6" fmla="*/ 433 w 438"/>
                <a:gd name="T7" fmla="*/ 105 h 172"/>
                <a:gd name="T8" fmla="*/ 438 w 438"/>
                <a:gd name="T9" fmla="*/ 0 h 172"/>
                <a:gd name="T10" fmla="*/ 0 w 438"/>
                <a:gd name="T11" fmla="*/ 0 h 172"/>
                <a:gd name="T12" fmla="*/ 7 w 438"/>
                <a:gd name="T13" fmla="*/ 105 h 172"/>
                <a:gd name="T14" fmla="*/ 7 w 438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8" h="172">
                  <a:moveTo>
                    <a:pt x="7" y="105"/>
                  </a:moveTo>
                  <a:cubicBezTo>
                    <a:pt x="7" y="105"/>
                    <a:pt x="18" y="172"/>
                    <a:pt x="72" y="172"/>
                  </a:cubicBezTo>
                  <a:cubicBezTo>
                    <a:pt x="305" y="172"/>
                    <a:pt x="365" y="172"/>
                    <a:pt x="365" y="172"/>
                  </a:cubicBezTo>
                  <a:cubicBezTo>
                    <a:pt x="418" y="172"/>
                    <a:pt x="433" y="105"/>
                    <a:pt x="433" y="105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5"/>
                    <a:pt x="7" y="105"/>
                    <a:pt x="7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5" name="Freeform 2099">
              <a:extLst>
                <a:ext uri="{FF2B5EF4-FFF2-40B4-BE49-F238E27FC236}">
                  <a16:creationId xmlns:a16="http://schemas.microsoft.com/office/drawing/2014/main" id="{2100C065-70AE-417C-A6E6-A70E64F4811A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824240"/>
              <a:ext cx="582414" cy="40556"/>
            </a:xfrm>
            <a:custGeom>
              <a:avLst/>
              <a:gdLst>
                <a:gd name="T0" fmla="*/ 0 w 16989"/>
                <a:gd name="T1" fmla="*/ 0 h 1183"/>
                <a:gd name="T2" fmla="*/ 16989 w 16989"/>
                <a:gd name="T3" fmla="*/ 0 h 1183"/>
                <a:gd name="T4" fmla="*/ 16989 w 16989"/>
                <a:gd name="T5" fmla="*/ 1183 h 1183"/>
                <a:gd name="T6" fmla="*/ 0 w 16989"/>
                <a:gd name="T7" fmla="*/ 1183 h 1183"/>
                <a:gd name="T8" fmla="*/ 0 w 16989"/>
                <a:gd name="T9" fmla="*/ 0 h 1183"/>
                <a:gd name="T10" fmla="*/ 0 w 16989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89" h="1183">
                  <a:moveTo>
                    <a:pt x="0" y="0"/>
                  </a:moveTo>
                  <a:lnTo>
                    <a:pt x="16989" y="0"/>
                  </a:lnTo>
                  <a:lnTo>
                    <a:pt x="16989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6" name="Freeform 2100">
              <a:extLst>
                <a:ext uri="{FF2B5EF4-FFF2-40B4-BE49-F238E27FC236}">
                  <a16:creationId xmlns:a16="http://schemas.microsoft.com/office/drawing/2014/main" id="{AA27BA4D-E6E1-4365-AFEA-F3CD0C1884C0}"/>
                </a:ext>
              </a:extLst>
            </p:cNvPr>
            <p:cNvSpPr>
              <a:spLocks/>
            </p:cNvSpPr>
            <p:nvPr/>
          </p:nvSpPr>
          <p:spPr bwMode="gray">
            <a:xfrm>
              <a:off x="7371236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7" name="Freeform 2101">
              <a:extLst>
                <a:ext uri="{FF2B5EF4-FFF2-40B4-BE49-F238E27FC236}">
                  <a16:creationId xmlns:a16="http://schemas.microsoft.com/office/drawing/2014/main" id="{A0A19CEE-2BA8-40EC-8EAB-E17F5AE39DBF}"/>
                </a:ext>
              </a:extLst>
            </p:cNvPr>
            <p:cNvSpPr>
              <a:spLocks/>
            </p:cNvSpPr>
            <p:nvPr/>
          </p:nvSpPr>
          <p:spPr bwMode="gray">
            <a:xfrm>
              <a:off x="7867637" y="5305042"/>
              <a:ext cx="109736" cy="182962"/>
            </a:xfrm>
            <a:custGeom>
              <a:avLst/>
              <a:gdLst>
                <a:gd name="T0" fmla="*/ 2999 w 3201"/>
                <a:gd name="T1" fmla="*/ 4154 h 5337"/>
                <a:gd name="T2" fmla="*/ 3201 w 3201"/>
                <a:gd name="T3" fmla="*/ 0 h 5337"/>
                <a:gd name="T4" fmla="*/ 0 w 3201"/>
                <a:gd name="T5" fmla="*/ 0 h 5337"/>
                <a:gd name="T6" fmla="*/ 0 w 3201"/>
                <a:gd name="T7" fmla="*/ 5337 h 5337"/>
                <a:gd name="T8" fmla="*/ 2019 w 3201"/>
                <a:gd name="T9" fmla="*/ 5337 h 5337"/>
                <a:gd name="T10" fmla="*/ 2999 w 3201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1" h="5337">
                  <a:moveTo>
                    <a:pt x="2999" y="4154"/>
                  </a:moveTo>
                  <a:lnTo>
                    <a:pt x="3201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2019" y="5337"/>
                  </a:lnTo>
                  <a:lnTo>
                    <a:pt x="2999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8" name="Freeform 2102">
              <a:extLst>
                <a:ext uri="{FF2B5EF4-FFF2-40B4-BE49-F238E27FC236}">
                  <a16:creationId xmlns:a16="http://schemas.microsoft.com/office/drawing/2014/main" id="{4ED9D84D-87B5-43D0-A9DE-3F168C62FCE7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4784" y="4940146"/>
              <a:ext cx="656531" cy="732808"/>
            </a:xfrm>
            <a:custGeom>
              <a:avLst/>
              <a:gdLst>
                <a:gd name="T0" fmla="*/ 15835 w 19151"/>
                <a:gd name="T1" fmla="*/ 11019 h 21376"/>
                <a:gd name="T2" fmla="*/ 15950 w 19151"/>
                <a:gd name="T3" fmla="*/ 21376 h 21376"/>
                <a:gd name="T4" fmla="*/ 3086 w 19151"/>
                <a:gd name="T5" fmla="*/ 21376 h 21376"/>
                <a:gd name="T6" fmla="*/ 3115 w 19151"/>
                <a:gd name="T7" fmla="*/ 11019 h 21376"/>
                <a:gd name="T8" fmla="*/ 0 w 19151"/>
                <a:gd name="T9" fmla="*/ 11019 h 21376"/>
                <a:gd name="T10" fmla="*/ 173 w 19151"/>
                <a:gd name="T11" fmla="*/ 4875 h 21376"/>
                <a:gd name="T12" fmla="*/ 1730 w 19151"/>
                <a:gd name="T13" fmla="*/ 2394 h 21376"/>
                <a:gd name="T14" fmla="*/ 6807 w 19151"/>
                <a:gd name="T15" fmla="*/ 0 h 21376"/>
                <a:gd name="T16" fmla="*/ 12316 w 19151"/>
                <a:gd name="T17" fmla="*/ 0 h 21376"/>
                <a:gd name="T18" fmla="*/ 17421 w 19151"/>
                <a:gd name="T19" fmla="*/ 2394 h 21376"/>
                <a:gd name="T20" fmla="*/ 19036 w 19151"/>
                <a:gd name="T21" fmla="*/ 4933 h 21376"/>
                <a:gd name="T22" fmla="*/ 19151 w 19151"/>
                <a:gd name="T23" fmla="*/ 11019 h 21376"/>
                <a:gd name="T24" fmla="*/ 15835 w 19151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51" h="21376">
                  <a:moveTo>
                    <a:pt x="15835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15" y="11019"/>
                  </a:lnTo>
                  <a:lnTo>
                    <a:pt x="0" y="11019"/>
                  </a:lnTo>
                  <a:lnTo>
                    <a:pt x="173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316" y="0"/>
                  </a:lnTo>
                  <a:lnTo>
                    <a:pt x="17421" y="2394"/>
                  </a:lnTo>
                  <a:lnTo>
                    <a:pt x="19036" y="4933"/>
                  </a:lnTo>
                  <a:lnTo>
                    <a:pt x="19151" y="11019"/>
                  </a:lnTo>
                  <a:lnTo>
                    <a:pt x="15835" y="11019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99" name="Freeform 2103">
              <a:extLst>
                <a:ext uri="{FF2B5EF4-FFF2-40B4-BE49-F238E27FC236}">
                  <a16:creationId xmlns:a16="http://schemas.microsoft.com/office/drawing/2014/main" id="{592CDDDC-7C1B-443E-970A-089BE028AB8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02227" y="5453380"/>
              <a:ext cx="34625" cy="963250"/>
            </a:xfrm>
            <a:custGeom>
              <a:avLst/>
              <a:gdLst>
                <a:gd name="T0" fmla="*/ 0 w 1010"/>
                <a:gd name="T1" fmla="*/ 0 h 28098"/>
                <a:gd name="T2" fmla="*/ 1010 w 1010"/>
                <a:gd name="T3" fmla="*/ 0 h 28098"/>
                <a:gd name="T4" fmla="*/ 1010 w 1010"/>
                <a:gd name="T5" fmla="*/ 28098 h 28098"/>
                <a:gd name="T6" fmla="*/ 0 w 1010"/>
                <a:gd name="T7" fmla="*/ 28098 h 28098"/>
                <a:gd name="T8" fmla="*/ 0 w 1010"/>
                <a:gd name="T9" fmla="*/ 0 h 28098"/>
                <a:gd name="T10" fmla="*/ 0 w 1010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0" h="28098">
                  <a:moveTo>
                    <a:pt x="0" y="0"/>
                  </a:moveTo>
                  <a:lnTo>
                    <a:pt x="1010" y="0"/>
                  </a:lnTo>
                  <a:lnTo>
                    <a:pt x="1010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0" name="Freeform 2104">
              <a:extLst>
                <a:ext uri="{FF2B5EF4-FFF2-40B4-BE49-F238E27FC236}">
                  <a16:creationId xmlns:a16="http://schemas.microsoft.com/office/drawing/2014/main" id="{1AE40868-708D-41B0-8B5A-E48F89EE7293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225955"/>
              <a:ext cx="582414" cy="227426"/>
            </a:xfrm>
            <a:custGeom>
              <a:avLst/>
              <a:gdLst>
                <a:gd name="T0" fmla="*/ 441 w 589"/>
                <a:gd name="T1" fmla="*/ 0 h 230"/>
                <a:gd name="T2" fmla="*/ 149 w 589"/>
                <a:gd name="T3" fmla="*/ 0 h 230"/>
                <a:gd name="T4" fmla="*/ 0 w 589"/>
                <a:gd name="T5" fmla="*/ 131 h 230"/>
                <a:gd name="T6" fmla="*/ 0 w 589"/>
                <a:gd name="T7" fmla="*/ 230 h 230"/>
                <a:gd name="T8" fmla="*/ 589 w 589"/>
                <a:gd name="T9" fmla="*/ 230 h 230"/>
                <a:gd name="T10" fmla="*/ 589 w 589"/>
                <a:gd name="T11" fmla="*/ 131 h 230"/>
                <a:gd name="T12" fmla="*/ 441 w 589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9" h="230">
                  <a:moveTo>
                    <a:pt x="441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67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9" y="230"/>
                    <a:pt x="589" y="230"/>
                    <a:pt x="589" y="230"/>
                  </a:cubicBezTo>
                  <a:cubicBezTo>
                    <a:pt x="589" y="131"/>
                    <a:pt x="589" y="131"/>
                    <a:pt x="589" y="131"/>
                  </a:cubicBezTo>
                  <a:cubicBezTo>
                    <a:pt x="589" y="58"/>
                    <a:pt x="522" y="0"/>
                    <a:pt x="441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1" name="Freeform 2105">
              <a:extLst>
                <a:ext uri="{FF2B5EF4-FFF2-40B4-BE49-F238E27FC236}">
                  <a16:creationId xmlns:a16="http://schemas.microsoft.com/office/drawing/2014/main" id="{536054AA-E884-4927-BCDA-8CAF7A9965D6}"/>
                </a:ext>
              </a:extLst>
            </p:cNvPr>
            <p:cNvSpPr>
              <a:spLocks/>
            </p:cNvSpPr>
            <p:nvPr/>
          </p:nvSpPr>
          <p:spPr bwMode="gray">
            <a:xfrm>
              <a:off x="8331367" y="5059791"/>
              <a:ext cx="128522" cy="60336"/>
            </a:xfrm>
            <a:custGeom>
              <a:avLst/>
              <a:gdLst>
                <a:gd name="T0" fmla="*/ 3432 w 3749"/>
                <a:gd name="T1" fmla="*/ 1760 h 1760"/>
                <a:gd name="T2" fmla="*/ 259 w 3749"/>
                <a:gd name="T3" fmla="*/ 1760 h 1760"/>
                <a:gd name="T4" fmla="*/ 0 w 3749"/>
                <a:gd name="T5" fmla="*/ 0 h 1760"/>
                <a:gd name="T6" fmla="*/ 3749 w 3749"/>
                <a:gd name="T7" fmla="*/ 0 h 1760"/>
                <a:gd name="T8" fmla="*/ 3432 w 3749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9" h="1760">
                  <a:moveTo>
                    <a:pt x="3432" y="1760"/>
                  </a:moveTo>
                  <a:lnTo>
                    <a:pt x="259" y="1760"/>
                  </a:lnTo>
                  <a:lnTo>
                    <a:pt x="0" y="0"/>
                  </a:lnTo>
                  <a:lnTo>
                    <a:pt x="3749" y="0"/>
                  </a:lnTo>
                  <a:lnTo>
                    <a:pt x="3432" y="176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2" name="Freeform 2106">
              <a:extLst>
                <a:ext uri="{FF2B5EF4-FFF2-40B4-BE49-F238E27FC236}">
                  <a16:creationId xmlns:a16="http://schemas.microsoft.com/office/drawing/2014/main" id="{05724881-8EE5-413C-8E2F-F7D99A4910B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068703"/>
              <a:ext cx="327289" cy="423243"/>
            </a:xfrm>
            <a:custGeom>
              <a:avLst/>
              <a:gdLst>
                <a:gd name="T0" fmla="*/ 0 w 9547"/>
                <a:gd name="T1" fmla="*/ 9606 h 12346"/>
                <a:gd name="T2" fmla="*/ 4124 w 9547"/>
                <a:gd name="T3" fmla="*/ 1413 h 12346"/>
                <a:gd name="T4" fmla="*/ 5278 w 9547"/>
                <a:gd name="T5" fmla="*/ 0 h 12346"/>
                <a:gd name="T6" fmla="*/ 8220 w 9547"/>
                <a:gd name="T7" fmla="*/ 0 h 12346"/>
                <a:gd name="T8" fmla="*/ 9547 w 9547"/>
                <a:gd name="T9" fmla="*/ 779 h 12346"/>
                <a:gd name="T10" fmla="*/ 9547 w 9547"/>
                <a:gd name="T11" fmla="*/ 1356 h 12346"/>
                <a:gd name="T12" fmla="*/ 8133 w 9547"/>
                <a:gd name="T13" fmla="*/ 1356 h 12346"/>
                <a:gd name="T14" fmla="*/ 7903 w 9547"/>
                <a:gd name="T15" fmla="*/ 1904 h 12346"/>
                <a:gd name="T16" fmla="*/ 6287 w 9547"/>
                <a:gd name="T17" fmla="*/ 1904 h 12346"/>
                <a:gd name="T18" fmla="*/ 5422 w 9547"/>
                <a:gd name="T19" fmla="*/ 3346 h 12346"/>
                <a:gd name="T20" fmla="*/ 3836 w 9547"/>
                <a:gd name="T21" fmla="*/ 10673 h 12346"/>
                <a:gd name="T22" fmla="*/ 2826 w 9547"/>
                <a:gd name="T23" fmla="*/ 12346 h 12346"/>
                <a:gd name="T24" fmla="*/ 548 w 9547"/>
                <a:gd name="T25" fmla="*/ 12346 h 12346"/>
                <a:gd name="T26" fmla="*/ 0 w 9547"/>
                <a:gd name="T27" fmla="*/ 9606 h 12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47" h="12346">
                  <a:moveTo>
                    <a:pt x="0" y="9606"/>
                  </a:moveTo>
                  <a:lnTo>
                    <a:pt x="4124" y="1413"/>
                  </a:lnTo>
                  <a:lnTo>
                    <a:pt x="5278" y="0"/>
                  </a:lnTo>
                  <a:lnTo>
                    <a:pt x="8220" y="0"/>
                  </a:lnTo>
                  <a:lnTo>
                    <a:pt x="9547" y="779"/>
                  </a:lnTo>
                  <a:lnTo>
                    <a:pt x="9547" y="1356"/>
                  </a:lnTo>
                  <a:lnTo>
                    <a:pt x="8133" y="1356"/>
                  </a:lnTo>
                  <a:lnTo>
                    <a:pt x="7903" y="1904"/>
                  </a:lnTo>
                  <a:lnTo>
                    <a:pt x="6287" y="1904"/>
                  </a:lnTo>
                  <a:lnTo>
                    <a:pt x="5422" y="3346"/>
                  </a:lnTo>
                  <a:lnTo>
                    <a:pt x="3836" y="10673"/>
                  </a:lnTo>
                  <a:lnTo>
                    <a:pt x="2826" y="12346"/>
                  </a:lnTo>
                  <a:lnTo>
                    <a:pt x="548" y="12346"/>
                  </a:lnTo>
                  <a:lnTo>
                    <a:pt x="0" y="9606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3" name="Freeform 2152">
              <a:extLst>
                <a:ext uri="{FF2B5EF4-FFF2-40B4-BE49-F238E27FC236}">
                  <a16:creationId xmlns:a16="http://schemas.microsoft.com/office/drawing/2014/main" id="{341AA65C-063D-417B-A846-81E13CA70CED}"/>
                </a:ext>
              </a:extLst>
            </p:cNvPr>
            <p:cNvSpPr>
              <a:spLocks/>
            </p:cNvSpPr>
            <p:nvPr/>
          </p:nvSpPr>
          <p:spPr bwMode="gray">
            <a:xfrm>
              <a:off x="4259545" y="5031130"/>
              <a:ext cx="325300" cy="447961"/>
            </a:xfrm>
            <a:custGeom>
              <a:avLst/>
              <a:gdLst>
                <a:gd name="T0" fmla="*/ 8595 w 9489"/>
                <a:gd name="T1" fmla="*/ 13067 h 13067"/>
                <a:gd name="T2" fmla="*/ 0 w 9489"/>
                <a:gd name="T3" fmla="*/ 1500 h 13067"/>
                <a:gd name="T4" fmla="*/ 2422 w 9489"/>
                <a:gd name="T5" fmla="*/ 0 h 13067"/>
                <a:gd name="T6" fmla="*/ 9489 w 9489"/>
                <a:gd name="T7" fmla="*/ 11135 h 13067"/>
                <a:gd name="T8" fmla="*/ 8595 w 9489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89" h="13067">
                  <a:moveTo>
                    <a:pt x="8595" y="13067"/>
                  </a:moveTo>
                  <a:lnTo>
                    <a:pt x="0" y="1500"/>
                  </a:lnTo>
                  <a:lnTo>
                    <a:pt x="2422" y="0"/>
                  </a:lnTo>
                  <a:lnTo>
                    <a:pt x="9489" y="11135"/>
                  </a:lnTo>
                  <a:lnTo>
                    <a:pt x="8595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4" name="Freeform 2153">
              <a:extLst>
                <a:ext uri="{FF2B5EF4-FFF2-40B4-BE49-F238E27FC236}">
                  <a16:creationId xmlns:a16="http://schemas.microsoft.com/office/drawing/2014/main" id="{C619249D-A4DE-4AC1-942D-288D95FE4646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7930" y="5420743"/>
              <a:ext cx="265993" cy="66267"/>
            </a:xfrm>
            <a:custGeom>
              <a:avLst/>
              <a:gdLst>
                <a:gd name="T0" fmla="*/ 269 w 269"/>
                <a:gd name="T1" fmla="*/ 67 h 67"/>
                <a:gd name="T2" fmla="*/ 0 w 269"/>
                <a:gd name="T3" fmla="*/ 67 h 67"/>
                <a:gd name="T4" fmla="*/ 112 w 269"/>
                <a:gd name="T5" fmla="*/ 20 h 67"/>
                <a:gd name="T6" fmla="*/ 131 w 269"/>
                <a:gd name="T7" fmla="*/ 0 h 67"/>
                <a:gd name="T8" fmla="*/ 201 w 269"/>
                <a:gd name="T9" fmla="*/ 0 h 67"/>
                <a:gd name="T10" fmla="*/ 269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269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28" y="26"/>
                    <a:pt x="242" y="41"/>
                    <a:pt x="269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5" name="Freeform 2154">
              <a:extLst>
                <a:ext uri="{FF2B5EF4-FFF2-40B4-BE49-F238E27FC236}">
                  <a16:creationId xmlns:a16="http://schemas.microsoft.com/office/drawing/2014/main" id="{456F9812-ABC9-47E0-935D-ABDB1A8641A6}"/>
                </a:ext>
              </a:extLst>
            </p:cNvPr>
            <p:cNvSpPr>
              <a:spLocks/>
            </p:cNvSpPr>
            <p:nvPr/>
          </p:nvSpPr>
          <p:spPr bwMode="gray">
            <a:xfrm>
              <a:off x="4300066" y="5630412"/>
              <a:ext cx="434077" cy="656668"/>
            </a:xfrm>
            <a:custGeom>
              <a:avLst/>
              <a:gdLst>
                <a:gd name="T0" fmla="*/ 353 w 439"/>
                <a:gd name="T1" fmla="*/ 0 h 664"/>
                <a:gd name="T2" fmla="*/ 0 w 439"/>
                <a:gd name="T3" fmla="*/ 607 h 664"/>
                <a:gd name="T4" fmla="*/ 133 w 439"/>
                <a:gd name="T5" fmla="*/ 664 h 664"/>
                <a:gd name="T6" fmla="*/ 439 w 439"/>
                <a:gd name="T7" fmla="*/ 164 h 664"/>
                <a:gd name="T8" fmla="*/ 404 w 439"/>
                <a:gd name="T9" fmla="*/ 31 h 664"/>
                <a:gd name="T10" fmla="*/ 353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353" y="0"/>
                  </a:moveTo>
                  <a:cubicBezTo>
                    <a:pt x="0" y="607"/>
                    <a:pt x="0" y="607"/>
                    <a:pt x="0" y="607"/>
                  </a:cubicBezTo>
                  <a:cubicBezTo>
                    <a:pt x="133" y="664"/>
                    <a:pt x="133" y="664"/>
                    <a:pt x="133" y="664"/>
                  </a:cubicBezTo>
                  <a:cubicBezTo>
                    <a:pt x="439" y="164"/>
                    <a:pt x="439" y="164"/>
                    <a:pt x="439" y="164"/>
                  </a:cubicBezTo>
                  <a:cubicBezTo>
                    <a:pt x="425" y="112"/>
                    <a:pt x="418" y="83"/>
                    <a:pt x="404" y="31"/>
                  </a:cubicBezTo>
                  <a:lnTo>
                    <a:pt x="353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6" name="Freeform 2155">
              <a:extLst>
                <a:ext uri="{FF2B5EF4-FFF2-40B4-BE49-F238E27FC236}">
                  <a16:creationId xmlns:a16="http://schemas.microsoft.com/office/drawing/2014/main" id="{05B8A5CE-6BE0-4D6A-9F14-CD79542D447A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4136" y="6157529"/>
              <a:ext cx="190847" cy="179979"/>
            </a:xfrm>
            <a:custGeom>
              <a:avLst/>
              <a:gdLst>
                <a:gd name="T0" fmla="*/ 137 w 193"/>
                <a:gd name="T1" fmla="*/ 53 h 182"/>
                <a:gd name="T2" fmla="*/ 48 w 193"/>
                <a:gd name="T3" fmla="*/ 0 h 182"/>
                <a:gd name="T4" fmla="*/ 0 w 193"/>
                <a:gd name="T5" fmla="*/ 71 h 182"/>
                <a:gd name="T6" fmla="*/ 93 w 193"/>
                <a:gd name="T7" fmla="*/ 126 h 182"/>
                <a:gd name="T8" fmla="*/ 188 w 193"/>
                <a:gd name="T9" fmla="*/ 182 h 182"/>
                <a:gd name="T10" fmla="*/ 193 w 193"/>
                <a:gd name="T11" fmla="*/ 86 h 182"/>
                <a:gd name="T12" fmla="*/ 137 w 193"/>
                <a:gd name="T13" fmla="*/ 53 h 182"/>
                <a:gd name="T14" fmla="*/ 137 w 193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3" h="182">
                  <a:moveTo>
                    <a:pt x="137" y="53"/>
                  </a:moveTo>
                  <a:cubicBezTo>
                    <a:pt x="49" y="1"/>
                    <a:pt x="48" y="0"/>
                    <a:pt x="48" y="0"/>
                  </a:cubicBezTo>
                  <a:cubicBezTo>
                    <a:pt x="48" y="0"/>
                    <a:pt x="14" y="48"/>
                    <a:pt x="0" y="71"/>
                  </a:cubicBezTo>
                  <a:cubicBezTo>
                    <a:pt x="93" y="126"/>
                    <a:pt x="93" y="126"/>
                    <a:pt x="93" y="126"/>
                  </a:cubicBezTo>
                  <a:cubicBezTo>
                    <a:pt x="188" y="182"/>
                    <a:pt x="188" y="182"/>
                    <a:pt x="188" y="182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7" y="53"/>
                    <a:pt x="137" y="53"/>
                    <a:pt x="137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7" name="Freeform 2156">
              <a:extLst>
                <a:ext uri="{FF2B5EF4-FFF2-40B4-BE49-F238E27FC236}">
                  <a16:creationId xmlns:a16="http://schemas.microsoft.com/office/drawing/2014/main" id="{BF4887E9-1BDD-4AA2-8FEC-F7A51D76A1C6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1290" y="4528731"/>
              <a:ext cx="276893" cy="445012"/>
            </a:xfrm>
            <a:custGeom>
              <a:avLst/>
              <a:gdLst>
                <a:gd name="T0" fmla="*/ 190 w 280"/>
                <a:gd name="T1" fmla="*/ 0 h 450"/>
                <a:gd name="T2" fmla="*/ 9 w 280"/>
                <a:gd name="T3" fmla="*/ 189 h 450"/>
                <a:gd name="T4" fmla="*/ 37 w 280"/>
                <a:gd name="T5" fmla="*/ 280 h 450"/>
                <a:gd name="T6" fmla="*/ 2 w 280"/>
                <a:gd name="T7" fmla="*/ 325 h 450"/>
                <a:gd name="T8" fmla="*/ 11 w 280"/>
                <a:gd name="T9" fmla="*/ 352 h 450"/>
                <a:gd name="T10" fmla="*/ 0 w 280"/>
                <a:gd name="T11" fmla="*/ 404 h 450"/>
                <a:gd name="T12" fmla="*/ 140 w 280"/>
                <a:gd name="T13" fmla="*/ 450 h 450"/>
                <a:gd name="T14" fmla="*/ 156 w 280"/>
                <a:gd name="T15" fmla="*/ 369 h 450"/>
                <a:gd name="T16" fmla="*/ 198 w 280"/>
                <a:gd name="T17" fmla="*/ 376 h 450"/>
                <a:gd name="T18" fmla="*/ 280 w 280"/>
                <a:gd name="T19" fmla="*/ 189 h 450"/>
                <a:gd name="T20" fmla="*/ 1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190" y="0"/>
                  </a:moveTo>
                  <a:cubicBezTo>
                    <a:pt x="115" y="0"/>
                    <a:pt x="9" y="85"/>
                    <a:pt x="9" y="189"/>
                  </a:cubicBezTo>
                  <a:cubicBezTo>
                    <a:pt x="9" y="221"/>
                    <a:pt x="20" y="252"/>
                    <a:pt x="37" y="280"/>
                  </a:cubicBezTo>
                  <a:cubicBezTo>
                    <a:pt x="34" y="285"/>
                    <a:pt x="2" y="325"/>
                    <a:pt x="2" y="325"/>
                  </a:cubicBezTo>
                  <a:cubicBezTo>
                    <a:pt x="11" y="352"/>
                    <a:pt x="11" y="352"/>
                    <a:pt x="11" y="352"/>
                  </a:cubicBezTo>
                  <a:cubicBezTo>
                    <a:pt x="0" y="404"/>
                    <a:pt x="0" y="404"/>
                    <a:pt x="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56" y="369"/>
                    <a:pt x="156" y="369"/>
                    <a:pt x="156" y="369"/>
                  </a:cubicBezTo>
                  <a:cubicBezTo>
                    <a:pt x="170" y="373"/>
                    <a:pt x="184" y="376"/>
                    <a:pt x="198" y="376"/>
                  </a:cubicBezTo>
                  <a:cubicBezTo>
                    <a:pt x="271" y="376"/>
                    <a:pt x="280" y="291"/>
                    <a:pt x="280" y="189"/>
                  </a:cubicBezTo>
                  <a:cubicBezTo>
                    <a:pt x="280" y="85"/>
                    <a:pt x="263" y="0"/>
                    <a:pt x="1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8" name="Freeform 2157">
              <a:extLst>
                <a:ext uri="{FF2B5EF4-FFF2-40B4-BE49-F238E27FC236}">
                  <a16:creationId xmlns:a16="http://schemas.microsoft.com/office/drawing/2014/main" id="{9980563D-55A1-42FE-9507-BD824539051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31983" y="4504014"/>
              <a:ext cx="341138" cy="401509"/>
            </a:xfrm>
            <a:custGeom>
              <a:avLst/>
              <a:gdLst>
                <a:gd name="T0" fmla="*/ 301 w 345"/>
                <a:gd name="T1" fmla="*/ 386 h 406"/>
                <a:gd name="T2" fmla="*/ 267 w 345"/>
                <a:gd name="T3" fmla="*/ 406 h 406"/>
                <a:gd name="T4" fmla="*/ 197 w 345"/>
                <a:gd name="T5" fmla="*/ 394 h 406"/>
                <a:gd name="T6" fmla="*/ 178 w 345"/>
                <a:gd name="T7" fmla="*/ 280 h 406"/>
                <a:gd name="T8" fmla="*/ 132 w 345"/>
                <a:gd name="T9" fmla="*/ 168 h 406"/>
                <a:gd name="T10" fmla="*/ 101 w 345"/>
                <a:gd name="T11" fmla="*/ 300 h 406"/>
                <a:gd name="T12" fmla="*/ 71 w 345"/>
                <a:gd name="T13" fmla="*/ 377 h 406"/>
                <a:gd name="T14" fmla="*/ 0 w 345"/>
                <a:gd name="T15" fmla="*/ 157 h 406"/>
                <a:gd name="T16" fmla="*/ 84 w 345"/>
                <a:gd name="T17" fmla="*/ 6 h 406"/>
                <a:gd name="T18" fmla="*/ 257 w 345"/>
                <a:gd name="T19" fmla="*/ 0 h 406"/>
                <a:gd name="T20" fmla="*/ 335 w 345"/>
                <a:gd name="T21" fmla="*/ 47 h 406"/>
                <a:gd name="T22" fmla="*/ 345 w 345"/>
                <a:gd name="T23" fmla="*/ 74 h 406"/>
                <a:gd name="T24" fmla="*/ 331 w 345"/>
                <a:gd name="T25" fmla="*/ 105 h 406"/>
                <a:gd name="T26" fmla="*/ 249 w 345"/>
                <a:gd name="T27" fmla="*/ 62 h 406"/>
                <a:gd name="T28" fmla="*/ 214 w 345"/>
                <a:gd name="T29" fmla="*/ 159 h 406"/>
                <a:gd name="T30" fmla="*/ 218 w 345"/>
                <a:gd name="T31" fmla="*/ 313 h 406"/>
                <a:gd name="T32" fmla="*/ 319 w 345"/>
                <a:gd name="T33" fmla="*/ 355 h 406"/>
                <a:gd name="T34" fmla="*/ 317 w 345"/>
                <a:gd name="T35" fmla="*/ 371 h 406"/>
                <a:gd name="T36" fmla="*/ 301 w 345"/>
                <a:gd name="T37" fmla="*/ 38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5" h="406">
                  <a:moveTo>
                    <a:pt x="301" y="386"/>
                  </a:moveTo>
                  <a:cubicBezTo>
                    <a:pt x="267" y="406"/>
                    <a:pt x="267" y="406"/>
                    <a:pt x="267" y="406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78" y="280"/>
                    <a:pt x="178" y="280"/>
                    <a:pt x="178" y="280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71" y="377"/>
                    <a:pt x="71" y="377"/>
                    <a:pt x="71" y="377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335" y="47"/>
                    <a:pt x="335" y="47"/>
                    <a:pt x="335" y="47"/>
                  </a:cubicBezTo>
                  <a:cubicBezTo>
                    <a:pt x="339" y="57"/>
                    <a:pt x="341" y="64"/>
                    <a:pt x="345" y="74"/>
                  </a:cubicBezTo>
                  <a:cubicBezTo>
                    <a:pt x="331" y="105"/>
                    <a:pt x="331" y="105"/>
                    <a:pt x="331" y="105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319" y="355"/>
                    <a:pt x="319" y="355"/>
                    <a:pt x="319" y="355"/>
                  </a:cubicBezTo>
                  <a:cubicBezTo>
                    <a:pt x="317" y="371"/>
                    <a:pt x="317" y="371"/>
                    <a:pt x="317" y="371"/>
                  </a:cubicBezTo>
                  <a:lnTo>
                    <a:pt x="301" y="386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09" name="Freeform 2158">
              <a:extLst>
                <a:ext uri="{FF2B5EF4-FFF2-40B4-BE49-F238E27FC236}">
                  <a16:creationId xmlns:a16="http://schemas.microsoft.com/office/drawing/2014/main" id="{1651E3B3-416C-431A-9E69-E06D2E9C098F}"/>
                </a:ext>
              </a:extLst>
            </p:cNvPr>
            <p:cNvSpPr>
              <a:spLocks/>
            </p:cNvSpPr>
            <p:nvPr/>
          </p:nvSpPr>
          <p:spPr bwMode="gray">
            <a:xfrm>
              <a:off x="4102328" y="4893661"/>
              <a:ext cx="328248" cy="665547"/>
            </a:xfrm>
            <a:custGeom>
              <a:avLst/>
              <a:gdLst>
                <a:gd name="T0" fmla="*/ 6807 w 9575"/>
                <a:gd name="T1" fmla="*/ 1558 h 19414"/>
                <a:gd name="T2" fmla="*/ 2711 w 9575"/>
                <a:gd name="T3" fmla="*/ 0 h 19414"/>
                <a:gd name="T4" fmla="*/ 0 w 9575"/>
                <a:gd name="T5" fmla="*/ 4212 h 19414"/>
                <a:gd name="T6" fmla="*/ 605 w 9575"/>
                <a:gd name="T7" fmla="*/ 14250 h 19414"/>
                <a:gd name="T8" fmla="*/ 317 w 9575"/>
                <a:gd name="T9" fmla="*/ 17856 h 19414"/>
                <a:gd name="T10" fmla="*/ 317 w 9575"/>
                <a:gd name="T11" fmla="*/ 19414 h 19414"/>
                <a:gd name="T12" fmla="*/ 9547 w 9575"/>
                <a:gd name="T13" fmla="*/ 18779 h 19414"/>
                <a:gd name="T14" fmla="*/ 9575 w 9575"/>
                <a:gd name="T15" fmla="*/ 5827 h 19414"/>
                <a:gd name="T16" fmla="*/ 6807 w 9575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75" h="19414">
                  <a:moveTo>
                    <a:pt x="6807" y="1558"/>
                  </a:moveTo>
                  <a:lnTo>
                    <a:pt x="2711" y="0"/>
                  </a:lnTo>
                  <a:lnTo>
                    <a:pt x="0" y="4212"/>
                  </a:lnTo>
                  <a:lnTo>
                    <a:pt x="605" y="14250"/>
                  </a:lnTo>
                  <a:lnTo>
                    <a:pt x="317" y="17856"/>
                  </a:lnTo>
                  <a:lnTo>
                    <a:pt x="317" y="19414"/>
                  </a:lnTo>
                  <a:lnTo>
                    <a:pt x="9547" y="18779"/>
                  </a:lnTo>
                  <a:lnTo>
                    <a:pt x="9575" y="5827"/>
                  </a:lnTo>
                  <a:lnTo>
                    <a:pt x="6807" y="1558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0" name="Freeform 2159">
              <a:extLst>
                <a:ext uri="{FF2B5EF4-FFF2-40B4-BE49-F238E27FC236}">
                  <a16:creationId xmlns:a16="http://schemas.microsoft.com/office/drawing/2014/main" id="{4A3B4FC5-D4D3-4086-83E9-85C8A7AA6B2F}"/>
                </a:ext>
              </a:extLst>
            </p:cNvPr>
            <p:cNvSpPr>
              <a:spLocks/>
            </p:cNvSpPr>
            <p:nvPr/>
          </p:nvSpPr>
          <p:spPr bwMode="gray">
            <a:xfrm>
              <a:off x="4510693" y="5741176"/>
              <a:ext cx="195784" cy="602263"/>
            </a:xfrm>
            <a:custGeom>
              <a:avLst/>
              <a:gdLst>
                <a:gd name="T0" fmla="*/ 5711 w 5711"/>
                <a:gd name="T1" fmla="*/ 375 h 17568"/>
                <a:gd name="T2" fmla="*/ 4643 w 5711"/>
                <a:gd name="T3" fmla="*/ 17280 h 17568"/>
                <a:gd name="T4" fmla="*/ 865 w 5711"/>
                <a:gd name="T5" fmla="*/ 17568 h 17568"/>
                <a:gd name="T6" fmla="*/ 634 w 5711"/>
                <a:gd name="T7" fmla="*/ 2221 h 17568"/>
                <a:gd name="T8" fmla="*/ 0 w 5711"/>
                <a:gd name="T9" fmla="*/ 0 h 17568"/>
                <a:gd name="T10" fmla="*/ 5711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5711" y="375"/>
                  </a:moveTo>
                  <a:lnTo>
                    <a:pt x="4643" y="17280"/>
                  </a:lnTo>
                  <a:lnTo>
                    <a:pt x="865" y="17568"/>
                  </a:lnTo>
                  <a:lnTo>
                    <a:pt x="634" y="2221"/>
                  </a:lnTo>
                  <a:lnTo>
                    <a:pt x="0" y="0"/>
                  </a:lnTo>
                  <a:lnTo>
                    <a:pt x="5711" y="375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1" name="Freeform 2160">
              <a:extLst>
                <a:ext uri="{FF2B5EF4-FFF2-40B4-BE49-F238E27FC236}">
                  <a16:creationId xmlns:a16="http://schemas.microsoft.com/office/drawing/2014/main" id="{AC346DED-1D73-47B4-A4D8-3FA06637D998}"/>
                </a:ext>
              </a:extLst>
            </p:cNvPr>
            <p:cNvSpPr>
              <a:spLocks/>
            </p:cNvSpPr>
            <p:nvPr/>
          </p:nvSpPr>
          <p:spPr bwMode="gray">
            <a:xfrm>
              <a:off x="4534418" y="6259381"/>
              <a:ext cx="212582" cy="83065"/>
            </a:xfrm>
            <a:custGeom>
              <a:avLst/>
              <a:gdLst>
                <a:gd name="T0" fmla="*/ 107 w 215"/>
                <a:gd name="T1" fmla="*/ 0 h 84"/>
                <a:gd name="T2" fmla="*/ 5 w 215"/>
                <a:gd name="T3" fmla="*/ 0 h 84"/>
                <a:gd name="T4" fmla="*/ 0 w 215"/>
                <a:gd name="T5" fmla="*/ 84 h 84"/>
                <a:gd name="T6" fmla="*/ 107 w 215"/>
                <a:gd name="T7" fmla="*/ 84 h 84"/>
                <a:gd name="T8" fmla="*/ 215 w 215"/>
                <a:gd name="T9" fmla="*/ 84 h 84"/>
                <a:gd name="T10" fmla="*/ 171 w 215"/>
                <a:gd name="T11" fmla="*/ 0 h 84"/>
                <a:gd name="T12" fmla="*/ 107 w 215"/>
                <a:gd name="T13" fmla="*/ 0 h 84"/>
                <a:gd name="T14" fmla="*/ 107 w 215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84">
                  <a:moveTo>
                    <a:pt x="107" y="0"/>
                  </a:moveTo>
                  <a:cubicBezTo>
                    <a:pt x="6" y="0"/>
                    <a:pt x="5" y="0"/>
                    <a:pt x="5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07" y="84"/>
                    <a:pt x="107" y="84"/>
                    <a:pt x="107" y="84"/>
                  </a:cubicBezTo>
                  <a:cubicBezTo>
                    <a:pt x="215" y="84"/>
                    <a:pt x="215" y="84"/>
                    <a:pt x="215" y="84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2" name="Freeform 2161">
              <a:extLst>
                <a:ext uri="{FF2B5EF4-FFF2-40B4-BE49-F238E27FC236}">
                  <a16:creationId xmlns:a16="http://schemas.microsoft.com/office/drawing/2014/main" id="{8D6B9D50-C371-4F97-B9EA-DB2D0C452BD2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767882"/>
              <a:ext cx="434077" cy="62290"/>
            </a:xfrm>
            <a:custGeom>
              <a:avLst/>
              <a:gdLst>
                <a:gd name="T0" fmla="*/ 393 w 439"/>
                <a:gd name="T1" fmla="*/ 0 h 63"/>
                <a:gd name="T2" fmla="*/ 45 w 439"/>
                <a:gd name="T3" fmla="*/ 0 h 63"/>
                <a:gd name="T4" fmla="*/ 0 w 439"/>
                <a:gd name="T5" fmla="*/ 63 h 63"/>
                <a:gd name="T6" fmla="*/ 439 w 439"/>
                <a:gd name="T7" fmla="*/ 63 h 63"/>
                <a:gd name="T8" fmla="*/ 393 w 439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9" h="63">
                  <a:moveTo>
                    <a:pt x="393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8"/>
                    <a:pt x="0" y="63"/>
                  </a:cubicBezTo>
                  <a:cubicBezTo>
                    <a:pt x="439" y="63"/>
                    <a:pt x="439" y="63"/>
                    <a:pt x="439" y="63"/>
                  </a:cubicBezTo>
                  <a:cubicBezTo>
                    <a:pt x="439" y="28"/>
                    <a:pt x="418" y="0"/>
                    <a:pt x="39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3" name="Freeform 2162">
              <a:extLst>
                <a:ext uri="{FF2B5EF4-FFF2-40B4-BE49-F238E27FC236}">
                  <a16:creationId xmlns:a16="http://schemas.microsoft.com/office/drawing/2014/main" id="{0AF451A3-C733-412B-A773-2E598E96939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825235"/>
              <a:ext cx="434077" cy="42510"/>
            </a:xfrm>
            <a:custGeom>
              <a:avLst/>
              <a:gdLst>
                <a:gd name="T0" fmla="*/ 0 w 12662"/>
                <a:gd name="T1" fmla="*/ 0 h 1240"/>
                <a:gd name="T2" fmla="*/ 12662 w 12662"/>
                <a:gd name="T3" fmla="*/ 0 h 1240"/>
                <a:gd name="T4" fmla="*/ 12662 w 12662"/>
                <a:gd name="T5" fmla="*/ 1240 h 1240"/>
                <a:gd name="T6" fmla="*/ 0 w 12662"/>
                <a:gd name="T7" fmla="*/ 1240 h 1240"/>
                <a:gd name="T8" fmla="*/ 0 w 12662"/>
                <a:gd name="T9" fmla="*/ 0 h 1240"/>
                <a:gd name="T10" fmla="*/ 0 w 12662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62" h="1240">
                  <a:moveTo>
                    <a:pt x="0" y="0"/>
                  </a:moveTo>
                  <a:lnTo>
                    <a:pt x="12662" y="0"/>
                  </a:lnTo>
                  <a:lnTo>
                    <a:pt x="12662" y="1240"/>
                  </a:lnTo>
                  <a:lnTo>
                    <a:pt x="0" y="1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4" name="Freeform 2163">
              <a:extLst>
                <a:ext uri="{FF2B5EF4-FFF2-40B4-BE49-F238E27FC236}">
                  <a16:creationId xmlns:a16="http://schemas.microsoft.com/office/drawing/2014/main" id="{A59C9FE5-EF5D-4540-AF00-4C0A3F78E704}"/>
                </a:ext>
              </a:extLst>
            </p:cNvPr>
            <p:cNvSpPr>
              <a:spLocks/>
            </p:cNvSpPr>
            <p:nvPr/>
          </p:nvSpPr>
          <p:spPr bwMode="gray">
            <a:xfrm>
              <a:off x="4067704" y="6115979"/>
              <a:ext cx="420226" cy="22763"/>
            </a:xfrm>
            <a:custGeom>
              <a:avLst/>
              <a:gdLst>
                <a:gd name="T0" fmla="*/ 0 w 12258"/>
                <a:gd name="T1" fmla="*/ 0 h 664"/>
                <a:gd name="T2" fmla="*/ 12258 w 12258"/>
                <a:gd name="T3" fmla="*/ 0 h 664"/>
                <a:gd name="T4" fmla="*/ 12258 w 12258"/>
                <a:gd name="T5" fmla="*/ 664 h 664"/>
                <a:gd name="T6" fmla="*/ 0 w 12258"/>
                <a:gd name="T7" fmla="*/ 664 h 664"/>
                <a:gd name="T8" fmla="*/ 0 w 12258"/>
                <a:gd name="T9" fmla="*/ 0 h 664"/>
                <a:gd name="T10" fmla="*/ 0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0" y="0"/>
                  </a:moveTo>
                  <a:lnTo>
                    <a:pt x="12258" y="0"/>
                  </a:lnTo>
                  <a:lnTo>
                    <a:pt x="12258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5" name="Freeform 2164">
              <a:extLst>
                <a:ext uri="{FF2B5EF4-FFF2-40B4-BE49-F238E27FC236}">
                  <a16:creationId xmlns:a16="http://schemas.microsoft.com/office/drawing/2014/main" id="{285BBA7A-0623-4289-8553-A77C3D91BE7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456363"/>
              <a:ext cx="53411" cy="883134"/>
            </a:xfrm>
            <a:custGeom>
              <a:avLst/>
              <a:gdLst>
                <a:gd name="T0" fmla="*/ 0 w 1558"/>
                <a:gd name="T1" fmla="*/ 0 h 25761"/>
                <a:gd name="T2" fmla="*/ 1558 w 1558"/>
                <a:gd name="T3" fmla="*/ 0 h 25761"/>
                <a:gd name="T4" fmla="*/ 1558 w 1558"/>
                <a:gd name="T5" fmla="*/ 25761 h 25761"/>
                <a:gd name="T6" fmla="*/ 0 w 1558"/>
                <a:gd name="T7" fmla="*/ 25761 h 25761"/>
                <a:gd name="T8" fmla="*/ 0 w 1558"/>
                <a:gd name="T9" fmla="*/ 0 h 25761"/>
                <a:gd name="T10" fmla="*/ 0 w 1558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8" h="25761">
                  <a:moveTo>
                    <a:pt x="0" y="0"/>
                  </a:moveTo>
                  <a:lnTo>
                    <a:pt x="1558" y="0"/>
                  </a:lnTo>
                  <a:lnTo>
                    <a:pt x="1558" y="25761"/>
                  </a:lnTo>
                  <a:lnTo>
                    <a:pt x="0" y="2576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6" name="Freeform 2165">
              <a:extLst>
                <a:ext uri="{FF2B5EF4-FFF2-40B4-BE49-F238E27FC236}">
                  <a16:creationId xmlns:a16="http://schemas.microsoft.com/office/drawing/2014/main" id="{48FBFE5C-537C-4C64-83ED-E25BEEED86DD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201" y="5825235"/>
              <a:ext cx="45491" cy="517210"/>
            </a:xfrm>
            <a:custGeom>
              <a:avLst/>
              <a:gdLst>
                <a:gd name="T0" fmla="*/ 0 w 1327"/>
                <a:gd name="T1" fmla="*/ 0 h 15087"/>
                <a:gd name="T2" fmla="*/ 1327 w 1327"/>
                <a:gd name="T3" fmla="*/ 0 h 15087"/>
                <a:gd name="T4" fmla="*/ 1327 w 1327"/>
                <a:gd name="T5" fmla="*/ 15087 h 15087"/>
                <a:gd name="T6" fmla="*/ 0 w 1327"/>
                <a:gd name="T7" fmla="*/ 15087 h 15087"/>
                <a:gd name="T8" fmla="*/ 0 w 1327"/>
                <a:gd name="T9" fmla="*/ 0 h 15087"/>
                <a:gd name="T10" fmla="*/ 0 w 1327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7" h="15087">
                  <a:moveTo>
                    <a:pt x="0" y="0"/>
                  </a:moveTo>
                  <a:lnTo>
                    <a:pt x="1327" y="0"/>
                  </a:lnTo>
                  <a:lnTo>
                    <a:pt x="1327" y="15087"/>
                  </a:lnTo>
                  <a:lnTo>
                    <a:pt x="0" y="1508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7" name="Freeform 2166">
              <a:extLst>
                <a:ext uri="{FF2B5EF4-FFF2-40B4-BE49-F238E27FC236}">
                  <a16:creationId xmlns:a16="http://schemas.microsoft.com/office/drawing/2014/main" id="{AE0551DD-42DB-4309-8DDF-476CB431B20C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221978"/>
              <a:ext cx="53411" cy="234385"/>
            </a:xfrm>
            <a:custGeom>
              <a:avLst/>
              <a:gdLst>
                <a:gd name="T0" fmla="*/ 40 w 54"/>
                <a:gd name="T1" fmla="*/ 0 h 237"/>
                <a:gd name="T2" fmla="*/ 14 w 54"/>
                <a:gd name="T3" fmla="*/ 0 h 237"/>
                <a:gd name="T4" fmla="*/ 0 w 54"/>
                <a:gd name="T5" fmla="*/ 134 h 237"/>
                <a:gd name="T6" fmla="*/ 0 w 54"/>
                <a:gd name="T7" fmla="*/ 237 h 237"/>
                <a:gd name="T8" fmla="*/ 54 w 54"/>
                <a:gd name="T9" fmla="*/ 237 h 237"/>
                <a:gd name="T10" fmla="*/ 54 w 54"/>
                <a:gd name="T11" fmla="*/ 134 h 237"/>
                <a:gd name="T12" fmla="*/ 40 w 54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37">
                  <a:moveTo>
                    <a:pt x="40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0"/>
                    <a:pt x="0" y="134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54" y="237"/>
                    <a:pt x="54" y="237"/>
                    <a:pt x="54" y="237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4" y="60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8" name="Freeform 2167">
              <a:extLst>
                <a:ext uri="{FF2B5EF4-FFF2-40B4-BE49-F238E27FC236}">
                  <a16:creationId xmlns:a16="http://schemas.microsoft.com/office/drawing/2014/main" id="{840B2859-7290-4530-846F-1B8A0CC26839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6042" y="5551288"/>
              <a:ext cx="490436" cy="216593"/>
            </a:xfrm>
            <a:custGeom>
              <a:avLst/>
              <a:gdLst>
                <a:gd name="T0" fmla="*/ 14306 w 14306"/>
                <a:gd name="T1" fmla="*/ 6318 h 6318"/>
                <a:gd name="T2" fmla="*/ 0 w 14306"/>
                <a:gd name="T3" fmla="*/ 6318 h 6318"/>
                <a:gd name="T4" fmla="*/ 0 w 14306"/>
                <a:gd name="T5" fmla="*/ 0 h 6318"/>
                <a:gd name="T6" fmla="*/ 12344 w 14306"/>
                <a:gd name="T7" fmla="*/ 1472 h 6318"/>
                <a:gd name="T8" fmla="*/ 14306 w 14306"/>
                <a:gd name="T9" fmla="*/ 3375 h 6318"/>
                <a:gd name="T10" fmla="*/ 14306 w 14306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06" h="6318">
                  <a:moveTo>
                    <a:pt x="14306" y="6318"/>
                  </a:moveTo>
                  <a:lnTo>
                    <a:pt x="0" y="6318"/>
                  </a:lnTo>
                  <a:lnTo>
                    <a:pt x="0" y="0"/>
                  </a:lnTo>
                  <a:lnTo>
                    <a:pt x="12344" y="1472"/>
                  </a:lnTo>
                  <a:lnTo>
                    <a:pt x="14306" y="3375"/>
                  </a:lnTo>
                  <a:lnTo>
                    <a:pt x="14306" y="6318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19" name="Freeform 2168">
              <a:extLst>
                <a:ext uri="{FF2B5EF4-FFF2-40B4-BE49-F238E27FC236}">
                  <a16:creationId xmlns:a16="http://schemas.microsoft.com/office/drawing/2014/main" id="{53DAF2E6-E868-4B7A-9C38-A5C8978CECD4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75046"/>
              <a:ext cx="212582" cy="192836"/>
            </a:xfrm>
            <a:custGeom>
              <a:avLst/>
              <a:gdLst>
                <a:gd name="T0" fmla="*/ 44 w 215"/>
                <a:gd name="T1" fmla="*/ 195 h 195"/>
                <a:gd name="T2" fmla="*/ 192 w 215"/>
                <a:gd name="T3" fmla="*/ 195 h 195"/>
                <a:gd name="T4" fmla="*/ 215 w 215"/>
                <a:gd name="T5" fmla="*/ 172 h 195"/>
                <a:gd name="T6" fmla="*/ 215 w 215"/>
                <a:gd name="T7" fmla="*/ 23 h 195"/>
                <a:gd name="T8" fmla="*/ 192 w 215"/>
                <a:gd name="T9" fmla="*/ 0 h 195"/>
                <a:gd name="T10" fmla="*/ 23 w 215"/>
                <a:gd name="T11" fmla="*/ 0 h 195"/>
                <a:gd name="T12" fmla="*/ 0 w 215"/>
                <a:gd name="T13" fmla="*/ 23 h 195"/>
                <a:gd name="T14" fmla="*/ 0 w 215"/>
                <a:gd name="T15" fmla="*/ 152 h 195"/>
                <a:gd name="T16" fmla="*/ 44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44" y="195"/>
                  </a:moveTo>
                  <a:cubicBezTo>
                    <a:pt x="192" y="195"/>
                    <a:pt x="192" y="195"/>
                    <a:pt x="192" y="195"/>
                  </a:cubicBezTo>
                  <a:cubicBezTo>
                    <a:pt x="205" y="195"/>
                    <a:pt x="215" y="185"/>
                    <a:pt x="215" y="172"/>
                  </a:cubicBezTo>
                  <a:cubicBezTo>
                    <a:pt x="215" y="23"/>
                    <a:pt x="215" y="23"/>
                    <a:pt x="215" y="23"/>
                  </a:cubicBezTo>
                  <a:cubicBezTo>
                    <a:pt x="215" y="11"/>
                    <a:pt x="205" y="0"/>
                    <a:pt x="19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7" y="169"/>
                    <a:pt x="27" y="178"/>
                    <a:pt x="44" y="195"/>
                  </a:cubicBez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0" name="Freeform 2169">
              <a:extLst>
                <a:ext uri="{FF2B5EF4-FFF2-40B4-BE49-F238E27FC236}">
                  <a16:creationId xmlns:a16="http://schemas.microsoft.com/office/drawing/2014/main" id="{EFE0F85A-1EBD-4351-966B-4F917D0493D3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11728"/>
              <a:ext cx="316421" cy="90025"/>
            </a:xfrm>
            <a:custGeom>
              <a:avLst/>
              <a:gdLst>
                <a:gd name="T0" fmla="*/ 7672 w 9230"/>
                <a:gd name="T1" fmla="*/ 2135 h 2626"/>
                <a:gd name="T2" fmla="*/ 0 w 9230"/>
                <a:gd name="T3" fmla="*/ 2626 h 2626"/>
                <a:gd name="T4" fmla="*/ 0 w 9230"/>
                <a:gd name="T5" fmla="*/ 0 h 2626"/>
                <a:gd name="T6" fmla="*/ 9230 w 9230"/>
                <a:gd name="T7" fmla="*/ 750 h 2626"/>
                <a:gd name="T8" fmla="*/ 9114 w 9230"/>
                <a:gd name="T9" fmla="*/ 1876 h 2626"/>
                <a:gd name="T10" fmla="*/ 7672 w 9230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0" h="2626">
                  <a:moveTo>
                    <a:pt x="7672" y="2135"/>
                  </a:moveTo>
                  <a:lnTo>
                    <a:pt x="0" y="2626"/>
                  </a:lnTo>
                  <a:lnTo>
                    <a:pt x="0" y="0"/>
                  </a:lnTo>
                  <a:lnTo>
                    <a:pt x="9230" y="750"/>
                  </a:lnTo>
                  <a:lnTo>
                    <a:pt x="9114" y="1876"/>
                  </a:lnTo>
                  <a:lnTo>
                    <a:pt x="7672" y="2135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1" name="Freeform 2170">
              <a:extLst>
                <a:ext uri="{FF2B5EF4-FFF2-40B4-BE49-F238E27FC236}">
                  <a16:creationId xmlns:a16="http://schemas.microsoft.com/office/drawing/2014/main" id="{ADD32C4C-1E1F-452B-86E8-735B6D0E7CD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0192" y="5088485"/>
              <a:ext cx="252143" cy="398526"/>
            </a:xfrm>
            <a:custGeom>
              <a:avLst/>
              <a:gdLst>
                <a:gd name="T0" fmla="*/ 5768 w 7355"/>
                <a:gd name="T1" fmla="*/ 11625 h 11625"/>
                <a:gd name="T2" fmla="*/ 0 w 7355"/>
                <a:gd name="T3" fmla="*/ 4875 h 11625"/>
                <a:gd name="T4" fmla="*/ 1730 w 7355"/>
                <a:gd name="T5" fmla="*/ 0 h 11625"/>
                <a:gd name="T6" fmla="*/ 7355 w 7355"/>
                <a:gd name="T7" fmla="*/ 9173 h 11625"/>
                <a:gd name="T8" fmla="*/ 5768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5768" y="11625"/>
                  </a:moveTo>
                  <a:lnTo>
                    <a:pt x="0" y="4875"/>
                  </a:lnTo>
                  <a:lnTo>
                    <a:pt x="1730" y="0"/>
                  </a:lnTo>
                  <a:lnTo>
                    <a:pt x="7355" y="9173"/>
                  </a:lnTo>
                  <a:lnTo>
                    <a:pt x="5768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2" name="Freeform 2171">
              <a:extLst>
                <a:ext uri="{FF2B5EF4-FFF2-40B4-BE49-F238E27FC236}">
                  <a16:creationId xmlns:a16="http://schemas.microsoft.com/office/drawing/2014/main" id="{E6EAE067-1AB9-40E2-A9A2-7DBE03383AE2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0045" y="5399009"/>
              <a:ext cx="183887" cy="88001"/>
            </a:xfrm>
            <a:custGeom>
              <a:avLst/>
              <a:gdLst>
                <a:gd name="T0" fmla="*/ 5364 w 5364"/>
                <a:gd name="T1" fmla="*/ 2336 h 2567"/>
                <a:gd name="T2" fmla="*/ 230 w 5364"/>
                <a:gd name="T3" fmla="*/ 2567 h 2567"/>
                <a:gd name="T4" fmla="*/ 0 w 5364"/>
                <a:gd name="T5" fmla="*/ 750 h 2567"/>
                <a:gd name="T6" fmla="*/ 1471 w 5364"/>
                <a:gd name="T7" fmla="*/ 0 h 2567"/>
                <a:gd name="T8" fmla="*/ 3951 w 5364"/>
                <a:gd name="T9" fmla="*/ 519 h 2567"/>
                <a:gd name="T10" fmla="*/ 5364 w 5364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4" h="2567">
                  <a:moveTo>
                    <a:pt x="5364" y="2336"/>
                  </a:moveTo>
                  <a:lnTo>
                    <a:pt x="230" y="2567"/>
                  </a:lnTo>
                  <a:lnTo>
                    <a:pt x="0" y="750"/>
                  </a:lnTo>
                  <a:lnTo>
                    <a:pt x="1471" y="0"/>
                  </a:lnTo>
                  <a:lnTo>
                    <a:pt x="3951" y="519"/>
                  </a:lnTo>
                  <a:lnTo>
                    <a:pt x="5364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3" name="Freeform 2172">
              <a:extLst>
                <a:ext uri="{FF2B5EF4-FFF2-40B4-BE49-F238E27FC236}">
                  <a16:creationId xmlns:a16="http://schemas.microsoft.com/office/drawing/2014/main" id="{4863DB5E-7FE3-4B45-A60E-4D3A89D86AB5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5613" y="4980667"/>
              <a:ext cx="255091" cy="288790"/>
            </a:xfrm>
            <a:custGeom>
              <a:avLst/>
              <a:gdLst>
                <a:gd name="T0" fmla="*/ 258 w 258"/>
                <a:gd name="T1" fmla="*/ 205 h 292"/>
                <a:gd name="T2" fmla="*/ 122 w 258"/>
                <a:gd name="T3" fmla="*/ 292 h 292"/>
                <a:gd name="T4" fmla="*/ 0 w 258"/>
                <a:gd name="T5" fmla="*/ 100 h 292"/>
                <a:gd name="T6" fmla="*/ 14 w 258"/>
                <a:gd name="T7" fmla="*/ 38 h 292"/>
                <a:gd name="T8" fmla="*/ 74 w 258"/>
                <a:gd name="T9" fmla="*/ 0 h 292"/>
                <a:gd name="T10" fmla="*/ 136 w 258"/>
                <a:gd name="T11" fmla="*/ 13 h 292"/>
                <a:gd name="T12" fmla="*/ 258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258" y="205"/>
                  </a:moveTo>
                  <a:cubicBezTo>
                    <a:pt x="122" y="292"/>
                    <a:pt x="122" y="292"/>
                    <a:pt x="122" y="29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8" y="62"/>
                    <a:pt x="14" y="3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5"/>
                    <a:pt x="136" y="13"/>
                    <a:pt x="136" y="13"/>
                  </a:cubicBezTo>
                  <a:lnTo>
                    <a:pt x="258" y="205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4" name="Freeform 2173">
              <a:extLst>
                <a:ext uri="{FF2B5EF4-FFF2-40B4-BE49-F238E27FC236}">
                  <a16:creationId xmlns:a16="http://schemas.microsoft.com/office/drawing/2014/main" id="{DBB77F21-4190-4AB9-9DCE-B723D487CAA9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695" y="5399009"/>
              <a:ext cx="106788" cy="80083"/>
            </a:xfrm>
            <a:custGeom>
              <a:avLst/>
              <a:gdLst>
                <a:gd name="T0" fmla="*/ 108 w 108"/>
                <a:gd name="T1" fmla="*/ 48 h 81"/>
                <a:gd name="T2" fmla="*/ 65 w 108"/>
                <a:gd name="T3" fmla="*/ 81 h 81"/>
                <a:gd name="T4" fmla="*/ 0 w 108"/>
                <a:gd name="T5" fmla="*/ 14 h 81"/>
                <a:gd name="T6" fmla="*/ 13 w 108"/>
                <a:gd name="T7" fmla="*/ 0 h 81"/>
                <a:gd name="T8" fmla="*/ 61 w 108"/>
                <a:gd name="T9" fmla="*/ 0 h 81"/>
                <a:gd name="T10" fmla="*/ 108 w 108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81">
                  <a:moveTo>
                    <a:pt x="108" y="48"/>
                  </a:moveTo>
                  <a:cubicBezTo>
                    <a:pt x="65" y="81"/>
                    <a:pt x="65" y="81"/>
                    <a:pt x="65" y="8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79" y="19"/>
                    <a:pt x="89" y="29"/>
                    <a:pt x="108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5" name="Freeform 2174">
              <a:extLst>
                <a:ext uri="{FF2B5EF4-FFF2-40B4-BE49-F238E27FC236}">
                  <a16:creationId xmlns:a16="http://schemas.microsoft.com/office/drawing/2014/main" id="{51FA8E34-EE08-48F8-938D-46F571674117}"/>
                </a:ext>
              </a:extLst>
            </p:cNvPr>
            <p:cNvSpPr>
              <a:spLocks/>
            </p:cNvSpPr>
            <p:nvPr/>
          </p:nvSpPr>
          <p:spPr bwMode="gray">
            <a:xfrm>
              <a:off x="9229172" y="5031130"/>
              <a:ext cx="325335" cy="447961"/>
            </a:xfrm>
            <a:custGeom>
              <a:avLst/>
              <a:gdLst>
                <a:gd name="T0" fmla="*/ 894 w 9490"/>
                <a:gd name="T1" fmla="*/ 13067 h 13067"/>
                <a:gd name="T2" fmla="*/ 9490 w 9490"/>
                <a:gd name="T3" fmla="*/ 1500 h 13067"/>
                <a:gd name="T4" fmla="*/ 7067 w 9490"/>
                <a:gd name="T5" fmla="*/ 0 h 13067"/>
                <a:gd name="T6" fmla="*/ 0 w 9490"/>
                <a:gd name="T7" fmla="*/ 11135 h 13067"/>
                <a:gd name="T8" fmla="*/ 894 w 9490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90" h="13067">
                  <a:moveTo>
                    <a:pt x="894" y="13067"/>
                  </a:moveTo>
                  <a:lnTo>
                    <a:pt x="9490" y="1500"/>
                  </a:lnTo>
                  <a:lnTo>
                    <a:pt x="7067" y="0"/>
                  </a:lnTo>
                  <a:lnTo>
                    <a:pt x="0" y="11135"/>
                  </a:lnTo>
                  <a:lnTo>
                    <a:pt x="894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6" name="Freeform 2175">
              <a:extLst>
                <a:ext uri="{FF2B5EF4-FFF2-40B4-BE49-F238E27FC236}">
                  <a16:creationId xmlns:a16="http://schemas.microsoft.com/office/drawing/2014/main" id="{F0E0437B-4BAE-42C8-820F-2146856FCBB9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0087" y="5420743"/>
              <a:ext cx="265992" cy="66267"/>
            </a:xfrm>
            <a:custGeom>
              <a:avLst/>
              <a:gdLst>
                <a:gd name="T0" fmla="*/ 0 w 269"/>
                <a:gd name="T1" fmla="*/ 67 h 67"/>
                <a:gd name="T2" fmla="*/ 269 w 269"/>
                <a:gd name="T3" fmla="*/ 67 h 67"/>
                <a:gd name="T4" fmla="*/ 157 w 269"/>
                <a:gd name="T5" fmla="*/ 20 h 67"/>
                <a:gd name="T6" fmla="*/ 138 w 269"/>
                <a:gd name="T7" fmla="*/ 0 h 67"/>
                <a:gd name="T8" fmla="*/ 68 w 269"/>
                <a:gd name="T9" fmla="*/ 0 h 67"/>
                <a:gd name="T10" fmla="*/ 0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0" y="67"/>
                  </a:moveTo>
                  <a:cubicBezTo>
                    <a:pt x="269" y="67"/>
                    <a:pt x="269" y="67"/>
                    <a:pt x="269" y="67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2" y="26"/>
                    <a:pt x="27" y="41"/>
                    <a:pt x="0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7" name="Freeform 2176">
              <a:extLst>
                <a:ext uri="{FF2B5EF4-FFF2-40B4-BE49-F238E27FC236}">
                  <a16:creationId xmlns:a16="http://schemas.microsoft.com/office/drawing/2014/main" id="{D76630BE-9D1C-407A-ACA3-6B240245EE31}"/>
                </a:ext>
              </a:extLst>
            </p:cNvPr>
            <p:cNvSpPr>
              <a:spLocks/>
            </p:cNvSpPr>
            <p:nvPr/>
          </p:nvSpPr>
          <p:spPr bwMode="gray">
            <a:xfrm>
              <a:off x="9079867" y="5630412"/>
              <a:ext cx="434077" cy="656668"/>
            </a:xfrm>
            <a:custGeom>
              <a:avLst/>
              <a:gdLst>
                <a:gd name="T0" fmla="*/ 86 w 439"/>
                <a:gd name="T1" fmla="*/ 0 h 664"/>
                <a:gd name="T2" fmla="*/ 439 w 439"/>
                <a:gd name="T3" fmla="*/ 607 h 664"/>
                <a:gd name="T4" fmla="*/ 306 w 439"/>
                <a:gd name="T5" fmla="*/ 664 h 664"/>
                <a:gd name="T6" fmla="*/ 0 w 439"/>
                <a:gd name="T7" fmla="*/ 164 h 664"/>
                <a:gd name="T8" fmla="*/ 35 w 439"/>
                <a:gd name="T9" fmla="*/ 31 h 664"/>
                <a:gd name="T10" fmla="*/ 86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86" y="0"/>
                  </a:moveTo>
                  <a:cubicBezTo>
                    <a:pt x="439" y="607"/>
                    <a:pt x="439" y="607"/>
                    <a:pt x="439" y="607"/>
                  </a:cubicBezTo>
                  <a:cubicBezTo>
                    <a:pt x="306" y="664"/>
                    <a:pt x="306" y="664"/>
                    <a:pt x="306" y="6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4" y="112"/>
                    <a:pt x="21" y="83"/>
                    <a:pt x="35" y="31"/>
                  </a:cubicBezTo>
                  <a:lnTo>
                    <a:pt x="86" y="0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8" name="Freeform 2177">
              <a:extLst>
                <a:ext uri="{FF2B5EF4-FFF2-40B4-BE49-F238E27FC236}">
                  <a16:creationId xmlns:a16="http://schemas.microsoft.com/office/drawing/2014/main" id="{0232653D-7716-48E6-9768-F692BDC3141E}"/>
                </a:ext>
              </a:extLst>
            </p:cNvPr>
            <p:cNvSpPr>
              <a:spLocks/>
            </p:cNvSpPr>
            <p:nvPr/>
          </p:nvSpPr>
          <p:spPr bwMode="gray">
            <a:xfrm>
              <a:off x="9330022" y="6157529"/>
              <a:ext cx="189853" cy="179979"/>
            </a:xfrm>
            <a:custGeom>
              <a:avLst/>
              <a:gdLst>
                <a:gd name="T0" fmla="*/ 56 w 192"/>
                <a:gd name="T1" fmla="*/ 53 h 182"/>
                <a:gd name="T2" fmla="*/ 145 w 192"/>
                <a:gd name="T3" fmla="*/ 0 h 182"/>
                <a:gd name="T4" fmla="*/ 192 w 192"/>
                <a:gd name="T5" fmla="*/ 71 h 182"/>
                <a:gd name="T6" fmla="*/ 99 w 192"/>
                <a:gd name="T7" fmla="*/ 126 h 182"/>
                <a:gd name="T8" fmla="*/ 4 w 192"/>
                <a:gd name="T9" fmla="*/ 182 h 182"/>
                <a:gd name="T10" fmla="*/ 0 w 192"/>
                <a:gd name="T11" fmla="*/ 86 h 182"/>
                <a:gd name="T12" fmla="*/ 56 w 192"/>
                <a:gd name="T13" fmla="*/ 53 h 182"/>
                <a:gd name="T14" fmla="*/ 56 w 192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182">
                  <a:moveTo>
                    <a:pt x="56" y="53"/>
                  </a:moveTo>
                  <a:cubicBezTo>
                    <a:pt x="143" y="1"/>
                    <a:pt x="145" y="0"/>
                    <a:pt x="145" y="0"/>
                  </a:cubicBezTo>
                  <a:cubicBezTo>
                    <a:pt x="145" y="0"/>
                    <a:pt x="179" y="48"/>
                    <a:pt x="192" y="71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53"/>
                    <a:pt x="56" y="53"/>
                    <a:pt x="56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29" name="Freeform 2178">
              <a:extLst>
                <a:ext uri="{FF2B5EF4-FFF2-40B4-BE49-F238E27FC236}">
                  <a16:creationId xmlns:a16="http://schemas.microsoft.com/office/drawing/2014/main" id="{875066E3-CFAB-4105-9919-CDF513A355D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5861" y="4528731"/>
              <a:ext cx="276859" cy="445012"/>
            </a:xfrm>
            <a:custGeom>
              <a:avLst/>
              <a:gdLst>
                <a:gd name="T0" fmla="*/ 90 w 280"/>
                <a:gd name="T1" fmla="*/ 0 h 450"/>
                <a:gd name="T2" fmla="*/ 271 w 280"/>
                <a:gd name="T3" fmla="*/ 189 h 450"/>
                <a:gd name="T4" fmla="*/ 243 w 280"/>
                <a:gd name="T5" fmla="*/ 280 h 450"/>
                <a:gd name="T6" fmla="*/ 278 w 280"/>
                <a:gd name="T7" fmla="*/ 325 h 450"/>
                <a:gd name="T8" fmla="*/ 269 w 280"/>
                <a:gd name="T9" fmla="*/ 352 h 450"/>
                <a:gd name="T10" fmla="*/ 280 w 280"/>
                <a:gd name="T11" fmla="*/ 404 h 450"/>
                <a:gd name="T12" fmla="*/ 140 w 280"/>
                <a:gd name="T13" fmla="*/ 450 h 450"/>
                <a:gd name="T14" fmla="*/ 124 w 280"/>
                <a:gd name="T15" fmla="*/ 369 h 450"/>
                <a:gd name="T16" fmla="*/ 82 w 280"/>
                <a:gd name="T17" fmla="*/ 376 h 450"/>
                <a:gd name="T18" fmla="*/ 0 w 280"/>
                <a:gd name="T19" fmla="*/ 189 h 450"/>
                <a:gd name="T20" fmla="*/ 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90" y="0"/>
                  </a:moveTo>
                  <a:cubicBezTo>
                    <a:pt x="165" y="0"/>
                    <a:pt x="271" y="85"/>
                    <a:pt x="271" y="189"/>
                  </a:cubicBezTo>
                  <a:cubicBezTo>
                    <a:pt x="271" y="221"/>
                    <a:pt x="261" y="252"/>
                    <a:pt x="243" y="280"/>
                  </a:cubicBezTo>
                  <a:cubicBezTo>
                    <a:pt x="247" y="285"/>
                    <a:pt x="278" y="325"/>
                    <a:pt x="278" y="325"/>
                  </a:cubicBezTo>
                  <a:cubicBezTo>
                    <a:pt x="269" y="352"/>
                    <a:pt x="269" y="352"/>
                    <a:pt x="269" y="352"/>
                  </a:cubicBezTo>
                  <a:cubicBezTo>
                    <a:pt x="280" y="404"/>
                    <a:pt x="280" y="404"/>
                    <a:pt x="28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24" y="369"/>
                    <a:pt x="124" y="369"/>
                    <a:pt x="124" y="369"/>
                  </a:cubicBezTo>
                  <a:cubicBezTo>
                    <a:pt x="110" y="373"/>
                    <a:pt x="96" y="376"/>
                    <a:pt x="82" y="376"/>
                  </a:cubicBezTo>
                  <a:cubicBezTo>
                    <a:pt x="9" y="376"/>
                    <a:pt x="0" y="291"/>
                    <a:pt x="0" y="189"/>
                  </a:cubicBezTo>
                  <a:cubicBezTo>
                    <a:pt x="0" y="85"/>
                    <a:pt x="17" y="0"/>
                    <a:pt x="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0" name="Freeform 2179">
              <a:extLst>
                <a:ext uri="{FF2B5EF4-FFF2-40B4-BE49-F238E27FC236}">
                  <a16:creationId xmlns:a16="http://schemas.microsoft.com/office/drawing/2014/main" id="{3B3ECF27-8C60-4F0F-B3D7-A13426B7B70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0889" y="4485228"/>
              <a:ext cx="341138" cy="391601"/>
            </a:xfrm>
            <a:custGeom>
              <a:avLst/>
              <a:gdLst>
                <a:gd name="T0" fmla="*/ 168 w 345"/>
                <a:gd name="T1" fmla="*/ 299 h 396"/>
                <a:gd name="T2" fmla="*/ 194 w 345"/>
                <a:gd name="T3" fmla="*/ 183 h 396"/>
                <a:gd name="T4" fmla="*/ 216 w 345"/>
                <a:gd name="T5" fmla="*/ 207 h 396"/>
                <a:gd name="T6" fmla="*/ 244 w 345"/>
                <a:gd name="T7" fmla="*/ 319 h 396"/>
                <a:gd name="T8" fmla="*/ 274 w 345"/>
                <a:gd name="T9" fmla="*/ 396 h 396"/>
                <a:gd name="T10" fmla="*/ 322 w 345"/>
                <a:gd name="T11" fmla="*/ 347 h 396"/>
                <a:gd name="T12" fmla="*/ 345 w 345"/>
                <a:gd name="T13" fmla="*/ 176 h 396"/>
                <a:gd name="T14" fmla="*/ 325 w 345"/>
                <a:gd name="T15" fmla="*/ 104 h 396"/>
                <a:gd name="T16" fmla="*/ 261 w 345"/>
                <a:gd name="T17" fmla="*/ 25 h 396"/>
                <a:gd name="T18" fmla="*/ 181 w 345"/>
                <a:gd name="T19" fmla="*/ 0 h 396"/>
                <a:gd name="T20" fmla="*/ 88 w 345"/>
                <a:gd name="T21" fmla="*/ 19 h 396"/>
                <a:gd name="T22" fmla="*/ 10 w 345"/>
                <a:gd name="T23" fmla="*/ 66 h 396"/>
                <a:gd name="T24" fmla="*/ 0 w 345"/>
                <a:gd name="T25" fmla="*/ 93 h 396"/>
                <a:gd name="T26" fmla="*/ 14 w 345"/>
                <a:gd name="T27" fmla="*/ 124 h 396"/>
                <a:gd name="T28" fmla="*/ 96 w 345"/>
                <a:gd name="T29" fmla="*/ 81 h 396"/>
                <a:gd name="T30" fmla="*/ 131 w 345"/>
                <a:gd name="T31" fmla="*/ 178 h 396"/>
                <a:gd name="T32" fmla="*/ 168 w 345"/>
                <a:gd name="T33" fmla="*/ 29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5" h="396">
                  <a:moveTo>
                    <a:pt x="168" y="299"/>
                  </a:moveTo>
                  <a:cubicBezTo>
                    <a:pt x="194" y="183"/>
                    <a:pt x="194" y="183"/>
                    <a:pt x="194" y="183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44" y="319"/>
                    <a:pt x="244" y="319"/>
                    <a:pt x="244" y="319"/>
                  </a:cubicBezTo>
                  <a:cubicBezTo>
                    <a:pt x="274" y="396"/>
                    <a:pt x="274" y="396"/>
                    <a:pt x="274" y="396"/>
                  </a:cubicBezTo>
                  <a:cubicBezTo>
                    <a:pt x="322" y="347"/>
                    <a:pt x="322" y="347"/>
                    <a:pt x="322" y="347"/>
                  </a:cubicBezTo>
                  <a:cubicBezTo>
                    <a:pt x="345" y="176"/>
                    <a:pt x="345" y="176"/>
                    <a:pt x="345" y="176"/>
                  </a:cubicBezTo>
                  <a:cubicBezTo>
                    <a:pt x="325" y="104"/>
                    <a:pt x="325" y="104"/>
                    <a:pt x="325" y="104"/>
                  </a:cubicBezTo>
                  <a:cubicBezTo>
                    <a:pt x="261" y="25"/>
                    <a:pt x="261" y="25"/>
                    <a:pt x="261" y="25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6" y="76"/>
                    <a:pt x="4" y="83"/>
                    <a:pt x="0" y="9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131" y="178"/>
                    <a:pt x="131" y="178"/>
                    <a:pt x="131" y="178"/>
                  </a:cubicBezTo>
                  <a:lnTo>
                    <a:pt x="168" y="299"/>
                  </a:lnTo>
                  <a:close/>
                </a:path>
              </a:pathLst>
            </a:custGeom>
            <a:solidFill>
              <a:srgbClr val="73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1" name="Freeform 2180">
              <a:extLst>
                <a:ext uri="{FF2B5EF4-FFF2-40B4-BE49-F238E27FC236}">
                  <a16:creationId xmlns:a16="http://schemas.microsoft.com/office/drawing/2014/main" id="{CBF8B282-E8B1-4DD3-B549-DFF0835107E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88" y="4893663"/>
              <a:ext cx="327288" cy="665547"/>
            </a:xfrm>
            <a:custGeom>
              <a:avLst/>
              <a:gdLst>
                <a:gd name="T0" fmla="*/ 2712 w 9547"/>
                <a:gd name="T1" fmla="*/ 1558 h 19414"/>
                <a:gd name="T2" fmla="*/ 6807 w 9547"/>
                <a:gd name="T3" fmla="*/ 0 h 19414"/>
                <a:gd name="T4" fmla="*/ 9547 w 9547"/>
                <a:gd name="T5" fmla="*/ 4212 h 19414"/>
                <a:gd name="T6" fmla="*/ 8942 w 9547"/>
                <a:gd name="T7" fmla="*/ 14250 h 19414"/>
                <a:gd name="T8" fmla="*/ 9201 w 9547"/>
                <a:gd name="T9" fmla="*/ 17856 h 19414"/>
                <a:gd name="T10" fmla="*/ 9201 w 9547"/>
                <a:gd name="T11" fmla="*/ 19414 h 19414"/>
                <a:gd name="T12" fmla="*/ 0 w 9547"/>
                <a:gd name="T13" fmla="*/ 18779 h 19414"/>
                <a:gd name="T14" fmla="*/ 0 w 9547"/>
                <a:gd name="T15" fmla="*/ 4673 h 19414"/>
                <a:gd name="T16" fmla="*/ 2712 w 9547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47" h="19414">
                  <a:moveTo>
                    <a:pt x="2712" y="1558"/>
                  </a:moveTo>
                  <a:lnTo>
                    <a:pt x="6807" y="0"/>
                  </a:lnTo>
                  <a:lnTo>
                    <a:pt x="9547" y="4212"/>
                  </a:lnTo>
                  <a:lnTo>
                    <a:pt x="8942" y="14250"/>
                  </a:lnTo>
                  <a:lnTo>
                    <a:pt x="9201" y="17856"/>
                  </a:lnTo>
                  <a:lnTo>
                    <a:pt x="9201" y="19414"/>
                  </a:lnTo>
                  <a:lnTo>
                    <a:pt x="0" y="18779"/>
                  </a:lnTo>
                  <a:lnTo>
                    <a:pt x="0" y="4673"/>
                  </a:lnTo>
                  <a:lnTo>
                    <a:pt x="2712" y="1558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2" name="Freeform 2181">
              <a:extLst>
                <a:ext uri="{FF2B5EF4-FFF2-40B4-BE49-F238E27FC236}">
                  <a16:creationId xmlns:a16="http://schemas.microsoft.com/office/drawing/2014/main" id="{540C6DBF-A1D5-4F32-B0CD-A600896A26A8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28" y="5741179"/>
              <a:ext cx="195784" cy="602263"/>
            </a:xfrm>
            <a:custGeom>
              <a:avLst/>
              <a:gdLst>
                <a:gd name="T0" fmla="*/ 0 w 5711"/>
                <a:gd name="T1" fmla="*/ 375 h 17568"/>
                <a:gd name="T2" fmla="*/ 1039 w 5711"/>
                <a:gd name="T3" fmla="*/ 17280 h 17568"/>
                <a:gd name="T4" fmla="*/ 4846 w 5711"/>
                <a:gd name="T5" fmla="*/ 17568 h 17568"/>
                <a:gd name="T6" fmla="*/ 5048 w 5711"/>
                <a:gd name="T7" fmla="*/ 2221 h 17568"/>
                <a:gd name="T8" fmla="*/ 5711 w 5711"/>
                <a:gd name="T9" fmla="*/ 0 h 17568"/>
                <a:gd name="T10" fmla="*/ 0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0" y="375"/>
                  </a:moveTo>
                  <a:lnTo>
                    <a:pt x="1039" y="17280"/>
                  </a:lnTo>
                  <a:lnTo>
                    <a:pt x="4846" y="17568"/>
                  </a:lnTo>
                  <a:lnTo>
                    <a:pt x="5048" y="2221"/>
                  </a:lnTo>
                  <a:lnTo>
                    <a:pt x="5711" y="0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3" name="Freeform 2182">
              <a:extLst>
                <a:ext uri="{FF2B5EF4-FFF2-40B4-BE49-F238E27FC236}">
                  <a16:creationId xmlns:a16="http://schemas.microsoft.com/office/drawing/2014/main" id="{D7B744AB-ED5A-4AEE-8746-4381F1AF4627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7006" y="6259384"/>
              <a:ext cx="213575" cy="83065"/>
            </a:xfrm>
            <a:custGeom>
              <a:avLst/>
              <a:gdLst>
                <a:gd name="T0" fmla="*/ 108 w 216"/>
                <a:gd name="T1" fmla="*/ 0 h 84"/>
                <a:gd name="T2" fmla="*/ 211 w 216"/>
                <a:gd name="T3" fmla="*/ 0 h 84"/>
                <a:gd name="T4" fmla="*/ 216 w 216"/>
                <a:gd name="T5" fmla="*/ 84 h 84"/>
                <a:gd name="T6" fmla="*/ 108 w 216"/>
                <a:gd name="T7" fmla="*/ 84 h 84"/>
                <a:gd name="T8" fmla="*/ 0 w 216"/>
                <a:gd name="T9" fmla="*/ 84 h 84"/>
                <a:gd name="T10" fmla="*/ 44 w 216"/>
                <a:gd name="T11" fmla="*/ 0 h 84"/>
                <a:gd name="T12" fmla="*/ 108 w 216"/>
                <a:gd name="T13" fmla="*/ 0 h 84"/>
                <a:gd name="T14" fmla="*/ 108 w 216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" h="84">
                  <a:moveTo>
                    <a:pt x="108" y="0"/>
                  </a:moveTo>
                  <a:cubicBezTo>
                    <a:pt x="209" y="0"/>
                    <a:pt x="211" y="0"/>
                    <a:pt x="211" y="0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4" name="Freeform 2183">
              <a:extLst>
                <a:ext uri="{FF2B5EF4-FFF2-40B4-BE49-F238E27FC236}">
                  <a16:creationId xmlns:a16="http://schemas.microsoft.com/office/drawing/2014/main" id="{46A77009-E984-4348-8177-D71A4834EB59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767885"/>
              <a:ext cx="433081" cy="62290"/>
            </a:xfrm>
            <a:custGeom>
              <a:avLst/>
              <a:gdLst>
                <a:gd name="T0" fmla="*/ 45 w 438"/>
                <a:gd name="T1" fmla="*/ 0 h 63"/>
                <a:gd name="T2" fmla="*/ 393 w 438"/>
                <a:gd name="T3" fmla="*/ 0 h 63"/>
                <a:gd name="T4" fmla="*/ 438 w 438"/>
                <a:gd name="T5" fmla="*/ 63 h 63"/>
                <a:gd name="T6" fmla="*/ 0 w 438"/>
                <a:gd name="T7" fmla="*/ 63 h 63"/>
                <a:gd name="T8" fmla="*/ 45 w 438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63">
                  <a:moveTo>
                    <a:pt x="45" y="0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418" y="0"/>
                    <a:pt x="438" y="28"/>
                    <a:pt x="438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0" y="0"/>
                    <a:pt x="45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5" name="Freeform 2184">
              <a:extLst>
                <a:ext uri="{FF2B5EF4-FFF2-40B4-BE49-F238E27FC236}">
                  <a16:creationId xmlns:a16="http://schemas.microsoft.com/office/drawing/2014/main" id="{9DF786C1-23F2-47DB-9E19-F4CC347DCA2C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825238"/>
              <a:ext cx="433081" cy="42510"/>
            </a:xfrm>
            <a:custGeom>
              <a:avLst/>
              <a:gdLst>
                <a:gd name="T0" fmla="*/ 12633 w 12633"/>
                <a:gd name="T1" fmla="*/ 0 h 1240"/>
                <a:gd name="T2" fmla="*/ 0 w 12633"/>
                <a:gd name="T3" fmla="*/ 0 h 1240"/>
                <a:gd name="T4" fmla="*/ 0 w 12633"/>
                <a:gd name="T5" fmla="*/ 1240 h 1240"/>
                <a:gd name="T6" fmla="*/ 12633 w 12633"/>
                <a:gd name="T7" fmla="*/ 1240 h 1240"/>
                <a:gd name="T8" fmla="*/ 12633 w 12633"/>
                <a:gd name="T9" fmla="*/ 0 h 1240"/>
                <a:gd name="T10" fmla="*/ 12633 w 12633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33" h="1240">
                  <a:moveTo>
                    <a:pt x="12633" y="0"/>
                  </a:moveTo>
                  <a:lnTo>
                    <a:pt x="0" y="0"/>
                  </a:lnTo>
                  <a:lnTo>
                    <a:pt x="0" y="1240"/>
                  </a:lnTo>
                  <a:lnTo>
                    <a:pt x="12633" y="1240"/>
                  </a:lnTo>
                  <a:lnTo>
                    <a:pt x="12633" y="0"/>
                  </a:lnTo>
                  <a:lnTo>
                    <a:pt x="12633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6" name="Freeform 2185">
              <a:extLst>
                <a:ext uri="{FF2B5EF4-FFF2-40B4-BE49-F238E27FC236}">
                  <a16:creationId xmlns:a16="http://schemas.microsoft.com/office/drawing/2014/main" id="{CFA20861-F77C-4130-BDA9-F289292DB8CA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6074" y="6115982"/>
              <a:ext cx="420226" cy="22763"/>
            </a:xfrm>
            <a:custGeom>
              <a:avLst/>
              <a:gdLst>
                <a:gd name="T0" fmla="*/ 12258 w 12258"/>
                <a:gd name="T1" fmla="*/ 0 h 664"/>
                <a:gd name="T2" fmla="*/ 0 w 12258"/>
                <a:gd name="T3" fmla="*/ 0 h 664"/>
                <a:gd name="T4" fmla="*/ 0 w 12258"/>
                <a:gd name="T5" fmla="*/ 664 h 664"/>
                <a:gd name="T6" fmla="*/ 12258 w 12258"/>
                <a:gd name="T7" fmla="*/ 664 h 664"/>
                <a:gd name="T8" fmla="*/ 12258 w 12258"/>
                <a:gd name="T9" fmla="*/ 0 h 664"/>
                <a:gd name="T10" fmla="*/ 12258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12258" y="0"/>
                  </a:moveTo>
                  <a:lnTo>
                    <a:pt x="0" y="0"/>
                  </a:lnTo>
                  <a:lnTo>
                    <a:pt x="0" y="664"/>
                  </a:lnTo>
                  <a:lnTo>
                    <a:pt x="12258" y="664"/>
                  </a:lnTo>
                  <a:lnTo>
                    <a:pt x="12258" y="0"/>
                  </a:lnTo>
                  <a:lnTo>
                    <a:pt x="1225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7" name="Freeform 2186">
              <a:extLst>
                <a:ext uri="{FF2B5EF4-FFF2-40B4-BE49-F238E27FC236}">
                  <a16:creationId xmlns:a16="http://schemas.microsoft.com/office/drawing/2014/main" id="{E9F491D0-7E18-4796-94ED-A2A45AE76BFE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7" y="5456365"/>
              <a:ext cx="52417" cy="883135"/>
            </a:xfrm>
            <a:custGeom>
              <a:avLst/>
              <a:gdLst>
                <a:gd name="T0" fmla="*/ 1529 w 1529"/>
                <a:gd name="T1" fmla="*/ 0 h 25761"/>
                <a:gd name="T2" fmla="*/ 0 w 1529"/>
                <a:gd name="T3" fmla="*/ 0 h 25761"/>
                <a:gd name="T4" fmla="*/ 0 w 1529"/>
                <a:gd name="T5" fmla="*/ 25761 h 25761"/>
                <a:gd name="T6" fmla="*/ 1529 w 1529"/>
                <a:gd name="T7" fmla="*/ 25761 h 25761"/>
                <a:gd name="T8" fmla="*/ 1529 w 1529"/>
                <a:gd name="T9" fmla="*/ 0 h 25761"/>
                <a:gd name="T10" fmla="*/ 1529 w 1529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9" h="25761">
                  <a:moveTo>
                    <a:pt x="1529" y="0"/>
                  </a:moveTo>
                  <a:lnTo>
                    <a:pt x="0" y="0"/>
                  </a:lnTo>
                  <a:lnTo>
                    <a:pt x="0" y="25761"/>
                  </a:lnTo>
                  <a:lnTo>
                    <a:pt x="1529" y="25761"/>
                  </a:lnTo>
                  <a:lnTo>
                    <a:pt x="1529" y="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8" name="Freeform 2187">
              <a:extLst>
                <a:ext uri="{FF2B5EF4-FFF2-40B4-BE49-F238E27FC236}">
                  <a16:creationId xmlns:a16="http://schemas.microsoft.com/office/drawing/2014/main" id="{A9DE0740-62DB-4277-A177-DF81E9C0A538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4304" y="5825239"/>
              <a:ext cx="44498" cy="517211"/>
            </a:xfrm>
            <a:custGeom>
              <a:avLst/>
              <a:gdLst>
                <a:gd name="T0" fmla="*/ 1298 w 1298"/>
                <a:gd name="T1" fmla="*/ 0 h 15087"/>
                <a:gd name="T2" fmla="*/ 0 w 1298"/>
                <a:gd name="T3" fmla="*/ 0 h 15087"/>
                <a:gd name="T4" fmla="*/ 0 w 1298"/>
                <a:gd name="T5" fmla="*/ 15087 h 15087"/>
                <a:gd name="T6" fmla="*/ 1298 w 1298"/>
                <a:gd name="T7" fmla="*/ 15087 h 15087"/>
                <a:gd name="T8" fmla="*/ 1298 w 1298"/>
                <a:gd name="T9" fmla="*/ 0 h 15087"/>
                <a:gd name="T10" fmla="*/ 1298 w 1298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8" h="15087">
                  <a:moveTo>
                    <a:pt x="1298" y="0"/>
                  </a:moveTo>
                  <a:lnTo>
                    <a:pt x="0" y="0"/>
                  </a:lnTo>
                  <a:lnTo>
                    <a:pt x="0" y="15087"/>
                  </a:lnTo>
                  <a:lnTo>
                    <a:pt x="1298" y="15087"/>
                  </a:lnTo>
                  <a:lnTo>
                    <a:pt x="1298" y="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39" name="Freeform 2188">
              <a:extLst>
                <a:ext uri="{FF2B5EF4-FFF2-40B4-BE49-F238E27FC236}">
                  <a16:creationId xmlns:a16="http://schemas.microsoft.com/office/drawing/2014/main" id="{6FEFD623-A6B4-45E5-B3AB-62E2D77276DF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4" y="5221981"/>
              <a:ext cx="52417" cy="234385"/>
            </a:xfrm>
            <a:custGeom>
              <a:avLst/>
              <a:gdLst>
                <a:gd name="T0" fmla="*/ 13 w 53"/>
                <a:gd name="T1" fmla="*/ 0 h 237"/>
                <a:gd name="T2" fmla="*/ 39 w 53"/>
                <a:gd name="T3" fmla="*/ 0 h 237"/>
                <a:gd name="T4" fmla="*/ 53 w 53"/>
                <a:gd name="T5" fmla="*/ 134 h 237"/>
                <a:gd name="T6" fmla="*/ 53 w 53"/>
                <a:gd name="T7" fmla="*/ 237 h 237"/>
                <a:gd name="T8" fmla="*/ 0 w 53"/>
                <a:gd name="T9" fmla="*/ 237 h 237"/>
                <a:gd name="T10" fmla="*/ 0 w 53"/>
                <a:gd name="T11" fmla="*/ 134 h 237"/>
                <a:gd name="T12" fmla="*/ 13 w 53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37">
                  <a:moveTo>
                    <a:pt x="1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47" y="0"/>
                    <a:pt x="53" y="60"/>
                    <a:pt x="53" y="134"/>
                  </a:cubicBezTo>
                  <a:cubicBezTo>
                    <a:pt x="53" y="237"/>
                    <a:pt x="53" y="237"/>
                    <a:pt x="53" y="237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60"/>
                    <a:pt x="6" y="0"/>
                    <a:pt x="1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0" name="Freeform 2189">
              <a:extLst>
                <a:ext uri="{FF2B5EF4-FFF2-40B4-BE49-F238E27FC236}">
                  <a16:creationId xmlns:a16="http://schemas.microsoft.com/office/drawing/2014/main" id="{C4826BCD-29C1-415C-BE41-28229AA7FC15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09" y="5551292"/>
              <a:ext cx="489474" cy="216593"/>
            </a:xfrm>
            <a:custGeom>
              <a:avLst/>
              <a:gdLst>
                <a:gd name="T0" fmla="*/ 0 w 14278"/>
                <a:gd name="T1" fmla="*/ 6318 h 6318"/>
                <a:gd name="T2" fmla="*/ 14278 w 14278"/>
                <a:gd name="T3" fmla="*/ 6318 h 6318"/>
                <a:gd name="T4" fmla="*/ 14278 w 14278"/>
                <a:gd name="T5" fmla="*/ 0 h 6318"/>
                <a:gd name="T6" fmla="*/ 1962 w 14278"/>
                <a:gd name="T7" fmla="*/ 1472 h 6318"/>
                <a:gd name="T8" fmla="*/ 0 w 14278"/>
                <a:gd name="T9" fmla="*/ 3375 h 6318"/>
                <a:gd name="T10" fmla="*/ 0 w 14278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78" h="6318">
                  <a:moveTo>
                    <a:pt x="0" y="6318"/>
                  </a:moveTo>
                  <a:lnTo>
                    <a:pt x="14278" y="6318"/>
                  </a:lnTo>
                  <a:lnTo>
                    <a:pt x="14278" y="0"/>
                  </a:lnTo>
                  <a:lnTo>
                    <a:pt x="1962" y="1472"/>
                  </a:lnTo>
                  <a:lnTo>
                    <a:pt x="0" y="3375"/>
                  </a:lnTo>
                  <a:lnTo>
                    <a:pt x="0" y="6318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1" name="Freeform 2190">
              <a:extLst>
                <a:ext uri="{FF2B5EF4-FFF2-40B4-BE49-F238E27FC236}">
                  <a16:creationId xmlns:a16="http://schemas.microsoft.com/office/drawing/2014/main" id="{33E03106-73C6-4E59-8013-92A5553C979C}"/>
                </a:ext>
              </a:extLst>
            </p:cNvPr>
            <p:cNvSpPr>
              <a:spLocks/>
            </p:cNvSpPr>
            <p:nvPr/>
          </p:nvSpPr>
          <p:spPr bwMode="gray">
            <a:xfrm>
              <a:off x="9488213" y="5575046"/>
              <a:ext cx="212581" cy="192836"/>
            </a:xfrm>
            <a:custGeom>
              <a:avLst/>
              <a:gdLst>
                <a:gd name="T0" fmla="*/ 172 w 215"/>
                <a:gd name="T1" fmla="*/ 195 h 195"/>
                <a:gd name="T2" fmla="*/ 23 w 215"/>
                <a:gd name="T3" fmla="*/ 195 h 195"/>
                <a:gd name="T4" fmla="*/ 0 w 215"/>
                <a:gd name="T5" fmla="*/ 172 h 195"/>
                <a:gd name="T6" fmla="*/ 0 w 215"/>
                <a:gd name="T7" fmla="*/ 23 h 195"/>
                <a:gd name="T8" fmla="*/ 23 w 215"/>
                <a:gd name="T9" fmla="*/ 0 h 195"/>
                <a:gd name="T10" fmla="*/ 192 w 215"/>
                <a:gd name="T11" fmla="*/ 0 h 195"/>
                <a:gd name="T12" fmla="*/ 215 w 215"/>
                <a:gd name="T13" fmla="*/ 23 h 195"/>
                <a:gd name="T14" fmla="*/ 215 w 215"/>
                <a:gd name="T15" fmla="*/ 152 h 195"/>
                <a:gd name="T16" fmla="*/ 172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172" y="195"/>
                  </a:moveTo>
                  <a:cubicBezTo>
                    <a:pt x="23" y="195"/>
                    <a:pt x="23" y="195"/>
                    <a:pt x="23" y="195"/>
                  </a:cubicBezTo>
                  <a:cubicBezTo>
                    <a:pt x="11" y="195"/>
                    <a:pt x="0" y="185"/>
                    <a:pt x="0" y="17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205" y="0"/>
                    <a:pt x="215" y="11"/>
                    <a:pt x="215" y="23"/>
                  </a:cubicBezTo>
                  <a:cubicBezTo>
                    <a:pt x="215" y="152"/>
                    <a:pt x="215" y="152"/>
                    <a:pt x="215" y="152"/>
                  </a:cubicBezTo>
                  <a:cubicBezTo>
                    <a:pt x="198" y="169"/>
                    <a:pt x="189" y="178"/>
                    <a:pt x="172" y="195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2" name="Freeform 2191">
              <a:extLst>
                <a:ext uri="{FF2B5EF4-FFF2-40B4-BE49-F238E27FC236}">
                  <a16:creationId xmlns:a16="http://schemas.microsoft.com/office/drawing/2014/main" id="{0C2E08AD-A838-488F-954D-BB65C31D24F7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70" y="5511727"/>
              <a:ext cx="315426" cy="90025"/>
            </a:xfrm>
            <a:custGeom>
              <a:avLst/>
              <a:gdLst>
                <a:gd name="T0" fmla="*/ 1529 w 9201"/>
                <a:gd name="T1" fmla="*/ 2135 h 2626"/>
                <a:gd name="T2" fmla="*/ 9201 w 9201"/>
                <a:gd name="T3" fmla="*/ 2626 h 2626"/>
                <a:gd name="T4" fmla="*/ 9201 w 9201"/>
                <a:gd name="T5" fmla="*/ 0 h 2626"/>
                <a:gd name="T6" fmla="*/ 0 w 9201"/>
                <a:gd name="T7" fmla="*/ 750 h 2626"/>
                <a:gd name="T8" fmla="*/ 87 w 9201"/>
                <a:gd name="T9" fmla="*/ 1876 h 2626"/>
                <a:gd name="T10" fmla="*/ 1529 w 9201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01" h="2626">
                  <a:moveTo>
                    <a:pt x="1529" y="2135"/>
                  </a:moveTo>
                  <a:lnTo>
                    <a:pt x="9201" y="2626"/>
                  </a:lnTo>
                  <a:lnTo>
                    <a:pt x="9201" y="0"/>
                  </a:lnTo>
                  <a:lnTo>
                    <a:pt x="0" y="750"/>
                  </a:lnTo>
                  <a:lnTo>
                    <a:pt x="87" y="1876"/>
                  </a:lnTo>
                  <a:lnTo>
                    <a:pt x="1529" y="2135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3" name="Freeform 2192">
              <a:extLst>
                <a:ext uri="{FF2B5EF4-FFF2-40B4-BE49-F238E27FC236}">
                  <a16:creationId xmlns:a16="http://schemas.microsoft.com/office/drawing/2014/main" id="{53B7C170-4DE0-4B40-B17F-4D62A0001A01}"/>
                </a:ext>
              </a:extLst>
            </p:cNvPr>
            <p:cNvSpPr>
              <a:spLocks/>
            </p:cNvSpPr>
            <p:nvPr/>
          </p:nvSpPr>
          <p:spPr bwMode="gray">
            <a:xfrm>
              <a:off x="9271657" y="5088484"/>
              <a:ext cx="252143" cy="398526"/>
            </a:xfrm>
            <a:custGeom>
              <a:avLst/>
              <a:gdLst>
                <a:gd name="T0" fmla="*/ 1587 w 7355"/>
                <a:gd name="T1" fmla="*/ 11625 h 11625"/>
                <a:gd name="T2" fmla="*/ 7355 w 7355"/>
                <a:gd name="T3" fmla="*/ 4875 h 11625"/>
                <a:gd name="T4" fmla="*/ 5625 w 7355"/>
                <a:gd name="T5" fmla="*/ 0 h 11625"/>
                <a:gd name="T6" fmla="*/ 0 w 7355"/>
                <a:gd name="T7" fmla="*/ 9173 h 11625"/>
                <a:gd name="T8" fmla="*/ 1587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1587" y="11625"/>
                  </a:moveTo>
                  <a:lnTo>
                    <a:pt x="7355" y="4875"/>
                  </a:lnTo>
                  <a:lnTo>
                    <a:pt x="5625" y="0"/>
                  </a:lnTo>
                  <a:lnTo>
                    <a:pt x="0" y="9173"/>
                  </a:lnTo>
                  <a:lnTo>
                    <a:pt x="1587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4" name="Freeform 2193">
              <a:extLst>
                <a:ext uri="{FF2B5EF4-FFF2-40B4-BE49-F238E27FC236}">
                  <a16:creationId xmlns:a16="http://schemas.microsoft.com/office/drawing/2014/main" id="{104C85D0-4CDA-4B54-91E8-101F4894A7B2}"/>
                </a:ext>
              </a:extLst>
            </p:cNvPr>
            <p:cNvSpPr>
              <a:spLocks/>
            </p:cNvSpPr>
            <p:nvPr/>
          </p:nvSpPr>
          <p:spPr bwMode="gray">
            <a:xfrm>
              <a:off x="9150059" y="5399010"/>
              <a:ext cx="183922" cy="88001"/>
            </a:xfrm>
            <a:custGeom>
              <a:avLst/>
              <a:gdLst>
                <a:gd name="T0" fmla="*/ 0 w 5365"/>
                <a:gd name="T1" fmla="*/ 2336 h 2567"/>
                <a:gd name="T2" fmla="*/ 5134 w 5365"/>
                <a:gd name="T3" fmla="*/ 2567 h 2567"/>
                <a:gd name="T4" fmla="*/ 5365 w 5365"/>
                <a:gd name="T5" fmla="*/ 750 h 2567"/>
                <a:gd name="T6" fmla="*/ 3894 w 5365"/>
                <a:gd name="T7" fmla="*/ 0 h 2567"/>
                <a:gd name="T8" fmla="*/ 1442 w 5365"/>
                <a:gd name="T9" fmla="*/ 519 h 2567"/>
                <a:gd name="T10" fmla="*/ 0 w 5365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5" h="2567">
                  <a:moveTo>
                    <a:pt x="0" y="2336"/>
                  </a:moveTo>
                  <a:lnTo>
                    <a:pt x="5134" y="2567"/>
                  </a:lnTo>
                  <a:lnTo>
                    <a:pt x="5365" y="750"/>
                  </a:lnTo>
                  <a:lnTo>
                    <a:pt x="3894" y="0"/>
                  </a:lnTo>
                  <a:lnTo>
                    <a:pt x="1442" y="519"/>
                  </a:lnTo>
                  <a:lnTo>
                    <a:pt x="0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5" name="Freeform 2194">
              <a:extLst>
                <a:ext uri="{FF2B5EF4-FFF2-40B4-BE49-F238E27FC236}">
                  <a16:creationId xmlns:a16="http://schemas.microsoft.com/office/drawing/2014/main" id="{8E2CE024-61D5-441A-ADBC-304177C5333D}"/>
                </a:ext>
              </a:extLst>
            </p:cNvPr>
            <p:cNvSpPr>
              <a:spLocks/>
            </p:cNvSpPr>
            <p:nvPr/>
          </p:nvSpPr>
          <p:spPr bwMode="gray">
            <a:xfrm>
              <a:off x="9393286" y="4980666"/>
              <a:ext cx="255124" cy="288790"/>
            </a:xfrm>
            <a:custGeom>
              <a:avLst/>
              <a:gdLst>
                <a:gd name="T0" fmla="*/ 0 w 258"/>
                <a:gd name="T1" fmla="*/ 205 h 292"/>
                <a:gd name="T2" fmla="*/ 137 w 258"/>
                <a:gd name="T3" fmla="*/ 292 h 292"/>
                <a:gd name="T4" fmla="*/ 258 w 258"/>
                <a:gd name="T5" fmla="*/ 100 h 292"/>
                <a:gd name="T6" fmla="*/ 245 w 258"/>
                <a:gd name="T7" fmla="*/ 38 h 292"/>
                <a:gd name="T8" fmla="*/ 185 w 258"/>
                <a:gd name="T9" fmla="*/ 0 h 292"/>
                <a:gd name="T10" fmla="*/ 122 w 258"/>
                <a:gd name="T11" fmla="*/ 13 h 292"/>
                <a:gd name="T12" fmla="*/ 0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0" y="205"/>
                  </a:moveTo>
                  <a:cubicBezTo>
                    <a:pt x="137" y="292"/>
                    <a:pt x="137" y="292"/>
                    <a:pt x="137" y="292"/>
                  </a:cubicBezTo>
                  <a:cubicBezTo>
                    <a:pt x="258" y="100"/>
                    <a:pt x="258" y="100"/>
                    <a:pt x="258" y="100"/>
                  </a:cubicBezTo>
                  <a:cubicBezTo>
                    <a:pt x="258" y="100"/>
                    <a:pt x="250" y="62"/>
                    <a:pt x="245" y="38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60" y="5"/>
                    <a:pt x="122" y="13"/>
                    <a:pt x="122" y="13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0F78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246" name="Freeform 2195">
              <a:extLst>
                <a:ext uri="{FF2B5EF4-FFF2-40B4-BE49-F238E27FC236}">
                  <a16:creationId xmlns:a16="http://schemas.microsoft.com/office/drawing/2014/main" id="{2F656618-D11E-40F7-A579-304E6D1DB7C6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9517" y="5399029"/>
              <a:ext cx="105794" cy="80083"/>
            </a:xfrm>
            <a:custGeom>
              <a:avLst/>
              <a:gdLst>
                <a:gd name="T0" fmla="*/ 0 w 107"/>
                <a:gd name="T1" fmla="*/ 48 h 81"/>
                <a:gd name="T2" fmla="*/ 42 w 107"/>
                <a:gd name="T3" fmla="*/ 81 h 81"/>
                <a:gd name="T4" fmla="*/ 107 w 107"/>
                <a:gd name="T5" fmla="*/ 14 h 81"/>
                <a:gd name="T6" fmla="*/ 94 w 107"/>
                <a:gd name="T7" fmla="*/ 0 h 81"/>
                <a:gd name="T8" fmla="*/ 46 w 107"/>
                <a:gd name="T9" fmla="*/ 0 h 81"/>
                <a:gd name="T10" fmla="*/ 0 w 107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81">
                  <a:moveTo>
                    <a:pt x="0" y="48"/>
                  </a:moveTo>
                  <a:cubicBezTo>
                    <a:pt x="42" y="81"/>
                    <a:pt x="42" y="81"/>
                    <a:pt x="42" y="81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8" y="19"/>
                    <a:pt x="18" y="29"/>
                    <a:pt x="0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830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EF7BA6B8-2D49-49EE-AA38-401584AC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3"/>
            <a:ext cx="9288000" cy="615553"/>
          </a:xfrm>
        </p:spPr>
        <p:txBody>
          <a:bodyPr/>
          <a:lstStyle/>
          <a:p>
            <a:r>
              <a:rPr lang="en-US" dirty="0">
                <a:latin typeface="+mn-lt"/>
                <a:ea typeface="+mn-ea"/>
                <a:cs typeface="+mn-ea"/>
                <a:sym typeface="+mn-lt"/>
              </a:rPr>
              <a:t>Contact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8C0B1B3-7902-4A0F-A274-1F5878B81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453" y="2325278"/>
            <a:ext cx="9288000" cy="1930123"/>
          </a:xfrm>
        </p:spPr>
        <p:txBody>
          <a:bodyPr/>
          <a:lstStyle/>
          <a:p>
            <a:r>
              <a:rPr lang="en-US" dirty="0">
                <a:cs typeface="+mn-ea"/>
                <a:sym typeface="+mn-lt"/>
              </a:rPr>
              <a:t>Published by Siemens </a:t>
            </a:r>
          </a:p>
          <a:p>
            <a:r>
              <a:rPr lang="en-US" dirty="0">
                <a:cs typeface="+mn-ea"/>
                <a:sym typeface="+mn-lt"/>
              </a:rPr>
              <a:t>T </a:t>
            </a:r>
            <a:r>
              <a:rPr lang="en-US" altLang="zh-CN" dirty="0">
                <a:cs typeface="+mn-ea"/>
                <a:sym typeface="+mn-lt"/>
              </a:rPr>
              <a:t>RDA</a:t>
            </a:r>
            <a:r>
              <a:rPr lang="en-US" dirty="0">
                <a:cs typeface="+mn-ea"/>
                <a:sym typeface="+mn-lt"/>
              </a:rPr>
              <a:t> I</a:t>
            </a:r>
            <a:r>
              <a:rPr lang="en-US" altLang="zh-CN" dirty="0">
                <a:cs typeface="+mn-ea"/>
                <a:sym typeface="+mn-lt"/>
              </a:rPr>
              <a:t>oT INW-CN</a:t>
            </a:r>
          </a:p>
          <a:p>
            <a:r>
              <a:rPr lang="en-US" altLang="zh-CN" dirty="0">
                <a:cs typeface="+mn-ea"/>
                <a:sym typeface="+mn-lt"/>
              </a:rPr>
              <a:t>Expert</a:t>
            </a:r>
            <a:endParaRPr lang="en-US" dirty="0">
              <a:cs typeface="+mn-ea"/>
              <a:sym typeface="+mn-lt"/>
            </a:endParaRPr>
          </a:p>
          <a:p>
            <a:pPr lvl="1"/>
            <a:r>
              <a:rPr lang="en-US" altLang="zh-CN" dirty="0">
                <a:cs typeface="+mn-ea"/>
                <a:sym typeface="+mn-lt"/>
              </a:rPr>
              <a:t>YU He</a:t>
            </a:r>
          </a:p>
          <a:p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200, </a:t>
            </a:r>
            <a:r>
              <a:rPr lang="en-US" dirty="0" err="1">
                <a:cs typeface="+mn-ea"/>
                <a:sym typeface="+mn-lt"/>
              </a:rPr>
              <a:t>Linghu</a:t>
            </a:r>
            <a:r>
              <a:rPr lang="en-US" dirty="0">
                <a:cs typeface="+mn-ea"/>
                <a:sym typeface="+mn-lt"/>
              </a:rPr>
              <a:t> Avenue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214135, Wuxi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China</a:t>
            </a:r>
          </a:p>
          <a:p>
            <a:endParaRPr lang="en-US" dirty="0">
              <a:cs typeface="+mn-ea"/>
              <a:sym typeface="+mn-lt"/>
            </a:endParaRPr>
          </a:p>
          <a:p>
            <a:r>
              <a:rPr lang="en-US" dirty="0">
                <a:cs typeface="+mn-ea"/>
                <a:sym typeface="+mn-lt"/>
              </a:rPr>
              <a:t>Mobile: +86 18921506861</a:t>
            </a:r>
          </a:p>
          <a:p>
            <a:r>
              <a:rPr lang="en-US" dirty="0">
                <a:cs typeface="+mn-ea"/>
                <a:sym typeface="+mn-lt"/>
              </a:rPr>
              <a:t>E-mail: yu-he@siemens.com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7D86EBFB-CE6A-4758-896A-AAD8E1D08C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0400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cs typeface="+mn-ea"/>
                <a:sym typeface="+mn-lt"/>
              </a:rPr>
              <a:t>Restricted | © Siemens 2021 </a:t>
            </a:r>
          </a:p>
        </p:txBody>
      </p:sp>
    </p:spTree>
    <p:extLst>
      <p:ext uri="{BB962C8B-B14F-4D97-AF65-F5344CB8AC3E}">
        <p14:creationId xmlns:p14="http://schemas.microsoft.com/office/powerpoint/2010/main" val="30440833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WYDq8bS6ul.4jt44dsX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_xYIRUS0SMZW5s2eK.m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z0fM19tjK38kxeIe82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ooieeu3g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p4ppTags>
  <Name>One object (large)</Name>
  <PpLayout>16</PpLayout>
  <Index>10</Index>
</p4ppTag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B174D5FE7DC343B8DB7235E0ED09A9" ma:contentTypeVersion="6" ma:contentTypeDescription="Create a new document." ma:contentTypeScope="" ma:versionID="25a5548619853e2e015bca764fa528c5">
  <xsd:schema xmlns:xsd="http://www.w3.org/2001/XMLSchema" xmlns:xs="http://www.w3.org/2001/XMLSchema" xmlns:p="http://schemas.microsoft.com/office/2006/metadata/properties" xmlns:ns2="c871b2bf-9c29-448e-bcb4-2f3f17144cb5" targetNamespace="http://schemas.microsoft.com/office/2006/metadata/properties" ma:root="true" ma:fieldsID="0eea03751fc4ef6bf140dc2ef857a7aa" ns2:_="">
    <xsd:import namespace="c871b2bf-9c29-448e-bcb4-2f3f17144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1b2bf-9c29-448e-bcb4-2f3f17144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4ppTags>
  <Name>Free Content</Name>
  <PpLayout>11</PpLayout>
  <Index>9</Index>
</p4ppTag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FA42EB-90FA-4F29-AD7C-D6AA50015DB3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9e776604-f57f-41ff-b37d-aeaa9b01075c"/>
    <ds:schemaRef ds:uri="658b11ea-c6d3-4639-a05a-9b8f21dc6de6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709AFB-D7CF-48F4-9583-267DECA0DB71}">
  <ds:schemaRefs/>
</ds:datastoreItem>
</file>

<file path=customXml/itemProps3.xml><?xml version="1.0" encoding="utf-8"?>
<ds:datastoreItem xmlns:ds="http://schemas.openxmlformats.org/officeDocument/2006/customXml" ds:itemID="{3B60A748-859D-4CC5-B484-786E9D5509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71b2bf-9c29-448e-bcb4-2f3f17144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D8097D0C-BE3E-4AEC-9593-65CFCCB19297}">
  <ds:schemaRefs/>
</ds:datastoreItem>
</file>

<file path=customXml/itemProps5.xml><?xml version="1.0" encoding="utf-8"?>
<ds:datastoreItem xmlns:ds="http://schemas.openxmlformats.org/officeDocument/2006/customXml" ds:itemID="{53A56ABD-608E-44B1-8067-B759FE0DD1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NEW!_sie-ppt-O365-16x9-standard-eng-v3-0</Template>
  <TotalTime>9316</TotalTime>
  <Words>1609</Words>
  <Application>Microsoft Office PowerPoint</Application>
  <PresentationFormat>Widescreen</PresentationFormat>
  <Paragraphs>208</Paragraphs>
  <Slides>13</Slides>
  <Notes>7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微软雅黑</vt:lpstr>
      <vt:lpstr>微软雅黑</vt:lpstr>
      <vt:lpstr>Arial</vt:lpstr>
      <vt:lpstr>Siemens Sans</vt:lpstr>
      <vt:lpstr>Wingdings</vt:lpstr>
      <vt:lpstr>Siemens 2020</vt:lpstr>
      <vt:lpstr>think-cell Slide</vt:lpstr>
      <vt:lpstr>Rubber Coating Wheel Pre-Maintenance of EMS Line </vt:lpstr>
      <vt:lpstr>UseCase：Chain Conveyor Pre-Maintenance in FAW-VW 应用案例 ：底盘线PA链床预测性维护</vt:lpstr>
      <vt:lpstr>UseCase：Chain Conveyor Pre-Maintenance in FAW-VW 应用案例 ：底盘线PA链床预测性维护</vt:lpstr>
      <vt:lpstr>UseCase：Chain Conveyor Pre-Maintenance in FAW-VW 应用案例 ：底盘线PA链床预测性维护</vt:lpstr>
      <vt:lpstr>Successful Case</vt:lpstr>
      <vt:lpstr>Rubber Coating Wheel Pre-Maintenance of EMS Line  EMS输送线包胶轮 预测性维护</vt:lpstr>
      <vt:lpstr>Summary of field investigation on rubber coating wheel EMS线包胶轮现场调研总结</vt:lpstr>
      <vt:lpstr>Solution of Rubber Coating Wheel Pre-Maintenance based on Vibration 基于振动的包胶轮预测维护方案</vt:lpstr>
      <vt:lpstr>Solution of Rubber Coating Wheel Pre-Maintenance based on Vibration 基于振动的包胶轮预测维护方案</vt:lpstr>
      <vt:lpstr>MaintLoop as the Edge Computing Application  提供基于MaintLoop的边缘计算应用程序</vt:lpstr>
      <vt:lpstr>附：M621C40振动传感器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Yu, He (T RDA IOT INW-CN)</dc:creator>
  <cp:keywords>Template</cp:keywords>
  <dc:description>Version 3.0.8
September 2020</dc:description>
  <cp:lastModifiedBy>Yu, He (T CED INW-CN)</cp:lastModifiedBy>
  <cp:revision>255</cp:revision>
  <dcterms:created xsi:type="dcterms:W3CDTF">2020-11-27T07:32:20Z</dcterms:created>
  <dcterms:modified xsi:type="dcterms:W3CDTF">2022-01-18T02:53:27Z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0x01010072B174D5FE7DC343B8DB7235E0ED09A9</vt:lpwstr>
  </property>
  <property fmtid="{D5CDD505-2E9C-101B-9397-08002B2CF9AE}" pid="3" name="_AdHocReviewCycleID">
    <vt:i4>1732023668</vt:i4>
  </property>
  <property fmtid="{D5CDD505-2E9C-101B-9397-08002B2CF9AE}" pid="4" name="_NewReviewCycle">
    <vt:lpwstr/>
  </property>
  <property fmtid="{D5CDD505-2E9C-101B-9397-08002B2CF9AE}" pid="5" name="_EmailSubject">
    <vt:lpwstr>Proposal and Quotation of FAW-VW Rubber Coating Wheel </vt:lpwstr>
  </property>
  <property fmtid="{D5CDD505-2E9C-101B-9397-08002B2CF9AE}" pid="6" name="_AuthorEmail">
    <vt:lpwstr>yu-he@siemens.com</vt:lpwstr>
  </property>
  <property fmtid="{D5CDD505-2E9C-101B-9397-08002B2CF9AE}" pid="7" name="_AuthorEmailDisplayName">
    <vt:lpwstr>Yu, He (T RDA IOT INW-CN)</vt:lpwstr>
  </property>
  <property fmtid="{D5CDD505-2E9C-101B-9397-08002B2CF9AE}" pid="8" name="MSIP_Label_a59b6cd5-d141-4a33-8bf1-0ca04484304f_Enabled">
    <vt:lpwstr>true</vt:lpwstr>
  </property>
  <property fmtid="{D5CDD505-2E9C-101B-9397-08002B2CF9AE}" pid="9" name="MSIP_Label_a59b6cd5-d141-4a33-8bf1-0ca04484304f_SetDate">
    <vt:lpwstr>2022-01-18T02:53:27Z</vt:lpwstr>
  </property>
  <property fmtid="{D5CDD505-2E9C-101B-9397-08002B2CF9AE}" pid="10" name="MSIP_Label_a59b6cd5-d141-4a33-8bf1-0ca04484304f_Method">
    <vt:lpwstr>Standard</vt:lpwstr>
  </property>
  <property fmtid="{D5CDD505-2E9C-101B-9397-08002B2CF9AE}" pid="11" name="MSIP_Label_a59b6cd5-d141-4a33-8bf1-0ca04484304f_Name">
    <vt:lpwstr>restricted-default</vt:lpwstr>
  </property>
  <property fmtid="{D5CDD505-2E9C-101B-9397-08002B2CF9AE}" pid="12" name="MSIP_Label_a59b6cd5-d141-4a33-8bf1-0ca04484304f_SiteId">
    <vt:lpwstr>38ae3bcd-9579-4fd4-adda-b42e1495d55a</vt:lpwstr>
  </property>
  <property fmtid="{D5CDD505-2E9C-101B-9397-08002B2CF9AE}" pid="13" name="MSIP_Label_a59b6cd5-d141-4a33-8bf1-0ca04484304f_ActionId">
    <vt:lpwstr>f925726c-a707-4b58-8df1-0b6731ff310f</vt:lpwstr>
  </property>
  <property fmtid="{D5CDD505-2E9C-101B-9397-08002B2CF9AE}" pid="14" name="MSIP_Label_a59b6cd5-d141-4a33-8bf1-0ca04484304f_ContentBits">
    <vt:lpwstr>0</vt:lpwstr>
  </property>
  <property fmtid="{D5CDD505-2E9C-101B-9397-08002B2CF9AE}" pid="15" name="Document_Confidentiality">
    <vt:lpwstr>Restricted</vt:lpwstr>
  </property>
</Properties>
</file>