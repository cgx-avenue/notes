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7"/>
  </p:notesMasterIdLst>
  <p:handoutMasterIdLst>
    <p:handoutMasterId r:id="rId18"/>
  </p:handoutMasterIdLst>
  <p:sldIdLst>
    <p:sldId id="352" r:id="rId6"/>
    <p:sldId id="8697" r:id="rId7"/>
    <p:sldId id="8687" r:id="rId8"/>
    <p:sldId id="8698" r:id="rId9"/>
    <p:sldId id="1134" r:id="rId10"/>
    <p:sldId id="8701" r:id="rId11"/>
    <p:sldId id="8702" r:id="rId12"/>
    <p:sldId id="8703" r:id="rId13"/>
    <p:sldId id="8700" r:id="rId14"/>
    <p:sldId id="858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81B0C8B-735F-402F-8D8E-F8FE65326622}">
          <p14:sldIdLst>
            <p14:sldId id="352"/>
          </p14:sldIdLst>
        </p14:section>
        <p14:section name="Smart quality judgement" id="{EB131DE5-9A41-43AC-B277-0D730900FB63}">
          <p14:sldIdLst>
            <p14:sldId id="8697"/>
            <p14:sldId id="8687"/>
            <p14:sldId id="8698"/>
            <p14:sldId id="1134"/>
            <p14:sldId id="8701"/>
            <p14:sldId id="8702"/>
            <p14:sldId id="8703"/>
            <p14:sldId id="8700"/>
            <p14:sldId id="8580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  <p:cmAuthor id="2" name="Zhou, Wen Jing (T RDA IOT INW-CN)" initials="ZWJ(RII" lastIdx="1" clrIdx="1">
    <p:extLst>
      <p:ext uri="{19B8F6BF-5375-455C-9EA6-DF929625EA0E}">
        <p15:presenceInfo xmlns:p15="http://schemas.microsoft.com/office/powerpoint/2012/main" userId="S::zhou.wenjing@siemens.com::f3b98f43-05aa-4729-9efd-14d5d18dc6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B9B9"/>
    <a:srgbClr val="009999"/>
    <a:srgbClr val="41AAAA"/>
    <a:srgbClr val="7DBCD3"/>
    <a:srgbClr val="006666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3372" autoAdjust="0"/>
  </p:normalViewPr>
  <p:slideViewPr>
    <p:cSldViewPr snapToGrid="0" showGuides="1">
      <p:cViewPr varScale="1">
        <p:scale>
          <a:sx n="58" d="100"/>
          <a:sy n="58" d="100"/>
        </p:scale>
        <p:origin x="964" y="1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7" d="100"/>
          <a:sy n="47" d="100"/>
        </p:scale>
        <p:origin x="278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4/27/2022</a:t>
            </a:fld>
            <a:endParaRPr lang="en-US" sz="1050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</a:rPr>
              <a:t>Hand out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 dirty="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3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489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4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539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5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678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6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695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7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605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8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57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7" Type="http://schemas.openxmlformats.org/officeDocument/2006/relationships/image" Target="../media/image30.emf"/><Relationship Id="rId2" Type="http://schemas.openxmlformats.org/officeDocument/2006/relationships/customXml" Target="../../customXml/item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>
            <a:extLst>
              <a:ext uri="{FF2B5EF4-FFF2-40B4-BE49-F238E27FC236}">
                <a16:creationId xmlns:a16="http://schemas.microsoft.com/office/drawing/2014/main" id="{AA220E05-4C1E-4F58-BFC0-57C07A95F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9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DF3DAF0E-BB8A-4082-8CE7-1BBCE61C8C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33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2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1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89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11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96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7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7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2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86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FEC69F24-2876-47B9-A4B6-0ADE800ECD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2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fish, monitor, keyboard, computer&#10;&#10;Description automatically generated">
            <a:extLst>
              <a:ext uri="{FF2B5EF4-FFF2-40B4-BE49-F238E27FC236}">
                <a16:creationId xmlns:a16="http://schemas.microsoft.com/office/drawing/2014/main" id="{AE83F1C5-95B7-47C3-B837-8191D1E397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1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sky, water, star&#10;&#10;Description automatically generated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1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10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Zhou Wenjing | T RDA IOT INW-CN | 2021-02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941FC10-A7C1-4D71-803C-9509392A94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81928777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0" name="think-cell Slide" r:id="rId6" imgW="622" imgH="623" progId="TCLayout.ActiveDocument.1">
                  <p:embed/>
                </p:oleObj>
              </mc:Choice>
              <mc:Fallback>
                <p:oleObj name="think-cell Slide" r:id="rId6" imgW="622" imgH="6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941FC10-A7C1-4D71-803C-9509392A94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FA2B0FB-06C5-4E9D-8744-57CE89397B76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667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199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custDataLst>
      <p:custData r:id="rId2"/>
    </p:custDataLst>
    <p:extLst>
      <p:ext uri="{BB962C8B-B14F-4D97-AF65-F5344CB8AC3E}">
        <p14:creationId xmlns:p14="http://schemas.microsoft.com/office/powerpoint/2010/main" val="3744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core message of slide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26737" y="1412875"/>
            <a:ext cx="11082915" cy="218521"/>
          </a:xfrm>
        </p:spPr>
        <p:txBody>
          <a:bodyPr wrap="square">
            <a:spAutoFit/>
          </a:bodyPr>
          <a:lstStyle>
            <a:lvl1pPr>
              <a:defRPr sz="1399"/>
            </a:lvl1pPr>
          </a:lstStyle>
          <a:p>
            <a:pPr lvl="0"/>
            <a:r>
              <a:rPr lang="en-US" noProof="0" dirty="0"/>
              <a:t>Title (description of slide content), Arial 14 </a:t>
            </a:r>
            <a:r>
              <a:rPr lang="en-US" noProof="0" dirty="0" err="1"/>
              <a:t>pt</a:t>
            </a:r>
            <a:r>
              <a:rPr lang="en-US" noProof="0" dirty="0"/>
              <a:t>, maximum of 1 line</a:t>
            </a:r>
          </a:p>
        </p:txBody>
      </p:sp>
      <p:sp>
        <p:nvSpPr>
          <p:cNvPr id="5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6735" y="1774583"/>
            <a:ext cx="11082916" cy="4032493"/>
          </a:xfrm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>
              <a:defRPr lang="de-DE" sz="1399" kern="1400" baseline="0" smtClean="0"/>
            </a:lvl1pPr>
            <a:lvl2pPr>
              <a:defRPr lang="de-DE" sz="1399" kern="1400" smtClean="0">
                <a:cs typeface="+mn-cs"/>
              </a:defRPr>
            </a:lvl2pPr>
            <a:lvl3pPr>
              <a:defRPr lang="de-DE" sz="1399" kern="1400" smtClean="0">
                <a:cs typeface="+mn-cs"/>
              </a:defRPr>
            </a:lvl3pPr>
            <a:lvl4pPr>
              <a:defRPr lang="de-DE" sz="1399" kern="1400" smtClean="0">
                <a:cs typeface="+mn-cs"/>
              </a:defRPr>
            </a:lvl4pPr>
            <a:lvl5pPr>
              <a:defRPr lang="de-DE" sz="1399" kern="1400">
                <a:cs typeface="+mn-cs"/>
              </a:defRPr>
            </a:lvl5pPr>
          </a:lstStyle>
          <a:p>
            <a:pPr lvl="0" eaLnBrk="0" hangingPunct="0"/>
            <a:r>
              <a:rPr lang="en-US" dirty="0"/>
              <a:t>Note: Increase indent level to start bullet list/</a:t>
            </a:r>
            <a:r>
              <a:rPr lang="en-US" dirty="0" err="1"/>
              <a:t>Vergrößern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die </a:t>
            </a:r>
            <a:r>
              <a:rPr lang="en-US" dirty="0" err="1"/>
              <a:t>Einzugsebene</a:t>
            </a:r>
            <a:r>
              <a:rPr lang="en-US" dirty="0"/>
              <a:t>, um Bullets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erhalten</a:t>
            </a:r>
            <a:r>
              <a:rPr lang="en-US" dirty="0"/>
              <a:t>.</a:t>
            </a:r>
          </a:p>
          <a:p>
            <a:pPr marL="179298" lvl="1" indent="-179298" eaLnBrk="0" hangingPunct="0">
              <a:buClr>
                <a:schemeClr val="accent1"/>
              </a:buClr>
            </a:pPr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marL="358596" lvl="2" eaLnBrk="0" hangingPunct="0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marL="537894" lvl="3" eaLnBrk="0" hangingPunct="0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marL="717191" lvl="4" eaLnBrk="0" hangingPunct="0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019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Restricted | © Siemens 2021 | Zhou Wen Jing | T RDA IOT INW-CN | 2021-02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48" r:id="rId19"/>
    <p:sldLayoutId id="2147483749" r:id="rId20"/>
    <p:sldLayoutId id="2147483750" r:id="rId21"/>
    <p:sldLayoutId id="2147483745" r:id="rId22"/>
    <p:sldLayoutId id="2147483746" r:id="rId23"/>
    <p:sldLayoutId id="2147483747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4" r:id="rId31"/>
    <p:sldLayoutId id="2147483708" r:id="rId32"/>
    <p:sldLayoutId id="2147483655" r:id="rId33"/>
    <p:sldLayoutId id="2147483742" r:id="rId34"/>
    <p:sldLayoutId id="2147483677" r:id="rId35"/>
    <p:sldLayoutId id="2147483709" r:id="rId36"/>
    <p:sldLayoutId id="2147483751" r:id="rId37"/>
    <p:sldLayoutId id="2147483691" r:id="rId38"/>
    <p:sldLayoutId id="2147483752" r:id="rId39"/>
    <p:sldLayoutId id="2147483692" r:id="rId40"/>
    <p:sldLayoutId id="2147483650" r:id="rId41"/>
    <p:sldLayoutId id="2147483665" r:id="rId42"/>
    <p:sldLayoutId id="2147483666" r:id="rId43"/>
    <p:sldLayoutId id="2147483697" r:id="rId44"/>
    <p:sldLayoutId id="2147483698" r:id="rId45"/>
    <p:sldLayoutId id="2147483652" r:id="rId46"/>
    <p:sldLayoutId id="2147483680" r:id="rId47"/>
    <p:sldLayoutId id="2147483694" r:id="rId48"/>
    <p:sldLayoutId id="2147483687" r:id="rId49"/>
    <p:sldLayoutId id="2147483681" r:id="rId50"/>
    <p:sldLayoutId id="2147483690" r:id="rId51"/>
    <p:sldLayoutId id="2147483711" r:id="rId52"/>
    <p:sldLayoutId id="2147483682" r:id="rId53"/>
    <p:sldLayoutId id="2147483678" r:id="rId54"/>
    <p:sldLayoutId id="2147483754" r:id="rId55"/>
    <p:sldLayoutId id="2147483755" r:id="rId5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5.xml"/><Relationship Id="rId7" Type="http://schemas.openxmlformats.org/officeDocument/2006/relationships/image" Target="../media/image33.emf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36.gif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svg"/><Relationship Id="rId3" Type="http://schemas.openxmlformats.org/officeDocument/2006/relationships/tags" Target="../tags/tag7.xml"/><Relationship Id="rId7" Type="http://schemas.openxmlformats.org/officeDocument/2006/relationships/image" Target="../media/image33.emf"/><Relationship Id="rId12" Type="http://schemas.openxmlformats.org/officeDocument/2006/relationships/image" Target="../media/image41.svg"/><Relationship Id="rId17" Type="http://schemas.openxmlformats.org/officeDocument/2006/relationships/image" Target="../media/image46.png"/><Relationship Id="rId2" Type="http://schemas.openxmlformats.org/officeDocument/2006/relationships/tags" Target="../tags/tag6.xml"/><Relationship Id="rId16" Type="http://schemas.openxmlformats.org/officeDocument/2006/relationships/image" Target="../media/image45.png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0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13" Type="http://schemas.openxmlformats.org/officeDocument/2006/relationships/image" Target="../media/image51.png"/><Relationship Id="rId18" Type="http://schemas.openxmlformats.org/officeDocument/2006/relationships/image" Target="../media/image54.png"/><Relationship Id="rId3" Type="http://schemas.openxmlformats.org/officeDocument/2006/relationships/tags" Target="../tags/tag9.xml"/><Relationship Id="rId21" Type="http://schemas.microsoft.com/office/2007/relationships/hdphoto" Target="../media/hdphoto3.wdp"/><Relationship Id="rId7" Type="http://schemas.openxmlformats.org/officeDocument/2006/relationships/image" Target="../media/image33.emf"/><Relationship Id="rId12" Type="http://schemas.openxmlformats.org/officeDocument/2006/relationships/image" Target="../media/image50.png"/><Relationship Id="rId17" Type="http://schemas.microsoft.com/office/2007/relationships/hdphoto" Target="../media/hdphoto1.wdp"/><Relationship Id="rId2" Type="http://schemas.openxmlformats.org/officeDocument/2006/relationships/tags" Target="../tags/tag8.xml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9.pn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34.png"/><Relationship Id="rId23" Type="http://schemas.microsoft.com/office/2007/relationships/hdphoto" Target="../media/hdphoto4.wdp"/><Relationship Id="rId10" Type="http://schemas.openxmlformats.org/officeDocument/2006/relationships/image" Target="../media/image48.png"/><Relationship Id="rId19" Type="http://schemas.microsoft.com/office/2007/relationships/hdphoto" Target="../media/hdphoto2.wdp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45.png"/><Relationship Id="rId14" Type="http://schemas.openxmlformats.org/officeDocument/2006/relationships/image" Target="../media/image52.svg"/><Relationship Id="rId22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13" Type="http://schemas.openxmlformats.org/officeDocument/2006/relationships/image" Target="../media/image51.png"/><Relationship Id="rId18" Type="http://schemas.openxmlformats.org/officeDocument/2006/relationships/image" Target="../media/image57.png"/><Relationship Id="rId3" Type="http://schemas.openxmlformats.org/officeDocument/2006/relationships/tags" Target="../tags/tag11.xml"/><Relationship Id="rId7" Type="http://schemas.openxmlformats.org/officeDocument/2006/relationships/image" Target="../media/image33.emf"/><Relationship Id="rId12" Type="http://schemas.openxmlformats.org/officeDocument/2006/relationships/image" Target="../media/image50.png"/><Relationship Id="rId17" Type="http://schemas.microsoft.com/office/2007/relationships/hdphoto" Target="../media/hdphoto2.wdp"/><Relationship Id="rId2" Type="http://schemas.openxmlformats.org/officeDocument/2006/relationships/tags" Target="../tags/tag10.xml"/><Relationship Id="rId16" Type="http://schemas.openxmlformats.org/officeDocument/2006/relationships/image" Target="../media/image54.png"/><Relationship Id="rId20" Type="http://schemas.openxmlformats.org/officeDocument/2006/relationships/image" Target="../media/image59.png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9.png"/><Relationship Id="rId5" Type="http://schemas.openxmlformats.org/officeDocument/2006/relationships/notesSlide" Target="../notesSlides/notesSlide4.xml"/><Relationship Id="rId15" Type="http://schemas.openxmlformats.org/officeDocument/2006/relationships/image" Target="../media/image34.png"/><Relationship Id="rId10" Type="http://schemas.openxmlformats.org/officeDocument/2006/relationships/image" Target="../media/image48.png"/><Relationship Id="rId19" Type="http://schemas.openxmlformats.org/officeDocument/2006/relationships/image" Target="../media/image58.png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45.png"/><Relationship Id="rId14" Type="http://schemas.openxmlformats.org/officeDocument/2006/relationships/image" Target="../media/image5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microsoft.com/office/2007/relationships/hdphoto" Target="../media/hdphoto1.wdp"/><Relationship Id="rId3" Type="http://schemas.openxmlformats.org/officeDocument/2006/relationships/tags" Target="../tags/tag13.xml"/><Relationship Id="rId7" Type="http://schemas.openxmlformats.org/officeDocument/2006/relationships/image" Target="../media/image33.emf"/><Relationship Id="rId12" Type="http://schemas.openxmlformats.org/officeDocument/2006/relationships/image" Target="../media/image53.png"/><Relationship Id="rId17" Type="http://schemas.openxmlformats.org/officeDocument/2006/relationships/image" Target="../media/image61.png"/><Relationship Id="rId2" Type="http://schemas.openxmlformats.org/officeDocument/2006/relationships/tags" Target="../tags/tag12.xml"/><Relationship Id="rId16" Type="http://schemas.openxmlformats.org/officeDocument/2006/relationships/image" Target="../media/image60.png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.bin"/><Relationship Id="rId11" Type="http://schemas.microsoft.com/office/2007/relationships/hdphoto" Target="../media/hdphoto2.wdp"/><Relationship Id="rId5" Type="http://schemas.openxmlformats.org/officeDocument/2006/relationships/notesSlide" Target="../notesSlides/notesSlide5.xml"/><Relationship Id="rId15" Type="http://schemas.microsoft.com/office/2007/relationships/hdphoto" Target="../media/hdphoto3.wdp"/><Relationship Id="rId10" Type="http://schemas.openxmlformats.org/officeDocument/2006/relationships/image" Target="../media/image54.png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52.svg"/><Relationship Id="rId14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microsoft.com/office/2007/relationships/hdphoto" Target="../media/hdphoto3.wdp"/><Relationship Id="rId3" Type="http://schemas.openxmlformats.org/officeDocument/2006/relationships/tags" Target="../tags/tag15.xml"/><Relationship Id="rId7" Type="http://schemas.openxmlformats.org/officeDocument/2006/relationships/image" Target="../media/image33.emf"/><Relationship Id="rId12" Type="http://schemas.openxmlformats.org/officeDocument/2006/relationships/image" Target="../media/image55.png"/><Relationship Id="rId17" Type="http://schemas.openxmlformats.org/officeDocument/2006/relationships/image" Target="../media/image63.png"/><Relationship Id="rId2" Type="http://schemas.openxmlformats.org/officeDocument/2006/relationships/tags" Target="../tags/tag14.xml"/><Relationship Id="rId16" Type="http://schemas.openxmlformats.org/officeDocument/2006/relationships/image" Target="../media/image62.png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.bin"/><Relationship Id="rId11" Type="http://schemas.microsoft.com/office/2007/relationships/hdphoto" Target="../media/hdphoto2.wdp"/><Relationship Id="rId5" Type="http://schemas.openxmlformats.org/officeDocument/2006/relationships/notesSlide" Target="../notesSlides/notesSlide6.xml"/><Relationship Id="rId15" Type="http://schemas.microsoft.com/office/2007/relationships/hdphoto" Target="../media/hdphoto4.wdp"/><Relationship Id="rId10" Type="http://schemas.openxmlformats.org/officeDocument/2006/relationships/image" Target="../media/image54.png"/><Relationship Id="rId4" Type="http://schemas.openxmlformats.org/officeDocument/2006/relationships/slideLayout" Target="../slideLayouts/slideLayout55.xml"/><Relationship Id="rId9" Type="http://schemas.microsoft.com/office/2007/relationships/hdphoto" Target="../media/hdphoto1.wdp"/><Relationship Id="rId1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tags" Target="../tags/tag1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64.e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A865AB3-8AE0-4AB0-94C2-2E517EC1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18" y="1489752"/>
            <a:ext cx="11610364" cy="3939540"/>
          </a:xfrm>
        </p:spPr>
        <p:txBody>
          <a:bodyPr/>
          <a:lstStyle/>
          <a:p>
            <a:br>
              <a:rPr lang="en-US" sz="4800" b="0" dirty="0"/>
            </a:br>
            <a:r>
              <a:rPr lang="en-US" altLang="zh-CN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Smart noise judgment for quality test of X-Ray tube</a:t>
            </a:r>
            <a:br>
              <a:rPr 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4800" b="0" dirty="0"/>
            </a:br>
            <a:r>
              <a:rPr lang="en-US" sz="3200" b="0" dirty="0"/>
              <a:t>SXVT X-Ray Tube Project</a:t>
            </a:r>
            <a:br>
              <a:rPr lang="en-US" altLang="zh-CN" sz="4800" b="0" dirty="0"/>
            </a:br>
            <a:r>
              <a:rPr lang="en-US" altLang="zh-CN" sz="3200" b="0" dirty="0"/>
              <a:t>T CED INW-CN  |  April,2022</a:t>
            </a:r>
            <a:endParaRPr lang="en-US" sz="3200" b="0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AB7F661-939E-4A89-B29B-F0C08FB449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2022 | YU HE | T </a:t>
            </a:r>
            <a:r>
              <a:rPr lang="en-US" altLang="zh-CN" dirty="0"/>
              <a:t>CED </a:t>
            </a:r>
            <a:r>
              <a:rPr lang="en-US" dirty="0"/>
              <a:t>INW-CN </a:t>
            </a:r>
          </a:p>
        </p:txBody>
      </p:sp>
    </p:spTree>
    <p:extLst>
      <p:ext uri="{BB962C8B-B14F-4D97-AF65-F5344CB8AC3E}">
        <p14:creationId xmlns:p14="http://schemas.microsoft.com/office/powerpoint/2010/main" val="132084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46F99A-F938-43D3-BD31-1635E1191F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l" rtl="0"/>
            <a:r>
              <a:rPr lang="en-US" altLang="zh-CN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Smart noise judgment for quality test of X-Ray tube</a:t>
            </a:r>
            <a:endParaRPr lang="en-US" sz="4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4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602EA-1C45-479F-92CB-8EE7D13F0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560" y="3678599"/>
            <a:ext cx="1943101" cy="22755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A86F15-8876-4FF3-AD3B-4C0ABB167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485" y="4225312"/>
            <a:ext cx="2076450" cy="14297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7F0009E-D18D-43A1-85A0-F780AFFECF86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0" name="Footer Placeholder 3">
              <a:extLst>
                <a:ext uri="{FF2B5EF4-FFF2-40B4-BE49-F238E27FC236}">
                  <a16:creationId xmlns:a16="http://schemas.microsoft.com/office/drawing/2014/main" id="{67590D47-D0DC-490E-BDEC-7215119CED21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1" name="Slide Number Placeholder 3">
              <a:extLst>
                <a:ext uri="{FF2B5EF4-FFF2-40B4-BE49-F238E27FC236}">
                  <a16:creationId xmlns:a16="http://schemas.microsoft.com/office/drawing/2014/main" id="{B1B5D4CC-229A-47B5-BF07-3E24CAF121F9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2</a:t>
              </a:fld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879734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4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5" y="428874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/>
              <a:t>Introduction 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22" name="Rechteck 2169">
            <a:extLst>
              <a:ext uri="{FF2B5EF4-FFF2-40B4-BE49-F238E27FC236}">
                <a16:creationId xmlns:a16="http://schemas.microsoft.com/office/drawing/2014/main" id="{CBDE902B-3653-4AC1-B98D-63A5A0543B0A}"/>
              </a:ext>
            </a:extLst>
          </p:cNvPr>
          <p:cNvSpPr>
            <a:spLocks/>
          </p:cNvSpPr>
          <p:nvPr/>
        </p:nvSpPr>
        <p:spPr bwMode="gray">
          <a:xfrm>
            <a:off x="5616192" y="1401206"/>
            <a:ext cx="6488700" cy="17540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400" b="1" u="sng" dirty="0">
                <a:solidFill>
                  <a:srgbClr val="333333"/>
                </a:solidFill>
              </a:rPr>
              <a:t>Background</a:t>
            </a:r>
          </a:p>
          <a:p>
            <a:pPr algn="l" rtl="0"/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SXVT Tube is the important part of X-ray machine.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Typical failure types are </a:t>
            </a:r>
            <a:r>
              <a:rPr lang="en-US" altLang="zh-CN" sz="1400" b="1" dirty="0">
                <a:solidFill>
                  <a:srgbClr val="333333"/>
                </a:solidFill>
                <a:latin typeface="+mn-ea"/>
                <a:ea typeface="+mn-ea"/>
              </a:rPr>
              <a:t>Noise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, Bearing(Anode) stuck, Shaft-broken.</a:t>
            </a:r>
          </a:p>
          <a:p>
            <a:pPr algn="l" rtl="0"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- Currently test in noise test room </a:t>
            </a:r>
            <a:r>
              <a:rPr lang="en-US" sz="1400" b="1" dirty="0">
                <a:solidFill>
                  <a:srgbClr val="333333"/>
                </a:solidFill>
                <a:latin typeface="+mn-ea"/>
                <a:ea typeface="+mn-ea"/>
              </a:rPr>
              <a:t>by sound-meter</a:t>
            </a: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, record an observation with </a:t>
            </a:r>
            <a:r>
              <a:rPr lang="en-US" sz="1400" b="1" dirty="0">
                <a:solidFill>
                  <a:srgbClr val="333333"/>
                </a:solidFill>
                <a:latin typeface="+mn-ea"/>
                <a:ea typeface="+mn-ea"/>
              </a:rPr>
              <a:t>single number value</a:t>
            </a: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</a:p>
          <a:p>
            <a:pPr algn="l" rtl="0"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- Need an </a:t>
            </a:r>
            <a:r>
              <a:rPr lang="en-US" sz="1400" b="1" dirty="0">
                <a:solidFill>
                  <a:srgbClr val="333333"/>
                </a:solidFill>
                <a:latin typeface="+mn-ea"/>
                <a:ea typeface="+mn-ea"/>
              </a:rPr>
              <a:t>objective standard </a:t>
            </a: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to </a:t>
            </a:r>
            <a:r>
              <a:rPr lang="en-US" sz="1400" b="1" dirty="0">
                <a:solidFill>
                  <a:srgbClr val="333333"/>
                </a:solidFill>
                <a:latin typeface="+mn-ea"/>
                <a:ea typeface="+mn-ea"/>
              </a:rPr>
              <a:t>judge the quality </a:t>
            </a: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of the X-Ray Tube.</a:t>
            </a:r>
          </a:p>
          <a:p>
            <a:pPr marL="285750" indent="-285750" algn="l" rtl="0">
              <a:spcBef>
                <a:spcPts val="300"/>
              </a:spcBef>
              <a:buFontTx/>
              <a:buChar char="-"/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hteck 2169">
            <a:extLst>
              <a:ext uri="{FF2B5EF4-FFF2-40B4-BE49-F238E27FC236}">
                <a16:creationId xmlns:a16="http://schemas.microsoft.com/office/drawing/2014/main" id="{DAD9A2EB-38E2-4DC5-9E6E-8C5A59B643B7}"/>
              </a:ext>
            </a:extLst>
          </p:cNvPr>
          <p:cNvSpPr>
            <a:spLocks/>
          </p:cNvSpPr>
          <p:nvPr/>
        </p:nvSpPr>
        <p:spPr bwMode="gray">
          <a:xfrm>
            <a:off x="554695" y="4295322"/>
            <a:ext cx="1493068" cy="54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XTA</a:t>
            </a:r>
            <a:endParaRPr lang="en-US" altLang="zh-CN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7" name="Rechteck 2169">
            <a:extLst>
              <a:ext uri="{FF2B5EF4-FFF2-40B4-BE49-F238E27FC236}">
                <a16:creationId xmlns:a16="http://schemas.microsoft.com/office/drawing/2014/main" id="{B26F26C5-5802-49FB-83DC-F66E51107F69}"/>
              </a:ext>
            </a:extLst>
          </p:cNvPr>
          <p:cNvSpPr>
            <a:spLocks/>
          </p:cNvSpPr>
          <p:nvPr/>
        </p:nvSpPr>
        <p:spPr bwMode="gray">
          <a:xfrm>
            <a:off x="5616192" y="3498460"/>
            <a:ext cx="6285054" cy="17540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400" b="1" u="sng" dirty="0">
                <a:solidFill>
                  <a:srgbClr val="333333"/>
                </a:solidFill>
                <a:latin typeface="+mn-ea"/>
                <a:ea typeface="+mn-ea"/>
              </a:rPr>
              <a:t>Target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记录</a:t>
            </a:r>
            <a:r>
              <a:rPr lang="en-US" altLang="zh-CN" sz="1400" b="1" dirty="0">
                <a:solidFill>
                  <a:srgbClr val="333333"/>
                </a:solidFill>
                <a:latin typeface="+mn-ea"/>
                <a:ea typeface="+mn-ea"/>
              </a:rPr>
              <a:t>/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存储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当前产线测试房的 旋转管的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噪声测试数据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探索并分析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 XTA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的噪声数据，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确定信号特征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构建实时分析模型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，对测试的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XTA 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提供客观噪声合格与否的判断结果</a:t>
            </a:r>
            <a:r>
              <a:rPr lang="en-US" altLang="zh-CN" sz="1400" b="1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产品噪声质量追溯应用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</a:p>
          <a:p>
            <a:pPr marL="285750" indent="-285750" algn="l" rtl="0">
              <a:spcBef>
                <a:spcPts val="300"/>
              </a:spcBef>
              <a:buFontTx/>
              <a:buChar char="-"/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FEDC29-32FB-4316-8F3C-AB2A09AACB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85" y="1490069"/>
            <a:ext cx="4007964" cy="259943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BC560D-94E6-455C-9A35-5274DFD8CD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218" y="1662283"/>
            <a:ext cx="1437993" cy="4159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42E852-F368-4401-A2DD-CDD390C687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2235" y="4511987"/>
            <a:ext cx="3406471" cy="1806378"/>
          </a:xfrm>
          <a:prstGeom prst="rect">
            <a:avLst/>
          </a:prstGeom>
        </p:spPr>
      </p:pic>
      <p:sp>
        <p:nvSpPr>
          <p:cNvPr id="28" name="Rechteck 2169">
            <a:extLst>
              <a:ext uri="{FF2B5EF4-FFF2-40B4-BE49-F238E27FC236}">
                <a16:creationId xmlns:a16="http://schemas.microsoft.com/office/drawing/2014/main" id="{F8B1639C-6492-49AE-8870-9BE5D8E6B89F}"/>
              </a:ext>
            </a:extLst>
          </p:cNvPr>
          <p:cNvSpPr>
            <a:spLocks/>
          </p:cNvSpPr>
          <p:nvPr/>
        </p:nvSpPr>
        <p:spPr bwMode="gray">
          <a:xfrm>
            <a:off x="2635023" y="6336059"/>
            <a:ext cx="2204126" cy="54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9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Note: Picture only for reference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0E4241-D663-4D7D-AC47-0F1D1ED8B151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>
              <a:extLst>
                <a:ext uri="{FF2B5EF4-FFF2-40B4-BE49-F238E27FC236}">
                  <a16:creationId xmlns:a16="http://schemas.microsoft.com/office/drawing/2014/main" id="{30089872-6CBA-459D-845C-976EEACC2D3F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>
              <a:extLst>
                <a:ext uri="{FF2B5EF4-FFF2-40B4-BE49-F238E27FC236}">
                  <a16:creationId xmlns:a16="http://schemas.microsoft.com/office/drawing/2014/main" id="{9F34FCA9-4349-4C9D-9686-59BEBC230B4E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3</a:t>
              </a:fld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5264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6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4" y="428874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Feasibility Analysis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19" name="Freihandform: Form 16">
            <a:extLst>
              <a:ext uri="{FF2B5EF4-FFF2-40B4-BE49-F238E27FC236}">
                <a16:creationId xmlns:a16="http://schemas.microsoft.com/office/drawing/2014/main" id="{0ECD9C75-966E-405F-B016-7944E08626DA}"/>
              </a:ext>
            </a:extLst>
          </p:cNvPr>
          <p:cNvSpPr>
            <a:spLocks/>
          </p:cNvSpPr>
          <p:nvPr/>
        </p:nvSpPr>
        <p:spPr>
          <a:xfrm>
            <a:off x="0" y="1081989"/>
            <a:ext cx="6481982" cy="1449455"/>
          </a:xfrm>
          <a:custGeom>
            <a:avLst/>
            <a:gdLst>
              <a:gd name="connsiteX0" fmla="*/ 0 w 6290625"/>
              <a:gd name="connsiteY0" fmla="*/ 0 h 1978025"/>
              <a:gd name="connsiteX1" fmla="*/ 6290625 w 6290625"/>
              <a:gd name="connsiteY1" fmla="*/ 0 h 1978025"/>
              <a:gd name="connsiteX2" fmla="*/ 5235306 w 6290625"/>
              <a:gd name="connsiteY2" fmla="*/ 1978025 h 1978025"/>
              <a:gd name="connsiteX3" fmla="*/ 0 w 6290625"/>
              <a:gd name="connsiteY3" fmla="*/ 1978025 h 1978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90625" h="1978025">
                <a:moveTo>
                  <a:pt x="0" y="0"/>
                </a:moveTo>
                <a:lnTo>
                  <a:pt x="6290625" y="0"/>
                </a:lnTo>
                <a:lnTo>
                  <a:pt x="5235306" y="1978025"/>
                </a:lnTo>
                <a:lnTo>
                  <a:pt x="0" y="1978025"/>
                </a:lnTo>
                <a:close/>
              </a:path>
            </a:pathLst>
          </a:custGeom>
          <a:solidFill>
            <a:srgbClr val="00E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algn="l"/>
            <a:endParaRPr lang="en-US" dirty="0"/>
          </a:p>
        </p:txBody>
      </p:sp>
      <p:sp>
        <p:nvSpPr>
          <p:cNvPr id="20" name="Freihandform: Form 17">
            <a:extLst>
              <a:ext uri="{FF2B5EF4-FFF2-40B4-BE49-F238E27FC236}">
                <a16:creationId xmlns:a16="http://schemas.microsoft.com/office/drawing/2014/main" id="{69AEB160-FBF4-467A-BC85-AAC27BE1E19A}"/>
              </a:ext>
            </a:extLst>
          </p:cNvPr>
          <p:cNvSpPr>
            <a:spLocks/>
          </p:cNvSpPr>
          <p:nvPr/>
        </p:nvSpPr>
        <p:spPr>
          <a:xfrm flipH="1" flipV="1">
            <a:off x="5710018" y="1081988"/>
            <a:ext cx="6481982" cy="1449454"/>
          </a:xfrm>
          <a:custGeom>
            <a:avLst/>
            <a:gdLst>
              <a:gd name="connsiteX0" fmla="*/ 0 w 6290625"/>
              <a:gd name="connsiteY0" fmla="*/ 0 h 1978025"/>
              <a:gd name="connsiteX1" fmla="*/ 6290625 w 6290625"/>
              <a:gd name="connsiteY1" fmla="*/ 0 h 1978025"/>
              <a:gd name="connsiteX2" fmla="*/ 5235306 w 6290625"/>
              <a:gd name="connsiteY2" fmla="*/ 1978025 h 1978025"/>
              <a:gd name="connsiteX3" fmla="*/ 0 w 6290625"/>
              <a:gd name="connsiteY3" fmla="*/ 1978025 h 1978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90625" h="1978025">
                <a:moveTo>
                  <a:pt x="0" y="0"/>
                </a:moveTo>
                <a:lnTo>
                  <a:pt x="6290625" y="0"/>
                </a:lnTo>
                <a:lnTo>
                  <a:pt x="5235306" y="1978025"/>
                </a:lnTo>
                <a:lnTo>
                  <a:pt x="0" y="1978025"/>
                </a:lnTo>
                <a:close/>
              </a:path>
            </a:pathLst>
          </a:cu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algn="l"/>
            <a:endParaRPr lang="en-US" dirty="0"/>
          </a:p>
        </p:txBody>
      </p:sp>
      <p:sp>
        <p:nvSpPr>
          <p:cNvPr id="21" name="Freihandform: Form 23">
            <a:extLst>
              <a:ext uri="{FF2B5EF4-FFF2-40B4-BE49-F238E27FC236}">
                <a16:creationId xmlns:a16="http://schemas.microsoft.com/office/drawing/2014/main" id="{47DD9558-A140-45F5-9FE4-F11FD6B72550}"/>
              </a:ext>
            </a:extLst>
          </p:cNvPr>
          <p:cNvSpPr/>
          <p:nvPr/>
        </p:nvSpPr>
        <p:spPr>
          <a:xfrm>
            <a:off x="-8965" y="981325"/>
            <a:ext cx="12254753" cy="1627122"/>
          </a:xfrm>
          <a:custGeom>
            <a:avLst/>
            <a:gdLst>
              <a:gd name="connsiteX0" fmla="*/ 0 w 12227859"/>
              <a:gd name="connsiteY0" fmla="*/ 0 h 2106706"/>
              <a:gd name="connsiteX1" fmla="*/ 6696636 w 12227859"/>
              <a:gd name="connsiteY1" fmla="*/ 0 h 2106706"/>
              <a:gd name="connsiteX2" fmla="*/ 5450541 w 12227859"/>
              <a:gd name="connsiteY2" fmla="*/ 2106706 h 2106706"/>
              <a:gd name="connsiteX3" fmla="*/ 12227859 w 12227859"/>
              <a:gd name="connsiteY3" fmla="*/ 2106706 h 210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27859" h="2106706">
                <a:moveTo>
                  <a:pt x="0" y="0"/>
                </a:moveTo>
                <a:lnTo>
                  <a:pt x="6696636" y="0"/>
                </a:lnTo>
                <a:lnTo>
                  <a:pt x="5450541" y="2106706"/>
                </a:lnTo>
                <a:lnTo>
                  <a:pt x="12227859" y="2106706"/>
                </a:lnTo>
              </a:path>
            </a:pathLst>
          </a:custGeom>
          <a:noFill/>
          <a:ln w="127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feld 51">
            <a:extLst>
              <a:ext uri="{FF2B5EF4-FFF2-40B4-BE49-F238E27FC236}">
                <a16:creationId xmlns:a16="http://schemas.microsoft.com/office/drawing/2014/main" id="{A6472283-140A-4130-A58D-680259C17ABC}"/>
              </a:ext>
            </a:extLst>
          </p:cNvPr>
          <p:cNvSpPr txBox="1">
            <a:spLocks/>
          </p:cNvSpPr>
          <p:nvPr/>
        </p:nvSpPr>
        <p:spPr bwMode="gray">
          <a:xfrm>
            <a:off x="1470322" y="1595156"/>
            <a:ext cx="3114944" cy="5850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Arial Unicode MS"/>
              </a:rPr>
              <a:t>Data Features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Arial Unicode MS"/>
            </a:endParaRPr>
          </a:p>
        </p:txBody>
      </p:sp>
      <p:sp>
        <p:nvSpPr>
          <p:cNvPr id="24" name="Textfeld 51">
            <a:extLst>
              <a:ext uri="{FF2B5EF4-FFF2-40B4-BE49-F238E27FC236}">
                <a16:creationId xmlns:a16="http://schemas.microsoft.com/office/drawing/2014/main" id="{728B7A30-91E8-4328-A297-FE117003EE31}"/>
              </a:ext>
            </a:extLst>
          </p:cNvPr>
          <p:cNvSpPr txBox="1">
            <a:spLocks/>
          </p:cNvSpPr>
          <p:nvPr/>
        </p:nvSpPr>
        <p:spPr bwMode="gray">
          <a:xfrm>
            <a:off x="7393537" y="1595157"/>
            <a:ext cx="4147154" cy="5850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Arial Unicode MS"/>
              </a:rPr>
              <a:t>Data Acquisition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Arial Unicode MS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BEB3512-71F7-40E0-B5D0-1E65D0D7263F}"/>
              </a:ext>
            </a:extLst>
          </p:cNvPr>
          <p:cNvGrpSpPr/>
          <p:nvPr/>
        </p:nvGrpSpPr>
        <p:grpSpPr>
          <a:xfrm>
            <a:off x="165424" y="2760870"/>
            <a:ext cx="5219722" cy="3196181"/>
            <a:chOff x="165424" y="2760870"/>
            <a:chExt cx="5219722" cy="3196181"/>
          </a:xfrm>
        </p:grpSpPr>
        <p:sp>
          <p:nvSpPr>
            <p:cNvPr id="26" name="Textfeld 51">
              <a:extLst>
                <a:ext uri="{FF2B5EF4-FFF2-40B4-BE49-F238E27FC236}">
                  <a16:creationId xmlns:a16="http://schemas.microsoft.com/office/drawing/2014/main" id="{B9AC2946-750E-45E0-87D5-D1F19930EE74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65424" y="2760870"/>
              <a:ext cx="5219722" cy="73272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spcAft>
                  <a:spcPts val="300"/>
                </a:spcAft>
                <a:tabLst>
                  <a:tab pos="0" algn="l"/>
                </a:tabLst>
              </a:pPr>
              <a:r>
                <a:rPr lang="en-US" altLang="zh-CN" sz="1600" b="1" u="sng" dirty="0">
                  <a:latin typeface="Arial" panose="020B0604020202020204" pitchFamily="34" charset="0"/>
                  <a:ea typeface="Arial Unicode MS"/>
                </a:rPr>
                <a:t>Insight of noise data features (based on sound files)</a:t>
              </a:r>
            </a:p>
            <a:p>
              <a:pPr marL="285750" indent="-285750">
                <a:spcAft>
                  <a:spcPts val="300"/>
                </a:spcAft>
                <a:buFont typeface="Wingdings" panose="05000000000000000000" pitchFamily="2" charset="2"/>
                <a:buChar char="§"/>
                <a:tabLst>
                  <a:tab pos="0" algn="l"/>
                </a:tabLst>
              </a:pPr>
              <a:r>
                <a:rPr lang="en-US" altLang="zh-CN" sz="1600" dirty="0">
                  <a:latin typeface="Arial" panose="020B0604020202020204" pitchFamily="34" charset="0"/>
                  <a:ea typeface="Arial Unicode MS"/>
                </a:rPr>
                <a:t>Spectrogram analysis of sound signals (</a:t>
              </a:r>
              <a:r>
                <a:rPr lang="en-US" sz="1600" dirty="0">
                  <a:latin typeface="Arial" panose="020B0604020202020204" pitchFamily="34" charset="0"/>
                  <a:ea typeface="Arial Unicode MS"/>
                </a:rPr>
                <a:t>analogue</a:t>
              </a:r>
              <a:r>
                <a:rPr lang="zh-CN" altLang="en-US" sz="1600" dirty="0">
                  <a:latin typeface="Arial" panose="020B0604020202020204" pitchFamily="34" charset="0"/>
                  <a:ea typeface="Arial Unicode MS"/>
                </a:rPr>
                <a:t> </a:t>
              </a:r>
              <a:r>
                <a:rPr lang="en-US" altLang="zh-CN" sz="1600" dirty="0">
                  <a:latin typeface="Arial" panose="020B0604020202020204" pitchFamily="34" charset="0"/>
                  <a:ea typeface="Arial Unicode MS"/>
                </a:rPr>
                <a:t>data, incl phone’s recording, </a:t>
              </a:r>
              <a:r>
                <a:rPr lang="en-US" altLang="zh-CN" sz="1600" dirty="0" err="1">
                  <a:latin typeface="Arial" panose="020B0604020202020204" pitchFamily="34" charset="0"/>
                  <a:ea typeface="Arial Unicode MS"/>
                </a:rPr>
                <a:t>NTi</a:t>
              </a:r>
              <a:r>
                <a:rPr lang="en-US" altLang="zh-CN" sz="1600" dirty="0">
                  <a:latin typeface="Arial" panose="020B0604020202020204" pitchFamily="34" charset="0"/>
                  <a:ea typeface="Arial Unicode MS"/>
                </a:rPr>
                <a:t> and </a:t>
              </a:r>
              <a:r>
                <a:rPr lang="en-US" altLang="zh-CN" sz="1600" dirty="0" err="1">
                  <a:latin typeface="Arial" panose="020B0604020202020204" pitchFamily="34" charset="0"/>
                  <a:ea typeface="Arial Unicode MS"/>
                </a:rPr>
                <a:t>AiHua</a:t>
              </a:r>
              <a:r>
                <a:rPr lang="en-US" altLang="zh-CN" sz="1600" dirty="0">
                  <a:latin typeface="Arial" panose="020B0604020202020204" pitchFamily="34" charset="0"/>
                  <a:ea typeface="Arial Unicode MS"/>
                </a:rPr>
                <a:t> Sound Meter)</a:t>
              </a: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r>
                <a:rPr lang="en-US" altLang="zh-CN" dirty="0">
                  <a:latin typeface="Arial" panose="020B0604020202020204" pitchFamily="34" charset="0"/>
                  <a:ea typeface="Arial Unicode MS"/>
                </a:rPr>
                <a:t>	    </a:t>
              </a: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Arial" panose="020B0604020202020204" pitchFamily="34" charset="0"/>
                <a:ea typeface="Arial Unicode M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F24FC68-D393-4619-BD16-D0DA46AA0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1235" y="3647624"/>
              <a:ext cx="1579013" cy="127314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3BFB2C-5A5F-4DF3-A48F-8C818E427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69127" y="3647624"/>
              <a:ext cx="1541719" cy="127314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434930-2C01-418D-B94B-BEE0B9893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689725" y="3647624"/>
              <a:ext cx="1541719" cy="1273145"/>
            </a:xfrm>
            <a:prstGeom prst="rect">
              <a:avLst/>
            </a:prstGeom>
          </p:spPr>
        </p:pic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EDE58E6D-539C-4FF9-9A7E-59E7C18580AB}"/>
                </a:ext>
              </a:extLst>
            </p:cNvPr>
            <p:cNvSpPr/>
            <p:nvPr/>
          </p:nvSpPr>
          <p:spPr>
            <a:xfrm>
              <a:off x="186462" y="5157456"/>
              <a:ext cx="321121" cy="255182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  <p:pic>
          <p:nvPicPr>
            <p:cNvPr id="30" name="Graphic 29" descr="Checkmark with solid fill">
              <a:extLst>
                <a:ext uri="{FF2B5EF4-FFF2-40B4-BE49-F238E27FC236}">
                  <a16:creationId xmlns:a16="http://schemas.microsoft.com/office/drawing/2014/main" id="{546BA379-CAB0-4C90-8246-AC89A7A2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96184" y="5386882"/>
              <a:ext cx="227161" cy="227161"/>
            </a:xfrm>
            <a:prstGeom prst="rect">
              <a:avLst/>
            </a:prstGeom>
          </p:spPr>
        </p:pic>
        <p:sp>
          <p:nvSpPr>
            <p:cNvPr id="33" name="Textfeld 51">
              <a:extLst>
                <a:ext uri="{FF2B5EF4-FFF2-40B4-BE49-F238E27FC236}">
                  <a16:creationId xmlns:a16="http://schemas.microsoft.com/office/drawing/2014/main" id="{232447D3-A114-42CB-9D77-D7C4FBE0CB6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35722" y="5386882"/>
              <a:ext cx="4306135" cy="22716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spcAft>
                  <a:spcPts val="300"/>
                </a:spcAft>
                <a:tabLst>
                  <a:tab pos="0" algn="l"/>
                </a:tabLst>
              </a:pPr>
              <a:r>
                <a:rPr lang="en-US" altLang="zh-CN" sz="1600" dirty="0">
                  <a:latin typeface="Arial" panose="020B0604020202020204" pitchFamily="34" charset="0"/>
                  <a:ea typeface="Arial Unicode MS"/>
                </a:rPr>
                <a:t>Difference of frequency spectrum energy</a:t>
              </a: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600" dirty="0">
                <a:latin typeface="Arial" panose="020B0604020202020204" pitchFamily="34" charset="0"/>
                <a:ea typeface="Arial Unicode MS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r>
                <a:rPr lang="en-US" altLang="zh-CN" dirty="0">
                  <a:latin typeface="Arial" panose="020B0604020202020204" pitchFamily="34" charset="0"/>
                  <a:ea typeface="Arial Unicode MS"/>
                </a:rPr>
                <a:t>	    </a:t>
              </a: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Arial" panose="020B0604020202020204" pitchFamily="34" charset="0"/>
                <a:ea typeface="Arial Unicode MS"/>
              </a:endParaRPr>
            </a:p>
          </p:txBody>
        </p:sp>
        <p:pic>
          <p:nvPicPr>
            <p:cNvPr id="34" name="Graphic 33" descr="Checkmark with solid fill">
              <a:extLst>
                <a:ext uri="{FF2B5EF4-FFF2-40B4-BE49-F238E27FC236}">
                  <a16:creationId xmlns:a16="http://schemas.microsoft.com/office/drawing/2014/main" id="{54F11B52-5207-4252-8C40-9526864EF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96184" y="5729889"/>
              <a:ext cx="227161" cy="227161"/>
            </a:xfrm>
            <a:prstGeom prst="rect">
              <a:avLst/>
            </a:prstGeom>
          </p:spPr>
        </p:pic>
        <p:sp>
          <p:nvSpPr>
            <p:cNvPr id="35" name="Textfeld 51">
              <a:extLst>
                <a:ext uri="{FF2B5EF4-FFF2-40B4-BE49-F238E27FC236}">
                  <a16:creationId xmlns:a16="http://schemas.microsoft.com/office/drawing/2014/main" id="{ADDB5950-61D1-4324-A5B9-F4B3F756547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35722" y="5729889"/>
              <a:ext cx="4306135" cy="22716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spcAft>
                  <a:spcPts val="300"/>
                </a:spcAft>
                <a:tabLst>
                  <a:tab pos="0" algn="l"/>
                </a:tabLst>
              </a:pPr>
              <a:r>
                <a:rPr lang="en-US" altLang="zh-CN" sz="1600" dirty="0">
                  <a:latin typeface="Arial" panose="020B0604020202020204" pitchFamily="34" charset="0"/>
                  <a:ea typeface="Arial Unicode MS"/>
                </a:rPr>
                <a:t>Difference stability in data </a:t>
              </a: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600" dirty="0">
                <a:latin typeface="Arial" panose="020B0604020202020204" pitchFamily="34" charset="0"/>
                <a:ea typeface="Arial Unicode MS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r>
                <a:rPr lang="en-US" altLang="zh-CN" dirty="0">
                  <a:latin typeface="Arial" panose="020B0604020202020204" pitchFamily="34" charset="0"/>
                  <a:ea typeface="Arial Unicode MS"/>
                </a:rPr>
                <a:t>	    </a:t>
              </a: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Arial" panose="020B0604020202020204" pitchFamily="34" charset="0"/>
                <a:ea typeface="Arial Unicode MS"/>
              </a:endParaRPr>
            </a:p>
          </p:txBody>
        </p:sp>
        <p:sp>
          <p:nvSpPr>
            <p:cNvPr id="36" name="Textfeld 51">
              <a:extLst>
                <a:ext uri="{FF2B5EF4-FFF2-40B4-BE49-F238E27FC236}">
                  <a16:creationId xmlns:a16="http://schemas.microsoft.com/office/drawing/2014/main" id="{9CF8A795-B0B6-47E8-81EB-F2B598A68C7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87859" y="4904540"/>
              <a:ext cx="531144" cy="26914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spcAft>
                  <a:spcPts val="300"/>
                </a:spcAft>
                <a:tabLst>
                  <a:tab pos="0" algn="l"/>
                </a:tabLst>
              </a:pPr>
              <a:r>
                <a:rPr lang="en-US" altLang="zh-CN" sz="1600" dirty="0">
                  <a:latin typeface="Arial" panose="020B0604020202020204" pitchFamily="34" charset="0"/>
                  <a:ea typeface="Arial Unicode MS"/>
                </a:rPr>
                <a:t>good</a:t>
              </a:r>
              <a:r>
                <a:rPr lang="en-US" altLang="zh-CN" dirty="0">
                  <a:latin typeface="Arial" panose="020B0604020202020204" pitchFamily="34" charset="0"/>
                  <a:ea typeface="Arial Unicode MS"/>
                </a:rPr>
                <a:t>	    </a:t>
              </a: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Arial" panose="020B0604020202020204" pitchFamily="34" charset="0"/>
                <a:ea typeface="Arial Unicode MS"/>
              </a:endParaRPr>
            </a:p>
          </p:txBody>
        </p:sp>
        <p:sp>
          <p:nvSpPr>
            <p:cNvPr id="37" name="Textfeld 51">
              <a:extLst>
                <a:ext uri="{FF2B5EF4-FFF2-40B4-BE49-F238E27FC236}">
                  <a16:creationId xmlns:a16="http://schemas.microsoft.com/office/drawing/2014/main" id="{AC73E9A6-3001-41A6-8A9C-06296A16E060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73146" y="4898491"/>
              <a:ext cx="1053201" cy="22716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spcAft>
                  <a:spcPts val="300"/>
                </a:spcAft>
                <a:tabLst>
                  <a:tab pos="0" algn="l"/>
                </a:tabLst>
              </a:pPr>
              <a:r>
                <a:rPr lang="en-US" altLang="zh-CN" sz="1600" dirty="0">
                  <a:latin typeface="Arial" panose="020B0604020202020204" pitchFamily="34" charset="0"/>
                  <a:ea typeface="Arial Unicode MS"/>
                </a:rPr>
                <a:t>abnormal</a:t>
              </a:r>
              <a:r>
                <a:rPr lang="en-US" altLang="zh-CN" dirty="0">
                  <a:latin typeface="Arial" panose="020B0604020202020204" pitchFamily="34" charset="0"/>
                  <a:ea typeface="Arial Unicode MS"/>
                </a:rPr>
                <a:t>	    </a:t>
              </a: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Arial" panose="020B0604020202020204" pitchFamily="34" charset="0"/>
                <a:ea typeface="Arial Unicode MS"/>
              </a:endParaRPr>
            </a:p>
          </p:txBody>
        </p:sp>
        <p:sp>
          <p:nvSpPr>
            <p:cNvPr id="38" name="Textfeld 51">
              <a:extLst>
                <a:ext uri="{FF2B5EF4-FFF2-40B4-BE49-F238E27FC236}">
                  <a16:creationId xmlns:a16="http://schemas.microsoft.com/office/drawing/2014/main" id="{C75FB066-79AF-4F52-8985-76569C444F9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280490" y="4903300"/>
              <a:ext cx="519848" cy="22716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spcAft>
                  <a:spcPts val="300"/>
                </a:spcAft>
                <a:tabLst>
                  <a:tab pos="0" algn="l"/>
                </a:tabLst>
              </a:pPr>
              <a:r>
                <a:rPr lang="en-US" altLang="zh-CN" sz="1600" dirty="0">
                  <a:latin typeface="Arial" panose="020B0604020202020204" pitchFamily="34" charset="0"/>
                  <a:ea typeface="Arial Unicode MS"/>
                </a:rPr>
                <a:t>high</a:t>
              </a:r>
              <a:r>
                <a:rPr lang="en-US" altLang="zh-CN" dirty="0">
                  <a:latin typeface="Arial" panose="020B0604020202020204" pitchFamily="34" charset="0"/>
                  <a:ea typeface="Arial Unicode MS"/>
                </a:rPr>
                <a:t>	    </a:t>
              </a: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>
                <a:spcAft>
                  <a:spcPts val="300"/>
                </a:spcAft>
                <a:tabLst>
                  <a:tab pos="0" algn="l"/>
                </a:tabLst>
              </a:pPr>
              <a:endParaRPr lang="en-US" altLang="zh-CN" sz="1100" i="1" dirty="0">
                <a:latin typeface="Arial" panose="020B0604020202020204" pitchFamily="34" charset="0"/>
                <a:ea typeface="Arial Unicode MS"/>
              </a:endParaRPr>
            </a:p>
          </p:txBody>
        </p:sp>
      </p:grpSp>
      <p:sp>
        <p:nvSpPr>
          <p:cNvPr id="39" name="Textfeld 51">
            <a:extLst>
              <a:ext uri="{FF2B5EF4-FFF2-40B4-BE49-F238E27FC236}">
                <a16:creationId xmlns:a16="http://schemas.microsoft.com/office/drawing/2014/main" id="{B4E1A823-D56E-4F80-A531-4DED14CF4F2C}"/>
              </a:ext>
            </a:extLst>
          </p:cNvPr>
          <p:cNvSpPr txBox="1">
            <a:spLocks/>
          </p:cNvSpPr>
          <p:nvPr/>
        </p:nvSpPr>
        <p:spPr bwMode="gray">
          <a:xfrm>
            <a:off x="6245325" y="2760870"/>
            <a:ext cx="5588712" cy="7327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sz="1600" b="1" u="sng" dirty="0">
                <a:latin typeface="Arial" panose="020B0604020202020204" pitchFamily="34" charset="0"/>
                <a:ea typeface="Arial Unicode MS"/>
              </a:rPr>
              <a:t>Explore DA Solution for on-site sound data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altLang="zh-CN" sz="1600" dirty="0">
                <a:latin typeface="Arial" panose="020B0604020202020204" pitchFamily="34" charset="0"/>
                <a:ea typeface="Arial Unicode MS"/>
              </a:rPr>
              <a:t>Considering factors: ensure </a:t>
            </a:r>
            <a:r>
              <a:rPr lang="en-US" altLang="zh-CN" sz="1600" i="1" dirty="0">
                <a:latin typeface="Arial" panose="020B0604020202020204" pitchFamily="34" charset="0"/>
                <a:ea typeface="Arial Unicode MS"/>
              </a:rPr>
              <a:t>real-time</a:t>
            </a:r>
            <a:r>
              <a:rPr lang="en-US" altLang="zh-CN" sz="1600" dirty="0">
                <a:latin typeface="Arial" panose="020B0604020202020204" pitchFamily="34" charset="0"/>
                <a:ea typeface="Arial Unicode MS"/>
              </a:rPr>
              <a:t>, </a:t>
            </a:r>
            <a:r>
              <a:rPr lang="en-US" altLang="zh-CN" sz="1600" i="1" dirty="0">
                <a:latin typeface="Arial" panose="020B0604020202020204" pitchFamily="34" charset="0"/>
                <a:ea typeface="Arial Unicode MS"/>
              </a:rPr>
              <a:t>sampling frequency</a:t>
            </a:r>
            <a:r>
              <a:rPr lang="en-US" altLang="zh-CN" sz="1600" dirty="0">
                <a:latin typeface="Arial" panose="020B0604020202020204" pitchFamily="34" charset="0"/>
                <a:ea typeface="Arial Unicode MS"/>
              </a:rPr>
              <a:t>, effort and cost.	    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Arial" panose="020B0604020202020204" pitchFamily="34" charset="0"/>
              <a:ea typeface="Arial Unicode MS"/>
            </a:endParaRPr>
          </a:p>
        </p:txBody>
      </p:sp>
      <p:pic>
        <p:nvPicPr>
          <p:cNvPr id="32" name="Picture 31">
            <a:hlinkClick r:id="" action="ppaction://noaction"/>
            <a:extLst>
              <a:ext uri="{FF2B5EF4-FFF2-40B4-BE49-F238E27FC236}">
                <a16:creationId xmlns:a16="http://schemas.microsoft.com/office/drawing/2014/main" id="{824D4F93-6563-406C-9534-20E65867B9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8109" y="5069414"/>
            <a:ext cx="1867751" cy="1413196"/>
          </a:xfrm>
          <a:prstGeom prst="rect">
            <a:avLst/>
          </a:prstGeom>
        </p:spPr>
      </p:pic>
      <p:pic>
        <p:nvPicPr>
          <p:cNvPr id="43" name="Picture 42">
            <a:hlinkClick r:id="" action="ppaction://noaction"/>
            <a:extLst>
              <a:ext uri="{FF2B5EF4-FFF2-40B4-BE49-F238E27FC236}">
                <a16:creationId xmlns:a16="http://schemas.microsoft.com/office/drawing/2014/main" id="{5EEA149F-3314-47E8-B87D-76904656815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31994" y="5069414"/>
            <a:ext cx="2049714" cy="141319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3BB26B3-1F74-4722-B10A-05735A85CC9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9018">
            <a:off x="8351848" y="3385743"/>
            <a:ext cx="504295" cy="962918"/>
          </a:xfrm>
          <a:prstGeom prst="rect">
            <a:avLst/>
          </a:prstGeom>
        </p:spPr>
      </p:pic>
      <p:sp>
        <p:nvSpPr>
          <p:cNvPr id="48" name="Textfeld 51">
            <a:extLst>
              <a:ext uri="{FF2B5EF4-FFF2-40B4-BE49-F238E27FC236}">
                <a16:creationId xmlns:a16="http://schemas.microsoft.com/office/drawing/2014/main" id="{C2D409F2-3CEE-4C1E-9ABE-C279470C029B}"/>
              </a:ext>
            </a:extLst>
          </p:cNvPr>
          <p:cNvSpPr txBox="1">
            <a:spLocks/>
          </p:cNvSpPr>
          <p:nvPr/>
        </p:nvSpPr>
        <p:spPr bwMode="gray">
          <a:xfrm>
            <a:off x="8172032" y="4296346"/>
            <a:ext cx="1053201" cy="2271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sz="1400" dirty="0" err="1">
                <a:latin typeface="Arial" panose="020B0604020202020204" pitchFamily="34" charset="0"/>
                <a:ea typeface="Arial Unicode MS"/>
              </a:rPr>
              <a:t>Nti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 XL2</a:t>
            </a:r>
            <a:r>
              <a:rPr lang="en-US" altLang="zh-CN" dirty="0">
                <a:latin typeface="Arial" panose="020B0604020202020204" pitchFamily="34" charset="0"/>
                <a:ea typeface="Arial Unicode MS"/>
              </a:rPr>
              <a:t>	    </a:t>
            </a: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Arial" panose="020B0604020202020204" pitchFamily="34" charset="0"/>
              <a:ea typeface="Arial Unicode M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1E4E030-1E40-4170-BC49-395B22CAF830}"/>
              </a:ext>
            </a:extLst>
          </p:cNvPr>
          <p:cNvGrpSpPr/>
          <p:nvPr/>
        </p:nvGrpSpPr>
        <p:grpSpPr>
          <a:xfrm>
            <a:off x="10439189" y="3583096"/>
            <a:ext cx="523477" cy="742597"/>
            <a:chOff x="2600399" y="1933215"/>
            <a:chExt cx="868861" cy="1264907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7864B09-2F98-439B-B7E0-9C3179B6F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265979">
              <a:off x="2600399" y="1933215"/>
              <a:ext cx="868861" cy="1264907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EC9D53E-A925-4B3F-BB9F-BA1125FA2959}"/>
                </a:ext>
              </a:extLst>
            </p:cNvPr>
            <p:cNvSpPr/>
            <p:nvPr/>
          </p:nvSpPr>
          <p:spPr>
            <a:xfrm>
              <a:off x="2767818" y="2048462"/>
              <a:ext cx="45719" cy="139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53" name="Textfeld 51">
            <a:extLst>
              <a:ext uri="{FF2B5EF4-FFF2-40B4-BE49-F238E27FC236}">
                <a16:creationId xmlns:a16="http://schemas.microsoft.com/office/drawing/2014/main" id="{5C77A12B-1770-4DA7-B51A-104CBC077394}"/>
              </a:ext>
            </a:extLst>
          </p:cNvPr>
          <p:cNvSpPr txBox="1">
            <a:spLocks/>
          </p:cNvSpPr>
          <p:nvPr/>
        </p:nvSpPr>
        <p:spPr bwMode="gray">
          <a:xfrm>
            <a:off x="10023991" y="4296346"/>
            <a:ext cx="1925024" cy="2773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sz="1400" dirty="0" err="1">
                <a:latin typeface="Arial" panose="020B0604020202020204" pitchFamily="34" charset="0"/>
                <a:ea typeface="Arial Unicode MS"/>
              </a:rPr>
              <a:t>Aihua</a:t>
            </a: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 AWA6228+</a:t>
            </a:r>
            <a:r>
              <a:rPr lang="en-US" altLang="zh-CN" dirty="0">
                <a:latin typeface="Arial" panose="020B0604020202020204" pitchFamily="34" charset="0"/>
                <a:ea typeface="Arial Unicode MS"/>
              </a:rPr>
              <a:t>	    </a:t>
            </a: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Arial" panose="020B0604020202020204" pitchFamily="34" charset="0"/>
              <a:ea typeface="Arial Unicode M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7A28F4-7D7D-4BC7-A311-41D99A64EDD4}"/>
              </a:ext>
            </a:extLst>
          </p:cNvPr>
          <p:cNvSpPr/>
          <p:nvPr/>
        </p:nvSpPr>
        <p:spPr>
          <a:xfrm>
            <a:off x="7981169" y="3958267"/>
            <a:ext cx="196416" cy="2043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5A5AF22-5CDE-4BF9-A364-CC9130207F93}"/>
              </a:ext>
            </a:extLst>
          </p:cNvPr>
          <p:cNvSpPr/>
          <p:nvPr/>
        </p:nvSpPr>
        <p:spPr>
          <a:xfrm>
            <a:off x="10003928" y="3954395"/>
            <a:ext cx="196416" cy="2043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pic>
        <p:nvPicPr>
          <p:cNvPr id="56" name="Graphic 55" descr="Checkmark with solid fill">
            <a:extLst>
              <a:ext uri="{FF2B5EF4-FFF2-40B4-BE49-F238E27FC236}">
                <a16:creationId xmlns:a16="http://schemas.microsoft.com/office/drawing/2014/main" id="{8441ED67-21F8-453B-9DF6-C98CD5052AA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987036" y="3942017"/>
            <a:ext cx="227161" cy="227161"/>
          </a:xfrm>
          <a:prstGeom prst="rect">
            <a:avLst/>
          </a:prstGeom>
        </p:spPr>
      </p:pic>
      <p:sp>
        <p:nvSpPr>
          <p:cNvPr id="57" name="Arrow: Right 56">
            <a:extLst>
              <a:ext uri="{FF2B5EF4-FFF2-40B4-BE49-F238E27FC236}">
                <a16:creationId xmlns:a16="http://schemas.microsoft.com/office/drawing/2014/main" id="{600C5620-7D86-4234-93C1-1DDFA1FE1012}"/>
              </a:ext>
            </a:extLst>
          </p:cNvPr>
          <p:cNvSpPr/>
          <p:nvPr/>
        </p:nvSpPr>
        <p:spPr>
          <a:xfrm>
            <a:off x="6541177" y="4643309"/>
            <a:ext cx="321121" cy="25518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58" name="Textfeld 51">
            <a:extLst>
              <a:ext uri="{FF2B5EF4-FFF2-40B4-BE49-F238E27FC236}">
                <a16:creationId xmlns:a16="http://schemas.microsoft.com/office/drawing/2014/main" id="{62214F84-105C-456D-8CF0-8442A540489E}"/>
              </a:ext>
            </a:extLst>
          </p:cNvPr>
          <p:cNvSpPr txBox="1">
            <a:spLocks/>
          </p:cNvSpPr>
          <p:nvPr/>
        </p:nvSpPr>
        <p:spPr bwMode="gray">
          <a:xfrm>
            <a:off x="6960558" y="4680155"/>
            <a:ext cx="5020207" cy="2930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sz="1600" dirty="0">
                <a:latin typeface="Arial" panose="020B0604020202020204" pitchFamily="34" charset="0"/>
                <a:ea typeface="Arial Unicode MS"/>
              </a:rPr>
              <a:t>Digital (discrete) data is the basis for features extraction</a:t>
            </a: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600" dirty="0">
              <a:latin typeface="Arial" panose="020B0604020202020204" pitchFamily="34" charset="0"/>
              <a:ea typeface="Arial Unicode MS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dirty="0">
                <a:latin typeface="Arial" panose="020B0604020202020204" pitchFamily="34" charset="0"/>
                <a:ea typeface="Arial Unicode MS"/>
              </a:rPr>
              <a:t>	    </a:t>
            </a: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Arial" panose="020B0604020202020204" pitchFamily="34" charset="0"/>
              <a:ea typeface="Arial Unicode MS"/>
            </a:endParaRPr>
          </a:p>
        </p:txBody>
      </p:sp>
      <p:sp>
        <p:nvSpPr>
          <p:cNvPr id="59" name="Textfeld 51">
            <a:extLst>
              <a:ext uri="{FF2B5EF4-FFF2-40B4-BE49-F238E27FC236}">
                <a16:creationId xmlns:a16="http://schemas.microsoft.com/office/drawing/2014/main" id="{AE121ED5-93CB-4869-80E6-EE675BDCDE15}"/>
              </a:ext>
            </a:extLst>
          </p:cNvPr>
          <p:cNvSpPr txBox="1">
            <a:spLocks/>
          </p:cNvSpPr>
          <p:nvPr/>
        </p:nvSpPr>
        <p:spPr bwMode="gray">
          <a:xfrm>
            <a:off x="7567788" y="6484820"/>
            <a:ext cx="1053201" cy="2271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Amplitude</a:t>
            </a:r>
            <a:r>
              <a:rPr lang="en-US" altLang="zh-CN" dirty="0">
                <a:latin typeface="Arial" panose="020B0604020202020204" pitchFamily="34" charset="0"/>
                <a:ea typeface="Arial Unicode MS"/>
              </a:rPr>
              <a:t>	    </a:t>
            </a: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100" i="1" dirty="0">
              <a:latin typeface="Arial" panose="020B0604020202020204" pitchFamily="34" charset="0"/>
              <a:ea typeface="Arial Unicode MS"/>
            </a:endParaRPr>
          </a:p>
        </p:txBody>
      </p:sp>
      <p:sp>
        <p:nvSpPr>
          <p:cNvPr id="60" name="Textfeld 51">
            <a:extLst>
              <a:ext uri="{FF2B5EF4-FFF2-40B4-BE49-F238E27FC236}">
                <a16:creationId xmlns:a16="http://schemas.microsoft.com/office/drawing/2014/main" id="{C00CDCE1-3ECD-4379-91D0-C65484B366A0}"/>
              </a:ext>
            </a:extLst>
          </p:cNvPr>
          <p:cNvSpPr txBox="1">
            <a:spLocks/>
          </p:cNvSpPr>
          <p:nvPr/>
        </p:nvSpPr>
        <p:spPr bwMode="gray">
          <a:xfrm>
            <a:off x="10027228" y="6519163"/>
            <a:ext cx="1053201" cy="2271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300"/>
              </a:spcAft>
              <a:tabLst>
                <a:tab pos="0" algn="l"/>
              </a:tabLst>
            </a:pPr>
            <a:r>
              <a:rPr lang="en-US" altLang="zh-CN" sz="1400" dirty="0">
                <a:latin typeface="Arial" panose="020B0604020202020204" pitchFamily="34" charset="0"/>
                <a:ea typeface="Arial Unicode MS"/>
              </a:rPr>
              <a:t>Distribution	    </a:t>
            </a:r>
            <a:endParaRPr lang="en-US" altLang="zh-CN" sz="14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400" i="1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Aft>
                <a:spcPts val="300"/>
              </a:spcAft>
              <a:tabLst>
                <a:tab pos="0" algn="l"/>
              </a:tabLst>
            </a:pPr>
            <a:endParaRPr lang="en-US" altLang="zh-CN" sz="1400" i="1" dirty="0">
              <a:latin typeface="Arial" panose="020B0604020202020204" pitchFamily="34" charset="0"/>
              <a:ea typeface="Arial Unicode M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0E4241-D663-4D7D-AC47-0F1D1ED8B151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5" name="Footer Placeholder 3">
              <a:extLst>
                <a:ext uri="{FF2B5EF4-FFF2-40B4-BE49-F238E27FC236}">
                  <a16:creationId xmlns:a16="http://schemas.microsoft.com/office/drawing/2014/main" id="{30089872-6CBA-459D-845C-976EEACC2D3F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6" name="Slide Number Placeholder 3">
              <a:extLst>
                <a:ext uri="{FF2B5EF4-FFF2-40B4-BE49-F238E27FC236}">
                  <a16:creationId xmlns:a16="http://schemas.microsoft.com/office/drawing/2014/main" id="{9F34FCA9-4349-4C9D-9686-59BEBC230B4E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4</a:t>
              </a:fld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980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3" grpId="0"/>
      <p:bldP spid="46" grpId="0" animBg="1"/>
      <p:bldP spid="55" grpId="0" animBg="1"/>
      <p:bldP spid="57" grpId="0" animBg="1"/>
      <p:bldP spid="58" grpId="0"/>
      <p:bldP spid="59" grpId="0"/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8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itchFamily="34" charset="0"/>
              </a:rPr>
              <a:t>Solution Overview</a:t>
            </a:r>
            <a:br>
              <a:rPr lang="en-US" altLang="zh-CN" dirty="0">
                <a:latin typeface="Arial" pitchFamily="34" charset="0"/>
              </a:rPr>
            </a:br>
            <a:endParaRPr lang="en-US" dirty="0">
              <a:latin typeface="Arial" pitchFamily="34" charset="0"/>
            </a:endParaRPr>
          </a:p>
        </p:txBody>
      </p:sp>
      <p:sp>
        <p:nvSpPr>
          <p:cNvPr id="280" name="Rechteck 2093">
            <a:extLst>
              <a:ext uri="{FF2B5EF4-FFF2-40B4-BE49-F238E27FC236}">
                <a16:creationId xmlns:a16="http://schemas.microsoft.com/office/drawing/2014/main" id="{52B517E6-CF4F-45BD-BF76-476521D67556}"/>
              </a:ext>
            </a:extLst>
          </p:cNvPr>
          <p:cNvSpPr>
            <a:spLocks/>
          </p:cNvSpPr>
          <p:nvPr/>
        </p:nvSpPr>
        <p:spPr bwMode="gray">
          <a:xfrm>
            <a:off x="714553" y="4570703"/>
            <a:ext cx="10559097" cy="1579092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Field Level</a:t>
            </a:r>
            <a:r>
              <a:rPr lang="zh-CN" altLang="en-US" sz="1199" b="1" dirty="0">
                <a:solidFill>
                  <a:srgbClr val="4BB9B9"/>
                </a:solidFill>
              </a:rPr>
              <a:t>*</a:t>
            </a:r>
            <a:endParaRPr lang="en-US" sz="1199" b="1" dirty="0">
              <a:solidFill>
                <a:srgbClr val="4BB9B9"/>
              </a:solidFill>
            </a:endParaRPr>
          </a:p>
        </p:txBody>
      </p:sp>
      <p:sp>
        <p:nvSpPr>
          <p:cNvPr id="281" name="Rechteck 6">
            <a:extLst>
              <a:ext uri="{FF2B5EF4-FFF2-40B4-BE49-F238E27FC236}">
                <a16:creationId xmlns:a16="http://schemas.microsoft.com/office/drawing/2014/main" id="{E96C5988-178E-4CB8-ABB2-D8562B098DCE}"/>
              </a:ext>
            </a:extLst>
          </p:cNvPr>
          <p:cNvSpPr>
            <a:spLocks/>
          </p:cNvSpPr>
          <p:nvPr/>
        </p:nvSpPr>
        <p:spPr bwMode="gray">
          <a:xfrm>
            <a:off x="719280" y="1040148"/>
            <a:ext cx="10559097" cy="1658987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zh-CN" sz="1199" b="1" dirty="0">
                <a:solidFill>
                  <a:srgbClr val="4BB9B9"/>
                </a:solidFill>
              </a:rPr>
              <a:t>Services/Apps</a:t>
            </a:r>
          </a:p>
        </p:txBody>
      </p:sp>
      <p:sp>
        <p:nvSpPr>
          <p:cNvPr id="282" name="Rechteck 7">
            <a:extLst>
              <a:ext uri="{FF2B5EF4-FFF2-40B4-BE49-F238E27FC236}">
                <a16:creationId xmlns:a16="http://schemas.microsoft.com/office/drawing/2014/main" id="{18D73F59-4FE9-4FE1-BD77-92B2E0CCEAA5}"/>
              </a:ext>
            </a:extLst>
          </p:cNvPr>
          <p:cNvSpPr>
            <a:spLocks/>
          </p:cNvSpPr>
          <p:nvPr/>
        </p:nvSpPr>
        <p:spPr bwMode="gray">
          <a:xfrm>
            <a:off x="719280" y="2834183"/>
            <a:ext cx="10559097" cy="1610355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Edge Level</a:t>
            </a:r>
            <a:endParaRPr lang="en-US" sz="1199" b="1" dirty="0">
              <a:solidFill>
                <a:srgbClr val="4BB9B9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58491BE-D779-41A9-8A1E-9655C9C549E5}"/>
              </a:ext>
            </a:extLst>
          </p:cNvPr>
          <p:cNvGrpSpPr/>
          <p:nvPr/>
        </p:nvGrpSpPr>
        <p:grpSpPr>
          <a:xfrm>
            <a:off x="6444868" y="1174795"/>
            <a:ext cx="2947354" cy="1306565"/>
            <a:chOff x="2008060" y="1381063"/>
            <a:chExt cx="2312362" cy="1307246"/>
          </a:xfrm>
        </p:grpSpPr>
        <p:sp>
          <p:nvSpPr>
            <p:cNvPr id="741" name="Rechteck 44">
              <a:extLst>
                <a:ext uri="{FF2B5EF4-FFF2-40B4-BE49-F238E27FC236}">
                  <a16:creationId xmlns:a16="http://schemas.microsoft.com/office/drawing/2014/main" id="{17FA83BD-E843-41DD-9CB5-C7BA4F06DA38}"/>
                </a:ext>
              </a:extLst>
            </p:cNvPr>
            <p:cNvSpPr>
              <a:spLocks/>
            </p:cNvSpPr>
            <p:nvPr/>
          </p:nvSpPr>
          <p:spPr bwMode="gray">
            <a:xfrm>
              <a:off x="2008060" y="1534778"/>
              <a:ext cx="2312362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sp>
          <p:nvSpPr>
            <p:cNvPr id="739" name="Rechteck 416">
              <a:extLst>
                <a:ext uri="{FF2B5EF4-FFF2-40B4-BE49-F238E27FC236}">
                  <a16:creationId xmlns:a16="http://schemas.microsoft.com/office/drawing/2014/main" id="{D506711B-E101-421D-AE66-F92096BD72F6}"/>
                </a:ext>
              </a:extLst>
            </p:cNvPr>
            <p:cNvSpPr>
              <a:spLocks/>
            </p:cNvSpPr>
            <p:nvPr/>
          </p:nvSpPr>
          <p:spPr bwMode="gray">
            <a:xfrm>
              <a:off x="2176745" y="1381063"/>
              <a:ext cx="1983149" cy="32042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噪声质量测试 客户端</a:t>
              </a:r>
              <a:endParaRPr lang="en-US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51" name="Textfeld 899">
            <a:extLst>
              <a:ext uri="{FF2B5EF4-FFF2-40B4-BE49-F238E27FC236}">
                <a16:creationId xmlns:a16="http://schemas.microsoft.com/office/drawing/2014/main" id="{69D5C046-2215-4A2A-8EC4-D68FC98F19D1}"/>
              </a:ext>
            </a:extLst>
          </p:cNvPr>
          <p:cNvSpPr txBox="1">
            <a:spLocks/>
          </p:cNvSpPr>
          <p:nvPr/>
        </p:nvSpPr>
        <p:spPr bwMode="gray">
          <a:xfrm>
            <a:off x="7387120" y="6445137"/>
            <a:ext cx="4365212" cy="1350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* 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Take one test room as example</a:t>
            </a:r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in 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the architecture</a:t>
            </a:r>
            <a:endParaRPr lang="en-US" sz="999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E678E28-9D00-4950-A6D4-DE94315E2AF5}"/>
              </a:ext>
            </a:extLst>
          </p:cNvPr>
          <p:cNvGrpSpPr/>
          <p:nvPr/>
        </p:nvGrpSpPr>
        <p:grpSpPr>
          <a:xfrm>
            <a:off x="1918966" y="4659524"/>
            <a:ext cx="2395098" cy="1396333"/>
            <a:chOff x="-70051" y="3429000"/>
            <a:chExt cx="2378263" cy="1801537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8948519E-93EE-49BD-88A2-2ABF9260C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5323" y="3429000"/>
              <a:ext cx="1432889" cy="1801537"/>
            </a:xfrm>
            <a:prstGeom prst="rect">
              <a:avLst/>
            </a:prstGeom>
          </p:spPr>
        </p:pic>
        <p:sp>
          <p:nvSpPr>
            <p:cNvPr id="55" name="Rechteck 2169">
              <a:extLst>
                <a:ext uri="{FF2B5EF4-FFF2-40B4-BE49-F238E27FC236}">
                  <a16:creationId xmlns:a16="http://schemas.microsoft.com/office/drawing/2014/main" id="{1B78324E-29F5-4E1A-8E79-2EFA08D17AB7}"/>
                </a:ext>
              </a:extLst>
            </p:cNvPr>
            <p:cNvSpPr>
              <a:spLocks/>
            </p:cNvSpPr>
            <p:nvPr/>
          </p:nvSpPr>
          <p:spPr bwMode="gray">
            <a:xfrm>
              <a:off x="-70051" y="4896668"/>
              <a:ext cx="1052403" cy="159632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buClr>
                  <a:srgbClr val="879BAA"/>
                </a:buClr>
              </a:pPr>
              <a:r>
                <a:rPr lang="en-US" altLang="zh-CN" sz="1000" dirty="0">
                  <a:solidFill>
                    <a:schemeClr val="tx1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Test Room 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6" name="Rechteck 2169">
              <a:extLst>
                <a:ext uri="{FF2B5EF4-FFF2-40B4-BE49-F238E27FC236}">
                  <a16:creationId xmlns:a16="http://schemas.microsoft.com/office/drawing/2014/main" id="{2CF21448-B998-49BF-90AA-AADE9AEBFA1C}"/>
                </a:ext>
              </a:extLst>
            </p:cNvPr>
            <p:cNvSpPr>
              <a:spLocks/>
            </p:cNvSpPr>
            <p:nvPr/>
          </p:nvSpPr>
          <p:spPr bwMode="gray">
            <a:xfrm>
              <a:off x="803519" y="4727240"/>
              <a:ext cx="703386" cy="125835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buClr>
                  <a:srgbClr val="879BAA"/>
                </a:buClr>
              </a:pPr>
              <a:r>
                <a:rPr lang="en-US" altLang="zh-CN" sz="800" b="1" dirty="0">
                  <a:solidFill>
                    <a:schemeClr val="bg1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Test Bench</a:t>
              </a:r>
              <a:endParaRPr lang="en-US" altLang="zh-CN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90D7355-81F1-413A-813F-D547D0AC59E9}"/>
                </a:ext>
              </a:extLst>
            </p:cNvPr>
            <p:cNvSpPr/>
            <p:nvPr/>
          </p:nvSpPr>
          <p:spPr>
            <a:xfrm>
              <a:off x="1383323" y="5040923"/>
              <a:ext cx="54708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3E67584-5E8E-4A49-AF60-6DC38016785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23" y="4915539"/>
              <a:ext cx="508000" cy="0"/>
            </a:xfrm>
            <a:prstGeom prst="line">
              <a:avLst/>
            </a:prstGeom>
            <a:ln w="9525">
              <a:solidFill>
                <a:schemeClr val="bg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4BE4837-B06C-486A-8E59-5AAB56BB9F96}"/>
                </a:ext>
              </a:extLst>
            </p:cNvPr>
            <p:cNvCxnSpPr>
              <a:cxnSpLocks/>
              <a:endCxn id="57" idx="0"/>
            </p:cNvCxnSpPr>
            <p:nvPr/>
          </p:nvCxnSpPr>
          <p:spPr>
            <a:xfrm>
              <a:off x="1383323" y="4915539"/>
              <a:ext cx="27354" cy="125384"/>
            </a:xfrm>
            <a:prstGeom prst="line">
              <a:avLst/>
            </a:prstGeom>
            <a:ln w="9525">
              <a:solidFill>
                <a:schemeClr val="bg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hteck 2169">
              <a:extLst>
                <a:ext uri="{FF2B5EF4-FFF2-40B4-BE49-F238E27FC236}">
                  <a16:creationId xmlns:a16="http://schemas.microsoft.com/office/drawing/2014/main" id="{10B4DEE5-7AD5-455D-872B-E27940A9EEF2}"/>
                </a:ext>
              </a:extLst>
            </p:cNvPr>
            <p:cNvSpPr>
              <a:spLocks/>
            </p:cNvSpPr>
            <p:nvPr/>
          </p:nvSpPr>
          <p:spPr bwMode="gray">
            <a:xfrm>
              <a:off x="1454999" y="3551852"/>
              <a:ext cx="703386" cy="125835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buClr>
                  <a:srgbClr val="879BAA"/>
                </a:buClr>
              </a:pPr>
              <a:r>
                <a:rPr lang="en-US" altLang="zh-CN" sz="800" b="1" dirty="0">
                  <a:solidFill>
                    <a:schemeClr val="bg1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Mic</a:t>
              </a:r>
              <a:endParaRPr lang="en-US" altLang="zh-CN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E6FDFE0-B9AB-40DD-B2D1-3870A157431D}"/>
                </a:ext>
              </a:extLst>
            </p:cNvPr>
            <p:cNvCxnSpPr>
              <a:cxnSpLocks/>
            </p:cNvCxnSpPr>
            <p:nvPr/>
          </p:nvCxnSpPr>
          <p:spPr>
            <a:xfrm>
              <a:off x="1698615" y="3689959"/>
              <a:ext cx="311277" cy="0"/>
            </a:xfrm>
            <a:prstGeom prst="line">
              <a:avLst/>
            </a:prstGeom>
            <a:ln w="9525">
              <a:solidFill>
                <a:schemeClr val="bg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4EFB852-C401-4C99-B02A-86FA8AF0FFAF}"/>
                </a:ext>
              </a:extLst>
            </p:cNvPr>
            <p:cNvSpPr/>
            <p:nvPr/>
          </p:nvSpPr>
          <p:spPr>
            <a:xfrm>
              <a:off x="1591767" y="3754820"/>
              <a:ext cx="54708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CBD4B18-BFED-45DB-8E8C-A428CD1EF374}"/>
                </a:ext>
              </a:extLst>
            </p:cNvPr>
            <p:cNvCxnSpPr>
              <a:cxnSpLocks/>
              <a:stCxn id="62" idx="7"/>
            </p:cNvCxnSpPr>
            <p:nvPr/>
          </p:nvCxnSpPr>
          <p:spPr>
            <a:xfrm flipV="1">
              <a:off x="1638463" y="3689959"/>
              <a:ext cx="60152" cy="71556"/>
            </a:xfrm>
            <a:prstGeom prst="line">
              <a:avLst/>
            </a:prstGeom>
            <a:ln w="9525">
              <a:solidFill>
                <a:schemeClr val="bg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93A9873-06B0-472E-A79A-599F456BDAAB}"/>
              </a:ext>
            </a:extLst>
          </p:cNvPr>
          <p:cNvGrpSpPr/>
          <p:nvPr/>
        </p:nvGrpSpPr>
        <p:grpSpPr>
          <a:xfrm>
            <a:off x="5840010" y="4743700"/>
            <a:ext cx="641864" cy="944296"/>
            <a:chOff x="2600399" y="1933215"/>
            <a:chExt cx="868861" cy="1264907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3C2B67F9-BF2B-44A8-88C0-37923ADE2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265979">
              <a:off x="2600399" y="1933215"/>
              <a:ext cx="868861" cy="1264907"/>
            </a:xfrm>
            <a:prstGeom prst="rect">
              <a:avLst/>
            </a:prstGeom>
          </p:spPr>
        </p:pic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BB60CD5-2685-4C0A-A477-BFB79D8EA61A}"/>
                </a:ext>
              </a:extLst>
            </p:cNvPr>
            <p:cNvSpPr/>
            <p:nvPr/>
          </p:nvSpPr>
          <p:spPr>
            <a:xfrm>
              <a:off x="2767818" y="2048462"/>
              <a:ext cx="45719" cy="139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67" name="Rechteck 2169">
            <a:extLst>
              <a:ext uri="{FF2B5EF4-FFF2-40B4-BE49-F238E27FC236}">
                <a16:creationId xmlns:a16="http://schemas.microsoft.com/office/drawing/2014/main" id="{702630BC-21AA-4D62-8246-E6586FFA345D}"/>
              </a:ext>
            </a:extLst>
          </p:cNvPr>
          <p:cNvSpPr>
            <a:spLocks/>
          </p:cNvSpPr>
          <p:nvPr/>
        </p:nvSpPr>
        <p:spPr bwMode="gray">
          <a:xfrm>
            <a:off x="5774349" y="5725840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Sound Meter</a:t>
            </a:r>
          </a:p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AWA6228+</a:t>
            </a:r>
          </a:p>
        </p:txBody>
      </p:sp>
      <p:sp>
        <p:nvSpPr>
          <p:cNvPr id="70" name="Freeform 25">
            <a:extLst>
              <a:ext uri="{FF2B5EF4-FFF2-40B4-BE49-F238E27FC236}">
                <a16:creationId xmlns:a16="http://schemas.microsoft.com/office/drawing/2014/main" id="{C40CF975-4079-4585-BD59-2B67B1F0834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28958" y="3345817"/>
            <a:ext cx="628971" cy="506764"/>
          </a:xfrm>
          <a:custGeom>
            <a:avLst/>
            <a:gdLst>
              <a:gd name="T0" fmla="*/ 192 w 560"/>
              <a:gd name="T1" fmla="*/ 133 h 451"/>
              <a:gd name="T2" fmla="*/ 233 w 560"/>
              <a:gd name="T3" fmla="*/ 92 h 451"/>
              <a:gd name="T4" fmla="*/ 275 w 560"/>
              <a:gd name="T5" fmla="*/ 133 h 451"/>
              <a:gd name="T6" fmla="*/ 233 w 560"/>
              <a:gd name="T7" fmla="*/ 175 h 451"/>
              <a:gd name="T8" fmla="*/ 192 w 560"/>
              <a:gd name="T9" fmla="*/ 133 h 451"/>
              <a:gd name="T10" fmla="*/ 444 w 560"/>
              <a:gd name="T11" fmla="*/ 175 h 451"/>
              <a:gd name="T12" fmla="*/ 486 w 560"/>
              <a:gd name="T13" fmla="*/ 133 h 451"/>
              <a:gd name="T14" fmla="*/ 444 w 560"/>
              <a:gd name="T15" fmla="*/ 92 h 451"/>
              <a:gd name="T16" fmla="*/ 402 w 560"/>
              <a:gd name="T17" fmla="*/ 133 h 451"/>
              <a:gd name="T18" fmla="*/ 444 w 560"/>
              <a:gd name="T19" fmla="*/ 175 h 451"/>
              <a:gd name="T20" fmla="*/ 166 w 560"/>
              <a:gd name="T21" fmla="*/ 141 h 451"/>
              <a:gd name="T22" fmla="*/ 101 w 560"/>
              <a:gd name="T23" fmla="*/ 141 h 451"/>
              <a:gd name="T24" fmla="*/ 101 w 560"/>
              <a:gd name="T25" fmla="*/ 259 h 451"/>
              <a:gd name="T26" fmla="*/ 219 w 560"/>
              <a:gd name="T27" fmla="*/ 259 h 451"/>
              <a:gd name="T28" fmla="*/ 219 w 560"/>
              <a:gd name="T29" fmla="*/ 194 h 451"/>
              <a:gd name="T30" fmla="*/ 166 w 560"/>
              <a:gd name="T31" fmla="*/ 141 h 451"/>
              <a:gd name="T32" fmla="*/ 376 w 560"/>
              <a:gd name="T33" fmla="*/ 141 h 451"/>
              <a:gd name="T34" fmla="*/ 311 w 560"/>
              <a:gd name="T35" fmla="*/ 141 h 451"/>
              <a:gd name="T36" fmla="*/ 311 w 560"/>
              <a:gd name="T37" fmla="*/ 259 h 451"/>
              <a:gd name="T38" fmla="*/ 429 w 560"/>
              <a:gd name="T39" fmla="*/ 259 h 451"/>
              <a:gd name="T40" fmla="*/ 429 w 560"/>
              <a:gd name="T41" fmla="*/ 194 h 451"/>
              <a:gd name="T42" fmla="*/ 376 w 560"/>
              <a:gd name="T43" fmla="*/ 141 h 451"/>
              <a:gd name="T44" fmla="*/ 560 w 560"/>
              <a:gd name="T45" fmla="*/ 27 h 451"/>
              <a:gd name="T46" fmla="*/ 560 w 560"/>
              <a:gd name="T47" fmla="*/ 341 h 451"/>
              <a:gd name="T48" fmla="*/ 532 w 560"/>
              <a:gd name="T49" fmla="*/ 369 h 451"/>
              <a:gd name="T50" fmla="*/ 327 w 560"/>
              <a:gd name="T51" fmla="*/ 369 h 451"/>
              <a:gd name="T52" fmla="*/ 327 w 560"/>
              <a:gd name="T53" fmla="*/ 423 h 451"/>
              <a:gd name="T54" fmla="*/ 396 w 560"/>
              <a:gd name="T55" fmla="*/ 423 h 451"/>
              <a:gd name="T56" fmla="*/ 396 w 560"/>
              <a:gd name="T57" fmla="*/ 451 h 451"/>
              <a:gd name="T58" fmla="*/ 164 w 560"/>
              <a:gd name="T59" fmla="*/ 451 h 451"/>
              <a:gd name="T60" fmla="*/ 164 w 560"/>
              <a:gd name="T61" fmla="*/ 423 h 451"/>
              <a:gd name="T62" fmla="*/ 232 w 560"/>
              <a:gd name="T63" fmla="*/ 423 h 451"/>
              <a:gd name="T64" fmla="*/ 232 w 560"/>
              <a:gd name="T65" fmla="*/ 369 h 451"/>
              <a:gd name="T66" fmla="*/ 27 w 560"/>
              <a:gd name="T67" fmla="*/ 369 h 451"/>
              <a:gd name="T68" fmla="*/ 0 w 560"/>
              <a:gd name="T69" fmla="*/ 341 h 451"/>
              <a:gd name="T70" fmla="*/ 0 w 560"/>
              <a:gd name="T71" fmla="*/ 27 h 451"/>
              <a:gd name="T72" fmla="*/ 27 w 560"/>
              <a:gd name="T73" fmla="*/ 0 h 451"/>
              <a:gd name="T74" fmla="*/ 532 w 560"/>
              <a:gd name="T75" fmla="*/ 0 h 451"/>
              <a:gd name="T76" fmla="*/ 560 w 560"/>
              <a:gd name="T77" fmla="*/ 27 h 451"/>
              <a:gd name="T78" fmla="*/ 27 w 560"/>
              <a:gd name="T79" fmla="*/ 27 h 451"/>
              <a:gd name="T80" fmla="*/ 27 w 560"/>
              <a:gd name="T81" fmla="*/ 341 h 451"/>
              <a:gd name="T82" fmla="*/ 532 w 560"/>
              <a:gd name="T83" fmla="*/ 341 h 451"/>
              <a:gd name="T84" fmla="*/ 532 w 560"/>
              <a:gd name="T85" fmla="*/ 27 h 451"/>
              <a:gd name="T86" fmla="*/ 27 w 560"/>
              <a:gd name="T87" fmla="*/ 27 h 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60" h="451">
                <a:moveTo>
                  <a:pt x="192" y="133"/>
                </a:moveTo>
                <a:cubicBezTo>
                  <a:pt x="233" y="92"/>
                  <a:pt x="233" y="92"/>
                  <a:pt x="233" y="92"/>
                </a:cubicBezTo>
                <a:cubicBezTo>
                  <a:pt x="275" y="133"/>
                  <a:pt x="275" y="133"/>
                  <a:pt x="275" y="133"/>
                </a:cubicBezTo>
                <a:cubicBezTo>
                  <a:pt x="233" y="175"/>
                  <a:pt x="233" y="175"/>
                  <a:pt x="233" y="175"/>
                </a:cubicBezTo>
                <a:lnTo>
                  <a:pt x="192" y="133"/>
                </a:lnTo>
                <a:close/>
                <a:moveTo>
                  <a:pt x="444" y="175"/>
                </a:moveTo>
                <a:cubicBezTo>
                  <a:pt x="486" y="133"/>
                  <a:pt x="486" y="133"/>
                  <a:pt x="486" y="133"/>
                </a:cubicBezTo>
                <a:cubicBezTo>
                  <a:pt x="444" y="92"/>
                  <a:pt x="444" y="92"/>
                  <a:pt x="444" y="92"/>
                </a:cubicBezTo>
                <a:cubicBezTo>
                  <a:pt x="402" y="133"/>
                  <a:pt x="402" y="133"/>
                  <a:pt x="402" y="133"/>
                </a:cubicBezTo>
                <a:lnTo>
                  <a:pt x="444" y="175"/>
                </a:lnTo>
                <a:close/>
                <a:moveTo>
                  <a:pt x="166" y="141"/>
                </a:moveTo>
                <a:cubicBezTo>
                  <a:pt x="101" y="141"/>
                  <a:pt x="101" y="141"/>
                  <a:pt x="101" y="141"/>
                </a:cubicBezTo>
                <a:cubicBezTo>
                  <a:pt x="101" y="259"/>
                  <a:pt x="101" y="259"/>
                  <a:pt x="101" y="259"/>
                </a:cubicBezTo>
                <a:cubicBezTo>
                  <a:pt x="219" y="259"/>
                  <a:pt x="219" y="259"/>
                  <a:pt x="219" y="259"/>
                </a:cubicBezTo>
                <a:cubicBezTo>
                  <a:pt x="219" y="194"/>
                  <a:pt x="219" y="194"/>
                  <a:pt x="219" y="194"/>
                </a:cubicBezTo>
                <a:lnTo>
                  <a:pt x="166" y="141"/>
                </a:lnTo>
                <a:close/>
                <a:moveTo>
                  <a:pt x="376" y="141"/>
                </a:moveTo>
                <a:cubicBezTo>
                  <a:pt x="311" y="141"/>
                  <a:pt x="311" y="141"/>
                  <a:pt x="311" y="141"/>
                </a:cubicBezTo>
                <a:cubicBezTo>
                  <a:pt x="311" y="259"/>
                  <a:pt x="311" y="259"/>
                  <a:pt x="311" y="259"/>
                </a:cubicBezTo>
                <a:cubicBezTo>
                  <a:pt x="429" y="259"/>
                  <a:pt x="429" y="259"/>
                  <a:pt x="429" y="259"/>
                </a:cubicBezTo>
                <a:cubicBezTo>
                  <a:pt x="429" y="194"/>
                  <a:pt x="429" y="194"/>
                  <a:pt x="429" y="194"/>
                </a:cubicBezTo>
                <a:lnTo>
                  <a:pt x="376" y="141"/>
                </a:lnTo>
                <a:close/>
                <a:moveTo>
                  <a:pt x="560" y="27"/>
                </a:moveTo>
                <a:cubicBezTo>
                  <a:pt x="560" y="341"/>
                  <a:pt x="560" y="341"/>
                  <a:pt x="560" y="341"/>
                </a:cubicBezTo>
                <a:cubicBezTo>
                  <a:pt x="560" y="356"/>
                  <a:pt x="547" y="369"/>
                  <a:pt x="532" y="369"/>
                </a:cubicBezTo>
                <a:cubicBezTo>
                  <a:pt x="327" y="369"/>
                  <a:pt x="327" y="369"/>
                  <a:pt x="327" y="369"/>
                </a:cubicBezTo>
                <a:cubicBezTo>
                  <a:pt x="327" y="423"/>
                  <a:pt x="327" y="423"/>
                  <a:pt x="327" y="423"/>
                </a:cubicBezTo>
                <a:cubicBezTo>
                  <a:pt x="396" y="423"/>
                  <a:pt x="396" y="423"/>
                  <a:pt x="396" y="423"/>
                </a:cubicBezTo>
                <a:cubicBezTo>
                  <a:pt x="396" y="451"/>
                  <a:pt x="396" y="451"/>
                  <a:pt x="396" y="451"/>
                </a:cubicBezTo>
                <a:cubicBezTo>
                  <a:pt x="164" y="451"/>
                  <a:pt x="164" y="451"/>
                  <a:pt x="164" y="451"/>
                </a:cubicBezTo>
                <a:cubicBezTo>
                  <a:pt x="164" y="423"/>
                  <a:pt x="164" y="423"/>
                  <a:pt x="164" y="423"/>
                </a:cubicBezTo>
                <a:cubicBezTo>
                  <a:pt x="232" y="423"/>
                  <a:pt x="232" y="423"/>
                  <a:pt x="232" y="423"/>
                </a:cubicBezTo>
                <a:cubicBezTo>
                  <a:pt x="232" y="369"/>
                  <a:pt x="232" y="369"/>
                  <a:pt x="232" y="369"/>
                </a:cubicBezTo>
                <a:cubicBezTo>
                  <a:pt x="27" y="369"/>
                  <a:pt x="27" y="369"/>
                  <a:pt x="27" y="369"/>
                </a:cubicBezTo>
                <a:cubicBezTo>
                  <a:pt x="12" y="369"/>
                  <a:pt x="0" y="356"/>
                  <a:pt x="0" y="341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532" y="0"/>
                  <a:pt x="532" y="0"/>
                  <a:pt x="532" y="0"/>
                </a:cubicBezTo>
                <a:cubicBezTo>
                  <a:pt x="547" y="0"/>
                  <a:pt x="560" y="12"/>
                  <a:pt x="560" y="27"/>
                </a:cubicBezTo>
                <a:close/>
                <a:moveTo>
                  <a:pt x="27" y="27"/>
                </a:moveTo>
                <a:cubicBezTo>
                  <a:pt x="27" y="341"/>
                  <a:pt x="27" y="341"/>
                  <a:pt x="27" y="341"/>
                </a:cubicBezTo>
                <a:cubicBezTo>
                  <a:pt x="532" y="341"/>
                  <a:pt x="532" y="341"/>
                  <a:pt x="532" y="341"/>
                </a:cubicBezTo>
                <a:cubicBezTo>
                  <a:pt x="532" y="27"/>
                  <a:pt x="532" y="27"/>
                  <a:pt x="532" y="27"/>
                </a:cubicBezTo>
                <a:lnTo>
                  <a:pt x="27" y="27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/>
          </a:p>
        </p:txBody>
      </p:sp>
      <p:sp>
        <p:nvSpPr>
          <p:cNvPr id="71" name="Rechteck 2169">
            <a:extLst>
              <a:ext uri="{FF2B5EF4-FFF2-40B4-BE49-F238E27FC236}">
                <a16:creationId xmlns:a16="http://schemas.microsoft.com/office/drawing/2014/main" id="{32A22A55-4F19-4567-B9FA-DF5731649276}"/>
              </a:ext>
            </a:extLst>
          </p:cNvPr>
          <p:cNvSpPr>
            <a:spLocks/>
          </p:cNvSpPr>
          <p:nvPr/>
        </p:nvSpPr>
        <p:spPr bwMode="gray">
          <a:xfrm>
            <a:off x="913623" y="3948960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Server / PC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F71D8B-4E61-46D7-AF4C-95D80E266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4496376" y="4828733"/>
            <a:ext cx="1256531" cy="471661"/>
          </a:xfrm>
          <a:prstGeom prst="rect">
            <a:avLst/>
          </a:prstGeom>
        </p:spPr>
      </p:pic>
      <p:cxnSp>
        <p:nvCxnSpPr>
          <p:cNvPr id="68" name="Straight Arrow Connector 31">
            <a:extLst>
              <a:ext uri="{FF2B5EF4-FFF2-40B4-BE49-F238E27FC236}">
                <a16:creationId xmlns:a16="http://schemas.microsoft.com/office/drawing/2014/main" id="{C6354BDC-408A-418D-B8F3-47F1C9E02234}"/>
              </a:ext>
            </a:extLst>
          </p:cNvPr>
          <p:cNvCxnSpPr>
            <a:cxnSpLocks/>
          </p:cNvCxnSpPr>
          <p:nvPr/>
        </p:nvCxnSpPr>
        <p:spPr>
          <a:xfrm flipV="1">
            <a:off x="4406208" y="5385214"/>
            <a:ext cx="1436868" cy="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225E718-14DF-49B5-BFF3-D1EA7832FD4B}"/>
              </a:ext>
            </a:extLst>
          </p:cNvPr>
          <p:cNvGrpSpPr/>
          <p:nvPr/>
        </p:nvGrpSpPr>
        <p:grpSpPr>
          <a:xfrm>
            <a:off x="2579594" y="2933641"/>
            <a:ext cx="6812627" cy="1363891"/>
            <a:chOff x="2120212" y="1323706"/>
            <a:chExt cx="1986622" cy="1364602"/>
          </a:xfrm>
        </p:grpSpPr>
        <p:sp>
          <p:nvSpPr>
            <p:cNvPr id="77" name="Rechteck 44">
              <a:extLst>
                <a:ext uri="{FF2B5EF4-FFF2-40B4-BE49-F238E27FC236}">
                  <a16:creationId xmlns:a16="http://schemas.microsoft.com/office/drawing/2014/main" id="{B903E59D-EA28-4714-8F34-DE93C050C11A}"/>
                </a:ext>
              </a:extLst>
            </p:cNvPr>
            <p:cNvSpPr>
              <a:spLocks/>
            </p:cNvSpPr>
            <p:nvPr/>
          </p:nvSpPr>
          <p:spPr bwMode="gray">
            <a:xfrm>
              <a:off x="2120212" y="1481274"/>
              <a:ext cx="1986622" cy="1207034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sp>
          <p:nvSpPr>
            <p:cNvPr id="76" name="Rechteck 416">
              <a:extLst>
                <a:ext uri="{FF2B5EF4-FFF2-40B4-BE49-F238E27FC236}">
                  <a16:creationId xmlns:a16="http://schemas.microsoft.com/office/drawing/2014/main" id="{8CE462DE-3A99-45BF-B91B-2AA332828273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3486" y="1323706"/>
              <a:ext cx="1910120" cy="321733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数据收集 </a:t>
              </a: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&amp; </a:t>
              </a: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边缘计算</a:t>
              </a:r>
              <a:endParaRPr lang="en-US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8B849A4C-580A-4825-9BEB-0E5EAB06BE5D}"/>
              </a:ext>
            </a:extLst>
          </p:cNvPr>
          <p:cNvSpPr/>
          <p:nvPr/>
        </p:nvSpPr>
        <p:spPr>
          <a:xfrm>
            <a:off x="4609757" y="3399808"/>
            <a:ext cx="511596" cy="580844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41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396930A-4165-4B12-9970-192BAA6C1EB4}"/>
              </a:ext>
            </a:extLst>
          </p:cNvPr>
          <p:cNvSpPr/>
          <p:nvPr/>
        </p:nvSpPr>
        <p:spPr>
          <a:xfrm rot="10800000">
            <a:off x="5731870" y="4297532"/>
            <a:ext cx="242366" cy="280561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91" name="Rechteck 2169">
            <a:extLst>
              <a:ext uri="{FF2B5EF4-FFF2-40B4-BE49-F238E27FC236}">
                <a16:creationId xmlns:a16="http://schemas.microsoft.com/office/drawing/2014/main" id="{36DBEA9E-CD87-4B4E-BD2E-9BBF2273F40B}"/>
              </a:ext>
            </a:extLst>
          </p:cNvPr>
          <p:cNvSpPr>
            <a:spLocks/>
          </p:cNvSpPr>
          <p:nvPr/>
        </p:nvSpPr>
        <p:spPr bwMode="gray">
          <a:xfrm>
            <a:off x="4374309" y="4043322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时序数据存储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3" name="Straight Arrow Connector 31">
            <a:extLst>
              <a:ext uri="{FF2B5EF4-FFF2-40B4-BE49-F238E27FC236}">
                <a16:creationId xmlns:a16="http://schemas.microsoft.com/office/drawing/2014/main" id="{AE55BE44-456C-48E5-92BB-4E6C31A8F7F0}"/>
              </a:ext>
            </a:extLst>
          </p:cNvPr>
          <p:cNvCxnSpPr>
            <a:cxnSpLocks/>
            <a:stCxn id="741" idx="3"/>
            <a:endCxn id="42" idx="3"/>
          </p:cNvCxnSpPr>
          <p:nvPr/>
        </p:nvCxnSpPr>
        <p:spPr>
          <a:xfrm flipH="1">
            <a:off x="9363480" y="1904895"/>
            <a:ext cx="28742" cy="3466739"/>
          </a:xfrm>
          <a:prstGeom prst="bentConnector3">
            <a:avLst>
              <a:gd name="adj1" fmla="val -795352"/>
            </a:avLst>
          </a:prstGeom>
          <a:ln w="19050">
            <a:solidFill>
              <a:schemeClr val="accent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NumBox 1">
            <a:extLst>
              <a:ext uri="{FF2B5EF4-FFF2-40B4-BE49-F238E27FC236}">
                <a16:creationId xmlns:a16="http://schemas.microsoft.com/office/drawing/2014/main" id="{B3D60595-6310-44EF-97AE-BD02454A0A89}"/>
              </a:ext>
            </a:extLst>
          </p:cNvPr>
          <p:cNvSpPr/>
          <p:nvPr/>
        </p:nvSpPr>
        <p:spPr>
          <a:xfrm>
            <a:off x="9724598" y="4796663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4C01C1BC-04F9-4F7D-9646-7135D1611AFA}"/>
              </a:ext>
            </a:extLst>
          </p:cNvPr>
          <p:cNvSpPr/>
          <p:nvPr/>
        </p:nvSpPr>
        <p:spPr>
          <a:xfrm rot="338753">
            <a:off x="7941005" y="4951210"/>
            <a:ext cx="743347" cy="900318"/>
          </a:xfrm>
          <a:prstGeom prst="flowChartDocumen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C34EE5D-E17D-4361-9EF6-E12C97BCE3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4372" y="5023469"/>
            <a:ext cx="619108" cy="6963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F35BB7-AA16-4C64-BACF-11623C3BEC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396013">
            <a:off x="8346749" y="5054866"/>
            <a:ext cx="298175" cy="283390"/>
          </a:xfrm>
          <a:prstGeom prst="rect">
            <a:avLst/>
          </a:prstGeom>
        </p:spPr>
      </p:pic>
      <p:sp>
        <p:nvSpPr>
          <p:cNvPr id="72" name="Rechteck 2169">
            <a:extLst>
              <a:ext uri="{FF2B5EF4-FFF2-40B4-BE49-F238E27FC236}">
                <a16:creationId xmlns:a16="http://schemas.microsoft.com/office/drawing/2014/main" id="{501D6C50-56C1-4E2F-9004-866903F91AC7}"/>
              </a:ext>
            </a:extLst>
          </p:cNvPr>
          <p:cNvSpPr>
            <a:spLocks/>
          </p:cNvSpPr>
          <p:nvPr/>
        </p:nvSpPr>
        <p:spPr bwMode="gray">
          <a:xfrm>
            <a:off x="9258711" y="5544504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Product ID 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4" name="Grafik 28">
            <a:extLst>
              <a:ext uri="{FF2B5EF4-FFF2-40B4-BE49-F238E27FC236}">
                <a16:creationId xmlns:a16="http://schemas.microsoft.com/office/drawing/2014/main" id="{8E6ED3E8-EA22-4F73-8AA8-CB497EC3C3FE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1061" y="1645944"/>
            <a:ext cx="533298" cy="533298"/>
          </a:xfrm>
          <a:prstGeom prst="rect">
            <a:avLst/>
          </a:prstGeom>
        </p:spPr>
      </p:pic>
      <p:sp>
        <p:nvSpPr>
          <p:cNvPr id="78" name="NumBox 1">
            <a:extLst>
              <a:ext uri="{FF2B5EF4-FFF2-40B4-BE49-F238E27FC236}">
                <a16:creationId xmlns:a16="http://schemas.microsoft.com/office/drawing/2014/main" id="{6E9C1F0C-DA31-4113-B01B-3F5C9A384EC6}"/>
              </a:ext>
            </a:extLst>
          </p:cNvPr>
          <p:cNvSpPr/>
          <p:nvPr/>
        </p:nvSpPr>
        <p:spPr>
          <a:xfrm>
            <a:off x="8331872" y="2551316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9" name="Rechteck 2169">
            <a:extLst>
              <a:ext uri="{FF2B5EF4-FFF2-40B4-BE49-F238E27FC236}">
                <a16:creationId xmlns:a16="http://schemas.microsoft.com/office/drawing/2014/main" id="{E20A02DD-103E-4BDB-BFEF-98392D6C6372}"/>
              </a:ext>
            </a:extLst>
          </p:cNvPr>
          <p:cNvSpPr>
            <a:spLocks/>
          </p:cNvSpPr>
          <p:nvPr/>
        </p:nvSpPr>
        <p:spPr bwMode="gray">
          <a:xfrm>
            <a:off x="7148737" y="1540461"/>
            <a:ext cx="2214742" cy="8058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串口控制及通信</a:t>
            </a:r>
            <a:endParaRPr lang="en-US" altLang="zh-CN" sz="100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基于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Client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交互控制，准确记录各转向的测试数据（消除脏数据干扰）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展示当前测试的数据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分析结果（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Normal/Abnormal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）提示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9E702C7B-ABA9-47D0-A899-5E5977B198C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356820">
            <a:off x="8018930" y="5348358"/>
            <a:ext cx="431472" cy="2798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2" name="NumBox 1">
            <a:extLst>
              <a:ext uri="{FF2B5EF4-FFF2-40B4-BE49-F238E27FC236}">
                <a16:creationId xmlns:a16="http://schemas.microsoft.com/office/drawing/2014/main" id="{CE45F556-C21F-4137-8D55-5258890B5356}"/>
              </a:ext>
            </a:extLst>
          </p:cNvPr>
          <p:cNvSpPr/>
          <p:nvPr/>
        </p:nvSpPr>
        <p:spPr>
          <a:xfrm>
            <a:off x="5994101" y="4326023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3426457-CA46-4271-90D8-B01A395E56C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4583" b="90000" l="9962" r="93487">
                        <a14:foregroundMark x1="57471" y1="69167" x2="60920" y2="70000"/>
                        <a14:foregroundMark x1="28736" y1="35833" x2="28736" y2="35833"/>
                        <a14:foregroundMark x1="38697" y1="37500" x2="38697" y2="37500"/>
                        <a14:foregroundMark x1="50192" y1="38750" x2="50192" y2="38750"/>
                        <a14:foregroundMark x1="60153" y1="47917" x2="60153" y2="47917"/>
                        <a14:foregroundMark x1="70115" y1="38750" x2="70115" y2="38750"/>
                        <a14:foregroundMark x1="93487" y1="46667" x2="93487" y2="46667"/>
                        <a14:foregroundMark x1="49808" y1="4583" x2="49808" y2="4583"/>
                        <a14:foregroundMark x1="78927" y1="76250" x2="78927" y2="76250"/>
                        <a14:foregroundMark x1="85057" y1="76667" x2="85057" y2="76667"/>
                        <a14:foregroundMark x1="72414" y1="76250" x2="72414" y2="76250"/>
                        <a14:foregroundMark x1="72414" y1="76250" x2="72414" y2="76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8421" y="3427713"/>
            <a:ext cx="594537" cy="543442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53CA0E9D-9EDC-4979-B605-A251217AC98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921" b="94048" l="5622" r="89960">
                        <a14:foregroundMark x1="48594" y1="46429" x2="48594" y2="46429"/>
                        <a14:foregroundMark x1="29317" y1="77778" x2="29317" y2="77778"/>
                        <a14:foregroundMark x1="18072" y1="47619" x2="18072" y2="47619"/>
                        <a14:foregroundMark x1="18876" y1="43651" x2="18876" y2="43651"/>
                        <a14:foregroundMark x1="6024" y1="79762" x2="6024" y2="79762"/>
                        <a14:foregroundMark x1="53414" y1="94048" x2="53414" y2="940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4563" y="3398649"/>
            <a:ext cx="511596" cy="514673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890E24E5-0989-4AE9-8761-1B5D85A533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0" b="100000" l="1639" r="100000">
                        <a14:foregroundMark x1="1639" y1="23293" x2="1639" y2="23293"/>
                        <a14:foregroundMark x1="59426" y1="55823" x2="59426" y2="55823"/>
                        <a14:foregroundMark x1="39754" y1="53815" x2="39754" y2="53815"/>
                        <a14:foregroundMark x1="50000" y1="58233" x2="50000" y2="58233"/>
                        <a14:foregroundMark x1="49180" y1="62651" x2="49180" y2="6265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05594" y="3478901"/>
            <a:ext cx="407452" cy="413323"/>
          </a:xfrm>
          <a:prstGeom prst="rect">
            <a:avLst/>
          </a:prstGeom>
        </p:spPr>
      </p:pic>
      <p:sp>
        <p:nvSpPr>
          <p:cNvPr id="86" name="Rechteck 2169">
            <a:extLst>
              <a:ext uri="{FF2B5EF4-FFF2-40B4-BE49-F238E27FC236}">
                <a16:creationId xmlns:a16="http://schemas.microsoft.com/office/drawing/2014/main" id="{68E87BFD-ADEB-4111-9403-3E6C54DC1239}"/>
              </a:ext>
            </a:extLst>
          </p:cNvPr>
          <p:cNvSpPr>
            <a:spLocks/>
          </p:cNvSpPr>
          <p:nvPr/>
        </p:nvSpPr>
        <p:spPr bwMode="gray">
          <a:xfrm>
            <a:off x="2640434" y="4039487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配置及数据获取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7" name="Rechteck 2169">
            <a:extLst>
              <a:ext uri="{FF2B5EF4-FFF2-40B4-BE49-F238E27FC236}">
                <a16:creationId xmlns:a16="http://schemas.microsoft.com/office/drawing/2014/main" id="{177A520A-5E78-4A79-B23D-A1ED84F85F9C}"/>
              </a:ext>
            </a:extLst>
          </p:cNvPr>
          <p:cNvSpPr>
            <a:spLocks/>
          </p:cNvSpPr>
          <p:nvPr/>
        </p:nvSpPr>
        <p:spPr bwMode="gray">
          <a:xfrm>
            <a:off x="5963923" y="4028170"/>
            <a:ext cx="1408615" cy="7811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统计与分析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8" name="Rechteck 2169">
            <a:extLst>
              <a:ext uri="{FF2B5EF4-FFF2-40B4-BE49-F238E27FC236}">
                <a16:creationId xmlns:a16="http://schemas.microsoft.com/office/drawing/2014/main" id="{63D515F5-DE6E-444A-975A-5BD8D1336904}"/>
              </a:ext>
            </a:extLst>
          </p:cNvPr>
          <p:cNvSpPr>
            <a:spLocks/>
          </p:cNvSpPr>
          <p:nvPr/>
        </p:nvSpPr>
        <p:spPr bwMode="gray">
          <a:xfrm>
            <a:off x="7573582" y="4041596"/>
            <a:ext cx="1408615" cy="171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事件分析</a:t>
            </a: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判断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0" name="Straight Arrow Connector 31">
            <a:extLst>
              <a:ext uri="{FF2B5EF4-FFF2-40B4-BE49-F238E27FC236}">
                <a16:creationId xmlns:a16="http://schemas.microsoft.com/office/drawing/2014/main" id="{8B8CF568-F06C-4383-8995-33E1F426C9AB}"/>
              </a:ext>
            </a:extLst>
          </p:cNvPr>
          <p:cNvCxnSpPr>
            <a:cxnSpLocks/>
          </p:cNvCxnSpPr>
          <p:nvPr/>
        </p:nvCxnSpPr>
        <p:spPr>
          <a:xfrm>
            <a:off x="3590478" y="3723315"/>
            <a:ext cx="828637" cy="183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31">
            <a:extLst>
              <a:ext uri="{FF2B5EF4-FFF2-40B4-BE49-F238E27FC236}">
                <a16:creationId xmlns:a16="http://schemas.microsoft.com/office/drawing/2014/main" id="{5D8C39E2-E344-4EB7-ACFE-915DF1A8B5B8}"/>
              </a:ext>
            </a:extLst>
          </p:cNvPr>
          <p:cNvCxnSpPr>
            <a:cxnSpLocks/>
          </p:cNvCxnSpPr>
          <p:nvPr/>
        </p:nvCxnSpPr>
        <p:spPr>
          <a:xfrm>
            <a:off x="5313152" y="3738835"/>
            <a:ext cx="828637" cy="183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31">
            <a:extLst>
              <a:ext uri="{FF2B5EF4-FFF2-40B4-BE49-F238E27FC236}">
                <a16:creationId xmlns:a16="http://schemas.microsoft.com/office/drawing/2014/main" id="{0DACDFDD-6C34-40CE-B1D3-3157C6AAB788}"/>
              </a:ext>
            </a:extLst>
          </p:cNvPr>
          <p:cNvCxnSpPr>
            <a:cxnSpLocks/>
          </p:cNvCxnSpPr>
          <p:nvPr/>
        </p:nvCxnSpPr>
        <p:spPr>
          <a:xfrm>
            <a:off x="7041108" y="3730202"/>
            <a:ext cx="828637" cy="183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NumBox 1">
            <a:extLst>
              <a:ext uri="{FF2B5EF4-FFF2-40B4-BE49-F238E27FC236}">
                <a16:creationId xmlns:a16="http://schemas.microsoft.com/office/drawing/2014/main" id="{254AFA5D-753E-43BB-9476-8D638995CE89}"/>
              </a:ext>
            </a:extLst>
          </p:cNvPr>
          <p:cNvSpPr/>
          <p:nvPr/>
        </p:nvSpPr>
        <p:spPr>
          <a:xfrm>
            <a:off x="4590849" y="2978927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95" name="Straight Arrow Connector 31">
            <a:extLst>
              <a:ext uri="{FF2B5EF4-FFF2-40B4-BE49-F238E27FC236}">
                <a16:creationId xmlns:a16="http://schemas.microsoft.com/office/drawing/2014/main" id="{D13E385D-BBC9-4BE6-A177-E07DA228BF76}"/>
              </a:ext>
            </a:extLst>
          </p:cNvPr>
          <p:cNvCxnSpPr>
            <a:cxnSpLocks/>
            <a:endCxn id="741" idx="2"/>
          </p:cNvCxnSpPr>
          <p:nvPr/>
        </p:nvCxnSpPr>
        <p:spPr>
          <a:xfrm rot="16200000" flipV="1">
            <a:off x="7692406" y="2707500"/>
            <a:ext cx="452281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NumBox 1">
            <a:extLst>
              <a:ext uri="{FF2B5EF4-FFF2-40B4-BE49-F238E27FC236}">
                <a16:creationId xmlns:a16="http://schemas.microsoft.com/office/drawing/2014/main" id="{A6C39792-DB88-46A0-8519-EE8696177CCA}"/>
              </a:ext>
            </a:extLst>
          </p:cNvPr>
          <p:cNvSpPr/>
          <p:nvPr/>
        </p:nvSpPr>
        <p:spPr>
          <a:xfrm>
            <a:off x="7152047" y="2547015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98" name="Straight Arrow Connector 31">
            <a:extLst>
              <a:ext uri="{FF2B5EF4-FFF2-40B4-BE49-F238E27FC236}">
                <a16:creationId xmlns:a16="http://schemas.microsoft.com/office/drawing/2014/main" id="{86162587-F3B6-4FE3-90BB-BE947E33405B}"/>
              </a:ext>
            </a:extLst>
          </p:cNvPr>
          <p:cNvCxnSpPr>
            <a:cxnSpLocks/>
          </p:cNvCxnSpPr>
          <p:nvPr/>
        </p:nvCxnSpPr>
        <p:spPr>
          <a:xfrm>
            <a:off x="7567804" y="2442677"/>
            <a:ext cx="0" cy="547268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A045817-412C-47C2-B4F7-9D1F60845548}"/>
              </a:ext>
            </a:extLst>
          </p:cNvPr>
          <p:cNvGrpSpPr/>
          <p:nvPr/>
        </p:nvGrpSpPr>
        <p:grpSpPr>
          <a:xfrm>
            <a:off x="2579594" y="1182888"/>
            <a:ext cx="3102053" cy="1306565"/>
            <a:chOff x="2008060" y="1381063"/>
            <a:chExt cx="2312362" cy="1307246"/>
          </a:xfrm>
        </p:grpSpPr>
        <p:sp>
          <p:nvSpPr>
            <p:cNvPr id="100" name="Rechteck 44">
              <a:extLst>
                <a:ext uri="{FF2B5EF4-FFF2-40B4-BE49-F238E27FC236}">
                  <a16:creationId xmlns:a16="http://schemas.microsoft.com/office/drawing/2014/main" id="{2A67388B-74C5-4631-80E3-223BF0B46883}"/>
                </a:ext>
              </a:extLst>
            </p:cNvPr>
            <p:cNvSpPr>
              <a:spLocks/>
            </p:cNvSpPr>
            <p:nvPr/>
          </p:nvSpPr>
          <p:spPr bwMode="gray">
            <a:xfrm>
              <a:off x="2008060" y="1534778"/>
              <a:ext cx="2312362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sp>
          <p:nvSpPr>
            <p:cNvPr id="101" name="Rechteck 416">
              <a:extLst>
                <a:ext uri="{FF2B5EF4-FFF2-40B4-BE49-F238E27FC236}">
                  <a16:creationId xmlns:a16="http://schemas.microsoft.com/office/drawing/2014/main" id="{D873384A-E41C-4433-A5E4-26E9FF6FAA30}"/>
                </a:ext>
              </a:extLst>
            </p:cNvPr>
            <p:cNvSpPr>
              <a:spLocks/>
            </p:cNvSpPr>
            <p:nvPr/>
          </p:nvSpPr>
          <p:spPr bwMode="gray">
            <a:xfrm>
              <a:off x="2176745" y="1381063"/>
              <a:ext cx="1983149" cy="32042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质量归因分析 应用</a:t>
              </a:r>
              <a:endParaRPr lang="en-US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2F54DA4C-E092-4BA6-AEB9-BA6809EECA2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0" b="99167" l="0" r="98667">
                        <a14:foregroundMark x1="95000" y1="20417" x2="95000" y2="20417"/>
                        <a14:foregroundMark x1="5000" y1="60000" x2="5000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58497" y="1677556"/>
            <a:ext cx="437868" cy="357145"/>
          </a:xfrm>
          <a:prstGeom prst="rect">
            <a:avLst/>
          </a:prstGeom>
          <a:noFill/>
        </p:spPr>
      </p:pic>
      <p:cxnSp>
        <p:nvCxnSpPr>
          <p:cNvPr id="106" name="Straight Arrow Connector 31">
            <a:extLst>
              <a:ext uri="{FF2B5EF4-FFF2-40B4-BE49-F238E27FC236}">
                <a16:creationId xmlns:a16="http://schemas.microsoft.com/office/drawing/2014/main" id="{C75205D3-9B77-4EDD-BA1A-613383088796}"/>
              </a:ext>
            </a:extLst>
          </p:cNvPr>
          <p:cNvCxnSpPr>
            <a:cxnSpLocks/>
          </p:cNvCxnSpPr>
          <p:nvPr/>
        </p:nvCxnSpPr>
        <p:spPr>
          <a:xfrm flipH="1">
            <a:off x="3952096" y="2488727"/>
            <a:ext cx="3264" cy="467352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NumBox 1">
            <a:extLst>
              <a:ext uri="{FF2B5EF4-FFF2-40B4-BE49-F238E27FC236}">
                <a16:creationId xmlns:a16="http://schemas.microsoft.com/office/drawing/2014/main" id="{6928D6E3-3D34-4D61-BC56-A6B10567FE59}"/>
              </a:ext>
            </a:extLst>
          </p:cNvPr>
          <p:cNvSpPr/>
          <p:nvPr/>
        </p:nvSpPr>
        <p:spPr>
          <a:xfrm>
            <a:off x="3599145" y="2551916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9" name="Rechteck 2169">
            <a:extLst>
              <a:ext uri="{FF2B5EF4-FFF2-40B4-BE49-F238E27FC236}">
                <a16:creationId xmlns:a16="http://schemas.microsoft.com/office/drawing/2014/main" id="{B1B360A1-3A6E-40A4-859B-7B4E51A86210}"/>
              </a:ext>
            </a:extLst>
          </p:cNvPr>
          <p:cNvSpPr>
            <a:spLocks/>
          </p:cNvSpPr>
          <p:nvPr/>
        </p:nvSpPr>
        <p:spPr bwMode="gray">
          <a:xfrm>
            <a:off x="6274707" y="2210875"/>
            <a:ext cx="1059853" cy="1836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On-Site</a:t>
            </a:r>
          </a:p>
        </p:txBody>
      </p:sp>
      <p:sp>
        <p:nvSpPr>
          <p:cNvPr id="110" name="Rechteck 2169">
            <a:extLst>
              <a:ext uri="{FF2B5EF4-FFF2-40B4-BE49-F238E27FC236}">
                <a16:creationId xmlns:a16="http://schemas.microsoft.com/office/drawing/2014/main" id="{88DEA7CC-7D82-4800-8BFD-BF2FE0964216}"/>
              </a:ext>
            </a:extLst>
          </p:cNvPr>
          <p:cNvSpPr>
            <a:spLocks/>
          </p:cNvSpPr>
          <p:nvPr/>
        </p:nvSpPr>
        <p:spPr bwMode="gray">
          <a:xfrm>
            <a:off x="2447504" y="2113313"/>
            <a:ext cx="1059853" cy="1353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Web</a:t>
            </a:r>
          </a:p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Service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97688C6-DAEB-4FD5-803E-2E1D21501EF4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14" name="Footer Placeholder 3">
              <a:extLst>
                <a:ext uri="{FF2B5EF4-FFF2-40B4-BE49-F238E27FC236}">
                  <a16:creationId xmlns:a16="http://schemas.microsoft.com/office/drawing/2014/main" id="{1786D965-215B-4921-8004-392B6109B2FB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15" name="Slide Number Placeholder 3">
              <a:extLst>
                <a:ext uri="{FF2B5EF4-FFF2-40B4-BE49-F238E27FC236}">
                  <a16:creationId xmlns:a16="http://schemas.microsoft.com/office/drawing/2014/main" id="{0B6945B4-54AE-4345-9A47-9EE0498D56F7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5</a:t>
              </a:fld>
              <a:endParaRPr lang="en-US" sz="900" dirty="0"/>
            </a:p>
          </p:txBody>
        </p:sp>
      </p:grpSp>
      <p:sp>
        <p:nvSpPr>
          <p:cNvPr id="73" name="Rechteck 2169">
            <a:extLst>
              <a:ext uri="{FF2B5EF4-FFF2-40B4-BE49-F238E27FC236}">
                <a16:creationId xmlns:a16="http://schemas.microsoft.com/office/drawing/2014/main" id="{3D8BF71C-F82C-4B07-A055-A25376A4B1BD}"/>
              </a:ext>
            </a:extLst>
          </p:cNvPr>
          <p:cNvSpPr>
            <a:spLocks/>
          </p:cNvSpPr>
          <p:nvPr/>
        </p:nvSpPr>
        <p:spPr bwMode="gray">
          <a:xfrm>
            <a:off x="3376040" y="1636843"/>
            <a:ext cx="2044451" cy="8239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支持用户基于产品编号和时间查询测试数据，和客户端分析结果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实现对时间周期内的产品质量的统计和分析展示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44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9" grpId="0" animBg="1"/>
      <p:bldP spid="72" grpId="0"/>
      <p:bldP spid="78" grpId="0" animBg="1"/>
      <p:bldP spid="82" grpId="0" animBg="1"/>
      <p:bldP spid="94" grpId="0" animBg="1"/>
      <p:bldP spid="96" grpId="0" animBg="1"/>
      <p:bldP spid="10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8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itchFamily="34" charset="0"/>
              </a:rPr>
              <a:t>Prototype 1.0 </a:t>
            </a:r>
            <a:r>
              <a:rPr lang="zh-CN" altLang="en-US" dirty="0">
                <a:latin typeface="Arial" pitchFamily="34" charset="0"/>
              </a:rPr>
              <a:t>构建完成 现场</a:t>
            </a:r>
            <a:r>
              <a:rPr lang="en-US" altLang="zh-CN" dirty="0">
                <a:latin typeface="Arial" pitchFamily="34" charset="0"/>
              </a:rPr>
              <a:t>Client</a:t>
            </a:r>
            <a:r>
              <a:rPr lang="zh-CN" altLang="en-US" dirty="0">
                <a:latin typeface="Arial" pitchFamily="34" charset="0"/>
              </a:rPr>
              <a:t>端的 功能部分</a:t>
            </a:r>
            <a:br>
              <a:rPr lang="en-US" altLang="zh-CN" dirty="0">
                <a:latin typeface="Arial" pitchFamily="34" charset="0"/>
              </a:rPr>
            </a:br>
            <a:endParaRPr lang="en-US" dirty="0">
              <a:latin typeface="Arial" pitchFamily="34" charset="0"/>
            </a:endParaRPr>
          </a:p>
        </p:txBody>
      </p:sp>
      <p:sp>
        <p:nvSpPr>
          <p:cNvPr id="280" name="Rechteck 2093">
            <a:extLst>
              <a:ext uri="{FF2B5EF4-FFF2-40B4-BE49-F238E27FC236}">
                <a16:creationId xmlns:a16="http://schemas.microsoft.com/office/drawing/2014/main" id="{52B517E6-CF4F-45BD-BF76-476521D67556}"/>
              </a:ext>
            </a:extLst>
          </p:cNvPr>
          <p:cNvSpPr>
            <a:spLocks/>
          </p:cNvSpPr>
          <p:nvPr/>
        </p:nvSpPr>
        <p:spPr bwMode="gray">
          <a:xfrm>
            <a:off x="714553" y="4570703"/>
            <a:ext cx="10559097" cy="1579092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Field Level</a:t>
            </a:r>
            <a:r>
              <a:rPr lang="zh-CN" altLang="en-US" sz="1199" b="1" dirty="0">
                <a:solidFill>
                  <a:srgbClr val="4BB9B9"/>
                </a:solidFill>
              </a:rPr>
              <a:t>*</a:t>
            </a:r>
            <a:endParaRPr lang="en-US" sz="1199" b="1" dirty="0">
              <a:solidFill>
                <a:srgbClr val="4BB9B9"/>
              </a:solidFill>
            </a:endParaRPr>
          </a:p>
        </p:txBody>
      </p:sp>
      <p:sp>
        <p:nvSpPr>
          <p:cNvPr id="281" name="Rechteck 6">
            <a:extLst>
              <a:ext uri="{FF2B5EF4-FFF2-40B4-BE49-F238E27FC236}">
                <a16:creationId xmlns:a16="http://schemas.microsoft.com/office/drawing/2014/main" id="{E96C5988-178E-4CB8-ABB2-D8562B098DCE}"/>
              </a:ext>
            </a:extLst>
          </p:cNvPr>
          <p:cNvSpPr>
            <a:spLocks/>
          </p:cNvSpPr>
          <p:nvPr/>
        </p:nvSpPr>
        <p:spPr bwMode="gray">
          <a:xfrm>
            <a:off x="719280" y="897882"/>
            <a:ext cx="10559097" cy="1801253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zh-CN" sz="1199" b="1" dirty="0">
                <a:solidFill>
                  <a:srgbClr val="4BB9B9"/>
                </a:solidFill>
              </a:rPr>
              <a:t>Services/Apps</a:t>
            </a:r>
          </a:p>
        </p:txBody>
      </p:sp>
      <p:sp>
        <p:nvSpPr>
          <p:cNvPr id="282" name="Rechteck 7">
            <a:extLst>
              <a:ext uri="{FF2B5EF4-FFF2-40B4-BE49-F238E27FC236}">
                <a16:creationId xmlns:a16="http://schemas.microsoft.com/office/drawing/2014/main" id="{18D73F59-4FE9-4FE1-BD77-92B2E0CCEAA5}"/>
              </a:ext>
            </a:extLst>
          </p:cNvPr>
          <p:cNvSpPr>
            <a:spLocks/>
          </p:cNvSpPr>
          <p:nvPr/>
        </p:nvSpPr>
        <p:spPr bwMode="gray">
          <a:xfrm>
            <a:off x="719280" y="2834183"/>
            <a:ext cx="10559097" cy="1610355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Edge Level</a:t>
            </a:r>
            <a:endParaRPr lang="en-US" sz="1199" b="1" dirty="0">
              <a:solidFill>
                <a:srgbClr val="4BB9B9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58491BE-D779-41A9-8A1E-9655C9C549E5}"/>
              </a:ext>
            </a:extLst>
          </p:cNvPr>
          <p:cNvGrpSpPr/>
          <p:nvPr/>
        </p:nvGrpSpPr>
        <p:grpSpPr>
          <a:xfrm>
            <a:off x="6444868" y="1174795"/>
            <a:ext cx="2947354" cy="1306565"/>
            <a:chOff x="2008060" y="1381063"/>
            <a:chExt cx="2312362" cy="1307246"/>
          </a:xfrm>
        </p:grpSpPr>
        <p:sp>
          <p:nvSpPr>
            <p:cNvPr id="741" name="Rechteck 44">
              <a:extLst>
                <a:ext uri="{FF2B5EF4-FFF2-40B4-BE49-F238E27FC236}">
                  <a16:creationId xmlns:a16="http://schemas.microsoft.com/office/drawing/2014/main" id="{17FA83BD-E843-41DD-9CB5-C7BA4F06DA38}"/>
                </a:ext>
              </a:extLst>
            </p:cNvPr>
            <p:cNvSpPr>
              <a:spLocks/>
            </p:cNvSpPr>
            <p:nvPr/>
          </p:nvSpPr>
          <p:spPr bwMode="gray">
            <a:xfrm>
              <a:off x="2008060" y="1534778"/>
              <a:ext cx="2312362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sp>
          <p:nvSpPr>
            <p:cNvPr id="739" name="Rechteck 416">
              <a:extLst>
                <a:ext uri="{FF2B5EF4-FFF2-40B4-BE49-F238E27FC236}">
                  <a16:creationId xmlns:a16="http://schemas.microsoft.com/office/drawing/2014/main" id="{D506711B-E101-421D-AE66-F92096BD72F6}"/>
                </a:ext>
              </a:extLst>
            </p:cNvPr>
            <p:cNvSpPr>
              <a:spLocks/>
            </p:cNvSpPr>
            <p:nvPr/>
          </p:nvSpPr>
          <p:spPr bwMode="gray">
            <a:xfrm>
              <a:off x="2176745" y="1381063"/>
              <a:ext cx="1983149" cy="32042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噪声质量测试 客户端</a:t>
              </a:r>
              <a:endParaRPr lang="en-US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51" name="Textfeld 899">
            <a:extLst>
              <a:ext uri="{FF2B5EF4-FFF2-40B4-BE49-F238E27FC236}">
                <a16:creationId xmlns:a16="http://schemas.microsoft.com/office/drawing/2014/main" id="{69D5C046-2215-4A2A-8EC4-D68FC98F19D1}"/>
              </a:ext>
            </a:extLst>
          </p:cNvPr>
          <p:cNvSpPr txBox="1">
            <a:spLocks/>
          </p:cNvSpPr>
          <p:nvPr/>
        </p:nvSpPr>
        <p:spPr bwMode="gray">
          <a:xfrm>
            <a:off x="7387120" y="6445137"/>
            <a:ext cx="4365212" cy="1350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* 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Take one test room as example</a:t>
            </a:r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in 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the architecture</a:t>
            </a:r>
            <a:endParaRPr lang="en-US" sz="999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E678E28-9D00-4950-A6D4-DE94315E2AF5}"/>
              </a:ext>
            </a:extLst>
          </p:cNvPr>
          <p:cNvGrpSpPr/>
          <p:nvPr/>
        </p:nvGrpSpPr>
        <p:grpSpPr>
          <a:xfrm>
            <a:off x="1918966" y="4659524"/>
            <a:ext cx="2395098" cy="1396333"/>
            <a:chOff x="-70051" y="3429000"/>
            <a:chExt cx="2378263" cy="1801537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8948519E-93EE-49BD-88A2-2ABF9260C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5323" y="3429000"/>
              <a:ext cx="1432889" cy="1801537"/>
            </a:xfrm>
            <a:prstGeom prst="rect">
              <a:avLst/>
            </a:prstGeom>
          </p:spPr>
        </p:pic>
        <p:sp>
          <p:nvSpPr>
            <p:cNvPr id="55" name="Rechteck 2169">
              <a:extLst>
                <a:ext uri="{FF2B5EF4-FFF2-40B4-BE49-F238E27FC236}">
                  <a16:creationId xmlns:a16="http://schemas.microsoft.com/office/drawing/2014/main" id="{1B78324E-29F5-4E1A-8E79-2EFA08D17AB7}"/>
                </a:ext>
              </a:extLst>
            </p:cNvPr>
            <p:cNvSpPr>
              <a:spLocks/>
            </p:cNvSpPr>
            <p:nvPr/>
          </p:nvSpPr>
          <p:spPr bwMode="gray">
            <a:xfrm>
              <a:off x="-70051" y="4896668"/>
              <a:ext cx="1052403" cy="159632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buClr>
                  <a:srgbClr val="879BAA"/>
                </a:buClr>
              </a:pPr>
              <a:r>
                <a:rPr lang="en-US" altLang="zh-CN" sz="1000" dirty="0">
                  <a:solidFill>
                    <a:schemeClr val="tx1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Test Room 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6" name="Rechteck 2169">
              <a:extLst>
                <a:ext uri="{FF2B5EF4-FFF2-40B4-BE49-F238E27FC236}">
                  <a16:creationId xmlns:a16="http://schemas.microsoft.com/office/drawing/2014/main" id="{2CF21448-B998-49BF-90AA-AADE9AEBFA1C}"/>
                </a:ext>
              </a:extLst>
            </p:cNvPr>
            <p:cNvSpPr>
              <a:spLocks/>
            </p:cNvSpPr>
            <p:nvPr/>
          </p:nvSpPr>
          <p:spPr bwMode="gray">
            <a:xfrm>
              <a:off x="803519" y="4727240"/>
              <a:ext cx="703386" cy="125835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buClr>
                  <a:srgbClr val="879BAA"/>
                </a:buClr>
              </a:pPr>
              <a:r>
                <a:rPr lang="en-US" altLang="zh-CN" sz="800" b="1" dirty="0">
                  <a:solidFill>
                    <a:schemeClr val="bg1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Test Bench</a:t>
              </a:r>
              <a:endParaRPr lang="en-US" altLang="zh-CN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90D7355-81F1-413A-813F-D547D0AC59E9}"/>
                </a:ext>
              </a:extLst>
            </p:cNvPr>
            <p:cNvSpPr/>
            <p:nvPr/>
          </p:nvSpPr>
          <p:spPr>
            <a:xfrm>
              <a:off x="1383323" y="5040923"/>
              <a:ext cx="54708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3E67584-5E8E-4A49-AF60-6DC38016785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23" y="4915539"/>
              <a:ext cx="508000" cy="0"/>
            </a:xfrm>
            <a:prstGeom prst="line">
              <a:avLst/>
            </a:prstGeom>
            <a:ln w="9525">
              <a:solidFill>
                <a:schemeClr val="bg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4BE4837-B06C-486A-8E59-5AAB56BB9F96}"/>
                </a:ext>
              </a:extLst>
            </p:cNvPr>
            <p:cNvCxnSpPr>
              <a:cxnSpLocks/>
              <a:endCxn id="57" idx="0"/>
            </p:cNvCxnSpPr>
            <p:nvPr/>
          </p:nvCxnSpPr>
          <p:spPr>
            <a:xfrm>
              <a:off x="1383323" y="4915539"/>
              <a:ext cx="27354" cy="125384"/>
            </a:xfrm>
            <a:prstGeom prst="line">
              <a:avLst/>
            </a:prstGeom>
            <a:ln w="9525">
              <a:solidFill>
                <a:schemeClr val="bg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hteck 2169">
              <a:extLst>
                <a:ext uri="{FF2B5EF4-FFF2-40B4-BE49-F238E27FC236}">
                  <a16:creationId xmlns:a16="http://schemas.microsoft.com/office/drawing/2014/main" id="{10B4DEE5-7AD5-455D-872B-E27940A9EEF2}"/>
                </a:ext>
              </a:extLst>
            </p:cNvPr>
            <p:cNvSpPr>
              <a:spLocks/>
            </p:cNvSpPr>
            <p:nvPr/>
          </p:nvSpPr>
          <p:spPr bwMode="gray">
            <a:xfrm>
              <a:off x="1454999" y="3551852"/>
              <a:ext cx="703386" cy="125835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buClr>
                  <a:srgbClr val="879BAA"/>
                </a:buClr>
              </a:pPr>
              <a:r>
                <a:rPr lang="en-US" altLang="zh-CN" sz="800" b="1" dirty="0">
                  <a:solidFill>
                    <a:schemeClr val="bg1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Mic</a:t>
              </a:r>
              <a:endParaRPr lang="en-US" altLang="zh-CN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E6FDFE0-B9AB-40DD-B2D1-3870A157431D}"/>
                </a:ext>
              </a:extLst>
            </p:cNvPr>
            <p:cNvCxnSpPr>
              <a:cxnSpLocks/>
            </p:cNvCxnSpPr>
            <p:nvPr/>
          </p:nvCxnSpPr>
          <p:spPr>
            <a:xfrm>
              <a:off x="1698615" y="3689959"/>
              <a:ext cx="311277" cy="0"/>
            </a:xfrm>
            <a:prstGeom prst="line">
              <a:avLst/>
            </a:prstGeom>
            <a:ln w="9525">
              <a:solidFill>
                <a:schemeClr val="bg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4EFB852-C401-4C99-B02A-86FA8AF0FFAF}"/>
                </a:ext>
              </a:extLst>
            </p:cNvPr>
            <p:cNvSpPr/>
            <p:nvPr/>
          </p:nvSpPr>
          <p:spPr>
            <a:xfrm>
              <a:off x="1591767" y="3754820"/>
              <a:ext cx="54708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CBD4B18-BFED-45DB-8E8C-A428CD1EF374}"/>
                </a:ext>
              </a:extLst>
            </p:cNvPr>
            <p:cNvCxnSpPr>
              <a:cxnSpLocks/>
              <a:stCxn id="62" idx="7"/>
            </p:cNvCxnSpPr>
            <p:nvPr/>
          </p:nvCxnSpPr>
          <p:spPr>
            <a:xfrm flipV="1">
              <a:off x="1638463" y="3689959"/>
              <a:ext cx="60152" cy="71556"/>
            </a:xfrm>
            <a:prstGeom prst="line">
              <a:avLst/>
            </a:prstGeom>
            <a:ln w="9525">
              <a:solidFill>
                <a:schemeClr val="bg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93A9873-06B0-472E-A79A-599F456BDAAB}"/>
              </a:ext>
            </a:extLst>
          </p:cNvPr>
          <p:cNvGrpSpPr/>
          <p:nvPr/>
        </p:nvGrpSpPr>
        <p:grpSpPr>
          <a:xfrm>
            <a:off x="5840010" y="4743700"/>
            <a:ext cx="641864" cy="944296"/>
            <a:chOff x="2600399" y="1933215"/>
            <a:chExt cx="868861" cy="1264907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3C2B67F9-BF2B-44A8-88C0-37923ADE2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265979">
              <a:off x="2600399" y="1933215"/>
              <a:ext cx="868861" cy="1264907"/>
            </a:xfrm>
            <a:prstGeom prst="rect">
              <a:avLst/>
            </a:prstGeom>
          </p:spPr>
        </p:pic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BB60CD5-2685-4C0A-A477-BFB79D8EA61A}"/>
                </a:ext>
              </a:extLst>
            </p:cNvPr>
            <p:cNvSpPr/>
            <p:nvPr/>
          </p:nvSpPr>
          <p:spPr>
            <a:xfrm>
              <a:off x="2767818" y="2048462"/>
              <a:ext cx="45719" cy="139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67" name="Rechteck 2169">
            <a:extLst>
              <a:ext uri="{FF2B5EF4-FFF2-40B4-BE49-F238E27FC236}">
                <a16:creationId xmlns:a16="http://schemas.microsoft.com/office/drawing/2014/main" id="{702630BC-21AA-4D62-8246-E6586FFA345D}"/>
              </a:ext>
            </a:extLst>
          </p:cNvPr>
          <p:cNvSpPr>
            <a:spLocks/>
          </p:cNvSpPr>
          <p:nvPr/>
        </p:nvSpPr>
        <p:spPr bwMode="gray">
          <a:xfrm>
            <a:off x="5774349" y="5725840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Sound Meter</a:t>
            </a:r>
          </a:p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AWA6228+</a:t>
            </a:r>
          </a:p>
        </p:txBody>
      </p:sp>
      <p:sp>
        <p:nvSpPr>
          <p:cNvPr id="70" name="Freeform 25">
            <a:extLst>
              <a:ext uri="{FF2B5EF4-FFF2-40B4-BE49-F238E27FC236}">
                <a16:creationId xmlns:a16="http://schemas.microsoft.com/office/drawing/2014/main" id="{C40CF975-4079-4585-BD59-2B67B1F0834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28958" y="3345817"/>
            <a:ext cx="628971" cy="506764"/>
          </a:xfrm>
          <a:custGeom>
            <a:avLst/>
            <a:gdLst>
              <a:gd name="T0" fmla="*/ 192 w 560"/>
              <a:gd name="T1" fmla="*/ 133 h 451"/>
              <a:gd name="T2" fmla="*/ 233 w 560"/>
              <a:gd name="T3" fmla="*/ 92 h 451"/>
              <a:gd name="T4" fmla="*/ 275 w 560"/>
              <a:gd name="T5" fmla="*/ 133 h 451"/>
              <a:gd name="T6" fmla="*/ 233 w 560"/>
              <a:gd name="T7" fmla="*/ 175 h 451"/>
              <a:gd name="T8" fmla="*/ 192 w 560"/>
              <a:gd name="T9" fmla="*/ 133 h 451"/>
              <a:gd name="T10" fmla="*/ 444 w 560"/>
              <a:gd name="T11" fmla="*/ 175 h 451"/>
              <a:gd name="T12" fmla="*/ 486 w 560"/>
              <a:gd name="T13" fmla="*/ 133 h 451"/>
              <a:gd name="T14" fmla="*/ 444 w 560"/>
              <a:gd name="T15" fmla="*/ 92 h 451"/>
              <a:gd name="T16" fmla="*/ 402 w 560"/>
              <a:gd name="T17" fmla="*/ 133 h 451"/>
              <a:gd name="T18" fmla="*/ 444 w 560"/>
              <a:gd name="T19" fmla="*/ 175 h 451"/>
              <a:gd name="T20" fmla="*/ 166 w 560"/>
              <a:gd name="T21" fmla="*/ 141 h 451"/>
              <a:gd name="T22" fmla="*/ 101 w 560"/>
              <a:gd name="T23" fmla="*/ 141 h 451"/>
              <a:gd name="T24" fmla="*/ 101 w 560"/>
              <a:gd name="T25" fmla="*/ 259 h 451"/>
              <a:gd name="T26" fmla="*/ 219 w 560"/>
              <a:gd name="T27" fmla="*/ 259 h 451"/>
              <a:gd name="T28" fmla="*/ 219 w 560"/>
              <a:gd name="T29" fmla="*/ 194 h 451"/>
              <a:gd name="T30" fmla="*/ 166 w 560"/>
              <a:gd name="T31" fmla="*/ 141 h 451"/>
              <a:gd name="T32" fmla="*/ 376 w 560"/>
              <a:gd name="T33" fmla="*/ 141 h 451"/>
              <a:gd name="T34" fmla="*/ 311 w 560"/>
              <a:gd name="T35" fmla="*/ 141 h 451"/>
              <a:gd name="T36" fmla="*/ 311 w 560"/>
              <a:gd name="T37" fmla="*/ 259 h 451"/>
              <a:gd name="T38" fmla="*/ 429 w 560"/>
              <a:gd name="T39" fmla="*/ 259 h 451"/>
              <a:gd name="T40" fmla="*/ 429 w 560"/>
              <a:gd name="T41" fmla="*/ 194 h 451"/>
              <a:gd name="T42" fmla="*/ 376 w 560"/>
              <a:gd name="T43" fmla="*/ 141 h 451"/>
              <a:gd name="T44" fmla="*/ 560 w 560"/>
              <a:gd name="T45" fmla="*/ 27 h 451"/>
              <a:gd name="T46" fmla="*/ 560 w 560"/>
              <a:gd name="T47" fmla="*/ 341 h 451"/>
              <a:gd name="T48" fmla="*/ 532 w 560"/>
              <a:gd name="T49" fmla="*/ 369 h 451"/>
              <a:gd name="T50" fmla="*/ 327 w 560"/>
              <a:gd name="T51" fmla="*/ 369 h 451"/>
              <a:gd name="T52" fmla="*/ 327 w 560"/>
              <a:gd name="T53" fmla="*/ 423 h 451"/>
              <a:gd name="T54" fmla="*/ 396 w 560"/>
              <a:gd name="T55" fmla="*/ 423 h 451"/>
              <a:gd name="T56" fmla="*/ 396 w 560"/>
              <a:gd name="T57" fmla="*/ 451 h 451"/>
              <a:gd name="T58" fmla="*/ 164 w 560"/>
              <a:gd name="T59" fmla="*/ 451 h 451"/>
              <a:gd name="T60" fmla="*/ 164 w 560"/>
              <a:gd name="T61" fmla="*/ 423 h 451"/>
              <a:gd name="T62" fmla="*/ 232 w 560"/>
              <a:gd name="T63" fmla="*/ 423 h 451"/>
              <a:gd name="T64" fmla="*/ 232 w 560"/>
              <a:gd name="T65" fmla="*/ 369 h 451"/>
              <a:gd name="T66" fmla="*/ 27 w 560"/>
              <a:gd name="T67" fmla="*/ 369 h 451"/>
              <a:gd name="T68" fmla="*/ 0 w 560"/>
              <a:gd name="T69" fmla="*/ 341 h 451"/>
              <a:gd name="T70" fmla="*/ 0 w 560"/>
              <a:gd name="T71" fmla="*/ 27 h 451"/>
              <a:gd name="T72" fmla="*/ 27 w 560"/>
              <a:gd name="T73" fmla="*/ 0 h 451"/>
              <a:gd name="T74" fmla="*/ 532 w 560"/>
              <a:gd name="T75" fmla="*/ 0 h 451"/>
              <a:gd name="T76" fmla="*/ 560 w 560"/>
              <a:gd name="T77" fmla="*/ 27 h 451"/>
              <a:gd name="T78" fmla="*/ 27 w 560"/>
              <a:gd name="T79" fmla="*/ 27 h 451"/>
              <a:gd name="T80" fmla="*/ 27 w 560"/>
              <a:gd name="T81" fmla="*/ 341 h 451"/>
              <a:gd name="T82" fmla="*/ 532 w 560"/>
              <a:gd name="T83" fmla="*/ 341 h 451"/>
              <a:gd name="T84" fmla="*/ 532 w 560"/>
              <a:gd name="T85" fmla="*/ 27 h 451"/>
              <a:gd name="T86" fmla="*/ 27 w 560"/>
              <a:gd name="T87" fmla="*/ 27 h 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60" h="451">
                <a:moveTo>
                  <a:pt x="192" y="133"/>
                </a:moveTo>
                <a:cubicBezTo>
                  <a:pt x="233" y="92"/>
                  <a:pt x="233" y="92"/>
                  <a:pt x="233" y="92"/>
                </a:cubicBezTo>
                <a:cubicBezTo>
                  <a:pt x="275" y="133"/>
                  <a:pt x="275" y="133"/>
                  <a:pt x="275" y="133"/>
                </a:cubicBezTo>
                <a:cubicBezTo>
                  <a:pt x="233" y="175"/>
                  <a:pt x="233" y="175"/>
                  <a:pt x="233" y="175"/>
                </a:cubicBezTo>
                <a:lnTo>
                  <a:pt x="192" y="133"/>
                </a:lnTo>
                <a:close/>
                <a:moveTo>
                  <a:pt x="444" y="175"/>
                </a:moveTo>
                <a:cubicBezTo>
                  <a:pt x="486" y="133"/>
                  <a:pt x="486" y="133"/>
                  <a:pt x="486" y="133"/>
                </a:cubicBezTo>
                <a:cubicBezTo>
                  <a:pt x="444" y="92"/>
                  <a:pt x="444" y="92"/>
                  <a:pt x="444" y="92"/>
                </a:cubicBezTo>
                <a:cubicBezTo>
                  <a:pt x="402" y="133"/>
                  <a:pt x="402" y="133"/>
                  <a:pt x="402" y="133"/>
                </a:cubicBezTo>
                <a:lnTo>
                  <a:pt x="444" y="175"/>
                </a:lnTo>
                <a:close/>
                <a:moveTo>
                  <a:pt x="166" y="141"/>
                </a:moveTo>
                <a:cubicBezTo>
                  <a:pt x="101" y="141"/>
                  <a:pt x="101" y="141"/>
                  <a:pt x="101" y="141"/>
                </a:cubicBezTo>
                <a:cubicBezTo>
                  <a:pt x="101" y="259"/>
                  <a:pt x="101" y="259"/>
                  <a:pt x="101" y="259"/>
                </a:cubicBezTo>
                <a:cubicBezTo>
                  <a:pt x="219" y="259"/>
                  <a:pt x="219" y="259"/>
                  <a:pt x="219" y="259"/>
                </a:cubicBezTo>
                <a:cubicBezTo>
                  <a:pt x="219" y="194"/>
                  <a:pt x="219" y="194"/>
                  <a:pt x="219" y="194"/>
                </a:cubicBezTo>
                <a:lnTo>
                  <a:pt x="166" y="141"/>
                </a:lnTo>
                <a:close/>
                <a:moveTo>
                  <a:pt x="376" y="141"/>
                </a:moveTo>
                <a:cubicBezTo>
                  <a:pt x="311" y="141"/>
                  <a:pt x="311" y="141"/>
                  <a:pt x="311" y="141"/>
                </a:cubicBezTo>
                <a:cubicBezTo>
                  <a:pt x="311" y="259"/>
                  <a:pt x="311" y="259"/>
                  <a:pt x="311" y="259"/>
                </a:cubicBezTo>
                <a:cubicBezTo>
                  <a:pt x="429" y="259"/>
                  <a:pt x="429" y="259"/>
                  <a:pt x="429" y="259"/>
                </a:cubicBezTo>
                <a:cubicBezTo>
                  <a:pt x="429" y="194"/>
                  <a:pt x="429" y="194"/>
                  <a:pt x="429" y="194"/>
                </a:cubicBezTo>
                <a:lnTo>
                  <a:pt x="376" y="141"/>
                </a:lnTo>
                <a:close/>
                <a:moveTo>
                  <a:pt x="560" y="27"/>
                </a:moveTo>
                <a:cubicBezTo>
                  <a:pt x="560" y="341"/>
                  <a:pt x="560" y="341"/>
                  <a:pt x="560" y="341"/>
                </a:cubicBezTo>
                <a:cubicBezTo>
                  <a:pt x="560" y="356"/>
                  <a:pt x="547" y="369"/>
                  <a:pt x="532" y="369"/>
                </a:cubicBezTo>
                <a:cubicBezTo>
                  <a:pt x="327" y="369"/>
                  <a:pt x="327" y="369"/>
                  <a:pt x="327" y="369"/>
                </a:cubicBezTo>
                <a:cubicBezTo>
                  <a:pt x="327" y="423"/>
                  <a:pt x="327" y="423"/>
                  <a:pt x="327" y="423"/>
                </a:cubicBezTo>
                <a:cubicBezTo>
                  <a:pt x="396" y="423"/>
                  <a:pt x="396" y="423"/>
                  <a:pt x="396" y="423"/>
                </a:cubicBezTo>
                <a:cubicBezTo>
                  <a:pt x="396" y="451"/>
                  <a:pt x="396" y="451"/>
                  <a:pt x="396" y="451"/>
                </a:cubicBezTo>
                <a:cubicBezTo>
                  <a:pt x="164" y="451"/>
                  <a:pt x="164" y="451"/>
                  <a:pt x="164" y="451"/>
                </a:cubicBezTo>
                <a:cubicBezTo>
                  <a:pt x="164" y="423"/>
                  <a:pt x="164" y="423"/>
                  <a:pt x="164" y="423"/>
                </a:cubicBezTo>
                <a:cubicBezTo>
                  <a:pt x="232" y="423"/>
                  <a:pt x="232" y="423"/>
                  <a:pt x="232" y="423"/>
                </a:cubicBezTo>
                <a:cubicBezTo>
                  <a:pt x="232" y="369"/>
                  <a:pt x="232" y="369"/>
                  <a:pt x="232" y="369"/>
                </a:cubicBezTo>
                <a:cubicBezTo>
                  <a:pt x="27" y="369"/>
                  <a:pt x="27" y="369"/>
                  <a:pt x="27" y="369"/>
                </a:cubicBezTo>
                <a:cubicBezTo>
                  <a:pt x="12" y="369"/>
                  <a:pt x="0" y="356"/>
                  <a:pt x="0" y="341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532" y="0"/>
                  <a:pt x="532" y="0"/>
                  <a:pt x="532" y="0"/>
                </a:cubicBezTo>
                <a:cubicBezTo>
                  <a:pt x="547" y="0"/>
                  <a:pt x="560" y="12"/>
                  <a:pt x="560" y="27"/>
                </a:cubicBezTo>
                <a:close/>
                <a:moveTo>
                  <a:pt x="27" y="27"/>
                </a:moveTo>
                <a:cubicBezTo>
                  <a:pt x="27" y="341"/>
                  <a:pt x="27" y="341"/>
                  <a:pt x="27" y="341"/>
                </a:cubicBezTo>
                <a:cubicBezTo>
                  <a:pt x="532" y="341"/>
                  <a:pt x="532" y="341"/>
                  <a:pt x="532" y="341"/>
                </a:cubicBezTo>
                <a:cubicBezTo>
                  <a:pt x="532" y="27"/>
                  <a:pt x="532" y="27"/>
                  <a:pt x="532" y="27"/>
                </a:cubicBezTo>
                <a:lnTo>
                  <a:pt x="27" y="27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/>
          </a:p>
        </p:txBody>
      </p:sp>
      <p:sp>
        <p:nvSpPr>
          <p:cNvPr id="71" name="Rechteck 2169">
            <a:extLst>
              <a:ext uri="{FF2B5EF4-FFF2-40B4-BE49-F238E27FC236}">
                <a16:creationId xmlns:a16="http://schemas.microsoft.com/office/drawing/2014/main" id="{32A22A55-4F19-4567-B9FA-DF5731649276}"/>
              </a:ext>
            </a:extLst>
          </p:cNvPr>
          <p:cNvSpPr>
            <a:spLocks/>
          </p:cNvSpPr>
          <p:nvPr/>
        </p:nvSpPr>
        <p:spPr bwMode="gray">
          <a:xfrm>
            <a:off x="913623" y="3948960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Server / PC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F71D8B-4E61-46D7-AF4C-95D80E266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4496376" y="4828733"/>
            <a:ext cx="1256531" cy="471661"/>
          </a:xfrm>
          <a:prstGeom prst="rect">
            <a:avLst/>
          </a:prstGeom>
        </p:spPr>
      </p:pic>
      <p:cxnSp>
        <p:nvCxnSpPr>
          <p:cNvPr id="68" name="Straight Arrow Connector 31">
            <a:extLst>
              <a:ext uri="{FF2B5EF4-FFF2-40B4-BE49-F238E27FC236}">
                <a16:creationId xmlns:a16="http://schemas.microsoft.com/office/drawing/2014/main" id="{C6354BDC-408A-418D-B8F3-47F1C9E02234}"/>
              </a:ext>
            </a:extLst>
          </p:cNvPr>
          <p:cNvCxnSpPr>
            <a:cxnSpLocks/>
          </p:cNvCxnSpPr>
          <p:nvPr/>
        </p:nvCxnSpPr>
        <p:spPr>
          <a:xfrm flipV="1">
            <a:off x="4406208" y="5385214"/>
            <a:ext cx="1436868" cy="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225E718-14DF-49B5-BFF3-D1EA7832FD4B}"/>
              </a:ext>
            </a:extLst>
          </p:cNvPr>
          <p:cNvGrpSpPr/>
          <p:nvPr/>
        </p:nvGrpSpPr>
        <p:grpSpPr>
          <a:xfrm>
            <a:off x="2579594" y="2933641"/>
            <a:ext cx="6812627" cy="1363891"/>
            <a:chOff x="2120212" y="1323706"/>
            <a:chExt cx="1986622" cy="1364602"/>
          </a:xfrm>
        </p:grpSpPr>
        <p:sp>
          <p:nvSpPr>
            <p:cNvPr id="77" name="Rechteck 44">
              <a:extLst>
                <a:ext uri="{FF2B5EF4-FFF2-40B4-BE49-F238E27FC236}">
                  <a16:creationId xmlns:a16="http://schemas.microsoft.com/office/drawing/2014/main" id="{B903E59D-EA28-4714-8F34-DE93C050C11A}"/>
                </a:ext>
              </a:extLst>
            </p:cNvPr>
            <p:cNvSpPr>
              <a:spLocks/>
            </p:cNvSpPr>
            <p:nvPr/>
          </p:nvSpPr>
          <p:spPr bwMode="gray">
            <a:xfrm>
              <a:off x="2120212" y="1481274"/>
              <a:ext cx="1986622" cy="1207034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sp>
          <p:nvSpPr>
            <p:cNvPr id="76" name="Rechteck 416">
              <a:extLst>
                <a:ext uri="{FF2B5EF4-FFF2-40B4-BE49-F238E27FC236}">
                  <a16:creationId xmlns:a16="http://schemas.microsoft.com/office/drawing/2014/main" id="{8CE462DE-3A99-45BF-B91B-2AA332828273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3486" y="1323706"/>
              <a:ext cx="1910120" cy="321733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数据收集 </a:t>
              </a: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&amp; </a:t>
              </a:r>
              <a:r>
                <a:rPr lang="zh-CN" altLang="en-US" sz="1000" b="1" dirty="0">
                  <a:solidFill>
                    <a:schemeClr val="bg1">
                      <a:lumMod val="85000"/>
                    </a:schemeClr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边缘计算</a:t>
              </a:r>
              <a:endParaRPr lang="en-US" sz="1000" b="1" dirty="0">
                <a:solidFill>
                  <a:schemeClr val="bg1">
                    <a:lumMod val="85000"/>
                  </a:schemeClr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8B849A4C-580A-4825-9BEB-0E5EAB06BE5D}"/>
              </a:ext>
            </a:extLst>
          </p:cNvPr>
          <p:cNvSpPr/>
          <p:nvPr/>
        </p:nvSpPr>
        <p:spPr>
          <a:xfrm>
            <a:off x="4609757" y="3399808"/>
            <a:ext cx="511596" cy="580844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41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396930A-4165-4B12-9970-192BAA6C1EB4}"/>
              </a:ext>
            </a:extLst>
          </p:cNvPr>
          <p:cNvSpPr/>
          <p:nvPr/>
        </p:nvSpPr>
        <p:spPr>
          <a:xfrm rot="10800000">
            <a:off x="5731870" y="4297532"/>
            <a:ext cx="242366" cy="280561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91" name="Rechteck 2169">
            <a:extLst>
              <a:ext uri="{FF2B5EF4-FFF2-40B4-BE49-F238E27FC236}">
                <a16:creationId xmlns:a16="http://schemas.microsoft.com/office/drawing/2014/main" id="{36DBEA9E-CD87-4B4E-BD2E-9BBF2273F40B}"/>
              </a:ext>
            </a:extLst>
          </p:cNvPr>
          <p:cNvSpPr>
            <a:spLocks/>
          </p:cNvSpPr>
          <p:nvPr/>
        </p:nvSpPr>
        <p:spPr bwMode="gray">
          <a:xfrm>
            <a:off x="4374309" y="4043322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时序数据存储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3" name="Straight Arrow Connector 31">
            <a:extLst>
              <a:ext uri="{FF2B5EF4-FFF2-40B4-BE49-F238E27FC236}">
                <a16:creationId xmlns:a16="http://schemas.microsoft.com/office/drawing/2014/main" id="{AE55BE44-456C-48E5-92BB-4E6C31A8F7F0}"/>
              </a:ext>
            </a:extLst>
          </p:cNvPr>
          <p:cNvCxnSpPr>
            <a:cxnSpLocks/>
            <a:stCxn id="741" idx="3"/>
            <a:endCxn id="42" idx="3"/>
          </p:cNvCxnSpPr>
          <p:nvPr/>
        </p:nvCxnSpPr>
        <p:spPr>
          <a:xfrm flipH="1">
            <a:off x="9363480" y="1904895"/>
            <a:ext cx="28742" cy="3466739"/>
          </a:xfrm>
          <a:prstGeom prst="bentConnector3">
            <a:avLst>
              <a:gd name="adj1" fmla="val -795352"/>
            </a:avLst>
          </a:prstGeom>
          <a:ln w="19050">
            <a:solidFill>
              <a:schemeClr val="accent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NumBox 1">
            <a:extLst>
              <a:ext uri="{FF2B5EF4-FFF2-40B4-BE49-F238E27FC236}">
                <a16:creationId xmlns:a16="http://schemas.microsoft.com/office/drawing/2014/main" id="{B3D60595-6310-44EF-97AE-BD02454A0A89}"/>
              </a:ext>
            </a:extLst>
          </p:cNvPr>
          <p:cNvSpPr/>
          <p:nvPr/>
        </p:nvSpPr>
        <p:spPr>
          <a:xfrm>
            <a:off x="9724598" y="4796663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4C01C1BC-04F9-4F7D-9646-7135D1611AFA}"/>
              </a:ext>
            </a:extLst>
          </p:cNvPr>
          <p:cNvSpPr/>
          <p:nvPr/>
        </p:nvSpPr>
        <p:spPr>
          <a:xfrm rot="338753">
            <a:off x="7941005" y="4951210"/>
            <a:ext cx="743347" cy="900318"/>
          </a:xfrm>
          <a:prstGeom prst="flowChartDocumen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C34EE5D-E17D-4361-9EF6-E12C97BCE3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4372" y="5023469"/>
            <a:ext cx="619108" cy="6963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F35BB7-AA16-4C64-BACF-11623C3BEC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396013">
            <a:off x="8346749" y="5054866"/>
            <a:ext cx="298175" cy="283390"/>
          </a:xfrm>
          <a:prstGeom prst="rect">
            <a:avLst/>
          </a:prstGeom>
        </p:spPr>
      </p:pic>
      <p:sp>
        <p:nvSpPr>
          <p:cNvPr id="72" name="Rechteck 2169">
            <a:extLst>
              <a:ext uri="{FF2B5EF4-FFF2-40B4-BE49-F238E27FC236}">
                <a16:creationId xmlns:a16="http://schemas.microsoft.com/office/drawing/2014/main" id="{501D6C50-56C1-4E2F-9004-866903F91AC7}"/>
              </a:ext>
            </a:extLst>
          </p:cNvPr>
          <p:cNvSpPr>
            <a:spLocks/>
          </p:cNvSpPr>
          <p:nvPr/>
        </p:nvSpPr>
        <p:spPr bwMode="gray">
          <a:xfrm>
            <a:off x="9258711" y="5544504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Product ID 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4" name="Grafik 28">
            <a:extLst>
              <a:ext uri="{FF2B5EF4-FFF2-40B4-BE49-F238E27FC236}">
                <a16:creationId xmlns:a16="http://schemas.microsoft.com/office/drawing/2014/main" id="{8E6ED3E8-EA22-4F73-8AA8-CB497EC3C3FE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1061" y="1645944"/>
            <a:ext cx="533298" cy="533298"/>
          </a:xfrm>
          <a:prstGeom prst="rect">
            <a:avLst/>
          </a:prstGeom>
        </p:spPr>
      </p:pic>
      <p:sp>
        <p:nvSpPr>
          <p:cNvPr id="78" name="NumBox 1">
            <a:extLst>
              <a:ext uri="{FF2B5EF4-FFF2-40B4-BE49-F238E27FC236}">
                <a16:creationId xmlns:a16="http://schemas.microsoft.com/office/drawing/2014/main" id="{6E9C1F0C-DA31-4113-B01B-3F5C9A384EC6}"/>
              </a:ext>
            </a:extLst>
          </p:cNvPr>
          <p:cNvSpPr/>
          <p:nvPr/>
        </p:nvSpPr>
        <p:spPr>
          <a:xfrm>
            <a:off x="8331872" y="2551316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9" name="Rechteck 2169">
            <a:extLst>
              <a:ext uri="{FF2B5EF4-FFF2-40B4-BE49-F238E27FC236}">
                <a16:creationId xmlns:a16="http://schemas.microsoft.com/office/drawing/2014/main" id="{E20A02DD-103E-4BDB-BFEF-98392D6C6372}"/>
              </a:ext>
            </a:extLst>
          </p:cNvPr>
          <p:cNvSpPr>
            <a:spLocks/>
          </p:cNvSpPr>
          <p:nvPr/>
        </p:nvSpPr>
        <p:spPr bwMode="gray">
          <a:xfrm>
            <a:off x="7148737" y="1540461"/>
            <a:ext cx="2214742" cy="8058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串口控制及通信</a:t>
            </a:r>
            <a:endParaRPr lang="en-US" altLang="zh-CN" sz="1000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基于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Client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交互控制，准确记录各转向的测试数据（消除脏数据干扰）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展示当前测试的数据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分析结果（</a:t>
            </a:r>
            <a:r>
              <a:rPr lang="en-US" altLang="zh-CN" sz="1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Normal/Abnormal</a:t>
            </a: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）提示</a:t>
            </a:r>
            <a:endParaRPr lang="en-US" altLang="zh-CN" sz="10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9E702C7B-ABA9-47D0-A899-5E5977B198C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356820">
            <a:off x="8018930" y="5348358"/>
            <a:ext cx="431472" cy="2798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2" name="NumBox 1">
            <a:extLst>
              <a:ext uri="{FF2B5EF4-FFF2-40B4-BE49-F238E27FC236}">
                <a16:creationId xmlns:a16="http://schemas.microsoft.com/office/drawing/2014/main" id="{CE45F556-C21F-4137-8D55-5258890B5356}"/>
              </a:ext>
            </a:extLst>
          </p:cNvPr>
          <p:cNvSpPr/>
          <p:nvPr/>
        </p:nvSpPr>
        <p:spPr>
          <a:xfrm>
            <a:off x="5994101" y="4326023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53CA0E9D-9EDC-4979-B605-A251217AC98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9921" b="94048" l="5622" r="89960">
                        <a14:foregroundMark x1="48594" y1="46429" x2="48594" y2="46429"/>
                        <a14:foregroundMark x1="29317" y1="77778" x2="29317" y2="77778"/>
                        <a14:foregroundMark x1="18072" y1="47619" x2="18072" y2="47619"/>
                        <a14:foregroundMark x1="18876" y1="43651" x2="18876" y2="43651"/>
                        <a14:foregroundMark x1="6024" y1="79762" x2="6024" y2="79762"/>
                        <a14:foregroundMark x1="53414" y1="94048" x2="53414" y2="940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4563" y="3398649"/>
            <a:ext cx="511596" cy="514673"/>
          </a:xfrm>
          <a:prstGeom prst="rect">
            <a:avLst/>
          </a:prstGeom>
        </p:spPr>
      </p:pic>
      <p:sp>
        <p:nvSpPr>
          <p:cNvPr id="86" name="Rechteck 2169">
            <a:extLst>
              <a:ext uri="{FF2B5EF4-FFF2-40B4-BE49-F238E27FC236}">
                <a16:creationId xmlns:a16="http://schemas.microsoft.com/office/drawing/2014/main" id="{68E87BFD-ADEB-4111-9403-3E6C54DC1239}"/>
              </a:ext>
            </a:extLst>
          </p:cNvPr>
          <p:cNvSpPr>
            <a:spLocks/>
          </p:cNvSpPr>
          <p:nvPr/>
        </p:nvSpPr>
        <p:spPr bwMode="gray">
          <a:xfrm>
            <a:off x="2640434" y="4039487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配置及数据获取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0" name="Straight Arrow Connector 31">
            <a:extLst>
              <a:ext uri="{FF2B5EF4-FFF2-40B4-BE49-F238E27FC236}">
                <a16:creationId xmlns:a16="http://schemas.microsoft.com/office/drawing/2014/main" id="{8B8CF568-F06C-4383-8995-33E1F426C9AB}"/>
              </a:ext>
            </a:extLst>
          </p:cNvPr>
          <p:cNvCxnSpPr>
            <a:cxnSpLocks/>
          </p:cNvCxnSpPr>
          <p:nvPr/>
        </p:nvCxnSpPr>
        <p:spPr>
          <a:xfrm>
            <a:off x="3590478" y="3723315"/>
            <a:ext cx="828637" cy="183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NumBox 1">
            <a:extLst>
              <a:ext uri="{FF2B5EF4-FFF2-40B4-BE49-F238E27FC236}">
                <a16:creationId xmlns:a16="http://schemas.microsoft.com/office/drawing/2014/main" id="{254AFA5D-753E-43BB-9476-8D638995CE89}"/>
              </a:ext>
            </a:extLst>
          </p:cNvPr>
          <p:cNvSpPr/>
          <p:nvPr/>
        </p:nvSpPr>
        <p:spPr>
          <a:xfrm>
            <a:off x="4628207" y="2964962"/>
            <a:ext cx="410809" cy="273875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4.1</a:t>
            </a:r>
          </a:p>
        </p:txBody>
      </p:sp>
      <p:cxnSp>
        <p:nvCxnSpPr>
          <p:cNvPr id="95" name="Straight Arrow Connector 31">
            <a:extLst>
              <a:ext uri="{FF2B5EF4-FFF2-40B4-BE49-F238E27FC236}">
                <a16:creationId xmlns:a16="http://schemas.microsoft.com/office/drawing/2014/main" id="{D13E385D-BBC9-4BE6-A177-E07DA228BF76}"/>
              </a:ext>
            </a:extLst>
          </p:cNvPr>
          <p:cNvCxnSpPr>
            <a:cxnSpLocks/>
            <a:endCxn id="741" idx="2"/>
          </p:cNvCxnSpPr>
          <p:nvPr/>
        </p:nvCxnSpPr>
        <p:spPr>
          <a:xfrm rot="16200000" flipV="1">
            <a:off x="7692406" y="2707500"/>
            <a:ext cx="452281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hteck 2169">
            <a:extLst>
              <a:ext uri="{FF2B5EF4-FFF2-40B4-BE49-F238E27FC236}">
                <a16:creationId xmlns:a16="http://schemas.microsoft.com/office/drawing/2014/main" id="{B1B360A1-3A6E-40A4-859B-7B4E51A86210}"/>
              </a:ext>
            </a:extLst>
          </p:cNvPr>
          <p:cNvSpPr>
            <a:spLocks/>
          </p:cNvSpPr>
          <p:nvPr/>
        </p:nvSpPr>
        <p:spPr bwMode="gray">
          <a:xfrm>
            <a:off x="6274707" y="2210875"/>
            <a:ext cx="1059853" cy="1836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On-Site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97688C6-DAEB-4FD5-803E-2E1D21501EF4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14" name="Footer Placeholder 3">
              <a:extLst>
                <a:ext uri="{FF2B5EF4-FFF2-40B4-BE49-F238E27FC236}">
                  <a16:creationId xmlns:a16="http://schemas.microsoft.com/office/drawing/2014/main" id="{1786D965-215B-4921-8004-392B6109B2FB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15" name="Slide Number Placeholder 3">
              <a:extLst>
                <a:ext uri="{FF2B5EF4-FFF2-40B4-BE49-F238E27FC236}">
                  <a16:creationId xmlns:a16="http://schemas.microsoft.com/office/drawing/2014/main" id="{0B6945B4-54AE-4345-9A47-9EE0498D56F7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6</a:t>
              </a:fld>
              <a:endParaRPr lang="en-US" sz="9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3A92483-9A0F-4183-A0AB-BA3EB9DA912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6452" y="83515"/>
            <a:ext cx="3076182" cy="7353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E0E451-23C5-4234-AE03-5771CA96575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76615" y="3399190"/>
            <a:ext cx="2677576" cy="819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436435-ECDA-48E5-948B-0017698FD4B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52240" y="1008110"/>
            <a:ext cx="4174306" cy="1632968"/>
          </a:xfrm>
          <a:prstGeom prst="rect">
            <a:avLst/>
          </a:prstGeom>
        </p:spPr>
      </p:pic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66B3330C-FF70-454E-8E69-0038D54D37A4}"/>
              </a:ext>
            </a:extLst>
          </p:cNvPr>
          <p:cNvSpPr/>
          <p:nvPr/>
        </p:nvSpPr>
        <p:spPr>
          <a:xfrm>
            <a:off x="9863090" y="1579382"/>
            <a:ext cx="2051932" cy="1254801"/>
          </a:xfrm>
          <a:prstGeom prst="wedgeRoundRectCallout">
            <a:avLst>
              <a:gd name="adj1" fmla="val -41254"/>
              <a:gd name="adj2" fmla="val -90447"/>
              <a:gd name="adj3" fmla="val 16667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altLang="zh-CN" dirty="0"/>
              <a:t>Target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实现现场的有效测试数据的存储</a:t>
            </a:r>
            <a:endParaRPr lang="en-US" altLang="zh-CN" dirty="0"/>
          </a:p>
        </p:txBody>
      </p:sp>
      <p:sp>
        <p:nvSpPr>
          <p:cNvPr id="73" name="Speech Bubble: Rectangle with Corners Rounded 72">
            <a:extLst>
              <a:ext uri="{FF2B5EF4-FFF2-40B4-BE49-F238E27FC236}">
                <a16:creationId xmlns:a16="http://schemas.microsoft.com/office/drawing/2014/main" id="{DAEE2407-8611-4B07-BBF5-2BBE84B6EEA6}"/>
              </a:ext>
            </a:extLst>
          </p:cNvPr>
          <p:cNvSpPr/>
          <p:nvPr/>
        </p:nvSpPr>
        <p:spPr>
          <a:xfrm>
            <a:off x="9906560" y="3450739"/>
            <a:ext cx="2285441" cy="2093765"/>
          </a:xfrm>
          <a:prstGeom prst="wedgeRoundRectCallout">
            <a:avLst>
              <a:gd name="adj1" fmla="val -449"/>
              <a:gd name="adj2" fmla="val -81697"/>
              <a:gd name="adj3" fmla="val 16667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altLang="zh-CN" dirty="0"/>
              <a:t>Cost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￥</a:t>
            </a:r>
            <a:r>
              <a:rPr lang="en-US" altLang="zh-CN" dirty="0"/>
              <a:t>253,000 </a:t>
            </a:r>
            <a:r>
              <a:rPr lang="zh-CN" altLang="en-US" dirty="0"/>
              <a:t>（先完成一个静音房），</a:t>
            </a:r>
            <a:endParaRPr lang="en-US" altLang="zh-CN" dirty="0"/>
          </a:p>
          <a:p>
            <a:r>
              <a:rPr lang="zh-CN" altLang="en-US" dirty="0"/>
              <a:t>后续可以</a:t>
            </a:r>
            <a:r>
              <a:rPr lang="en-US" altLang="zh-CN" dirty="0"/>
              <a:t>+2w </a:t>
            </a:r>
            <a:r>
              <a:rPr lang="zh-CN" altLang="en-US" dirty="0"/>
              <a:t>完成另一个静音房的集成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2187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7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2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itchFamily="34" charset="0"/>
              </a:rPr>
              <a:t>Prototype 2.0 </a:t>
            </a:r>
            <a:r>
              <a:rPr lang="zh-CN" altLang="en-US" dirty="0">
                <a:latin typeface="Arial" pitchFamily="34" charset="0"/>
              </a:rPr>
              <a:t>现场</a:t>
            </a:r>
            <a:r>
              <a:rPr lang="en-US" altLang="zh-CN" dirty="0">
                <a:latin typeface="Arial" pitchFamily="34" charset="0"/>
              </a:rPr>
              <a:t>Client</a:t>
            </a:r>
            <a:r>
              <a:rPr lang="zh-CN" altLang="en-US" dirty="0">
                <a:latin typeface="Arial" pitchFamily="34" charset="0"/>
              </a:rPr>
              <a:t>端 集成数据分析</a:t>
            </a:r>
            <a:br>
              <a:rPr lang="en-US" altLang="zh-CN" dirty="0">
                <a:latin typeface="Arial" pitchFamily="34" charset="0"/>
              </a:rPr>
            </a:br>
            <a:endParaRPr lang="en-US" dirty="0">
              <a:latin typeface="Arial" pitchFamily="34" charset="0"/>
            </a:endParaRPr>
          </a:p>
        </p:txBody>
      </p:sp>
      <p:sp>
        <p:nvSpPr>
          <p:cNvPr id="282" name="Rechteck 7">
            <a:extLst>
              <a:ext uri="{FF2B5EF4-FFF2-40B4-BE49-F238E27FC236}">
                <a16:creationId xmlns:a16="http://schemas.microsoft.com/office/drawing/2014/main" id="{18D73F59-4FE9-4FE1-BD77-92B2E0CCEAA5}"/>
              </a:ext>
            </a:extLst>
          </p:cNvPr>
          <p:cNvSpPr>
            <a:spLocks/>
          </p:cNvSpPr>
          <p:nvPr/>
        </p:nvSpPr>
        <p:spPr bwMode="gray">
          <a:xfrm>
            <a:off x="719280" y="2834183"/>
            <a:ext cx="10559097" cy="1610355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Edge Level</a:t>
            </a:r>
            <a:endParaRPr lang="en-US" sz="1199" b="1" dirty="0">
              <a:solidFill>
                <a:srgbClr val="4BB9B9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58491BE-D779-41A9-8A1E-9655C9C549E5}"/>
              </a:ext>
            </a:extLst>
          </p:cNvPr>
          <p:cNvGrpSpPr/>
          <p:nvPr/>
        </p:nvGrpSpPr>
        <p:grpSpPr>
          <a:xfrm>
            <a:off x="6444868" y="1174795"/>
            <a:ext cx="2947354" cy="1306565"/>
            <a:chOff x="2008060" y="1381063"/>
            <a:chExt cx="2312362" cy="1307246"/>
          </a:xfrm>
        </p:grpSpPr>
        <p:sp>
          <p:nvSpPr>
            <p:cNvPr id="741" name="Rechteck 44">
              <a:extLst>
                <a:ext uri="{FF2B5EF4-FFF2-40B4-BE49-F238E27FC236}">
                  <a16:creationId xmlns:a16="http://schemas.microsoft.com/office/drawing/2014/main" id="{17FA83BD-E843-41DD-9CB5-C7BA4F06DA38}"/>
                </a:ext>
              </a:extLst>
            </p:cNvPr>
            <p:cNvSpPr>
              <a:spLocks/>
            </p:cNvSpPr>
            <p:nvPr/>
          </p:nvSpPr>
          <p:spPr bwMode="gray">
            <a:xfrm>
              <a:off x="2008060" y="1534778"/>
              <a:ext cx="2312362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sp>
          <p:nvSpPr>
            <p:cNvPr id="739" name="Rechteck 416">
              <a:extLst>
                <a:ext uri="{FF2B5EF4-FFF2-40B4-BE49-F238E27FC236}">
                  <a16:creationId xmlns:a16="http://schemas.microsoft.com/office/drawing/2014/main" id="{D506711B-E101-421D-AE66-F92096BD72F6}"/>
                </a:ext>
              </a:extLst>
            </p:cNvPr>
            <p:cNvSpPr>
              <a:spLocks/>
            </p:cNvSpPr>
            <p:nvPr/>
          </p:nvSpPr>
          <p:spPr bwMode="gray">
            <a:xfrm>
              <a:off x="2176745" y="1381063"/>
              <a:ext cx="1983149" cy="32042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噪声质量测试 客户端</a:t>
              </a:r>
              <a:endParaRPr lang="en-US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51" name="Textfeld 899">
            <a:extLst>
              <a:ext uri="{FF2B5EF4-FFF2-40B4-BE49-F238E27FC236}">
                <a16:creationId xmlns:a16="http://schemas.microsoft.com/office/drawing/2014/main" id="{69D5C046-2215-4A2A-8EC4-D68FC98F19D1}"/>
              </a:ext>
            </a:extLst>
          </p:cNvPr>
          <p:cNvSpPr txBox="1">
            <a:spLocks/>
          </p:cNvSpPr>
          <p:nvPr/>
        </p:nvSpPr>
        <p:spPr bwMode="gray">
          <a:xfrm>
            <a:off x="7387120" y="6445137"/>
            <a:ext cx="4365212" cy="1350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* 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Take one test room as example</a:t>
            </a:r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in 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the architecture</a:t>
            </a:r>
            <a:endParaRPr lang="en-US" sz="999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0" name="Freeform 25">
            <a:extLst>
              <a:ext uri="{FF2B5EF4-FFF2-40B4-BE49-F238E27FC236}">
                <a16:creationId xmlns:a16="http://schemas.microsoft.com/office/drawing/2014/main" id="{C40CF975-4079-4585-BD59-2B67B1F0834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28958" y="3345817"/>
            <a:ext cx="628971" cy="506764"/>
          </a:xfrm>
          <a:custGeom>
            <a:avLst/>
            <a:gdLst>
              <a:gd name="T0" fmla="*/ 192 w 560"/>
              <a:gd name="T1" fmla="*/ 133 h 451"/>
              <a:gd name="T2" fmla="*/ 233 w 560"/>
              <a:gd name="T3" fmla="*/ 92 h 451"/>
              <a:gd name="T4" fmla="*/ 275 w 560"/>
              <a:gd name="T5" fmla="*/ 133 h 451"/>
              <a:gd name="T6" fmla="*/ 233 w 560"/>
              <a:gd name="T7" fmla="*/ 175 h 451"/>
              <a:gd name="T8" fmla="*/ 192 w 560"/>
              <a:gd name="T9" fmla="*/ 133 h 451"/>
              <a:gd name="T10" fmla="*/ 444 w 560"/>
              <a:gd name="T11" fmla="*/ 175 h 451"/>
              <a:gd name="T12" fmla="*/ 486 w 560"/>
              <a:gd name="T13" fmla="*/ 133 h 451"/>
              <a:gd name="T14" fmla="*/ 444 w 560"/>
              <a:gd name="T15" fmla="*/ 92 h 451"/>
              <a:gd name="T16" fmla="*/ 402 w 560"/>
              <a:gd name="T17" fmla="*/ 133 h 451"/>
              <a:gd name="T18" fmla="*/ 444 w 560"/>
              <a:gd name="T19" fmla="*/ 175 h 451"/>
              <a:gd name="T20" fmla="*/ 166 w 560"/>
              <a:gd name="T21" fmla="*/ 141 h 451"/>
              <a:gd name="T22" fmla="*/ 101 w 560"/>
              <a:gd name="T23" fmla="*/ 141 h 451"/>
              <a:gd name="T24" fmla="*/ 101 w 560"/>
              <a:gd name="T25" fmla="*/ 259 h 451"/>
              <a:gd name="T26" fmla="*/ 219 w 560"/>
              <a:gd name="T27" fmla="*/ 259 h 451"/>
              <a:gd name="T28" fmla="*/ 219 w 560"/>
              <a:gd name="T29" fmla="*/ 194 h 451"/>
              <a:gd name="T30" fmla="*/ 166 w 560"/>
              <a:gd name="T31" fmla="*/ 141 h 451"/>
              <a:gd name="T32" fmla="*/ 376 w 560"/>
              <a:gd name="T33" fmla="*/ 141 h 451"/>
              <a:gd name="T34" fmla="*/ 311 w 560"/>
              <a:gd name="T35" fmla="*/ 141 h 451"/>
              <a:gd name="T36" fmla="*/ 311 w 560"/>
              <a:gd name="T37" fmla="*/ 259 h 451"/>
              <a:gd name="T38" fmla="*/ 429 w 560"/>
              <a:gd name="T39" fmla="*/ 259 h 451"/>
              <a:gd name="T40" fmla="*/ 429 w 560"/>
              <a:gd name="T41" fmla="*/ 194 h 451"/>
              <a:gd name="T42" fmla="*/ 376 w 560"/>
              <a:gd name="T43" fmla="*/ 141 h 451"/>
              <a:gd name="T44" fmla="*/ 560 w 560"/>
              <a:gd name="T45" fmla="*/ 27 h 451"/>
              <a:gd name="T46" fmla="*/ 560 w 560"/>
              <a:gd name="T47" fmla="*/ 341 h 451"/>
              <a:gd name="T48" fmla="*/ 532 w 560"/>
              <a:gd name="T49" fmla="*/ 369 h 451"/>
              <a:gd name="T50" fmla="*/ 327 w 560"/>
              <a:gd name="T51" fmla="*/ 369 h 451"/>
              <a:gd name="T52" fmla="*/ 327 w 560"/>
              <a:gd name="T53" fmla="*/ 423 h 451"/>
              <a:gd name="T54" fmla="*/ 396 w 560"/>
              <a:gd name="T55" fmla="*/ 423 h 451"/>
              <a:gd name="T56" fmla="*/ 396 w 560"/>
              <a:gd name="T57" fmla="*/ 451 h 451"/>
              <a:gd name="T58" fmla="*/ 164 w 560"/>
              <a:gd name="T59" fmla="*/ 451 h 451"/>
              <a:gd name="T60" fmla="*/ 164 w 560"/>
              <a:gd name="T61" fmla="*/ 423 h 451"/>
              <a:gd name="T62" fmla="*/ 232 w 560"/>
              <a:gd name="T63" fmla="*/ 423 h 451"/>
              <a:gd name="T64" fmla="*/ 232 w 560"/>
              <a:gd name="T65" fmla="*/ 369 h 451"/>
              <a:gd name="T66" fmla="*/ 27 w 560"/>
              <a:gd name="T67" fmla="*/ 369 h 451"/>
              <a:gd name="T68" fmla="*/ 0 w 560"/>
              <a:gd name="T69" fmla="*/ 341 h 451"/>
              <a:gd name="T70" fmla="*/ 0 w 560"/>
              <a:gd name="T71" fmla="*/ 27 h 451"/>
              <a:gd name="T72" fmla="*/ 27 w 560"/>
              <a:gd name="T73" fmla="*/ 0 h 451"/>
              <a:gd name="T74" fmla="*/ 532 w 560"/>
              <a:gd name="T75" fmla="*/ 0 h 451"/>
              <a:gd name="T76" fmla="*/ 560 w 560"/>
              <a:gd name="T77" fmla="*/ 27 h 451"/>
              <a:gd name="T78" fmla="*/ 27 w 560"/>
              <a:gd name="T79" fmla="*/ 27 h 451"/>
              <a:gd name="T80" fmla="*/ 27 w 560"/>
              <a:gd name="T81" fmla="*/ 341 h 451"/>
              <a:gd name="T82" fmla="*/ 532 w 560"/>
              <a:gd name="T83" fmla="*/ 341 h 451"/>
              <a:gd name="T84" fmla="*/ 532 w 560"/>
              <a:gd name="T85" fmla="*/ 27 h 451"/>
              <a:gd name="T86" fmla="*/ 27 w 560"/>
              <a:gd name="T87" fmla="*/ 27 h 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60" h="451">
                <a:moveTo>
                  <a:pt x="192" y="133"/>
                </a:moveTo>
                <a:cubicBezTo>
                  <a:pt x="233" y="92"/>
                  <a:pt x="233" y="92"/>
                  <a:pt x="233" y="92"/>
                </a:cubicBezTo>
                <a:cubicBezTo>
                  <a:pt x="275" y="133"/>
                  <a:pt x="275" y="133"/>
                  <a:pt x="275" y="133"/>
                </a:cubicBezTo>
                <a:cubicBezTo>
                  <a:pt x="233" y="175"/>
                  <a:pt x="233" y="175"/>
                  <a:pt x="233" y="175"/>
                </a:cubicBezTo>
                <a:lnTo>
                  <a:pt x="192" y="133"/>
                </a:lnTo>
                <a:close/>
                <a:moveTo>
                  <a:pt x="444" y="175"/>
                </a:moveTo>
                <a:cubicBezTo>
                  <a:pt x="486" y="133"/>
                  <a:pt x="486" y="133"/>
                  <a:pt x="486" y="133"/>
                </a:cubicBezTo>
                <a:cubicBezTo>
                  <a:pt x="444" y="92"/>
                  <a:pt x="444" y="92"/>
                  <a:pt x="444" y="92"/>
                </a:cubicBezTo>
                <a:cubicBezTo>
                  <a:pt x="402" y="133"/>
                  <a:pt x="402" y="133"/>
                  <a:pt x="402" y="133"/>
                </a:cubicBezTo>
                <a:lnTo>
                  <a:pt x="444" y="175"/>
                </a:lnTo>
                <a:close/>
                <a:moveTo>
                  <a:pt x="166" y="141"/>
                </a:moveTo>
                <a:cubicBezTo>
                  <a:pt x="101" y="141"/>
                  <a:pt x="101" y="141"/>
                  <a:pt x="101" y="141"/>
                </a:cubicBezTo>
                <a:cubicBezTo>
                  <a:pt x="101" y="259"/>
                  <a:pt x="101" y="259"/>
                  <a:pt x="101" y="259"/>
                </a:cubicBezTo>
                <a:cubicBezTo>
                  <a:pt x="219" y="259"/>
                  <a:pt x="219" y="259"/>
                  <a:pt x="219" y="259"/>
                </a:cubicBezTo>
                <a:cubicBezTo>
                  <a:pt x="219" y="194"/>
                  <a:pt x="219" y="194"/>
                  <a:pt x="219" y="194"/>
                </a:cubicBezTo>
                <a:lnTo>
                  <a:pt x="166" y="141"/>
                </a:lnTo>
                <a:close/>
                <a:moveTo>
                  <a:pt x="376" y="141"/>
                </a:moveTo>
                <a:cubicBezTo>
                  <a:pt x="311" y="141"/>
                  <a:pt x="311" y="141"/>
                  <a:pt x="311" y="141"/>
                </a:cubicBezTo>
                <a:cubicBezTo>
                  <a:pt x="311" y="259"/>
                  <a:pt x="311" y="259"/>
                  <a:pt x="311" y="259"/>
                </a:cubicBezTo>
                <a:cubicBezTo>
                  <a:pt x="429" y="259"/>
                  <a:pt x="429" y="259"/>
                  <a:pt x="429" y="259"/>
                </a:cubicBezTo>
                <a:cubicBezTo>
                  <a:pt x="429" y="194"/>
                  <a:pt x="429" y="194"/>
                  <a:pt x="429" y="194"/>
                </a:cubicBezTo>
                <a:lnTo>
                  <a:pt x="376" y="141"/>
                </a:lnTo>
                <a:close/>
                <a:moveTo>
                  <a:pt x="560" y="27"/>
                </a:moveTo>
                <a:cubicBezTo>
                  <a:pt x="560" y="341"/>
                  <a:pt x="560" y="341"/>
                  <a:pt x="560" y="341"/>
                </a:cubicBezTo>
                <a:cubicBezTo>
                  <a:pt x="560" y="356"/>
                  <a:pt x="547" y="369"/>
                  <a:pt x="532" y="369"/>
                </a:cubicBezTo>
                <a:cubicBezTo>
                  <a:pt x="327" y="369"/>
                  <a:pt x="327" y="369"/>
                  <a:pt x="327" y="369"/>
                </a:cubicBezTo>
                <a:cubicBezTo>
                  <a:pt x="327" y="423"/>
                  <a:pt x="327" y="423"/>
                  <a:pt x="327" y="423"/>
                </a:cubicBezTo>
                <a:cubicBezTo>
                  <a:pt x="396" y="423"/>
                  <a:pt x="396" y="423"/>
                  <a:pt x="396" y="423"/>
                </a:cubicBezTo>
                <a:cubicBezTo>
                  <a:pt x="396" y="451"/>
                  <a:pt x="396" y="451"/>
                  <a:pt x="396" y="451"/>
                </a:cubicBezTo>
                <a:cubicBezTo>
                  <a:pt x="164" y="451"/>
                  <a:pt x="164" y="451"/>
                  <a:pt x="164" y="451"/>
                </a:cubicBezTo>
                <a:cubicBezTo>
                  <a:pt x="164" y="423"/>
                  <a:pt x="164" y="423"/>
                  <a:pt x="164" y="423"/>
                </a:cubicBezTo>
                <a:cubicBezTo>
                  <a:pt x="232" y="423"/>
                  <a:pt x="232" y="423"/>
                  <a:pt x="232" y="423"/>
                </a:cubicBezTo>
                <a:cubicBezTo>
                  <a:pt x="232" y="369"/>
                  <a:pt x="232" y="369"/>
                  <a:pt x="232" y="369"/>
                </a:cubicBezTo>
                <a:cubicBezTo>
                  <a:pt x="27" y="369"/>
                  <a:pt x="27" y="369"/>
                  <a:pt x="27" y="369"/>
                </a:cubicBezTo>
                <a:cubicBezTo>
                  <a:pt x="12" y="369"/>
                  <a:pt x="0" y="356"/>
                  <a:pt x="0" y="341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532" y="0"/>
                  <a:pt x="532" y="0"/>
                  <a:pt x="532" y="0"/>
                </a:cubicBezTo>
                <a:cubicBezTo>
                  <a:pt x="547" y="0"/>
                  <a:pt x="560" y="12"/>
                  <a:pt x="560" y="27"/>
                </a:cubicBezTo>
                <a:close/>
                <a:moveTo>
                  <a:pt x="27" y="27"/>
                </a:moveTo>
                <a:cubicBezTo>
                  <a:pt x="27" y="341"/>
                  <a:pt x="27" y="341"/>
                  <a:pt x="27" y="341"/>
                </a:cubicBezTo>
                <a:cubicBezTo>
                  <a:pt x="532" y="341"/>
                  <a:pt x="532" y="341"/>
                  <a:pt x="532" y="341"/>
                </a:cubicBezTo>
                <a:cubicBezTo>
                  <a:pt x="532" y="27"/>
                  <a:pt x="532" y="27"/>
                  <a:pt x="532" y="27"/>
                </a:cubicBezTo>
                <a:lnTo>
                  <a:pt x="27" y="27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/>
          </a:p>
        </p:txBody>
      </p:sp>
      <p:sp>
        <p:nvSpPr>
          <p:cNvPr id="71" name="Rechteck 2169">
            <a:extLst>
              <a:ext uri="{FF2B5EF4-FFF2-40B4-BE49-F238E27FC236}">
                <a16:creationId xmlns:a16="http://schemas.microsoft.com/office/drawing/2014/main" id="{32A22A55-4F19-4567-B9FA-DF5731649276}"/>
              </a:ext>
            </a:extLst>
          </p:cNvPr>
          <p:cNvSpPr>
            <a:spLocks/>
          </p:cNvSpPr>
          <p:nvPr/>
        </p:nvSpPr>
        <p:spPr bwMode="gray">
          <a:xfrm>
            <a:off x="913623" y="3948960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Server / PC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225E718-14DF-49B5-BFF3-D1EA7832FD4B}"/>
              </a:ext>
            </a:extLst>
          </p:cNvPr>
          <p:cNvGrpSpPr/>
          <p:nvPr/>
        </p:nvGrpSpPr>
        <p:grpSpPr>
          <a:xfrm>
            <a:off x="2579594" y="2933641"/>
            <a:ext cx="6812627" cy="1363891"/>
            <a:chOff x="2120212" y="1323706"/>
            <a:chExt cx="1986622" cy="1364602"/>
          </a:xfrm>
        </p:grpSpPr>
        <p:sp>
          <p:nvSpPr>
            <p:cNvPr id="77" name="Rechteck 44">
              <a:extLst>
                <a:ext uri="{FF2B5EF4-FFF2-40B4-BE49-F238E27FC236}">
                  <a16:creationId xmlns:a16="http://schemas.microsoft.com/office/drawing/2014/main" id="{B903E59D-EA28-4714-8F34-DE93C050C11A}"/>
                </a:ext>
              </a:extLst>
            </p:cNvPr>
            <p:cNvSpPr>
              <a:spLocks/>
            </p:cNvSpPr>
            <p:nvPr/>
          </p:nvSpPr>
          <p:spPr bwMode="gray">
            <a:xfrm>
              <a:off x="2120212" y="1481274"/>
              <a:ext cx="1986622" cy="1207034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sp>
          <p:nvSpPr>
            <p:cNvPr id="76" name="Rechteck 416">
              <a:extLst>
                <a:ext uri="{FF2B5EF4-FFF2-40B4-BE49-F238E27FC236}">
                  <a16:creationId xmlns:a16="http://schemas.microsoft.com/office/drawing/2014/main" id="{8CE462DE-3A99-45BF-B91B-2AA332828273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3486" y="1323706"/>
              <a:ext cx="1910120" cy="321733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zh-CN" altLang="en-US" sz="1000" b="1" dirty="0">
                  <a:solidFill>
                    <a:schemeClr val="bg1">
                      <a:lumMod val="85000"/>
                    </a:schemeClr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数据收集 </a:t>
              </a: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&amp; </a:t>
              </a: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边缘计算</a:t>
              </a:r>
              <a:endParaRPr lang="en-US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8B849A4C-580A-4825-9BEB-0E5EAB06BE5D}"/>
              </a:ext>
            </a:extLst>
          </p:cNvPr>
          <p:cNvSpPr/>
          <p:nvPr/>
        </p:nvSpPr>
        <p:spPr>
          <a:xfrm>
            <a:off x="4609757" y="3399808"/>
            <a:ext cx="511596" cy="580844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41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91" name="Rechteck 2169">
            <a:extLst>
              <a:ext uri="{FF2B5EF4-FFF2-40B4-BE49-F238E27FC236}">
                <a16:creationId xmlns:a16="http://schemas.microsoft.com/office/drawing/2014/main" id="{36DBEA9E-CD87-4B4E-BD2E-9BBF2273F40B}"/>
              </a:ext>
            </a:extLst>
          </p:cNvPr>
          <p:cNvSpPr>
            <a:spLocks/>
          </p:cNvSpPr>
          <p:nvPr/>
        </p:nvSpPr>
        <p:spPr bwMode="gray">
          <a:xfrm>
            <a:off x="4374309" y="4043322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时序数据存储</a:t>
            </a:r>
            <a:endParaRPr lang="en-US" altLang="zh-CN" sz="10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4" name="Grafik 28">
            <a:extLst>
              <a:ext uri="{FF2B5EF4-FFF2-40B4-BE49-F238E27FC236}">
                <a16:creationId xmlns:a16="http://schemas.microsoft.com/office/drawing/2014/main" id="{8E6ED3E8-EA22-4F73-8AA8-CB497EC3C3FE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1061" y="1645944"/>
            <a:ext cx="533298" cy="533298"/>
          </a:xfrm>
          <a:prstGeom prst="rect">
            <a:avLst/>
          </a:prstGeom>
        </p:spPr>
      </p:pic>
      <p:sp>
        <p:nvSpPr>
          <p:cNvPr id="79" name="Rechteck 2169">
            <a:extLst>
              <a:ext uri="{FF2B5EF4-FFF2-40B4-BE49-F238E27FC236}">
                <a16:creationId xmlns:a16="http://schemas.microsoft.com/office/drawing/2014/main" id="{E20A02DD-103E-4BDB-BFEF-98392D6C6372}"/>
              </a:ext>
            </a:extLst>
          </p:cNvPr>
          <p:cNvSpPr>
            <a:spLocks/>
          </p:cNvSpPr>
          <p:nvPr/>
        </p:nvSpPr>
        <p:spPr bwMode="gray">
          <a:xfrm>
            <a:off x="7148737" y="1540461"/>
            <a:ext cx="2214742" cy="8058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串口控制及通信</a:t>
            </a:r>
            <a:endParaRPr lang="en-US" altLang="zh-CN" sz="1000" dirty="0">
              <a:solidFill>
                <a:schemeClr val="bg1">
                  <a:lumMod val="85000"/>
                </a:schemeClr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基于</a:t>
            </a:r>
            <a:r>
              <a:rPr lang="en-US" altLang="zh-CN" sz="1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Client</a:t>
            </a: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交互控制，准确记录各转向的测试数据（消除脏数据干扰）</a:t>
            </a:r>
            <a:endParaRPr lang="en-US" altLang="zh-CN" sz="10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展示当前测试的数据</a:t>
            </a:r>
            <a:endParaRPr lang="en-US" altLang="zh-CN" sz="10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分析结果（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Normal/Abnormal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）提示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53CA0E9D-9EDC-4979-B605-A251217AC9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921" b="94048" l="5622" r="89960">
                        <a14:foregroundMark x1="48594" y1="46429" x2="48594" y2="46429"/>
                        <a14:foregroundMark x1="29317" y1="77778" x2="29317" y2="77778"/>
                        <a14:foregroundMark x1="18072" y1="47619" x2="18072" y2="47619"/>
                        <a14:foregroundMark x1="18876" y1="43651" x2="18876" y2="43651"/>
                        <a14:foregroundMark x1="6024" y1="79762" x2="6024" y2="79762"/>
                        <a14:foregroundMark x1="53414" y1="94048" x2="53414" y2="940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4563" y="3398649"/>
            <a:ext cx="511596" cy="514673"/>
          </a:xfrm>
          <a:prstGeom prst="rect">
            <a:avLst/>
          </a:prstGeom>
        </p:spPr>
      </p:pic>
      <p:sp>
        <p:nvSpPr>
          <p:cNvPr id="86" name="Rechteck 2169">
            <a:extLst>
              <a:ext uri="{FF2B5EF4-FFF2-40B4-BE49-F238E27FC236}">
                <a16:creationId xmlns:a16="http://schemas.microsoft.com/office/drawing/2014/main" id="{68E87BFD-ADEB-4111-9403-3E6C54DC1239}"/>
              </a:ext>
            </a:extLst>
          </p:cNvPr>
          <p:cNvSpPr>
            <a:spLocks/>
          </p:cNvSpPr>
          <p:nvPr/>
        </p:nvSpPr>
        <p:spPr bwMode="gray">
          <a:xfrm>
            <a:off x="2640434" y="4039487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配置及数据获取</a:t>
            </a:r>
            <a:endParaRPr lang="en-US" altLang="zh-CN" sz="10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0" name="Straight Arrow Connector 31">
            <a:extLst>
              <a:ext uri="{FF2B5EF4-FFF2-40B4-BE49-F238E27FC236}">
                <a16:creationId xmlns:a16="http://schemas.microsoft.com/office/drawing/2014/main" id="{8B8CF568-F06C-4383-8995-33E1F426C9AB}"/>
              </a:ext>
            </a:extLst>
          </p:cNvPr>
          <p:cNvCxnSpPr>
            <a:cxnSpLocks/>
          </p:cNvCxnSpPr>
          <p:nvPr/>
        </p:nvCxnSpPr>
        <p:spPr>
          <a:xfrm>
            <a:off x="3590478" y="3723315"/>
            <a:ext cx="828637" cy="183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NumBox 1">
            <a:extLst>
              <a:ext uri="{FF2B5EF4-FFF2-40B4-BE49-F238E27FC236}">
                <a16:creationId xmlns:a16="http://schemas.microsoft.com/office/drawing/2014/main" id="{254AFA5D-753E-43BB-9476-8D638995CE89}"/>
              </a:ext>
            </a:extLst>
          </p:cNvPr>
          <p:cNvSpPr/>
          <p:nvPr/>
        </p:nvSpPr>
        <p:spPr>
          <a:xfrm>
            <a:off x="4628207" y="2964962"/>
            <a:ext cx="410809" cy="273875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4.2</a:t>
            </a:r>
          </a:p>
        </p:txBody>
      </p:sp>
      <p:sp>
        <p:nvSpPr>
          <p:cNvPr id="109" name="Rechteck 2169">
            <a:extLst>
              <a:ext uri="{FF2B5EF4-FFF2-40B4-BE49-F238E27FC236}">
                <a16:creationId xmlns:a16="http://schemas.microsoft.com/office/drawing/2014/main" id="{B1B360A1-3A6E-40A4-859B-7B4E51A86210}"/>
              </a:ext>
            </a:extLst>
          </p:cNvPr>
          <p:cNvSpPr>
            <a:spLocks/>
          </p:cNvSpPr>
          <p:nvPr/>
        </p:nvSpPr>
        <p:spPr bwMode="gray">
          <a:xfrm>
            <a:off x="6274707" y="2210875"/>
            <a:ext cx="1059853" cy="1836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On-Site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97688C6-DAEB-4FD5-803E-2E1D21501EF4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14" name="Footer Placeholder 3">
              <a:extLst>
                <a:ext uri="{FF2B5EF4-FFF2-40B4-BE49-F238E27FC236}">
                  <a16:creationId xmlns:a16="http://schemas.microsoft.com/office/drawing/2014/main" id="{1786D965-215B-4921-8004-392B6109B2FB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15" name="Slide Number Placeholder 3">
              <a:extLst>
                <a:ext uri="{FF2B5EF4-FFF2-40B4-BE49-F238E27FC236}">
                  <a16:creationId xmlns:a16="http://schemas.microsoft.com/office/drawing/2014/main" id="{0B6945B4-54AE-4345-9A47-9EE0498D56F7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7</a:t>
              </a:fld>
              <a:endParaRPr lang="en-US" sz="900" dirty="0"/>
            </a:p>
          </p:txBody>
        </p: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05EEB5F1-7C1E-4D4D-A45F-5D10C399C17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583" b="90000" l="9962" r="93487">
                        <a14:foregroundMark x1="57471" y1="69167" x2="60920" y2="70000"/>
                        <a14:foregroundMark x1="28736" y1="35833" x2="28736" y2="35833"/>
                        <a14:foregroundMark x1="38697" y1="37500" x2="38697" y2="37500"/>
                        <a14:foregroundMark x1="50192" y1="38750" x2="50192" y2="38750"/>
                        <a14:foregroundMark x1="60153" y1="47917" x2="60153" y2="47917"/>
                        <a14:foregroundMark x1="70115" y1="38750" x2="70115" y2="38750"/>
                        <a14:foregroundMark x1="93487" y1="46667" x2="93487" y2="46667"/>
                        <a14:foregroundMark x1="49808" y1="4583" x2="49808" y2="4583"/>
                        <a14:foregroundMark x1="78927" y1="76250" x2="78927" y2="76250"/>
                        <a14:foregroundMark x1="85057" y1="76667" x2="85057" y2="76667"/>
                        <a14:foregroundMark x1="72414" y1="76250" x2="72414" y2="76250"/>
                        <a14:foregroundMark x1="72414" y1="76250" x2="72414" y2="76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8421" y="3427713"/>
            <a:ext cx="594537" cy="54344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2DF67676-AC72-4F90-982A-31FCDDAF12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1639" r="100000">
                        <a14:foregroundMark x1="1639" y1="23293" x2="1639" y2="23293"/>
                        <a14:foregroundMark x1="59426" y1="55823" x2="59426" y2="55823"/>
                        <a14:foregroundMark x1="39754" y1="53815" x2="39754" y2="53815"/>
                        <a14:foregroundMark x1="50000" y1="58233" x2="50000" y2="58233"/>
                        <a14:foregroundMark x1="49180" y1="62651" x2="49180" y2="6265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05594" y="3478901"/>
            <a:ext cx="407452" cy="413323"/>
          </a:xfrm>
          <a:prstGeom prst="rect">
            <a:avLst/>
          </a:prstGeom>
        </p:spPr>
      </p:pic>
      <p:sp>
        <p:nvSpPr>
          <p:cNvPr id="93" name="Rechteck 2169">
            <a:extLst>
              <a:ext uri="{FF2B5EF4-FFF2-40B4-BE49-F238E27FC236}">
                <a16:creationId xmlns:a16="http://schemas.microsoft.com/office/drawing/2014/main" id="{12CF5278-751F-45D4-8830-21B5013FDBDE}"/>
              </a:ext>
            </a:extLst>
          </p:cNvPr>
          <p:cNvSpPr>
            <a:spLocks/>
          </p:cNvSpPr>
          <p:nvPr/>
        </p:nvSpPr>
        <p:spPr bwMode="gray">
          <a:xfrm>
            <a:off x="5963923" y="4028170"/>
            <a:ext cx="1408615" cy="7811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统计与分析</a:t>
            </a: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6" name="Rechteck 2169">
            <a:extLst>
              <a:ext uri="{FF2B5EF4-FFF2-40B4-BE49-F238E27FC236}">
                <a16:creationId xmlns:a16="http://schemas.microsoft.com/office/drawing/2014/main" id="{1D11B7AE-2529-498B-B71D-D59086619C54}"/>
              </a:ext>
            </a:extLst>
          </p:cNvPr>
          <p:cNvSpPr>
            <a:spLocks/>
          </p:cNvSpPr>
          <p:nvPr/>
        </p:nvSpPr>
        <p:spPr bwMode="gray">
          <a:xfrm>
            <a:off x="7573582" y="4041596"/>
            <a:ext cx="1408615" cy="171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事件分析</a:t>
            </a: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判断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7" name="Straight Arrow Connector 31">
            <a:extLst>
              <a:ext uri="{FF2B5EF4-FFF2-40B4-BE49-F238E27FC236}">
                <a16:creationId xmlns:a16="http://schemas.microsoft.com/office/drawing/2014/main" id="{6AA4D1A5-443E-44AE-840F-CE39E53A8B03}"/>
              </a:ext>
            </a:extLst>
          </p:cNvPr>
          <p:cNvCxnSpPr>
            <a:cxnSpLocks/>
          </p:cNvCxnSpPr>
          <p:nvPr/>
        </p:nvCxnSpPr>
        <p:spPr>
          <a:xfrm>
            <a:off x="5313152" y="3738835"/>
            <a:ext cx="828637" cy="183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31">
            <a:extLst>
              <a:ext uri="{FF2B5EF4-FFF2-40B4-BE49-F238E27FC236}">
                <a16:creationId xmlns:a16="http://schemas.microsoft.com/office/drawing/2014/main" id="{3E7CC9B9-CBE0-43E1-957D-8232907BC0E5}"/>
              </a:ext>
            </a:extLst>
          </p:cNvPr>
          <p:cNvCxnSpPr>
            <a:cxnSpLocks/>
          </p:cNvCxnSpPr>
          <p:nvPr/>
        </p:nvCxnSpPr>
        <p:spPr>
          <a:xfrm>
            <a:off x="7041108" y="3730202"/>
            <a:ext cx="828637" cy="183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B2AA97D-3CD5-4B29-930F-4537EDFCBFE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41720" y="65234"/>
            <a:ext cx="2882771" cy="760819"/>
          </a:xfrm>
          <a:prstGeom prst="rect">
            <a:avLst/>
          </a:prstGeom>
        </p:spPr>
      </p:pic>
      <p:sp>
        <p:nvSpPr>
          <p:cNvPr id="281" name="Rechteck 6">
            <a:extLst>
              <a:ext uri="{FF2B5EF4-FFF2-40B4-BE49-F238E27FC236}">
                <a16:creationId xmlns:a16="http://schemas.microsoft.com/office/drawing/2014/main" id="{E96C5988-178E-4CB8-ABB2-D8562B098DCE}"/>
              </a:ext>
            </a:extLst>
          </p:cNvPr>
          <p:cNvSpPr>
            <a:spLocks/>
          </p:cNvSpPr>
          <p:nvPr/>
        </p:nvSpPr>
        <p:spPr bwMode="gray">
          <a:xfrm>
            <a:off x="719280" y="897882"/>
            <a:ext cx="10559097" cy="1801253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zh-CN" sz="1199" b="1" dirty="0">
                <a:solidFill>
                  <a:srgbClr val="4BB9B9"/>
                </a:solidFill>
              </a:rPr>
              <a:t>Services/Apps</a:t>
            </a:r>
          </a:p>
        </p:txBody>
      </p:sp>
      <p:sp>
        <p:nvSpPr>
          <p:cNvPr id="99" name="NumBox 1">
            <a:extLst>
              <a:ext uri="{FF2B5EF4-FFF2-40B4-BE49-F238E27FC236}">
                <a16:creationId xmlns:a16="http://schemas.microsoft.com/office/drawing/2014/main" id="{D0D58A8E-178A-4305-81DA-951DEA3196CF}"/>
              </a:ext>
            </a:extLst>
          </p:cNvPr>
          <p:cNvSpPr/>
          <p:nvPr/>
        </p:nvSpPr>
        <p:spPr>
          <a:xfrm>
            <a:off x="7152047" y="2547015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100" name="Straight Arrow Connector 31">
            <a:extLst>
              <a:ext uri="{FF2B5EF4-FFF2-40B4-BE49-F238E27FC236}">
                <a16:creationId xmlns:a16="http://schemas.microsoft.com/office/drawing/2014/main" id="{EFCACAB8-EE8C-47A3-BF11-374CEE2D283D}"/>
              </a:ext>
            </a:extLst>
          </p:cNvPr>
          <p:cNvCxnSpPr>
            <a:cxnSpLocks/>
          </p:cNvCxnSpPr>
          <p:nvPr/>
        </p:nvCxnSpPr>
        <p:spPr>
          <a:xfrm>
            <a:off x="7567804" y="2442677"/>
            <a:ext cx="0" cy="490964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70A69FF-894B-4A04-858A-38B022E3F68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57929" y="1299810"/>
            <a:ext cx="4350032" cy="112928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D6C692BB-A379-46AC-B7A3-591B4965203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5162" y="4800941"/>
            <a:ext cx="3608648" cy="952392"/>
          </a:xfrm>
          <a:prstGeom prst="rect">
            <a:avLst/>
          </a:prstGeom>
        </p:spPr>
      </p:pic>
      <p:sp>
        <p:nvSpPr>
          <p:cNvPr id="102" name="Speech Bubble: Rectangle with Corners Rounded 101">
            <a:extLst>
              <a:ext uri="{FF2B5EF4-FFF2-40B4-BE49-F238E27FC236}">
                <a16:creationId xmlns:a16="http://schemas.microsoft.com/office/drawing/2014/main" id="{775C0DEC-8B89-4BD9-A0F5-6E4ABB7C3984}"/>
              </a:ext>
            </a:extLst>
          </p:cNvPr>
          <p:cNvSpPr/>
          <p:nvPr/>
        </p:nvSpPr>
        <p:spPr>
          <a:xfrm>
            <a:off x="5000309" y="4822892"/>
            <a:ext cx="3608648" cy="1418617"/>
          </a:xfrm>
          <a:prstGeom prst="wedgeRoundRectCallout">
            <a:avLst>
              <a:gd name="adj1" fmla="val -65587"/>
              <a:gd name="adj2" fmla="val -7518"/>
              <a:gd name="adj3" fmla="val 16667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altLang="zh-CN" dirty="0"/>
              <a:t>Target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实现信号特征分析，提供客观的基于数据的分析判定结果</a:t>
            </a:r>
            <a:endParaRPr lang="en-US" dirty="0"/>
          </a:p>
        </p:txBody>
      </p:sp>
      <p:sp>
        <p:nvSpPr>
          <p:cNvPr id="40" name="Rechteck 2169">
            <a:extLst>
              <a:ext uri="{FF2B5EF4-FFF2-40B4-BE49-F238E27FC236}">
                <a16:creationId xmlns:a16="http://schemas.microsoft.com/office/drawing/2014/main" id="{14096A3F-F2BF-4FAD-A97E-1AFAA5EEB23D}"/>
              </a:ext>
            </a:extLst>
          </p:cNvPr>
          <p:cNvSpPr>
            <a:spLocks/>
          </p:cNvSpPr>
          <p:nvPr/>
        </p:nvSpPr>
        <p:spPr bwMode="gray">
          <a:xfrm>
            <a:off x="9535682" y="3441864"/>
            <a:ext cx="1408615" cy="171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：建议基于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1/3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OCT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输出各频带值进行分析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B8FC381B-0F92-40FE-98A3-E82080DE39C0}"/>
              </a:ext>
            </a:extLst>
          </p:cNvPr>
          <p:cNvSpPr/>
          <p:nvPr/>
        </p:nvSpPr>
        <p:spPr>
          <a:xfrm>
            <a:off x="121186" y="1503437"/>
            <a:ext cx="1572363" cy="1267527"/>
          </a:xfrm>
          <a:prstGeom prst="wedgeRoundRectCallout">
            <a:avLst>
              <a:gd name="adj1" fmla="val 63607"/>
              <a:gd name="adj2" fmla="val -37855"/>
              <a:gd name="adj3" fmla="val 16667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altLang="zh-CN" dirty="0"/>
              <a:t>Cost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￥</a:t>
            </a:r>
            <a:r>
              <a:rPr lang="en-US" altLang="zh-CN" dirty="0"/>
              <a:t>234,000 , Ray</a:t>
            </a:r>
            <a:r>
              <a:rPr lang="zh-CN" altLang="en-US" dirty="0"/>
              <a:t>和</a:t>
            </a:r>
            <a:r>
              <a:rPr lang="en-US" altLang="zh-CN" dirty="0"/>
              <a:t>SDR</a:t>
            </a:r>
            <a:r>
              <a:rPr lang="zh-CN" altLang="en-US" dirty="0"/>
              <a:t>类型产品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3819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2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itchFamily="34" charset="0"/>
              </a:rPr>
              <a:t>Prototype 3.0 </a:t>
            </a:r>
            <a:r>
              <a:rPr lang="zh-CN" altLang="en-US" dirty="0">
                <a:latin typeface="Arial" pitchFamily="34" charset="0"/>
              </a:rPr>
              <a:t>产品噪声质量追溯 应用</a:t>
            </a:r>
            <a:br>
              <a:rPr lang="en-US" altLang="zh-CN" dirty="0">
                <a:latin typeface="Arial" pitchFamily="34" charset="0"/>
              </a:rPr>
            </a:br>
            <a:br>
              <a:rPr lang="en-US" altLang="zh-CN" dirty="0">
                <a:latin typeface="Arial" pitchFamily="34" charset="0"/>
              </a:rPr>
            </a:br>
            <a:endParaRPr lang="en-US" dirty="0">
              <a:latin typeface="Arial" pitchFamily="34" charset="0"/>
            </a:endParaRPr>
          </a:p>
        </p:txBody>
      </p:sp>
      <p:sp>
        <p:nvSpPr>
          <p:cNvPr id="281" name="Rechteck 6">
            <a:extLst>
              <a:ext uri="{FF2B5EF4-FFF2-40B4-BE49-F238E27FC236}">
                <a16:creationId xmlns:a16="http://schemas.microsoft.com/office/drawing/2014/main" id="{E96C5988-178E-4CB8-ABB2-D8562B098DCE}"/>
              </a:ext>
            </a:extLst>
          </p:cNvPr>
          <p:cNvSpPr>
            <a:spLocks/>
          </p:cNvSpPr>
          <p:nvPr/>
        </p:nvSpPr>
        <p:spPr bwMode="gray">
          <a:xfrm>
            <a:off x="719280" y="1040148"/>
            <a:ext cx="10559097" cy="1658987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zh-CN" sz="1199" b="1" dirty="0">
                <a:solidFill>
                  <a:srgbClr val="4BB9B9"/>
                </a:solidFill>
              </a:rPr>
              <a:t>Services/Apps</a:t>
            </a:r>
          </a:p>
        </p:txBody>
      </p:sp>
      <p:sp>
        <p:nvSpPr>
          <p:cNvPr id="282" name="Rechteck 7">
            <a:extLst>
              <a:ext uri="{FF2B5EF4-FFF2-40B4-BE49-F238E27FC236}">
                <a16:creationId xmlns:a16="http://schemas.microsoft.com/office/drawing/2014/main" id="{18D73F59-4FE9-4FE1-BD77-92B2E0CCEAA5}"/>
              </a:ext>
            </a:extLst>
          </p:cNvPr>
          <p:cNvSpPr>
            <a:spLocks/>
          </p:cNvSpPr>
          <p:nvPr/>
        </p:nvSpPr>
        <p:spPr bwMode="gray">
          <a:xfrm>
            <a:off x="719280" y="2834183"/>
            <a:ext cx="10559097" cy="1610355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Edge Level</a:t>
            </a:r>
            <a:endParaRPr lang="en-US" sz="1199" b="1" dirty="0">
              <a:solidFill>
                <a:srgbClr val="4BB9B9"/>
              </a:solidFill>
            </a:endParaRPr>
          </a:p>
        </p:txBody>
      </p:sp>
      <p:sp>
        <p:nvSpPr>
          <p:cNvPr id="51" name="Textfeld 899">
            <a:extLst>
              <a:ext uri="{FF2B5EF4-FFF2-40B4-BE49-F238E27FC236}">
                <a16:creationId xmlns:a16="http://schemas.microsoft.com/office/drawing/2014/main" id="{69D5C046-2215-4A2A-8EC4-D68FC98F19D1}"/>
              </a:ext>
            </a:extLst>
          </p:cNvPr>
          <p:cNvSpPr txBox="1">
            <a:spLocks/>
          </p:cNvSpPr>
          <p:nvPr/>
        </p:nvSpPr>
        <p:spPr bwMode="gray">
          <a:xfrm>
            <a:off x="7387120" y="6445137"/>
            <a:ext cx="4365212" cy="1350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* 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Take one test room as example</a:t>
            </a:r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in 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the architecture</a:t>
            </a:r>
            <a:endParaRPr lang="en-US" sz="999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0" name="Freeform 25">
            <a:extLst>
              <a:ext uri="{FF2B5EF4-FFF2-40B4-BE49-F238E27FC236}">
                <a16:creationId xmlns:a16="http://schemas.microsoft.com/office/drawing/2014/main" id="{C40CF975-4079-4585-BD59-2B67B1F0834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28958" y="3345817"/>
            <a:ext cx="628971" cy="506764"/>
          </a:xfrm>
          <a:custGeom>
            <a:avLst/>
            <a:gdLst>
              <a:gd name="T0" fmla="*/ 192 w 560"/>
              <a:gd name="T1" fmla="*/ 133 h 451"/>
              <a:gd name="T2" fmla="*/ 233 w 560"/>
              <a:gd name="T3" fmla="*/ 92 h 451"/>
              <a:gd name="T4" fmla="*/ 275 w 560"/>
              <a:gd name="T5" fmla="*/ 133 h 451"/>
              <a:gd name="T6" fmla="*/ 233 w 560"/>
              <a:gd name="T7" fmla="*/ 175 h 451"/>
              <a:gd name="T8" fmla="*/ 192 w 560"/>
              <a:gd name="T9" fmla="*/ 133 h 451"/>
              <a:gd name="T10" fmla="*/ 444 w 560"/>
              <a:gd name="T11" fmla="*/ 175 h 451"/>
              <a:gd name="T12" fmla="*/ 486 w 560"/>
              <a:gd name="T13" fmla="*/ 133 h 451"/>
              <a:gd name="T14" fmla="*/ 444 w 560"/>
              <a:gd name="T15" fmla="*/ 92 h 451"/>
              <a:gd name="T16" fmla="*/ 402 w 560"/>
              <a:gd name="T17" fmla="*/ 133 h 451"/>
              <a:gd name="T18" fmla="*/ 444 w 560"/>
              <a:gd name="T19" fmla="*/ 175 h 451"/>
              <a:gd name="T20" fmla="*/ 166 w 560"/>
              <a:gd name="T21" fmla="*/ 141 h 451"/>
              <a:gd name="T22" fmla="*/ 101 w 560"/>
              <a:gd name="T23" fmla="*/ 141 h 451"/>
              <a:gd name="T24" fmla="*/ 101 w 560"/>
              <a:gd name="T25" fmla="*/ 259 h 451"/>
              <a:gd name="T26" fmla="*/ 219 w 560"/>
              <a:gd name="T27" fmla="*/ 259 h 451"/>
              <a:gd name="T28" fmla="*/ 219 w 560"/>
              <a:gd name="T29" fmla="*/ 194 h 451"/>
              <a:gd name="T30" fmla="*/ 166 w 560"/>
              <a:gd name="T31" fmla="*/ 141 h 451"/>
              <a:gd name="T32" fmla="*/ 376 w 560"/>
              <a:gd name="T33" fmla="*/ 141 h 451"/>
              <a:gd name="T34" fmla="*/ 311 w 560"/>
              <a:gd name="T35" fmla="*/ 141 h 451"/>
              <a:gd name="T36" fmla="*/ 311 w 560"/>
              <a:gd name="T37" fmla="*/ 259 h 451"/>
              <a:gd name="T38" fmla="*/ 429 w 560"/>
              <a:gd name="T39" fmla="*/ 259 h 451"/>
              <a:gd name="T40" fmla="*/ 429 w 560"/>
              <a:gd name="T41" fmla="*/ 194 h 451"/>
              <a:gd name="T42" fmla="*/ 376 w 560"/>
              <a:gd name="T43" fmla="*/ 141 h 451"/>
              <a:gd name="T44" fmla="*/ 560 w 560"/>
              <a:gd name="T45" fmla="*/ 27 h 451"/>
              <a:gd name="T46" fmla="*/ 560 w 560"/>
              <a:gd name="T47" fmla="*/ 341 h 451"/>
              <a:gd name="T48" fmla="*/ 532 w 560"/>
              <a:gd name="T49" fmla="*/ 369 h 451"/>
              <a:gd name="T50" fmla="*/ 327 w 560"/>
              <a:gd name="T51" fmla="*/ 369 h 451"/>
              <a:gd name="T52" fmla="*/ 327 w 560"/>
              <a:gd name="T53" fmla="*/ 423 h 451"/>
              <a:gd name="T54" fmla="*/ 396 w 560"/>
              <a:gd name="T55" fmla="*/ 423 h 451"/>
              <a:gd name="T56" fmla="*/ 396 w 560"/>
              <a:gd name="T57" fmla="*/ 451 h 451"/>
              <a:gd name="T58" fmla="*/ 164 w 560"/>
              <a:gd name="T59" fmla="*/ 451 h 451"/>
              <a:gd name="T60" fmla="*/ 164 w 560"/>
              <a:gd name="T61" fmla="*/ 423 h 451"/>
              <a:gd name="T62" fmla="*/ 232 w 560"/>
              <a:gd name="T63" fmla="*/ 423 h 451"/>
              <a:gd name="T64" fmla="*/ 232 w 560"/>
              <a:gd name="T65" fmla="*/ 369 h 451"/>
              <a:gd name="T66" fmla="*/ 27 w 560"/>
              <a:gd name="T67" fmla="*/ 369 h 451"/>
              <a:gd name="T68" fmla="*/ 0 w 560"/>
              <a:gd name="T69" fmla="*/ 341 h 451"/>
              <a:gd name="T70" fmla="*/ 0 w 560"/>
              <a:gd name="T71" fmla="*/ 27 h 451"/>
              <a:gd name="T72" fmla="*/ 27 w 560"/>
              <a:gd name="T73" fmla="*/ 0 h 451"/>
              <a:gd name="T74" fmla="*/ 532 w 560"/>
              <a:gd name="T75" fmla="*/ 0 h 451"/>
              <a:gd name="T76" fmla="*/ 560 w 560"/>
              <a:gd name="T77" fmla="*/ 27 h 451"/>
              <a:gd name="T78" fmla="*/ 27 w 560"/>
              <a:gd name="T79" fmla="*/ 27 h 451"/>
              <a:gd name="T80" fmla="*/ 27 w 560"/>
              <a:gd name="T81" fmla="*/ 341 h 451"/>
              <a:gd name="T82" fmla="*/ 532 w 560"/>
              <a:gd name="T83" fmla="*/ 341 h 451"/>
              <a:gd name="T84" fmla="*/ 532 w 560"/>
              <a:gd name="T85" fmla="*/ 27 h 451"/>
              <a:gd name="T86" fmla="*/ 27 w 560"/>
              <a:gd name="T87" fmla="*/ 27 h 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60" h="451">
                <a:moveTo>
                  <a:pt x="192" y="133"/>
                </a:moveTo>
                <a:cubicBezTo>
                  <a:pt x="233" y="92"/>
                  <a:pt x="233" y="92"/>
                  <a:pt x="233" y="92"/>
                </a:cubicBezTo>
                <a:cubicBezTo>
                  <a:pt x="275" y="133"/>
                  <a:pt x="275" y="133"/>
                  <a:pt x="275" y="133"/>
                </a:cubicBezTo>
                <a:cubicBezTo>
                  <a:pt x="233" y="175"/>
                  <a:pt x="233" y="175"/>
                  <a:pt x="233" y="175"/>
                </a:cubicBezTo>
                <a:lnTo>
                  <a:pt x="192" y="133"/>
                </a:lnTo>
                <a:close/>
                <a:moveTo>
                  <a:pt x="444" y="175"/>
                </a:moveTo>
                <a:cubicBezTo>
                  <a:pt x="486" y="133"/>
                  <a:pt x="486" y="133"/>
                  <a:pt x="486" y="133"/>
                </a:cubicBezTo>
                <a:cubicBezTo>
                  <a:pt x="444" y="92"/>
                  <a:pt x="444" y="92"/>
                  <a:pt x="444" y="92"/>
                </a:cubicBezTo>
                <a:cubicBezTo>
                  <a:pt x="402" y="133"/>
                  <a:pt x="402" y="133"/>
                  <a:pt x="402" y="133"/>
                </a:cubicBezTo>
                <a:lnTo>
                  <a:pt x="444" y="175"/>
                </a:lnTo>
                <a:close/>
                <a:moveTo>
                  <a:pt x="166" y="141"/>
                </a:moveTo>
                <a:cubicBezTo>
                  <a:pt x="101" y="141"/>
                  <a:pt x="101" y="141"/>
                  <a:pt x="101" y="141"/>
                </a:cubicBezTo>
                <a:cubicBezTo>
                  <a:pt x="101" y="259"/>
                  <a:pt x="101" y="259"/>
                  <a:pt x="101" y="259"/>
                </a:cubicBezTo>
                <a:cubicBezTo>
                  <a:pt x="219" y="259"/>
                  <a:pt x="219" y="259"/>
                  <a:pt x="219" y="259"/>
                </a:cubicBezTo>
                <a:cubicBezTo>
                  <a:pt x="219" y="194"/>
                  <a:pt x="219" y="194"/>
                  <a:pt x="219" y="194"/>
                </a:cubicBezTo>
                <a:lnTo>
                  <a:pt x="166" y="141"/>
                </a:lnTo>
                <a:close/>
                <a:moveTo>
                  <a:pt x="376" y="141"/>
                </a:moveTo>
                <a:cubicBezTo>
                  <a:pt x="311" y="141"/>
                  <a:pt x="311" y="141"/>
                  <a:pt x="311" y="141"/>
                </a:cubicBezTo>
                <a:cubicBezTo>
                  <a:pt x="311" y="259"/>
                  <a:pt x="311" y="259"/>
                  <a:pt x="311" y="259"/>
                </a:cubicBezTo>
                <a:cubicBezTo>
                  <a:pt x="429" y="259"/>
                  <a:pt x="429" y="259"/>
                  <a:pt x="429" y="259"/>
                </a:cubicBezTo>
                <a:cubicBezTo>
                  <a:pt x="429" y="194"/>
                  <a:pt x="429" y="194"/>
                  <a:pt x="429" y="194"/>
                </a:cubicBezTo>
                <a:lnTo>
                  <a:pt x="376" y="141"/>
                </a:lnTo>
                <a:close/>
                <a:moveTo>
                  <a:pt x="560" y="27"/>
                </a:moveTo>
                <a:cubicBezTo>
                  <a:pt x="560" y="341"/>
                  <a:pt x="560" y="341"/>
                  <a:pt x="560" y="341"/>
                </a:cubicBezTo>
                <a:cubicBezTo>
                  <a:pt x="560" y="356"/>
                  <a:pt x="547" y="369"/>
                  <a:pt x="532" y="369"/>
                </a:cubicBezTo>
                <a:cubicBezTo>
                  <a:pt x="327" y="369"/>
                  <a:pt x="327" y="369"/>
                  <a:pt x="327" y="369"/>
                </a:cubicBezTo>
                <a:cubicBezTo>
                  <a:pt x="327" y="423"/>
                  <a:pt x="327" y="423"/>
                  <a:pt x="327" y="423"/>
                </a:cubicBezTo>
                <a:cubicBezTo>
                  <a:pt x="396" y="423"/>
                  <a:pt x="396" y="423"/>
                  <a:pt x="396" y="423"/>
                </a:cubicBezTo>
                <a:cubicBezTo>
                  <a:pt x="396" y="451"/>
                  <a:pt x="396" y="451"/>
                  <a:pt x="396" y="451"/>
                </a:cubicBezTo>
                <a:cubicBezTo>
                  <a:pt x="164" y="451"/>
                  <a:pt x="164" y="451"/>
                  <a:pt x="164" y="451"/>
                </a:cubicBezTo>
                <a:cubicBezTo>
                  <a:pt x="164" y="423"/>
                  <a:pt x="164" y="423"/>
                  <a:pt x="164" y="423"/>
                </a:cubicBezTo>
                <a:cubicBezTo>
                  <a:pt x="232" y="423"/>
                  <a:pt x="232" y="423"/>
                  <a:pt x="232" y="423"/>
                </a:cubicBezTo>
                <a:cubicBezTo>
                  <a:pt x="232" y="369"/>
                  <a:pt x="232" y="369"/>
                  <a:pt x="232" y="369"/>
                </a:cubicBezTo>
                <a:cubicBezTo>
                  <a:pt x="27" y="369"/>
                  <a:pt x="27" y="369"/>
                  <a:pt x="27" y="369"/>
                </a:cubicBezTo>
                <a:cubicBezTo>
                  <a:pt x="12" y="369"/>
                  <a:pt x="0" y="356"/>
                  <a:pt x="0" y="341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532" y="0"/>
                  <a:pt x="532" y="0"/>
                  <a:pt x="532" y="0"/>
                </a:cubicBezTo>
                <a:cubicBezTo>
                  <a:pt x="547" y="0"/>
                  <a:pt x="560" y="12"/>
                  <a:pt x="560" y="27"/>
                </a:cubicBezTo>
                <a:close/>
                <a:moveTo>
                  <a:pt x="27" y="27"/>
                </a:moveTo>
                <a:cubicBezTo>
                  <a:pt x="27" y="341"/>
                  <a:pt x="27" y="341"/>
                  <a:pt x="27" y="341"/>
                </a:cubicBezTo>
                <a:cubicBezTo>
                  <a:pt x="532" y="341"/>
                  <a:pt x="532" y="341"/>
                  <a:pt x="532" y="341"/>
                </a:cubicBezTo>
                <a:cubicBezTo>
                  <a:pt x="532" y="27"/>
                  <a:pt x="532" y="27"/>
                  <a:pt x="532" y="27"/>
                </a:cubicBezTo>
                <a:lnTo>
                  <a:pt x="27" y="27"/>
                </a:lnTo>
                <a:close/>
              </a:path>
            </a:pathLst>
          </a:custGeom>
          <a:solidFill>
            <a:srgbClr val="41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 dirty="0"/>
          </a:p>
        </p:txBody>
      </p:sp>
      <p:sp>
        <p:nvSpPr>
          <p:cNvPr id="71" name="Rechteck 2169">
            <a:extLst>
              <a:ext uri="{FF2B5EF4-FFF2-40B4-BE49-F238E27FC236}">
                <a16:creationId xmlns:a16="http://schemas.microsoft.com/office/drawing/2014/main" id="{32A22A55-4F19-4567-B9FA-DF5731649276}"/>
              </a:ext>
            </a:extLst>
          </p:cNvPr>
          <p:cNvSpPr>
            <a:spLocks/>
          </p:cNvSpPr>
          <p:nvPr/>
        </p:nvSpPr>
        <p:spPr bwMode="gray">
          <a:xfrm>
            <a:off x="913623" y="3948960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Server / PC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225E718-14DF-49B5-BFF3-D1EA7832FD4B}"/>
              </a:ext>
            </a:extLst>
          </p:cNvPr>
          <p:cNvGrpSpPr/>
          <p:nvPr/>
        </p:nvGrpSpPr>
        <p:grpSpPr>
          <a:xfrm>
            <a:off x="2579594" y="2933641"/>
            <a:ext cx="6812627" cy="1363891"/>
            <a:chOff x="2120212" y="1323706"/>
            <a:chExt cx="1986622" cy="1364602"/>
          </a:xfrm>
        </p:grpSpPr>
        <p:sp>
          <p:nvSpPr>
            <p:cNvPr id="77" name="Rechteck 44">
              <a:extLst>
                <a:ext uri="{FF2B5EF4-FFF2-40B4-BE49-F238E27FC236}">
                  <a16:creationId xmlns:a16="http://schemas.microsoft.com/office/drawing/2014/main" id="{B903E59D-EA28-4714-8F34-DE93C050C11A}"/>
                </a:ext>
              </a:extLst>
            </p:cNvPr>
            <p:cNvSpPr>
              <a:spLocks/>
            </p:cNvSpPr>
            <p:nvPr/>
          </p:nvSpPr>
          <p:spPr bwMode="gray">
            <a:xfrm>
              <a:off x="2120212" y="1481274"/>
              <a:ext cx="1986622" cy="1207034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sp>
          <p:nvSpPr>
            <p:cNvPr id="76" name="Rechteck 416">
              <a:extLst>
                <a:ext uri="{FF2B5EF4-FFF2-40B4-BE49-F238E27FC236}">
                  <a16:creationId xmlns:a16="http://schemas.microsoft.com/office/drawing/2014/main" id="{8CE462DE-3A99-45BF-B91B-2AA332828273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3486" y="1323706"/>
              <a:ext cx="1910120" cy="321733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数据收集 </a:t>
              </a: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&amp; </a:t>
              </a: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边缘计算</a:t>
              </a:r>
              <a:endParaRPr lang="en-US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8B849A4C-580A-4825-9BEB-0E5EAB06BE5D}"/>
              </a:ext>
            </a:extLst>
          </p:cNvPr>
          <p:cNvSpPr/>
          <p:nvPr/>
        </p:nvSpPr>
        <p:spPr>
          <a:xfrm>
            <a:off x="4609757" y="3399808"/>
            <a:ext cx="511596" cy="580844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41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91" name="Rechteck 2169">
            <a:extLst>
              <a:ext uri="{FF2B5EF4-FFF2-40B4-BE49-F238E27FC236}">
                <a16:creationId xmlns:a16="http://schemas.microsoft.com/office/drawing/2014/main" id="{36DBEA9E-CD87-4B4E-BD2E-9BBF2273F40B}"/>
              </a:ext>
            </a:extLst>
          </p:cNvPr>
          <p:cNvSpPr>
            <a:spLocks/>
          </p:cNvSpPr>
          <p:nvPr/>
        </p:nvSpPr>
        <p:spPr bwMode="gray">
          <a:xfrm>
            <a:off x="4374309" y="4043322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时序数据存储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3426457-CA46-4271-90D8-B01A395E56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583" b="90000" l="9962" r="93487">
                        <a14:foregroundMark x1="57471" y1="69167" x2="60920" y2="70000"/>
                        <a14:foregroundMark x1="28736" y1="35833" x2="28736" y2="35833"/>
                        <a14:foregroundMark x1="38697" y1="37500" x2="38697" y2="37500"/>
                        <a14:foregroundMark x1="50192" y1="38750" x2="50192" y2="38750"/>
                        <a14:foregroundMark x1="60153" y1="47917" x2="60153" y2="47917"/>
                        <a14:foregroundMark x1="70115" y1="38750" x2="70115" y2="38750"/>
                        <a14:foregroundMark x1="93487" y1="46667" x2="93487" y2="46667"/>
                        <a14:foregroundMark x1="49808" y1="4583" x2="49808" y2="4583"/>
                        <a14:foregroundMark x1="78927" y1="76250" x2="78927" y2="76250"/>
                        <a14:foregroundMark x1="85057" y1="76667" x2="85057" y2="76667"/>
                        <a14:foregroundMark x1="72414" y1="76250" x2="72414" y2="76250"/>
                        <a14:foregroundMark x1="72414" y1="76250" x2="72414" y2="76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8421" y="3427713"/>
            <a:ext cx="594537" cy="543442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53CA0E9D-9EDC-4979-B605-A251217AC9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921" b="94048" l="5622" r="89960">
                        <a14:foregroundMark x1="48594" y1="46429" x2="48594" y2="46429"/>
                        <a14:foregroundMark x1="29317" y1="77778" x2="29317" y2="77778"/>
                        <a14:foregroundMark x1="18072" y1="47619" x2="18072" y2="47619"/>
                        <a14:foregroundMark x1="18876" y1="43651" x2="18876" y2="43651"/>
                        <a14:foregroundMark x1="6024" y1="79762" x2="6024" y2="79762"/>
                        <a14:foregroundMark x1="53414" y1="94048" x2="53414" y2="940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4563" y="3398649"/>
            <a:ext cx="511596" cy="514673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890E24E5-0989-4AE9-8761-1B5D85A5333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1639" r="100000">
                        <a14:foregroundMark x1="1639" y1="23293" x2="1639" y2="23293"/>
                        <a14:foregroundMark x1="59426" y1="55823" x2="59426" y2="55823"/>
                        <a14:foregroundMark x1="39754" y1="53815" x2="39754" y2="53815"/>
                        <a14:foregroundMark x1="50000" y1="58233" x2="50000" y2="58233"/>
                        <a14:foregroundMark x1="49180" y1="62651" x2="49180" y2="6265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05594" y="3478901"/>
            <a:ext cx="407452" cy="413323"/>
          </a:xfrm>
          <a:prstGeom prst="rect">
            <a:avLst/>
          </a:prstGeom>
        </p:spPr>
      </p:pic>
      <p:sp>
        <p:nvSpPr>
          <p:cNvPr id="86" name="Rechteck 2169">
            <a:extLst>
              <a:ext uri="{FF2B5EF4-FFF2-40B4-BE49-F238E27FC236}">
                <a16:creationId xmlns:a16="http://schemas.microsoft.com/office/drawing/2014/main" id="{68E87BFD-ADEB-4111-9403-3E6C54DC1239}"/>
              </a:ext>
            </a:extLst>
          </p:cNvPr>
          <p:cNvSpPr>
            <a:spLocks/>
          </p:cNvSpPr>
          <p:nvPr/>
        </p:nvSpPr>
        <p:spPr bwMode="gray">
          <a:xfrm>
            <a:off x="2640434" y="4039487"/>
            <a:ext cx="1059853" cy="123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配置及数据获取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7" name="Rechteck 2169">
            <a:extLst>
              <a:ext uri="{FF2B5EF4-FFF2-40B4-BE49-F238E27FC236}">
                <a16:creationId xmlns:a16="http://schemas.microsoft.com/office/drawing/2014/main" id="{177A520A-5E78-4A79-B23D-A1ED84F85F9C}"/>
              </a:ext>
            </a:extLst>
          </p:cNvPr>
          <p:cNvSpPr>
            <a:spLocks/>
          </p:cNvSpPr>
          <p:nvPr/>
        </p:nvSpPr>
        <p:spPr bwMode="gray">
          <a:xfrm>
            <a:off x="5963923" y="4028170"/>
            <a:ext cx="1408615" cy="7811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统计与分析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8" name="Rechteck 2169">
            <a:extLst>
              <a:ext uri="{FF2B5EF4-FFF2-40B4-BE49-F238E27FC236}">
                <a16:creationId xmlns:a16="http://schemas.microsoft.com/office/drawing/2014/main" id="{63D515F5-DE6E-444A-975A-5BD8D1336904}"/>
              </a:ext>
            </a:extLst>
          </p:cNvPr>
          <p:cNvSpPr>
            <a:spLocks/>
          </p:cNvSpPr>
          <p:nvPr/>
        </p:nvSpPr>
        <p:spPr bwMode="gray">
          <a:xfrm>
            <a:off x="7573582" y="4041596"/>
            <a:ext cx="1408615" cy="1717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事件分析</a:t>
            </a:r>
            <a:r>
              <a:rPr lang="en-US" altLang="zh-CN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判断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0" name="Straight Arrow Connector 31">
            <a:extLst>
              <a:ext uri="{FF2B5EF4-FFF2-40B4-BE49-F238E27FC236}">
                <a16:creationId xmlns:a16="http://schemas.microsoft.com/office/drawing/2014/main" id="{8B8CF568-F06C-4383-8995-33E1F426C9AB}"/>
              </a:ext>
            </a:extLst>
          </p:cNvPr>
          <p:cNvCxnSpPr>
            <a:cxnSpLocks/>
          </p:cNvCxnSpPr>
          <p:nvPr/>
        </p:nvCxnSpPr>
        <p:spPr>
          <a:xfrm>
            <a:off x="3590478" y="3723315"/>
            <a:ext cx="828637" cy="183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31">
            <a:extLst>
              <a:ext uri="{FF2B5EF4-FFF2-40B4-BE49-F238E27FC236}">
                <a16:creationId xmlns:a16="http://schemas.microsoft.com/office/drawing/2014/main" id="{5D8C39E2-E344-4EB7-ACFE-915DF1A8B5B8}"/>
              </a:ext>
            </a:extLst>
          </p:cNvPr>
          <p:cNvCxnSpPr>
            <a:cxnSpLocks/>
          </p:cNvCxnSpPr>
          <p:nvPr/>
        </p:nvCxnSpPr>
        <p:spPr>
          <a:xfrm>
            <a:off x="5313152" y="3738835"/>
            <a:ext cx="828637" cy="183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31">
            <a:extLst>
              <a:ext uri="{FF2B5EF4-FFF2-40B4-BE49-F238E27FC236}">
                <a16:creationId xmlns:a16="http://schemas.microsoft.com/office/drawing/2014/main" id="{0DACDFDD-6C34-40CE-B1D3-3157C6AAB788}"/>
              </a:ext>
            </a:extLst>
          </p:cNvPr>
          <p:cNvCxnSpPr>
            <a:cxnSpLocks/>
          </p:cNvCxnSpPr>
          <p:nvPr/>
        </p:nvCxnSpPr>
        <p:spPr>
          <a:xfrm>
            <a:off x="7041108" y="3730202"/>
            <a:ext cx="828637" cy="1831"/>
          </a:xfrm>
          <a:prstGeom prst="straightConnector1">
            <a:avLst/>
          </a:prstGeom>
          <a:ln w="19050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A045817-412C-47C2-B4F7-9D1F60845548}"/>
              </a:ext>
            </a:extLst>
          </p:cNvPr>
          <p:cNvGrpSpPr/>
          <p:nvPr/>
        </p:nvGrpSpPr>
        <p:grpSpPr>
          <a:xfrm>
            <a:off x="2579594" y="1182888"/>
            <a:ext cx="4019510" cy="1306565"/>
            <a:chOff x="2008060" y="1381063"/>
            <a:chExt cx="2312362" cy="1307246"/>
          </a:xfrm>
        </p:grpSpPr>
        <p:sp>
          <p:nvSpPr>
            <p:cNvPr id="100" name="Rechteck 44">
              <a:extLst>
                <a:ext uri="{FF2B5EF4-FFF2-40B4-BE49-F238E27FC236}">
                  <a16:creationId xmlns:a16="http://schemas.microsoft.com/office/drawing/2014/main" id="{2A67388B-74C5-4631-80E3-223BF0B46883}"/>
                </a:ext>
              </a:extLst>
            </p:cNvPr>
            <p:cNvSpPr>
              <a:spLocks/>
            </p:cNvSpPr>
            <p:nvPr/>
          </p:nvSpPr>
          <p:spPr bwMode="gray">
            <a:xfrm>
              <a:off x="2008060" y="1534778"/>
              <a:ext cx="2312362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sp>
          <p:nvSpPr>
            <p:cNvPr id="101" name="Rechteck 416">
              <a:extLst>
                <a:ext uri="{FF2B5EF4-FFF2-40B4-BE49-F238E27FC236}">
                  <a16:creationId xmlns:a16="http://schemas.microsoft.com/office/drawing/2014/main" id="{D873384A-E41C-4433-A5E4-26E9FF6FAA30}"/>
                </a:ext>
              </a:extLst>
            </p:cNvPr>
            <p:cNvSpPr>
              <a:spLocks/>
            </p:cNvSpPr>
            <p:nvPr/>
          </p:nvSpPr>
          <p:spPr bwMode="gray">
            <a:xfrm>
              <a:off x="2176745" y="1381063"/>
              <a:ext cx="1983149" cy="32042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zh-CN" altLang="en-US" sz="10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质量追溯 应用</a:t>
              </a:r>
              <a:endParaRPr lang="en-US" sz="1000" b="1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103" name="Rechteck 2169">
            <a:extLst>
              <a:ext uri="{FF2B5EF4-FFF2-40B4-BE49-F238E27FC236}">
                <a16:creationId xmlns:a16="http://schemas.microsoft.com/office/drawing/2014/main" id="{83A2041F-FC1E-486B-A99E-21123CA8E234}"/>
              </a:ext>
            </a:extLst>
          </p:cNvPr>
          <p:cNvSpPr>
            <a:spLocks/>
          </p:cNvSpPr>
          <p:nvPr/>
        </p:nvSpPr>
        <p:spPr bwMode="gray">
          <a:xfrm>
            <a:off x="3453848" y="1692824"/>
            <a:ext cx="2887772" cy="8239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支持用户基于产品编号和时间查询测试数据，和客户端分析结果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Ø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实现对时间周期内的产品质量的统计和分析展示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2F54DA4C-E092-4BA6-AEB9-BA6809EECA2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99167" l="0" r="98667">
                        <a14:foregroundMark x1="95000" y1="20417" x2="95000" y2="20417"/>
                        <a14:foregroundMark x1="5000" y1="60000" x2="5000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58497" y="1677556"/>
            <a:ext cx="437868" cy="357145"/>
          </a:xfrm>
          <a:prstGeom prst="rect">
            <a:avLst/>
          </a:prstGeom>
          <a:noFill/>
        </p:spPr>
      </p:pic>
      <p:cxnSp>
        <p:nvCxnSpPr>
          <p:cNvPr id="106" name="Straight Arrow Connector 31">
            <a:extLst>
              <a:ext uri="{FF2B5EF4-FFF2-40B4-BE49-F238E27FC236}">
                <a16:creationId xmlns:a16="http://schemas.microsoft.com/office/drawing/2014/main" id="{C75205D3-9B77-4EDD-BA1A-613383088796}"/>
              </a:ext>
            </a:extLst>
          </p:cNvPr>
          <p:cNvCxnSpPr>
            <a:cxnSpLocks/>
          </p:cNvCxnSpPr>
          <p:nvPr/>
        </p:nvCxnSpPr>
        <p:spPr>
          <a:xfrm flipH="1">
            <a:off x="3952096" y="2488727"/>
            <a:ext cx="3264" cy="467352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NumBox 1">
            <a:extLst>
              <a:ext uri="{FF2B5EF4-FFF2-40B4-BE49-F238E27FC236}">
                <a16:creationId xmlns:a16="http://schemas.microsoft.com/office/drawing/2014/main" id="{6928D6E3-3D34-4D61-BC56-A6B10567FE59}"/>
              </a:ext>
            </a:extLst>
          </p:cNvPr>
          <p:cNvSpPr/>
          <p:nvPr/>
        </p:nvSpPr>
        <p:spPr>
          <a:xfrm>
            <a:off x="3599145" y="2551916"/>
            <a:ext cx="209848" cy="226806"/>
          </a:xfrm>
          <a:prstGeom prst="round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363"/>
            <a:r>
              <a:rPr lang="en-US" sz="1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0" name="Rechteck 2169">
            <a:extLst>
              <a:ext uri="{FF2B5EF4-FFF2-40B4-BE49-F238E27FC236}">
                <a16:creationId xmlns:a16="http://schemas.microsoft.com/office/drawing/2014/main" id="{88DEA7CC-7D82-4800-8BFD-BF2FE0964216}"/>
              </a:ext>
            </a:extLst>
          </p:cNvPr>
          <p:cNvSpPr>
            <a:spLocks/>
          </p:cNvSpPr>
          <p:nvPr/>
        </p:nvSpPr>
        <p:spPr bwMode="gray">
          <a:xfrm>
            <a:off x="2447504" y="2113313"/>
            <a:ext cx="1059853" cy="1353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Web</a:t>
            </a:r>
          </a:p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Service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97688C6-DAEB-4FD5-803E-2E1D21501EF4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114" name="Footer Placeholder 3">
              <a:extLst>
                <a:ext uri="{FF2B5EF4-FFF2-40B4-BE49-F238E27FC236}">
                  <a16:creationId xmlns:a16="http://schemas.microsoft.com/office/drawing/2014/main" id="{1786D965-215B-4921-8004-392B6109B2FB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115" name="Slide Number Placeholder 3">
              <a:extLst>
                <a:ext uri="{FF2B5EF4-FFF2-40B4-BE49-F238E27FC236}">
                  <a16:creationId xmlns:a16="http://schemas.microsoft.com/office/drawing/2014/main" id="{0B6945B4-54AE-4345-9A47-9EE0498D56F7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8</a:t>
              </a:fld>
              <a:endParaRPr lang="en-US" sz="900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32AB036-7330-467C-9F14-46716183CE1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3046" y="55009"/>
            <a:ext cx="2913135" cy="935410"/>
          </a:xfrm>
          <a:prstGeom prst="rect">
            <a:avLst/>
          </a:prstGeom>
        </p:spPr>
      </p:pic>
      <p:sp>
        <p:nvSpPr>
          <p:cNvPr id="97" name="Speech Bubble: Rectangle with Corners Rounded 96">
            <a:extLst>
              <a:ext uri="{FF2B5EF4-FFF2-40B4-BE49-F238E27FC236}">
                <a16:creationId xmlns:a16="http://schemas.microsoft.com/office/drawing/2014/main" id="{85693A17-2930-46D4-8AC5-870F67ECC512}"/>
              </a:ext>
            </a:extLst>
          </p:cNvPr>
          <p:cNvSpPr/>
          <p:nvPr/>
        </p:nvSpPr>
        <p:spPr>
          <a:xfrm>
            <a:off x="6110913" y="4772528"/>
            <a:ext cx="3789361" cy="1418617"/>
          </a:xfrm>
          <a:prstGeom prst="wedgeRoundRectCallout">
            <a:avLst>
              <a:gd name="adj1" fmla="val -62269"/>
              <a:gd name="adj2" fmla="val -29272"/>
              <a:gd name="adj3" fmla="val 16667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altLang="zh-CN" dirty="0"/>
              <a:t>Target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从数据的角度，实现产品数据追溯，统计噪声质量记录，直观展示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8F05C0-2D23-41D6-92F5-B943AC3F341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5391" y="4675532"/>
            <a:ext cx="4711771" cy="1537922"/>
          </a:xfrm>
          <a:prstGeom prst="rect">
            <a:avLst/>
          </a:prstGeom>
        </p:spPr>
      </p:pic>
      <p:sp>
        <p:nvSpPr>
          <p:cNvPr id="38" name="Speech Bubble: Rectangle with Corners Rounded 37">
            <a:extLst>
              <a:ext uri="{FF2B5EF4-FFF2-40B4-BE49-F238E27FC236}">
                <a16:creationId xmlns:a16="http://schemas.microsoft.com/office/drawing/2014/main" id="{9654D4B0-90EA-4BF0-90DD-B4FFB6C11E4C}"/>
              </a:ext>
            </a:extLst>
          </p:cNvPr>
          <p:cNvSpPr/>
          <p:nvPr/>
        </p:nvSpPr>
        <p:spPr>
          <a:xfrm>
            <a:off x="10285583" y="4782903"/>
            <a:ext cx="1572363" cy="1267527"/>
          </a:xfrm>
          <a:prstGeom prst="wedgeRoundRectCallout">
            <a:avLst>
              <a:gd name="adj1" fmla="val -82830"/>
              <a:gd name="adj2" fmla="val -20471"/>
              <a:gd name="adj3" fmla="val 16667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altLang="zh-CN" dirty="0"/>
              <a:t>Cost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预估￥</a:t>
            </a:r>
            <a:r>
              <a:rPr lang="en-US" altLang="zh-CN" dirty="0"/>
              <a:t>409,500</a:t>
            </a:r>
          </a:p>
        </p:txBody>
      </p:sp>
    </p:spTree>
    <p:extLst>
      <p:ext uri="{BB962C8B-B14F-4D97-AF65-F5344CB8AC3E}">
        <p14:creationId xmlns:p14="http://schemas.microsoft.com/office/powerpoint/2010/main" val="202936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C1A22-1499-4DAB-B24D-E92D8D3470D6}"/>
              </a:ext>
            </a:extLst>
          </p:cNvPr>
          <p:cNvSpPr txBox="1">
            <a:spLocks/>
          </p:cNvSpPr>
          <p:nvPr/>
        </p:nvSpPr>
        <p:spPr>
          <a:xfrm>
            <a:off x="-87798" y="33792"/>
            <a:ext cx="12725011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>
                <a:latin typeface="Arial" pitchFamily="34" charset="0"/>
              </a:rPr>
              <a:t>Support Needed and Risk </a:t>
            </a:r>
            <a:br>
              <a:rPr lang="en-US" altLang="zh-CN" dirty="0">
                <a:latin typeface="Arial" pitchFamily="34" charset="0"/>
              </a:rPr>
            </a:br>
            <a:endParaRPr lang="en-US" dirty="0">
              <a:latin typeface="Arial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E4EB98-49A4-4253-BD89-BC5C0F899F62}"/>
              </a:ext>
            </a:extLst>
          </p:cNvPr>
          <p:cNvGrpSpPr/>
          <p:nvPr/>
        </p:nvGrpSpPr>
        <p:grpSpPr>
          <a:xfrm>
            <a:off x="411162" y="6472725"/>
            <a:ext cx="9864000" cy="547200"/>
            <a:chOff x="411162" y="6472725"/>
            <a:chExt cx="9864000" cy="547200"/>
          </a:xfrm>
        </p:grpSpPr>
        <p:sp>
          <p:nvSpPr>
            <p:cNvPr id="22" name="Footer Placeholder 3">
              <a:extLst>
                <a:ext uri="{FF2B5EF4-FFF2-40B4-BE49-F238E27FC236}">
                  <a16:creationId xmlns:a16="http://schemas.microsoft.com/office/drawing/2014/main" id="{297B2CE5-529B-4414-987D-904104C70D19}"/>
                </a:ext>
              </a:extLst>
            </p:cNvPr>
            <p:cNvSpPr txBox="1">
              <a:spLocks/>
            </p:cNvSpPr>
            <p:nvPr/>
          </p:nvSpPr>
          <p:spPr>
            <a:xfrm>
              <a:off x="1059162" y="6472725"/>
              <a:ext cx="9216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Restricted | © Siemens 2022 | YU HE | T </a:t>
              </a:r>
              <a:r>
                <a:rPr lang="en-US" altLang="zh-CN" sz="900" dirty="0"/>
                <a:t>CED </a:t>
              </a:r>
              <a:r>
                <a:rPr lang="en-US" sz="900" dirty="0"/>
                <a:t>INW-CN</a:t>
              </a:r>
            </a:p>
          </p:txBody>
        </p:sp>
        <p:sp>
          <p:nvSpPr>
            <p:cNvPr id="23" name="Slide Number Placeholder 3">
              <a:extLst>
                <a:ext uri="{FF2B5EF4-FFF2-40B4-BE49-F238E27FC236}">
                  <a16:creationId xmlns:a16="http://schemas.microsoft.com/office/drawing/2014/main" id="{3DFE4134-3E95-4CAA-8BEE-E91CE85908AC}"/>
                </a:ext>
              </a:extLst>
            </p:cNvPr>
            <p:cNvSpPr txBox="1">
              <a:spLocks/>
            </p:cNvSpPr>
            <p:nvPr/>
          </p:nvSpPr>
          <p:spPr>
            <a:xfrm>
              <a:off x="411162" y="6472725"/>
              <a:ext cx="648000" cy="5472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/>
                <a:t>Page </a:t>
              </a:r>
              <a:fld id="{15EBE321-CBB1-4E91-BD14-37C8D44326FB}" type="slidenum">
                <a:rPr lang="en-US" sz="900" smtClean="0"/>
                <a:pPr/>
                <a:t>9</a:t>
              </a:fld>
              <a:endParaRPr lang="en-US" sz="900" dirty="0"/>
            </a:p>
          </p:txBody>
        </p:sp>
      </p:grp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A85F80D2-1297-483E-9DD4-81D844582E51}"/>
              </a:ext>
            </a:extLst>
          </p:cNvPr>
          <p:cNvSpPr txBox="1">
            <a:spLocks/>
          </p:cNvSpPr>
          <p:nvPr/>
        </p:nvSpPr>
        <p:spPr>
          <a:xfrm>
            <a:off x="626849" y="1165258"/>
            <a:ext cx="5469151" cy="4752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Support Needed:</a:t>
            </a:r>
          </a:p>
          <a:p>
            <a:pPr lvl="2"/>
            <a:r>
              <a:rPr lang="en-US" sz="1599" b="1" dirty="0"/>
              <a:t>IT support: </a:t>
            </a:r>
            <a:r>
              <a:rPr lang="en-US" sz="1599" dirty="0"/>
              <a:t>establish demo IT environment, including local network and internet.</a:t>
            </a:r>
          </a:p>
          <a:p>
            <a:pPr lvl="2"/>
            <a:r>
              <a:rPr lang="en-US" sz="1599" b="1" dirty="0"/>
              <a:t>Hardware support: </a:t>
            </a:r>
            <a:r>
              <a:rPr lang="en-US" sz="1599" dirty="0"/>
              <a:t>sound-meters and micro-phone ready, RS232 line, </a:t>
            </a:r>
            <a:r>
              <a:rPr lang="en-US" sz="1599" dirty="0" err="1"/>
              <a:t>ToUSB</a:t>
            </a:r>
            <a:r>
              <a:rPr lang="en-US" sz="1599" dirty="0"/>
              <a:t> connector. </a:t>
            </a:r>
          </a:p>
          <a:p>
            <a:pPr lvl="2"/>
            <a:r>
              <a:rPr lang="en-US" sz="1599" b="1" dirty="0"/>
              <a:t>Software support: </a:t>
            </a:r>
            <a:r>
              <a:rPr lang="en-US" sz="1599" dirty="0"/>
              <a:t>sound-meter’s functions package.</a:t>
            </a:r>
            <a:endParaRPr lang="en-US" sz="1999" dirty="0"/>
          </a:p>
          <a:p>
            <a:pPr lvl="2"/>
            <a:r>
              <a:rPr lang="en-US" sz="1599" b="1" dirty="0"/>
              <a:t>X-Ray </a:t>
            </a:r>
            <a:r>
              <a:rPr lang="en-US" altLang="zh-CN" sz="1599" b="1" dirty="0"/>
              <a:t>tube</a:t>
            </a:r>
            <a:r>
              <a:rPr lang="en-US" sz="1599" b="1" dirty="0"/>
              <a:t> expert support: </a:t>
            </a:r>
            <a:r>
              <a:rPr lang="en-US" sz="1599" dirty="0"/>
              <a:t>explain </a:t>
            </a:r>
            <a:r>
              <a:rPr lang="en-US" altLang="zh-CN" sz="1599" dirty="0"/>
              <a:t>tube</a:t>
            </a:r>
            <a:r>
              <a:rPr lang="en-US" sz="1599" dirty="0"/>
              <a:t>’s real scenario and the </a:t>
            </a:r>
            <a:r>
              <a:rPr lang="en-US" altLang="zh-CN" sz="1599" dirty="0"/>
              <a:t>discuss</a:t>
            </a:r>
            <a:r>
              <a:rPr lang="en-US" sz="1599" dirty="0"/>
              <a:t> failure mode, like </a:t>
            </a:r>
            <a:r>
              <a:rPr lang="en-US" altLang="zh-CN" sz="1599" dirty="0"/>
              <a:t>good / bad noise of X-Ray products</a:t>
            </a:r>
            <a:r>
              <a:rPr lang="en-US" sz="1599" dirty="0"/>
              <a:t>. </a:t>
            </a:r>
          </a:p>
          <a:p>
            <a:pPr lvl="2"/>
            <a:r>
              <a:rPr lang="en-US" altLang="zh-CN" sz="1599" b="1" dirty="0"/>
              <a:t>Engineer support</a:t>
            </a:r>
            <a:r>
              <a:rPr lang="en-US" altLang="zh-CN" sz="1599" dirty="0"/>
              <a:t>: support on-site test and help to provide test data and information, especially the failure data in multi-types.</a:t>
            </a:r>
            <a:endParaRPr lang="en-US" sz="1599" dirty="0"/>
          </a:p>
          <a:p>
            <a:pPr lvl="2"/>
            <a:r>
              <a:rPr lang="en-US" sz="1599" b="1" dirty="0"/>
              <a:t>Requirement definition and discussion</a:t>
            </a:r>
            <a:r>
              <a:rPr lang="en-US" sz="1599" dirty="0"/>
              <a:t>: from business view define requirement and confirm on solution workflow and UI design.</a:t>
            </a:r>
          </a:p>
          <a:p>
            <a:endParaRPr lang="en-US" sz="1599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9FAD9B0-4121-46F5-B3C7-34A9C3B4531E}"/>
              </a:ext>
            </a:extLst>
          </p:cNvPr>
          <p:cNvSpPr txBox="1">
            <a:spLocks/>
          </p:cNvSpPr>
          <p:nvPr/>
        </p:nvSpPr>
        <p:spPr>
          <a:xfrm>
            <a:off x="6239926" y="1165258"/>
            <a:ext cx="5469151" cy="4752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Risk:</a:t>
            </a:r>
          </a:p>
          <a:p>
            <a:pPr lvl="2"/>
            <a:r>
              <a:rPr lang="en-US" sz="1599" dirty="0"/>
              <a:t>Sound-meter’s functions package data quality and impacted by environment.</a:t>
            </a:r>
          </a:p>
          <a:p>
            <a:pPr lvl="2"/>
            <a:r>
              <a:rPr lang="en-US" sz="1599" dirty="0"/>
              <a:t>Less of different product types whole status mode and data.</a:t>
            </a:r>
          </a:p>
          <a:p>
            <a:pPr lvl="2"/>
            <a:r>
              <a:rPr lang="en-US" sz="1599" dirty="0"/>
              <a:t>Requirement of service-design still need clarify.</a:t>
            </a:r>
          </a:p>
          <a:p>
            <a:pPr marL="1800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84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3373"/>
          <a:ext cx="1586" cy="1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3" name="Objekt 1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3373"/>
                        <a:ext cx="1586" cy="15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Freeform 10">
            <a:extLst>
              <a:ext uri="{FF2B5EF4-FFF2-40B4-BE49-F238E27FC236}">
                <a16:creationId xmlns:a16="http://schemas.microsoft.com/office/drawing/2014/main" id="{5DE8E61E-EEF5-4B33-BF97-CAB03B81F2C9}"/>
              </a:ext>
            </a:extLst>
          </p:cNvPr>
          <p:cNvSpPr/>
          <p:nvPr/>
        </p:nvSpPr>
        <p:spPr bwMode="auto">
          <a:xfrm>
            <a:off x="660653" y="586165"/>
            <a:ext cx="3912225" cy="3290987"/>
          </a:xfrm>
          <a:custGeom>
            <a:avLst/>
            <a:gdLst>
              <a:gd name="connsiteX0" fmla="*/ 0 w 7170801"/>
              <a:gd name="connsiteY0" fmla="*/ 0 h 6032118"/>
              <a:gd name="connsiteX1" fmla="*/ 7170801 w 7170801"/>
              <a:gd name="connsiteY1" fmla="*/ 7572 h 6032118"/>
              <a:gd name="connsiteX2" fmla="*/ 6573992 w 7170801"/>
              <a:gd name="connsiteY2" fmla="*/ 5131398 h 6032118"/>
              <a:gd name="connsiteX3" fmla="*/ 2970687 w 7170801"/>
              <a:gd name="connsiteY3" fmla="*/ 5131398 h 6032118"/>
              <a:gd name="connsiteX4" fmla="*/ 1602497 w 7170801"/>
              <a:gd name="connsiteY4" fmla="*/ 6032118 h 6032118"/>
              <a:gd name="connsiteX5" fmla="*/ 1602497 w 7170801"/>
              <a:gd name="connsiteY5" fmla="*/ 5131398 h 6032118"/>
              <a:gd name="connsiteX6" fmla="*/ 484094 w 7170801"/>
              <a:gd name="connsiteY6" fmla="*/ 5131398 h 603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70801" h="6032118">
                <a:moveTo>
                  <a:pt x="0" y="0"/>
                </a:moveTo>
                <a:lnTo>
                  <a:pt x="7170801" y="7572"/>
                </a:lnTo>
                <a:lnTo>
                  <a:pt x="6573992" y="5131398"/>
                </a:lnTo>
                <a:lnTo>
                  <a:pt x="2970687" y="5131398"/>
                </a:lnTo>
                <a:lnTo>
                  <a:pt x="1602497" y="6032118"/>
                </a:lnTo>
                <a:lnTo>
                  <a:pt x="1602497" y="5131398"/>
                </a:lnTo>
                <a:lnTo>
                  <a:pt x="484094" y="5131398"/>
                </a:lnTo>
                <a:close/>
              </a:path>
            </a:pathLst>
          </a:custGeom>
          <a:solidFill>
            <a:srgbClr val="CDD9E1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cs typeface="+mn-ea"/>
              <a:sym typeface="+mn-lt"/>
            </a:endParaRPr>
          </a:p>
        </p:txBody>
      </p:sp>
      <p:sp>
        <p:nvSpPr>
          <p:cNvPr id="86" name="Freeform 9">
            <a:extLst>
              <a:ext uri="{FF2B5EF4-FFF2-40B4-BE49-F238E27FC236}">
                <a16:creationId xmlns:a16="http://schemas.microsoft.com/office/drawing/2014/main" id="{8EB4F48C-C696-4BD1-8FD6-34E9A53D4AF5}"/>
              </a:ext>
            </a:extLst>
          </p:cNvPr>
          <p:cNvSpPr/>
          <p:nvPr/>
        </p:nvSpPr>
        <p:spPr bwMode="auto">
          <a:xfrm>
            <a:off x="3612269" y="2601396"/>
            <a:ext cx="4354965" cy="3060704"/>
          </a:xfrm>
          <a:custGeom>
            <a:avLst/>
            <a:gdLst>
              <a:gd name="connsiteX0" fmla="*/ 0 w 4357233"/>
              <a:gd name="connsiteY0" fmla="*/ 0 h 3062298"/>
              <a:gd name="connsiteX1" fmla="*/ 4357233 w 4357233"/>
              <a:gd name="connsiteY1" fmla="*/ 0 h 3062298"/>
              <a:gd name="connsiteX2" fmla="*/ 4061717 w 4357233"/>
              <a:gd name="connsiteY2" fmla="*/ 2542701 h 3062298"/>
              <a:gd name="connsiteX3" fmla="*/ 1670637 w 4357233"/>
              <a:gd name="connsiteY3" fmla="*/ 2542700 h 3062298"/>
              <a:gd name="connsiteX4" fmla="*/ 883104 w 4357233"/>
              <a:gd name="connsiteY4" fmla="*/ 3062298 h 3062298"/>
              <a:gd name="connsiteX5" fmla="*/ 883104 w 4357233"/>
              <a:gd name="connsiteY5" fmla="*/ 2542700 h 3062298"/>
              <a:gd name="connsiteX6" fmla="*/ 239350 w 4357233"/>
              <a:gd name="connsiteY6" fmla="*/ 2542700 h 306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7233" h="3062298">
                <a:moveTo>
                  <a:pt x="0" y="0"/>
                </a:moveTo>
                <a:lnTo>
                  <a:pt x="4357233" y="0"/>
                </a:lnTo>
                <a:lnTo>
                  <a:pt x="4061717" y="2542701"/>
                </a:lnTo>
                <a:lnTo>
                  <a:pt x="1670637" y="2542700"/>
                </a:lnTo>
                <a:lnTo>
                  <a:pt x="883104" y="3062298"/>
                </a:lnTo>
                <a:lnTo>
                  <a:pt x="883104" y="2542700"/>
                </a:lnTo>
                <a:lnTo>
                  <a:pt x="239350" y="2542700"/>
                </a:lnTo>
                <a:close/>
              </a:path>
            </a:pathLst>
          </a:custGeom>
          <a:solidFill>
            <a:srgbClr val="50BED7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cs typeface="+mn-ea"/>
              <a:sym typeface="+mn-lt"/>
            </a:endParaRPr>
          </a:p>
        </p:txBody>
      </p:sp>
      <p:sp>
        <p:nvSpPr>
          <p:cNvPr id="87" name="Textfeld 2">
            <a:extLst>
              <a:ext uri="{FF2B5EF4-FFF2-40B4-BE49-F238E27FC236}">
                <a16:creationId xmlns:a16="http://schemas.microsoft.com/office/drawing/2014/main" id="{51997959-81F4-4657-B02F-E5A3A0A860A5}"/>
              </a:ext>
            </a:extLst>
          </p:cNvPr>
          <p:cNvSpPr txBox="1"/>
          <p:nvPr/>
        </p:nvSpPr>
        <p:spPr>
          <a:xfrm>
            <a:off x="1083410" y="1421607"/>
            <a:ext cx="3250157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399"/>
              </a:spcBef>
            </a:pPr>
            <a:r>
              <a:rPr lang="en-US" sz="4798" dirty="0">
                <a:solidFill>
                  <a:srgbClr val="00646E"/>
                </a:solidFill>
                <a:cs typeface="+mn-ea"/>
                <a:sym typeface="+mn-lt"/>
              </a:rPr>
              <a:t>Questions?</a:t>
            </a:r>
          </a:p>
        </p:txBody>
      </p:sp>
      <p:sp>
        <p:nvSpPr>
          <p:cNvPr id="89" name="Textfeld 2">
            <a:extLst>
              <a:ext uri="{FF2B5EF4-FFF2-40B4-BE49-F238E27FC236}">
                <a16:creationId xmlns:a16="http://schemas.microsoft.com/office/drawing/2014/main" id="{698F534C-48DA-4BBB-85C4-C92545AA254A}"/>
              </a:ext>
            </a:extLst>
          </p:cNvPr>
          <p:cNvSpPr txBox="1"/>
          <p:nvPr/>
        </p:nvSpPr>
        <p:spPr>
          <a:xfrm>
            <a:off x="4054474" y="3326897"/>
            <a:ext cx="3312825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399"/>
              </a:spcBef>
            </a:pPr>
            <a:r>
              <a:rPr lang="en-US" sz="4798" dirty="0">
                <a:solidFill>
                  <a:srgbClr val="FFFFFF"/>
                </a:solidFill>
                <a:cs typeface="+mn-ea"/>
                <a:sym typeface="+mn-lt"/>
              </a:rPr>
              <a:t>Answers!</a:t>
            </a:r>
          </a:p>
        </p:txBody>
      </p:sp>
      <p:grpSp>
        <p:nvGrpSpPr>
          <p:cNvPr id="91" name="Gruppieren 134">
            <a:extLst>
              <a:ext uri="{FF2B5EF4-FFF2-40B4-BE49-F238E27FC236}">
                <a16:creationId xmlns:a16="http://schemas.microsoft.com/office/drawing/2014/main" id="{F7870ADA-0F45-4D51-ABFA-20146F7C5ED1}"/>
              </a:ext>
            </a:extLst>
          </p:cNvPr>
          <p:cNvGrpSpPr/>
          <p:nvPr/>
        </p:nvGrpSpPr>
        <p:grpSpPr bwMode="gray">
          <a:xfrm>
            <a:off x="5880089" y="4415959"/>
            <a:ext cx="6328151" cy="1960727"/>
            <a:chOff x="3846455" y="4452590"/>
            <a:chExt cx="6087317" cy="2155882"/>
          </a:xfrm>
        </p:grpSpPr>
        <p:sp>
          <p:nvSpPr>
            <p:cNvPr id="92" name="Rectangle 1622">
              <a:extLst>
                <a:ext uri="{FF2B5EF4-FFF2-40B4-BE49-F238E27FC236}">
                  <a16:creationId xmlns:a16="http://schemas.microsoft.com/office/drawing/2014/main" id="{19FEFF4B-52B3-4D6C-BC6C-306242A389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26503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3" name="Rectangle 1623">
              <a:extLst>
                <a:ext uri="{FF2B5EF4-FFF2-40B4-BE49-F238E27FC236}">
                  <a16:creationId xmlns:a16="http://schemas.microsoft.com/office/drawing/2014/main" id="{5BF10F21-5E59-412A-97F0-62923CCF86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64099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4" name="Freeform 1997">
              <a:extLst>
                <a:ext uri="{FF2B5EF4-FFF2-40B4-BE49-F238E27FC236}">
                  <a16:creationId xmlns:a16="http://schemas.microsoft.com/office/drawing/2014/main" id="{AFB89CD5-544B-4C8D-9BBF-6E6615A12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8706101" y="5468223"/>
              <a:ext cx="166130" cy="26705"/>
            </a:xfrm>
            <a:custGeom>
              <a:avLst/>
              <a:gdLst>
                <a:gd name="T0" fmla="*/ 548 w 4846"/>
                <a:gd name="T1" fmla="*/ 0 h 779"/>
                <a:gd name="T2" fmla="*/ 0 w 4846"/>
                <a:gd name="T3" fmla="*/ 750 h 779"/>
                <a:gd name="T4" fmla="*/ 4846 w 4846"/>
                <a:gd name="T5" fmla="*/ 779 h 779"/>
                <a:gd name="T6" fmla="*/ 4846 w 4846"/>
                <a:gd name="T7" fmla="*/ 29 h 779"/>
                <a:gd name="T8" fmla="*/ 548 w 4846"/>
                <a:gd name="T9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6" h="779">
                  <a:moveTo>
                    <a:pt x="548" y="0"/>
                  </a:moveTo>
                  <a:lnTo>
                    <a:pt x="0" y="750"/>
                  </a:lnTo>
                  <a:lnTo>
                    <a:pt x="4846" y="779"/>
                  </a:lnTo>
                  <a:lnTo>
                    <a:pt x="4846" y="29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5" name="Freeform 1998">
              <a:extLst>
                <a:ext uri="{FF2B5EF4-FFF2-40B4-BE49-F238E27FC236}">
                  <a16:creationId xmlns:a16="http://schemas.microsoft.com/office/drawing/2014/main" id="{F9237FAD-F468-47A4-A89D-69B28C9A395A}"/>
                </a:ext>
              </a:extLst>
            </p:cNvPr>
            <p:cNvSpPr>
              <a:spLocks/>
            </p:cNvSpPr>
            <p:nvPr/>
          </p:nvSpPr>
          <p:spPr bwMode="gray">
            <a:xfrm>
              <a:off x="8872231" y="5469219"/>
              <a:ext cx="27700" cy="25711"/>
            </a:xfrm>
            <a:custGeom>
              <a:avLst/>
              <a:gdLst>
                <a:gd name="T0" fmla="*/ 0 w 808"/>
                <a:gd name="T1" fmla="*/ 0 h 750"/>
                <a:gd name="T2" fmla="*/ 808 w 808"/>
                <a:gd name="T3" fmla="*/ 346 h 750"/>
                <a:gd name="T4" fmla="*/ 0 w 808"/>
                <a:gd name="T5" fmla="*/ 750 h 750"/>
                <a:gd name="T6" fmla="*/ 0 w 808"/>
                <a:gd name="T7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8" h="750">
                  <a:moveTo>
                    <a:pt x="0" y="0"/>
                  </a:moveTo>
                  <a:lnTo>
                    <a:pt x="808" y="346"/>
                  </a:lnTo>
                  <a:lnTo>
                    <a:pt x="0" y="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6" name="Freeform 1999">
              <a:extLst>
                <a:ext uri="{FF2B5EF4-FFF2-40B4-BE49-F238E27FC236}">
                  <a16:creationId xmlns:a16="http://schemas.microsoft.com/office/drawing/2014/main" id="{C5CA0D76-FD54-4595-BD17-CA8FA01F95E7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774807"/>
              <a:ext cx="534933" cy="55365"/>
            </a:xfrm>
            <a:custGeom>
              <a:avLst/>
              <a:gdLst>
                <a:gd name="T0" fmla="*/ 485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5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7" name="Freeform 2000">
              <a:extLst>
                <a:ext uri="{FF2B5EF4-FFF2-40B4-BE49-F238E27FC236}">
                  <a16:creationId xmlns:a16="http://schemas.microsoft.com/office/drawing/2014/main" id="{09E0BBE6-47D3-4E6A-8E97-710320D50CD6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8" name="Freeform 2001">
              <a:extLst>
                <a:ext uri="{FF2B5EF4-FFF2-40B4-BE49-F238E27FC236}">
                  <a16:creationId xmlns:a16="http://schemas.microsoft.com/office/drawing/2014/main" id="{A2186172-B232-4DA9-9858-863D2C475394}"/>
                </a:ext>
              </a:extLst>
            </p:cNvPr>
            <p:cNvSpPr>
              <a:spLocks/>
            </p:cNvSpPr>
            <p:nvPr/>
          </p:nvSpPr>
          <p:spPr bwMode="gray">
            <a:xfrm>
              <a:off x="575656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9" name="Freeform 2002">
              <a:extLst>
                <a:ext uri="{FF2B5EF4-FFF2-40B4-BE49-F238E27FC236}">
                  <a16:creationId xmlns:a16="http://schemas.microsoft.com/office/drawing/2014/main" id="{213A3F6F-40BF-4980-9C06-752CD77527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0" name="Freeform 2003">
              <a:extLst>
                <a:ext uri="{FF2B5EF4-FFF2-40B4-BE49-F238E27FC236}">
                  <a16:creationId xmlns:a16="http://schemas.microsoft.com/office/drawing/2014/main" id="{BD0EA405-48FF-40A6-BEED-535581D605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24501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1" name="Freeform 2004">
              <a:extLst>
                <a:ext uri="{FF2B5EF4-FFF2-40B4-BE49-F238E27FC236}">
                  <a16:creationId xmlns:a16="http://schemas.microsoft.com/office/drawing/2014/main" id="{14508009-0B52-4528-A1D1-71C75B124E8C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246696"/>
              <a:ext cx="534933" cy="208673"/>
            </a:xfrm>
            <a:custGeom>
              <a:avLst/>
              <a:gdLst>
                <a:gd name="T0" fmla="*/ 404 w 541"/>
                <a:gd name="T1" fmla="*/ 0 h 211"/>
                <a:gd name="T2" fmla="*/ 136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4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2" name="Freeform 2005">
              <a:extLst>
                <a:ext uri="{FF2B5EF4-FFF2-40B4-BE49-F238E27FC236}">
                  <a16:creationId xmlns:a16="http://schemas.microsoft.com/office/drawing/2014/main" id="{08623B0E-46F3-436D-A676-E16050E82FF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03872" y="4895649"/>
              <a:ext cx="209633" cy="477648"/>
            </a:xfrm>
            <a:custGeom>
              <a:avLst/>
              <a:gdLst>
                <a:gd name="T0" fmla="*/ 0 w 6115"/>
                <a:gd name="T1" fmla="*/ 0 h 13933"/>
                <a:gd name="T2" fmla="*/ 0 w 6115"/>
                <a:gd name="T3" fmla="*/ 836 h 13933"/>
                <a:gd name="T4" fmla="*/ 1298 w 6115"/>
                <a:gd name="T5" fmla="*/ 7846 h 13933"/>
                <a:gd name="T6" fmla="*/ 2279 w 6115"/>
                <a:gd name="T7" fmla="*/ 11913 h 13933"/>
                <a:gd name="T8" fmla="*/ 3115 w 6115"/>
                <a:gd name="T9" fmla="*/ 13933 h 13933"/>
                <a:gd name="T10" fmla="*/ 4010 w 6115"/>
                <a:gd name="T11" fmla="*/ 12000 h 13933"/>
                <a:gd name="T12" fmla="*/ 6115 w 6115"/>
                <a:gd name="T13" fmla="*/ 778 h 13933"/>
                <a:gd name="T14" fmla="*/ 6115 w 6115"/>
                <a:gd name="T15" fmla="*/ 0 h 13933"/>
                <a:gd name="T16" fmla="*/ 0 w 6115"/>
                <a:gd name="T17" fmla="*/ 0 h 13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15" h="13933">
                  <a:moveTo>
                    <a:pt x="0" y="0"/>
                  </a:moveTo>
                  <a:lnTo>
                    <a:pt x="0" y="836"/>
                  </a:lnTo>
                  <a:lnTo>
                    <a:pt x="1298" y="7846"/>
                  </a:lnTo>
                  <a:lnTo>
                    <a:pt x="2279" y="11913"/>
                  </a:lnTo>
                  <a:lnTo>
                    <a:pt x="3115" y="13933"/>
                  </a:lnTo>
                  <a:lnTo>
                    <a:pt x="4010" y="12000"/>
                  </a:lnTo>
                  <a:lnTo>
                    <a:pt x="6115" y="778"/>
                  </a:lnTo>
                  <a:lnTo>
                    <a:pt x="61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3" name="Freeform 2006">
              <a:extLst>
                <a:ext uri="{FF2B5EF4-FFF2-40B4-BE49-F238E27FC236}">
                  <a16:creationId xmlns:a16="http://schemas.microsoft.com/office/drawing/2014/main" id="{957EA48C-D2BF-4D69-B561-9890133580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1709" y="4456533"/>
              <a:ext cx="353000" cy="510320"/>
            </a:xfrm>
            <a:custGeom>
              <a:avLst/>
              <a:gdLst>
                <a:gd name="T0" fmla="*/ 354 w 357"/>
                <a:gd name="T1" fmla="*/ 248 h 516"/>
                <a:gd name="T2" fmla="*/ 329 w 357"/>
                <a:gd name="T3" fmla="*/ 312 h 516"/>
                <a:gd name="T4" fmla="*/ 315 w 357"/>
                <a:gd name="T5" fmla="*/ 322 h 516"/>
                <a:gd name="T6" fmla="*/ 302 w 357"/>
                <a:gd name="T7" fmla="*/ 322 h 516"/>
                <a:gd name="T8" fmla="*/ 289 w 357"/>
                <a:gd name="T9" fmla="*/ 377 h 516"/>
                <a:gd name="T10" fmla="*/ 272 w 357"/>
                <a:gd name="T11" fmla="*/ 386 h 516"/>
                <a:gd name="T12" fmla="*/ 271 w 357"/>
                <a:gd name="T13" fmla="*/ 452 h 516"/>
                <a:gd name="T14" fmla="*/ 189 w 357"/>
                <a:gd name="T15" fmla="*/ 516 h 516"/>
                <a:gd name="T16" fmla="*/ 168 w 357"/>
                <a:gd name="T17" fmla="*/ 516 h 516"/>
                <a:gd name="T18" fmla="*/ 85 w 357"/>
                <a:gd name="T19" fmla="*/ 453 h 516"/>
                <a:gd name="T20" fmla="*/ 84 w 357"/>
                <a:gd name="T21" fmla="*/ 386 h 516"/>
                <a:gd name="T22" fmla="*/ 68 w 357"/>
                <a:gd name="T23" fmla="*/ 377 h 516"/>
                <a:gd name="T24" fmla="*/ 55 w 357"/>
                <a:gd name="T25" fmla="*/ 322 h 516"/>
                <a:gd name="T26" fmla="*/ 42 w 357"/>
                <a:gd name="T27" fmla="*/ 322 h 516"/>
                <a:gd name="T28" fmla="*/ 27 w 357"/>
                <a:gd name="T29" fmla="*/ 312 h 516"/>
                <a:gd name="T30" fmla="*/ 3 w 357"/>
                <a:gd name="T31" fmla="*/ 248 h 516"/>
                <a:gd name="T32" fmla="*/ 11 w 357"/>
                <a:gd name="T33" fmla="*/ 229 h 516"/>
                <a:gd name="T34" fmla="*/ 39 w 357"/>
                <a:gd name="T35" fmla="*/ 244 h 516"/>
                <a:gd name="T36" fmla="*/ 32 w 357"/>
                <a:gd name="T37" fmla="*/ 150 h 516"/>
                <a:gd name="T38" fmla="*/ 45 w 357"/>
                <a:gd name="T39" fmla="*/ 46 h 516"/>
                <a:gd name="T40" fmla="*/ 138 w 357"/>
                <a:gd name="T41" fmla="*/ 0 h 516"/>
                <a:gd name="T42" fmla="*/ 218 w 357"/>
                <a:gd name="T43" fmla="*/ 0 h 516"/>
                <a:gd name="T44" fmla="*/ 313 w 357"/>
                <a:gd name="T45" fmla="*/ 49 h 516"/>
                <a:gd name="T46" fmla="*/ 330 w 357"/>
                <a:gd name="T47" fmla="*/ 150 h 516"/>
                <a:gd name="T48" fmla="*/ 321 w 357"/>
                <a:gd name="T49" fmla="*/ 240 h 516"/>
                <a:gd name="T50" fmla="*/ 345 w 357"/>
                <a:gd name="T51" fmla="*/ 229 h 516"/>
                <a:gd name="T52" fmla="*/ 354 w 357"/>
                <a:gd name="T53" fmla="*/ 248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7" h="516">
                  <a:moveTo>
                    <a:pt x="354" y="248"/>
                  </a:moveTo>
                  <a:cubicBezTo>
                    <a:pt x="329" y="312"/>
                    <a:pt x="329" y="312"/>
                    <a:pt x="329" y="312"/>
                  </a:cubicBezTo>
                  <a:cubicBezTo>
                    <a:pt x="326" y="318"/>
                    <a:pt x="321" y="322"/>
                    <a:pt x="315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289" y="377"/>
                    <a:pt x="289" y="377"/>
                    <a:pt x="289" y="377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1" y="452"/>
                    <a:pt x="271" y="452"/>
                    <a:pt x="271" y="452"/>
                  </a:cubicBezTo>
                  <a:cubicBezTo>
                    <a:pt x="189" y="516"/>
                    <a:pt x="189" y="516"/>
                    <a:pt x="189" y="516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84" y="397"/>
                    <a:pt x="84" y="386"/>
                    <a:pt x="84" y="386"/>
                  </a:cubicBezTo>
                  <a:cubicBezTo>
                    <a:pt x="68" y="377"/>
                    <a:pt x="68" y="377"/>
                    <a:pt x="68" y="377"/>
                  </a:cubicBezTo>
                  <a:cubicBezTo>
                    <a:pt x="55" y="322"/>
                    <a:pt x="55" y="322"/>
                    <a:pt x="55" y="322"/>
                  </a:cubicBezTo>
                  <a:cubicBezTo>
                    <a:pt x="42" y="322"/>
                    <a:pt x="42" y="322"/>
                    <a:pt x="42" y="322"/>
                  </a:cubicBezTo>
                  <a:cubicBezTo>
                    <a:pt x="36" y="322"/>
                    <a:pt x="30" y="318"/>
                    <a:pt x="27" y="312"/>
                  </a:cubicBezTo>
                  <a:cubicBezTo>
                    <a:pt x="3" y="248"/>
                    <a:pt x="3" y="248"/>
                    <a:pt x="3" y="248"/>
                  </a:cubicBezTo>
                  <a:cubicBezTo>
                    <a:pt x="0" y="241"/>
                    <a:pt x="4" y="233"/>
                    <a:pt x="11" y="229"/>
                  </a:cubicBezTo>
                  <a:cubicBezTo>
                    <a:pt x="29" y="219"/>
                    <a:pt x="39" y="244"/>
                    <a:pt x="39" y="244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13" y="49"/>
                    <a:pt x="313" y="49"/>
                    <a:pt x="313" y="49"/>
                  </a:cubicBezTo>
                  <a:cubicBezTo>
                    <a:pt x="330" y="150"/>
                    <a:pt x="330" y="150"/>
                    <a:pt x="330" y="150"/>
                  </a:cubicBezTo>
                  <a:cubicBezTo>
                    <a:pt x="321" y="240"/>
                    <a:pt x="321" y="240"/>
                    <a:pt x="321" y="240"/>
                  </a:cubicBezTo>
                  <a:cubicBezTo>
                    <a:pt x="323" y="230"/>
                    <a:pt x="336" y="225"/>
                    <a:pt x="345" y="229"/>
                  </a:cubicBezTo>
                  <a:cubicBezTo>
                    <a:pt x="353" y="232"/>
                    <a:pt x="357" y="241"/>
                    <a:pt x="354" y="248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4" name="Freeform 2007">
              <a:extLst>
                <a:ext uri="{FF2B5EF4-FFF2-40B4-BE49-F238E27FC236}">
                  <a16:creationId xmlns:a16="http://schemas.microsoft.com/office/drawing/2014/main" id="{7BD747D3-A1F4-421B-A3E0-70C15B784662}"/>
                </a:ext>
              </a:extLst>
            </p:cNvPr>
            <p:cNvSpPr>
              <a:spLocks/>
            </p:cNvSpPr>
            <p:nvPr/>
          </p:nvSpPr>
          <p:spPr bwMode="gray">
            <a:xfrm>
              <a:off x="5858415" y="4452590"/>
              <a:ext cx="299589" cy="264038"/>
            </a:xfrm>
            <a:custGeom>
              <a:avLst/>
              <a:gdLst>
                <a:gd name="T0" fmla="*/ 8739 w 8739"/>
                <a:gd name="T1" fmla="*/ 4471 h 7702"/>
                <a:gd name="T2" fmla="*/ 8479 w 8739"/>
                <a:gd name="T3" fmla="*/ 7039 h 7702"/>
                <a:gd name="T4" fmla="*/ 8364 w 8739"/>
                <a:gd name="T5" fmla="*/ 7702 h 7702"/>
                <a:gd name="T6" fmla="*/ 8364 w 8739"/>
                <a:gd name="T7" fmla="*/ 7702 h 7702"/>
                <a:gd name="T8" fmla="*/ 7210 w 8739"/>
                <a:gd name="T9" fmla="*/ 3260 h 7702"/>
                <a:gd name="T10" fmla="*/ 7528 w 8739"/>
                <a:gd name="T11" fmla="*/ 2250 h 7702"/>
                <a:gd name="T12" fmla="*/ 6287 w 8739"/>
                <a:gd name="T13" fmla="*/ 1500 h 7702"/>
                <a:gd name="T14" fmla="*/ 3720 w 8739"/>
                <a:gd name="T15" fmla="*/ 2510 h 7702"/>
                <a:gd name="T16" fmla="*/ 1846 w 8739"/>
                <a:gd name="T17" fmla="*/ 2481 h 7702"/>
                <a:gd name="T18" fmla="*/ 1067 w 8739"/>
                <a:gd name="T19" fmla="*/ 2394 h 7702"/>
                <a:gd name="T20" fmla="*/ 1500 w 8739"/>
                <a:gd name="T21" fmla="*/ 3404 h 7702"/>
                <a:gd name="T22" fmla="*/ 403 w 8739"/>
                <a:gd name="T23" fmla="*/ 7702 h 7702"/>
                <a:gd name="T24" fmla="*/ 403 w 8739"/>
                <a:gd name="T25" fmla="*/ 7702 h 7702"/>
                <a:gd name="T26" fmla="*/ 259 w 8739"/>
                <a:gd name="T27" fmla="*/ 7039 h 7702"/>
                <a:gd name="T28" fmla="*/ 0 w 8739"/>
                <a:gd name="T29" fmla="*/ 4471 h 7702"/>
                <a:gd name="T30" fmla="*/ 375 w 8739"/>
                <a:gd name="T31" fmla="*/ 1356 h 7702"/>
                <a:gd name="T32" fmla="*/ 3201 w 8739"/>
                <a:gd name="T33" fmla="*/ 0 h 7702"/>
                <a:gd name="T34" fmla="*/ 5538 w 8739"/>
                <a:gd name="T35" fmla="*/ 0 h 7702"/>
                <a:gd name="T36" fmla="*/ 8393 w 8739"/>
                <a:gd name="T37" fmla="*/ 1356 h 7702"/>
                <a:gd name="T38" fmla="*/ 8739 w 8739"/>
                <a:gd name="T39" fmla="*/ 4471 h 7702"/>
                <a:gd name="T40" fmla="*/ 8739 w 8739"/>
                <a:gd name="T41" fmla="*/ 4471 h 7702"/>
                <a:gd name="T42" fmla="*/ 8739 w 8739"/>
                <a:gd name="T43" fmla="*/ 4471 h 7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739" h="7702">
                  <a:moveTo>
                    <a:pt x="8739" y="4471"/>
                  </a:moveTo>
                  <a:lnTo>
                    <a:pt x="8479" y="7039"/>
                  </a:lnTo>
                  <a:lnTo>
                    <a:pt x="8364" y="7702"/>
                  </a:lnTo>
                  <a:lnTo>
                    <a:pt x="8364" y="7702"/>
                  </a:lnTo>
                  <a:lnTo>
                    <a:pt x="7210" y="3260"/>
                  </a:lnTo>
                  <a:lnTo>
                    <a:pt x="7528" y="2250"/>
                  </a:lnTo>
                  <a:lnTo>
                    <a:pt x="6287" y="1500"/>
                  </a:lnTo>
                  <a:lnTo>
                    <a:pt x="3720" y="2510"/>
                  </a:lnTo>
                  <a:lnTo>
                    <a:pt x="1846" y="2481"/>
                  </a:lnTo>
                  <a:lnTo>
                    <a:pt x="1067" y="2394"/>
                  </a:lnTo>
                  <a:lnTo>
                    <a:pt x="1500" y="3404"/>
                  </a:lnTo>
                  <a:lnTo>
                    <a:pt x="403" y="7702"/>
                  </a:lnTo>
                  <a:lnTo>
                    <a:pt x="403" y="7702"/>
                  </a:lnTo>
                  <a:lnTo>
                    <a:pt x="259" y="7039"/>
                  </a:lnTo>
                  <a:lnTo>
                    <a:pt x="0" y="4471"/>
                  </a:lnTo>
                  <a:lnTo>
                    <a:pt x="375" y="1356"/>
                  </a:lnTo>
                  <a:lnTo>
                    <a:pt x="3201" y="0"/>
                  </a:lnTo>
                  <a:lnTo>
                    <a:pt x="5538" y="0"/>
                  </a:lnTo>
                  <a:lnTo>
                    <a:pt x="8393" y="1356"/>
                  </a:lnTo>
                  <a:lnTo>
                    <a:pt x="8739" y="4471"/>
                  </a:lnTo>
                  <a:lnTo>
                    <a:pt x="8739" y="4471"/>
                  </a:lnTo>
                  <a:lnTo>
                    <a:pt x="8739" y="4471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5" name="Freeform 2008">
              <a:extLst>
                <a:ext uri="{FF2B5EF4-FFF2-40B4-BE49-F238E27FC236}">
                  <a16:creationId xmlns:a16="http://schemas.microsoft.com/office/drawing/2014/main" id="{3A2D19F2-AC3F-4E67-A7CB-F2848414C3F1}"/>
                </a:ext>
              </a:extLst>
            </p:cNvPr>
            <p:cNvSpPr>
              <a:spLocks/>
            </p:cNvSpPr>
            <p:nvPr/>
          </p:nvSpPr>
          <p:spPr bwMode="gray">
            <a:xfrm>
              <a:off x="6018579" y="4875867"/>
              <a:ext cx="81077" cy="111725"/>
            </a:xfrm>
            <a:custGeom>
              <a:avLst/>
              <a:gdLst>
                <a:gd name="T0" fmla="*/ 2365 w 2365"/>
                <a:gd name="T1" fmla="*/ 1269 h 3259"/>
                <a:gd name="T2" fmla="*/ 548 w 2365"/>
                <a:gd name="T3" fmla="*/ 3259 h 3259"/>
                <a:gd name="T4" fmla="*/ 0 w 2365"/>
                <a:gd name="T5" fmla="*/ 1846 h 3259"/>
                <a:gd name="T6" fmla="*/ 2365 w 2365"/>
                <a:gd name="T7" fmla="*/ 0 h 3259"/>
                <a:gd name="T8" fmla="*/ 2365 w 2365"/>
                <a:gd name="T9" fmla="*/ 126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2365" y="1269"/>
                  </a:moveTo>
                  <a:lnTo>
                    <a:pt x="548" y="3259"/>
                  </a:lnTo>
                  <a:lnTo>
                    <a:pt x="0" y="1846"/>
                  </a:lnTo>
                  <a:lnTo>
                    <a:pt x="2365" y="0"/>
                  </a:lnTo>
                  <a:lnTo>
                    <a:pt x="2365" y="12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6" name="Freeform 2009">
              <a:extLst>
                <a:ext uri="{FF2B5EF4-FFF2-40B4-BE49-F238E27FC236}">
                  <a16:creationId xmlns:a16="http://schemas.microsoft.com/office/drawing/2014/main" id="{97B8DA8C-8CE5-4F4B-A326-5B42A712CF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956289" y="4939153"/>
              <a:ext cx="107782" cy="431163"/>
            </a:xfrm>
            <a:custGeom>
              <a:avLst/>
              <a:gdLst>
                <a:gd name="T0" fmla="*/ 3144 w 3144"/>
                <a:gd name="T1" fmla="*/ 8135 h 12577"/>
                <a:gd name="T2" fmla="*/ 1500 w 3144"/>
                <a:gd name="T3" fmla="*/ 12577 h 12577"/>
                <a:gd name="T4" fmla="*/ 0 w 3144"/>
                <a:gd name="T5" fmla="*/ 8135 h 12577"/>
                <a:gd name="T6" fmla="*/ 837 w 3144"/>
                <a:gd name="T7" fmla="*/ 2336 h 12577"/>
                <a:gd name="T8" fmla="*/ 635 w 3144"/>
                <a:gd name="T9" fmla="*/ 1413 h 12577"/>
                <a:gd name="T10" fmla="*/ 1183 w 3144"/>
                <a:gd name="T11" fmla="*/ 0 h 12577"/>
                <a:gd name="T12" fmla="*/ 1817 w 3144"/>
                <a:gd name="T13" fmla="*/ 0 h 12577"/>
                <a:gd name="T14" fmla="*/ 2365 w 3144"/>
                <a:gd name="T15" fmla="*/ 1413 h 12577"/>
                <a:gd name="T16" fmla="*/ 2163 w 3144"/>
                <a:gd name="T17" fmla="*/ 2336 h 12577"/>
                <a:gd name="T18" fmla="*/ 3144 w 3144"/>
                <a:gd name="T19" fmla="*/ 8135 h 12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44" h="12577">
                  <a:moveTo>
                    <a:pt x="3144" y="8135"/>
                  </a:moveTo>
                  <a:lnTo>
                    <a:pt x="1500" y="12577"/>
                  </a:lnTo>
                  <a:lnTo>
                    <a:pt x="0" y="8135"/>
                  </a:lnTo>
                  <a:lnTo>
                    <a:pt x="837" y="2336"/>
                  </a:lnTo>
                  <a:lnTo>
                    <a:pt x="635" y="1413"/>
                  </a:lnTo>
                  <a:lnTo>
                    <a:pt x="1183" y="0"/>
                  </a:lnTo>
                  <a:lnTo>
                    <a:pt x="1817" y="0"/>
                  </a:lnTo>
                  <a:lnTo>
                    <a:pt x="2365" y="1413"/>
                  </a:lnTo>
                  <a:lnTo>
                    <a:pt x="2163" y="2336"/>
                  </a:lnTo>
                  <a:lnTo>
                    <a:pt x="3144" y="8135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7" name="Freeform 2010">
              <a:extLst>
                <a:ext uri="{FF2B5EF4-FFF2-40B4-BE49-F238E27FC236}">
                  <a16:creationId xmlns:a16="http://schemas.microsoft.com/office/drawing/2014/main" id="{2209C59C-C8AD-40B7-8916-23BC62BECED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15768" y="4875867"/>
              <a:ext cx="81077" cy="111725"/>
            </a:xfrm>
            <a:custGeom>
              <a:avLst/>
              <a:gdLst>
                <a:gd name="T0" fmla="*/ 1817 w 2365"/>
                <a:gd name="T1" fmla="*/ 3259 h 3259"/>
                <a:gd name="T2" fmla="*/ 28 w 2365"/>
                <a:gd name="T3" fmla="*/ 1269 h 3259"/>
                <a:gd name="T4" fmla="*/ 0 w 2365"/>
                <a:gd name="T5" fmla="*/ 0 h 3259"/>
                <a:gd name="T6" fmla="*/ 2365 w 2365"/>
                <a:gd name="T7" fmla="*/ 1846 h 3259"/>
                <a:gd name="T8" fmla="*/ 1817 w 2365"/>
                <a:gd name="T9" fmla="*/ 325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1817" y="3259"/>
                  </a:moveTo>
                  <a:lnTo>
                    <a:pt x="28" y="1269"/>
                  </a:lnTo>
                  <a:lnTo>
                    <a:pt x="0" y="0"/>
                  </a:lnTo>
                  <a:lnTo>
                    <a:pt x="2365" y="1846"/>
                  </a:lnTo>
                  <a:lnTo>
                    <a:pt x="1817" y="3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8" name="Freeform 2011">
              <a:extLst>
                <a:ext uri="{FF2B5EF4-FFF2-40B4-BE49-F238E27FC236}">
                  <a16:creationId xmlns:a16="http://schemas.microsoft.com/office/drawing/2014/main" id="{B887865F-D762-43D7-BBB2-C88A27E94156}"/>
                </a:ext>
              </a:extLst>
            </p:cNvPr>
            <p:cNvSpPr>
              <a:spLocks/>
            </p:cNvSpPr>
            <p:nvPr/>
          </p:nvSpPr>
          <p:spPr bwMode="gray">
            <a:xfrm>
              <a:off x="5681417" y="4875867"/>
              <a:ext cx="651594" cy="829723"/>
            </a:xfrm>
            <a:custGeom>
              <a:avLst/>
              <a:gdLst>
                <a:gd name="T0" fmla="*/ 16152 w 19007"/>
                <a:gd name="T1" fmla="*/ 17943 h 24203"/>
                <a:gd name="T2" fmla="*/ 16123 w 19007"/>
                <a:gd name="T3" fmla="*/ 23510 h 24203"/>
                <a:gd name="T4" fmla="*/ 15661 w 19007"/>
                <a:gd name="T5" fmla="*/ 24203 h 24203"/>
                <a:gd name="T6" fmla="*/ 3374 w 19007"/>
                <a:gd name="T7" fmla="*/ 24203 h 24203"/>
                <a:gd name="T8" fmla="*/ 2913 w 19007"/>
                <a:gd name="T9" fmla="*/ 23510 h 24203"/>
                <a:gd name="T10" fmla="*/ 2884 w 19007"/>
                <a:gd name="T11" fmla="*/ 17885 h 24203"/>
                <a:gd name="T12" fmla="*/ 1211 w 19007"/>
                <a:gd name="T13" fmla="*/ 17077 h 24203"/>
                <a:gd name="T14" fmla="*/ 0 w 19007"/>
                <a:gd name="T15" fmla="*/ 14741 h 24203"/>
                <a:gd name="T16" fmla="*/ 432 w 19007"/>
                <a:gd name="T17" fmla="*/ 4644 h 24203"/>
                <a:gd name="T18" fmla="*/ 2048 w 19007"/>
                <a:gd name="T19" fmla="*/ 2279 h 24203"/>
                <a:gd name="T20" fmla="*/ 4701 w 19007"/>
                <a:gd name="T21" fmla="*/ 1096 h 24203"/>
                <a:gd name="T22" fmla="*/ 4730 w 19007"/>
                <a:gd name="T23" fmla="*/ 836 h 24203"/>
                <a:gd name="T24" fmla="*/ 6836 w 19007"/>
                <a:gd name="T25" fmla="*/ 0 h 24203"/>
                <a:gd name="T26" fmla="*/ 6864 w 19007"/>
                <a:gd name="T27" fmla="*/ 1269 h 24203"/>
                <a:gd name="T28" fmla="*/ 8191 w 19007"/>
                <a:gd name="T29" fmla="*/ 8740 h 24203"/>
                <a:gd name="T30" fmla="*/ 9518 w 19007"/>
                <a:gd name="T31" fmla="*/ 14423 h 24203"/>
                <a:gd name="T32" fmla="*/ 10874 w 19007"/>
                <a:gd name="T33" fmla="*/ 8740 h 24203"/>
                <a:gd name="T34" fmla="*/ 10874 w 19007"/>
                <a:gd name="T35" fmla="*/ 8711 h 24203"/>
                <a:gd name="T36" fmla="*/ 12172 w 19007"/>
                <a:gd name="T37" fmla="*/ 1269 h 24203"/>
                <a:gd name="T38" fmla="*/ 12200 w 19007"/>
                <a:gd name="T39" fmla="*/ 0 h 24203"/>
                <a:gd name="T40" fmla="*/ 14335 w 19007"/>
                <a:gd name="T41" fmla="*/ 836 h 24203"/>
                <a:gd name="T42" fmla="*/ 14364 w 19007"/>
                <a:gd name="T43" fmla="*/ 1096 h 24203"/>
                <a:gd name="T44" fmla="*/ 16988 w 19007"/>
                <a:gd name="T45" fmla="*/ 2279 h 24203"/>
                <a:gd name="T46" fmla="*/ 18575 w 19007"/>
                <a:gd name="T47" fmla="*/ 4644 h 24203"/>
                <a:gd name="T48" fmla="*/ 19007 w 19007"/>
                <a:gd name="T49" fmla="*/ 14741 h 24203"/>
                <a:gd name="T50" fmla="*/ 17854 w 19007"/>
                <a:gd name="T51" fmla="*/ 17077 h 24203"/>
                <a:gd name="T52" fmla="*/ 16152 w 19007"/>
                <a:gd name="T53" fmla="*/ 17943 h 24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007" h="24203">
                  <a:moveTo>
                    <a:pt x="16152" y="17943"/>
                  </a:moveTo>
                  <a:lnTo>
                    <a:pt x="16123" y="23510"/>
                  </a:lnTo>
                  <a:lnTo>
                    <a:pt x="15661" y="24203"/>
                  </a:lnTo>
                  <a:lnTo>
                    <a:pt x="3374" y="24203"/>
                  </a:lnTo>
                  <a:lnTo>
                    <a:pt x="2913" y="23510"/>
                  </a:lnTo>
                  <a:lnTo>
                    <a:pt x="2884" y="17885"/>
                  </a:lnTo>
                  <a:lnTo>
                    <a:pt x="1211" y="17077"/>
                  </a:lnTo>
                  <a:lnTo>
                    <a:pt x="0" y="14741"/>
                  </a:lnTo>
                  <a:lnTo>
                    <a:pt x="432" y="4644"/>
                  </a:lnTo>
                  <a:lnTo>
                    <a:pt x="2048" y="2279"/>
                  </a:lnTo>
                  <a:lnTo>
                    <a:pt x="4701" y="1096"/>
                  </a:lnTo>
                  <a:lnTo>
                    <a:pt x="4730" y="836"/>
                  </a:lnTo>
                  <a:lnTo>
                    <a:pt x="6836" y="0"/>
                  </a:lnTo>
                  <a:lnTo>
                    <a:pt x="6864" y="1269"/>
                  </a:lnTo>
                  <a:lnTo>
                    <a:pt x="8191" y="8740"/>
                  </a:lnTo>
                  <a:lnTo>
                    <a:pt x="9518" y="14423"/>
                  </a:lnTo>
                  <a:lnTo>
                    <a:pt x="10874" y="8740"/>
                  </a:lnTo>
                  <a:lnTo>
                    <a:pt x="10874" y="8711"/>
                  </a:lnTo>
                  <a:lnTo>
                    <a:pt x="12172" y="1269"/>
                  </a:lnTo>
                  <a:lnTo>
                    <a:pt x="12200" y="0"/>
                  </a:lnTo>
                  <a:lnTo>
                    <a:pt x="14335" y="836"/>
                  </a:lnTo>
                  <a:lnTo>
                    <a:pt x="14364" y="1096"/>
                  </a:lnTo>
                  <a:lnTo>
                    <a:pt x="16988" y="2279"/>
                  </a:lnTo>
                  <a:lnTo>
                    <a:pt x="18575" y="4644"/>
                  </a:lnTo>
                  <a:lnTo>
                    <a:pt x="19007" y="14741"/>
                  </a:lnTo>
                  <a:lnTo>
                    <a:pt x="17854" y="17077"/>
                  </a:lnTo>
                  <a:lnTo>
                    <a:pt x="16152" y="17943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9" name="Line 2012">
              <a:extLst>
                <a:ext uri="{FF2B5EF4-FFF2-40B4-BE49-F238E27FC236}">
                  <a16:creationId xmlns:a16="http://schemas.microsoft.com/office/drawing/2014/main" id="{27C9BE56-84DF-4B90-8302-C2F182D19EB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795130" y="5491946"/>
              <a:ext cx="0" cy="0"/>
            </a:xfrm>
            <a:prstGeom prst="line">
              <a:avLst/>
            </a:prstGeom>
            <a:noFill/>
            <a:ln w="5953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0" name="Freeform 2013">
              <a:extLst>
                <a:ext uri="{FF2B5EF4-FFF2-40B4-BE49-F238E27FC236}">
                  <a16:creationId xmlns:a16="http://schemas.microsoft.com/office/drawing/2014/main" id="{40057AD7-F5CB-42BF-BD30-B781D8E862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784228" y="5577994"/>
              <a:ext cx="446932" cy="196812"/>
            </a:xfrm>
            <a:custGeom>
              <a:avLst/>
              <a:gdLst>
                <a:gd name="T0" fmla="*/ 429 w 452"/>
                <a:gd name="T1" fmla="*/ 199 h 199"/>
                <a:gd name="T2" fmla="*/ 23 w 452"/>
                <a:gd name="T3" fmla="*/ 199 h 199"/>
                <a:gd name="T4" fmla="*/ 0 w 452"/>
                <a:gd name="T5" fmla="*/ 176 h 199"/>
                <a:gd name="T6" fmla="*/ 0 w 452"/>
                <a:gd name="T7" fmla="*/ 0 h 199"/>
                <a:gd name="T8" fmla="*/ 452 w 452"/>
                <a:gd name="T9" fmla="*/ 0 h 199"/>
                <a:gd name="T10" fmla="*/ 452 w 452"/>
                <a:gd name="T11" fmla="*/ 176 h 199"/>
                <a:gd name="T12" fmla="*/ 429 w 452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99">
                  <a:moveTo>
                    <a:pt x="429" y="199"/>
                  </a:moveTo>
                  <a:cubicBezTo>
                    <a:pt x="23" y="199"/>
                    <a:pt x="23" y="199"/>
                    <a:pt x="23" y="199"/>
                  </a:cubicBezTo>
                  <a:cubicBezTo>
                    <a:pt x="14" y="190"/>
                    <a:pt x="9" y="185"/>
                    <a:pt x="0" y="1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43" y="185"/>
                    <a:pt x="438" y="190"/>
                    <a:pt x="429" y="199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1" name="Freeform 2014">
              <a:extLst>
                <a:ext uri="{FF2B5EF4-FFF2-40B4-BE49-F238E27FC236}">
                  <a16:creationId xmlns:a16="http://schemas.microsoft.com/office/drawing/2014/main" id="{1EC2DCAC-7F2F-478E-966A-4AA9DDC8A12E}"/>
                </a:ext>
              </a:extLst>
            </p:cNvPr>
            <p:cNvSpPr>
              <a:spLocks/>
            </p:cNvSpPr>
            <p:nvPr/>
          </p:nvSpPr>
          <p:spPr bwMode="gray">
            <a:xfrm>
              <a:off x="5797084" y="5609636"/>
              <a:ext cx="189853" cy="729860"/>
            </a:xfrm>
            <a:custGeom>
              <a:avLst/>
              <a:gdLst>
                <a:gd name="T0" fmla="*/ 0 w 192"/>
                <a:gd name="T1" fmla="*/ 47 h 738"/>
                <a:gd name="T2" fmla="*/ 0 w 192"/>
                <a:gd name="T3" fmla="*/ 95 h 738"/>
                <a:gd name="T4" fmla="*/ 0 w 192"/>
                <a:gd name="T5" fmla="*/ 98 h 738"/>
                <a:gd name="T6" fmla="*/ 61 w 192"/>
                <a:gd name="T7" fmla="*/ 738 h 738"/>
                <a:gd name="T8" fmla="*/ 192 w 192"/>
                <a:gd name="T9" fmla="*/ 738 h 738"/>
                <a:gd name="T10" fmla="*/ 192 w 192"/>
                <a:gd name="T11" fmla="*/ 37 h 738"/>
                <a:gd name="T12" fmla="*/ 155 w 192"/>
                <a:gd name="T13" fmla="*/ 0 h 738"/>
                <a:gd name="T14" fmla="*/ 47 w 192"/>
                <a:gd name="T15" fmla="*/ 0 h 738"/>
                <a:gd name="T16" fmla="*/ 0 w 192"/>
                <a:gd name="T17" fmla="*/ 47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38">
                  <a:moveTo>
                    <a:pt x="0" y="47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0" y="97"/>
                    <a:pt x="0" y="98"/>
                  </a:cubicBezTo>
                  <a:cubicBezTo>
                    <a:pt x="61" y="738"/>
                    <a:pt x="61" y="738"/>
                    <a:pt x="61" y="738"/>
                  </a:cubicBezTo>
                  <a:cubicBezTo>
                    <a:pt x="192" y="738"/>
                    <a:pt x="192" y="738"/>
                    <a:pt x="192" y="738"/>
                  </a:cubicBezTo>
                  <a:cubicBezTo>
                    <a:pt x="192" y="37"/>
                    <a:pt x="192" y="37"/>
                    <a:pt x="192" y="37"/>
                  </a:cubicBezTo>
                  <a:cubicBezTo>
                    <a:pt x="177" y="23"/>
                    <a:pt x="169" y="14"/>
                    <a:pt x="155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8" y="18"/>
                    <a:pt x="18" y="28"/>
                    <a:pt x="0" y="47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2" name="Freeform 2015">
              <a:extLst>
                <a:ext uri="{FF2B5EF4-FFF2-40B4-BE49-F238E27FC236}">
                  <a16:creationId xmlns:a16="http://schemas.microsoft.com/office/drawing/2014/main" id="{1A3DF324-AA09-462D-8557-931EBEAE4417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6497" y="5609636"/>
              <a:ext cx="191806" cy="729860"/>
            </a:xfrm>
            <a:custGeom>
              <a:avLst/>
              <a:gdLst>
                <a:gd name="T0" fmla="*/ 0 w 194"/>
                <a:gd name="T1" fmla="*/ 35 h 738"/>
                <a:gd name="T2" fmla="*/ 0 w 194"/>
                <a:gd name="T3" fmla="*/ 738 h 738"/>
                <a:gd name="T4" fmla="*/ 131 w 194"/>
                <a:gd name="T5" fmla="*/ 738 h 738"/>
                <a:gd name="T6" fmla="*/ 194 w 194"/>
                <a:gd name="T7" fmla="*/ 98 h 738"/>
                <a:gd name="T8" fmla="*/ 194 w 194"/>
                <a:gd name="T9" fmla="*/ 95 h 738"/>
                <a:gd name="T10" fmla="*/ 194 w 194"/>
                <a:gd name="T11" fmla="*/ 45 h 738"/>
                <a:gd name="T12" fmla="*/ 149 w 194"/>
                <a:gd name="T13" fmla="*/ 0 h 738"/>
                <a:gd name="T14" fmla="*/ 35 w 194"/>
                <a:gd name="T15" fmla="*/ 0 h 738"/>
                <a:gd name="T16" fmla="*/ 0 w 194"/>
                <a:gd name="T17" fmla="*/ 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738">
                  <a:moveTo>
                    <a:pt x="0" y="35"/>
                  </a:moveTo>
                  <a:cubicBezTo>
                    <a:pt x="0" y="738"/>
                    <a:pt x="0" y="738"/>
                    <a:pt x="0" y="738"/>
                  </a:cubicBezTo>
                  <a:cubicBezTo>
                    <a:pt x="131" y="738"/>
                    <a:pt x="131" y="738"/>
                    <a:pt x="131" y="73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7"/>
                    <a:pt x="194" y="96"/>
                    <a:pt x="194" y="95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77" y="27"/>
                    <a:pt x="167" y="17"/>
                    <a:pt x="14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1" y="14"/>
                    <a:pt x="13" y="21"/>
                    <a:pt x="0" y="35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3" name="Freeform 2016">
              <a:extLst>
                <a:ext uri="{FF2B5EF4-FFF2-40B4-BE49-F238E27FC236}">
                  <a16:creationId xmlns:a16="http://schemas.microsoft.com/office/drawing/2014/main" id="{2041F163-2C26-4D20-B544-91961625ACFD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9446" y="6255436"/>
              <a:ext cx="174049" cy="84058"/>
            </a:xfrm>
            <a:custGeom>
              <a:avLst/>
              <a:gdLst>
                <a:gd name="T0" fmla="*/ 5077 w 5077"/>
                <a:gd name="T1" fmla="*/ 2452 h 2452"/>
                <a:gd name="T2" fmla="*/ 0 w 5077"/>
                <a:gd name="T3" fmla="*/ 2452 h 2452"/>
                <a:gd name="T4" fmla="*/ 0 w 5077"/>
                <a:gd name="T5" fmla="*/ 2336 h 2452"/>
                <a:gd name="T6" fmla="*/ 895 w 5077"/>
                <a:gd name="T7" fmla="*/ 0 h 2452"/>
                <a:gd name="T8" fmla="*/ 3952 w 5077"/>
                <a:gd name="T9" fmla="*/ 0 h 2452"/>
                <a:gd name="T10" fmla="*/ 5077 w 5077"/>
                <a:gd name="T11" fmla="*/ 2452 h 2452"/>
                <a:gd name="T12" fmla="*/ 5077 w 5077"/>
                <a:gd name="T13" fmla="*/ 2452 h 2452"/>
                <a:gd name="T14" fmla="*/ 5077 w 5077"/>
                <a:gd name="T15" fmla="*/ 2452 h 2452"/>
                <a:gd name="T16" fmla="*/ 5077 w 5077"/>
                <a:gd name="T17" fmla="*/ 2452 h 2452"/>
                <a:gd name="T18" fmla="*/ 5077 w 5077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77" h="2452">
                  <a:moveTo>
                    <a:pt x="5077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95" y="0"/>
                  </a:lnTo>
                  <a:lnTo>
                    <a:pt x="3952" y="0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4" name="Freeform 2017">
              <a:extLst>
                <a:ext uri="{FF2B5EF4-FFF2-40B4-BE49-F238E27FC236}">
                  <a16:creationId xmlns:a16="http://schemas.microsoft.com/office/drawing/2014/main" id="{D1B538EB-3853-41E3-8672-F456E0CE5E83}"/>
                </a:ext>
              </a:extLst>
            </p:cNvPr>
            <p:cNvSpPr>
              <a:spLocks/>
            </p:cNvSpPr>
            <p:nvPr/>
          </p:nvSpPr>
          <p:spPr bwMode="gray">
            <a:xfrm>
              <a:off x="5810934" y="6255436"/>
              <a:ext cx="173054" cy="84058"/>
            </a:xfrm>
            <a:custGeom>
              <a:avLst/>
              <a:gdLst>
                <a:gd name="T0" fmla="*/ 5048 w 5048"/>
                <a:gd name="T1" fmla="*/ 2336 h 2452"/>
                <a:gd name="T2" fmla="*/ 5048 w 5048"/>
                <a:gd name="T3" fmla="*/ 2452 h 2452"/>
                <a:gd name="T4" fmla="*/ 0 w 5048"/>
                <a:gd name="T5" fmla="*/ 2452 h 2452"/>
                <a:gd name="T6" fmla="*/ 1096 w 5048"/>
                <a:gd name="T7" fmla="*/ 0 h 2452"/>
                <a:gd name="T8" fmla="*/ 4182 w 5048"/>
                <a:gd name="T9" fmla="*/ 0 h 2452"/>
                <a:gd name="T10" fmla="*/ 5048 w 5048"/>
                <a:gd name="T11" fmla="*/ 2336 h 2452"/>
                <a:gd name="T12" fmla="*/ 5048 w 5048"/>
                <a:gd name="T13" fmla="*/ 2336 h 2452"/>
                <a:gd name="T14" fmla="*/ 5048 w 5048"/>
                <a:gd name="T15" fmla="*/ 2336 h 2452"/>
                <a:gd name="T16" fmla="*/ 5048 w 5048"/>
                <a:gd name="T17" fmla="*/ 2336 h 2452"/>
                <a:gd name="T18" fmla="*/ 5048 w 5048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336"/>
                  </a:moveTo>
                  <a:lnTo>
                    <a:pt x="5048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5" name="Freeform 2018">
              <a:extLst>
                <a:ext uri="{FF2B5EF4-FFF2-40B4-BE49-F238E27FC236}">
                  <a16:creationId xmlns:a16="http://schemas.microsoft.com/office/drawing/2014/main" id="{FFC6A90F-64EE-443F-948F-E2351524EC65}"/>
                </a:ext>
              </a:extLst>
            </p:cNvPr>
            <p:cNvSpPr>
              <a:spLocks/>
            </p:cNvSpPr>
            <p:nvPr/>
          </p:nvSpPr>
          <p:spPr bwMode="gray">
            <a:xfrm>
              <a:off x="6212375" y="5152762"/>
              <a:ext cx="29688" cy="368873"/>
            </a:xfrm>
            <a:custGeom>
              <a:avLst/>
              <a:gdLst>
                <a:gd name="T0" fmla="*/ 606 w 866"/>
                <a:gd name="T1" fmla="*/ 10760 h 10760"/>
                <a:gd name="T2" fmla="*/ 375 w 866"/>
                <a:gd name="T3" fmla="*/ 6779 h 10760"/>
                <a:gd name="T4" fmla="*/ 866 w 866"/>
                <a:gd name="T5" fmla="*/ 29 h 10760"/>
                <a:gd name="T6" fmla="*/ 491 w 866"/>
                <a:gd name="T7" fmla="*/ 0 h 10760"/>
                <a:gd name="T8" fmla="*/ 0 w 866"/>
                <a:gd name="T9" fmla="*/ 6779 h 10760"/>
                <a:gd name="T10" fmla="*/ 145 w 866"/>
                <a:gd name="T11" fmla="*/ 10760 h 10760"/>
                <a:gd name="T12" fmla="*/ 606 w 866"/>
                <a:gd name="T13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760">
                  <a:moveTo>
                    <a:pt x="606" y="10760"/>
                  </a:moveTo>
                  <a:lnTo>
                    <a:pt x="375" y="6779"/>
                  </a:lnTo>
                  <a:lnTo>
                    <a:pt x="866" y="29"/>
                  </a:lnTo>
                  <a:lnTo>
                    <a:pt x="491" y="0"/>
                  </a:lnTo>
                  <a:lnTo>
                    <a:pt x="0" y="6779"/>
                  </a:lnTo>
                  <a:lnTo>
                    <a:pt x="145" y="10760"/>
                  </a:lnTo>
                  <a:lnTo>
                    <a:pt x="606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6" name="Freeform 2019">
              <a:extLst>
                <a:ext uri="{FF2B5EF4-FFF2-40B4-BE49-F238E27FC236}">
                  <a16:creationId xmlns:a16="http://schemas.microsoft.com/office/drawing/2014/main" id="{BBB83026-9A9E-4DAA-9B3F-4A15255D785D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8633" y="4920366"/>
              <a:ext cx="339150" cy="601269"/>
            </a:xfrm>
            <a:custGeom>
              <a:avLst/>
              <a:gdLst>
                <a:gd name="T0" fmla="*/ 4759 w 9893"/>
                <a:gd name="T1" fmla="*/ 13154 h 17539"/>
                <a:gd name="T2" fmla="*/ 4759 w 9893"/>
                <a:gd name="T3" fmla="*/ 13154 h 17539"/>
                <a:gd name="T4" fmla="*/ 4759 w 9893"/>
                <a:gd name="T5" fmla="*/ 17539 h 17539"/>
                <a:gd name="T6" fmla="*/ 5163 w 9893"/>
                <a:gd name="T7" fmla="*/ 17539 h 17539"/>
                <a:gd name="T8" fmla="*/ 5163 w 9893"/>
                <a:gd name="T9" fmla="*/ 13125 h 17539"/>
                <a:gd name="T10" fmla="*/ 5134 w 9893"/>
                <a:gd name="T11" fmla="*/ 13125 h 17539"/>
                <a:gd name="T12" fmla="*/ 7874 w 9893"/>
                <a:gd name="T13" fmla="*/ 6548 h 17539"/>
                <a:gd name="T14" fmla="*/ 9893 w 9893"/>
                <a:gd name="T15" fmla="*/ 1154 h 17539"/>
                <a:gd name="T16" fmla="*/ 9431 w 9893"/>
                <a:gd name="T17" fmla="*/ 461 h 17539"/>
                <a:gd name="T18" fmla="*/ 9864 w 9893"/>
                <a:gd name="T19" fmla="*/ 375 h 17539"/>
                <a:gd name="T20" fmla="*/ 9806 w 9893"/>
                <a:gd name="T21" fmla="*/ 0 h 17539"/>
                <a:gd name="T22" fmla="*/ 8797 w 9893"/>
                <a:gd name="T23" fmla="*/ 144 h 17539"/>
                <a:gd name="T24" fmla="*/ 9460 w 9893"/>
                <a:gd name="T25" fmla="*/ 1182 h 17539"/>
                <a:gd name="T26" fmla="*/ 7528 w 9893"/>
                <a:gd name="T27" fmla="*/ 6433 h 17539"/>
                <a:gd name="T28" fmla="*/ 4961 w 9893"/>
                <a:gd name="T29" fmla="*/ 12606 h 17539"/>
                <a:gd name="T30" fmla="*/ 461 w 9893"/>
                <a:gd name="T31" fmla="*/ 1182 h 17539"/>
                <a:gd name="T32" fmla="*/ 1096 w 9893"/>
                <a:gd name="T33" fmla="*/ 144 h 17539"/>
                <a:gd name="T34" fmla="*/ 86 w 9893"/>
                <a:gd name="T35" fmla="*/ 0 h 17539"/>
                <a:gd name="T36" fmla="*/ 29 w 9893"/>
                <a:gd name="T37" fmla="*/ 375 h 17539"/>
                <a:gd name="T38" fmla="*/ 461 w 9893"/>
                <a:gd name="T39" fmla="*/ 461 h 17539"/>
                <a:gd name="T40" fmla="*/ 0 w 9893"/>
                <a:gd name="T41" fmla="*/ 1154 h 17539"/>
                <a:gd name="T42" fmla="*/ 4759 w 9893"/>
                <a:gd name="T43" fmla="*/ 13154 h 17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893" h="17539">
                  <a:moveTo>
                    <a:pt x="4759" y="13154"/>
                  </a:moveTo>
                  <a:lnTo>
                    <a:pt x="4759" y="13154"/>
                  </a:lnTo>
                  <a:lnTo>
                    <a:pt x="4759" y="17539"/>
                  </a:lnTo>
                  <a:lnTo>
                    <a:pt x="5163" y="17539"/>
                  </a:lnTo>
                  <a:lnTo>
                    <a:pt x="5163" y="13125"/>
                  </a:lnTo>
                  <a:lnTo>
                    <a:pt x="5134" y="13125"/>
                  </a:lnTo>
                  <a:lnTo>
                    <a:pt x="7874" y="6548"/>
                  </a:lnTo>
                  <a:lnTo>
                    <a:pt x="9893" y="1154"/>
                  </a:lnTo>
                  <a:lnTo>
                    <a:pt x="9431" y="461"/>
                  </a:lnTo>
                  <a:lnTo>
                    <a:pt x="9864" y="375"/>
                  </a:lnTo>
                  <a:lnTo>
                    <a:pt x="9806" y="0"/>
                  </a:lnTo>
                  <a:lnTo>
                    <a:pt x="8797" y="144"/>
                  </a:lnTo>
                  <a:lnTo>
                    <a:pt x="9460" y="1182"/>
                  </a:lnTo>
                  <a:lnTo>
                    <a:pt x="7528" y="6433"/>
                  </a:lnTo>
                  <a:lnTo>
                    <a:pt x="4961" y="12606"/>
                  </a:lnTo>
                  <a:lnTo>
                    <a:pt x="461" y="1182"/>
                  </a:lnTo>
                  <a:lnTo>
                    <a:pt x="1096" y="144"/>
                  </a:lnTo>
                  <a:lnTo>
                    <a:pt x="86" y="0"/>
                  </a:lnTo>
                  <a:lnTo>
                    <a:pt x="29" y="375"/>
                  </a:lnTo>
                  <a:lnTo>
                    <a:pt x="461" y="461"/>
                  </a:lnTo>
                  <a:lnTo>
                    <a:pt x="0" y="1154"/>
                  </a:lnTo>
                  <a:lnTo>
                    <a:pt x="4759" y="13154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7" name="Freeform 2020">
              <a:extLst>
                <a:ext uri="{FF2B5EF4-FFF2-40B4-BE49-F238E27FC236}">
                  <a16:creationId xmlns:a16="http://schemas.microsoft.com/office/drawing/2014/main" id="{081CE925-ABEE-472A-8B9F-4BA774149DE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5349" y="5152762"/>
              <a:ext cx="29654" cy="368873"/>
            </a:xfrm>
            <a:custGeom>
              <a:avLst/>
              <a:gdLst>
                <a:gd name="T0" fmla="*/ 231 w 865"/>
                <a:gd name="T1" fmla="*/ 10760 h 10760"/>
                <a:gd name="T2" fmla="*/ 634 w 865"/>
                <a:gd name="T3" fmla="*/ 10760 h 10760"/>
                <a:gd name="T4" fmla="*/ 865 w 865"/>
                <a:gd name="T5" fmla="*/ 6779 h 10760"/>
                <a:gd name="T6" fmla="*/ 865 w 865"/>
                <a:gd name="T7" fmla="*/ 6779 h 10760"/>
                <a:gd name="T8" fmla="*/ 375 w 865"/>
                <a:gd name="T9" fmla="*/ 0 h 10760"/>
                <a:gd name="T10" fmla="*/ 0 w 865"/>
                <a:gd name="T11" fmla="*/ 29 h 10760"/>
                <a:gd name="T12" fmla="*/ 461 w 865"/>
                <a:gd name="T13" fmla="*/ 6779 h 10760"/>
                <a:gd name="T14" fmla="*/ 231 w 865"/>
                <a:gd name="T15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5" h="10760">
                  <a:moveTo>
                    <a:pt x="231" y="10760"/>
                  </a:moveTo>
                  <a:lnTo>
                    <a:pt x="634" y="10760"/>
                  </a:lnTo>
                  <a:lnTo>
                    <a:pt x="865" y="6779"/>
                  </a:lnTo>
                  <a:lnTo>
                    <a:pt x="865" y="6779"/>
                  </a:lnTo>
                  <a:lnTo>
                    <a:pt x="375" y="0"/>
                  </a:lnTo>
                  <a:lnTo>
                    <a:pt x="0" y="29"/>
                  </a:lnTo>
                  <a:lnTo>
                    <a:pt x="461" y="6779"/>
                  </a:lnTo>
                  <a:lnTo>
                    <a:pt x="231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8" name="Freeform 2021">
              <a:extLst>
                <a:ext uri="{FF2B5EF4-FFF2-40B4-BE49-F238E27FC236}">
                  <a16:creationId xmlns:a16="http://schemas.microsoft.com/office/drawing/2014/main" id="{1F130027-1652-461D-BC07-76204DAEBB31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7338" y="5340661"/>
              <a:ext cx="464725" cy="140419"/>
            </a:xfrm>
            <a:custGeom>
              <a:avLst/>
              <a:gdLst>
                <a:gd name="T0" fmla="*/ 13354 w 13556"/>
                <a:gd name="T1" fmla="*/ 0 h 4096"/>
                <a:gd name="T2" fmla="*/ 9922 w 13556"/>
                <a:gd name="T3" fmla="*/ 2538 h 4096"/>
                <a:gd name="T4" fmla="*/ 3691 w 13556"/>
                <a:gd name="T5" fmla="*/ 2538 h 4096"/>
                <a:gd name="T6" fmla="*/ 173 w 13556"/>
                <a:gd name="T7" fmla="*/ 0 h 4096"/>
                <a:gd name="T8" fmla="*/ 144 w 13556"/>
                <a:gd name="T9" fmla="*/ 606 h 4096"/>
                <a:gd name="T10" fmla="*/ 86 w 13556"/>
                <a:gd name="T11" fmla="*/ 1356 h 4096"/>
                <a:gd name="T12" fmla="*/ 0 w 13556"/>
                <a:gd name="T13" fmla="*/ 4096 h 4096"/>
                <a:gd name="T14" fmla="*/ 13556 w 13556"/>
                <a:gd name="T15" fmla="*/ 4067 h 4096"/>
                <a:gd name="T16" fmla="*/ 13412 w 13556"/>
                <a:gd name="T17" fmla="*/ 1327 h 4096"/>
                <a:gd name="T18" fmla="*/ 13354 w 13556"/>
                <a:gd name="T19" fmla="*/ 0 h 4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56" h="4096">
                  <a:moveTo>
                    <a:pt x="13354" y="0"/>
                  </a:moveTo>
                  <a:lnTo>
                    <a:pt x="9922" y="2538"/>
                  </a:lnTo>
                  <a:lnTo>
                    <a:pt x="3691" y="2538"/>
                  </a:lnTo>
                  <a:lnTo>
                    <a:pt x="173" y="0"/>
                  </a:lnTo>
                  <a:lnTo>
                    <a:pt x="144" y="606"/>
                  </a:lnTo>
                  <a:lnTo>
                    <a:pt x="86" y="1356"/>
                  </a:lnTo>
                  <a:lnTo>
                    <a:pt x="0" y="4096"/>
                  </a:lnTo>
                  <a:lnTo>
                    <a:pt x="13556" y="4067"/>
                  </a:lnTo>
                  <a:lnTo>
                    <a:pt x="13412" y="1327"/>
                  </a:lnTo>
                  <a:lnTo>
                    <a:pt x="13354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9" name="Freeform 2022">
              <a:extLst>
                <a:ext uri="{FF2B5EF4-FFF2-40B4-BE49-F238E27FC236}">
                  <a16:creationId xmlns:a16="http://schemas.microsoft.com/office/drawing/2014/main" id="{4A2FCBEA-828A-4803-BBE8-7F0D6F3EE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6032428" y="5420743"/>
              <a:ext cx="138430" cy="60336"/>
            </a:xfrm>
            <a:custGeom>
              <a:avLst/>
              <a:gdLst>
                <a:gd name="T0" fmla="*/ 4038 w 4038"/>
                <a:gd name="T1" fmla="*/ 1760 h 1760"/>
                <a:gd name="T2" fmla="*/ 0 w 4038"/>
                <a:gd name="T3" fmla="*/ 1760 h 1760"/>
                <a:gd name="T4" fmla="*/ 0 w 4038"/>
                <a:gd name="T5" fmla="*/ 1674 h 1760"/>
                <a:gd name="T6" fmla="*/ 692 w 4038"/>
                <a:gd name="T7" fmla="*/ 0 h 1760"/>
                <a:gd name="T8" fmla="*/ 3144 w 4038"/>
                <a:gd name="T9" fmla="*/ 0 h 1760"/>
                <a:gd name="T10" fmla="*/ 4038 w 4038"/>
                <a:gd name="T11" fmla="*/ 1760 h 1760"/>
                <a:gd name="T12" fmla="*/ 4038 w 4038"/>
                <a:gd name="T13" fmla="*/ 1760 h 1760"/>
                <a:gd name="T14" fmla="*/ 4038 w 4038"/>
                <a:gd name="T15" fmla="*/ 1760 h 1760"/>
                <a:gd name="T16" fmla="*/ 4038 w 4038"/>
                <a:gd name="T17" fmla="*/ 1760 h 1760"/>
                <a:gd name="T18" fmla="*/ 4038 w 4038"/>
                <a:gd name="T1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38" h="1760">
                  <a:moveTo>
                    <a:pt x="4038" y="1760"/>
                  </a:moveTo>
                  <a:lnTo>
                    <a:pt x="0" y="1760"/>
                  </a:lnTo>
                  <a:lnTo>
                    <a:pt x="0" y="1674"/>
                  </a:lnTo>
                  <a:lnTo>
                    <a:pt x="692" y="0"/>
                  </a:lnTo>
                  <a:lnTo>
                    <a:pt x="3144" y="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0" name="Freeform 2024">
              <a:extLst>
                <a:ext uri="{FF2B5EF4-FFF2-40B4-BE49-F238E27FC236}">
                  <a16:creationId xmlns:a16="http://schemas.microsoft.com/office/drawing/2014/main" id="{53442A0A-BC6A-445B-B7D7-4B2B3EDB9314}"/>
                </a:ext>
              </a:extLst>
            </p:cNvPr>
            <p:cNvSpPr>
              <a:spLocks/>
            </p:cNvSpPr>
            <p:nvPr/>
          </p:nvSpPr>
          <p:spPr bwMode="gray">
            <a:xfrm>
              <a:off x="5844564" y="5420743"/>
              <a:ext cx="139425" cy="60336"/>
            </a:xfrm>
            <a:custGeom>
              <a:avLst/>
              <a:gdLst>
                <a:gd name="T0" fmla="*/ 4067 w 4067"/>
                <a:gd name="T1" fmla="*/ 1674 h 1760"/>
                <a:gd name="T2" fmla="*/ 4067 w 4067"/>
                <a:gd name="T3" fmla="*/ 1760 h 1760"/>
                <a:gd name="T4" fmla="*/ 0 w 4067"/>
                <a:gd name="T5" fmla="*/ 1760 h 1760"/>
                <a:gd name="T6" fmla="*/ 894 w 4067"/>
                <a:gd name="T7" fmla="*/ 0 h 1760"/>
                <a:gd name="T8" fmla="*/ 3346 w 4067"/>
                <a:gd name="T9" fmla="*/ 0 h 1760"/>
                <a:gd name="T10" fmla="*/ 4067 w 4067"/>
                <a:gd name="T11" fmla="*/ 1674 h 1760"/>
                <a:gd name="T12" fmla="*/ 4067 w 4067"/>
                <a:gd name="T13" fmla="*/ 1674 h 1760"/>
                <a:gd name="T14" fmla="*/ 4067 w 4067"/>
                <a:gd name="T15" fmla="*/ 1674 h 1760"/>
                <a:gd name="T16" fmla="*/ 4067 w 4067"/>
                <a:gd name="T17" fmla="*/ 1674 h 1760"/>
                <a:gd name="T18" fmla="*/ 4067 w 4067"/>
                <a:gd name="T19" fmla="*/ 1674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67" h="1760">
                  <a:moveTo>
                    <a:pt x="4067" y="1674"/>
                  </a:moveTo>
                  <a:lnTo>
                    <a:pt x="4067" y="1760"/>
                  </a:lnTo>
                  <a:lnTo>
                    <a:pt x="0" y="1760"/>
                  </a:lnTo>
                  <a:lnTo>
                    <a:pt x="894" y="0"/>
                  </a:lnTo>
                  <a:lnTo>
                    <a:pt x="3346" y="0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1" name="Rectangle 2025">
              <a:extLst>
                <a:ext uri="{FF2B5EF4-FFF2-40B4-BE49-F238E27FC236}">
                  <a16:creationId xmlns:a16="http://schemas.microsoft.com/office/drawing/2014/main" id="{2F5C423B-C4C6-4045-ACC0-80CF949D20A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02775" y="5427669"/>
              <a:ext cx="12856" cy="52417"/>
            </a:xfrm>
            <a:prstGeom prst="rect">
              <a:avLst/>
            </a:pr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2" name="Freeform 2026">
              <a:extLst>
                <a:ext uri="{FF2B5EF4-FFF2-40B4-BE49-F238E27FC236}">
                  <a16:creationId xmlns:a16="http://schemas.microsoft.com/office/drawing/2014/main" id="{896075A1-C2CE-4A09-BE72-119A086C735B}"/>
                </a:ext>
              </a:extLst>
            </p:cNvPr>
            <p:cNvSpPr>
              <a:spLocks/>
            </p:cNvSpPr>
            <p:nvPr/>
          </p:nvSpPr>
          <p:spPr bwMode="gray">
            <a:xfrm>
              <a:off x="5704145" y="5446488"/>
              <a:ext cx="607131" cy="48441"/>
            </a:xfrm>
            <a:custGeom>
              <a:avLst/>
              <a:gdLst>
                <a:gd name="T0" fmla="*/ 614 w 614"/>
                <a:gd name="T1" fmla="*/ 49 h 49"/>
                <a:gd name="T2" fmla="*/ 0 w 614"/>
                <a:gd name="T3" fmla="*/ 49 h 49"/>
                <a:gd name="T4" fmla="*/ 0 w 614"/>
                <a:gd name="T5" fmla="*/ 45 h 49"/>
                <a:gd name="T6" fmla="*/ 45 w 614"/>
                <a:gd name="T7" fmla="*/ 0 h 49"/>
                <a:gd name="T8" fmla="*/ 569 w 614"/>
                <a:gd name="T9" fmla="*/ 0 h 49"/>
                <a:gd name="T10" fmla="*/ 614 w 614"/>
                <a:gd name="T11" fmla="*/ 45 h 49"/>
                <a:gd name="T12" fmla="*/ 614 w 614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4" h="49">
                  <a:moveTo>
                    <a:pt x="614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7" y="27"/>
                    <a:pt x="27" y="17"/>
                    <a:pt x="45" y="0"/>
                  </a:cubicBezTo>
                  <a:cubicBezTo>
                    <a:pt x="569" y="0"/>
                    <a:pt x="569" y="0"/>
                    <a:pt x="569" y="0"/>
                  </a:cubicBezTo>
                  <a:cubicBezTo>
                    <a:pt x="587" y="17"/>
                    <a:pt x="596" y="27"/>
                    <a:pt x="614" y="45"/>
                  </a:cubicBezTo>
                  <a:lnTo>
                    <a:pt x="614" y="49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3" name="Freeform 2027">
              <a:extLst>
                <a:ext uri="{FF2B5EF4-FFF2-40B4-BE49-F238E27FC236}">
                  <a16:creationId xmlns:a16="http://schemas.microsoft.com/office/drawing/2014/main" id="{D711A0A4-6B81-4E28-87A1-E02F37AAF53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38771" y="5087490"/>
              <a:ext cx="537882" cy="382722"/>
            </a:xfrm>
            <a:custGeom>
              <a:avLst/>
              <a:gdLst>
                <a:gd name="T0" fmla="*/ 521 w 544"/>
                <a:gd name="T1" fmla="*/ 387 h 387"/>
                <a:gd name="T2" fmla="*/ 23 w 544"/>
                <a:gd name="T3" fmla="*/ 387 h 387"/>
                <a:gd name="T4" fmla="*/ 0 w 544"/>
                <a:gd name="T5" fmla="*/ 364 h 387"/>
                <a:gd name="T6" fmla="*/ 0 w 544"/>
                <a:gd name="T7" fmla="*/ 24 h 387"/>
                <a:gd name="T8" fmla="*/ 23 w 544"/>
                <a:gd name="T9" fmla="*/ 0 h 387"/>
                <a:gd name="T10" fmla="*/ 521 w 544"/>
                <a:gd name="T11" fmla="*/ 0 h 387"/>
                <a:gd name="T12" fmla="*/ 544 w 544"/>
                <a:gd name="T13" fmla="*/ 24 h 387"/>
                <a:gd name="T14" fmla="*/ 544 w 544"/>
                <a:gd name="T15" fmla="*/ 364 h 387"/>
                <a:gd name="T16" fmla="*/ 521 w 544"/>
                <a:gd name="T17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4" h="387">
                  <a:moveTo>
                    <a:pt x="521" y="387"/>
                  </a:moveTo>
                  <a:cubicBezTo>
                    <a:pt x="23" y="387"/>
                    <a:pt x="23" y="387"/>
                    <a:pt x="23" y="387"/>
                  </a:cubicBezTo>
                  <a:cubicBezTo>
                    <a:pt x="10" y="387"/>
                    <a:pt x="0" y="377"/>
                    <a:pt x="0" y="36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34" y="0"/>
                    <a:pt x="544" y="11"/>
                    <a:pt x="544" y="24"/>
                  </a:cubicBezTo>
                  <a:cubicBezTo>
                    <a:pt x="544" y="364"/>
                    <a:pt x="544" y="364"/>
                    <a:pt x="544" y="364"/>
                  </a:cubicBezTo>
                  <a:cubicBezTo>
                    <a:pt x="544" y="377"/>
                    <a:pt x="534" y="387"/>
                    <a:pt x="521" y="387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4" name="Oval 2028">
              <a:extLst>
                <a:ext uri="{FF2B5EF4-FFF2-40B4-BE49-F238E27FC236}">
                  <a16:creationId xmlns:a16="http://schemas.microsoft.com/office/drawing/2014/main" id="{CB88D317-E65A-49A3-BFAF-B07F8CBCD0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957283" y="5198255"/>
              <a:ext cx="104800" cy="104833"/>
            </a:xfrm>
            <a:prstGeom prst="ellipse">
              <a:avLst/>
            </a:prstGeom>
            <a:solidFill>
              <a:srgbClr val="879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5" name="Freeform 2029">
              <a:extLst>
                <a:ext uri="{FF2B5EF4-FFF2-40B4-BE49-F238E27FC236}">
                  <a16:creationId xmlns:a16="http://schemas.microsoft.com/office/drawing/2014/main" id="{B2BF1672-D015-43CC-A60F-D4DDDA5C5940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774807"/>
              <a:ext cx="534933" cy="55365"/>
            </a:xfrm>
            <a:custGeom>
              <a:avLst/>
              <a:gdLst>
                <a:gd name="T0" fmla="*/ 486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6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6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6" name="Freeform 2030">
              <a:extLst>
                <a:ext uri="{FF2B5EF4-FFF2-40B4-BE49-F238E27FC236}">
                  <a16:creationId xmlns:a16="http://schemas.microsoft.com/office/drawing/2014/main" id="{3624AF13-7A67-4CA4-BA08-0086A73A069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7" name="Freeform 2031">
              <a:extLst>
                <a:ext uri="{FF2B5EF4-FFF2-40B4-BE49-F238E27FC236}">
                  <a16:creationId xmlns:a16="http://schemas.microsoft.com/office/drawing/2014/main" id="{99F84051-9599-4828-BAB4-9AAD20F8803B}"/>
                </a:ext>
              </a:extLst>
            </p:cNvPr>
            <p:cNvSpPr>
              <a:spLocks/>
            </p:cNvSpPr>
            <p:nvPr/>
          </p:nvSpPr>
          <p:spPr bwMode="gray">
            <a:xfrm>
              <a:off x="6573292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8" name="Freeform 2032">
              <a:extLst>
                <a:ext uri="{FF2B5EF4-FFF2-40B4-BE49-F238E27FC236}">
                  <a16:creationId xmlns:a16="http://schemas.microsoft.com/office/drawing/2014/main" id="{70EF6605-EEB2-4079-9D86-5BABC786BE99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455367"/>
              <a:ext cx="32602" cy="884129"/>
            </a:xfrm>
            <a:custGeom>
              <a:avLst/>
              <a:gdLst>
                <a:gd name="T0" fmla="*/ 0 w 951"/>
                <a:gd name="T1" fmla="*/ 0 h 25790"/>
                <a:gd name="T2" fmla="*/ 951 w 951"/>
                <a:gd name="T3" fmla="*/ 0 h 25790"/>
                <a:gd name="T4" fmla="*/ 951 w 951"/>
                <a:gd name="T5" fmla="*/ 25790 h 25790"/>
                <a:gd name="T6" fmla="*/ 0 w 951"/>
                <a:gd name="T7" fmla="*/ 25790 h 25790"/>
                <a:gd name="T8" fmla="*/ 0 w 951"/>
                <a:gd name="T9" fmla="*/ 0 h 25790"/>
                <a:gd name="T10" fmla="*/ 0 w 951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1" h="25790">
                  <a:moveTo>
                    <a:pt x="0" y="0"/>
                  </a:moveTo>
                  <a:lnTo>
                    <a:pt x="951" y="0"/>
                  </a:lnTo>
                  <a:lnTo>
                    <a:pt x="951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9" name="Freeform 2033">
              <a:extLst>
                <a:ext uri="{FF2B5EF4-FFF2-40B4-BE49-F238E27FC236}">
                  <a16:creationId xmlns:a16="http://schemas.microsoft.com/office/drawing/2014/main" id="{96E81AB1-1E20-4E05-BB69-D000ABB3AEC9}"/>
                </a:ext>
              </a:extLst>
            </p:cNvPr>
            <p:cNvSpPr>
              <a:spLocks/>
            </p:cNvSpPr>
            <p:nvPr/>
          </p:nvSpPr>
          <p:spPr bwMode="gray">
            <a:xfrm>
              <a:off x="706078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0" name="Freeform 2034">
              <a:extLst>
                <a:ext uri="{FF2B5EF4-FFF2-40B4-BE49-F238E27FC236}">
                  <a16:creationId xmlns:a16="http://schemas.microsoft.com/office/drawing/2014/main" id="{C40FC22B-80C2-4E31-81A4-63EEB4660227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246696"/>
              <a:ext cx="534933" cy="208673"/>
            </a:xfrm>
            <a:custGeom>
              <a:avLst/>
              <a:gdLst>
                <a:gd name="T0" fmla="*/ 405 w 541"/>
                <a:gd name="T1" fmla="*/ 0 h 211"/>
                <a:gd name="T2" fmla="*/ 137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5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5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80" y="0"/>
                    <a:pt x="405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1" name="Freeform 2035">
              <a:extLst>
                <a:ext uri="{FF2B5EF4-FFF2-40B4-BE49-F238E27FC236}">
                  <a16:creationId xmlns:a16="http://schemas.microsoft.com/office/drawing/2014/main" id="{F016599F-C042-46D7-AF23-E03EBE45AC2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12992" y="5161641"/>
              <a:ext cx="124580" cy="330305"/>
            </a:xfrm>
            <a:custGeom>
              <a:avLst/>
              <a:gdLst>
                <a:gd name="T0" fmla="*/ 403 w 3634"/>
                <a:gd name="T1" fmla="*/ 6030 h 9635"/>
                <a:gd name="T2" fmla="*/ 0 w 3634"/>
                <a:gd name="T3" fmla="*/ 0 h 9635"/>
                <a:gd name="T4" fmla="*/ 3115 w 3634"/>
                <a:gd name="T5" fmla="*/ 0 h 9635"/>
                <a:gd name="T6" fmla="*/ 2971 w 3634"/>
                <a:gd name="T7" fmla="*/ 4818 h 9635"/>
                <a:gd name="T8" fmla="*/ 3634 w 3634"/>
                <a:gd name="T9" fmla="*/ 7212 h 9635"/>
                <a:gd name="T10" fmla="*/ 2884 w 3634"/>
                <a:gd name="T11" fmla="*/ 9635 h 9635"/>
                <a:gd name="T12" fmla="*/ 1673 w 3634"/>
                <a:gd name="T13" fmla="*/ 8453 h 9635"/>
                <a:gd name="T14" fmla="*/ 403 w 3634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34" h="9635">
                  <a:moveTo>
                    <a:pt x="403" y="6030"/>
                  </a:moveTo>
                  <a:lnTo>
                    <a:pt x="0" y="0"/>
                  </a:lnTo>
                  <a:lnTo>
                    <a:pt x="3115" y="0"/>
                  </a:lnTo>
                  <a:lnTo>
                    <a:pt x="2971" y="4818"/>
                  </a:lnTo>
                  <a:lnTo>
                    <a:pt x="3634" y="7212"/>
                  </a:lnTo>
                  <a:lnTo>
                    <a:pt x="2884" y="9635"/>
                  </a:lnTo>
                  <a:lnTo>
                    <a:pt x="1673" y="8453"/>
                  </a:lnTo>
                  <a:lnTo>
                    <a:pt x="403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2" name="Freeform 2036">
              <a:extLst>
                <a:ext uri="{FF2B5EF4-FFF2-40B4-BE49-F238E27FC236}">
                  <a16:creationId xmlns:a16="http://schemas.microsoft.com/office/drawing/2014/main" id="{AC695C71-21FC-45D4-910C-2C8B75E32653}"/>
                </a:ext>
              </a:extLst>
            </p:cNvPr>
            <p:cNvSpPr>
              <a:spLocks/>
            </p:cNvSpPr>
            <p:nvPr/>
          </p:nvSpPr>
          <p:spPr bwMode="gray">
            <a:xfrm>
              <a:off x="7024167" y="5161641"/>
              <a:ext cx="118684" cy="330305"/>
            </a:xfrm>
            <a:custGeom>
              <a:avLst/>
              <a:gdLst>
                <a:gd name="T0" fmla="*/ 3289 w 3462"/>
                <a:gd name="T1" fmla="*/ 6030 h 9635"/>
                <a:gd name="T2" fmla="*/ 3462 w 3462"/>
                <a:gd name="T3" fmla="*/ 0 h 9635"/>
                <a:gd name="T4" fmla="*/ 231 w 3462"/>
                <a:gd name="T5" fmla="*/ 0 h 9635"/>
                <a:gd name="T6" fmla="*/ 779 w 3462"/>
                <a:gd name="T7" fmla="*/ 4818 h 9635"/>
                <a:gd name="T8" fmla="*/ 0 w 3462"/>
                <a:gd name="T9" fmla="*/ 7385 h 9635"/>
                <a:gd name="T10" fmla="*/ 520 w 3462"/>
                <a:gd name="T11" fmla="*/ 9635 h 9635"/>
                <a:gd name="T12" fmla="*/ 2048 w 3462"/>
                <a:gd name="T13" fmla="*/ 8453 h 9635"/>
                <a:gd name="T14" fmla="*/ 3289 w 3462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2" h="9635">
                  <a:moveTo>
                    <a:pt x="3289" y="6030"/>
                  </a:moveTo>
                  <a:lnTo>
                    <a:pt x="3462" y="0"/>
                  </a:lnTo>
                  <a:lnTo>
                    <a:pt x="231" y="0"/>
                  </a:lnTo>
                  <a:lnTo>
                    <a:pt x="779" y="4818"/>
                  </a:lnTo>
                  <a:lnTo>
                    <a:pt x="0" y="7385"/>
                  </a:lnTo>
                  <a:lnTo>
                    <a:pt x="520" y="9635"/>
                  </a:lnTo>
                  <a:lnTo>
                    <a:pt x="2048" y="8453"/>
                  </a:lnTo>
                  <a:lnTo>
                    <a:pt x="3289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3" name="Freeform 2037">
              <a:extLst>
                <a:ext uri="{FF2B5EF4-FFF2-40B4-BE49-F238E27FC236}">
                  <a16:creationId xmlns:a16="http://schemas.microsoft.com/office/drawing/2014/main" id="{B6EC6AA8-1597-40FB-81CE-2B8336D0E3F3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5577994"/>
              <a:ext cx="438052" cy="196812"/>
            </a:xfrm>
            <a:custGeom>
              <a:avLst/>
              <a:gdLst>
                <a:gd name="T0" fmla="*/ 399 w 443"/>
                <a:gd name="T1" fmla="*/ 199 h 199"/>
                <a:gd name="T2" fmla="*/ 42 w 443"/>
                <a:gd name="T3" fmla="*/ 199 h 199"/>
                <a:gd name="T4" fmla="*/ 25 w 443"/>
                <a:gd name="T5" fmla="*/ 184 h 199"/>
                <a:gd name="T6" fmla="*/ 0 w 443"/>
                <a:gd name="T7" fmla="*/ 0 h 199"/>
                <a:gd name="T8" fmla="*/ 443 w 443"/>
                <a:gd name="T9" fmla="*/ 0 h 199"/>
                <a:gd name="T10" fmla="*/ 416 w 443"/>
                <a:gd name="T11" fmla="*/ 184 h 199"/>
                <a:gd name="T12" fmla="*/ 399 w 443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3" h="199">
                  <a:moveTo>
                    <a:pt x="399" y="199"/>
                  </a:moveTo>
                  <a:cubicBezTo>
                    <a:pt x="42" y="199"/>
                    <a:pt x="42" y="199"/>
                    <a:pt x="42" y="199"/>
                  </a:cubicBezTo>
                  <a:cubicBezTo>
                    <a:pt x="36" y="193"/>
                    <a:pt x="31" y="189"/>
                    <a:pt x="25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3" y="0"/>
                    <a:pt x="443" y="0"/>
                    <a:pt x="443" y="0"/>
                  </a:cubicBezTo>
                  <a:cubicBezTo>
                    <a:pt x="416" y="184"/>
                    <a:pt x="416" y="184"/>
                    <a:pt x="416" y="184"/>
                  </a:cubicBezTo>
                  <a:cubicBezTo>
                    <a:pt x="410" y="190"/>
                    <a:pt x="406" y="193"/>
                    <a:pt x="399" y="199"/>
                  </a:cubicBezTo>
                  <a:close/>
                </a:path>
              </a:pathLst>
            </a:custGeom>
            <a:solidFill>
              <a:srgbClr val="005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4" name="Freeform 2038">
              <a:extLst>
                <a:ext uri="{FF2B5EF4-FFF2-40B4-BE49-F238E27FC236}">
                  <a16:creationId xmlns:a16="http://schemas.microsoft.com/office/drawing/2014/main" id="{5F8490AA-ED76-4F45-B714-45C0B92F7115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4501030"/>
              <a:ext cx="434111" cy="392630"/>
            </a:xfrm>
            <a:custGeom>
              <a:avLst/>
              <a:gdLst>
                <a:gd name="T0" fmla="*/ 395 w 439"/>
                <a:gd name="T1" fmla="*/ 125 h 397"/>
                <a:gd name="T2" fmla="*/ 220 w 439"/>
                <a:gd name="T3" fmla="*/ 0 h 397"/>
                <a:gd name="T4" fmla="*/ 219 w 439"/>
                <a:gd name="T5" fmla="*/ 0 h 397"/>
                <a:gd name="T6" fmla="*/ 44 w 439"/>
                <a:gd name="T7" fmla="*/ 125 h 397"/>
                <a:gd name="T8" fmla="*/ 8 w 439"/>
                <a:gd name="T9" fmla="*/ 356 h 397"/>
                <a:gd name="T10" fmla="*/ 130 w 439"/>
                <a:gd name="T11" fmla="*/ 392 h 397"/>
                <a:gd name="T12" fmla="*/ 225 w 439"/>
                <a:gd name="T13" fmla="*/ 397 h 397"/>
                <a:gd name="T14" fmla="*/ 353 w 439"/>
                <a:gd name="T15" fmla="*/ 386 h 397"/>
                <a:gd name="T16" fmla="*/ 432 w 439"/>
                <a:gd name="T17" fmla="*/ 356 h 397"/>
                <a:gd name="T18" fmla="*/ 395 w 439"/>
                <a:gd name="T19" fmla="*/ 125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9" h="397">
                  <a:moveTo>
                    <a:pt x="395" y="125"/>
                  </a:moveTo>
                  <a:cubicBezTo>
                    <a:pt x="350" y="0"/>
                    <a:pt x="220" y="0"/>
                    <a:pt x="220" y="0"/>
                  </a:cubicBezTo>
                  <a:cubicBezTo>
                    <a:pt x="220" y="0"/>
                    <a:pt x="220" y="0"/>
                    <a:pt x="219" y="0"/>
                  </a:cubicBezTo>
                  <a:cubicBezTo>
                    <a:pt x="219" y="0"/>
                    <a:pt x="89" y="0"/>
                    <a:pt x="44" y="125"/>
                  </a:cubicBezTo>
                  <a:cubicBezTo>
                    <a:pt x="0" y="247"/>
                    <a:pt x="8" y="356"/>
                    <a:pt x="8" y="356"/>
                  </a:cubicBezTo>
                  <a:cubicBezTo>
                    <a:pt x="44" y="384"/>
                    <a:pt x="111" y="390"/>
                    <a:pt x="130" y="392"/>
                  </a:cubicBezTo>
                  <a:cubicBezTo>
                    <a:pt x="158" y="395"/>
                    <a:pt x="190" y="397"/>
                    <a:pt x="225" y="397"/>
                  </a:cubicBezTo>
                  <a:cubicBezTo>
                    <a:pt x="276" y="397"/>
                    <a:pt x="322" y="393"/>
                    <a:pt x="353" y="386"/>
                  </a:cubicBezTo>
                  <a:cubicBezTo>
                    <a:pt x="379" y="381"/>
                    <a:pt x="410" y="372"/>
                    <a:pt x="432" y="356"/>
                  </a:cubicBezTo>
                  <a:cubicBezTo>
                    <a:pt x="432" y="356"/>
                    <a:pt x="439" y="247"/>
                    <a:pt x="395" y="125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5" name="Freeform 2039">
              <a:extLst>
                <a:ext uri="{FF2B5EF4-FFF2-40B4-BE49-F238E27FC236}">
                  <a16:creationId xmlns:a16="http://schemas.microsoft.com/office/drawing/2014/main" id="{4B92A58F-81D7-49BC-A7FC-823A3AC5FBD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48438" y="4606859"/>
              <a:ext cx="355983" cy="382722"/>
            </a:xfrm>
            <a:custGeom>
              <a:avLst/>
              <a:gdLst>
                <a:gd name="T0" fmla="*/ 347 w 360"/>
                <a:gd name="T1" fmla="*/ 73 h 387"/>
                <a:gd name="T2" fmla="*/ 327 w 360"/>
                <a:gd name="T3" fmla="*/ 84 h 387"/>
                <a:gd name="T4" fmla="*/ 316 w 360"/>
                <a:gd name="T5" fmla="*/ 125 h 387"/>
                <a:gd name="T6" fmla="*/ 303 w 360"/>
                <a:gd name="T7" fmla="*/ 120 h 387"/>
                <a:gd name="T8" fmla="*/ 307 w 360"/>
                <a:gd name="T9" fmla="*/ 89 h 387"/>
                <a:gd name="T10" fmla="*/ 291 w 360"/>
                <a:gd name="T11" fmla="*/ 0 h 387"/>
                <a:gd name="T12" fmla="*/ 188 w 360"/>
                <a:gd name="T13" fmla="*/ 53 h 387"/>
                <a:gd name="T14" fmla="*/ 179 w 360"/>
                <a:gd name="T15" fmla="*/ 2 h 387"/>
                <a:gd name="T16" fmla="*/ 177 w 360"/>
                <a:gd name="T17" fmla="*/ 6 h 387"/>
                <a:gd name="T18" fmla="*/ 54 w 360"/>
                <a:gd name="T19" fmla="*/ 79 h 387"/>
                <a:gd name="T20" fmla="*/ 51 w 360"/>
                <a:gd name="T21" fmla="*/ 80 h 387"/>
                <a:gd name="T22" fmla="*/ 55 w 360"/>
                <a:gd name="T23" fmla="*/ 120 h 387"/>
                <a:gd name="T24" fmla="*/ 43 w 360"/>
                <a:gd name="T25" fmla="*/ 124 h 387"/>
                <a:gd name="T26" fmla="*/ 33 w 360"/>
                <a:gd name="T27" fmla="*/ 84 h 387"/>
                <a:gd name="T28" fmla="*/ 14 w 360"/>
                <a:gd name="T29" fmla="*/ 73 h 387"/>
                <a:gd name="T30" fmla="*/ 8 w 360"/>
                <a:gd name="T31" fmla="*/ 99 h 387"/>
                <a:gd name="T32" fmla="*/ 32 w 360"/>
                <a:gd name="T33" fmla="*/ 158 h 387"/>
                <a:gd name="T34" fmla="*/ 46 w 360"/>
                <a:gd name="T35" fmla="*/ 168 h 387"/>
                <a:gd name="T36" fmla="*/ 51 w 360"/>
                <a:gd name="T37" fmla="*/ 168 h 387"/>
                <a:gd name="T38" fmla="*/ 51 w 360"/>
                <a:gd name="T39" fmla="*/ 168 h 387"/>
                <a:gd name="T40" fmla="*/ 51 w 360"/>
                <a:gd name="T41" fmla="*/ 168 h 387"/>
                <a:gd name="T42" fmla="*/ 51 w 360"/>
                <a:gd name="T43" fmla="*/ 168 h 387"/>
                <a:gd name="T44" fmla="*/ 85 w 360"/>
                <a:gd name="T45" fmla="*/ 243 h 387"/>
                <a:gd name="T46" fmla="*/ 100 w 360"/>
                <a:gd name="T47" fmla="*/ 259 h 387"/>
                <a:gd name="T48" fmla="*/ 100 w 360"/>
                <a:gd name="T49" fmla="*/ 260 h 387"/>
                <a:gd name="T50" fmla="*/ 100 w 360"/>
                <a:gd name="T51" fmla="*/ 260 h 387"/>
                <a:gd name="T52" fmla="*/ 101 w 360"/>
                <a:gd name="T53" fmla="*/ 325 h 387"/>
                <a:gd name="T54" fmla="*/ 168 w 360"/>
                <a:gd name="T55" fmla="*/ 387 h 387"/>
                <a:gd name="T56" fmla="*/ 190 w 360"/>
                <a:gd name="T57" fmla="*/ 387 h 387"/>
                <a:gd name="T58" fmla="*/ 258 w 360"/>
                <a:gd name="T59" fmla="*/ 323 h 387"/>
                <a:gd name="T60" fmla="*/ 259 w 360"/>
                <a:gd name="T61" fmla="*/ 277 h 387"/>
                <a:gd name="T62" fmla="*/ 259 w 360"/>
                <a:gd name="T63" fmla="*/ 259 h 387"/>
                <a:gd name="T64" fmla="*/ 308 w 360"/>
                <a:gd name="T65" fmla="*/ 168 h 387"/>
                <a:gd name="T66" fmla="*/ 308 w 360"/>
                <a:gd name="T67" fmla="*/ 168 h 387"/>
                <a:gd name="T68" fmla="*/ 315 w 360"/>
                <a:gd name="T69" fmla="*/ 168 h 387"/>
                <a:gd name="T70" fmla="*/ 328 w 360"/>
                <a:gd name="T71" fmla="*/ 158 h 387"/>
                <a:gd name="T72" fmla="*/ 352 w 360"/>
                <a:gd name="T73" fmla="*/ 99 h 387"/>
                <a:gd name="T74" fmla="*/ 347 w 360"/>
                <a:gd name="T75" fmla="*/ 73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387">
                  <a:moveTo>
                    <a:pt x="347" y="73"/>
                  </a:moveTo>
                  <a:cubicBezTo>
                    <a:pt x="338" y="70"/>
                    <a:pt x="329" y="74"/>
                    <a:pt x="327" y="84"/>
                  </a:cubicBezTo>
                  <a:cubicBezTo>
                    <a:pt x="327" y="84"/>
                    <a:pt x="327" y="84"/>
                    <a:pt x="316" y="125"/>
                  </a:cubicBezTo>
                  <a:cubicBezTo>
                    <a:pt x="303" y="120"/>
                    <a:pt x="303" y="120"/>
                    <a:pt x="303" y="120"/>
                  </a:cubicBezTo>
                  <a:cubicBezTo>
                    <a:pt x="307" y="89"/>
                    <a:pt x="307" y="89"/>
                    <a:pt x="307" y="89"/>
                  </a:cubicBezTo>
                  <a:cubicBezTo>
                    <a:pt x="308" y="40"/>
                    <a:pt x="291" y="0"/>
                    <a:pt x="291" y="0"/>
                  </a:cubicBezTo>
                  <a:cubicBezTo>
                    <a:pt x="260" y="46"/>
                    <a:pt x="188" y="53"/>
                    <a:pt x="188" y="53"/>
                  </a:cubicBezTo>
                  <a:cubicBezTo>
                    <a:pt x="179" y="2"/>
                    <a:pt x="179" y="2"/>
                    <a:pt x="179" y="2"/>
                  </a:cubicBezTo>
                  <a:cubicBezTo>
                    <a:pt x="179" y="2"/>
                    <a:pt x="178" y="4"/>
                    <a:pt x="177" y="6"/>
                  </a:cubicBezTo>
                  <a:cubicBezTo>
                    <a:pt x="148" y="47"/>
                    <a:pt x="103" y="73"/>
                    <a:pt x="54" y="79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5" y="120"/>
                    <a:pt x="55" y="120"/>
                    <a:pt x="55" y="120"/>
                  </a:cubicBezTo>
                  <a:cubicBezTo>
                    <a:pt x="49" y="122"/>
                    <a:pt x="45" y="124"/>
                    <a:pt x="43" y="124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1" y="74"/>
                    <a:pt x="22" y="70"/>
                    <a:pt x="14" y="73"/>
                  </a:cubicBezTo>
                  <a:cubicBezTo>
                    <a:pt x="14" y="73"/>
                    <a:pt x="0" y="78"/>
                    <a:pt x="8" y="99"/>
                  </a:cubicBezTo>
                  <a:cubicBezTo>
                    <a:pt x="8" y="99"/>
                    <a:pt x="8" y="99"/>
                    <a:pt x="32" y="158"/>
                  </a:cubicBezTo>
                  <a:cubicBezTo>
                    <a:pt x="34" y="164"/>
                    <a:pt x="40" y="168"/>
                    <a:pt x="46" y="168"/>
                  </a:cubicBezTo>
                  <a:cubicBezTo>
                    <a:pt x="46" y="168"/>
                    <a:pt x="46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61" y="201"/>
                    <a:pt x="73" y="225"/>
                    <a:pt x="85" y="243"/>
                  </a:cubicBezTo>
                  <a:cubicBezTo>
                    <a:pt x="90" y="249"/>
                    <a:pt x="95" y="255"/>
                    <a:pt x="100" y="259"/>
                  </a:cubicBezTo>
                  <a:cubicBezTo>
                    <a:pt x="100" y="259"/>
                    <a:pt x="100" y="259"/>
                    <a:pt x="100" y="260"/>
                  </a:cubicBezTo>
                  <a:cubicBezTo>
                    <a:pt x="100" y="260"/>
                    <a:pt x="100" y="260"/>
                    <a:pt x="100" y="260"/>
                  </a:cubicBezTo>
                  <a:cubicBezTo>
                    <a:pt x="101" y="277"/>
                    <a:pt x="101" y="303"/>
                    <a:pt x="101" y="325"/>
                  </a:cubicBezTo>
                  <a:cubicBezTo>
                    <a:pt x="168" y="387"/>
                    <a:pt x="168" y="387"/>
                    <a:pt x="168" y="387"/>
                  </a:cubicBezTo>
                  <a:cubicBezTo>
                    <a:pt x="190" y="387"/>
                    <a:pt x="190" y="387"/>
                    <a:pt x="190" y="387"/>
                  </a:cubicBezTo>
                  <a:cubicBezTo>
                    <a:pt x="258" y="323"/>
                    <a:pt x="258" y="323"/>
                    <a:pt x="258" y="323"/>
                  </a:cubicBezTo>
                  <a:cubicBezTo>
                    <a:pt x="259" y="277"/>
                    <a:pt x="259" y="277"/>
                    <a:pt x="259" y="277"/>
                  </a:cubicBezTo>
                  <a:cubicBezTo>
                    <a:pt x="259" y="272"/>
                    <a:pt x="259" y="261"/>
                    <a:pt x="259" y="259"/>
                  </a:cubicBezTo>
                  <a:cubicBezTo>
                    <a:pt x="278" y="241"/>
                    <a:pt x="295" y="213"/>
                    <a:pt x="308" y="168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09" y="168"/>
                    <a:pt x="311" y="168"/>
                    <a:pt x="315" y="168"/>
                  </a:cubicBezTo>
                  <a:cubicBezTo>
                    <a:pt x="321" y="168"/>
                    <a:pt x="326" y="164"/>
                    <a:pt x="328" y="158"/>
                  </a:cubicBezTo>
                  <a:cubicBezTo>
                    <a:pt x="328" y="158"/>
                    <a:pt x="328" y="158"/>
                    <a:pt x="352" y="99"/>
                  </a:cubicBezTo>
                  <a:cubicBezTo>
                    <a:pt x="360" y="78"/>
                    <a:pt x="347" y="73"/>
                    <a:pt x="347" y="73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6" name="Freeform 2040">
              <a:extLst>
                <a:ext uri="{FF2B5EF4-FFF2-40B4-BE49-F238E27FC236}">
                  <a16:creationId xmlns:a16="http://schemas.microsoft.com/office/drawing/2014/main" id="{87F3A97F-E40C-4575-9823-3BA3ED1D4AFF}"/>
                </a:ext>
              </a:extLst>
            </p:cNvPr>
            <p:cNvSpPr>
              <a:spLocks/>
            </p:cNvSpPr>
            <p:nvPr/>
          </p:nvSpPr>
          <p:spPr bwMode="gray">
            <a:xfrm>
              <a:off x="6491222" y="4896608"/>
              <a:ext cx="659514" cy="656668"/>
            </a:xfrm>
            <a:custGeom>
              <a:avLst/>
              <a:gdLst>
                <a:gd name="T0" fmla="*/ 520 w 667"/>
                <a:gd name="T1" fmla="*/ 422 h 664"/>
                <a:gd name="T2" fmla="*/ 564 w 667"/>
                <a:gd name="T3" fmla="*/ 663 h 664"/>
                <a:gd name="T4" fmla="*/ 109 w 667"/>
                <a:gd name="T5" fmla="*/ 664 h 664"/>
                <a:gd name="T6" fmla="*/ 159 w 667"/>
                <a:gd name="T7" fmla="*/ 422 h 664"/>
                <a:gd name="T8" fmla="*/ 118 w 667"/>
                <a:gd name="T9" fmla="*/ 291 h 664"/>
                <a:gd name="T10" fmla="*/ 11 w 667"/>
                <a:gd name="T11" fmla="*/ 277 h 664"/>
                <a:gd name="T12" fmla="*/ 103 w 667"/>
                <a:gd name="T13" fmla="*/ 63 h 664"/>
                <a:gd name="T14" fmla="*/ 260 w 667"/>
                <a:gd name="T15" fmla="*/ 0 h 664"/>
                <a:gd name="T16" fmla="*/ 326 w 667"/>
                <a:gd name="T17" fmla="*/ 67 h 664"/>
                <a:gd name="T18" fmla="*/ 351 w 667"/>
                <a:gd name="T19" fmla="*/ 67 h 664"/>
                <a:gd name="T20" fmla="*/ 417 w 667"/>
                <a:gd name="T21" fmla="*/ 0 h 664"/>
                <a:gd name="T22" fmla="*/ 575 w 667"/>
                <a:gd name="T23" fmla="*/ 63 h 664"/>
                <a:gd name="T24" fmla="*/ 667 w 667"/>
                <a:gd name="T25" fmla="*/ 277 h 664"/>
                <a:gd name="T26" fmla="*/ 560 w 667"/>
                <a:gd name="T27" fmla="*/ 291 h 664"/>
                <a:gd name="T28" fmla="*/ 560 w 667"/>
                <a:gd name="T29" fmla="*/ 291 h 664"/>
                <a:gd name="T30" fmla="*/ 520 w 667"/>
                <a:gd name="T31" fmla="*/ 422 h 664"/>
                <a:gd name="T32" fmla="*/ 520 w 667"/>
                <a:gd name="T33" fmla="*/ 422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7" h="664">
                  <a:moveTo>
                    <a:pt x="520" y="422"/>
                  </a:moveTo>
                  <a:cubicBezTo>
                    <a:pt x="564" y="663"/>
                    <a:pt x="564" y="663"/>
                    <a:pt x="564" y="663"/>
                  </a:cubicBezTo>
                  <a:cubicBezTo>
                    <a:pt x="109" y="664"/>
                    <a:pt x="109" y="664"/>
                    <a:pt x="109" y="664"/>
                  </a:cubicBezTo>
                  <a:cubicBezTo>
                    <a:pt x="159" y="422"/>
                    <a:pt x="159" y="422"/>
                    <a:pt x="159" y="422"/>
                  </a:cubicBezTo>
                  <a:cubicBezTo>
                    <a:pt x="118" y="291"/>
                    <a:pt x="118" y="291"/>
                    <a:pt x="118" y="291"/>
                  </a:cubicBezTo>
                  <a:cubicBezTo>
                    <a:pt x="11" y="277"/>
                    <a:pt x="11" y="277"/>
                    <a:pt x="11" y="277"/>
                  </a:cubicBezTo>
                  <a:cubicBezTo>
                    <a:pt x="11" y="277"/>
                    <a:pt x="0" y="105"/>
                    <a:pt x="103" y="63"/>
                  </a:cubicBezTo>
                  <a:cubicBezTo>
                    <a:pt x="241" y="5"/>
                    <a:pt x="260" y="0"/>
                    <a:pt x="260" y="0"/>
                  </a:cubicBezTo>
                  <a:cubicBezTo>
                    <a:pt x="326" y="67"/>
                    <a:pt x="326" y="67"/>
                    <a:pt x="326" y="67"/>
                  </a:cubicBezTo>
                  <a:cubicBezTo>
                    <a:pt x="351" y="67"/>
                    <a:pt x="351" y="67"/>
                    <a:pt x="351" y="67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575" y="63"/>
                    <a:pt x="575" y="63"/>
                    <a:pt x="575" y="63"/>
                  </a:cubicBezTo>
                  <a:cubicBezTo>
                    <a:pt x="654" y="138"/>
                    <a:pt x="667" y="277"/>
                    <a:pt x="667" y="277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20" y="422"/>
                    <a:pt x="520" y="422"/>
                    <a:pt x="520" y="422"/>
                  </a:cubicBezTo>
                  <a:cubicBezTo>
                    <a:pt x="520" y="422"/>
                    <a:pt x="520" y="422"/>
                    <a:pt x="520" y="422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7" name="Freeform 2041">
              <a:extLst>
                <a:ext uri="{FF2B5EF4-FFF2-40B4-BE49-F238E27FC236}">
                  <a16:creationId xmlns:a16="http://schemas.microsoft.com/office/drawing/2014/main" id="{C54CA694-EAE4-4243-B6FF-63948155860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8565" y="5625475"/>
              <a:ext cx="170073" cy="714022"/>
            </a:xfrm>
            <a:custGeom>
              <a:avLst/>
              <a:gdLst>
                <a:gd name="T0" fmla="*/ 0 w 172"/>
                <a:gd name="T1" fmla="*/ 46 h 722"/>
                <a:gd name="T2" fmla="*/ 0 w 172"/>
                <a:gd name="T3" fmla="*/ 94 h 722"/>
                <a:gd name="T4" fmla="*/ 0 w 172"/>
                <a:gd name="T5" fmla="*/ 96 h 722"/>
                <a:gd name="T6" fmla="*/ 55 w 172"/>
                <a:gd name="T7" fmla="*/ 722 h 722"/>
                <a:gd name="T8" fmla="*/ 172 w 172"/>
                <a:gd name="T9" fmla="*/ 722 h 722"/>
                <a:gd name="T10" fmla="*/ 172 w 172"/>
                <a:gd name="T11" fmla="*/ 37 h 722"/>
                <a:gd name="T12" fmla="*/ 138 w 172"/>
                <a:gd name="T13" fmla="*/ 0 h 722"/>
                <a:gd name="T14" fmla="*/ 42 w 172"/>
                <a:gd name="T15" fmla="*/ 0 h 722"/>
                <a:gd name="T16" fmla="*/ 0 w 172"/>
                <a:gd name="T17" fmla="*/ 4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722">
                  <a:moveTo>
                    <a:pt x="0" y="46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5"/>
                    <a:pt x="0" y="95"/>
                    <a:pt x="0" y="96"/>
                  </a:cubicBezTo>
                  <a:cubicBezTo>
                    <a:pt x="55" y="722"/>
                    <a:pt x="55" y="722"/>
                    <a:pt x="55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37"/>
                    <a:pt x="172" y="37"/>
                    <a:pt x="172" y="37"/>
                  </a:cubicBezTo>
                  <a:cubicBezTo>
                    <a:pt x="159" y="23"/>
                    <a:pt x="151" y="15"/>
                    <a:pt x="138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6" y="18"/>
                    <a:pt x="17" y="28"/>
                    <a:pt x="0" y="46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8" name="Freeform 2042">
              <a:extLst>
                <a:ext uri="{FF2B5EF4-FFF2-40B4-BE49-F238E27FC236}">
                  <a16:creationId xmlns:a16="http://schemas.microsoft.com/office/drawing/2014/main" id="{F42FEC69-9337-4B7D-9EC4-CC42670FA59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45216" y="5625475"/>
              <a:ext cx="168084" cy="714022"/>
            </a:xfrm>
            <a:custGeom>
              <a:avLst/>
              <a:gdLst>
                <a:gd name="T0" fmla="*/ 0 w 170"/>
                <a:gd name="T1" fmla="*/ 35 h 722"/>
                <a:gd name="T2" fmla="*/ 0 w 170"/>
                <a:gd name="T3" fmla="*/ 722 h 722"/>
                <a:gd name="T4" fmla="*/ 115 w 170"/>
                <a:gd name="T5" fmla="*/ 722 h 722"/>
                <a:gd name="T6" fmla="*/ 170 w 170"/>
                <a:gd name="T7" fmla="*/ 96 h 722"/>
                <a:gd name="T8" fmla="*/ 170 w 170"/>
                <a:gd name="T9" fmla="*/ 94 h 722"/>
                <a:gd name="T10" fmla="*/ 170 w 170"/>
                <a:gd name="T11" fmla="*/ 44 h 722"/>
                <a:gd name="T12" fmla="*/ 131 w 170"/>
                <a:gd name="T13" fmla="*/ 0 h 722"/>
                <a:gd name="T14" fmla="*/ 31 w 170"/>
                <a:gd name="T15" fmla="*/ 0 h 722"/>
                <a:gd name="T16" fmla="*/ 0 w 170"/>
                <a:gd name="T17" fmla="*/ 35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722">
                  <a:moveTo>
                    <a:pt x="0" y="35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115" y="722"/>
                    <a:pt x="115" y="722"/>
                    <a:pt x="115" y="722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5"/>
                    <a:pt x="170" y="95"/>
                    <a:pt x="170" y="94"/>
                  </a:cubicBezTo>
                  <a:cubicBezTo>
                    <a:pt x="170" y="44"/>
                    <a:pt x="170" y="44"/>
                    <a:pt x="170" y="44"/>
                  </a:cubicBezTo>
                  <a:cubicBezTo>
                    <a:pt x="155" y="27"/>
                    <a:pt x="146" y="17"/>
                    <a:pt x="1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9" y="14"/>
                    <a:pt x="12" y="21"/>
                    <a:pt x="0" y="35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9" name="Freeform 2043">
              <a:extLst>
                <a:ext uri="{FF2B5EF4-FFF2-40B4-BE49-F238E27FC236}">
                  <a16:creationId xmlns:a16="http://schemas.microsoft.com/office/drawing/2014/main" id="{BB50AF77-DEAE-4DCF-9830-5D9B0BDC384E}"/>
                </a:ext>
              </a:extLst>
            </p:cNvPr>
            <p:cNvSpPr>
              <a:spLocks/>
            </p:cNvSpPr>
            <p:nvPr/>
          </p:nvSpPr>
          <p:spPr bwMode="gray">
            <a:xfrm>
              <a:off x="6825437" y="6255436"/>
              <a:ext cx="173054" cy="84058"/>
            </a:xfrm>
            <a:custGeom>
              <a:avLst/>
              <a:gdLst>
                <a:gd name="T0" fmla="*/ 5048 w 5048"/>
                <a:gd name="T1" fmla="*/ 2452 h 2452"/>
                <a:gd name="T2" fmla="*/ 0 w 5048"/>
                <a:gd name="T3" fmla="*/ 2452 h 2452"/>
                <a:gd name="T4" fmla="*/ 0 w 5048"/>
                <a:gd name="T5" fmla="*/ 2336 h 2452"/>
                <a:gd name="T6" fmla="*/ 865 w 5048"/>
                <a:gd name="T7" fmla="*/ 0 h 2452"/>
                <a:gd name="T8" fmla="*/ 3923 w 5048"/>
                <a:gd name="T9" fmla="*/ 0 h 2452"/>
                <a:gd name="T10" fmla="*/ 5048 w 5048"/>
                <a:gd name="T11" fmla="*/ 2452 h 2452"/>
                <a:gd name="T12" fmla="*/ 5048 w 5048"/>
                <a:gd name="T13" fmla="*/ 2452 h 2452"/>
                <a:gd name="T14" fmla="*/ 5048 w 5048"/>
                <a:gd name="T15" fmla="*/ 2452 h 2452"/>
                <a:gd name="T16" fmla="*/ 5048 w 5048"/>
                <a:gd name="T17" fmla="*/ 2452 h 2452"/>
                <a:gd name="T18" fmla="*/ 5048 w 5048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65" y="0"/>
                  </a:lnTo>
                  <a:lnTo>
                    <a:pt x="3923" y="0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0" name="Freeform 2044">
              <a:extLst>
                <a:ext uri="{FF2B5EF4-FFF2-40B4-BE49-F238E27FC236}">
                  <a16:creationId xmlns:a16="http://schemas.microsoft.com/office/drawing/2014/main" id="{C0D535A2-E1A5-4EBC-87F3-E00FDABA4B6A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6255436"/>
              <a:ext cx="172060" cy="84058"/>
            </a:xfrm>
            <a:custGeom>
              <a:avLst/>
              <a:gdLst>
                <a:gd name="T0" fmla="*/ 5019 w 5019"/>
                <a:gd name="T1" fmla="*/ 2336 h 2452"/>
                <a:gd name="T2" fmla="*/ 5019 w 5019"/>
                <a:gd name="T3" fmla="*/ 2452 h 2452"/>
                <a:gd name="T4" fmla="*/ 0 w 5019"/>
                <a:gd name="T5" fmla="*/ 2452 h 2452"/>
                <a:gd name="T6" fmla="*/ 1096 w 5019"/>
                <a:gd name="T7" fmla="*/ 0 h 2452"/>
                <a:gd name="T8" fmla="*/ 4154 w 5019"/>
                <a:gd name="T9" fmla="*/ 0 h 2452"/>
                <a:gd name="T10" fmla="*/ 5019 w 5019"/>
                <a:gd name="T11" fmla="*/ 2336 h 2452"/>
                <a:gd name="T12" fmla="*/ 5019 w 5019"/>
                <a:gd name="T13" fmla="*/ 2336 h 2452"/>
                <a:gd name="T14" fmla="*/ 5019 w 5019"/>
                <a:gd name="T15" fmla="*/ 2336 h 2452"/>
                <a:gd name="T16" fmla="*/ 5019 w 5019"/>
                <a:gd name="T17" fmla="*/ 2336 h 2452"/>
                <a:gd name="T18" fmla="*/ 5019 w 5019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19" h="2452">
                  <a:moveTo>
                    <a:pt x="5019" y="2336"/>
                  </a:moveTo>
                  <a:lnTo>
                    <a:pt x="5019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54" y="0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1" name="Rectangle 2045">
              <a:extLst>
                <a:ext uri="{FF2B5EF4-FFF2-40B4-BE49-F238E27FC236}">
                  <a16:creationId xmlns:a16="http://schemas.microsoft.com/office/drawing/2014/main" id="{79BAF718-AE6C-4B19-B445-640E7912264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601987" y="5565138"/>
              <a:ext cx="448886" cy="34625"/>
            </a:xfrm>
            <a:prstGeom prst="rect">
              <a:avLst/>
            </a:pr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2" name="Freeform 2046">
              <a:extLst>
                <a:ext uri="{FF2B5EF4-FFF2-40B4-BE49-F238E27FC236}">
                  <a16:creationId xmlns:a16="http://schemas.microsoft.com/office/drawing/2014/main" id="{4F565ED0-99BF-4D63-82C4-5811C8B67B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611859" y="5384165"/>
              <a:ext cx="105794" cy="107782"/>
            </a:xfrm>
            <a:custGeom>
              <a:avLst/>
              <a:gdLst>
                <a:gd name="T0" fmla="*/ 2394 w 3086"/>
                <a:gd name="T1" fmla="*/ 1789 h 3144"/>
                <a:gd name="T2" fmla="*/ 375 w 3086"/>
                <a:gd name="T3" fmla="*/ 0 h 3144"/>
                <a:gd name="T4" fmla="*/ 0 w 3086"/>
                <a:gd name="T5" fmla="*/ 3144 h 3144"/>
                <a:gd name="T6" fmla="*/ 3086 w 3086"/>
                <a:gd name="T7" fmla="*/ 3144 h 3144"/>
                <a:gd name="T8" fmla="*/ 2394 w 3086"/>
                <a:gd name="T9" fmla="*/ 1789 h 3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6" h="3144">
                  <a:moveTo>
                    <a:pt x="2394" y="1789"/>
                  </a:moveTo>
                  <a:lnTo>
                    <a:pt x="375" y="0"/>
                  </a:lnTo>
                  <a:lnTo>
                    <a:pt x="0" y="3144"/>
                  </a:lnTo>
                  <a:lnTo>
                    <a:pt x="3086" y="3144"/>
                  </a:lnTo>
                  <a:lnTo>
                    <a:pt x="2394" y="178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3" name="Freeform 2047">
              <a:extLst>
                <a:ext uri="{FF2B5EF4-FFF2-40B4-BE49-F238E27FC236}">
                  <a16:creationId xmlns:a16="http://schemas.microsoft.com/office/drawing/2014/main" id="{78E13A8A-9E47-435D-8510-FB908DEE16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957934" y="5394073"/>
              <a:ext cx="84059" cy="97874"/>
            </a:xfrm>
            <a:custGeom>
              <a:avLst/>
              <a:gdLst>
                <a:gd name="T0" fmla="*/ 0 w 2452"/>
                <a:gd name="T1" fmla="*/ 1269 h 2855"/>
                <a:gd name="T2" fmla="*/ 0 w 2452"/>
                <a:gd name="T3" fmla="*/ 2855 h 2855"/>
                <a:gd name="T4" fmla="*/ 2452 w 2452"/>
                <a:gd name="T5" fmla="*/ 2855 h 2855"/>
                <a:gd name="T6" fmla="*/ 2452 w 2452"/>
                <a:gd name="T7" fmla="*/ 0 h 2855"/>
                <a:gd name="T8" fmla="*/ 0 w 2452"/>
                <a:gd name="T9" fmla="*/ 1269 h 2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2" h="2855">
                  <a:moveTo>
                    <a:pt x="0" y="1269"/>
                  </a:moveTo>
                  <a:lnTo>
                    <a:pt x="0" y="2855"/>
                  </a:lnTo>
                  <a:lnTo>
                    <a:pt x="2452" y="2855"/>
                  </a:lnTo>
                  <a:lnTo>
                    <a:pt x="2452" y="0"/>
                  </a:lnTo>
                  <a:lnTo>
                    <a:pt x="0" y="126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4" name="Freeform 2048">
              <a:extLst>
                <a:ext uri="{FF2B5EF4-FFF2-40B4-BE49-F238E27FC236}">
                  <a16:creationId xmlns:a16="http://schemas.microsoft.com/office/drawing/2014/main" id="{0A8C4400-44F3-479D-8F68-9AA10740655F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5217040"/>
              <a:ext cx="348063" cy="274906"/>
            </a:xfrm>
            <a:custGeom>
              <a:avLst/>
              <a:gdLst>
                <a:gd name="T0" fmla="*/ 635 w 10153"/>
                <a:gd name="T1" fmla="*/ 8019 h 8019"/>
                <a:gd name="T2" fmla="*/ 0 w 10153"/>
                <a:gd name="T3" fmla="*/ 0 h 8019"/>
                <a:gd name="T4" fmla="*/ 10153 w 10153"/>
                <a:gd name="T5" fmla="*/ 0 h 8019"/>
                <a:gd name="T6" fmla="*/ 9461 w 10153"/>
                <a:gd name="T7" fmla="*/ 8019 h 8019"/>
                <a:gd name="T8" fmla="*/ 635 w 10153"/>
                <a:gd name="T9" fmla="*/ 8019 h 8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53" h="8019">
                  <a:moveTo>
                    <a:pt x="635" y="8019"/>
                  </a:moveTo>
                  <a:lnTo>
                    <a:pt x="0" y="0"/>
                  </a:lnTo>
                  <a:lnTo>
                    <a:pt x="10153" y="0"/>
                  </a:lnTo>
                  <a:lnTo>
                    <a:pt x="9461" y="8019"/>
                  </a:lnTo>
                  <a:lnTo>
                    <a:pt x="635" y="8019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5" name="Freeform 2049">
              <a:extLst>
                <a:ext uri="{FF2B5EF4-FFF2-40B4-BE49-F238E27FC236}">
                  <a16:creationId xmlns:a16="http://schemas.microsoft.com/office/drawing/2014/main" id="{64C41E82-C1DA-4EB6-8707-D5847F228D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74869" y="5431646"/>
              <a:ext cx="149298" cy="60301"/>
            </a:xfrm>
            <a:custGeom>
              <a:avLst/>
              <a:gdLst>
                <a:gd name="T0" fmla="*/ 606 w 4355"/>
                <a:gd name="T1" fmla="*/ 1759 h 1759"/>
                <a:gd name="T2" fmla="*/ 606 w 4355"/>
                <a:gd name="T3" fmla="*/ 1644 h 1759"/>
                <a:gd name="T4" fmla="*/ 0 w 4355"/>
                <a:gd name="T5" fmla="*/ 0 h 1759"/>
                <a:gd name="T6" fmla="*/ 3519 w 4355"/>
                <a:gd name="T7" fmla="*/ 0 h 1759"/>
                <a:gd name="T8" fmla="*/ 4355 w 4355"/>
                <a:gd name="T9" fmla="*/ 1759 h 1759"/>
                <a:gd name="T10" fmla="*/ 4355 w 4355"/>
                <a:gd name="T11" fmla="*/ 1759 h 1759"/>
                <a:gd name="T12" fmla="*/ 4355 w 4355"/>
                <a:gd name="T13" fmla="*/ 1759 h 1759"/>
                <a:gd name="T14" fmla="*/ 4355 w 4355"/>
                <a:gd name="T15" fmla="*/ 1759 h 1759"/>
                <a:gd name="T16" fmla="*/ 606 w 4355"/>
                <a:gd name="T17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55" h="1759">
                  <a:moveTo>
                    <a:pt x="606" y="1759"/>
                  </a:moveTo>
                  <a:lnTo>
                    <a:pt x="606" y="1644"/>
                  </a:lnTo>
                  <a:lnTo>
                    <a:pt x="0" y="0"/>
                  </a:lnTo>
                  <a:lnTo>
                    <a:pt x="3519" y="0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606" y="1759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6" name="Freeform 2050">
              <a:extLst>
                <a:ext uri="{FF2B5EF4-FFF2-40B4-BE49-F238E27FC236}">
                  <a16:creationId xmlns:a16="http://schemas.microsoft.com/office/drawing/2014/main" id="{827F9869-2E05-41A5-9DE3-B3667186EAFB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7572" y="5431646"/>
              <a:ext cx="143366" cy="60301"/>
            </a:xfrm>
            <a:custGeom>
              <a:avLst/>
              <a:gdLst>
                <a:gd name="T0" fmla="*/ 3490 w 4182"/>
                <a:gd name="T1" fmla="*/ 1644 h 1759"/>
                <a:gd name="T2" fmla="*/ 3490 w 4182"/>
                <a:gd name="T3" fmla="*/ 1759 h 1759"/>
                <a:gd name="T4" fmla="*/ 0 w 4182"/>
                <a:gd name="T5" fmla="*/ 1759 h 1759"/>
                <a:gd name="T6" fmla="*/ 750 w 4182"/>
                <a:gd name="T7" fmla="*/ 0 h 1759"/>
                <a:gd name="T8" fmla="*/ 4182 w 4182"/>
                <a:gd name="T9" fmla="*/ 0 h 1759"/>
                <a:gd name="T10" fmla="*/ 3490 w 4182"/>
                <a:gd name="T11" fmla="*/ 1644 h 1759"/>
                <a:gd name="T12" fmla="*/ 3490 w 4182"/>
                <a:gd name="T13" fmla="*/ 1644 h 1759"/>
                <a:gd name="T14" fmla="*/ 3490 w 4182"/>
                <a:gd name="T15" fmla="*/ 1644 h 1759"/>
                <a:gd name="T16" fmla="*/ 3490 w 4182"/>
                <a:gd name="T17" fmla="*/ 1644 h 1759"/>
                <a:gd name="T18" fmla="*/ 3490 w 4182"/>
                <a:gd name="T19" fmla="*/ 1644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82" h="1759">
                  <a:moveTo>
                    <a:pt x="3490" y="1644"/>
                  </a:moveTo>
                  <a:lnTo>
                    <a:pt x="3490" y="1759"/>
                  </a:lnTo>
                  <a:lnTo>
                    <a:pt x="0" y="1759"/>
                  </a:lnTo>
                  <a:lnTo>
                    <a:pt x="750" y="0"/>
                  </a:lnTo>
                  <a:lnTo>
                    <a:pt x="4182" y="0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7" name="Freeform 2051">
              <a:extLst>
                <a:ext uri="{FF2B5EF4-FFF2-40B4-BE49-F238E27FC236}">
                  <a16:creationId xmlns:a16="http://schemas.microsoft.com/office/drawing/2014/main" id="{651AE214-EF3D-4FF4-BDAD-56A852F4385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774807"/>
              <a:ext cx="533940" cy="55365"/>
            </a:xfrm>
            <a:custGeom>
              <a:avLst/>
              <a:gdLst>
                <a:gd name="T0" fmla="*/ 485 w 540"/>
                <a:gd name="T1" fmla="*/ 0 h 56"/>
                <a:gd name="T2" fmla="*/ 56 w 540"/>
                <a:gd name="T3" fmla="*/ 0 h 56"/>
                <a:gd name="T4" fmla="*/ 0 w 540"/>
                <a:gd name="T5" fmla="*/ 56 h 56"/>
                <a:gd name="T6" fmla="*/ 540 w 540"/>
                <a:gd name="T7" fmla="*/ 56 h 56"/>
                <a:gd name="T8" fmla="*/ 485 w 540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0" y="56"/>
                    <a:pt x="540" y="56"/>
                    <a:pt x="540" y="56"/>
                  </a:cubicBezTo>
                  <a:cubicBezTo>
                    <a:pt x="540" y="25"/>
                    <a:pt x="515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8" name="Freeform 2052">
              <a:extLst>
                <a:ext uri="{FF2B5EF4-FFF2-40B4-BE49-F238E27FC236}">
                  <a16:creationId xmlns:a16="http://schemas.microsoft.com/office/drawing/2014/main" id="{F46EA028-6387-4B8E-9E6E-E5AD697053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830171"/>
              <a:ext cx="533940" cy="37573"/>
            </a:xfrm>
            <a:custGeom>
              <a:avLst/>
              <a:gdLst>
                <a:gd name="T0" fmla="*/ 0 w 15575"/>
                <a:gd name="T1" fmla="*/ 0 h 1096"/>
                <a:gd name="T2" fmla="*/ 15575 w 15575"/>
                <a:gd name="T3" fmla="*/ 0 h 1096"/>
                <a:gd name="T4" fmla="*/ 15575 w 15575"/>
                <a:gd name="T5" fmla="*/ 1096 h 1096"/>
                <a:gd name="T6" fmla="*/ 0 w 15575"/>
                <a:gd name="T7" fmla="*/ 1096 h 1096"/>
                <a:gd name="T8" fmla="*/ 0 w 15575"/>
                <a:gd name="T9" fmla="*/ 0 h 1096"/>
                <a:gd name="T10" fmla="*/ 0 w 15575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75" h="1096">
                  <a:moveTo>
                    <a:pt x="0" y="0"/>
                  </a:moveTo>
                  <a:lnTo>
                    <a:pt x="15575" y="0"/>
                  </a:lnTo>
                  <a:lnTo>
                    <a:pt x="15575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9" name="Freeform 2053">
              <a:extLst>
                <a:ext uri="{FF2B5EF4-FFF2-40B4-BE49-F238E27FC236}">
                  <a16:creationId xmlns:a16="http://schemas.microsoft.com/office/drawing/2014/main" id="{A150A7AF-7088-4560-8AC3-56BE921FB3A6}"/>
                </a:ext>
              </a:extLst>
            </p:cNvPr>
            <p:cNvSpPr>
              <a:spLocks/>
            </p:cNvSpPr>
            <p:nvPr/>
          </p:nvSpPr>
          <p:spPr bwMode="gray">
            <a:xfrm>
              <a:off x="817017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0" name="Freeform 2054">
              <a:extLst>
                <a:ext uri="{FF2B5EF4-FFF2-40B4-BE49-F238E27FC236}">
                  <a16:creationId xmlns:a16="http://schemas.microsoft.com/office/drawing/2014/main" id="{5F1C88E2-8B2B-46CF-BBA9-1E7F82556E0B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120126"/>
              <a:ext cx="121598" cy="371821"/>
            </a:xfrm>
            <a:custGeom>
              <a:avLst/>
              <a:gdLst>
                <a:gd name="T0" fmla="*/ 1240 w 3547"/>
                <a:gd name="T1" fmla="*/ 0 h 10846"/>
                <a:gd name="T2" fmla="*/ 317 w 3547"/>
                <a:gd name="T3" fmla="*/ 5135 h 10846"/>
                <a:gd name="T4" fmla="*/ 0 w 3547"/>
                <a:gd name="T5" fmla="*/ 8106 h 10846"/>
                <a:gd name="T6" fmla="*/ 548 w 3547"/>
                <a:gd name="T7" fmla="*/ 10846 h 10846"/>
                <a:gd name="T8" fmla="*/ 2538 w 3547"/>
                <a:gd name="T9" fmla="*/ 10846 h 10846"/>
                <a:gd name="T10" fmla="*/ 3547 w 3547"/>
                <a:gd name="T11" fmla="*/ 8798 h 10846"/>
                <a:gd name="T12" fmla="*/ 3547 w 3547"/>
                <a:gd name="T13" fmla="*/ 0 h 10846"/>
                <a:gd name="T14" fmla="*/ 1240 w 3547"/>
                <a:gd name="T15" fmla="*/ 0 h 10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47" h="10846">
                  <a:moveTo>
                    <a:pt x="1240" y="0"/>
                  </a:moveTo>
                  <a:lnTo>
                    <a:pt x="317" y="5135"/>
                  </a:lnTo>
                  <a:lnTo>
                    <a:pt x="0" y="8106"/>
                  </a:lnTo>
                  <a:lnTo>
                    <a:pt x="548" y="10846"/>
                  </a:lnTo>
                  <a:lnTo>
                    <a:pt x="2538" y="10846"/>
                  </a:lnTo>
                  <a:lnTo>
                    <a:pt x="3547" y="8798"/>
                  </a:lnTo>
                  <a:lnTo>
                    <a:pt x="3547" y="0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1" name="Freeform 2055">
              <a:extLst>
                <a:ext uri="{FF2B5EF4-FFF2-40B4-BE49-F238E27FC236}">
                  <a16:creationId xmlns:a16="http://schemas.microsoft.com/office/drawing/2014/main" id="{B0D47087-92C7-40DF-8B56-F4E80332B37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2" name="Freeform 2056">
              <a:extLst>
                <a:ext uri="{FF2B5EF4-FFF2-40B4-BE49-F238E27FC236}">
                  <a16:creationId xmlns:a16="http://schemas.microsoft.com/office/drawing/2014/main" id="{63291F21-D514-44AF-B702-30C463488FC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58654" y="5455367"/>
              <a:ext cx="30648" cy="884129"/>
            </a:xfrm>
            <a:custGeom>
              <a:avLst/>
              <a:gdLst>
                <a:gd name="T0" fmla="*/ 0 w 894"/>
                <a:gd name="T1" fmla="*/ 0 h 25790"/>
                <a:gd name="T2" fmla="*/ 894 w 894"/>
                <a:gd name="T3" fmla="*/ 0 h 25790"/>
                <a:gd name="T4" fmla="*/ 894 w 894"/>
                <a:gd name="T5" fmla="*/ 25790 h 25790"/>
                <a:gd name="T6" fmla="*/ 0 w 894"/>
                <a:gd name="T7" fmla="*/ 25790 h 25790"/>
                <a:gd name="T8" fmla="*/ 0 w 894"/>
                <a:gd name="T9" fmla="*/ 0 h 25790"/>
                <a:gd name="T10" fmla="*/ 0 w 894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4" h="25790">
                  <a:moveTo>
                    <a:pt x="0" y="0"/>
                  </a:moveTo>
                  <a:lnTo>
                    <a:pt x="894" y="0"/>
                  </a:lnTo>
                  <a:lnTo>
                    <a:pt x="894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3" name="Freeform 2057">
              <a:extLst>
                <a:ext uri="{FF2B5EF4-FFF2-40B4-BE49-F238E27FC236}">
                  <a16:creationId xmlns:a16="http://schemas.microsoft.com/office/drawing/2014/main" id="{57C79B19-C7F9-4336-A571-5F550FC571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246696"/>
              <a:ext cx="533940" cy="208673"/>
            </a:xfrm>
            <a:custGeom>
              <a:avLst/>
              <a:gdLst>
                <a:gd name="T0" fmla="*/ 404 w 540"/>
                <a:gd name="T1" fmla="*/ 0 h 211"/>
                <a:gd name="T2" fmla="*/ 136 w 540"/>
                <a:gd name="T3" fmla="*/ 0 h 211"/>
                <a:gd name="T4" fmla="*/ 0 w 540"/>
                <a:gd name="T5" fmla="*/ 119 h 211"/>
                <a:gd name="T6" fmla="*/ 0 w 540"/>
                <a:gd name="T7" fmla="*/ 211 h 211"/>
                <a:gd name="T8" fmla="*/ 540 w 540"/>
                <a:gd name="T9" fmla="*/ 211 h 211"/>
                <a:gd name="T10" fmla="*/ 540 w 540"/>
                <a:gd name="T11" fmla="*/ 119 h 211"/>
                <a:gd name="T12" fmla="*/ 404 w 540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0" y="211"/>
                    <a:pt x="540" y="211"/>
                    <a:pt x="540" y="211"/>
                  </a:cubicBezTo>
                  <a:cubicBezTo>
                    <a:pt x="540" y="119"/>
                    <a:pt x="540" y="119"/>
                    <a:pt x="540" y="119"/>
                  </a:cubicBezTo>
                  <a:cubicBezTo>
                    <a:pt x="540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4" name="Freeform 2058">
              <a:extLst>
                <a:ext uri="{FF2B5EF4-FFF2-40B4-BE49-F238E27FC236}">
                  <a16:creationId xmlns:a16="http://schemas.microsoft.com/office/drawing/2014/main" id="{CDAED7E9-E4C4-4B67-A75D-A2CCCD25AC2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09220" y="5142856"/>
              <a:ext cx="118649" cy="349091"/>
            </a:xfrm>
            <a:custGeom>
              <a:avLst/>
              <a:gdLst>
                <a:gd name="T0" fmla="*/ 3288 w 3461"/>
                <a:gd name="T1" fmla="*/ 6578 h 10183"/>
                <a:gd name="T2" fmla="*/ 3461 w 3461"/>
                <a:gd name="T3" fmla="*/ 0 h 10183"/>
                <a:gd name="T4" fmla="*/ 259 w 3461"/>
                <a:gd name="T5" fmla="*/ 29 h 10183"/>
                <a:gd name="T6" fmla="*/ 778 w 3461"/>
                <a:gd name="T7" fmla="*/ 5366 h 10183"/>
                <a:gd name="T8" fmla="*/ 0 w 3461"/>
                <a:gd name="T9" fmla="*/ 7933 h 10183"/>
                <a:gd name="T10" fmla="*/ 634 w 3461"/>
                <a:gd name="T11" fmla="*/ 10183 h 10183"/>
                <a:gd name="T12" fmla="*/ 2048 w 3461"/>
                <a:gd name="T13" fmla="*/ 9001 h 10183"/>
                <a:gd name="T14" fmla="*/ 3288 w 3461"/>
                <a:gd name="T15" fmla="*/ 6578 h 10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1" h="10183">
                  <a:moveTo>
                    <a:pt x="3288" y="6578"/>
                  </a:moveTo>
                  <a:lnTo>
                    <a:pt x="3461" y="0"/>
                  </a:lnTo>
                  <a:lnTo>
                    <a:pt x="259" y="29"/>
                  </a:lnTo>
                  <a:lnTo>
                    <a:pt x="778" y="5366"/>
                  </a:lnTo>
                  <a:lnTo>
                    <a:pt x="0" y="7933"/>
                  </a:lnTo>
                  <a:lnTo>
                    <a:pt x="634" y="10183"/>
                  </a:lnTo>
                  <a:lnTo>
                    <a:pt x="2048" y="9001"/>
                  </a:lnTo>
                  <a:lnTo>
                    <a:pt x="3288" y="6578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5" name="Freeform 2059">
              <a:extLst>
                <a:ext uri="{FF2B5EF4-FFF2-40B4-BE49-F238E27FC236}">
                  <a16:creationId xmlns:a16="http://schemas.microsoft.com/office/drawing/2014/main" id="{58EE1ED2-6C6B-4591-B1AE-4875AD96AD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7746" y="4515875"/>
              <a:ext cx="403428" cy="619095"/>
            </a:xfrm>
            <a:custGeom>
              <a:avLst/>
              <a:gdLst>
                <a:gd name="T0" fmla="*/ 374 w 408"/>
                <a:gd name="T1" fmla="*/ 100 h 626"/>
                <a:gd name="T2" fmla="*/ 216 w 408"/>
                <a:gd name="T3" fmla="*/ 0 h 626"/>
                <a:gd name="T4" fmla="*/ 207 w 408"/>
                <a:gd name="T5" fmla="*/ 0 h 626"/>
                <a:gd name="T6" fmla="*/ 205 w 408"/>
                <a:gd name="T7" fmla="*/ 0 h 626"/>
                <a:gd name="T8" fmla="*/ 196 w 408"/>
                <a:gd name="T9" fmla="*/ 0 h 626"/>
                <a:gd name="T10" fmla="*/ 38 w 408"/>
                <a:gd name="T11" fmla="*/ 100 h 626"/>
                <a:gd name="T12" fmla="*/ 26 w 408"/>
                <a:gd name="T13" fmla="*/ 558 h 626"/>
                <a:gd name="T14" fmla="*/ 154 w 408"/>
                <a:gd name="T15" fmla="*/ 626 h 626"/>
                <a:gd name="T16" fmla="*/ 205 w 408"/>
                <a:gd name="T17" fmla="*/ 626 h 626"/>
                <a:gd name="T18" fmla="*/ 207 w 408"/>
                <a:gd name="T19" fmla="*/ 626 h 626"/>
                <a:gd name="T20" fmla="*/ 259 w 408"/>
                <a:gd name="T21" fmla="*/ 626 h 626"/>
                <a:gd name="T22" fmla="*/ 382 w 408"/>
                <a:gd name="T23" fmla="*/ 558 h 626"/>
                <a:gd name="T24" fmla="*/ 374 w 408"/>
                <a:gd name="T25" fmla="*/ 10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" h="626">
                  <a:moveTo>
                    <a:pt x="374" y="100"/>
                  </a:moveTo>
                  <a:cubicBezTo>
                    <a:pt x="342" y="40"/>
                    <a:pt x="287" y="0"/>
                    <a:pt x="216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27" y="0"/>
                    <a:pt x="70" y="40"/>
                    <a:pt x="38" y="100"/>
                  </a:cubicBezTo>
                  <a:cubicBezTo>
                    <a:pt x="8" y="156"/>
                    <a:pt x="0" y="495"/>
                    <a:pt x="26" y="558"/>
                  </a:cubicBezTo>
                  <a:cubicBezTo>
                    <a:pt x="47" y="610"/>
                    <a:pt x="95" y="626"/>
                    <a:pt x="154" y="626"/>
                  </a:cubicBezTo>
                  <a:cubicBezTo>
                    <a:pt x="205" y="626"/>
                    <a:pt x="205" y="626"/>
                    <a:pt x="205" y="626"/>
                  </a:cubicBezTo>
                  <a:cubicBezTo>
                    <a:pt x="207" y="626"/>
                    <a:pt x="207" y="626"/>
                    <a:pt x="207" y="626"/>
                  </a:cubicBezTo>
                  <a:cubicBezTo>
                    <a:pt x="259" y="626"/>
                    <a:pt x="259" y="626"/>
                    <a:pt x="259" y="626"/>
                  </a:cubicBezTo>
                  <a:cubicBezTo>
                    <a:pt x="317" y="626"/>
                    <a:pt x="361" y="610"/>
                    <a:pt x="382" y="558"/>
                  </a:cubicBezTo>
                  <a:cubicBezTo>
                    <a:pt x="408" y="495"/>
                    <a:pt x="404" y="156"/>
                    <a:pt x="374" y="100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6" name="Freeform 2060">
              <a:extLst>
                <a:ext uri="{FF2B5EF4-FFF2-40B4-BE49-F238E27FC236}">
                  <a16:creationId xmlns:a16="http://schemas.microsoft.com/office/drawing/2014/main" id="{06D660E2-D0CC-4918-99B1-87ACA6EF803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84160" y="4914435"/>
              <a:ext cx="651628" cy="638842"/>
            </a:xfrm>
            <a:custGeom>
              <a:avLst/>
              <a:gdLst>
                <a:gd name="T0" fmla="*/ 513 w 659"/>
                <a:gd name="T1" fmla="*/ 410 h 646"/>
                <a:gd name="T2" fmla="*/ 557 w 659"/>
                <a:gd name="T3" fmla="*/ 645 h 646"/>
                <a:gd name="T4" fmla="*/ 108 w 659"/>
                <a:gd name="T5" fmla="*/ 646 h 646"/>
                <a:gd name="T6" fmla="*/ 157 w 659"/>
                <a:gd name="T7" fmla="*/ 410 h 646"/>
                <a:gd name="T8" fmla="*/ 117 w 659"/>
                <a:gd name="T9" fmla="*/ 282 h 646"/>
                <a:gd name="T10" fmla="*/ 11 w 659"/>
                <a:gd name="T11" fmla="*/ 269 h 646"/>
                <a:gd name="T12" fmla="*/ 102 w 659"/>
                <a:gd name="T13" fmla="*/ 60 h 646"/>
                <a:gd name="T14" fmla="*/ 252 w 659"/>
                <a:gd name="T15" fmla="*/ 0 h 646"/>
                <a:gd name="T16" fmla="*/ 322 w 659"/>
                <a:gd name="T17" fmla="*/ 46 h 646"/>
                <a:gd name="T18" fmla="*/ 346 w 659"/>
                <a:gd name="T19" fmla="*/ 45 h 646"/>
                <a:gd name="T20" fmla="*/ 416 w 659"/>
                <a:gd name="T21" fmla="*/ 0 h 646"/>
                <a:gd name="T22" fmla="*/ 568 w 659"/>
                <a:gd name="T23" fmla="*/ 60 h 646"/>
                <a:gd name="T24" fmla="*/ 659 w 659"/>
                <a:gd name="T25" fmla="*/ 269 h 646"/>
                <a:gd name="T26" fmla="*/ 553 w 659"/>
                <a:gd name="T27" fmla="*/ 282 h 646"/>
                <a:gd name="T28" fmla="*/ 552 w 659"/>
                <a:gd name="T29" fmla="*/ 282 h 646"/>
                <a:gd name="T30" fmla="*/ 513 w 659"/>
                <a:gd name="T31" fmla="*/ 410 h 646"/>
                <a:gd name="T32" fmla="*/ 513 w 659"/>
                <a:gd name="T33" fmla="*/ 41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59" h="646">
                  <a:moveTo>
                    <a:pt x="513" y="410"/>
                  </a:moveTo>
                  <a:cubicBezTo>
                    <a:pt x="557" y="645"/>
                    <a:pt x="557" y="645"/>
                    <a:pt x="557" y="645"/>
                  </a:cubicBezTo>
                  <a:cubicBezTo>
                    <a:pt x="108" y="646"/>
                    <a:pt x="108" y="646"/>
                    <a:pt x="108" y="646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17" y="282"/>
                    <a:pt x="117" y="282"/>
                    <a:pt x="117" y="282"/>
                  </a:cubicBezTo>
                  <a:cubicBezTo>
                    <a:pt x="11" y="269"/>
                    <a:pt x="11" y="269"/>
                    <a:pt x="11" y="269"/>
                  </a:cubicBezTo>
                  <a:cubicBezTo>
                    <a:pt x="11" y="269"/>
                    <a:pt x="0" y="102"/>
                    <a:pt x="102" y="60"/>
                  </a:cubicBezTo>
                  <a:cubicBezTo>
                    <a:pt x="238" y="4"/>
                    <a:pt x="252" y="0"/>
                    <a:pt x="252" y="0"/>
                  </a:cubicBezTo>
                  <a:cubicBezTo>
                    <a:pt x="322" y="46"/>
                    <a:pt x="322" y="46"/>
                    <a:pt x="322" y="46"/>
                  </a:cubicBezTo>
                  <a:cubicBezTo>
                    <a:pt x="346" y="45"/>
                    <a:pt x="346" y="45"/>
                    <a:pt x="346" y="45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568" y="60"/>
                    <a:pt x="568" y="60"/>
                    <a:pt x="568" y="60"/>
                  </a:cubicBezTo>
                  <a:cubicBezTo>
                    <a:pt x="646" y="134"/>
                    <a:pt x="659" y="269"/>
                    <a:pt x="659" y="269"/>
                  </a:cubicBezTo>
                  <a:cubicBezTo>
                    <a:pt x="553" y="282"/>
                    <a:pt x="553" y="282"/>
                    <a:pt x="553" y="282"/>
                  </a:cubicBezTo>
                  <a:cubicBezTo>
                    <a:pt x="552" y="282"/>
                    <a:pt x="552" y="282"/>
                    <a:pt x="552" y="282"/>
                  </a:cubicBezTo>
                  <a:cubicBezTo>
                    <a:pt x="513" y="410"/>
                    <a:pt x="513" y="410"/>
                    <a:pt x="513" y="410"/>
                  </a:cubicBezTo>
                  <a:cubicBezTo>
                    <a:pt x="513" y="410"/>
                    <a:pt x="513" y="410"/>
                    <a:pt x="513" y="410"/>
                  </a:cubicBezTo>
                  <a:close/>
                </a:path>
              </a:pathLst>
            </a:cu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7" name="Freeform 2061">
              <a:extLst>
                <a:ext uri="{FF2B5EF4-FFF2-40B4-BE49-F238E27FC236}">
                  <a16:creationId xmlns:a16="http://schemas.microsoft.com/office/drawing/2014/main" id="{5F63D238-BF05-4572-ACC8-8EAADB13EF1C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0856" y="5577994"/>
              <a:ext cx="430099" cy="196812"/>
            </a:xfrm>
            <a:custGeom>
              <a:avLst/>
              <a:gdLst>
                <a:gd name="T0" fmla="*/ 393 w 435"/>
                <a:gd name="T1" fmla="*/ 199 h 199"/>
                <a:gd name="T2" fmla="*/ 41 w 435"/>
                <a:gd name="T3" fmla="*/ 199 h 199"/>
                <a:gd name="T4" fmla="*/ 0 w 435"/>
                <a:gd name="T5" fmla="*/ 159 h 199"/>
                <a:gd name="T6" fmla="*/ 0 w 435"/>
                <a:gd name="T7" fmla="*/ 0 h 199"/>
                <a:gd name="T8" fmla="*/ 435 w 435"/>
                <a:gd name="T9" fmla="*/ 0 h 199"/>
                <a:gd name="T10" fmla="*/ 435 w 435"/>
                <a:gd name="T11" fmla="*/ 159 h 199"/>
                <a:gd name="T12" fmla="*/ 393 w 435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99">
                  <a:moveTo>
                    <a:pt x="393" y="199"/>
                  </a:moveTo>
                  <a:cubicBezTo>
                    <a:pt x="41" y="199"/>
                    <a:pt x="41" y="199"/>
                    <a:pt x="41" y="199"/>
                  </a:cubicBezTo>
                  <a:cubicBezTo>
                    <a:pt x="25" y="183"/>
                    <a:pt x="16" y="175"/>
                    <a:pt x="0" y="15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5" y="0"/>
                    <a:pt x="435" y="0"/>
                    <a:pt x="435" y="0"/>
                  </a:cubicBezTo>
                  <a:cubicBezTo>
                    <a:pt x="435" y="159"/>
                    <a:pt x="435" y="159"/>
                    <a:pt x="435" y="159"/>
                  </a:cubicBezTo>
                  <a:cubicBezTo>
                    <a:pt x="419" y="175"/>
                    <a:pt x="409" y="183"/>
                    <a:pt x="393" y="199"/>
                  </a:cubicBezTo>
                  <a:close/>
                </a:path>
              </a:pathLst>
            </a:custGeom>
            <a:solidFill>
              <a:srgbClr val="3750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8" name="Freeform 2062">
              <a:extLst>
                <a:ext uri="{FF2B5EF4-FFF2-40B4-BE49-F238E27FC236}">
                  <a16:creationId xmlns:a16="http://schemas.microsoft.com/office/drawing/2014/main" id="{C084FF0D-6405-44D2-B80B-F09A48207C3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2069" y="5565138"/>
              <a:ext cx="465719" cy="54405"/>
            </a:xfrm>
            <a:custGeom>
              <a:avLst/>
              <a:gdLst>
                <a:gd name="T0" fmla="*/ 13585 w 13585"/>
                <a:gd name="T1" fmla="*/ 1587 h 1587"/>
                <a:gd name="T2" fmla="*/ 0 w 13585"/>
                <a:gd name="T3" fmla="*/ 1587 h 1587"/>
                <a:gd name="T4" fmla="*/ 346 w 13585"/>
                <a:gd name="T5" fmla="*/ 0 h 1587"/>
                <a:gd name="T6" fmla="*/ 13210 w 13585"/>
                <a:gd name="T7" fmla="*/ 0 h 1587"/>
                <a:gd name="T8" fmla="*/ 13585 w 13585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5" h="1587">
                  <a:moveTo>
                    <a:pt x="13585" y="1587"/>
                  </a:moveTo>
                  <a:lnTo>
                    <a:pt x="0" y="1587"/>
                  </a:lnTo>
                  <a:lnTo>
                    <a:pt x="346" y="0"/>
                  </a:lnTo>
                  <a:lnTo>
                    <a:pt x="13210" y="0"/>
                  </a:lnTo>
                  <a:lnTo>
                    <a:pt x="13585" y="1587"/>
                  </a:lnTo>
                  <a:close/>
                </a:path>
              </a:pathLst>
            </a:custGeom>
            <a:solidFill>
              <a:srgbClr val="64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9" name="Freeform 2063">
              <a:extLst>
                <a:ext uri="{FF2B5EF4-FFF2-40B4-BE49-F238E27FC236}">
                  <a16:creationId xmlns:a16="http://schemas.microsoft.com/office/drawing/2014/main" id="{CDDCC23D-1AF2-42B7-9E6B-4D5FF3815CE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93931" y="5596780"/>
              <a:ext cx="403428" cy="624032"/>
            </a:xfrm>
            <a:custGeom>
              <a:avLst/>
              <a:gdLst>
                <a:gd name="T0" fmla="*/ 274 w 408"/>
                <a:gd name="T1" fmla="*/ 16 h 631"/>
                <a:gd name="T2" fmla="*/ 0 w 408"/>
                <a:gd name="T3" fmla="*/ 586 h 631"/>
                <a:gd name="T4" fmla="*/ 92 w 408"/>
                <a:gd name="T5" fmla="*/ 631 h 631"/>
                <a:gd name="T6" fmla="*/ 387 w 408"/>
                <a:gd name="T7" fmla="*/ 133 h 631"/>
                <a:gd name="T8" fmla="*/ 388 w 408"/>
                <a:gd name="T9" fmla="*/ 131 h 631"/>
                <a:gd name="T10" fmla="*/ 408 w 408"/>
                <a:gd name="T11" fmla="*/ 90 h 631"/>
                <a:gd name="T12" fmla="*/ 394 w 408"/>
                <a:gd name="T13" fmla="*/ 38 h 631"/>
                <a:gd name="T14" fmla="*/ 313 w 408"/>
                <a:gd name="T15" fmla="*/ 0 h 631"/>
                <a:gd name="T16" fmla="*/ 274 w 408"/>
                <a:gd name="T17" fmla="*/ 16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8" h="631">
                  <a:moveTo>
                    <a:pt x="274" y="16"/>
                  </a:moveTo>
                  <a:cubicBezTo>
                    <a:pt x="0" y="586"/>
                    <a:pt x="0" y="586"/>
                    <a:pt x="0" y="586"/>
                  </a:cubicBezTo>
                  <a:cubicBezTo>
                    <a:pt x="92" y="631"/>
                    <a:pt x="92" y="631"/>
                    <a:pt x="92" y="631"/>
                  </a:cubicBezTo>
                  <a:cubicBezTo>
                    <a:pt x="387" y="133"/>
                    <a:pt x="387" y="133"/>
                    <a:pt x="387" y="133"/>
                  </a:cubicBezTo>
                  <a:cubicBezTo>
                    <a:pt x="387" y="132"/>
                    <a:pt x="388" y="132"/>
                    <a:pt x="388" y="131"/>
                  </a:cubicBezTo>
                  <a:cubicBezTo>
                    <a:pt x="408" y="90"/>
                    <a:pt x="408" y="90"/>
                    <a:pt x="408" y="90"/>
                  </a:cubicBezTo>
                  <a:cubicBezTo>
                    <a:pt x="402" y="70"/>
                    <a:pt x="399" y="59"/>
                    <a:pt x="394" y="38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298" y="6"/>
                    <a:pt x="290" y="10"/>
                    <a:pt x="274" y="16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0" name="Freeform 2064">
              <a:extLst>
                <a:ext uri="{FF2B5EF4-FFF2-40B4-BE49-F238E27FC236}">
                  <a16:creationId xmlns:a16="http://schemas.microsoft.com/office/drawing/2014/main" id="{02248A3D-353F-4752-B6F2-3B0484F661D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62289" y="6108059"/>
              <a:ext cx="159170" cy="135482"/>
            </a:xfrm>
            <a:custGeom>
              <a:avLst/>
              <a:gdLst>
                <a:gd name="T0" fmla="*/ 4643 w 4643"/>
                <a:gd name="T1" fmla="*/ 3952 h 3952"/>
                <a:gd name="T2" fmla="*/ 0 w 4643"/>
                <a:gd name="T3" fmla="*/ 1904 h 3952"/>
                <a:gd name="T4" fmla="*/ 57 w 4643"/>
                <a:gd name="T5" fmla="*/ 1789 h 3952"/>
                <a:gd name="T6" fmla="*/ 1788 w 4643"/>
                <a:gd name="T7" fmla="*/ 0 h 3952"/>
                <a:gd name="T8" fmla="*/ 4586 w 4643"/>
                <a:gd name="T9" fmla="*/ 1241 h 3952"/>
                <a:gd name="T10" fmla="*/ 4643 w 4643"/>
                <a:gd name="T11" fmla="*/ 3952 h 3952"/>
                <a:gd name="T12" fmla="*/ 4643 w 4643"/>
                <a:gd name="T13" fmla="*/ 3952 h 3952"/>
                <a:gd name="T14" fmla="*/ 4643 w 4643"/>
                <a:gd name="T15" fmla="*/ 3952 h 3952"/>
                <a:gd name="T16" fmla="*/ 4643 w 4643"/>
                <a:gd name="T17" fmla="*/ 3952 h 3952"/>
                <a:gd name="T18" fmla="*/ 4643 w 4643"/>
                <a:gd name="T19" fmla="*/ 3952 h 3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43" h="3952">
                  <a:moveTo>
                    <a:pt x="4643" y="3952"/>
                  </a:moveTo>
                  <a:lnTo>
                    <a:pt x="0" y="1904"/>
                  </a:lnTo>
                  <a:lnTo>
                    <a:pt x="57" y="1789"/>
                  </a:lnTo>
                  <a:lnTo>
                    <a:pt x="1788" y="0"/>
                  </a:lnTo>
                  <a:lnTo>
                    <a:pt x="4586" y="1241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1" name="Freeform 2065">
              <a:extLst>
                <a:ext uri="{FF2B5EF4-FFF2-40B4-BE49-F238E27FC236}">
                  <a16:creationId xmlns:a16="http://schemas.microsoft.com/office/drawing/2014/main" id="{72124AB1-6FA9-479D-AD4A-93346B07127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2025" y="5631404"/>
              <a:ext cx="150291" cy="708091"/>
            </a:xfrm>
            <a:custGeom>
              <a:avLst/>
              <a:gdLst>
                <a:gd name="T0" fmla="*/ 0 w 152"/>
                <a:gd name="T1" fmla="*/ 46 h 716"/>
                <a:gd name="T2" fmla="*/ 0 w 152"/>
                <a:gd name="T3" fmla="*/ 93 h 716"/>
                <a:gd name="T4" fmla="*/ 1 w 152"/>
                <a:gd name="T5" fmla="*/ 95 h 716"/>
                <a:gd name="T6" fmla="*/ 49 w 152"/>
                <a:gd name="T7" fmla="*/ 716 h 716"/>
                <a:gd name="T8" fmla="*/ 152 w 152"/>
                <a:gd name="T9" fmla="*/ 716 h 716"/>
                <a:gd name="T10" fmla="*/ 152 w 152"/>
                <a:gd name="T11" fmla="*/ 37 h 716"/>
                <a:gd name="T12" fmla="*/ 122 w 152"/>
                <a:gd name="T13" fmla="*/ 0 h 716"/>
                <a:gd name="T14" fmla="*/ 37 w 152"/>
                <a:gd name="T15" fmla="*/ 0 h 716"/>
                <a:gd name="T16" fmla="*/ 0 w 152"/>
                <a:gd name="T17" fmla="*/ 46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716">
                  <a:moveTo>
                    <a:pt x="0" y="46"/>
                  </a:move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1" y="95"/>
                    <a:pt x="1" y="95"/>
                  </a:cubicBezTo>
                  <a:cubicBezTo>
                    <a:pt x="49" y="716"/>
                    <a:pt x="49" y="716"/>
                    <a:pt x="49" y="716"/>
                  </a:cubicBezTo>
                  <a:cubicBezTo>
                    <a:pt x="152" y="716"/>
                    <a:pt x="152" y="716"/>
                    <a:pt x="152" y="716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40" y="22"/>
                    <a:pt x="134" y="14"/>
                    <a:pt x="12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3" y="18"/>
                    <a:pt x="15" y="28"/>
                    <a:pt x="0" y="46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2" name="Freeform 2066">
              <a:extLst>
                <a:ext uri="{FF2B5EF4-FFF2-40B4-BE49-F238E27FC236}">
                  <a16:creationId xmlns:a16="http://schemas.microsoft.com/office/drawing/2014/main" id="{7B9A27C4-4E6B-4EF2-BAD3-D129C76E133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0071" y="6255436"/>
              <a:ext cx="173020" cy="84058"/>
            </a:xfrm>
            <a:custGeom>
              <a:avLst/>
              <a:gdLst>
                <a:gd name="T0" fmla="*/ 5047 w 5047"/>
                <a:gd name="T1" fmla="*/ 2336 h 2452"/>
                <a:gd name="T2" fmla="*/ 5047 w 5047"/>
                <a:gd name="T3" fmla="*/ 2452 h 2452"/>
                <a:gd name="T4" fmla="*/ 0 w 5047"/>
                <a:gd name="T5" fmla="*/ 2452 h 2452"/>
                <a:gd name="T6" fmla="*/ 1096 w 5047"/>
                <a:gd name="T7" fmla="*/ 0 h 2452"/>
                <a:gd name="T8" fmla="*/ 4182 w 5047"/>
                <a:gd name="T9" fmla="*/ 0 h 2452"/>
                <a:gd name="T10" fmla="*/ 5047 w 5047"/>
                <a:gd name="T11" fmla="*/ 2336 h 2452"/>
                <a:gd name="T12" fmla="*/ 5047 w 5047"/>
                <a:gd name="T13" fmla="*/ 2336 h 2452"/>
                <a:gd name="T14" fmla="*/ 5047 w 5047"/>
                <a:gd name="T15" fmla="*/ 2336 h 2452"/>
                <a:gd name="T16" fmla="*/ 5047 w 5047"/>
                <a:gd name="T17" fmla="*/ 2336 h 2452"/>
                <a:gd name="T18" fmla="*/ 5047 w 5047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7" h="2452">
                  <a:moveTo>
                    <a:pt x="5047" y="2336"/>
                  </a:moveTo>
                  <a:lnTo>
                    <a:pt x="5047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3" name="Freeform 2067">
              <a:extLst>
                <a:ext uri="{FF2B5EF4-FFF2-40B4-BE49-F238E27FC236}">
                  <a16:creationId xmlns:a16="http://schemas.microsoft.com/office/drawing/2014/main" id="{8AB664F0-5EDD-45CB-AF96-D11C3A5AD1EF}"/>
                </a:ext>
              </a:extLst>
            </p:cNvPr>
            <p:cNvSpPr>
              <a:spLocks/>
            </p:cNvSpPr>
            <p:nvPr/>
          </p:nvSpPr>
          <p:spPr bwMode="gray">
            <a:xfrm>
              <a:off x="8527149" y="5399009"/>
              <a:ext cx="103805" cy="92938"/>
            </a:xfrm>
            <a:custGeom>
              <a:avLst/>
              <a:gdLst>
                <a:gd name="T0" fmla="*/ 0 w 3028"/>
                <a:gd name="T1" fmla="*/ 1356 h 2711"/>
                <a:gd name="T2" fmla="*/ 0 w 3028"/>
                <a:gd name="T3" fmla="*/ 2711 h 2711"/>
                <a:gd name="T4" fmla="*/ 3028 w 3028"/>
                <a:gd name="T5" fmla="*/ 2711 h 2711"/>
                <a:gd name="T6" fmla="*/ 3028 w 3028"/>
                <a:gd name="T7" fmla="*/ 0 h 2711"/>
                <a:gd name="T8" fmla="*/ 0 w 3028"/>
                <a:gd name="T9" fmla="*/ 1356 h 2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8" h="2711">
                  <a:moveTo>
                    <a:pt x="0" y="1356"/>
                  </a:moveTo>
                  <a:lnTo>
                    <a:pt x="0" y="2711"/>
                  </a:lnTo>
                  <a:lnTo>
                    <a:pt x="3028" y="2711"/>
                  </a:lnTo>
                  <a:lnTo>
                    <a:pt x="3028" y="0"/>
                  </a:lnTo>
                  <a:lnTo>
                    <a:pt x="0" y="135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4" name="Freeform 2068">
              <a:extLst>
                <a:ext uri="{FF2B5EF4-FFF2-40B4-BE49-F238E27FC236}">
                  <a16:creationId xmlns:a16="http://schemas.microsoft.com/office/drawing/2014/main" id="{50852EB7-22CF-45A6-8B3B-7AAAC7D4608B}"/>
                </a:ext>
              </a:extLst>
            </p:cNvPr>
            <p:cNvSpPr>
              <a:spLocks/>
            </p:cNvSpPr>
            <p:nvPr/>
          </p:nvSpPr>
          <p:spPr bwMode="gray">
            <a:xfrm>
              <a:off x="8498457" y="5431646"/>
              <a:ext cx="128557" cy="60301"/>
            </a:xfrm>
            <a:custGeom>
              <a:avLst/>
              <a:gdLst>
                <a:gd name="T0" fmla="*/ 3750 w 3750"/>
                <a:gd name="T1" fmla="*/ 1759 h 1759"/>
                <a:gd name="T2" fmla="*/ 0 w 3750"/>
                <a:gd name="T3" fmla="*/ 1759 h 1759"/>
                <a:gd name="T4" fmla="*/ 0 w 3750"/>
                <a:gd name="T5" fmla="*/ 1644 h 1759"/>
                <a:gd name="T6" fmla="*/ 635 w 3750"/>
                <a:gd name="T7" fmla="*/ 0 h 1759"/>
                <a:gd name="T8" fmla="*/ 2913 w 3750"/>
                <a:gd name="T9" fmla="*/ 0 h 1759"/>
                <a:gd name="T10" fmla="*/ 3750 w 3750"/>
                <a:gd name="T11" fmla="*/ 1759 h 1759"/>
                <a:gd name="T12" fmla="*/ 3750 w 3750"/>
                <a:gd name="T13" fmla="*/ 1759 h 1759"/>
                <a:gd name="T14" fmla="*/ 3750 w 3750"/>
                <a:gd name="T15" fmla="*/ 1759 h 1759"/>
                <a:gd name="T16" fmla="*/ 3750 w 3750"/>
                <a:gd name="T17" fmla="*/ 1759 h 1759"/>
                <a:gd name="T18" fmla="*/ 3750 w 3750"/>
                <a:gd name="T19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50" h="1759">
                  <a:moveTo>
                    <a:pt x="3750" y="1759"/>
                  </a:moveTo>
                  <a:lnTo>
                    <a:pt x="0" y="1759"/>
                  </a:lnTo>
                  <a:lnTo>
                    <a:pt x="0" y="1644"/>
                  </a:lnTo>
                  <a:lnTo>
                    <a:pt x="635" y="0"/>
                  </a:lnTo>
                  <a:lnTo>
                    <a:pt x="2913" y="0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5" name="Freeform 2069">
              <a:extLst>
                <a:ext uri="{FF2B5EF4-FFF2-40B4-BE49-F238E27FC236}">
                  <a16:creationId xmlns:a16="http://schemas.microsoft.com/office/drawing/2014/main" id="{C8E7BC21-9165-4B5E-95B3-EBA0381DC4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1031" y="4588072"/>
              <a:ext cx="282825" cy="390642"/>
            </a:xfrm>
            <a:custGeom>
              <a:avLst/>
              <a:gdLst>
                <a:gd name="T0" fmla="*/ 273 w 286"/>
                <a:gd name="T1" fmla="*/ 119 h 395"/>
                <a:gd name="T2" fmla="*/ 266 w 286"/>
                <a:gd name="T3" fmla="*/ 121 h 395"/>
                <a:gd name="T4" fmla="*/ 266 w 286"/>
                <a:gd name="T5" fmla="*/ 86 h 395"/>
                <a:gd name="T6" fmla="*/ 183 w 286"/>
                <a:gd name="T7" fmla="*/ 0 h 395"/>
                <a:gd name="T8" fmla="*/ 142 w 286"/>
                <a:gd name="T9" fmla="*/ 0 h 395"/>
                <a:gd name="T10" fmla="*/ 102 w 286"/>
                <a:gd name="T11" fmla="*/ 0 h 395"/>
                <a:gd name="T12" fmla="*/ 19 w 286"/>
                <a:gd name="T13" fmla="*/ 86 h 395"/>
                <a:gd name="T14" fmla="*/ 19 w 286"/>
                <a:gd name="T15" fmla="*/ 121 h 395"/>
                <a:gd name="T16" fmla="*/ 14 w 286"/>
                <a:gd name="T17" fmla="*/ 119 h 395"/>
                <a:gd name="T18" fmla="*/ 0 w 286"/>
                <a:gd name="T19" fmla="*/ 133 h 395"/>
                <a:gd name="T20" fmla="*/ 0 w 286"/>
                <a:gd name="T21" fmla="*/ 186 h 395"/>
                <a:gd name="T22" fmla="*/ 14 w 286"/>
                <a:gd name="T23" fmla="*/ 200 h 395"/>
                <a:gd name="T24" fmla="*/ 19 w 286"/>
                <a:gd name="T25" fmla="*/ 198 h 395"/>
                <a:gd name="T26" fmla="*/ 63 w 286"/>
                <a:gd name="T27" fmla="*/ 275 h 395"/>
                <a:gd name="T28" fmla="*/ 63 w 286"/>
                <a:gd name="T29" fmla="*/ 338 h 395"/>
                <a:gd name="T30" fmla="*/ 145 w 286"/>
                <a:gd name="T31" fmla="*/ 394 h 395"/>
                <a:gd name="T32" fmla="*/ 227 w 286"/>
                <a:gd name="T33" fmla="*/ 338 h 395"/>
                <a:gd name="T34" fmla="*/ 227 w 286"/>
                <a:gd name="T35" fmla="*/ 270 h 395"/>
                <a:gd name="T36" fmla="*/ 266 w 286"/>
                <a:gd name="T37" fmla="*/ 198 h 395"/>
                <a:gd name="T38" fmla="*/ 273 w 286"/>
                <a:gd name="T39" fmla="*/ 200 h 395"/>
                <a:gd name="T40" fmla="*/ 286 w 286"/>
                <a:gd name="T41" fmla="*/ 186 h 395"/>
                <a:gd name="T42" fmla="*/ 286 w 286"/>
                <a:gd name="T43" fmla="*/ 133 h 395"/>
                <a:gd name="T44" fmla="*/ 273 w 286"/>
                <a:gd name="T45" fmla="*/ 11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" h="395">
                  <a:moveTo>
                    <a:pt x="273" y="119"/>
                  </a:moveTo>
                  <a:cubicBezTo>
                    <a:pt x="270" y="119"/>
                    <a:pt x="268" y="121"/>
                    <a:pt x="266" y="121"/>
                  </a:cubicBezTo>
                  <a:cubicBezTo>
                    <a:pt x="266" y="86"/>
                    <a:pt x="266" y="86"/>
                    <a:pt x="266" y="86"/>
                  </a:cubicBezTo>
                  <a:cubicBezTo>
                    <a:pt x="262" y="37"/>
                    <a:pt x="226" y="0"/>
                    <a:pt x="183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59" y="0"/>
                    <a:pt x="24" y="37"/>
                    <a:pt x="19" y="86"/>
                  </a:cubicBezTo>
                  <a:cubicBezTo>
                    <a:pt x="19" y="121"/>
                    <a:pt x="19" y="121"/>
                    <a:pt x="19" y="121"/>
                  </a:cubicBezTo>
                  <a:cubicBezTo>
                    <a:pt x="17" y="121"/>
                    <a:pt x="16" y="119"/>
                    <a:pt x="14" y="119"/>
                  </a:cubicBezTo>
                  <a:cubicBezTo>
                    <a:pt x="6" y="119"/>
                    <a:pt x="0" y="125"/>
                    <a:pt x="0" y="133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94"/>
                    <a:pt x="6" y="200"/>
                    <a:pt x="14" y="200"/>
                  </a:cubicBezTo>
                  <a:cubicBezTo>
                    <a:pt x="16" y="200"/>
                    <a:pt x="17" y="200"/>
                    <a:pt x="19" y="198"/>
                  </a:cubicBezTo>
                  <a:cubicBezTo>
                    <a:pt x="22" y="222"/>
                    <a:pt x="40" y="251"/>
                    <a:pt x="63" y="275"/>
                  </a:cubicBezTo>
                  <a:cubicBezTo>
                    <a:pt x="63" y="284"/>
                    <a:pt x="63" y="285"/>
                    <a:pt x="63" y="338"/>
                  </a:cubicBezTo>
                  <a:cubicBezTo>
                    <a:pt x="79" y="368"/>
                    <a:pt x="110" y="394"/>
                    <a:pt x="145" y="394"/>
                  </a:cubicBezTo>
                  <a:cubicBezTo>
                    <a:pt x="179" y="395"/>
                    <a:pt x="211" y="368"/>
                    <a:pt x="227" y="338"/>
                  </a:cubicBezTo>
                  <a:cubicBezTo>
                    <a:pt x="227" y="270"/>
                    <a:pt x="227" y="270"/>
                    <a:pt x="227" y="270"/>
                  </a:cubicBezTo>
                  <a:cubicBezTo>
                    <a:pt x="247" y="247"/>
                    <a:pt x="263" y="220"/>
                    <a:pt x="266" y="198"/>
                  </a:cubicBezTo>
                  <a:cubicBezTo>
                    <a:pt x="268" y="200"/>
                    <a:pt x="270" y="200"/>
                    <a:pt x="273" y="200"/>
                  </a:cubicBezTo>
                  <a:cubicBezTo>
                    <a:pt x="279" y="200"/>
                    <a:pt x="286" y="194"/>
                    <a:pt x="286" y="186"/>
                  </a:cubicBezTo>
                  <a:cubicBezTo>
                    <a:pt x="286" y="133"/>
                    <a:pt x="286" y="133"/>
                    <a:pt x="286" y="133"/>
                  </a:cubicBezTo>
                  <a:cubicBezTo>
                    <a:pt x="286" y="125"/>
                    <a:pt x="279" y="119"/>
                    <a:pt x="273" y="119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6" name="Freeform 2070">
              <a:extLst>
                <a:ext uri="{FF2B5EF4-FFF2-40B4-BE49-F238E27FC236}">
                  <a16:creationId xmlns:a16="http://schemas.microsoft.com/office/drawing/2014/main" id="{CACBFA0A-7413-41D6-9508-585EE6259645}"/>
                </a:ext>
              </a:extLst>
            </p:cNvPr>
            <p:cNvSpPr>
              <a:spLocks/>
            </p:cNvSpPr>
            <p:nvPr/>
          </p:nvSpPr>
          <p:spPr bwMode="gray">
            <a:xfrm>
              <a:off x="8344222" y="4552487"/>
              <a:ext cx="198732" cy="199760"/>
            </a:xfrm>
            <a:custGeom>
              <a:avLst/>
              <a:gdLst>
                <a:gd name="T0" fmla="*/ 199 w 201"/>
                <a:gd name="T1" fmla="*/ 132 h 202"/>
                <a:gd name="T2" fmla="*/ 169 w 201"/>
                <a:gd name="T3" fmla="*/ 64 h 202"/>
                <a:gd name="T4" fmla="*/ 108 w 201"/>
                <a:gd name="T5" fmla="*/ 11 h 202"/>
                <a:gd name="T6" fmla="*/ 69 w 201"/>
                <a:gd name="T7" fmla="*/ 2 h 202"/>
                <a:gd name="T8" fmla="*/ 69 w 201"/>
                <a:gd name="T9" fmla="*/ 2 h 202"/>
                <a:gd name="T10" fmla="*/ 56 w 201"/>
                <a:gd name="T11" fmla="*/ 0 h 202"/>
                <a:gd name="T12" fmla="*/ 16 w 201"/>
                <a:gd name="T13" fmla="*/ 6 h 202"/>
                <a:gd name="T14" fmla="*/ 24 w 201"/>
                <a:gd name="T15" fmla="*/ 65 h 202"/>
                <a:gd name="T16" fmla="*/ 67 w 201"/>
                <a:gd name="T17" fmla="*/ 94 h 202"/>
                <a:gd name="T18" fmla="*/ 67 w 201"/>
                <a:gd name="T19" fmla="*/ 94 h 202"/>
                <a:gd name="T20" fmla="*/ 91 w 201"/>
                <a:gd name="T21" fmla="*/ 105 h 202"/>
                <a:gd name="T22" fmla="*/ 159 w 201"/>
                <a:gd name="T23" fmla="*/ 143 h 202"/>
                <a:gd name="T24" fmla="*/ 174 w 201"/>
                <a:gd name="T25" fmla="*/ 202 h 202"/>
                <a:gd name="T26" fmla="*/ 199 w 201"/>
                <a:gd name="T27" fmla="*/ 13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1" h="202">
                  <a:moveTo>
                    <a:pt x="199" y="132"/>
                  </a:moveTo>
                  <a:cubicBezTo>
                    <a:pt x="198" y="108"/>
                    <a:pt x="186" y="86"/>
                    <a:pt x="169" y="64"/>
                  </a:cubicBezTo>
                  <a:cubicBezTo>
                    <a:pt x="153" y="45"/>
                    <a:pt x="137" y="24"/>
                    <a:pt x="108" y="11"/>
                  </a:cubicBezTo>
                  <a:cubicBezTo>
                    <a:pt x="96" y="6"/>
                    <a:pt x="83" y="3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4" y="2"/>
                    <a:pt x="61" y="0"/>
                    <a:pt x="56" y="0"/>
                  </a:cubicBezTo>
                  <a:cubicBezTo>
                    <a:pt x="45" y="0"/>
                    <a:pt x="22" y="0"/>
                    <a:pt x="16" y="6"/>
                  </a:cubicBezTo>
                  <a:cubicBezTo>
                    <a:pt x="0" y="22"/>
                    <a:pt x="7" y="48"/>
                    <a:pt x="24" y="65"/>
                  </a:cubicBezTo>
                  <a:cubicBezTo>
                    <a:pt x="35" y="78"/>
                    <a:pt x="51" y="86"/>
                    <a:pt x="67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75" y="99"/>
                    <a:pt x="83" y="102"/>
                    <a:pt x="91" y="105"/>
                  </a:cubicBezTo>
                  <a:cubicBezTo>
                    <a:pt x="116" y="116"/>
                    <a:pt x="142" y="127"/>
                    <a:pt x="159" y="143"/>
                  </a:cubicBezTo>
                  <a:cubicBezTo>
                    <a:pt x="177" y="159"/>
                    <a:pt x="190" y="184"/>
                    <a:pt x="174" y="202"/>
                  </a:cubicBezTo>
                  <a:cubicBezTo>
                    <a:pt x="191" y="181"/>
                    <a:pt x="201" y="157"/>
                    <a:pt x="199" y="132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7" name="Rectangle 2071">
              <a:extLst>
                <a:ext uri="{FF2B5EF4-FFF2-40B4-BE49-F238E27FC236}">
                  <a16:creationId xmlns:a16="http://schemas.microsoft.com/office/drawing/2014/main" id="{4186FCCF-C70E-4495-BB03-F9D4C6E658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82000" y="5491946"/>
              <a:ext cx="4883649" cy="86047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8" name="Freeform 2072">
              <a:extLst>
                <a:ext uri="{FF2B5EF4-FFF2-40B4-BE49-F238E27FC236}">
                  <a16:creationId xmlns:a16="http://schemas.microsoft.com/office/drawing/2014/main" id="{546AF57F-17F3-4721-92DD-917E009BE7A9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60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60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9" name="Freeform 2073">
              <a:extLst>
                <a:ext uri="{FF2B5EF4-FFF2-40B4-BE49-F238E27FC236}">
                  <a16:creationId xmlns:a16="http://schemas.microsoft.com/office/drawing/2014/main" id="{FCD9F3CC-8EB0-41C8-BC94-170170D9BC1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6356294"/>
              <a:ext cx="168118" cy="60336"/>
            </a:xfrm>
            <a:custGeom>
              <a:avLst/>
              <a:gdLst>
                <a:gd name="T0" fmla="*/ 85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5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5 w 170"/>
                <a:gd name="T13" fmla="*/ 0 h 61"/>
                <a:gd name="T14" fmla="*/ 85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5" y="61"/>
                    <a:pt x="85" y="61"/>
                    <a:pt x="85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0" name="Freeform 2074">
              <a:extLst>
                <a:ext uri="{FF2B5EF4-FFF2-40B4-BE49-F238E27FC236}">
                  <a16:creationId xmlns:a16="http://schemas.microsoft.com/office/drawing/2014/main" id="{97043CB6-22C0-49F5-A9BC-CA73BEDC8FEE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5864796"/>
              <a:ext cx="170073" cy="491500"/>
            </a:xfrm>
            <a:custGeom>
              <a:avLst/>
              <a:gdLst>
                <a:gd name="T0" fmla="*/ 4961 w 4961"/>
                <a:gd name="T1" fmla="*/ 0 h 14337"/>
                <a:gd name="T2" fmla="*/ 4586 w 4961"/>
                <a:gd name="T3" fmla="*/ 14337 h 14337"/>
                <a:gd name="T4" fmla="*/ 173 w 4961"/>
                <a:gd name="T5" fmla="*/ 14337 h 14337"/>
                <a:gd name="T6" fmla="*/ 0 w 4961"/>
                <a:gd name="T7" fmla="*/ 0 h 14337"/>
                <a:gd name="T8" fmla="*/ 4961 w 4961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1" h="14337">
                  <a:moveTo>
                    <a:pt x="4961" y="0"/>
                  </a:moveTo>
                  <a:lnTo>
                    <a:pt x="4586" y="14337"/>
                  </a:lnTo>
                  <a:lnTo>
                    <a:pt x="173" y="14337"/>
                  </a:lnTo>
                  <a:lnTo>
                    <a:pt x="0" y="0"/>
                  </a:lnTo>
                  <a:lnTo>
                    <a:pt x="4961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1" name="Freeform 2075">
              <a:extLst>
                <a:ext uri="{FF2B5EF4-FFF2-40B4-BE49-F238E27FC236}">
                  <a16:creationId xmlns:a16="http://schemas.microsoft.com/office/drawing/2014/main" id="{A2433154-962A-4D3A-9B71-A70960E2D155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5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2" name="Freeform 2076">
              <a:extLst>
                <a:ext uri="{FF2B5EF4-FFF2-40B4-BE49-F238E27FC236}">
                  <a16:creationId xmlns:a16="http://schemas.microsoft.com/office/drawing/2014/main" id="{6751BB8A-1DF3-479C-A674-98ACF2E03D8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763940"/>
              <a:ext cx="581420" cy="60301"/>
            </a:xfrm>
            <a:custGeom>
              <a:avLst/>
              <a:gdLst>
                <a:gd name="T0" fmla="*/ 528 w 588"/>
                <a:gd name="T1" fmla="*/ 0 h 61"/>
                <a:gd name="T2" fmla="*/ 61 w 588"/>
                <a:gd name="T3" fmla="*/ 0 h 61"/>
                <a:gd name="T4" fmla="*/ 0 w 588"/>
                <a:gd name="T5" fmla="*/ 61 h 61"/>
                <a:gd name="T6" fmla="*/ 588 w 588"/>
                <a:gd name="T7" fmla="*/ 61 h 61"/>
                <a:gd name="T8" fmla="*/ 528 w 588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8" y="61"/>
                    <a:pt x="588" y="61"/>
                    <a:pt x="588" y="61"/>
                  </a:cubicBezTo>
                  <a:cubicBezTo>
                    <a:pt x="588" y="27"/>
                    <a:pt x="561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3" name="Freeform 2077">
              <a:extLst>
                <a:ext uri="{FF2B5EF4-FFF2-40B4-BE49-F238E27FC236}">
                  <a16:creationId xmlns:a16="http://schemas.microsoft.com/office/drawing/2014/main" id="{5BFEFBCF-C690-44AF-94DB-DA03B86B6BEB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2771" y="5616561"/>
              <a:ext cx="432088" cy="170106"/>
            </a:xfrm>
            <a:custGeom>
              <a:avLst/>
              <a:gdLst>
                <a:gd name="T0" fmla="*/ 6 w 437"/>
                <a:gd name="T1" fmla="*/ 105 h 172"/>
                <a:gd name="T2" fmla="*/ 71 w 437"/>
                <a:gd name="T3" fmla="*/ 172 h 172"/>
                <a:gd name="T4" fmla="*/ 364 w 437"/>
                <a:gd name="T5" fmla="*/ 172 h 172"/>
                <a:gd name="T6" fmla="*/ 432 w 437"/>
                <a:gd name="T7" fmla="*/ 105 h 172"/>
                <a:gd name="T8" fmla="*/ 437 w 437"/>
                <a:gd name="T9" fmla="*/ 0 h 172"/>
                <a:gd name="T10" fmla="*/ 0 w 437"/>
                <a:gd name="T11" fmla="*/ 0 h 172"/>
                <a:gd name="T12" fmla="*/ 6 w 437"/>
                <a:gd name="T13" fmla="*/ 105 h 172"/>
                <a:gd name="T14" fmla="*/ 6 w 437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7" h="172">
                  <a:moveTo>
                    <a:pt x="6" y="105"/>
                  </a:moveTo>
                  <a:cubicBezTo>
                    <a:pt x="6" y="105"/>
                    <a:pt x="18" y="172"/>
                    <a:pt x="71" y="172"/>
                  </a:cubicBezTo>
                  <a:cubicBezTo>
                    <a:pt x="304" y="172"/>
                    <a:pt x="364" y="172"/>
                    <a:pt x="364" y="172"/>
                  </a:cubicBezTo>
                  <a:cubicBezTo>
                    <a:pt x="417" y="172"/>
                    <a:pt x="432" y="105"/>
                    <a:pt x="432" y="105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4" name="Freeform 2078">
              <a:extLst>
                <a:ext uri="{FF2B5EF4-FFF2-40B4-BE49-F238E27FC236}">
                  <a16:creationId xmlns:a16="http://schemas.microsoft.com/office/drawing/2014/main" id="{D53126BA-C98F-4B8F-A6A1-635DE101739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824240"/>
              <a:ext cx="581420" cy="40556"/>
            </a:xfrm>
            <a:custGeom>
              <a:avLst/>
              <a:gdLst>
                <a:gd name="T0" fmla="*/ 0 w 16960"/>
                <a:gd name="T1" fmla="*/ 0 h 1183"/>
                <a:gd name="T2" fmla="*/ 16960 w 16960"/>
                <a:gd name="T3" fmla="*/ 0 h 1183"/>
                <a:gd name="T4" fmla="*/ 16960 w 16960"/>
                <a:gd name="T5" fmla="*/ 1183 h 1183"/>
                <a:gd name="T6" fmla="*/ 0 w 16960"/>
                <a:gd name="T7" fmla="*/ 1183 h 1183"/>
                <a:gd name="T8" fmla="*/ 0 w 16960"/>
                <a:gd name="T9" fmla="*/ 0 h 1183"/>
                <a:gd name="T10" fmla="*/ 0 w 16960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60" h="1183">
                  <a:moveTo>
                    <a:pt x="0" y="0"/>
                  </a:moveTo>
                  <a:lnTo>
                    <a:pt x="16960" y="0"/>
                  </a:lnTo>
                  <a:lnTo>
                    <a:pt x="16960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5" name="Freeform 2079">
              <a:extLst>
                <a:ext uri="{FF2B5EF4-FFF2-40B4-BE49-F238E27FC236}">
                  <a16:creationId xmlns:a16="http://schemas.microsoft.com/office/drawing/2014/main" id="{7D013510-FD4D-4CA6-8D2F-CBF4323E1E11}"/>
                </a:ext>
              </a:extLst>
            </p:cNvPr>
            <p:cNvSpPr>
              <a:spLocks/>
            </p:cNvSpPr>
            <p:nvPr/>
          </p:nvSpPr>
          <p:spPr bwMode="gray">
            <a:xfrm>
              <a:off x="4966504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6" name="Freeform 2080">
              <a:extLst>
                <a:ext uri="{FF2B5EF4-FFF2-40B4-BE49-F238E27FC236}">
                  <a16:creationId xmlns:a16="http://schemas.microsoft.com/office/drawing/2014/main" id="{6F2B200D-38E9-48C6-AD3A-D24D81A7E7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9223" y="4508950"/>
              <a:ext cx="345115" cy="464793"/>
            </a:xfrm>
            <a:custGeom>
              <a:avLst/>
              <a:gdLst>
                <a:gd name="T0" fmla="*/ 346 w 349"/>
                <a:gd name="T1" fmla="*/ 244 h 470"/>
                <a:gd name="T2" fmla="*/ 322 w 349"/>
                <a:gd name="T3" fmla="*/ 307 h 470"/>
                <a:gd name="T4" fmla="*/ 308 w 349"/>
                <a:gd name="T5" fmla="*/ 316 h 470"/>
                <a:gd name="T6" fmla="*/ 295 w 349"/>
                <a:gd name="T7" fmla="*/ 316 h 470"/>
                <a:gd name="T8" fmla="*/ 282 w 349"/>
                <a:gd name="T9" fmla="*/ 371 h 470"/>
                <a:gd name="T10" fmla="*/ 267 w 349"/>
                <a:gd name="T11" fmla="*/ 380 h 470"/>
                <a:gd name="T12" fmla="*/ 270 w 349"/>
                <a:gd name="T13" fmla="*/ 454 h 470"/>
                <a:gd name="T14" fmla="*/ 205 w 349"/>
                <a:gd name="T15" fmla="*/ 470 h 470"/>
                <a:gd name="T16" fmla="*/ 142 w 349"/>
                <a:gd name="T17" fmla="*/ 470 h 470"/>
                <a:gd name="T18" fmla="*/ 80 w 349"/>
                <a:gd name="T19" fmla="*/ 451 h 470"/>
                <a:gd name="T20" fmla="*/ 82 w 349"/>
                <a:gd name="T21" fmla="*/ 380 h 470"/>
                <a:gd name="T22" fmla="*/ 66 w 349"/>
                <a:gd name="T23" fmla="*/ 371 h 470"/>
                <a:gd name="T24" fmla="*/ 53 w 349"/>
                <a:gd name="T25" fmla="*/ 316 h 470"/>
                <a:gd name="T26" fmla="*/ 41 w 349"/>
                <a:gd name="T27" fmla="*/ 316 h 470"/>
                <a:gd name="T28" fmla="*/ 26 w 349"/>
                <a:gd name="T29" fmla="*/ 307 h 470"/>
                <a:gd name="T30" fmla="*/ 2 w 349"/>
                <a:gd name="T31" fmla="*/ 244 h 470"/>
                <a:gd name="T32" fmla="*/ 11 w 349"/>
                <a:gd name="T33" fmla="*/ 225 h 470"/>
                <a:gd name="T34" fmla="*/ 35 w 349"/>
                <a:gd name="T35" fmla="*/ 235 h 470"/>
                <a:gd name="T36" fmla="*/ 33 w 349"/>
                <a:gd name="T37" fmla="*/ 148 h 470"/>
                <a:gd name="T38" fmla="*/ 45 w 349"/>
                <a:gd name="T39" fmla="*/ 47 h 470"/>
                <a:gd name="T40" fmla="*/ 136 w 349"/>
                <a:gd name="T41" fmla="*/ 0 h 470"/>
                <a:gd name="T42" fmla="*/ 215 w 349"/>
                <a:gd name="T43" fmla="*/ 0 h 470"/>
                <a:gd name="T44" fmla="*/ 303 w 349"/>
                <a:gd name="T45" fmla="*/ 46 h 470"/>
                <a:gd name="T46" fmla="*/ 316 w 349"/>
                <a:gd name="T47" fmla="*/ 151 h 470"/>
                <a:gd name="T48" fmla="*/ 314 w 349"/>
                <a:gd name="T49" fmla="*/ 235 h 470"/>
                <a:gd name="T50" fmla="*/ 338 w 349"/>
                <a:gd name="T51" fmla="*/ 225 h 470"/>
                <a:gd name="T52" fmla="*/ 346 w 349"/>
                <a:gd name="T53" fmla="*/ 244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9" h="470">
                  <a:moveTo>
                    <a:pt x="346" y="244"/>
                  </a:moveTo>
                  <a:cubicBezTo>
                    <a:pt x="322" y="307"/>
                    <a:pt x="322" y="307"/>
                    <a:pt x="322" y="307"/>
                  </a:cubicBezTo>
                  <a:cubicBezTo>
                    <a:pt x="319" y="314"/>
                    <a:pt x="314" y="316"/>
                    <a:pt x="308" y="316"/>
                  </a:cubicBezTo>
                  <a:cubicBezTo>
                    <a:pt x="295" y="316"/>
                    <a:pt x="295" y="316"/>
                    <a:pt x="295" y="316"/>
                  </a:cubicBezTo>
                  <a:cubicBezTo>
                    <a:pt x="282" y="371"/>
                    <a:pt x="282" y="371"/>
                    <a:pt x="282" y="371"/>
                  </a:cubicBezTo>
                  <a:cubicBezTo>
                    <a:pt x="267" y="380"/>
                    <a:pt x="267" y="380"/>
                    <a:pt x="267" y="380"/>
                  </a:cubicBezTo>
                  <a:cubicBezTo>
                    <a:pt x="267" y="413"/>
                    <a:pt x="270" y="454"/>
                    <a:pt x="270" y="454"/>
                  </a:cubicBezTo>
                  <a:cubicBezTo>
                    <a:pt x="205" y="470"/>
                    <a:pt x="205" y="470"/>
                    <a:pt x="205" y="470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80" y="451"/>
                    <a:pt x="80" y="451"/>
                    <a:pt x="80" y="451"/>
                  </a:cubicBezTo>
                  <a:cubicBezTo>
                    <a:pt x="82" y="380"/>
                    <a:pt x="82" y="380"/>
                    <a:pt x="82" y="380"/>
                  </a:cubicBezTo>
                  <a:cubicBezTo>
                    <a:pt x="66" y="371"/>
                    <a:pt x="66" y="371"/>
                    <a:pt x="66" y="371"/>
                  </a:cubicBezTo>
                  <a:cubicBezTo>
                    <a:pt x="53" y="316"/>
                    <a:pt x="53" y="316"/>
                    <a:pt x="53" y="316"/>
                  </a:cubicBezTo>
                  <a:cubicBezTo>
                    <a:pt x="41" y="316"/>
                    <a:pt x="41" y="316"/>
                    <a:pt x="41" y="316"/>
                  </a:cubicBezTo>
                  <a:cubicBezTo>
                    <a:pt x="35" y="316"/>
                    <a:pt x="29" y="314"/>
                    <a:pt x="26" y="307"/>
                  </a:cubicBezTo>
                  <a:cubicBezTo>
                    <a:pt x="2" y="244"/>
                    <a:pt x="2" y="244"/>
                    <a:pt x="2" y="244"/>
                  </a:cubicBezTo>
                  <a:cubicBezTo>
                    <a:pt x="0" y="237"/>
                    <a:pt x="4" y="229"/>
                    <a:pt x="11" y="225"/>
                  </a:cubicBezTo>
                  <a:cubicBezTo>
                    <a:pt x="26" y="216"/>
                    <a:pt x="35" y="235"/>
                    <a:pt x="35" y="235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303" y="46"/>
                    <a:pt x="303" y="46"/>
                    <a:pt x="303" y="46"/>
                  </a:cubicBezTo>
                  <a:cubicBezTo>
                    <a:pt x="316" y="151"/>
                    <a:pt x="316" y="151"/>
                    <a:pt x="316" y="151"/>
                  </a:cubicBezTo>
                  <a:cubicBezTo>
                    <a:pt x="314" y="235"/>
                    <a:pt x="314" y="235"/>
                    <a:pt x="314" y="235"/>
                  </a:cubicBezTo>
                  <a:cubicBezTo>
                    <a:pt x="315" y="226"/>
                    <a:pt x="329" y="221"/>
                    <a:pt x="338" y="225"/>
                  </a:cubicBezTo>
                  <a:cubicBezTo>
                    <a:pt x="346" y="228"/>
                    <a:pt x="349" y="237"/>
                    <a:pt x="346" y="244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7" name="Freeform 2081">
              <a:extLst>
                <a:ext uri="{FF2B5EF4-FFF2-40B4-BE49-F238E27FC236}">
                  <a16:creationId xmlns:a16="http://schemas.microsoft.com/office/drawing/2014/main" id="{F5D54EB4-17DD-475C-BD1C-47226BC16488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3995" y="5305042"/>
              <a:ext cx="104800" cy="182962"/>
            </a:xfrm>
            <a:custGeom>
              <a:avLst/>
              <a:gdLst>
                <a:gd name="T0" fmla="*/ 173 w 3057"/>
                <a:gd name="T1" fmla="*/ 4154 h 5337"/>
                <a:gd name="T2" fmla="*/ 0 w 3057"/>
                <a:gd name="T3" fmla="*/ 0 h 5337"/>
                <a:gd name="T4" fmla="*/ 3057 w 3057"/>
                <a:gd name="T5" fmla="*/ 0 h 5337"/>
                <a:gd name="T6" fmla="*/ 3057 w 3057"/>
                <a:gd name="T7" fmla="*/ 5337 h 5337"/>
                <a:gd name="T8" fmla="*/ 894 w 3057"/>
                <a:gd name="T9" fmla="*/ 5337 h 5337"/>
                <a:gd name="T10" fmla="*/ 173 w 3057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7" h="5337">
                  <a:moveTo>
                    <a:pt x="173" y="4154"/>
                  </a:moveTo>
                  <a:lnTo>
                    <a:pt x="0" y="0"/>
                  </a:lnTo>
                  <a:lnTo>
                    <a:pt x="3057" y="0"/>
                  </a:lnTo>
                  <a:lnTo>
                    <a:pt x="3057" y="5337"/>
                  </a:lnTo>
                  <a:lnTo>
                    <a:pt x="894" y="5337"/>
                  </a:lnTo>
                  <a:lnTo>
                    <a:pt x="173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8" name="Freeform 2082">
              <a:extLst>
                <a:ext uri="{FF2B5EF4-FFF2-40B4-BE49-F238E27FC236}">
                  <a16:creationId xmlns:a16="http://schemas.microsoft.com/office/drawing/2014/main" id="{0F39B51E-8F96-4FF3-BBB9-626D33A0B188}"/>
                </a:ext>
              </a:extLst>
            </p:cNvPr>
            <p:cNvSpPr>
              <a:spLocks/>
            </p:cNvSpPr>
            <p:nvPr/>
          </p:nvSpPr>
          <p:spPr bwMode="gray">
            <a:xfrm>
              <a:off x="5463865" y="5305042"/>
              <a:ext cx="108776" cy="182962"/>
            </a:xfrm>
            <a:custGeom>
              <a:avLst/>
              <a:gdLst>
                <a:gd name="T0" fmla="*/ 3000 w 3173"/>
                <a:gd name="T1" fmla="*/ 4154 h 5337"/>
                <a:gd name="T2" fmla="*/ 3173 w 3173"/>
                <a:gd name="T3" fmla="*/ 0 h 5337"/>
                <a:gd name="T4" fmla="*/ 0 w 3173"/>
                <a:gd name="T5" fmla="*/ 0 h 5337"/>
                <a:gd name="T6" fmla="*/ 0 w 3173"/>
                <a:gd name="T7" fmla="*/ 5337 h 5337"/>
                <a:gd name="T8" fmla="*/ 1991 w 3173"/>
                <a:gd name="T9" fmla="*/ 5337 h 5337"/>
                <a:gd name="T10" fmla="*/ 3000 w 3173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73" h="5337">
                  <a:moveTo>
                    <a:pt x="3000" y="4154"/>
                  </a:moveTo>
                  <a:lnTo>
                    <a:pt x="3173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1991" y="5337"/>
                  </a:lnTo>
                  <a:lnTo>
                    <a:pt x="3000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9" name="Freeform 2083">
              <a:extLst>
                <a:ext uri="{FF2B5EF4-FFF2-40B4-BE49-F238E27FC236}">
                  <a16:creationId xmlns:a16="http://schemas.microsoft.com/office/drawing/2014/main" id="{D1A8F5D3-B4FE-4CAF-B01F-7EFA8569F2E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0053" y="4940146"/>
              <a:ext cx="657525" cy="732808"/>
            </a:xfrm>
            <a:custGeom>
              <a:avLst/>
              <a:gdLst>
                <a:gd name="T0" fmla="*/ 15863 w 19180"/>
                <a:gd name="T1" fmla="*/ 11019 h 21376"/>
                <a:gd name="T2" fmla="*/ 15950 w 19180"/>
                <a:gd name="T3" fmla="*/ 21376 h 21376"/>
                <a:gd name="T4" fmla="*/ 3086 w 19180"/>
                <a:gd name="T5" fmla="*/ 21376 h 21376"/>
                <a:gd name="T6" fmla="*/ 3144 w 19180"/>
                <a:gd name="T7" fmla="*/ 11019 h 21376"/>
                <a:gd name="T8" fmla="*/ 0 w 19180"/>
                <a:gd name="T9" fmla="*/ 11019 h 21376"/>
                <a:gd name="T10" fmla="*/ 202 w 19180"/>
                <a:gd name="T11" fmla="*/ 4875 h 21376"/>
                <a:gd name="T12" fmla="*/ 1730 w 19180"/>
                <a:gd name="T13" fmla="*/ 2394 h 21376"/>
                <a:gd name="T14" fmla="*/ 6807 w 19180"/>
                <a:gd name="T15" fmla="*/ 0 h 21376"/>
                <a:gd name="T16" fmla="*/ 12460 w 19180"/>
                <a:gd name="T17" fmla="*/ 0 h 21376"/>
                <a:gd name="T18" fmla="*/ 17450 w 19180"/>
                <a:gd name="T19" fmla="*/ 2394 h 21376"/>
                <a:gd name="T20" fmla="*/ 19036 w 19180"/>
                <a:gd name="T21" fmla="*/ 4933 h 21376"/>
                <a:gd name="T22" fmla="*/ 19180 w 19180"/>
                <a:gd name="T23" fmla="*/ 11019 h 21376"/>
                <a:gd name="T24" fmla="*/ 15863 w 19180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80" h="21376">
                  <a:moveTo>
                    <a:pt x="15863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44" y="11019"/>
                  </a:lnTo>
                  <a:lnTo>
                    <a:pt x="0" y="11019"/>
                  </a:lnTo>
                  <a:lnTo>
                    <a:pt x="202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460" y="0"/>
                  </a:lnTo>
                  <a:lnTo>
                    <a:pt x="17450" y="2394"/>
                  </a:lnTo>
                  <a:lnTo>
                    <a:pt x="19036" y="4933"/>
                  </a:lnTo>
                  <a:lnTo>
                    <a:pt x="19180" y="11019"/>
                  </a:lnTo>
                  <a:lnTo>
                    <a:pt x="15863" y="11019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0" name="Freeform 2084">
              <a:extLst>
                <a:ext uri="{FF2B5EF4-FFF2-40B4-BE49-F238E27FC236}">
                  <a16:creationId xmlns:a16="http://schemas.microsoft.com/office/drawing/2014/main" id="{49CB3971-84EC-4B6A-8BA1-8CB0F5EB3C6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453380"/>
              <a:ext cx="34590" cy="963250"/>
            </a:xfrm>
            <a:custGeom>
              <a:avLst/>
              <a:gdLst>
                <a:gd name="T0" fmla="*/ 0 w 1009"/>
                <a:gd name="T1" fmla="*/ 0 h 28098"/>
                <a:gd name="T2" fmla="*/ 1009 w 1009"/>
                <a:gd name="T3" fmla="*/ 0 h 28098"/>
                <a:gd name="T4" fmla="*/ 1009 w 1009"/>
                <a:gd name="T5" fmla="*/ 28098 h 28098"/>
                <a:gd name="T6" fmla="*/ 0 w 1009"/>
                <a:gd name="T7" fmla="*/ 28098 h 28098"/>
                <a:gd name="T8" fmla="*/ 0 w 1009"/>
                <a:gd name="T9" fmla="*/ 0 h 28098"/>
                <a:gd name="T10" fmla="*/ 0 w 1009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9" h="28098">
                  <a:moveTo>
                    <a:pt x="0" y="0"/>
                  </a:moveTo>
                  <a:lnTo>
                    <a:pt x="1009" y="0"/>
                  </a:lnTo>
                  <a:lnTo>
                    <a:pt x="1009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1" name="Freeform 2085">
              <a:extLst>
                <a:ext uri="{FF2B5EF4-FFF2-40B4-BE49-F238E27FC236}">
                  <a16:creationId xmlns:a16="http://schemas.microsoft.com/office/drawing/2014/main" id="{89C3FF7F-211C-4B52-9279-56A7217BDA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498490" y="5453380"/>
              <a:ext cx="33631" cy="963250"/>
            </a:xfrm>
            <a:custGeom>
              <a:avLst/>
              <a:gdLst>
                <a:gd name="T0" fmla="*/ 0 w 981"/>
                <a:gd name="T1" fmla="*/ 0 h 28098"/>
                <a:gd name="T2" fmla="*/ 981 w 981"/>
                <a:gd name="T3" fmla="*/ 0 h 28098"/>
                <a:gd name="T4" fmla="*/ 981 w 981"/>
                <a:gd name="T5" fmla="*/ 28098 h 28098"/>
                <a:gd name="T6" fmla="*/ 0 w 981"/>
                <a:gd name="T7" fmla="*/ 28098 h 28098"/>
                <a:gd name="T8" fmla="*/ 0 w 981"/>
                <a:gd name="T9" fmla="*/ 0 h 28098"/>
                <a:gd name="T10" fmla="*/ 0 w 981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1" h="28098">
                  <a:moveTo>
                    <a:pt x="0" y="0"/>
                  </a:moveTo>
                  <a:lnTo>
                    <a:pt x="981" y="0"/>
                  </a:lnTo>
                  <a:lnTo>
                    <a:pt x="981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2" name="Freeform 2086">
              <a:extLst>
                <a:ext uri="{FF2B5EF4-FFF2-40B4-BE49-F238E27FC236}">
                  <a16:creationId xmlns:a16="http://schemas.microsoft.com/office/drawing/2014/main" id="{DBDED725-33B4-488F-9E3F-062972556396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225955"/>
              <a:ext cx="581420" cy="227426"/>
            </a:xfrm>
            <a:custGeom>
              <a:avLst/>
              <a:gdLst>
                <a:gd name="T0" fmla="*/ 440 w 588"/>
                <a:gd name="T1" fmla="*/ 0 h 230"/>
                <a:gd name="T2" fmla="*/ 148 w 588"/>
                <a:gd name="T3" fmla="*/ 0 h 230"/>
                <a:gd name="T4" fmla="*/ 0 w 588"/>
                <a:gd name="T5" fmla="*/ 131 h 230"/>
                <a:gd name="T6" fmla="*/ 0 w 588"/>
                <a:gd name="T7" fmla="*/ 230 h 230"/>
                <a:gd name="T8" fmla="*/ 588 w 588"/>
                <a:gd name="T9" fmla="*/ 230 h 230"/>
                <a:gd name="T10" fmla="*/ 588 w 588"/>
                <a:gd name="T11" fmla="*/ 131 h 230"/>
                <a:gd name="T12" fmla="*/ 440 w 588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8" h="230">
                  <a:moveTo>
                    <a:pt x="440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66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131"/>
                    <a:pt x="588" y="131"/>
                    <a:pt x="588" y="131"/>
                  </a:cubicBezTo>
                  <a:cubicBezTo>
                    <a:pt x="588" y="58"/>
                    <a:pt x="522" y="0"/>
                    <a:pt x="4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3" name="Freeform 2087">
              <a:extLst>
                <a:ext uri="{FF2B5EF4-FFF2-40B4-BE49-F238E27FC236}">
                  <a16:creationId xmlns:a16="http://schemas.microsoft.com/office/drawing/2014/main" id="{AA81026C-931E-49BA-A423-6BC8E8BAC2E2}"/>
                </a:ext>
              </a:extLst>
            </p:cNvPr>
            <p:cNvSpPr>
              <a:spLocks/>
            </p:cNvSpPr>
            <p:nvPr/>
          </p:nvSpPr>
          <p:spPr bwMode="gray">
            <a:xfrm>
              <a:off x="5104934" y="4503019"/>
              <a:ext cx="295646" cy="400515"/>
            </a:xfrm>
            <a:custGeom>
              <a:avLst/>
              <a:gdLst>
                <a:gd name="T0" fmla="*/ 8249 w 8624"/>
                <a:gd name="T1" fmla="*/ 1356 h 11683"/>
                <a:gd name="T2" fmla="*/ 5423 w 8624"/>
                <a:gd name="T3" fmla="*/ 0 h 11683"/>
                <a:gd name="T4" fmla="*/ 3115 w 8624"/>
                <a:gd name="T5" fmla="*/ 0 h 11683"/>
                <a:gd name="T6" fmla="*/ 346 w 8624"/>
                <a:gd name="T7" fmla="*/ 1356 h 11683"/>
                <a:gd name="T8" fmla="*/ 0 w 8624"/>
                <a:gd name="T9" fmla="*/ 4443 h 11683"/>
                <a:gd name="T10" fmla="*/ 260 w 8624"/>
                <a:gd name="T11" fmla="*/ 7010 h 11683"/>
                <a:gd name="T12" fmla="*/ 375 w 8624"/>
                <a:gd name="T13" fmla="*/ 7674 h 11683"/>
                <a:gd name="T14" fmla="*/ 1183 w 8624"/>
                <a:gd name="T15" fmla="*/ 10904 h 11683"/>
                <a:gd name="T16" fmla="*/ 1731 w 8624"/>
                <a:gd name="T17" fmla="*/ 11222 h 11683"/>
                <a:gd name="T18" fmla="*/ 3029 w 8624"/>
                <a:gd name="T19" fmla="*/ 11683 h 11683"/>
                <a:gd name="T20" fmla="*/ 5625 w 8624"/>
                <a:gd name="T21" fmla="*/ 11683 h 11683"/>
                <a:gd name="T22" fmla="*/ 6952 w 8624"/>
                <a:gd name="T23" fmla="*/ 11193 h 11683"/>
                <a:gd name="T24" fmla="*/ 7442 w 8624"/>
                <a:gd name="T25" fmla="*/ 10904 h 11683"/>
                <a:gd name="T26" fmla="*/ 7817 w 8624"/>
                <a:gd name="T27" fmla="*/ 9347 h 11683"/>
                <a:gd name="T28" fmla="*/ 8221 w 8624"/>
                <a:gd name="T29" fmla="*/ 7674 h 11683"/>
                <a:gd name="T30" fmla="*/ 8336 w 8624"/>
                <a:gd name="T31" fmla="*/ 7010 h 11683"/>
                <a:gd name="T32" fmla="*/ 8624 w 8624"/>
                <a:gd name="T33" fmla="*/ 4443 h 11683"/>
                <a:gd name="T34" fmla="*/ 8249 w 8624"/>
                <a:gd name="T35" fmla="*/ 1356 h 11683"/>
                <a:gd name="T36" fmla="*/ 8249 w 8624"/>
                <a:gd name="T37" fmla="*/ 1356 h 11683"/>
                <a:gd name="T38" fmla="*/ 8249 w 8624"/>
                <a:gd name="T39" fmla="*/ 1356 h 11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24" h="11683">
                  <a:moveTo>
                    <a:pt x="8249" y="1356"/>
                  </a:moveTo>
                  <a:lnTo>
                    <a:pt x="5423" y="0"/>
                  </a:lnTo>
                  <a:lnTo>
                    <a:pt x="3115" y="0"/>
                  </a:lnTo>
                  <a:lnTo>
                    <a:pt x="346" y="1356"/>
                  </a:lnTo>
                  <a:lnTo>
                    <a:pt x="0" y="4443"/>
                  </a:lnTo>
                  <a:lnTo>
                    <a:pt x="260" y="7010"/>
                  </a:lnTo>
                  <a:lnTo>
                    <a:pt x="375" y="7674"/>
                  </a:lnTo>
                  <a:lnTo>
                    <a:pt x="1183" y="10904"/>
                  </a:lnTo>
                  <a:lnTo>
                    <a:pt x="1731" y="11222"/>
                  </a:lnTo>
                  <a:lnTo>
                    <a:pt x="3029" y="11683"/>
                  </a:lnTo>
                  <a:lnTo>
                    <a:pt x="5625" y="11683"/>
                  </a:lnTo>
                  <a:lnTo>
                    <a:pt x="6952" y="11193"/>
                  </a:lnTo>
                  <a:lnTo>
                    <a:pt x="7442" y="10904"/>
                  </a:lnTo>
                  <a:lnTo>
                    <a:pt x="7817" y="9347"/>
                  </a:lnTo>
                  <a:lnTo>
                    <a:pt x="8221" y="7674"/>
                  </a:lnTo>
                  <a:lnTo>
                    <a:pt x="8336" y="7010"/>
                  </a:lnTo>
                  <a:lnTo>
                    <a:pt x="8624" y="4443"/>
                  </a:lnTo>
                  <a:lnTo>
                    <a:pt x="8249" y="1356"/>
                  </a:lnTo>
                  <a:lnTo>
                    <a:pt x="8249" y="1356"/>
                  </a:lnTo>
                  <a:lnTo>
                    <a:pt x="8249" y="1356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4" name="Freeform 2088">
              <a:extLst>
                <a:ext uri="{FF2B5EF4-FFF2-40B4-BE49-F238E27FC236}">
                  <a16:creationId xmlns:a16="http://schemas.microsoft.com/office/drawing/2014/main" id="{D9CD8619-EF37-4B86-BED2-38014EF8568F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7732" y="5305042"/>
              <a:ext cx="105794" cy="182962"/>
            </a:xfrm>
            <a:custGeom>
              <a:avLst/>
              <a:gdLst>
                <a:gd name="T0" fmla="*/ 202 w 3086"/>
                <a:gd name="T1" fmla="*/ 4154 h 5337"/>
                <a:gd name="T2" fmla="*/ 0 w 3086"/>
                <a:gd name="T3" fmla="*/ 0 h 5337"/>
                <a:gd name="T4" fmla="*/ 3058 w 3086"/>
                <a:gd name="T5" fmla="*/ 0 h 5337"/>
                <a:gd name="T6" fmla="*/ 3086 w 3086"/>
                <a:gd name="T7" fmla="*/ 5337 h 5337"/>
                <a:gd name="T8" fmla="*/ 923 w 3086"/>
                <a:gd name="T9" fmla="*/ 5337 h 5337"/>
                <a:gd name="T10" fmla="*/ 202 w 3086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6" h="5337">
                  <a:moveTo>
                    <a:pt x="202" y="4154"/>
                  </a:moveTo>
                  <a:lnTo>
                    <a:pt x="0" y="0"/>
                  </a:lnTo>
                  <a:lnTo>
                    <a:pt x="3058" y="0"/>
                  </a:lnTo>
                  <a:lnTo>
                    <a:pt x="3086" y="5337"/>
                  </a:lnTo>
                  <a:lnTo>
                    <a:pt x="923" y="5337"/>
                  </a:lnTo>
                  <a:lnTo>
                    <a:pt x="202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5" name="Freeform 2089">
              <a:extLst>
                <a:ext uri="{FF2B5EF4-FFF2-40B4-BE49-F238E27FC236}">
                  <a16:creationId xmlns:a16="http://schemas.microsoft.com/office/drawing/2014/main" id="{B7D61834-2C96-4D1C-AD96-49E8BB357046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453380"/>
              <a:ext cx="35584" cy="963250"/>
            </a:xfrm>
            <a:custGeom>
              <a:avLst/>
              <a:gdLst>
                <a:gd name="T0" fmla="*/ 0 w 1038"/>
                <a:gd name="T1" fmla="*/ 0 h 28098"/>
                <a:gd name="T2" fmla="*/ 1038 w 1038"/>
                <a:gd name="T3" fmla="*/ 0 h 28098"/>
                <a:gd name="T4" fmla="*/ 1038 w 1038"/>
                <a:gd name="T5" fmla="*/ 28098 h 28098"/>
                <a:gd name="T6" fmla="*/ 0 w 1038"/>
                <a:gd name="T7" fmla="*/ 28098 h 28098"/>
                <a:gd name="T8" fmla="*/ 0 w 1038"/>
                <a:gd name="T9" fmla="*/ 0 h 28098"/>
                <a:gd name="T10" fmla="*/ 0 w 1038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8" h="28098">
                  <a:moveTo>
                    <a:pt x="0" y="0"/>
                  </a:moveTo>
                  <a:lnTo>
                    <a:pt x="1038" y="0"/>
                  </a:lnTo>
                  <a:lnTo>
                    <a:pt x="1038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6" name="Freeform 2090">
              <a:extLst>
                <a:ext uri="{FF2B5EF4-FFF2-40B4-BE49-F238E27FC236}">
                  <a16:creationId xmlns:a16="http://schemas.microsoft.com/office/drawing/2014/main" id="{CAE6896A-60C9-43B8-BB55-DE845AD5F4A6}"/>
                </a:ext>
              </a:extLst>
            </p:cNvPr>
            <p:cNvSpPr>
              <a:spLocks/>
            </p:cNvSpPr>
            <p:nvPr/>
          </p:nvSpPr>
          <p:spPr bwMode="gray">
            <a:xfrm>
              <a:off x="7502741" y="4636546"/>
              <a:ext cx="294686" cy="304594"/>
            </a:xfrm>
            <a:custGeom>
              <a:avLst/>
              <a:gdLst>
                <a:gd name="T0" fmla="*/ 1 w 298"/>
                <a:gd name="T1" fmla="*/ 140 h 308"/>
                <a:gd name="T2" fmla="*/ 159 w 298"/>
                <a:gd name="T3" fmla="*/ 308 h 308"/>
                <a:gd name="T4" fmla="*/ 298 w 298"/>
                <a:gd name="T5" fmla="*/ 168 h 308"/>
                <a:gd name="T6" fmla="*/ 298 w 298"/>
                <a:gd name="T7" fmla="*/ 0 h 308"/>
                <a:gd name="T8" fmla="*/ 0 w 298"/>
                <a:gd name="T9" fmla="*/ 0 h 308"/>
                <a:gd name="T10" fmla="*/ 1 w 298"/>
                <a:gd name="T11" fmla="*/ 14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8" h="308">
                  <a:moveTo>
                    <a:pt x="1" y="140"/>
                  </a:moveTo>
                  <a:cubicBezTo>
                    <a:pt x="1" y="217"/>
                    <a:pt x="82" y="308"/>
                    <a:pt x="159" y="308"/>
                  </a:cubicBezTo>
                  <a:cubicBezTo>
                    <a:pt x="236" y="308"/>
                    <a:pt x="298" y="245"/>
                    <a:pt x="298" y="168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40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7" name="Freeform 2091">
              <a:extLst>
                <a:ext uri="{FF2B5EF4-FFF2-40B4-BE49-F238E27FC236}">
                  <a16:creationId xmlns:a16="http://schemas.microsoft.com/office/drawing/2014/main" id="{8892B9AA-C830-4F90-9F68-0596785441F9}"/>
                </a:ext>
              </a:extLst>
            </p:cNvPr>
            <p:cNvSpPr>
              <a:spLocks/>
            </p:cNvSpPr>
            <p:nvPr/>
          </p:nvSpPr>
          <p:spPr bwMode="gray">
            <a:xfrm>
              <a:off x="7556152" y="4828387"/>
              <a:ext cx="183922" cy="187899"/>
            </a:xfrm>
            <a:custGeom>
              <a:avLst/>
              <a:gdLst>
                <a:gd name="T0" fmla="*/ 0 w 186"/>
                <a:gd name="T1" fmla="*/ 146 h 190"/>
                <a:gd name="T2" fmla="*/ 83 w 186"/>
                <a:gd name="T3" fmla="*/ 184 h 190"/>
                <a:gd name="T4" fmla="*/ 186 w 186"/>
                <a:gd name="T5" fmla="*/ 145 h 190"/>
                <a:gd name="T6" fmla="*/ 171 w 186"/>
                <a:gd name="T7" fmla="*/ 0 h 190"/>
                <a:gd name="T8" fmla="*/ 5 w 186"/>
                <a:gd name="T9" fmla="*/ 0 h 190"/>
                <a:gd name="T10" fmla="*/ 0 w 186"/>
                <a:gd name="T11" fmla="*/ 14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" h="190">
                  <a:moveTo>
                    <a:pt x="0" y="146"/>
                  </a:moveTo>
                  <a:cubicBezTo>
                    <a:pt x="14" y="172"/>
                    <a:pt x="80" y="184"/>
                    <a:pt x="83" y="184"/>
                  </a:cubicBezTo>
                  <a:cubicBezTo>
                    <a:pt x="135" y="190"/>
                    <a:pt x="186" y="145"/>
                    <a:pt x="186" y="145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146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8" name="Freeform 2092">
              <a:extLst>
                <a:ext uri="{FF2B5EF4-FFF2-40B4-BE49-F238E27FC236}">
                  <a16:creationId xmlns:a16="http://schemas.microsoft.com/office/drawing/2014/main" id="{A3D6CDAB-5C11-45FE-8409-79CA145BAC3F}"/>
                </a:ext>
              </a:extLst>
            </p:cNvPr>
            <p:cNvSpPr>
              <a:spLocks/>
            </p:cNvSpPr>
            <p:nvPr/>
          </p:nvSpPr>
          <p:spPr bwMode="gray">
            <a:xfrm>
              <a:off x="7490879" y="4506996"/>
              <a:ext cx="328283" cy="396538"/>
            </a:xfrm>
            <a:custGeom>
              <a:avLst/>
              <a:gdLst>
                <a:gd name="T0" fmla="*/ 0 w 9576"/>
                <a:gd name="T1" fmla="*/ 3721 h 11567"/>
                <a:gd name="T2" fmla="*/ 87 w 9576"/>
                <a:gd name="T3" fmla="*/ 7673 h 11567"/>
                <a:gd name="T4" fmla="*/ 866 w 9576"/>
                <a:gd name="T5" fmla="*/ 10038 h 11567"/>
                <a:gd name="T6" fmla="*/ 2394 w 9576"/>
                <a:gd name="T7" fmla="*/ 11567 h 11567"/>
                <a:gd name="T8" fmla="*/ 6346 w 9576"/>
                <a:gd name="T9" fmla="*/ 11538 h 11567"/>
                <a:gd name="T10" fmla="*/ 7961 w 9576"/>
                <a:gd name="T11" fmla="*/ 8481 h 11567"/>
                <a:gd name="T12" fmla="*/ 7961 w 9576"/>
                <a:gd name="T13" fmla="*/ 5106 h 11567"/>
                <a:gd name="T14" fmla="*/ 8942 w 9576"/>
                <a:gd name="T15" fmla="*/ 3779 h 11567"/>
                <a:gd name="T16" fmla="*/ 9576 w 9576"/>
                <a:gd name="T17" fmla="*/ 2423 h 11567"/>
                <a:gd name="T18" fmla="*/ 8624 w 9576"/>
                <a:gd name="T19" fmla="*/ 375 h 11567"/>
                <a:gd name="T20" fmla="*/ 4327 w 9576"/>
                <a:gd name="T21" fmla="*/ 0 h 11567"/>
                <a:gd name="T22" fmla="*/ 1817 w 9576"/>
                <a:gd name="T23" fmla="*/ 894 h 11567"/>
                <a:gd name="T24" fmla="*/ 548 w 9576"/>
                <a:gd name="T25" fmla="*/ 1817 h 11567"/>
                <a:gd name="T26" fmla="*/ 0 w 9576"/>
                <a:gd name="T27" fmla="*/ 3721 h 11567"/>
                <a:gd name="T28" fmla="*/ 0 w 9576"/>
                <a:gd name="T29" fmla="*/ 3721 h 11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576" h="11567">
                  <a:moveTo>
                    <a:pt x="0" y="3721"/>
                  </a:moveTo>
                  <a:lnTo>
                    <a:pt x="87" y="7673"/>
                  </a:lnTo>
                  <a:lnTo>
                    <a:pt x="866" y="10038"/>
                  </a:lnTo>
                  <a:lnTo>
                    <a:pt x="2394" y="11567"/>
                  </a:lnTo>
                  <a:lnTo>
                    <a:pt x="6346" y="11538"/>
                  </a:lnTo>
                  <a:lnTo>
                    <a:pt x="7961" y="8481"/>
                  </a:lnTo>
                  <a:lnTo>
                    <a:pt x="7961" y="5106"/>
                  </a:lnTo>
                  <a:lnTo>
                    <a:pt x="8942" y="3779"/>
                  </a:lnTo>
                  <a:lnTo>
                    <a:pt x="9576" y="2423"/>
                  </a:lnTo>
                  <a:lnTo>
                    <a:pt x="8624" y="375"/>
                  </a:lnTo>
                  <a:lnTo>
                    <a:pt x="4327" y="0"/>
                  </a:lnTo>
                  <a:lnTo>
                    <a:pt x="1817" y="894"/>
                  </a:lnTo>
                  <a:lnTo>
                    <a:pt x="548" y="1817"/>
                  </a:lnTo>
                  <a:lnTo>
                    <a:pt x="0" y="3721"/>
                  </a:lnTo>
                  <a:lnTo>
                    <a:pt x="0" y="3721"/>
                  </a:lnTo>
                  <a:close/>
                </a:path>
              </a:pathLst>
            </a:custGeom>
            <a:solidFill>
              <a:srgbClr val="645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9" name="Freeform 2093">
              <a:extLst>
                <a:ext uri="{FF2B5EF4-FFF2-40B4-BE49-F238E27FC236}">
                  <a16:creationId xmlns:a16="http://schemas.microsoft.com/office/drawing/2014/main" id="{5462B879-5E8F-4AEB-B622-3EA065A70326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31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31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0" name="Freeform 2094">
              <a:extLst>
                <a:ext uri="{FF2B5EF4-FFF2-40B4-BE49-F238E27FC236}">
                  <a16:creationId xmlns:a16="http://schemas.microsoft.com/office/drawing/2014/main" id="{CC3ED701-CD4E-47B3-8972-8076D70BF475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6356294"/>
              <a:ext cx="168118" cy="60336"/>
            </a:xfrm>
            <a:custGeom>
              <a:avLst/>
              <a:gdLst>
                <a:gd name="T0" fmla="*/ 84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4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4 w 170"/>
                <a:gd name="T13" fmla="*/ 0 h 61"/>
                <a:gd name="T14" fmla="*/ 84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1" name="Freeform 2095">
              <a:extLst>
                <a:ext uri="{FF2B5EF4-FFF2-40B4-BE49-F238E27FC236}">
                  <a16:creationId xmlns:a16="http://schemas.microsoft.com/office/drawing/2014/main" id="{53837532-0DA0-4516-8E0D-945C17B1D603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5864796"/>
              <a:ext cx="169078" cy="491500"/>
            </a:xfrm>
            <a:custGeom>
              <a:avLst/>
              <a:gdLst>
                <a:gd name="T0" fmla="*/ 4932 w 4932"/>
                <a:gd name="T1" fmla="*/ 0 h 14337"/>
                <a:gd name="T2" fmla="*/ 4586 w 4932"/>
                <a:gd name="T3" fmla="*/ 14337 h 14337"/>
                <a:gd name="T4" fmla="*/ 144 w 4932"/>
                <a:gd name="T5" fmla="*/ 14337 h 14337"/>
                <a:gd name="T6" fmla="*/ 0 w 4932"/>
                <a:gd name="T7" fmla="*/ 0 h 14337"/>
                <a:gd name="T8" fmla="*/ 4932 w 4932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32" h="14337">
                  <a:moveTo>
                    <a:pt x="4932" y="0"/>
                  </a:moveTo>
                  <a:lnTo>
                    <a:pt x="4586" y="14337"/>
                  </a:lnTo>
                  <a:lnTo>
                    <a:pt x="144" y="14337"/>
                  </a:lnTo>
                  <a:lnTo>
                    <a:pt x="0" y="0"/>
                  </a:lnTo>
                  <a:lnTo>
                    <a:pt x="4932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2" name="Freeform 2096">
              <a:extLst>
                <a:ext uri="{FF2B5EF4-FFF2-40B4-BE49-F238E27FC236}">
                  <a16:creationId xmlns:a16="http://schemas.microsoft.com/office/drawing/2014/main" id="{4488853F-E511-482D-8576-12E3C0C69EEE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4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3" name="Freeform 2097">
              <a:extLst>
                <a:ext uri="{FF2B5EF4-FFF2-40B4-BE49-F238E27FC236}">
                  <a16:creationId xmlns:a16="http://schemas.microsoft.com/office/drawing/2014/main" id="{6A3997E1-2E5C-47E8-9093-08FE06B1376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763940"/>
              <a:ext cx="582414" cy="60301"/>
            </a:xfrm>
            <a:custGeom>
              <a:avLst/>
              <a:gdLst>
                <a:gd name="T0" fmla="*/ 528 w 589"/>
                <a:gd name="T1" fmla="*/ 0 h 61"/>
                <a:gd name="T2" fmla="*/ 61 w 589"/>
                <a:gd name="T3" fmla="*/ 0 h 61"/>
                <a:gd name="T4" fmla="*/ 0 w 589"/>
                <a:gd name="T5" fmla="*/ 61 h 61"/>
                <a:gd name="T6" fmla="*/ 589 w 589"/>
                <a:gd name="T7" fmla="*/ 61 h 61"/>
                <a:gd name="T8" fmla="*/ 528 w 589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9" y="61"/>
                    <a:pt x="589" y="61"/>
                    <a:pt x="589" y="61"/>
                  </a:cubicBezTo>
                  <a:cubicBezTo>
                    <a:pt x="589" y="27"/>
                    <a:pt x="562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4" name="Freeform 2098">
              <a:extLst>
                <a:ext uri="{FF2B5EF4-FFF2-40B4-BE49-F238E27FC236}">
                  <a16:creationId xmlns:a16="http://schemas.microsoft.com/office/drawing/2014/main" id="{2FE14518-8831-49F8-8EC9-E2404CA39840}"/>
                </a:ext>
              </a:extLst>
            </p:cNvPr>
            <p:cNvSpPr>
              <a:spLocks/>
            </p:cNvSpPr>
            <p:nvPr/>
          </p:nvSpPr>
          <p:spPr bwMode="gray">
            <a:xfrm>
              <a:off x="7436508" y="5616561"/>
              <a:ext cx="433082" cy="170106"/>
            </a:xfrm>
            <a:custGeom>
              <a:avLst/>
              <a:gdLst>
                <a:gd name="T0" fmla="*/ 7 w 438"/>
                <a:gd name="T1" fmla="*/ 105 h 172"/>
                <a:gd name="T2" fmla="*/ 72 w 438"/>
                <a:gd name="T3" fmla="*/ 172 h 172"/>
                <a:gd name="T4" fmla="*/ 365 w 438"/>
                <a:gd name="T5" fmla="*/ 172 h 172"/>
                <a:gd name="T6" fmla="*/ 433 w 438"/>
                <a:gd name="T7" fmla="*/ 105 h 172"/>
                <a:gd name="T8" fmla="*/ 438 w 438"/>
                <a:gd name="T9" fmla="*/ 0 h 172"/>
                <a:gd name="T10" fmla="*/ 0 w 438"/>
                <a:gd name="T11" fmla="*/ 0 h 172"/>
                <a:gd name="T12" fmla="*/ 7 w 438"/>
                <a:gd name="T13" fmla="*/ 105 h 172"/>
                <a:gd name="T14" fmla="*/ 7 w 438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8" h="172">
                  <a:moveTo>
                    <a:pt x="7" y="105"/>
                  </a:moveTo>
                  <a:cubicBezTo>
                    <a:pt x="7" y="105"/>
                    <a:pt x="18" y="172"/>
                    <a:pt x="72" y="172"/>
                  </a:cubicBezTo>
                  <a:cubicBezTo>
                    <a:pt x="305" y="172"/>
                    <a:pt x="365" y="172"/>
                    <a:pt x="365" y="172"/>
                  </a:cubicBezTo>
                  <a:cubicBezTo>
                    <a:pt x="418" y="172"/>
                    <a:pt x="433" y="105"/>
                    <a:pt x="433" y="105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5"/>
                    <a:pt x="7" y="105"/>
                    <a:pt x="7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5" name="Freeform 2099">
              <a:extLst>
                <a:ext uri="{FF2B5EF4-FFF2-40B4-BE49-F238E27FC236}">
                  <a16:creationId xmlns:a16="http://schemas.microsoft.com/office/drawing/2014/main" id="{2100C065-70AE-417C-A6E6-A70E64F4811A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824240"/>
              <a:ext cx="582414" cy="40556"/>
            </a:xfrm>
            <a:custGeom>
              <a:avLst/>
              <a:gdLst>
                <a:gd name="T0" fmla="*/ 0 w 16989"/>
                <a:gd name="T1" fmla="*/ 0 h 1183"/>
                <a:gd name="T2" fmla="*/ 16989 w 16989"/>
                <a:gd name="T3" fmla="*/ 0 h 1183"/>
                <a:gd name="T4" fmla="*/ 16989 w 16989"/>
                <a:gd name="T5" fmla="*/ 1183 h 1183"/>
                <a:gd name="T6" fmla="*/ 0 w 16989"/>
                <a:gd name="T7" fmla="*/ 1183 h 1183"/>
                <a:gd name="T8" fmla="*/ 0 w 16989"/>
                <a:gd name="T9" fmla="*/ 0 h 1183"/>
                <a:gd name="T10" fmla="*/ 0 w 16989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89" h="1183">
                  <a:moveTo>
                    <a:pt x="0" y="0"/>
                  </a:moveTo>
                  <a:lnTo>
                    <a:pt x="16989" y="0"/>
                  </a:lnTo>
                  <a:lnTo>
                    <a:pt x="16989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6" name="Freeform 2100">
              <a:extLst>
                <a:ext uri="{FF2B5EF4-FFF2-40B4-BE49-F238E27FC236}">
                  <a16:creationId xmlns:a16="http://schemas.microsoft.com/office/drawing/2014/main" id="{AA27BA4D-E6E1-4365-AFEA-F3CD0C1884C0}"/>
                </a:ext>
              </a:extLst>
            </p:cNvPr>
            <p:cNvSpPr>
              <a:spLocks/>
            </p:cNvSpPr>
            <p:nvPr/>
          </p:nvSpPr>
          <p:spPr bwMode="gray">
            <a:xfrm>
              <a:off x="7371236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7" name="Freeform 2101">
              <a:extLst>
                <a:ext uri="{FF2B5EF4-FFF2-40B4-BE49-F238E27FC236}">
                  <a16:creationId xmlns:a16="http://schemas.microsoft.com/office/drawing/2014/main" id="{A0A19CEE-2BA8-40EC-8EAB-E17F5AE39DBF}"/>
                </a:ext>
              </a:extLst>
            </p:cNvPr>
            <p:cNvSpPr>
              <a:spLocks/>
            </p:cNvSpPr>
            <p:nvPr/>
          </p:nvSpPr>
          <p:spPr bwMode="gray">
            <a:xfrm>
              <a:off x="7867637" y="5305042"/>
              <a:ext cx="109736" cy="182962"/>
            </a:xfrm>
            <a:custGeom>
              <a:avLst/>
              <a:gdLst>
                <a:gd name="T0" fmla="*/ 2999 w 3201"/>
                <a:gd name="T1" fmla="*/ 4154 h 5337"/>
                <a:gd name="T2" fmla="*/ 3201 w 3201"/>
                <a:gd name="T3" fmla="*/ 0 h 5337"/>
                <a:gd name="T4" fmla="*/ 0 w 3201"/>
                <a:gd name="T5" fmla="*/ 0 h 5337"/>
                <a:gd name="T6" fmla="*/ 0 w 3201"/>
                <a:gd name="T7" fmla="*/ 5337 h 5337"/>
                <a:gd name="T8" fmla="*/ 2019 w 3201"/>
                <a:gd name="T9" fmla="*/ 5337 h 5337"/>
                <a:gd name="T10" fmla="*/ 2999 w 3201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1" h="5337">
                  <a:moveTo>
                    <a:pt x="2999" y="4154"/>
                  </a:moveTo>
                  <a:lnTo>
                    <a:pt x="3201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2019" y="5337"/>
                  </a:lnTo>
                  <a:lnTo>
                    <a:pt x="2999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8" name="Freeform 2102">
              <a:extLst>
                <a:ext uri="{FF2B5EF4-FFF2-40B4-BE49-F238E27FC236}">
                  <a16:creationId xmlns:a16="http://schemas.microsoft.com/office/drawing/2014/main" id="{4ED9D84D-87B5-43D0-A9DE-3F168C62FCE7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4784" y="4940146"/>
              <a:ext cx="656531" cy="732808"/>
            </a:xfrm>
            <a:custGeom>
              <a:avLst/>
              <a:gdLst>
                <a:gd name="T0" fmla="*/ 15835 w 19151"/>
                <a:gd name="T1" fmla="*/ 11019 h 21376"/>
                <a:gd name="T2" fmla="*/ 15950 w 19151"/>
                <a:gd name="T3" fmla="*/ 21376 h 21376"/>
                <a:gd name="T4" fmla="*/ 3086 w 19151"/>
                <a:gd name="T5" fmla="*/ 21376 h 21376"/>
                <a:gd name="T6" fmla="*/ 3115 w 19151"/>
                <a:gd name="T7" fmla="*/ 11019 h 21376"/>
                <a:gd name="T8" fmla="*/ 0 w 19151"/>
                <a:gd name="T9" fmla="*/ 11019 h 21376"/>
                <a:gd name="T10" fmla="*/ 173 w 19151"/>
                <a:gd name="T11" fmla="*/ 4875 h 21376"/>
                <a:gd name="T12" fmla="*/ 1730 w 19151"/>
                <a:gd name="T13" fmla="*/ 2394 h 21376"/>
                <a:gd name="T14" fmla="*/ 6807 w 19151"/>
                <a:gd name="T15" fmla="*/ 0 h 21376"/>
                <a:gd name="T16" fmla="*/ 12316 w 19151"/>
                <a:gd name="T17" fmla="*/ 0 h 21376"/>
                <a:gd name="T18" fmla="*/ 17421 w 19151"/>
                <a:gd name="T19" fmla="*/ 2394 h 21376"/>
                <a:gd name="T20" fmla="*/ 19036 w 19151"/>
                <a:gd name="T21" fmla="*/ 4933 h 21376"/>
                <a:gd name="T22" fmla="*/ 19151 w 19151"/>
                <a:gd name="T23" fmla="*/ 11019 h 21376"/>
                <a:gd name="T24" fmla="*/ 15835 w 19151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51" h="21376">
                  <a:moveTo>
                    <a:pt x="15835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15" y="11019"/>
                  </a:lnTo>
                  <a:lnTo>
                    <a:pt x="0" y="11019"/>
                  </a:lnTo>
                  <a:lnTo>
                    <a:pt x="173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316" y="0"/>
                  </a:lnTo>
                  <a:lnTo>
                    <a:pt x="17421" y="2394"/>
                  </a:lnTo>
                  <a:lnTo>
                    <a:pt x="19036" y="4933"/>
                  </a:lnTo>
                  <a:lnTo>
                    <a:pt x="19151" y="11019"/>
                  </a:lnTo>
                  <a:lnTo>
                    <a:pt x="15835" y="11019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9" name="Freeform 2103">
              <a:extLst>
                <a:ext uri="{FF2B5EF4-FFF2-40B4-BE49-F238E27FC236}">
                  <a16:creationId xmlns:a16="http://schemas.microsoft.com/office/drawing/2014/main" id="{592CDDDC-7C1B-443E-970A-089BE028AB8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02227" y="5453380"/>
              <a:ext cx="34625" cy="963250"/>
            </a:xfrm>
            <a:custGeom>
              <a:avLst/>
              <a:gdLst>
                <a:gd name="T0" fmla="*/ 0 w 1010"/>
                <a:gd name="T1" fmla="*/ 0 h 28098"/>
                <a:gd name="T2" fmla="*/ 1010 w 1010"/>
                <a:gd name="T3" fmla="*/ 0 h 28098"/>
                <a:gd name="T4" fmla="*/ 1010 w 1010"/>
                <a:gd name="T5" fmla="*/ 28098 h 28098"/>
                <a:gd name="T6" fmla="*/ 0 w 1010"/>
                <a:gd name="T7" fmla="*/ 28098 h 28098"/>
                <a:gd name="T8" fmla="*/ 0 w 1010"/>
                <a:gd name="T9" fmla="*/ 0 h 28098"/>
                <a:gd name="T10" fmla="*/ 0 w 1010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0" h="28098">
                  <a:moveTo>
                    <a:pt x="0" y="0"/>
                  </a:moveTo>
                  <a:lnTo>
                    <a:pt x="1010" y="0"/>
                  </a:lnTo>
                  <a:lnTo>
                    <a:pt x="1010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0" name="Freeform 2104">
              <a:extLst>
                <a:ext uri="{FF2B5EF4-FFF2-40B4-BE49-F238E27FC236}">
                  <a16:creationId xmlns:a16="http://schemas.microsoft.com/office/drawing/2014/main" id="{1AE40868-708D-41B0-8B5A-E48F89EE729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225955"/>
              <a:ext cx="582414" cy="227426"/>
            </a:xfrm>
            <a:custGeom>
              <a:avLst/>
              <a:gdLst>
                <a:gd name="T0" fmla="*/ 441 w 589"/>
                <a:gd name="T1" fmla="*/ 0 h 230"/>
                <a:gd name="T2" fmla="*/ 149 w 589"/>
                <a:gd name="T3" fmla="*/ 0 h 230"/>
                <a:gd name="T4" fmla="*/ 0 w 589"/>
                <a:gd name="T5" fmla="*/ 131 h 230"/>
                <a:gd name="T6" fmla="*/ 0 w 589"/>
                <a:gd name="T7" fmla="*/ 230 h 230"/>
                <a:gd name="T8" fmla="*/ 589 w 589"/>
                <a:gd name="T9" fmla="*/ 230 h 230"/>
                <a:gd name="T10" fmla="*/ 589 w 589"/>
                <a:gd name="T11" fmla="*/ 131 h 230"/>
                <a:gd name="T12" fmla="*/ 441 w 589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9" h="230">
                  <a:moveTo>
                    <a:pt x="441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67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9" y="230"/>
                    <a:pt x="589" y="230"/>
                    <a:pt x="589" y="230"/>
                  </a:cubicBezTo>
                  <a:cubicBezTo>
                    <a:pt x="589" y="131"/>
                    <a:pt x="589" y="131"/>
                    <a:pt x="589" y="131"/>
                  </a:cubicBezTo>
                  <a:cubicBezTo>
                    <a:pt x="589" y="58"/>
                    <a:pt x="522" y="0"/>
                    <a:pt x="441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1" name="Freeform 2105">
              <a:extLst>
                <a:ext uri="{FF2B5EF4-FFF2-40B4-BE49-F238E27FC236}">
                  <a16:creationId xmlns:a16="http://schemas.microsoft.com/office/drawing/2014/main" id="{536054AA-E884-4927-BCDA-8CAF7A9965D6}"/>
                </a:ext>
              </a:extLst>
            </p:cNvPr>
            <p:cNvSpPr>
              <a:spLocks/>
            </p:cNvSpPr>
            <p:nvPr/>
          </p:nvSpPr>
          <p:spPr bwMode="gray">
            <a:xfrm>
              <a:off x="8331367" y="5059791"/>
              <a:ext cx="128522" cy="60336"/>
            </a:xfrm>
            <a:custGeom>
              <a:avLst/>
              <a:gdLst>
                <a:gd name="T0" fmla="*/ 3432 w 3749"/>
                <a:gd name="T1" fmla="*/ 1760 h 1760"/>
                <a:gd name="T2" fmla="*/ 259 w 3749"/>
                <a:gd name="T3" fmla="*/ 1760 h 1760"/>
                <a:gd name="T4" fmla="*/ 0 w 3749"/>
                <a:gd name="T5" fmla="*/ 0 h 1760"/>
                <a:gd name="T6" fmla="*/ 3749 w 3749"/>
                <a:gd name="T7" fmla="*/ 0 h 1760"/>
                <a:gd name="T8" fmla="*/ 3432 w 3749"/>
                <a:gd name="T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9" h="1760">
                  <a:moveTo>
                    <a:pt x="3432" y="1760"/>
                  </a:moveTo>
                  <a:lnTo>
                    <a:pt x="259" y="1760"/>
                  </a:lnTo>
                  <a:lnTo>
                    <a:pt x="0" y="0"/>
                  </a:lnTo>
                  <a:lnTo>
                    <a:pt x="3749" y="0"/>
                  </a:lnTo>
                  <a:lnTo>
                    <a:pt x="3432" y="176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2" name="Freeform 2106">
              <a:extLst>
                <a:ext uri="{FF2B5EF4-FFF2-40B4-BE49-F238E27FC236}">
                  <a16:creationId xmlns:a16="http://schemas.microsoft.com/office/drawing/2014/main" id="{05724881-8EE5-413C-8E2F-F7D99A4910B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068703"/>
              <a:ext cx="327289" cy="423243"/>
            </a:xfrm>
            <a:custGeom>
              <a:avLst/>
              <a:gdLst>
                <a:gd name="T0" fmla="*/ 0 w 9547"/>
                <a:gd name="T1" fmla="*/ 9606 h 12346"/>
                <a:gd name="T2" fmla="*/ 4124 w 9547"/>
                <a:gd name="T3" fmla="*/ 1413 h 12346"/>
                <a:gd name="T4" fmla="*/ 5278 w 9547"/>
                <a:gd name="T5" fmla="*/ 0 h 12346"/>
                <a:gd name="T6" fmla="*/ 8220 w 9547"/>
                <a:gd name="T7" fmla="*/ 0 h 12346"/>
                <a:gd name="T8" fmla="*/ 9547 w 9547"/>
                <a:gd name="T9" fmla="*/ 779 h 12346"/>
                <a:gd name="T10" fmla="*/ 9547 w 9547"/>
                <a:gd name="T11" fmla="*/ 1356 h 12346"/>
                <a:gd name="T12" fmla="*/ 8133 w 9547"/>
                <a:gd name="T13" fmla="*/ 1356 h 12346"/>
                <a:gd name="T14" fmla="*/ 7903 w 9547"/>
                <a:gd name="T15" fmla="*/ 1904 h 12346"/>
                <a:gd name="T16" fmla="*/ 6287 w 9547"/>
                <a:gd name="T17" fmla="*/ 1904 h 12346"/>
                <a:gd name="T18" fmla="*/ 5422 w 9547"/>
                <a:gd name="T19" fmla="*/ 3346 h 12346"/>
                <a:gd name="T20" fmla="*/ 3836 w 9547"/>
                <a:gd name="T21" fmla="*/ 10673 h 12346"/>
                <a:gd name="T22" fmla="*/ 2826 w 9547"/>
                <a:gd name="T23" fmla="*/ 12346 h 12346"/>
                <a:gd name="T24" fmla="*/ 548 w 9547"/>
                <a:gd name="T25" fmla="*/ 12346 h 12346"/>
                <a:gd name="T26" fmla="*/ 0 w 9547"/>
                <a:gd name="T27" fmla="*/ 9606 h 12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47" h="12346">
                  <a:moveTo>
                    <a:pt x="0" y="9606"/>
                  </a:moveTo>
                  <a:lnTo>
                    <a:pt x="4124" y="1413"/>
                  </a:lnTo>
                  <a:lnTo>
                    <a:pt x="5278" y="0"/>
                  </a:lnTo>
                  <a:lnTo>
                    <a:pt x="8220" y="0"/>
                  </a:lnTo>
                  <a:lnTo>
                    <a:pt x="9547" y="779"/>
                  </a:lnTo>
                  <a:lnTo>
                    <a:pt x="9547" y="1356"/>
                  </a:lnTo>
                  <a:lnTo>
                    <a:pt x="8133" y="1356"/>
                  </a:lnTo>
                  <a:lnTo>
                    <a:pt x="7903" y="1904"/>
                  </a:lnTo>
                  <a:lnTo>
                    <a:pt x="6287" y="1904"/>
                  </a:lnTo>
                  <a:lnTo>
                    <a:pt x="5422" y="3346"/>
                  </a:lnTo>
                  <a:lnTo>
                    <a:pt x="3836" y="10673"/>
                  </a:lnTo>
                  <a:lnTo>
                    <a:pt x="2826" y="12346"/>
                  </a:lnTo>
                  <a:lnTo>
                    <a:pt x="548" y="12346"/>
                  </a:lnTo>
                  <a:lnTo>
                    <a:pt x="0" y="9606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3" name="Freeform 2152">
              <a:extLst>
                <a:ext uri="{FF2B5EF4-FFF2-40B4-BE49-F238E27FC236}">
                  <a16:creationId xmlns:a16="http://schemas.microsoft.com/office/drawing/2014/main" id="{341AA65C-063D-417B-A846-81E13CA70CED}"/>
                </a:ext>
              </a:extLst>
            </p:cNvPr>
            <p:cNvSpPr>
              <a:spLocks/>
            </p:cNvSpPr>
            <p:nvPr/>
          </p:nvSpPr>
          <p:spPr bwMode="gray">
            <a:xfrm>
              <a:off x="4259545" y="5031130"/>
              <a:ext cx="325300" cy="447961"/>
            </a:xfrm>
            <a:custGeom>
              <a:avLst/>
              <a:gdLst>
                <a:gd name="T0" fmla="*/ 8595 w 9489"/>
                <a:gd name="T1" fmla="*/ 13067 h 13067"/>
                <a:gd name="T2" fmla="*/ 0 w 9489"/>
                <a:gd name="T3" fmla="*/ 1500 h 13067"/>
                <a:gd name="T4" fmla="*/ 2422 w 9489"/>
                <a:gd name="T5" fmla="*/ 0 h 13067"/>
                <a:gd name="T6" fmla="*/ 9489 w 9489"/>
                <a:gd name="T7" fmla="*/ 11135 h 13067"/>
                <a:gd name="T8" fmla="*/ 8595 w 9489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89" h="13067">
                  <a:moveTo>
                    <a:pt x="8595" y="13067"/>
                  </a:moveTo>
                  <a:lnTo>
                    <a:pt x="0" y="1500"/>
                  </a:lnTo>
                  <a:lnTo>
                    <a:pt x="2422" y="0"/>
                  </a:lnTo>
                  <a:lnTo>
                    <a:pt x="9489" y="11135"/>
                  </a:lnTo>
                  <a:lnTo>
                    <a:pt x="8595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4" name="Freeform 2153">
              <a:extLst>
                <a:ext uri="{FF2B5EF4-FFF2-40B4-BE49-F238E27FC236}">
                  <a16:creationId xmlns:a16="http://schemas.microsoft.com/office/drawing/2014/main" id="{C619249D-A4DE-4AC1-942D-288D95FE4646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7930" y="5420743"/>
              <a:ext cx="265993" cy="66267"/>
            </a:xfrm>
            <a:custGeom>
              <a:avLst/>
              <a:gdLst>
                <a:gd name="T0" fmla="*/ 269 w 269"/>
                <a:gd name="T1" fmla="*/ 67 h 67"/>
                <a:gd name="T2" fmla="*/ 0 w 269"/>
                <a:gd name="T3" fmla="*/ 67 h 67"/>
                <a:gd name="T4" fmla="*/ 112 w 269"/>
                <a:gd name="T5" fmla="*/ 20 h 67"/>
                <a:gd name="T6" fmla="*/ 131 w 269"/>
                <a:gd name="T7" fmla="*/ 0 h 67"/>
                <a:gd name="T8" fmla="*/ 201 w 269"/>
                <a:gd name="T9" fmla="*/ 0 h 67"/>
                <a:gd name="T10" fmla="*/ 269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269" y="67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28" y="26"/>
                    <a:pt x="242" y="41"/>
                    <a:pt x="269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5" name="Freeform 2154">
              <a:extLst>
                <a:ext uri="{FF2B5EF4-FFF2-40B4-BE49-F238E27FC236}">
                  <a16:creationId xmlns:a16="http://schemas.microsoft.com/office/drawing/2014/main" id="{456F9812-ABC9-47E0-935D-ABDB1A8641A6}"/>
                </a:ext>
              </a:extLst>
            </p:cNvPr>
            <p:cNvSpPr>
              <a:spLocks/>
            </p:cNvSpPr>
            <p:nvPr/>
          </p:nvSpPr>
          <p:spPr bwMode="gray">
            <a:xfrm>
              <a:off x="4300066" y="5630412"/>
              <a:ext cx="434077" cy="656668"/>
            </a:xfrm>
            <a:custGeom>
              <a:avLst/>
              <a:gdLst>
                <a:gd name="T0" fmla="*/ 353 w 439"/>
                <a:gd name="T1" fmla="*/ 0 h 664"/>
                <a:gd name="T2" fmla="*/ 0 w 439"/>
                <a:gd name="T3" fmla="*/ 607 h 664"/>
                <a:gd name="T4" fmla="*/ 133 w 439"/>
                <a:gd name="T5" fmla="*/ 664 h 664"/>
                <a:gd name="T6" fmla="*/ 439 w 439"/>
                <a:gd name="T7" fmla="*/ 164 h 664"/>
                <a:gd name="T8" fmla="*/ 404 w 439"/>
                <a:gd name="T9" fmla="*/ 31 h 664"/>
                <a:gd name="T10" fmla="*/ 353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353" y="0"/>
                  </a:moveTo>
                  <a:cubicBezTo>
                    <a:pt x="0" y="607"/>
                    <a:pt x="0" y="607"/>
                    <a:pt x="0" y="607"/>
                  </a:cubicBezTo>
                  <a:cubicBezTo>
                    <a:pt x="133" y="664"/>
                    <a:pt x="133" y="664"/>
                    <a:pt x="133" y="664"/>
                  </a:cubicBezTo>
                  <a:cubicBezTo>
                    <a:pt x="439" y="164"/>
                    <a:pt x="439" y="164"/>
                    <a:pt x="439" y="164"/>
                  </a:cubicBezTo>
                  <a:cubicBezTo>
                    <a:pt x="425" y="112"/>
                    <a:pt x="418" y="83"/>
                    <a:pt x="404" y="31"/>
                  </a:cubicBezTo>
                  <a:lnTo>
                    <a:pt x="353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6" name="Freeform 2155">
              <a:extLst>
                <a:ext uri="{FF2B5EF4-FFF2-40B4-BE49-F238E27FC236}">
                  <a16:creationId xmlns:a16="http://schemas.microsoft.com/office/drawing/2014/main" id="{05B8A5CE-6BE0-4D6A-9F14-CD79542D447A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4136" y="6157529"/>
              <a:ext cx="190847" cy="179979"/>
            </a:xfrm>
            <a:custGeom>
              <a:avLst/>
              <a:gdLst>
                <a:gd name="T0" fmla="*/ 137 w 193"/>
                <a:gd name="T1" fmla="*/ 53 h 182"/>
                <a:gd name="T2" fmla="*/ 48 w 193"/>
                <a:gd name="T3" fmla="*/ 0 h 182"/>
                <a:gd name="T4" fmla="*/ 0 w 193"/>
                <a:gd name="T5" fmla="*/ 71 h 182"/>
                <a:gd name="T6" fmla="*/ 93 w 193"/>
                <a:gd name="T7" fmla="*/ 126 h 182"/>
                <a:gd name="T8" fmla="*/ 188 w 193"/>
                <a:gd name="T9" fmla="*/ 182 h 182"/>
                <a:gd name="T10" fmla="*/ 193 w 193"/>
                <a:gd name="T11" fmla="*/ 86 h 182"/>
                <a:gd name="T12" fmla="*/ 137 w 193"/>
                <a:gd name="T13" fmla="*/ 53 h 182"/>
                <a:gd name="T14" fmla="*/ 137 w 193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3" h="182">
                  <a:moveTo>
                    <a:pt x="137" y="53"/>
                  </a:moveTo>
                  <a:cubicBezTo>
                    <a:pt x="49" y="1"/>
                    <a:pt x="48" y="0"/>
                    <a:pt x="48" y="0"/>
                  </a:cubicBezTo>
                  <a:cubicBezTo>
                    <a:pt x="48" y="0"/>
                    <a:pt x="14" y="48"/>
                    <a:pt x="0" y="71"/>
                  </a:cubicBezTo>
                  <a:cubicBezTo>
                    <a:pt x="93" y="126"/>
                    <a:pt x="93" y="126"/>
                    <a:pt x="93" y="126"/>
                  </a:cubicBezTo>
                  <a:cubicBezTo>
                    <a:pt x="188" y="182"/>
                    <a:pt x="188" y="182"/>
                    <a:pt x="188" y="182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7" y="53"/>
                    <a:pt x="137" y="53"/>
                    <a:pt x="137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7" name="Freeform 2156">
              <a:extLst>
                <a:ext uri="{FF2B5EF4-FFF2-40B4-BE49-F238E27FC236}">
                  <a16:creationId xmlns:a16="http://schemas.microsoft.com/office/drawing/2014/main" id="{BF4887E9-1BDD-4AA2-8FEC-F7A51D76A1C6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1290" y="4528731"/>
              <a:ext cx="276893" cy="445012"/>
            </a:xfrm>
            <a:custGeom>
              <a:avLst/>
              <a:gdLst>
                <a:gd name="T0" fmla="*/ 190 w 280"/>
                <a:gd name="T1" fmla="*/ 0 h 450"/>
                <a:gd name="T2" fmla="*/ 9 w 280"/>
                <a:gd name="T3" fmla="*/ 189 h 450"/>
                <a:gd name="T4" fmla="*/ 37 w 280"/>
                <a:gd name="T5" fmla="*/ 280 h 450"/>
                <a:gd name="T6" fmla="*/ 2 w 280"/>
                <a:gd name="T7" fmla="*/ 325 h 450"/>
                <a:gd name="T8" fmla="*/ 11 w 280"/>
                <a:gd name="T9" fmla="*/ 352 h 450"/>
                <a:gd name="T10" fmla="*/ 0 w 280"/>
                <a:gd name="T11" fmla="*/ 404 h 450"/>
                <a:gd name="T12" fmla="*/ 140 w 280"/>
                <a:gd name="T13" fmla="*/ 450 h 450"/>
                <a:gd name="T14" fmla="*/ 156 w 280"/>
                <a:gd name="T15" fmla="*/ 369 h 450"/>
                <a:gd name="T16" fmla="*/ 198 w 280"/>
                <a:gd name="T17" fmla="*/ 376 h 450"/>
                <a:gd name="T18" fmla="*/ 280 w 280"/>
                <a:gd name="T19" fmla="*/ 189 h 450"/>
                <a:gd name="T20" fmla="*/ 1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190" y="0"/>
                  </a:moveTo>
                  <a:cubicBezTo>
                    <a:pt x="115" y="0"/>
                    <a:pt x="9" y="85"/>
                    <a:pt x="9" y="189"/>
                  </a:cubicBezTo>
                  <a:cubicBezTo>
                    <a:pt x="9" y="221"/>
                    <a:pt x="20" y="252"/>
                    <a:pt x="37" y="280"/>
                  </a:cubicBezTo>
                  <a:cubicBezTo>
                    <a:pt x="34" y="285"/>
                    <a:pt x="2" y="325"/>
                    <a:pt x="2" y="325"/>
                  </a:cubicBezTo>
                  <a:cubicBezTo>
                    <a:pt x="11" y="352"/>
                    <a:pt x="11" y="352"/>
                    <a:pt x="11" y="352"/>
                  </a:cubicBezTo>
                  <a:cubicBezTo>
                    <a:pt x="0" y="404"/>
                    <a:pt x="0" y="404"/>
                    <a:pt x="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56" y="369"/>
                    <a:pt x="156" y="369"/>
                    <a:pt x="156" y="369"/>
                  </a:cubicBezTo>
                  <a:cubicBezTo>
                    <a:pt x="170" y="373"/>
                    <a:pt x="184" y="376"/>
                    <a:pt x="198" y="376"/>
                  </a:cubicBezTo>
                  <a:cubicBezTo>
                    <a:pt x="271" y="376"/>
                    <a:pt x="280" y="291"/>
                    <a:pt x="280" y="189"/>
                  </a:cubicBezTo>
                  <a:cubicBezTo>
                    <a:pt x="280" y="85"/>
                    <a:pt x="263" y="0"/>
                    <a:pt x="1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8" name="Freeform 2157">
              <a:extLst>
                <a:ext uri="{FF2B5EF4-FFF2-40B4-BE49-F238E27FC236}">
                  <a16:creationId xmlns:a16="http://schemas.microsoft.com/office/drawing/2014/main" id="{9980563D-55A1-42FE-9507-BD824539051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31983" y="4504014"/>
              <a:ext cx="341138" cy="401509"/>
            </a:xfrm>
            <a:custGeom>
              <a:avLst/>
              <a:gdLst>
                <a:gd name="T0" fmla="*/ 301 w 345"/>
                <a:gd name="T1" fmla="*/ 386 h 406"/>
                <a:gd name="T2" fmla="*/ 267 w 345"/>
                <a:gd name="T3" fmla="*/ 406 h 406"/>
                <a:gd name="T4" fmla="*/ 197 w 345"/>
                <a:gd name="T5" fmla="*/ 394 h 406"/>
                <a:gd name="T6" fmla="*/ 178 w 345"/>
                <a:gd name="T7" fmla="*/ 280 h 406"/>
                <a:gd name="T8" fmla="*/ 132 w 345"/>
                <a:gd name="T9" fmla="*/ 168 h 406"/>
                <a:gd name="T10" fmla="*/ 101 w 345"/>
                <a:gd name="T11" fmla="*/ 300 h 406"/>
                <a:gd name="T12" fmla="*/ 71 w 345"/>
                <a:gd name="T13" fmla="*/ 377 h 406"/>
                <a:gd name="T14" fmla="*/ 0 w 345"/>
                <a:gd name="T15" fmla="*/ 157 h 406"/>
                <a:gd name="T16" fmla="*/ 84 w 345"/>
                <a:gd name="T17" fmla="*/ 6 h 406"/>
                <a:gd name="T18" fmla="*/ 257 w 345"/>
                <a:gd name="T19" fmla="*/ 0 h 406"/>
                <a:gd name="T20" fmla="*/ 335 w 345"/>
                <a:gd name="T21" fmla="*/ 47 h 406"/>
                <a:gd name="T22" fmla="*/ 345 w 345"/>
                <a:gd name="T23" fmla="*/ 74 h 406"/>
                <a:gd name="T24" fmla="*/ 331 w 345"/>
                <a:gd name="T25" fmla="*/ 105 h 406"/>
                <a:gd name="T26" fmla="*/ 249 w 345"/>
                <a:gd name="T27" fmla="*/ 62 h 406"/>
                <a:gd name="T28" fmla="*/ 214 w 345"/>
                <a:gd name="T29" fmla="*/ 159 h 406"/>
                <a:gd name="T30" fmla="*/ 218 w 345"/>
                <a:gd name="T31" fmla="*/ 313 h 406"/>
                <a:gd name="T32" fmla="*/ 319 w 345"/>
                <a:gd name="T33" fmla="*/ 355 h 406"/>
                <a:gd name="T34" fmla="*/ 317 w 345"/>
                <a:gd name="T35" fmla="*/ 371 h 406"/>
                <a:gd name="T36" fmla="*/ 301 w 345"/>
                <a:gd name="T37" fmla="*/ 38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5" h="406">
                  <a:moveTo>
                    <a:pt x="301" y="386"/>
                  </a:moveTo>
                  <a:cubicBezTo>
                    <a:pt x="267" y="406"/>
                    <a:pt x="267" y="406"/>
                    <a:pt x="267" y="406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178" y="280"/>
                    <a:pt x="178" y="280"/>
                    <a:pt x="178" y="280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71" y="377"/>
                    <a:pt x="71" y="377"/>
                    <a:pt x="71" y="377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335" y="47"/>
                    <a:pt x="335" y="47"/>
                    <a:pt x="335" y="47"/>
                  </a:cubicBezTo>
                  <a:cubicBezTo>
                    <a:pt x="339" y="57"/>
                    <a:pt x="341" y="64"/>
                    <a:pt x="345" y="74"/>
                  </a:cubicBezTo>
                  <a:cubicBezTo>
                    <a:pt x="331" y="105"/>
                    <a:pt x="331" y="105"/>
                    <a:pt x="331" y="105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14" y="159"/>
                    <a:pt x="214" y="159"/>
                    <a:pt x="214" y="159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319" y="355"/>
                    <a:pt x="319" y="355"/>
                    <a:pt x="319" y="355"/>
                  </a:cubicBezTo>
                  <a:cubicBezTo>
                    <a:pt x="317" y="371"/>
                    <a:pt x="317" y="371"/>
                    <a:pt x="317" y="371"/>
                  </a:cubicBezTo>
                  <a:lnTo>
                    <a:pt x="301" y="386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9" name="Freeform 2158">
              <a:extLst>
                <a:ext uri="{FF2B5EF4-FFF2-40B4-BE49-F238E27FC236}">
                  <a16:creationId xmlns:a16="http://schemas.microsoft.com/office/drawing/2014/main" id="{1651E3B3-416C-431A-9E69-E06D2E9C098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02328" y="4893661"/>
              <a:ext cx="328248" cy="665547"/>
            </a:xfrm>
            <a:custGeom>
              <a:avLst/>
              <a:gdLst>
                <a:gd name="T0" fmla="*/ 6807 w 9575"/>
                <a:gd name="T1" fmla="*/ 1558 h 19414"/>
                <a:gd name="T2" fmla="*/ 2711 w 9575"/>
                <a:gd name="T3" fmla="*/ 0 h 19414"/>
                <a:gd name="T4" fmla="*/ 0 w 9575"/>
                <a:gd name="T5" fmla="*/ 4212 h 19414"/>
                <a:gd name="T6" fmla="*/ 605 w 9575"/>
                <a:gd name="T7" fmla="*/ 14250 h 19414"/>
                <a:gd name="T8" fmla="*/ 317 w 9575"/>
                <a:gd name="T9" fmla="*/ 17856 h 19414"/>
                <a:gd name="T10" fmla="*/ 317 w 9575"/>
                <a:gd name="T11" fmla="*/ 19414 h 19414"/>
                <a:gd name="T12" fmla="*/ 9547 w 9575"/>
                <a:gd name="T13" fmla="*/ 18779 h 19414"/>
                <a:gd name="T14" fmla="*/ 9575 w 9575"/>
                <a:gd name="T15" fmla="*/ 5827 h 19414"/>
                <a:gd name="T16" fmla="*/ 6807 w 9575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75" h="19414">
                  <a:moveTo>
                    <a:pt x="6807" y="1558"/>
                  </a:moveTo>
                  <a:lnTo>
                    <a:pt x="2711" y="0"/>
                  </a:lnTo>
                  <a:lnTo>
                    <a:pt x="0" y="4212"/>
                  </a:lnTo>
                  <a:lnTo>
                    <a:pt x="605" y="14250"/>
                  </a:lnTo>
                  <a:lnTo>
                    <a:pt x="317" y="17856"/>
                  </a:lnTo>
                  <a:lnTo>
                    <a:pt x="317" y="19414"/>
                  </a:lnTo>
                  <a:lnTo>
                    <a:pt x="9547" y="18779"/>
                  </a:lnTo>
                  <a:lnTo>
                    <a:pt x="9575" y="5827"/>
                  </a:lnTo>
                  <a:lnTo>
                    <a:pt x="6807" y="1558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0" name="Freeform 2159">
              <a:extLst>
                <a:ext uri="{FF2B5EF4-FFF2-40B4-BE49-F238E27FC236}">
                  <a16:creationId xmlns:a16="http://schemas.microsoft.com/office/drawing/2014/main" id="{4A3B4FC5-D4D3-4086-83E9-85C8A7AA6B2F}"/>
                </a:ext>
              </a:extLst>
            </p:cNvPr>
            <p:cNvSpPr>
              <a:spLocks/>
            </p:cNvSpPr>
            <p:nvPr/>
          </p:nvSpPr>
          <p:spPr bwMode="gray">
            <a:xfrm>
              <a:off x="4510693" y="5741176"/>
              <a:ext cx="195784" cy="602263"/>
            </a:xfrm>
            <a:custGeom>
              <a:avLst/>
              <a:gdLst>
                <a:gd name="T0" fmla="*/ 5711 w 5711"/>
                <a:gd name="T1" fmla="*/ 375 h 17568"/>
                <a:gd name="T2" fmla="*/ 4643 w 5711"/>
                <a:gd name="T3" fmla="*/ 17280 h 17568"/>
                <a:gd name="T4" fmla="*/ 865 w 5711"/>
                <a:gd name="T5" fmla="*/ 17568 h 17568"/>
                <a:gd name="T6" fmla="*/ 634 w 5711"/>
                <a:gd name="T7" fmla="*/ 2221 h 17568"/>
                <a:gd name="T8" fmla="*/ 0 w 5711"/>
                <a:gd name="T9" fmla="*/ 0 h 17568"/>
                <a:gd name="T10" fmla="*/ 5711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5711" y="375"/>
                  </a:moveTo>
                  <a:lnTo>
                    <a:pt x="4643" y="17280"/>
                  </a:lnTo>
                  <a:lnTo>
                    <a:pt x="865" y="17568"/>
                  </a:lnTo>
                  <a:lnTo>
                    <a:pt x="634" y="2221"/>
                  </a:lnTo>
                  <a:lnTo>
                    <a:pt x="0" y="0"/>
                  </a:lnTo>
                  <a:lnTo>
                    <a:pt x="5711" y="375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1" name="Freeform 2160">
              <a:extLst>
                <a:ext uri="{FF2B5EF4-FFF2-40B4-BE49-F238E27FC236}">
                  <a16:creationId xmlns:a16="http://schemas.microsoft.com/office/drawing/2014/main" id="{AC346DED-1D73-47B4-A4D8-3FA06637D998}"/>
                </a:ext>
              </a:extLst>
            </p:cNvPr>
            <p:cNvSpPr>
              <a:spLocks/>
            </p:cNvSpPr>
            <p:nvPr/>
          </p:nvSpPr>
          <p:spPr bwMode="gray">
            <a:xfrm>
              <a:off x="4534418" y="6259381"/>
              <a:ext cx="212582" cy="83065"/>
            </a:xfrm>
            <a:custGeom>
              <a:avLst/>
              <a:gdLst>
                <a:gd name="T0" fmla="*/ 107 w 215"/>
                <a:gd name="T1" fmla="*/ 0 h 84"/>
                <a:gd name="T2" fmla="*/ 5 w 215"/>
                <a:gd name="T3" fmla="*/ 0 h 84"/>
                <a:gd name="T4" fmla="*/ 0 w 215"/>
                <a:gd name="T5" fmla="*/ 84 h 84"/>
                <a:gd name="T6" fmla="*/ 107 w 215"/>
                <a:gd name="T7" fmla="*/ 84 h 84"/>
                <a:gd name="T8" fmla="*/ 215 w 215"/>
                <a:gd name="T9" fmla="*/ 84 h 84"/>
                <a:gd name="T10" fmla="*/ 171 w 215"/>
                <a:gd name="T11" fmla="*/ 0 h 84"/>
                <a:gd name="T12" fmla="*/ 107 w 215"/>
                <a:gd name="T13" fmla="*/ 0 h 84"/>
                <a:gd name="T14" fmla="*/ 107 w 215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84">
                  <a:moveTo>
                    <a:pt x="107" y="0"/>
                  </a:moveTo>
                  <a:cubicBezTo>
                    <a:pt x="6" y="0"/>
                    <a:pt x="5" y="0"/>
                    <a:pt x="5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07" y="84"/>
                    <a:pt x="107" y="84"/>
                    <a:pt x="107" y="84"/>
                  </a:cubicBezTo>
                  <a:cubicBezTo>
                    <a:pt x="215" y="84"/>
                    <a:pt x="215" y="84"/>
                    <a:pt x="215" y="84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2" name="Freeform 2161">
              <a:extLst>
                <a:ext uri="{FF2B5EF4-FFF2-40B4-BE49-F238E27FC236}">
                  <a16:creationId xmlns:a16="http://schemas.microsoft.com/office/drawing/2014/main" id="{8D6B9D50-C371-4F97-B9EA-DB2D0C452BD2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767882"/>
              <a:ext cx="434077" cy="62290"/>
            </a:xfrm>
            <a:custGeom>
              <a:avLst/>
              <a:gdLst>
                <a:gd name="T0" fmla="*/ 393 w 439"/>
                <a:gd name="T1" fmla="*/ 0 h 63"/>
                <a:gd name="T2" fmla="*/ 45 w 439"/>
                <a:gd name="T3" fmla="*/ 0 h 63"/>
                <a:gd name="T4" fmla="*/ 0 w 439"/>
                <a:gd name="T5" fmla="*/ 63 h 63"/>
                <a:gd name="T6" fmla="*/ 439 w 439"/>
                <a:gd name="T7" fmla="*/ 63 h 63"/>
                <a:gd name="T8" fmla="*/ 393 w 439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9" h="63">
                  <a:moveTo>
                    <a:pt x="393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8"/>
                    <a:pt x="0" y="63"/>
                  </a:cubicBezTo>
                  <a:cubicBezTo>
                    <a:pt x="439" y="63"/>
                    <a:pt x="439" y="63"/>
                    <a:pt x="439" y="63"/>
                  </a:cubicBezTo>
                  <a:cubicBezTo>
                    <a:pt x="439" y="28"/>
                    <a:pt x="418" y="0"/>
                    <a:pt x="39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3" name="Freeform 2162">
              <a:extLst>
                <a:ext uri="{FF2B5EF4-FFF2-40B4-BE49-F238E27FC236}">
                  <a16:creationId xmlns:a16="http://schemas.microsoft.com/office/drawing/2014/main" id="{0AF451A3-C733-412B-A773-2E598E96939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825235"/>
              <a:ext cx="434077" cy="42510"/>
            </a:xfrm>
            <a:custGeom>
              <a:avLst/>
              <a:gdLst>
                <a:gd name="T0" fmla="*/ 0 w 12662"/>
                <a:gd name="T1" fmla="*/ 0 h 1240"/>
                <a:gd name="T2" fmla="*/ 12662 w 12662"/>
                <a:gd name="T3" fmla="*/ 0 h 1240"/>
                <a:gd name="T4" fmla="*/ 12662 w 12662"/>
                <a:gd name="T5" fmla="*/ 1240 h 1240"/>
                <a:gd name="T6" fmla="*/ 0 w 12662"/>
                <a:gd name="T7" fmla="*/ 1240 h 1240"/>
                <a:gd name="T8" fmla="*/ 0 w 12662"/>
                <a:gd name="T9" fmla="*/ 0 h 1240"/>
                <a:gd name="T10" fmla="*/ 0 w 12662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62" h="1240">
                  <a:moveTo>
                    <a:pt x="0" y="0"/>
                  </a:moveTo>
                  <a:lnTo>
                    <a:pt x="12662" y="0"/>
                  </a:lnTo>
                  <a:lnTo>
                    <a:pt x="12662" y="1240"/>
                  </a:lnTo>
                  <a:lnTo>
                    <a:pt x="0" y="1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4" name="Freeform 2163">
              <a:extLst>
                <a:ext uri="{FF2B5EF4-FFF2-40B4-BE49-F238E27FC236}">
                  <a16:creationId xmlns:a16="http://schemas.microsoft.com/office/drawing/2014/main" id="{A59C9FE5-EF5D-4540-AF00-4C0A3F78E704}"/>
                </a:ext>
              </a:extLst>
            </p:cNvPr>
            <p:cNvSpPr>
              <a:spLocks/>
            </p:cNvSpPr>
            <p:nvPr/>
          </p:nvSpPr>
          <p:spPr bwMode="gray">
            <a:xfrm>
              <a:off x="4067704" y="6115979"/>
              <a:ext cx="420226" cy="22763"/>
            </a:xfrm>
            <a:custGeom>
              <a:avLst/>
              <a:gdLst>
                <a:gd name="T0" fmla="*/ 0 w 12258"/>
                <a:gd name="T1" fmla="*/ 0 h 664"/>
                <a:gd name="T2" fmla="*/ 12258 w 12258"/>
                <a:gd name="T3" fmla="*/ 0 h 664"/>
                <a:gd name="T4" fmla="*/ 12258 w 12258"/>
                <a:gd name="T5" fmla="*/ 664 h 664"/>
                <a:gd name="T6" fmla="*/ 0 w 12258"/>
                <a:gd name="T7" fmla="*/ 664 h 664"/>
                <a:gd name="T8" fmla="*/ 0 w 12258"/>
                <a:gd name="T9" fmla="*/ 0 h 664"/>
                <a:gd name="T10" fmla="*/ 0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0" y="0"/>
                  </a:moveTo>
                  <a:lnTo>
                    <a:pt x="12258" y="0"/>
                  </a:lnTo>
                  <a:lnTo>
                    <a:pt x="12258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5" name="Freeform 2164">
              <a:extLst>
                <a:ext uri="{FF2B5EF4-FFF2-40B4-BE49-F238E27FC236}">
                  <a16:creationId xmlns:a16="http://schemas.microsoft.com/office/drawing/2014/main" id="{285BBA7A-0623-4289-8553-A77C3D91BE7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456363"/>
              <a:ext cx="53411" cy="883134"/>
            </a:xfrm>
            <a:custGeom>
              <a:avLst/>
              <a:gdLst>
                <a:gd name="T0" fmla="*/ 0 w 1558"/>
                <a:gd name="T1" fmla="*/ 0 h 25761"/>
                <a:gd name="T2" fmla="*/ 1558 w 1558"/>
                <a:gd name="T3" fmla="*/ 0 h 25761"/>
                <a:gd name="T4" fmla="*/ 1558 w 1558"/>
                <a:gd name="T5" fmla="*/ 25761 h 25761"/>
                <a:gd name="T6" fmla="*/ 0 w 1558"/>
                <a:gd name="T7" fmla="*/ 25761 h 25761"/>
                <a:gd name="T8" fmla="*/ 0 w 1558"/>
                <a:gd name="T9" fmla="*/ 0 h 25761"/>
                <a:gd name="T10" fmla="*/ 0 w 1558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8" h="25761">
                  <a:moveTo>
                    <a:pt x="0" y="0"/>
                  </a:moveTo>
                  <a:lnTo>
                    <a:pt x="1558" y="0"/>
                  </a:lnTo>
                  <a:lnTo>
                    <a:pt x="1558" y="25761"/>
                  </a:lnTo>
                  <a:lnTo>
                    <a:pt x="0" y="2576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6" name="Freeform 2165">
              <a:extLst>
                <a:ext uri="{FF2B5EF4-FFF2-40B4-BE49-F238E27FC236}">
                  <a16:creationId xmlns:a16="http://schemas.microsoft.com/office/drawing/2014/main" id="{48FBFE5C-537C-4C64-83ED-E25BEEED86DD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201" y="5825235"/>
              <a:ext cx="45491" cy="517210"/>
            </a:xfrm>
            <a:custGeom>
              <a:avLst/>
              <a:gdLst>
                <a:gd name="T0" fmla="*/ 0 w 1327"/>
                <a:gd name="T1" fmla="*/ 0 h 15087"/>
                <a:gd name="T2" fmla="*/ 1327 w 1327"/>
                <a:gd name="T3" fmla="*/ 0 h 15087"/>
                <a:gd name="T4" fmla="*/ 1327 w 1327"/>
                <a:gd name="T5" fmla="*/ 15087 h 15087"/>
                <a:gd name="T6" fmla="*/ 0 w 1327"/>
                <a:gd name="T7" fmla="*/ 15087 h 15087"/>
                <a:gd name="T8" fmla="*/ 0 w 1327"/>
                <a:gd name="T9" fmla="*/ 0 h 15087"/>
                <a:gd name="T10" fmla="*/ 0 w 1327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7" h="15087">
                  <a:moveTo>
                    <a:pt x="0" y="0"/>
                  </a:moveTo>
                  <a:lnTo>
                    <a:pt x="1327" y="0"/>
                  </a:lnTo>
                  <a:lnTo>
                    <a:pt x="1327" y="15087"/>
                  </a:lnTo>
                  <a:lnTo>
                    <a:pt x="0" y="1508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7" name="Freeform 2166">
              <a:extLst>
                <a:ext uri="{FF2B5EF4-FFF2-40B4-BE49-F238E27FC236}">
                  <a16:creationId xmlns:a16="http://schemas.microsoft.com/office/drawing/2014/main" id="{AE0551DD-42DB-4309-8DDF-476CB431B20C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221978"/>
              <a:ext cx="53411" cy="234385"/>
            </a:xfrm>
            <a:custGeom>
              <a:avLst/>
              <a:gdLst>
                <a:gd name="T0" fmla="*/ 40 w 54"/>
                <a:gd name="T1" fmla="*/ 0 h 237"/>
                <a:gd name="T2" fmla="*/ 14 w 54"/>
                <a:gd name="T3" fmla="*/ 0 h 237"/>
                <a:gd name="T4" fmla="*/ 0 w 54"/>
                <a:gd name="T5" fmla="*/ 134 h 237"/>
                <a:gd name="T6" fmla="*/ 0 w 54"/>
                <a:gd name="T7" fmla="*/ 237 h 237"/>
                <a:gd name="T8" fmla="*/ 54 w 54"/>
                <a:gd name="T9" fmla="*/ 237 h 237"/>
                <a:gd name="T10" fmla="*/ 54 w 54"/>
                <a:gd name="T11" fmla="*/ 134 h 237"/>
                <a:gd name="T12" fmla="*/ 40 w 54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237">
                  <a:moveTo>
                    <a:pt x="40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0"/>
                    <a:pt x="0" y="134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54" y="237"/>
                    <a:pt x="54" y="237"/>
                    <a:pt x="54" y="237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4" y="60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8" name="Freeform 2167">
              <a:extLst>
                <a:ext uri="{FF2B5EF4-FFF2-40B4-BE49-F238E27FC236}">
                  <a16:creationId xmlns:a16="http://schemas.microsoft.com/office/drawing/2014/main" id="{840B2859-7290-4530-846F-1B8A0CC26839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6042" y="5551288"/>
              <a:ext cx="490436" cy="216593"/>
            </a:xfrm>
            <a:custGeom>
              <a:avLst/>
              <a:gdLst>
                <a:gd name="T0" fmla="*/ 14306 w 14306"/>
                <a:gd name="T1" fmla="*/ 6318 h 6318"/>
                <a:gd name="T2" fmla="*/ 0 w 14306"/>
                <a:gd name="T3" fmla="*/ 6318 h 6318"/>
                <a:gd name="T4" fmla="*/ 0 w 14306"/>
                <a:gd name="T5" fmla="*/ 0 h 6318"/>
                <a:gd name="T6" fmla="*/ 12344 w 14306"/>
                <a:gd name="T7" fmla="*/ 1472 h 6318"/>
                <a:gd name="T8" fmla="*/ 14306 w 14306"/>
                <a:gd name="T9" fmla="*/ 3375 h 6318"/>
                <a:gd name="T10" fmla="*/ 14306 w 14306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306" h="6318">
                  <a:moveTo>
                    <a:pt x="14306" y="6318"/>
                  </a:moveTo>
                  <a:lnTo>
                    <a:pt x="0" y="6318"/>
                  </a:lnTo>
                  <a:lnTo>
                    <a:pt x="0" y="0"/>
                  </a:lnTo>
                  <a:lnTo>
                    <a:pt x="12344" y="1472"/>
                  </a:lnTo>
                  <a:lnTo>
                    <a:pt x="14306" y="3375"/>
                  </a:lnTo>
                  <a:lnTo>
                    <a:pt x="14306" y="6318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9" name="Freeform 2168">
              <a:extLst>
                <a:ext uri="{FF2B5EF4-FFF2-40B4-BE49-F238E27FC236}">
                  <a16:creationId xmlns:a16="http://schemas.microsoft.com/office/drawing/2014/main" id="{53DAF2E6-E868-4B7A-9C38-A5C8978CECD4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75046"/>
              <a:ext cx="212582" cy="192836"/>
            </a:xfrm>
            <a:custGeom>
              <a:avLst/>
              <a:gdLst>
                <a:gd name="T0" fmla="*/ 44 w 215"/>
                <a:gd name="T1" fmla="*/ 195 h 195"/>
                <a:gd name="T2" fmla="*/ 192 w 215"/>
                <a:gd name="T3" fmla="*/ 195 h 195"/>
                <a:gd name="T4" fmla="*/ 215 w 215"/>
                <a:gd name="T5" fmla="*/ 172 h 195"/>
                <a:gd name="T6" fmla="*/ 215 w 215"/>
                <a:gd name="T7" fmla="*/ 23 h 195"/>
                <a:gd name="T8" fmla="*/ 192 w 215"/>
                <a:gd name="T9" fmla="*/ 0 h 195"/>
                <a:gd name="T10" fmla="*/ 23 w 215"/>
                <a:gd name="T11" fmla="*/ 0 h 195"/>
                <a:gd name="T12" fmla="*/ 0 w 215"/>
                <a:gd name="T13" fmla="*/ 23 h 195"/>
                <a:gd name="T14" fmla="*/ 0 w 215"/>
                <a:gd name="T15" fmla="*/ 152 h 195"/>
                <a:gd name="T16" fmla="*/ 44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44" y="195"/>
                  </a:moveTo>
                  <a:cubicBezTo>
                    <a:pt x="192" y="195"/>
                    <a:pt x="192" y="195"/>
                    <a:pt x="192" y="195"/>
                  </a:cubicBezTo>
                  <a:cubicBezTo>
                    <a:pt x="205" y="195"/>
                    <a:pt x="215" y="185"/>
                    <a:pt x="215" y="172"/>
                  </a:cubicBezTo>
                  <a:cubicBezTo>
                    <a:pt x="215" y="23"/>
                    <a:pt x="215" y="23"/>
                    <a:pt x="215" y="23"/>
                  </a:cubicBezTo>
                  <a:cubicBezTo>
                    <a:pt x="215" y="11"/>
                    <a:pt x="205" y="0"/>
                    <a:pt x="19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7" y="169"/>
                    <a:pt x="27" y="178"/>
                    <a:pt x="44" y="195"/>
                  </a:cubicBez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0" name="Freeform 2169">
              <a:extLst>
                <a:ext uri="{FF2B5EF4-FFF2-40B4-BE49-F238E27FC236}">
                  <a16:creationId xmlns:a16="http://schemas.microsoft.com/office/drawing/2014/main" id="{EFE0F85A-1EBD-4351-966B-4F917D0493D3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11728"/>
              <a:ext cx="316421" cy="90025"/>
            </a:xfrm>
            <a:custGeom>
              <a:avLst/>
              <a:gdLst>
                <a:gd name="T0" fmla="*/ 7672 w 9230"/>
                <a:gd name="T1" fmla="*/ 2135 h 2626"/>
                <a:gd name="T2" fmla="*/ 0 w 9230"/>
                <a:gd name="T3" fmla="*/ 2626 h 2626"/>
                <a:gd name="T4" fmla="*/ 0 w 9230"/>
                <a:gd name="T5" fmla="*/ 0 h 2626"/>
                <a:gd name="T6" fmla="*/ 9230 w 9230"/>
                <a:gd name="T7" fmla="*/ 750 h 2626"/>
                <a:gd name="T8" fmla="*/ 9114 w 9230"/>
                <a:gd name="T9" fmla="*/ 1876 h 2626"/>
                <a:gd name="T10" fmla="*/ 7672 w 9230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0" h="2626">
                  <a:moveTo>
                    <a:pt x="7672" y="2135"/>
                  </a:moveTo>
                  <a:lnTo>
                    <a:pt x="0" y="2626"/>
                  </a:lnTo>
                  <a:lnTo>
                    <a:pt x="0" y="0"/>
                  </a:lnTo>
                  <a:lnTo>
                    <a:pt x="9230" y="750"/>
                  </a:lnTo>
                  <a:lnTo>
                    <a:pt x="9114" y="1876"/>
                  </a:lnTo>
                  <a:lnTo>
                    <a:pt x="7672" y="2135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1" name="Freeform 2170">
              <a:extLst>
                <a:ext uri="{FF2B5EF4-FFF2-40B4-BE49-F238E27FC236}">
                  <a16:creationId xmlns:a16="http://schemas.microsoft.com/office/drawing/2014/main" id="{ADD32C4C-1E1F-452B-86E8-735B6D0E7CDB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0192" y="5088485"/>
              <a:ext cx="252143" cy="398526"/>
            </a:xfrm>
            <a:custGeom>
              <a:avLst/>
              <a:gdLst>
                <a:gd name="T0" fmla="*/ 5768 w 7355"/>
                <a:gd name="T1" fmla="*/ 11625 h 11625"/>
                <a:gd name="T2" fmla="*/ 0 w 7355"/>
                <a:gd name="T3" fmla="*/ 4875 h 11625"/>
                <a:gd name="T4" fmla="*/ 1730 w 7355"/>
                <a:gd name="T5" fmla="*/ 0 h 11625"/>
                <a:gd name="T6" fmla="*/ 7355 w 7355"/>
                <a:gd name="T7" fmla="*/ 9173 h 11625"/>
                <a:gd name="T8" fmla="*/ 5768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5768" y="11625"/>
                  </a:moveTo>
                  <a:lnTo>
                    <a:pt x="0" y="4875"/>
                  </a:lnTo>
                  <a:lnTo>
                    <a:pt x="1730" y="0"/>
                  </a:lnTo>
                  <a:lnTo>
                    <a:pt x="7355" y="9173"/>
                  </a:lnTo>
                  <a:lnTo>
                    <a:pt x="5768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2" name="Freeform 2171">
              <a:extLst>
                <a:ext uri="{FF2B5EF4-FFF2-40B4-BE49-F238E27FC236}">
                  <a16:creationId xmlns:a16="http://schemas.microsoft.com/office/drawing/2014/main" id="{E6EAE067-1AB9-40E2-A9A2-7DBE03383AE2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0045" y="5399009"/>
              <a:ext cx="183887" cy="88001"/>
            </a:xfrm>
            <a:custGeom>
              <a:avLst/>
              <a:gdLst>
                <a:gd name="T0" fmla="*/ 5364 w 5364"/>
                <a:gd name="T1" fmla="*/ 2336 h 2567"/>
                <a:gd name="T2" fmla="*/ 230 w 5364"/>
                <a:gd name="T3" fmla="*/ 2567 h 2567"/>
                <a:gd name="T4" fmla="*/ 0 w 5364"/>
                <a:gd name="T5" fmla="*/ 750 h 2567"/>
                <a:gd name="T6" fmla="*/ 1471 w 5364"/>
                <a:gd name="T7" fmla="*/ 0 h 2567"/>
                <a:gd name="T8" fmla="*/ 3951 w 5364"/>
                <a:gd name="T9" fmla="*/ 519 h 2567"/>
                <a:gd name="T10" fmla="*/ 5364 w 5364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4" h="2567">
                  <a:moveTo>
                    <a:pt x="5364" y="2336"/>
                  </a:moveTo>
                  <a:lnTo>
                    <a:pt x="230" y="2567"/>
                  </a:lnTo>
                  <a:lnTo>
                    <a:pt x="0" y="750"/>
                  </a:lnTo>
                  <a:lnTo>
                    <a:pt x="1471" y="0"/>
                  </a:lnTo>
                  <a:lnTo>
                    <a:pt x="3951" y="519"/>
                  </a:lnTo>
                  <a:lnTo>
                    <a:pt x="5364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3" name="Freeform 2172">
              <a:extLst>
                <a:ext uri="{FF2B5EF4-FFF2-40B4-BE49-F238E27FC236}">
                  <a16:creationId xmlns:a16="http://schemas.microsoft.com/office/drawing/2014/main" id="{4863DB5E-7FE3-4B45-A60E-4D3A89D86AB5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5613" y="4980667"/>
              <a:ext cx="255091" cy="288790"/>
            </a:xfrm>
            <a:custGeom>
              <a:avLst/>
              <a:gdLst>
                <a:gd name="T0" fmla="*/ 258 w 258"/>
                <a:gd name="T1" fmla="*/ 205 h 292"/>
                <a:gd name="T2" fmla="*/ 122 w 258"/>
                <a:gd name="T3" fmla="*/ 292 h 292"/>
                <a:gd name="T4" fmla="*/ 0 w 258"/>
                <a:gd name="T5" fmla="*/ 100 h 292"/>
                <a:gd name="T6" fmla="*/ 14 w 258"/>
                <a:gd name="T7" fmla="*/ 38 h 292"/>
                <a:gd name="T8" fmla="*/ 74 w 258"/>
                <a:gd name="T9" fmla="*/ 0 h 292"/>
                <a:gd name="T10" fmla="*/ 136 w 258"/>
                <a:gd name="T11" fmla="*/ 13 h 292"/>
                <a:gd name="T12" fmla="*/ 258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258" y="205"/>
                  </a:moveTo>
                  <a:cubicBezTo>
                    <a:pt x="122" y="292"/>
                    <a:pt x="122" y="292"/>
                    <a:pt x="122" y="29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8" y="62"/>
                    <a:pt x="14" y="3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8" y="5"/>
                    <a:pt x="136" y="13"/>
                    <a:pt x="136" y="13"/>
                  </a:cubicBezTo>
                  <a:lnTo>
                    <a:pt x="258" y="205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4" name="Freeform 2173">
              <a:extLst>
                <a:ext uri="{FF2B5EF4-FFF2-40B4-BE49-F238E27FC236}">
                  <a16:creationId xmlns:a16="http://schemas.microsoft.com/office/drawing/2014/main" id="{DBB77F21-4190-4AB9-9DCE-B723D487CAA9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695" y="5399009"/>
              <a:ext cx="106788" cy="80083"/>
            </a:xfrm>
            <a:custGeom>
              <a:avLst/>
              <a:gdLst>
                <a:gd name="T0" fmla="*/ 108 w 108"/>
                <a:gd name="T1" fmla="*/ 48 h 81"/>
                <a:gd name="T2" fmla="*/ 65 w 108"/>
                <a:gd name="T3" fmla="*/ 81 h 81"/>
                <a:gd name="T4" fmla="*/ 0 w 108"/>
                <a:gd name="T5" fmla="*/ 14 h 81"/>
                <a:gd name="T6" fmla="*/ 13 w 108"/>
                <a:gd name="T7" fmla="*/ 0 h 81"/>
                <a:gd name="T8" fmla="*/ 61 w 108"/>
                <a:gd name="T9" fmla="*/ 0 h 81"/>
                <a:gd name="T10" fmla="*/ 108 w 108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81">
                  <a:moveTo>
                    <a:pt x="108" y="48"/>
                  </a:moveTo>
                  <a:cubicBezTo>
                    <a:pt x="65" y="81"/>
                    <a:pt x="65" y="81"/>
                    <a:pt x="65" y="8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79" y="19"/>
                    <a:pt x="89" y="29"/>
                    <a:pt x="108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5" name="Freeform 2174">
              <a:extLst>
                <a:ext uri="{FF2B5EF4-FFF2-40B4-BE49-F238E27FC236}">
                  <a16:creationId xmlns:a16="http://schemas.microsoft.com/office/drawing/2014/main" id="{51FA8E34-EE08-48F8-938D-46F571674117}"/>
                </a:ext>
              </a:extLst>
            </p:cNvPr>
            <p:cNvSpPr>
              <a:spLocks/>
            </p:cNvSpPr>
            <p:nvPr/>
          </p:nvSpPr>
          <p:spPr bwMode="gray">
            <a:xfrm>
              <a:off x="9229172" y="5031130"/>
              <a:ext cx="325335" cy="447961"/>
            </a:xfrm>
            <a:custGeom>
              <a:avLst/>
              <a:gdLst>
                <a:gd name="T0" fmla="*/ 894 w 9490"/>
                <a:gd name="T1" fmla="*/ 13067 h 13067"/>
                <a:gd name="T2" fmla="*/ 9490 w 9490"/>
                <a:gd name="T3" fmla="*/ 1500 h 13067"/>
                <a:gd name="T4" fmla="*/ 7067 w 9490"/>
                <a:gd name="T5" fmla="*/ 0 h 13067"/>
                <a:gd name="T6" fmla="*/ 0 w 9490"/>
                <a:gd name="T7" fmla="*/ 11135 h 13067"/>
                <a:gd name="T8" fmla="*/ 894 w 9490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90" h="13067">
                  <a:moveTo>
                    <a:pt x="894" y="13067"/>
                  </a:moveTo>
                  <a:lnTo>
                    <a:pt x="9490" y="1500"/>
                  </a:lnTo>
                  <a:lnTo>
                    <a:pt x="7067" y="0"/>
                  </a:lnTo>
                  <a:lnTo>
                    <a:pt x="0" y="11135"/>
                  </a:lnTo>
                  <a:lnTo>
                    <a:pt x="894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6" name="Freeform 2175">
              <a:extLst>
                <a:ext uri="{FF2B5EF4-FFF2-40B4-BE49-F238E27FC236}">
                  <a16:creationId xmlns:a16="http://schemas.microsoft.com/office/drawing/2014/main" id="{F0E0437B-4BAE-42C8-820F-2146856FCBB9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0087" y="5420743"/>
              <a:ext cx="265992" cy="66267"/>
            </a:xfrm>
            <a:custGeom>
              <a:avLst/>
              <a:gdLst>
                <a:gd name="T0" fmla="*/ 0 w 269"/>
                <a:gd name="T1" fmla="*/ 67 h 67"/>
                <a:gd name="T2" fmla="*/ 269 w 269"/>
                <a:gd name="T3" fmla="*/ 67 h 67"/>
                <a:gd name="T4" fmla="*/ 157 w 269"/>
                <a:gd name="T5" fmla="*/ 20 h 67"/>
                <a:gd name="T6" fmla="*/ 138 w 269"/>
                <a:gd name="T7" fmla="*/ 0 h 67"/>
                <a:gd name="T8" fmla="*/ 68 w 269"/>
                <a:gd name="T9" fmla="*/ 0 h 67"/>
                <a:gd name="T10" fmla="*/ 0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0" y="67"/>
                  </a:moveTo>
                  <a:cubicBezTo>
                    <a:pt x="269" y="67"/>
                    <a:pt x="269" y="67"/>
                    <a:pt x="269" y="67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2" y="26"/>
                    <a:pt x="27" y="41"/>
                    <a:pt x="0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7" name="Freeform 2176">
              <a:extLst>
                <a:ext uri="{FF2B5EF4-FFF2-40B4-BE49-F238E27FC236}">
                  <a16:creationId xmlns:a16="http://schemas.microsoft.com/office/drawing/2014/main" id="{D76630BE-9D1C-407A-ACA3-6B240245EE31}"/>
                </a:ext>
              </a:extLst>
            </p:cNvPr>
            <p:cNvSpPr>
              <a:spLocks/>
            </p:cNvSpPr>
            <p:nvPr/>
          </p:nvSpPr>
          <p:spPr bwMode="gray">
            <a:xfrm>
              <a:off x="9079867" y="5630412"/>
              <a:ext cx="434077" cy="656668"/>
            </a:xfrm>
            <a:custGeom>
              <a:avLst/>
              <a:gdLst>
                <a:gd name="T0" fmla="*/ 86 w 439"/>
                <a:gd name="T1" fmla="*/ 0 h 664"/>
                <a:gd name="T2" fmla="*/ 439 w 439"/>
                <a:gd name="T3" fmla="*/ 607 h 664"/>
                <a:gd name="T4" fmla="*/ 306 w 439"/>
                <a:gd name="T5" fmla="*/ 664 h 664"/>
                <a:gd name="T6" fmla="*/ 0 w 439"/>
                <a:gd name="T7" fmla="*/ 164 h 664"/>
                <a:gd name="T8" fmla="*/ 35 w 439"/>
                <a:gd name="T9" fmla="*/ 31 h 664"/>
                <a:gd name="T10" fmla="*/ 86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86" y="0"/>
                  </a:moveTo>
                  <a:cubicBezTo>
                    <a:pt x="439" y="607"/>
                    <a:pt x="439" y="607"/>
                    <a:pt x="439" y="607"/>
                  </a:cubicBezTo>
                  <a:cubicBezTo>
                    <a:pt x="306" y="664"/>
                    <a:pt x="306" y="664"/>
                    <a:pt x="306" y="66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4" y="112"/>
                    <a:pt x="21" y="83"/>
                    <a:pt x="35" y="31"/>
                  </a:cubicBezTo>
                  <a:lnTo>
                    <a:pt x="86" y="0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8" name="Freeform 2177">
              <a:extLst>
                <a:ext uri="{FF2B5EF4-FFF2-40B4-BE49-F238E27FC236}">
                  <a16:creationId xmlns:a16="http://schemas.microsoft.com/office/drawing/2014/main" id="{0232653D-7716-48E6-9768-F692BDC3141E}"/>
                </a:ext>
              </a:extLst>
            </p:cNvPr>
            <p:cNvSpPr>
              <a:spLocks/>
            </p:cNvSpPr>
            <p:nvPr/>
          </p:nvSpPr>
          <p:spPr bwMode="gray">
            <a:xfrm>
              <a:off x="9330022" y="6157529"/>
              <a:ext cx="189853" cy="179979"/>
            </a:xfrm>
            <a:custGeom>
              <a:avLst/>
              <a:gdLst>
                <a:gd name="T0" fmla="*/ 56 w 192"/>
                <a:gd name="T1" fmla="*/ 53 h 182"/>
                <a:gd name="T2" fmla="*/ 145 w 192"/>
                <a:gd name="T3" fmla="*/ 0 h 182"/>
                <a:gd name="T4" fmla="*/ 192 w 192"/>
                <a:gd name="T5" fmla="*/ 71 h 182"/>
                <a:gd name="T6" fmla="*/ 99 w 192"/>
                <a:gd name="T7" fmla="*/ 126 h 182"/>
                <a:gd name="T8" fmla="*/ 4 w 192"/>
                <a:gd name="T9" fmla="*/ 182 h 182"/>
                <a:gd name="T10" fmla="*/ 0 w 192"/>
                <a:gd name="T11" fmla="*/ 86 h 182"/>
                <a:gd name="T12" fmla="*/ 56 w 192"/>
                <a:gd name="T13" fmla="*/ 53 h 182"/>
                <a:gd name="T14" fmla="*/ 56 w 192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" h="182">
                  <a:moveTo>
                    <a:pt x="56" y="53"/>
                  </a:moveTo>
                  <a:cubicBezTo>
                    <a:pt x="143" y="1"/>
                    <a:pt x="145" y="0"/>
                    <a:pt x="145" y="0"/>
                  </a:cubicBezTo>
                  <a:cubicBezTo>
                    <a:pt x="145" y="0"/>
                    <a:pt x="179" y="48"/>
                    <a:pt x="192" y="71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4" y="182"/>
                    <a:pt x="4" y="182"/>
                    <a:pt x="4" y="18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6" y="53"/>
                    <a:pt x="56" y="53"/>
                    <a:pt x="56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9" name="Freeform 2178">
              <a:extLst>
                <a:ext uri="{FF2B5EF4-FFF2-40B4-BE49-F238E27FC236}">
                  <a16:creationId xmlns:a16="http://schemas.microsoft.com/office/drawing/2014/main" id="{875066E3-CFAB-4105-9919-CDF513A355D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5861" y="4528731"/>
              <a:ext cx="276859" cy="445012"/>
            </a:xfrm>
            <a:custGeom>
              <a:avLst/>
              <a:gdLst>
                <a:gd name="T0" fmla="*/ 90 w 280"/>
                <a:gd name="T1" fmla="*/ 0 h 450"/>
                <a:gd name="T2" fmla="*/ 271 w 280"/>
                <a:gd name="T3" fmla="*/ 189 h 450"/>
                <a:gd name="T4" fmla="*/ 243 w 280"/>
                <a:gd name="T5" fmla="*/ 280 h 450"/>
                <a:gd name="T6" fmla="*/ 278 w 280"/>
                <a:gd name="T7" fmla="*/ 325 h 450"/>
                <a:gd name="T8" fmla="*/ 269 w 280"/>
                <a:gd name="T9" fmla="*/ 352 h 450"/>
                <a:gd name="T10" fmla="*/ 280 w 280"/>
                <a:gd name="T11" fmla="*/ 404 h 450"/>
                <a:gd name="T12" fmla="*/ 140 w 280"/>
                <a:gd name="T13" fmla="*/ 450 h 450"/>
                <a:gd name="T14" fmla="*/ 124 w 280"/>
                <a:gd name="T15" fmla="*/ 369 h 450"/>
                <a:gd name="T16" fmla="*/ 82 w 280"/>
                <a:gd name="T17" fmla="*/ 376 h 450"/>
                <a:gd name="T18" fmla="*/ 0 w 280"/>
                <a:gd name="T19" fmla="*/ 189 h 450"/>
                <a:gd name="T20" fmla="*/ 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90" y="0"/>
                  </a:moveTo>
                  <a:cubicBezTo>
                    <a:pt x="165" y="0"/>
                    <a:pt x="271" y="85"/>
                    <a:pt x="271" y="189"/>
                  </a:cubicBezTo>
                  <a:cubicBezTo>
                    <a:pt x="271" y="221"/>
                    <a:pt x="261" y="252"/>
                    <a:pt x="243" y="280"/>
                  </a:cubicBezTo>
                  <a:cubicBezTo>
                    <a:pt x="247" y="285"/>
                    <a:pt x="278" y="325"/>
                    <a:pt x="278" y="325"/>
                  </a:cubicBezTo>
                  <a:cubicBezTo>
                    <a:pt x="269" y="352"/>
                    <a:pt x="269" y="352"/>
                    <a:pt x="269" y="352"/>
                  </a:cubicBezTo>
                  <a:cubicBezTo>
                    <a:pt x="280" y="404"/>
                    <a:pt x="280" y="404"/>
                    <a:pt x="28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24" y="369"/>
                    <a:pt x="124" y="369"/>
                    <a:pt x="124" y="369"/>
                  </a:cubicBezTo>
                  <a:cubicBezTo>
                    <a:pt x="110" y="373"/>
                    <a:pt x="96" y="376"/>
                    <a:pt x="82" y="376"/>
                  </a:cubicBezTo>
                  <a:cubicBezTo>
                    <a:pt x="9" y="376"/>
                    <a:pt x="0" y="291"/>
                    <a:pt x="0" y="189"/>
                  </a:cubicBezTo>
                  <a:cubicBezTo>
                    <a:pt x="0" y="85"/>
                    <a:pt x="17" y="0"/>
                    <a:pt x="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0" name="Freeform 2179">
              <a:extLst>
                <a:ext uri="{FF2B5EF4-FFF2-40B4-BE49-F238E27FC236}">
                  <a16:creationId xmlns:a16="http://schemas.microsoft.com/office/drawing/2014/main" id="{3B3ECF27-8C60-4F0F-B3D7-A13426B7B70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0889" y="4485228"/>
              <a:ext cx="341138" cy="391601"/>
            </a:xfrm>
            <a:custGeom>
              <a:avLst/>
              <a:gdLst>
                <a:gd name="T0" fmla="*/ 168 w 345"/>
                <a:gd name="T1" fmla="*/ 299 h 396"/>
                <a:gd name="T2" fmla="*/ 194 w 345"/>
                <a:gd name="T3" fmla="*/ 183 h 396"/>
                <a:gd name="T4" fmla="*/ 216 w 345"/>
                <a:gd name="T5" fmla="*/ 207 h 396"/>
                <a:gd name="T6" fmla="*/ 244 w 345"/>
                <a:gd name="T7" fmla="*/ 319 h 396"/>
                <a:gd name="T8" fmla="*/ 274 w 345"/>
                <a:gd name="T9" fmla="*/ 396 h 396"/>
                <a:gd name="T10" fmla="*/ 322 w 345"/>
                <a:gd name="T11" fmla="*/ 347 h 396"/>
                <a:gd name="T12" fmla="*/ 345 w 345"/>
                <a:gd name="T13" fmla="*/ 176 h 396"/>
                <a:gd name="T14" fmla="*/ 325 w 345"/>
                <a:gd name="T15" fmla="*/ 104 h 396"/>
                <a:gd name="T16" fmla="*/ 261 w 345"/>
                <a:gd name="T17" fmla="*/ 25 h 396"/>
                <a:gd name="T18" fmla="*/ 181 w 345"/>
                <a:gd name="T19" fmla="*/ 0 h 396"/>
                <a:gd name="T20" fmla="*/ 88 w 345"/>
                <a:gd name="T21" fmla="*/ 19 h 396"/>
                <a:gd name="T22" fmla="*/ 10 w 345"/>
                <a:gd name="T23" fmla="*/ 66 h 396"/>
                <a:gd name="T24" fmla="*/ 0 w 345"/>
                <a:gd name="T25" fmla="*/ 93 h 396"/>
                <a:gd name="T26" fmla="*/ 14 w 345"/>
                <a:gd name="T27" fmla="*/ 124 h 396"/>
                <a:gd name="T28" fmla="*/ 96 w 345"/>
                <a:gd name="T29" fmla="*/ 81 h 396"/>
                <a:gd name="T30" fmla="*/ 131 w 345"/>
                <a:gd name="T31" fmla="*/ 178 h 396"/>
                <a:gd name="T32" fmla="*/ 168 w 345"/>
                <a:gd name="T33" fmla="*/ 29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5" h="396">
                  <a:moveTo>
                    <a:pt x="168" y="299"/>
                  </a:moveTo>
                  <a:cubicBezTo>
                    <a:pt x="194" y="183"/>
                    <a:pt x="194" y="183"/>
                    <a:pt x="194" y="183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44" y="319"/>
                    <a:pt x="244" y="319"/>
                    <a:pt x="244" y="319"/>
                  </a:cubicBezTo>
                  <a:cubicBezTo>
                    <a:pt x="274" y="396"/>
                    <a:pt x="274" y="396"/>
                    <a:pt x="274" y="396"/>
                  </a:cubicBezTo>
                  <a:cubicBezTo>
                    <a:pt x="322" y="347"/>
                    <a:pt x="322" y="347"/>
                    <a:pt x="322" y="347"/>
                  </a:cubicBezTo>
                  <a:cubicBezTo>
                    <a:pt x="345" y="176"/>
                    <a:pt x="345" y="176"/>
                    <a:pt x="345" y="176"/>
                  </a:cubicBezTo>
                  <a:cubicBezTo>
                    <a:pt x="325" y="104"/>
                    <a:pt x="325" y="104"/>
                    <a:pt x="325" y="104"/>
                  </a:cubicBezTo>
                  <a:cubicBezTo>
                    <a:pt x="261" y="25"/>
                    <a:pt x="261" y="25"/>
                    <a:pt x="261" y="25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6" y="76"/>
                    <a:pt x="4" y="83"/>
                    <a:pt x="0" y="93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131" y="178"/>
                    <a:pt x="131" y="178"/>
                    <a:pt x="131" y="178"/>
                  </a:cubicBezTo>
                  <a:lnTo>
                    <a:pt x="168" y="299"/>
                  </a:lnTo>
                  <a:close/>
                </a:path>
              </a:pathLst>
            </a:custGeom>
            <a:solidFill>
              <a:srgbClr val="73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1" name="Freeform 2180">
              <a:extLst>
                <a:ext uri="{FF2B5EF4-FFF2-40B4-BE49-F238E27FC236}">
                  <a16:creationId xmlns:a16="http://schemas.microsoft.com/office/drawing/2014/main" id="{CBF8B282-E8B1-4DD3-B549-DFF0835107E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88" y="4893663"/>
              <a:ext cx="327288" cy="665547"/>
            </a:xfrm>
            <a:custGeom>
              <a:avLst/>
              <a:gdLst>
                <a:gd name="T0" fmla="*/ 2712 w 9547"/>
                <a:gd name="T1" fmla="*/ 1558 h 19414"/>
                <a:gd name="T2" fmla="*/ 6807 w 9547"/>
                <a:gd name="T3" fmla="*/ 0 h 19414"/>
                <a:gd name="T4" fmla="*/ 9547 w 9547"/>
                <a:gd name="T5" fmla="*/ 4212 h 19414"/>
                <a:gd name="T6" fmla="*/ 8942 w 9547"/>
                <a:gd name="T7" fmla="*/ 14250 h 19414"/>
                <a:gd name="T8" fmla="*/ 9201 w 9547"/>
                <a:gd name="T9" fmla="*/ 17856 h 19414"/>
                <a:gd name="T10" fmla="*/ 9201 w 9547"/>
                <a:gd name="T11" fmla="*/ 19414 h 19414"/>
                <a:gd name="T12" fmla="*/ 0 w 9547"/>
                <a:gd name="T13" fmla="*/ 18779 h 19414"/>
                <a:gd name="T14" fmla="*/ 0 w 9547"/>
                <a:gd name="T15" fmla="*/ 4673 h 19414"/>
                <a:gd name="T16" fmla="*/ 2712 w 9547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47" h="19414">
                  <a:moveTo>
                    <a:pt x="2712" y="1558"/>
                  </a:moveTo>
                  <a:lnTo>
                    <a:pt x="6807" y="0"/>
                  </a:lnTo>
                  <a:lnTo>
                    <a:pt x="9547" y="4212"/>
                  </a:lnTo>
                  <a:lnTo>
                    <a:pt x="8942" y="14250"/>
                  </a:lnTo>
                  <a:lnTo>
                    <a:pt x="9201" y="17856"/>
                  </a:lnTo>
                  <a:lnTo>
                    <a:pt x="9201" y="19414"/>
                  </a:lnTo>
                  <a:lnTo>
                    <a:pt x="0" y="18779"/>
                  </a:lnTo>
                  <a:lnTo>
                    <a:pt x="0" y="4673"/>
                  </a:lnTo>
                  <a:lnTo>
                    <a:pt x="2712" y="1558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2" name="Freeform 2181">
              <a:extLst>
                <a:ext uri="{FF2B5EF4-FFF2-40B4-BE49-F238E27FC236}">
                  <a16:creationId xmlns:a16="http://schemas.microsoft.com/office/drawing/2014/main" id="{540C6DBF-A1D5-4F32-B0CD-A600896A26A8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28" y="5741179"/>
              <a:ext cx="195784" cy="602263"/>
            </a:xfrm>
            <a:custGeom>
              <a:avLst/>
              <a:gdLst>
                <a:gd name="T0" fmla="*/ 0 w 5711"/>
                <a:gd name="T1" fmla="*/ 375 h 17568"/>
                <a:gd name="T2" fmla="*/ 1039 w 5711"/>
                <a:gd name="T3" fmla="*/ 17280 h 17568"/>
                <a:gd name="T4" fmla="*/ 4846 w 5711"/>
                <a:gd name="T5" fmla="*/ 17568 h 17568"/>
                <a:gd name="T6" fmla="*/ 5048 w 5711"/>
                <a:gd name="T7" fmla="*/ 2221 h 17568"/>
                <a:gd name="T8" fmla="*/ 5711 w 5711"/>
                <a:gd name="T9" fmla="*/ 0 h 17568"/>
                <a:gd name="T10" fmla="*/ 0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0" y="375"/>
                  </a:moveTo>
                  <a:lnTo>
                    <a:pt x="1039" y="17280"/>
                  </a:lnTo>
                  <a:lnTo>
                    <a:pt x="4846" y="17568"/>
                  </a:lnTo>
                  <a:lnTo>
                    <a:pt x="5048" y="2221"/>
                  </a:lnTo>
                  <a:lnTo>
                    <a:pt x="5711" y="0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3" name="Freeform 2182">
              <a:extLst>
                <a:ext uri="{FF2B5EF4-FFF2-40B4-BE49-F238E27FC236}">
                  <a16:creationId xmlns:a16="http://schemas.microsoft.com/office/drawing/2014/main" id="{D7B744AB-ED5A-4AEE-8746-4381F1AF4627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7006" y="6259384"/>
              <a:ext cx="213575" cy="83065"/>
            </a:xfrm>
            <a:custGeom>
              <a:avLst/>
              <a:gdLst>
                <a:gd name="T0" fmla="*/ 108 w 216"/>
                <a:gd name="T1" fmla="*/ 0 h 84"/>
                <a:gd name="T2" fmla="*/ 211 w 216"/>
                <a:gd name="T3" fmla="*/ 0 h 84"/>
                <a:gd name="T4" fmla="*/ 216 w 216"/>
                <a:gd name="T5" fmla="*/ 84 h 84"/>
                <a:gd name="T6" fmla="*/ 108 w 216"/>
                <a:gd name="T7" fmla="*/ 84 h 84"/>
                <a:gd name="T8" fmla="*/ 0 w 216"/>
                <a:gd name="T9" fmla="*/ 84 h 84"/>
                <a:gd name="T10" fmla="*/ 44 w 216"/>
                <a:gd name="T11" fmla="*/ 0 h 84"/>
                <a:gd name="T12" fmla="*/ 108 w 216"/>
                <a:gd name="T13" fmla="*/ 0 h 84"/>
                <a:gd name="T14" fmla="*/ 108 w 216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" h="84">
                  <a:moveTo>
                    <a:pt x="108" y="0"/>
                  </a:moveTo>
                  <a:cubicBezTo>
                    <a:pt x="209" y="0"/>
                    <a:pt x="211" y="0"/>
                    <a:pt x="211" y="0"/>
                  </a:cubicBezTo>
                  <a:cubicBezTo>
                    <a:pt x="216" y="84"/>
                    <a:pt x="216" y="84"/>
                    <a:pt x="216" y="8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4" name="Freeform 2183">
              <a:extLst>
                <a:ext uri="{FF2B5EF4-FFF2-40B4-BE49-F238E27FC236}">
                  <a16:creationId xmlns:a16="http://schemas.microsoft.com/office/drawing/2014/main" id="{46A77009-E984-4348-8177-D71A4834EB59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767885"/>
              <a:ext cx="433081" cy="62290"/>
            </a:xfrm>
            <a:custGeom>
              <a:avLst/>
              <a:gdLst>
                <a:gd name="T0" fmla="*/ 45 w 438"/>
                <a:gd name="T1" fmla="*/ 0 h 63"/>
                <a:gd name="T2" fmla="*/ 393 w 438"/>
                <a:gd name="T3" fmla="*/ 0 h 63"/>
                <a:gd name="T4" fmla="*/ 438 w 438"/>
                <a:gd name="T5" fmla="*/ 63 h 63"/>
                <a:gd name="T6" fmla="*/ 0 w 438"/>
                <a:gd name="T7" fmla="*/ 63 h 63"/>
                <a:gd name="T8" fmla="*/ 45 w 438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63">
                  <a:moveTo>
                    <a:pt x="45" y="0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418" y="0"/>
                    <a:pt x="438" y="28"/>
                    <a:pt x="438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0" y="0"/>
                    <a:pt x="45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5" name="Freeform 2184">
              <a:extLst>
                <a:ext uri="{FF2B5EF4-FFF2-40B4-BE49-F238E27FC236}">
                  <a16:creationId xmlns:a16="http://schemas.microsoft.com/office/drawing/2014/main" id="{9DF786C1-23F2-47DB-9E19-F4CC347DCA2C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825238"/>
              <a:ext cx="433081" cy="42510"/>
            </a:xfrm>
            <a:custGeom>
              <a:avLst/>
              <a:gdLst>
                <a:gd name="T0" fmla="*/ 12633 w 12633"/>
                <a:gd name="T1" fmla="*/ 0 h 1240"/>
                <a:gd name="T2" fmla="*/ 0 w 12633"/>
                <a:gd name="T3" fmla="*/ 0 h 1240"/>
                <a:gd name="T4" fmla="*/ 0 w 12633"/>
                <a:gd name="T5" fmla="*/ 1240 h 1240"/>
                <a:gd name="T6" fmla="*/ 12633 w 12633"/>
                <a:gd name="T7" fmla="*/ 1240 h 1240"/>
                <a:gd name="T8" fmla="*/ 12633 w 12633"/>
                <a:gd name="T9" fmla="*/ 0 h 1240"/>
                <a:gd name="T10" fmla="*/ 12633 w 12633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33" h="1240">
                  <a:moveTo>
                    <a:pt x="12633" y="0"/>
                  </a:moveTo>
                  <a:lnTo>
                    <a:pt x="0" y="0"/>
                  </a:lnTo>
                  <a:lnTo>
                    <a:pt x="0" y="1240"/>
                  </a:lnTo>
                  <a:lnTo>
                    <a:pt x="12633" y="1240"/>
                  </a:lnTo>
                  <a:lnTo>
                    <a:pt x="12633" y="0"/>
                  </a:lnTo>
                  <a:lnTo>
                    <a:pt x="12633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6" name="Freeform 2185">
              <a:extLst>
                <a:ext uri="{FF2B5EF4-FFF2-40B4-BE49-F238E27FC236}">
                  <a16:creationId xmlns:a16="http://schemas.microsoft.com/office/drawing/2014/main" id="{CFA20861-F77C-4130-BDA9-F289292DB8CA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6074" y="6115982"/>
              <a:ext cx="420226" cy="22763"/>
            </a:xfrm>
            <a:custGeom>
              <a:avLst/>
              <a:gdLst>
                <a:gd name="T0" fmla="*/ 12258 w 12258"/>
                <a:gd name="T1" fmla="*/ 0 h 664"/>
                <a:gd name="T2" fmla="*/ 0 w 12258"/>
                <a:gd name="T3" fmla="*/ 0 h 664"/>
                <a:gd name="T4" fmla="*/ 0 w 12258"/>
                <a:gd name="T5" fmla="*/ 664 h 664"/>
                <a:gd name="T6" fmla="*/ 12258 w 12258"/>
                <a:gd name="T7" fmla="*/ 664 h 664"/>
                <a:gd name="T8" fmla="*/ 12258 w 12258"/>
                <a:gd name="T9" fmla="*/ 0 h 664"/>
                <a:gd name="T10" fmla="*/ 12258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12258" y="0"/>
                  </a:moveTo>
                  <a:lnTo>
                    <a:pt x="0" y="0"/>
                  </a:lnTo>
                  <a:lnTo>
                    <a:pt x="0" y="664"/>
                  </a:lnTo>
                  <a:lnTo>
                    <a:pt x="12258" y="664"/>
                  </a:lnTo>
                  <a:lnTo>
                    <a:pt x="12258" y="0"/>
                  </a:lnTo>
                  <a:lnTo>
                    <a:pt x="1225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7" name="Freeform 2186">
              <a:extLst>
                <a:ext uri="{FF2B5EF4-FFF2-40B4-BE49-F238E27FC236}">
                  <a16:creationId xmlns:a16="http://schemas.microsoft.com/office/drawing/2014/main" id="{E9F491D0-7E18-4796-94ED-A2A45AE76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7" y="5456365"/>
              <a:ext cx="52417" cy="883135"/>
            </a:xfrm>
            <a:custGeom>
              <a:avLst/>
              <a:gdLst>
                <a:gd name="T0" fmla="*/ 1529 w 1529"/>
                <a:gd name="T1" fmla="*/ 0 h 25761"/>
                <a:gd name="T2" fmla="*/ 0 w 1529"/>
                <a:gd name="T3" fmla="*/ 0 h 25761"/>
                <a:gd name="T4" fmla="*/ 0 w 1529"/>
                <a:gd name="T5" fmla="*/ 25761 h 25761"/>
                <a:gd name="T6" fmla="*/ 1529 w 1529"/>
                <a:gd name="T7" fmla="*/ 25761 h 25761"/>
                <a:gd name="T8" fmla="*/ 1529 w 1529"/>
                <a:gd name="T9" fmla="*/ 0 h 25761"/>
                <a:gd name="T10" fmla="*/ 1529 w 1529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9" h="25761">
                  <a:moveTo>
                    <a:pt x="1529" y="0"/>
                  </a:moveTo>
                  <a:lnTo>
                    <a:pt x="0" y="0"/>
                  </a:lnTo>
                  <a:lnTo>
                    <a:pt x="0" y="25761"/>
                  </a:lnTo>
                  <a:lnTo>
                    <a:pt x="1529" y="25761"/>
                  </a:lnTo>
                  <a:lnTo>
                    <a:pt x="1529" y="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8" name="Freeform 2187">
              <a:extLst>
                <a:ext uri="{FF2B5EF4-FFF2-40B4-BE49-F238E27FC236}">
                  <a16:creationId xmlns:a16="http://schemas.microsoft.com/office/drawing/2014/main" id="{A9DE0740-62DB-4277-A177-DF81E9C0A538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4304" y="5825239"/>
              <a:ext cx="44498" cy="517211"/>
            </a:xfrm>
            <a:custGeom>
              <a:avLst/>
              <a:gdLst>
                <a:gd name="T0" fmla="*/ 1298 w 1298"/>
                <a:gd name="T1" fmla="*/ 0 h 15087"/>
                <a:gd name="T2" fmla="*/ 0 w 1298"/>
                <a:gd name="T3" fmla="*/ 0 h 15087"/>
                <a:gd name="T4" fmla="*/ 0 w 1298"/>
                <a:gd name="T5" fmla="*/ 15087 h 15087"/>
                <a:gd name="T6" fmla="*/ 1298 w 1298"/>
                <a:gd name="T7" fmla="*/ 15087 h 15087"/>
                <a:gd name="T8" fmla="*/ 1298 w 1298"/>
                <a:gd name="T9" fmla="*/ 0 h 15087"/>
                <a:gd name="T10" fmla="*/ 1298 w 1298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8" h="15087">
                  <a:moveTo>
                    <a:pt x="1298" y="0"/>
                  </a:moveTo>
                  <a:lnTo>
                    <a:pt x="0" y="0"/>
                  </a:lnTo>
                  <a:lnTo>
                    <a:pt x="0" y="15087"/>
                  </a:lnTo>
                  <a:lnTo>
                    <a:pt x="1298" y="15087"/>
                  </a:lnTo>
                  <a:lnTo>
                    <a:pt x="1298" y="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9" name="Freeform 2188">
              <a:extLst>
                <a:ext uri="{FF2B5EF4-FFF2-40B4-BE49-F238E27FC236}">
                  <a16:creationId xmlns:a16="http://schemas.microsoft.com/office/drawing/2014/main" id="{6FEFD623-A6B4-45E5-B3AB-62E2D77276DF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4" y="5221981"/>
              <a:ext cx="52417" cy="234385"/>
            </a:xfrm>
            <a:custGeom>
              <a:avLst/>
              <a:gdLst>
                <a:gd name="T0" fmla="*/ 13 w 53"/>
                <a:gd name="T1" fmla="*/ 0 h 237"/>
                <a:gd name="T2" fmla="*/ 39 w 53"/>
                <a:gd name="T3" fmla="*/ 0 h 237"/>
                <a:gd name="T4" fmla="*/ 53 w 53"/>
                <a:gd name="T5" fmla="*/ 134 h 237"/>
                <a:gd name="T6" fmla="*/ 53 w 53"/>
                <a:gd name="T7" fmla="*/ 237 h 237"/>
                <a:gd name="T8" fmla="*/ 0 w 53"/>
                <a:gd name="T9" fmla="*/ 237 h 237"/>
                <a:gd name="T10" fmla="*/ 0 w 53"/>
                <a:gd name="T11" fmla="*/ 134 h 237"/>
                <a:gd name="T12" fmla="*/ 13 w 53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37">
                  <a:moveTo>
                    <a:pt x="13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47" y="0"/>
                    <a:pt x="53" y="60"/>
                    <a:pt x="53" y="134"/>
                  </a:cubicBezTo>
                  <a:cubicBezTo>
                    <a:pt x="53" y="237"/>
                    <a:pt x="53" y="237"/>
                    <a:pt x="53" y="237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60"/>
                    <a:pt x="6" y="0"/>
                    <a:pt x="1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0" name="Freeform 2189">
              <a:extLst>
                <a:ext uri="{FF2B5EF4-FFF2-40B4-BE49-F238E27FC236}">
                  <a16:creationId xmlns:a16="http://schemas.microsoft.com/office/drawing/2014/main" id="{C4826BCD-29C1-415C-BE41-28229AA7FC15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09" y="5551292"/>
              <a:ext cx="489474" cy="216593"/>
            </a:xfrm>
            <a:custGeom>
              <a:avLst/>
              <a:gdLst>
                <a:gd name="T0" fmla="*/ 0 w 14278"/>
                <a:gd name="T1" fmla="*/ 6318 h 6318"/>
                <a:gd name="T2" fmla="*/ 14278 w 14278"/>
                <a:gd name="T3" fmla="*/ 6318 h 6318"/>
                <a:gd name="T4" fmla="*/ 14278 w 14278"/>
                <a:gd name="T5" fmla="*/ 0 h 6318"/>
                <a:gd name="T6" fmla="*/ 1962 w 14278"/>
                <a:gd name="T7" fmla="*/ 1472 h 6318"/>
                <a:gd name="T8" fmla="*/ 0 w 14278"/>
                <a:gd name="T9" fmla="*/ 3375 h 6318"/>
                <a:gd name="T10" fmla="*/ 0 w 14278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78" h="6318">
                  <a:moveTo>
                    <a:pt x="0" y="6318"/>
                  </a:moveTo>
                  <a:lnTo>
                    <a:pt x="14278" y="6318"/>
                  </a:lnTo>
                  <a:lnTo>
                    <a:pt x="14278" y="0"/>
                  </a:lnTo>
                  <a:lnTo>
                    <a:pt x="1962" y="1472"/>
                  </a:lnTo>
                  <a:lnTo>
                    <a:pt x="0" y="3375"/>
                  </a:lnTo>
                  <a:lnTo>
                    <a:pt x="0" y="6318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1" name="Freeform 2190">
              <a:extLst>
                <a:ext uri="{FF2B5EF4-FFF2-40B4-BE49-F238E27FC236}">
                  <a16:creationId xmlns:a16="http://schemas.microsoft.com/office/drawing/2014/main" id="{33E03106-73C6-4E59-8013-92A5553C979C}"/>
                </a:ext>
              </a:extLst>
            </p:cNvPr>
            <p:cNvSpPr>
              <a:spLocks/>
            </p:cNvSpPr>
            <p:nvPr/>
          </p:nvSpPr>
          <p:spPr bwMode="gray">
            <a:xfrm>
              <a:off x="9488213" y="5575046"/>
              <a:ext cx="212581" cy="192836"/>
            </a:xfrm>
            <a:custGeom>
              <a:avLst/>
              <a:gdLst>
                <a:gd name="T0" fmla="*/ 172 w 215"/>
                <a:gd name="T1" fmla="*/ 195 h 195"/>
                <a:gd name="T2" fmla="*/ 23 w 215"/>
                <a:gd name="T3" fmla="*/ 195 h 195"/>
                <a:gd name="T4" fmla="*/ 0 w 215"/>
                <a:gd name="T5" fmla="*/ 172 h 195"/>
                <a:gd name="T6" fmla="*/ 0 w 215"/>
                <a:gd name="T7" fmla="*/ 23 h 195"/>
                <a:gd name="T8" fmla="*/ 23 w 215"/>
                <a:gd name="T9" fmla="*/ 0 h 195"/>
                <a:gd name="T10" fmla="*/ 192 w 215"/>
                <a:gd name="T11" fmla="*/ 0 h 195"/>
                <a:gd name="T12" fmla="*/ 215 w 215"/>
                <a:gd name="T13" fmla="*/ 23 h 195"/>
                <a:gd name="T14" fmla="*/ 215 w 215"/>
                <a:gd name="T15" fmla="*/ 152 h 195"/>
                <a:gd name="T16" fmla="*/ 172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172" y="195"/>
                  </a:moveTo>
                  <a:cubicBezTo>
                    <a:pt x="23" y="195"/>
                    <a:pt x="23" y="195"/>
                    <a:pt x="23" y="195"/>
                  </a:cubicBezTo>
                  <a:cubicBezTo>
                    <a:pt x="11" y="195"/>
                    <a:pt x="0" y="185"/>
                    <a:pt x="0" y="17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205" y="0"/>
                    <a:pt x="215" y="11"/>
                    <a:pt x="215" y="23"/>
                  </a:cubicBezTo>
                  <a:cubicBezTo>
                    <a:pt x="215" y="152"/>
                    <a:pt x="215" y="152"/>
                    <a:pt x="215" y="152"/>
                  </a:cubicBezTo>
                  <a:cubicBezTo>
                    <a:pt x="198" y="169"/>
                    <a:pt x="189" y="178"/>
                    <a:pt x="172" y="195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2" name="Freeform 2191">
              <a:extLst>
                <a:ext uri="{FF2B5EF4-FFF2-40B4-BE49-F238E27FC236}">
                  <a16:creationId xmlns:a16="http://schemas.microsoft.com/office/drawing/2014/main" id="{0C2E08AD-A838-488F-954D-BB65C31D24F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70" y="5511727"/>
              <a:ext cx="315426" cy="90025"/>
            </a:xfrm>
            <a:custGeom>
              <a:avLst/>
              <a:gdLst>
                <a:gd name="T0" fmla="*/ 1529 w 9201"/>
                <a:gd name="T1" fmla="*/ 2135 h 2626"/>
                <a:gd name="T2" fmla="*/ 9201 w 9201"/>
                <a:gd name="T3" fmla="*/ 2626 h 2626"/>
                <a:gd name="T4" fmla="*/ 9201 w 9201"/>
                <a:gd name="T5" fmla="*/ 0 h 2626"/>
                <a:gd name="T6" fmla="*/ 0 w 9201"/>
                <a:gd name="T7" fmla="*/ 750 h 2626"/>
                <a:gd name="T8" fmla="*/ 87 w 9201"/>
                <a:gd name="T9" fmla="*/ 1876 h 2626"/>
                <a:gd name="T10" fmla="*/ 1529 w 9201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01" h="2626">
                  <a:moveTo>
                    <a:pt x="1529" y="2135"/>
                  </a:moveTo>
                  <a:lnTo>
                    <a:pt x="9201" y="2626"/>
                  </a:lnTo>
                  <a:lnTo>
                    <a:pt x="9201" y="0"/>
                  </a:lnTo>
                  <a:lnTo>
                    <a:pt x="0" y="750"/>
                  </a:lnTo>
                  <a:lnTo>
                    <a:pt x="87" y="1876"/>
                  </a:lnTo>
                  <a:lnTo>
                    <a:pt x="1529" y="2135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3" name="Freeform 2192">
              <a:extLst>
                <a:ext uri="{FF2B5EF4-FFF2-40B4-BE49-F238E27FC236}">
                  <a16:creationId xmlns:a16="http://schemas.microsoft.com/office/drawing/2014/main" id="{53B7C170-4DE0-4B40-B17F-4D62A0001A01}"/>
                </a:ext>
              </a:extLst>
            </p:cNvPr>
            <p:cNvSpPr>
              <a:spLocks/>
            </p:cNvSpPr>
            <p:nvPr/>
          </p:nvSpPr>
          <p:spPr bwMode="gray">
            <a:xfrm>
              <a:off x="9271657" y="5088484"/>
              <a:ext cx="252143" cy="398526"/>
            </a:xfrm>
            <a:custGeom>
              <a:avLst/>
              <a:gdLst>
                <a:gd name="T0" fmla="*/ 1587 w 7355"/>
                <a:gd name="T1" fmla="*/ 11625 h 11625"/>
                <a:gd name="T2" fmla="*/ 7355 w 7355"/>
                <a:gd name="T3" fmla="*/ 4875 h 11625"/>
                <a:gd name="T4" fmla="*/ 5625 w 7355"/>
                <a:gd name="T5" fmla="*/ 0 h 11625"/>
                <a:gd name="T6" fmla="*/ 0 w 7355"/>
                <a:gd name="T7" fmla="*/ 9173 h 11625"/>
                <a:gd name="T8" fmla="*/ 1587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1587" y="11625"/>
                  </a:moveTo>
                  <a:lnTo>
                    <a:pt x="7355" y="4875"/>
                  </a:lnTo>
                  <a:lnTo>
                    <a:pt x="5625" y="0"/>
                  </a:lnTo>
                  <a:lnTo>
                    <a:pt x="0" y="9173"/>
                  </a:lnTo>
                  <a:lnTo>
                    <a:pt x="1587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4" name="Freeform 2193">
              <a:extLst>
                <a:ext uri="{FF2B5EF4-FFF2-40B4-BE49-F238E27FC236}">
                  <a16:creationId xmlns:a16="http://schemas.microsoft.com/office/drawing/2014/main" id="{104C85D0-4CDA-4B54-91E8-101F4894A7B2}"/>
                </a:ext>
              </a:extLst>
            </p:cNvPr>
            <p:cNvSpPr>
              <a:spLocks/>
            </p:cNvSpPr>
            <p:nvPr/>
          </p:nvSpPr>
          <p:spPr bwMode="gray">
            <a:xfrm>
              <a:off x="9150059" y="5399010"/>
              <a:ext cx="183922" cy="88001"/>
            </a:xfrm>
            <a:custGeom>
              <a:avLst/>
              <a:gdLst>
                <a:gd name="T0" fmla="*/ 0 w 5365"/>
                <a:gd name="T1" fmla="*/ 2336 h 2567"/>
                <a:gd name="T2" fmla="*/ 5134 w 5365"/>
                <a:gd name="T3" fmla="*/ 2567 h 2567"/>
                <a:gd name="T4" fmla="*/ 5365 w 5365"/>
                <a:gd name="T5" fmla="*/ 750 h 2567"/>
                <a:gd name="T6" fmla="*/ 3894 w 5365"/>
                <a:gd name="T7" fmla="*/ 0 h 2567"/>
                <a:gd name="T8" fmla="*/ 1442 w 5365"/>
                <a:gd name="T9" fmla="*/ 519 h 2567"/>
                <a:gd name="T10" fmla="*/ 0 w 5365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5" h="2567">
                  <a:moveTo>
                    <a:pt x="0" y="2336"/>
                  </a:moveTo>
                  <a:lnTo>
                    <a:pt x="5134" y="2567"/>
                  </a:lnTo>
                  <a:lnTo>
                    <a:pt x="5365" y="750"/>
                  </a:lnTo>
                  <a:lnTo>
                    <a:pt x="3894" y="0"/>
                  </a:lnTo>
                  <a:lnTo>
                    <a:pt x="1442" y="519"/>
                  </a:lnTo>
                  <a:lnTo>
                    <a:pt x="0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5" name="Freeform 2194">
              <a:extLst>
                <a:ext uri="{FF2B5EF4-FFF2-40B4-BE49-F238E27FC236}">
                  <a16:creationId xmlns:a16="http://schemas.microsoft.com/office/drawing/2014/main" id="{8E2CE024-61D5-441A-ADBC-304177C5333D}"/>
                </a:ext>
              </a:extLst>
            </p:cNvPr>
            <p:cNvSpPr>
              <a:spLocks/>
            </p:cNvSpPr>
            <p:nvPr/>
          </p:nvSpPr>
          <p:spPr bwMode="gray">
            <a:xfrm>
              <a:off x="9393286" y="4980666"/>
              <a:ext cx="255124" cy="288790"/>
            </a:xfrm>
            <a:custGeom>
              <a:avLst/>
              <a:gdLst>
                <a:gd name="T0" fmla="*/ 0 w 258"/>
                <a:gd name="T1" fmla="*/ 205 h 292"/>
                <a:gd name="T2" fmla="*/ 137 w 258"/>
                <a:gd name="T3" fmla="*/ 292 h 292"/>
                <a:gd name="T4" fmla="*/ 258 w 258"/>
                <a:gd name="T5" fmla="*/ 100 h 292"/>
                <a:gd name="T6" fmla="*/ 245 w 258"/>
                <a:gd name="T7" fmla="*/ 38 h 292"/>
                <a:gd name="T8" fmla="*/ 185 w 258"/>
                <a:gd name="T9" fmla="*/ 0 h 292"/>
                <a:gd name="T10" fmla="*/ 122 w 258"/>
                <a:gd name="T11" fmla="*/ 13 h 292"/>
                <a:gd name="T12" fmla="*/ 0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0" y="205"/>
                  </a:moveTo>
                  <a:cubicBezTo>
                    <a:pt x="137" y="292"/>
                    <a:pt x="137" y="292"/>
                    <a:pt x="137" y="292"/>
                  </a:cubicBezTo>
                  <a:cubicBezTo>
                    <a:pt x="258" y="100"/>
                    <a:pt x="258" y="100"/>
                    <a:pt x="258" y="100"/>
                  </a:cubicBezTo>
                  <a:cubicBezTo>
                    <a:pt x="258" y="100"/>
                    <a:pt x="250" y="62"/>
                    <a:pt x="245" y="38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60" y="5"/>
                    <a:pt x="122" y="13"/>
                    <a:pt x="122" y="13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0F78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6" name="Freeform 2195">
              <a:extLst>
                <a:ext uri="{FF2B5EF4-FFF2-40B4-BE49-F238E27FC236}">
                  <a16:creationId xmlns:a16="http://schemas.microsoft.com/office/drawing/2014/main" id="{2F656618-D11E-40F7-A579-304E6D1DB7C6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9517" y="5399029"/>
              <a:ext cx="105794" cy="80083"/>
            </a:xfrm>
            <a:custGeom>
              <a:avLst/>
              <a:gdLst>
                <a:gd name="T0" fmla="*/ 0 w 107"/>
                <a:gd name="T1" fmla="*/ 48 h 81"/>
                <a:gd name="T2" fmla="*/ 42 w 107"/>
                <a:gd name="T3" fmla="*/ 81 h 81"/>
                <a:gd name="T4" fmla="*/ 107 w 107"/>
                <a:gd name="T5" fmla="*/ 14 h 81"/>
                <a:gd name="T6" fmla="*/ 94 w 107"/>
                <a:gd name="T7" fmla="*/ 0 h 81"/>
                <a:gd name="T8" fmla="*/ 46 w 107"/>
                <a:gd name="T9" fmla="*/ 0 h 81"/>
                <a:gd name="T10" fmla="*/ 0 w 107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81">
                  <a:moveTo>
                    <a:pt x="0" y="48"/>
                  </a:moveTo>
                  <a:cubicBezTo>
                    <a:pt x="42" y="81"/>
                    <a:pt x="42" y="81"/>
                    <a:pt x="42" y="81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8" y="19"/>
                    <a:pt x="18" y="29"/>
                    <a:pt x="0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830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EF7BA6B8-2D49-49EE-AA38-401584AC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3"/>
            <a:ext cx="9288000" cy="615553"/>
          </a:xfrm>
        </p:spPr>
        <p:txBody>
          <a:bodyPr/>
          <a:lstStyle/>
          <a:p>
            <a:r>
              <a:rPr lang="en-US" dirty="0">
                <a:latin typeface="+mn-lt"/>
                <a:ea typeface="+mn-ea"/>
                <a:cs typeface="+mn-ea"/>
                <a:sym typeface="+mn-lt"/>
              </a:rPr>
              <a:t>Contact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8C0B1B3-7902-4A0F-A274-1F5878B81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453" y="2325278"/>
            <a:ext cx="9288000" cy="1930123"/>
          </a:xfrm>
        </p:spPr>
        <p:txBody>
          <a:bodyPr/>
          <a:lstStyle/>
          <a:p>
            <a:r>
              <a:rPr lang="en-US" dirty="0">
                <a:cs typeface="+mn-ea"/>
                <a:sym typeface="+mn-lt"/>
              </a:rPr>
              <a:t>Published by Siemens </a:t>
            </a:r>
          </a:p>
          <a:p>
            <a:r>
              <a:rPr lang="en-US" dirty="0">
                <a:cs typeface="+mn-ea"/>
                <a:sym typeface="+mn-lt"/>
              </a:rPr>
              <a:t>T </a:t>
            </a:r>
            <a:r>
              <a:rPr lang="en-US" altLang="zh-CN" dirty="0">
                <a:cs typeface="+mn-ea"/>
                <a:sym typeface="+mn-lt"/>
              </a:rPr>
              <a:t>CED INW-CN</a:t>
            </a:r>
          </a:p>
          <a:p>
            <a:r>
              <a:rPr lang="en-US" altLang="zh-CN" dirty="0">
                <a:cs typeface="+mn-ea"/>
                <a:sym typeface="+mn-lt"/>
              </a:rPr>
              <a:t>Expert</a:t>
            </a:r>
            <a:endParaRPr lang="en-US" dirty="0">
              <a:cs typeface="+mn-ea"/>
              <a:sym typeface="+mn-lt"/>
            </a:endParaRPr>
          </a:p>
          <a:p>
            <a:pPr lvl="1"/>
            <a:r>
              <a:rPr lang="en-US" altLang="zh-CN" dirty="0">
                <a:cs typeface="+mn-ea"/>
                <a:sym typeface="+mn-lt"/>
              </a:rPr>
              <a:t>YU He</a:t>
            </a:r>
          </a:p>
          <a:p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200, </a:t>
            </a:r>
            <a:r>
              <a:rPr lang="en-US" dirty="0" err="1">
                <a:cs typeface="+mn-ea"/>
                <a:sym typeface="+mn-lt"/>
              </a:rPr>
              <a:t>Linghu</a:t>
            </a:r>
            <a:r>
              <a:rPr lang="en-US" dirty="0">
                <a:cs typeface="+mn-ea"/>
                <a:sym typeface="+mn-lt"/>
              </a:rPr>
              <a:t> Avenue</a:t>
            </a:r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214135, Wuxi</a:t>
            </a:r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China</a:t>
            </a:r>
          </a:p>
          <a:p>
            <a:endParaRPr lang="en-US" dirty="0">
              <a:cs typeface="+mn-ea"/>
              <a:sym typeface="+mn-lt"/>
            </a:endParaRPr>
          </a:p>
          <a:p>
            <a:r>
              <a:rPr lang="en-US" dirty="0">
                <a:cs typeface="+mn-ea"/>
                <a:sym typeface="+mn-lt"/>
              </a:rPr>
              <a:t>Mobile: +86 18921506861</a:t>
            </a:r>
          </a:p>
          <a:p>
            <a:r>
              <a:rPr lang="en-US" dirty="0">
                <a:cs typeface="+mn-ea"/>
                <a:sym typeface="+mn-lt"/>
              </a:rPr>
              <a:t>E-mail: yu-he@siemens.com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D86EBFB-CE6A-4758-896A-AAD8E1D08C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0400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cs typeface="+mn-ea"/>
                <a:sym typeface="+mn-lt"/>
              </a:rPr>
              <a:t>Restricted | © Siemens 2022 </a:t>
            </a:r>
          </a:p>
        </p:txBody>
      </p:sp>
    </p:spTree>
    <p:extLst>
      <p:ext uri="{BB962C8B-B14F-4D97-AF65-F5344CB8AC3E}">
        <p14:creationId xmlns:p14="http://schemas.microsoft.com/office/powerpoint/2010/main" val="30440833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WYDq8bS6ul.4jt44ds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ooieeu3g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-ppt-O365-16x9-standard-eng-v3-0.pptx" id="{126F423E-7F52-41DE-A20C-756A6822B9A2}" vid="{51365D51-9DD3-491E-AF49-CB2F506BEAC1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B174D5FE7DC343B8DB7235E0ED09A9" ma:contentTypeVersion="6" ma:contentTypeDescription="Create a new document." ma:contentTypeScope="" ma:versionID="25a5548619853e2e015bca764fa528c5">
  <xsd:schema xmlns:xsd="http://www.w3.org/2001/XMLSchema" xmlns:xs="http://www.w3.org/2001/XMLSchema" xmlns:p="http://schemas.microsoft.com/office/2006/metadata/properties" xmlns:ns2="c871b2bf-9c29-448e-bcb4-2f3f17144cb5" targetNamespace="http://schemas.microsoft.com/office/2006/metadata/properties" ma:root="true" ma:fieldsID="0eea03751fc4ef6bf140dc2ef857a7aa" ns2:_="">
    <xsd:import namespace="c871b2bf-9c29-448e-bcb4-2f3f17144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1b2bf-9c29-448e-bcb4-2f3f17144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4ppTags>
  <Name>Free Content</Name>
  <PpLayout>11</PpLayout>
  <Index>9</Index>
</p4ppTags>
</file>

<file path=customXml/itemProps1.xml><?xml version="1.0" encoding="utf-8"?>
<ds:datastoreItem xmlns:ds="http://schemas.openxmlformats.org/officeDocument/2006/customXml" ds:itemID="{3B60A748-859D-4CC5-B484-786E9D5509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71b2bf-9c29-448e-bcb4-2f3f17144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FA42EB-90FA-4F29-AD7C-D6AA50015DB3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9e776604-f57f-41ff-b37d-aeaa9b01075c"/>
    <ds:schemaRef ds:uri="658b11ea-c6d3-4639-a05a-9b8f21dc6de6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3A56ABD-608E-44B1-8067-B759FE0DD10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8097D0C-BE3E-4AEC-9593-65CFCCB1929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NEW!_sie-ppt-O365-16x9-standard-eng-v3-0</Template>
  <TotalTime>22310</TotalTime>
  <Words>1357</Words>
  <Application>Microsoft Office PowerPoint</Application>
  <PresentationFormat>Widescreen</PresentationFormat>
  <Paragraphs>196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微软雅黑</vt:lpstr>
      <vt:lpstr>微软雅黑</vt:lpstr>
      <vt:lpstr>Arial</vt:lpstr>
      <vt:lpstr>Calibri</vt:lpstr>
      <vt:lpstr>Siemens Sans</vt:lpstr>
      <vt:lpstr>Wingdings</vt:lpstr>
      <vt:lpstr>Siemens 2020</vt:lpstr>
      <vt:lpstr>think-cell Slide</vt:lpstr>
      <vt:lpstr> Smart noise judgment for quality test of X-Ray tube  SXVT X-Ray Tube Project T CED INW-CN  |  April,2022</vt:lpstr>
      <vt:lpstr>PowerPoint Presentation</vt:lpstr>
      <vt:lpstr>Introduction  </vt:lpstr>
      <vt:lpstr>Feasibility Analysis  </vt:lpstr>
      <vt:lpstr>Solution Overview </vt:lpstr>
      <vt:lpstr>Prototype 1.0 构建完成 现场Client端的 功能部分 </vt:lpstr>
      <vt:lpstr>Prototype 2.0 现场Client端 集成数据分析 </vt:lpstr>
      <vt:lpstr>Prototype 3.0 产品噪声质量追溯 应用  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Yu, He (T RDA IOT INW-CN)</dc:creator>
  <cp:keywords>Template</cp:keywords>
  <dc:description>Version 3.0.8
September 2020</dc:description>
  <cp:lastModifiedBy>Yu, He (T CED INW-CN)</cp:lastModifiedBy>
  <cp:revision>404</cp:revision>
  <dcterms:created xsi:type="dcterms:W3CDTF">2020-11-27T07:32:20Z</dcterms:created>
  <dcterms:modified xsi:type="dcterms:W3CDTF">2022-04-27T01:19:02Z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0x01010072B174D5FE7DC343B8DB7235E0ED09A9</vt:lpwstr>
  </property>
  <property fmtid="{D5CDD505-2E9C-101B-9397-08002B2CF9AE}" pid="3" name="MSIP_Label_a59b6cd5-d141-4a33-8bf1-0ca04484304f_Enabled">
    <vt:lpwstr>true</vt:lpwstr>
  </property>
  <property fmtid="{D5CDD505-2E9C-101B-9397-08002B2CF9AE}" pid="4" name="MSIP_Label_a59b6cd5-d141-4a33-8bf1-0ca04484304f_SetDate">
    <vt:lpwstr>2022-04-27T01:19:01Z</vt:lpwstr>
  </property>
  <property fmtid="{D5CDD505-2E9C-101B-9397-08002B2CF9AE}" pid="5" name="MSIP_Label_a59b6cd5-d141-4a33-8bf1-0ca04484304f_Method">
    <vt:lpwstr>Standard</vt:lpwstr>
  </property>
  <property fmtid="{D5CDD505-2E9C-101B-9397-08002B2CF9AE}" pid="6" name="MSIP_Label_a59b6cd5-d141-4a33-8bf1-0ca04484304f_Name">
    <vt:lpwstr>restricted-default</vt:lpwstr>
  </property>
  <property fmtid="{D5CDD505-2E9C-101B-9397-08002B2CF9AE}" pid="7" name="MSIP_Label_a59b6cd5-d141-4a33-8bf1-0ca04484304f_SiteId">
    <vt:lpwstr>38ae3bcd-9579-4fd4-adda-b42e1495d55a</vt:lpwstr>
  </property>
  <property fmtid="{D5CDD505-2E9C-101B-9397-08002B2CF9AE}" pid="8" name="MSIP_Label_a59b6cd5-d141-4a33-8bf1-0ca04484304f_ActionId">
    <vt:lpwstr>f925726c-a707-4b58-8df1-0b6731ff310f</vt:lpwstr>
  </property>
  <property fmtid="{D5CDD505-2E9C-101B-9397-08002B2CF9AE}" pid="9" name="MSIP_Label_a59b6cd5-d141-4a33-8bf1-0ca04484304f_ContentBits">
    <vt:lpwstr>0</vt:lpwstr>
  </property>
  <property fmtid="{D5CDD505-2E9C-101B-9397-08002B2CF9AE}" pid="10" name="Document_Confidentiality">
    <vt:lpwstr>Restricted</vt:lpwstr>
  </property>
</Properties>
</file>