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Lst>
  <p:notesMasterIdLst>
    <p:notesMasterId r:id="rId36"/>
  </p:notesMasterIdLst>
  <p:handoutMasterIdLst>
    <p:handoutMasterId r:id="rId37"/>
  </p:handoutMasterIdLst>
  <p:sldIdLst>
    <p:sldId id="256" r:id="rId3"/>
    <p:sldId id="348" r:id="rId4"/>
    <p:sldId id="270" r:id="rId5"/>
    <p:sldId id="271" r:id="rId6"/>
    <p:sldId id="272" r:id="rId7"/>
    <p:sldId id="277" r:id="rId8"/>
    <p:sldId id="349" r:id="rId9"/>
    <p:sldId id="350" r:id="rId10"/>
    <p:sldId id="351" r:id="rId11"/>
    <p:sldId id="359" r:id="rId12"/>
    <p:sldId id="352" r:id="rId13"/>
    <p:sldId id="355" r:id="rId14"/>
    <p:sldId id="357" r:id="rId15"/>
    <p:sldId id="358" r:id="rId16"/>
    <p:sldId id="360" r:id="rId17"/>
    <p:sldId id="361" r:id="rId18"/>
    <p:sldId id="362" r:id="rId19"/>
    <p:sldId id="363" r:id="rId20"/>
    <p:sldId id="365" r:id="rId21"/>
    <p:sldId id="366" r:id="rId22"/>
    <p:sldId id="367" r:id="rId23"/>
    <p:sldId id="368" r:id="rId24"/>
    <p:sldId id="369" r:id="rId25"/>
    <p:sldId id="370" r:id="rId26"/>
    <p:sldId id="371" r:id="rId27"/>
    <p:sldId id="372" r:id="rId28"/>
    <p:sldId id="373" r:id="rId29"/>
    <p:sldId id="374" r:id="rId30"/>
    <p:sldId id="375" r:id="rId31"/>
    <p:sldId id="407" r:id="rId32"/>
    <p:sldId id="376" r:id="rId33"/>
    <p:sldId id="377" r:id="rId34"/>
    <p:sldId id="268" r:id="rId35"/>
  </p:sldIdLst>
  <p:sldSz cx="9144000" cy="6858000" type="screen4x3"/>
  <p:notesSz cx="6797675" cy="9926638"/>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1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502"/>
  </p:normalViewPr>
  <p:slideViewPr>
    <p:cSldViewPr showGuides="1">
      <p:cViewPr varScale="1">
        <p:scale>
          <a:sx n="60" d="100"/>
          <a:sy n="60" d="100"/>
        </p:scale>
        <p:origin x="1448" y="48"/>
      </p:cViewPr>
      <p:guideLst>
        <p:guide orient="horz" pos="221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5562" tIns="47781" rIns="95562" bIns="47781" rtlCol="0"/>
          <a:lstStyle>
            <a:lvl1pPr algn="l">
              <a:defRPr sz="13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49688" y="0"/>
            <a:ext cx="2946400" cy="496888"/>
          </a:xfrm>
          <a:prstGeom prst="rect">
            <a:avLst/>
          </a:prstGeom>
        </p:spPr>
        <p:txBody>
          <a:bodyPr vert="horz" lIns="95562" tIns="47781" rIns="95562" bIns="47781" rtlCol="0"/>
          <a:lstStyle>
            <a:lvl1pPr algn="r">
              <a:defRPr sz="1300"/>
            </a:lvl1pPr>
          </a:lstStyle>
          <a:p>
            <a:pPr marL="0" marR="0" lvl="0" indent="0" algn="r" defTabSz="914400" rtl="0" eaLnBrk="0" fontAlgn="base" latinLnBrk="0" hangingPunct="0">
              <a:lnSpc>
                <a:spcPct val="100000"/>
              </a:lnSpc>
              <a:spcBef>
                <a:spcPct val="0"/>
              </a:spcBef>
              <a:spcAft>
                <a:spcPct val="0"/>
              </a:spcAft>
              <a:buClrTx/>
              <a:buSzTx/>
              <a:buFontTx/>
              <a:buNone/>
              <a:defRPr/>
            </a:pPr>
            <a:fld id="{EAEB4129-A886-411C-9B7E-CBF783C9A2AC}" type="datetimeFigureOut">
              <a:rPr kumimoji="0" lang="zh-CN" altLang="en-US" sz="13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2022/9/16</a:t>
            </a:fld>
            <a:endParaRPr kumimoji="0" lang="zh-CN" altLang="en-US" sz="13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9428163"/>
            <a:ext cx="2946400" cy="496888"/>
          </a:xfrm>
          <a:prstGeom prst="rect">
            <a:avLst/>
          </a:prstGeom>
        </p:spPr>
        <p:txBody>
          <a:bodyPr vert="horz" lIns="95562" tIns="47781" rIns="95562" bIns="47781" rtlCol="0" anchor="b"/>
          <a:lstStyle>
            <a:lvl1pPr algn="l">
              <a:defRPr sz="13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49688" y="9428163"/>
            <a:ext cx="2946400" cy="496888"/>
          </a:xfrm>
          <a:prstGeom prst="rect">
            <a:avLst/>
          </a:prstGeom>
        </p:spPr>
        <p:txBody>
          <a:bodyPr vert="horz" wrap="square" lIns="95562" tIns="47781" rIns="95562" bIns="47781" numCol="1" anchor="b" anchorCtr="0" compatLnSpc="1"/>
          <a:lstStyle>
            <a:lvl1pPr algn="r">
              <a:defRPr sz="1300"/>
            </a:lvl1pPr>
          </a:lstStyle>
          <a:p>
            <a:pPr marL="0" marR="0" lvl="0" indent="0" algn="r" defTabSz="914400" rtl="0" eaLnBrk="0" fontAlgn="base" latinLnBrk="0" hangingPunct="0">
              <a:lnSpc>
                <a:spcPct val="100000"/>
              </a:lnSpc>
              <a:spcBef>
                <a:spcPct val="0"/>
              </a:spcBef>
              <a:spcAft>
                <a:spcPct val="0"/>
              </a:spcAft>
              <a:buClrTx/>
              <a:buSzTx/>
              <a:buFontTx/>
              <a:buNone/>
              <a:defRPr/>
            </a:pPr>
            <a:fld id="{FBE46CB8-FB13-482C-97A3-FF7963583B2D}" type="slidenum">
              <a:rPr kumimoji="0" lang="zh-CN" altLang="en-US" sz="13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a:t>
            </a:fld>
            <a:endParaRPr kumimoji="0" lang="zh-CN" altLang="en-US" sz="13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0874009E-56B5-4AC2-890D-8C397A4DE970}" type="datetimeFigureOut">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2022/9/16</a:t>
            </a:fld>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917575" y="744538"/>
            <a:ext cx="4962525" cy="3722688"/>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79450" y="4714875"/>
            <a:ext cx="5438775" cy="4467225"/>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9428163"/>
            <a:ext cx="2946400" cy="496888"/>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49688" y="9428163"/>
            <a:ext cx="2946400" cy="496888"/>
          </a:xfrm>
          <a:prstGeom prst="rect">
            <a:avLst/>
          </a:prstGeom>
        </p:spPr>
        <p:txBody>
          <a:bodyPr vert="horz" wrap="square" lIns="91440" tIns="45720" rIns="91440" bIns="45720" numCol="1" anchor="b" anchorCtr="0" compatLnSpc="1"/>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8CFD5AE6-3DFB-4310-BDC3-1B7756C9EB85}" type="slidenum">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大家好，今天由我来给大家简单介绍下北石顶驱的机械结构。</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917575" y="744538"/>
            <a:ext cx="4962525" cy="3722687"/>
          </a:xfrm>
          <a:ln>
            <a:solidFill>
              <a:srgbClr val="000000">
                <a:alpha val="100000"/>
              </a:srgbClr>
            </a:solidFill>
            <a:miter lim="800000"/>
          </a:ln>
        </p:spPr>
      </p:sp>
      <p:sp>
        <p:nvSpPr>
          <p:cNvPr id="7171" name="备注占位符 2"/>
          <p:cNvSpPr>
            <a:spLocks noGrp="1"/>
          </p:cNvSpPr>
          <p:nvPr>
            <p:ph type="body" idx="1"/>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7172" name="灯片编号占位符 3"/>
          <p:cNvSpPr txBox="1">
            <a:spLocks noGrp="1"/>
          </p:cNvSpPr>
          <p:nvPr>
            <p:ph type="sldNum" sz="quarter"/>
          </p:nvPr>
        </p:nvSpPr>
        <p:spPr>
          <a:xfrm>
            <a:off x="3849688" y="9428163"/>
            <a:ext cx="2946400" cy="496887"/>
          </a:xfrm>
          <a:prstGeom prst="rect">
            <a:avLst/>
          </a:prstGeom>
          <a:noFill/>
          <a:ln w="9525">
            <a:noFill/>
          </a:ln>
        </p:spPr>
        <p:txBody>
          <a:bodyPr anchor="b"/>
          <a:lstStyle/>
          <a:p>
            <a:pPr lvl="0" algn="r"/>
            <a:fld id="{9A0DB2DC-4C9A-4742-B13C-FB6460FD3503}" type="slidenum">
              <a:rPr lang="zh-CN" altLang="en-US" sz="1200" dirty="0"/>
              <a:t>2</a:t>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917575" y="744538"/>
            <a:ext cx="4962525" cy="3722687"/>
          </a:xfrm>
          <a:ln>
            <a:solidFill>
              <a:srgbClr val="000000">
                <a:alpha val="100000"/>
              </a:srgbClr>
            </a:solidFill>
            <a:miter lim="800000"/>
          </a:ln>
        </p:spPr>
      </p:sp>
      <p:sp>
        <p:nvSpPr>
          <p:cNvPr id="7171" name="备注占位符 2"/>
          <p:cNvSpPr>
            <a:spLocks noGrp="1"/>
          </p:cNvSpPr>
          <p:nvPr>
            <p:ph type="body" idx="1"/>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7172" name="灯片编号占位符 3"/>
          <p:cNvSpPr txBox="1">
            <a:spLocks noGrp="1"/>
          </p:cNvSpPr>
          <p:nvPr>
            <p:ph type="sldNum" sz="quarter"/>
          </p:nvPr>
        </p:nvSpPr>
        <p:spPr>
          <a:xfrm>
            <a:off x="3849688" y="9428163"/>
            <a:ext cx="2946400" cy="496887"/>
          </a:xfrm>
          <a:prstGeom prst="rect">
            <a:avLst/>
          </a:prstGeom>
          <a:noFill/>
          <a:ln w="9525">
            <a:noFill/>
          </a:ln>
        </p:spPr>
        <p:txBody>
          <a:bodyPr anchor="b"/>
          <a:lstStyle/>
          <a:p>
            <a:pPr lvl="0" algn="r"/>
            <a:fld id="{9A0DB2DC-4C9A-4742-B13C-FB6460FD3503}" type="slidenum">
              <a:rPr lang="zh-CN" altLang="en-US" sz="1200" dirty="0"/>
              <a:t>3</a:t>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917575" y="744538"/>
            <a:ext cx="4962525" cy="3722687"/>
          </a:xfrm>
          <a:ln>
            <a:solidFill>
              <a:srgbClr val="000000">
                <a:alpha val="100000"/>
              </a:srgbClr>
            </a:solidFill>
            <a:miter lim="800000"/>
          </a:ln>
        </p:spPr>
      </p:sp>
      <p:sp>
        <p:nvSpPr>
          <p:cNvPr id="9219" name="备注占位符 2"/>
          <p:cNvSpPr>
            <a:spLocks noGrp="1"/>
          </p:cNvSpPr>
          <p:nvPr>
            <p:ph type="body" idx="1"/>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9220" name="灯片编号占位符 3"/>
          <p:cNvSpPr txBox="1">
            <a:spLocks noGrp="1"/>
          </p:cNvSpPr>
          <p:nvPr>
            <p:ph type="sldNum" sz="quarter"/>
          </p:nvPr>
        </p:nvSpPr>
        <p:spPr>
          <a:xfrm>
            <a:off x="3849688" y="9428163"/>
            <a:ext cx="2946400" cy="496887"/>
          </a:xfrm>
          <a:prstGeom prst="rect">
            <a:avLst/>
          </a:prstGeom>
          <a:noFill/>
          <a:ln w="9525">
            <a:noFill/>
          </a:ln>
        </p:spPr>
        <p:txBody>
          <a:bodyPr anchor="b"/>
          <a:lstStyle/>
          <a:p>
            <a:pPr lvl="0" algn="r"/>
            <a:fld id="{9A0DB2DC-4C9A-4742-B13C-FB6460FD3503}" type="slidenum">
              <a:rPr lang="zh-CN" altLang="en-US" sz="1200" dirty="0"/>
              <a:t>4</a:t>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a:xfrm>
            <a:off x="917575" y="744538"/>
            <a:ext cx="4962525" cy="3722687"/>
          </a:xfrm>
          <a:ln>
            <a:solidFill>
              <a:srgbClr val="000000">
                <a:alpha val="100000"/>
              </a:srgbClr>
            </a:solidFill>
            <a:miter lim="800000"/>
          </a:ln>
        </p:spPr>
      </p:sp>
      <p:sp>
        <p:nvSpPr>
          <p:cNvPr id="11267" name="备注占位符 2"/>
          <p:cNvSpPr>
            <a:spLocks noGrp="1"/>
          </p:cNvSpPr>
          <p:nvPr>
            <p:ph type="body" idx="1"/>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11268" name="灯片编号占位符 3"/>
          <p:cNvSpPr txBox="1">
            <a:spLocks noGrp="1"/>
          </p:cNvSpPr>
          <p:nvPr>
            <p:ph type="sldNum" sz="quarter"/>
          </p:nvPr>
        </p:nvSpPr>
        <p:spPr>
          <a:xfrm>
            <a:off x="3849688" y="9428163"/>
            <a:ext cx="2946400" cy="496887"/>
          </a:xfrm>
          <a:prstGeom prst="rect">
            <a:avLst/>
          </a:prstGeom>
          <a:noFill/>
          <a:ln w="9525">
            <a:noFill/>
          </a:ln>
        </p:spPr>
        <p:txBody>
          <a:bodyPr anchor="b"/>
          <a:lstStyle/>
          <a:p>
            <a:pPr lvl="0" algn="r"/>
            <a:fld id="{9A0DB2DC-4C9A-4742-B13C-FB6460FD3503}" type="slidenum">
              <a:rPr lang="zh-CN" altLang="en-US" sz="1200" dirty="0"/>
              <a:t>5</a:t>
            </a:fld>
            <a:endParaRPr lang="zh-CN" alt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现在大家看到的是北石</a:t>
            </a:r>
            <a:r>
              <a:rPr lang="en-US" altLang="zh-CN"/>
              <a:t>70</a:t>
            </a:r>
            <a:r>
              <a:rPr lang="zh-CN" altLang="en-US"/>
              <a:t>顶驱的轴测图，右边表格展示的是北石顶驱的常规型号，简单来说可以根据名义钻深和额定载荷来区分。覆盖了</a:t>
            </a:r>
            <a:r>
              <a:rPr lang="en-US" altLang="zh-CN"/>
              <a:t>3000m</a:t>
            </a:r>
            <a:r>
              <a:rPr lang="zh-CN" altLang="en-US"/>
              <a:t>到</a:t>
            </a:r>
            <a:r>
              <a:rPr lang="en-US" altLang="zh-CN"/>
              <a:t>12000m</a:t>
            </a:r>
            <a:r>
              <a:rPr lang="zh-CN" altLang="en-US"/>
              <a:t>顶驱，近几年还有一些新增的型号没有列在里面，包括直驱顶驱，还有最近正在研发</a:t>
            </a:r>
            <a:r>
              <a:rPr lang="en-US" altLang="zh-CN"/>
              <a:t>15000m</a:t>
            </a:r>
            <a:r>
              <a:rPr lang="zh-CN" altLang="en-US"/>
              <a:t>超深井顶驱装置等。</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顶驱主体结构，我们分为动力水龙头、管子处理器，以及导轨和滑车。下面分项说明下。</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首先，讲下动力水龙头</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动力水龙头，还可以继续细化，分为提环总成、</a:t>
            </a:r>
            <a:r>
              <a:rPr lang="zh-CN" altLang="en-US" dirty="0">
                <a:latin typeface="黑体" panose="02010609060101010101" pitchFamily="49" charset="-122"/>
                <a:ea typeface="黑体" panose="02010609060101010101" pitchFamily="49" charset="-122"/>
                <a:sym typeface="+mn-ea"/>
              </a:rPr>
              <a:t>冲管与鹅颈管总成、电动机总成、减速箱总成四个部分。</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可以返回去看开头的两张照片。</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a:xfrm>
            <a:off x="917575" y="744538"/>
            <a:ext cx="4962525" cy="3722687"/>
          </a:xfrm>
          <a:ln>
            <a:solidFill>
              <a:srgbClr val="000000">
                <a:alpha val="100000"/>
              </a:srgbClr>
            </a:solidFill>
            <a:miter lim="800000"/>
          </a:ln>
        </p:spPr>
      </p:sp>
      <p:sp>
        <p:nvSpPr>
          <p:cNvPr id="69635" name="备注占位符 2"/>
          <p:cNvSpPr>
            <a:spLocks noGrp="1"/>
          </p:cNvSpPr>
          <p:nvPr>
            <p:ph type="body" idx="1"/>
          </p:nvPr>
        </p:nvSpPr>
        <p:spPr>
          <a:noFill/>
          <a:ln>
            <a:noFill/>
          </a:ln>
        </p:spPr>
        <p:txBody>
          <a:bodyPr wrap="square" lIns="91440" tIns="45720" rIns="91440" bIns="45720" anchor="t"/>
          <a:lstStyle/>
          <a:p>
            <a:pPr lvl="0"/>
            <a:endParaRPr lang="zh-CN" altLang="en-US" dirty="0"/>
          </a:p>
        </p:txBody>
      </p:sp>
      <p:sp>
        <p:nvSpPr>
          <p:cNvPr id="69636" name="灯片编号占位符 3"/>
          <p:cNvSpPr txBox="1">
            <a:spLocks noGrp="1"/>
          </p:cNvSpPr>
          <p:nvPr>
            <p:ph type="sldNum" sz="quarter"/>
          </p:nvPr>
        </p:nvSpPr>
        <p:spPr>
          <a:xfrm>
            <a:off x="3849688" y="9428163"/>
            <a:ext cx="2946400" cy="496887"/>
          </a:xfrm>
          <a:prstGeom prst="rect">
            <a:avLst/>
          </a:prstGeom>
          <a:noFill/>
          <a:ln w="9525">
            <a:noFill/>
          </a:ln>
        </p:spPr>
        <p:txBody>
          <a:bodyPr anchor="b"/>
          <a:lstStyle/>
          <a:p>
            <a:pPr lvl="0" algn="r"/>
            <a:fld id="{9A0DB2DC-4C9A-4742-B13C-FB6460FD3503}" type="slidenum">
              <a:rPr lang="zh-CN" altLang="en-US" sz="1200" dirty="0"/>
              <a:t>33</a:t>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jpeg"/><Relationship Id="rId2" Type="http://schemas.openxmlformats.org/officeDocument/2006/relationships/image" Target="../media/image5.jpeg"/><Relationship Id="rId1" Type="http://schemas.openxmlformats.org/officeDocument/2006/relationships/slideMaster" Target="../slideMasters/slideMaster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jpeg"/><Relationship Id="rId2" Type="http://schemas.openxmlformats.org/officeDocument/2006/relationships/image" Target="../media/image5.jpeg"/><Relationship Id="rId1" Type="http://schemas.openxmlformats.org/officeDocument/2006/relationships/slideMaster" Target="../slideMasters/slideMaster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054" name="图片 10"/>
          <p:cNvPicPr>
            <a:picLocks noChangeAspect="1"/>
          </p:cNvPicPr>
          <p:nvPr userDrawn="1"/>
        </p:nvPicPr>
        <p:blipFill>
          <a:blip r:embed="rId2"/>
          <a:stretch>
            <a:fillRect/>
          </a:stretch>
        </p:blipFill>
        <p:spPr>
          <a:xfrm>
            <a:off x="0" y="60325"/>
            <a:ext cx="9144000" cy="6464300"/>
          </a:xfrm>
          <a:prstGeom prst="rect">
            <a:avLst/>
          </a:prstGeom>
          <a:noFill/>
          <a:ln w="9525">
            <a:noFill/>
          </a:ln>
        </p:spPr>
      </p:pic>
      <p:pic>
        <p:nvPicPr>
          <p:cNvPr id="2055" name="Picture 2" descr="C:\Users\TAN ZHE\Desktop\PNG\CNPC 内白.png"/>
          <p:cNvPicPr>
            <a:picLocks noChangeAspect="1"/>
          </p:cNvPicPr>
          <p:nvPr userDrawn="1"/>
        </p:nvPicPr>
        <p:blipFill>
          <a:blip r:embed="rId3"/>
          <a:stretch>
            <a:fillRect/>
          </a:stretch>
        </p:blipFill>
        <p:spPr>
          <a:xfrm>
            <a:off x="179388" y="233363"/>
            <a:ext cx="788987" cy="747712"/>
          </a:xfrm>
          <a:prstGeom prst="rect">
            <a:avLst/>
          </a:prstGeom>
          <a:noFill/>
          <a:ln w="9525">
            <a:noFill/>
          </a:ln>
        </p:spPr>
      </p:pic>
      <p:pic>
        <p:nvPicPr>
          <p:cNvPr id="2056" name="Picture 3" descr="C:\Users\TAN ZHE\Desktop\PNG\北京石油机械厂 蓝.png"/>
          <p:cNvPicPr>
            <a:picLocks noChangeAspect="1"/>
          </p:cNvPicPr>
          <p:nvPr userDrawn="1"/>
        </p:nvPicPr>
        <p:blipFill>
          <a:blip r:embed="rId4"/>
          <a:stretch>
            <a:fillRect/>
          </a:stretch>
        </p:blipFill>
        <p:spPr>
          <a:xfrm>
            <a:off x="1031875" y="288925"/>
            <a:ext cx="2670175" cy="641350"/>
          </a:xfrm>
          <a:prstGeom prst="rect">
            <a:avLst/>
          </a:prstGeom>
          <a:noFill/>
          <a:ln w="9525">
            <a:noFill/>
          </a:ln>
        </p:spPr>
      </p:pic>
      <p:pic>
        <p:nvPicPr>
          <p:cNvPr id="14" name="Picture 4" descr="C:\Users\TAN ZHE\Desktop\DSCF2611.JPG"/>
          <p:cNvPicPr>
            <a:picLocks noChangeAspect="1" noChangeArrowheads="1"/>
          </p:cNvPicPr>
          <p:nvPr/>
        </p:nvPicPr>
        <p:blipFill>
          <a:blip r:embed="rId5" cstate="print"/>
          <a:srcRect/>
          <a:stretch>
            <a:fillRect/>
          </a:stretch>
        </p:blipFill>
        <p:spPr bwMode="auto">
          <a:xfrm>
            <a:off x="6071641" y="3438378"/>
            <a:ext cx="2145793" cy="1609344"/>
          </a:xfrm>
          <a:prstGeom prst="rect">
            <a:avLst/>
          </a:prstGeom>
          <a:ln>
            <a:noFill/>
          </a:ln>
          <a:effectLst>
            <a:softEdge rad="112500"/>
          </a:effectLst>
        </p:spPr>
      </p:pic>
      <p:pic>
        <p:nvPicPr>
          <p:cNvPr id="15" name="Picture 7" descr="E:\工作\001 市场策划\04 宣传策划\照片\02 顶驱装置\玻利维亚.jpg"/>
          <p:cNvPicPr>
            <a:picLocks noChangeAspect="1" noChangeArrowheads="1"/>
          </p:cNvPicPr>
          <p:nvPr/>
        </p:nvPicPr>
        <p:blipFill rotWithShape="1">
          <a:blip r:embed="rId6" cstate="print"/>
          <a:srcRect l="16509" t="41023" r="21870" b="30872"/>
          <a:stretch>
            <a:fillRect/>
          </a:stretch>
        </p:blipFill>
        <p:spPr bwMode="auto">
          <a:xfrm>
            <a:off x="3419872" y="3438377"/>
            <a:ext cx="2644581" cy="1608201"/>
          </a:xfrm>
          <a:prstGeom prst="rect">
            <a:avLst/>
          </a:prstGeom>
          <a:ln>
            <a:noFill/>
          </a:ln>
          <a:effectLst>
            <a:softEdge rad="112500"/>
          </a:effectLst>
        </p:spPr>
      </p:pic>
      <p:pic>
        <p:nvPicPr>
          <p:cNvPr id="16" name="Picture 9" descr="E:\工作\001 市场策划\04 宣传策划\照片\02 顶驱装置\40G\顶驱本体2.jpg"/>
          <p:cNvPicPr>
            <a:picLocks noChangeAspect="1" noChangeArrowheads="1"/>
          </p:cNvPicPr>
          <p:nvPr/>
        </p:nvPicPr>
        <p:blipFill rotWithShape="1">
          <a:blip r:embed="rId7" cstate="print"/>
          <a:srcRect t="25841" b="25841"/>
          <a:stretch>
            <a:fillRect/>
          </a:stretch>
        </p:blipFill>
        <p:spPr bwMode="auto">
          <a:xfrm>
            <a:off x="922950" y="3438377"/>
            <a:ext cx="2496922" cy="1608201"/>
          </a:xfrm>
          <a:prstGeom prst="rect">
            <a:avLst/>
          </a:prstGeom>
          <a:ln>
            <a:noFill/>
          </a:ln>
          <a:effectLst>
            <a:softEdge rad="112500"/>
          </a:effectLst>
        </p:spPr>
      </p:pic>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17"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0FECFC2A-AA34-4D98-8023-61C7BD312636}"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2022/9/16</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8"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84D62ED-5F2C-43AE-982F-13A61268647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648C6D-C46D-42AB-A141-11D1D593A014}"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2022/9/16</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8F1C0A-9176-4C86-8371-AA0A6099D42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648C6D-C46D-42AB-A141-11D1D593A014}"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2022/9/16</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8F1C0A-9176-4C86-8371-AA0A6099D42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648C6D-C46D-42AB-A141-11D1D593A014}"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2022/9/16</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8F1C0A-9176-4C86-8371-AA0A6099D42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648C6D-C46D-42AB-A141-11D1D593A014}"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2022/9/16</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8F1C0A-9176-4C86-8371-AA0A6099D42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北石顶驱产品咨询 01083592276">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648C6D-C46D-42AB-A141-11D1D593A014}"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2022/9/16</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8F1C0A-9176-4C86-8371-AA0A6099D42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054" name="图片 10"/>
          <p:cNvPicPr>
            <a:picLocks noChangeAspect="1"/>
          </p:cNvPicPr>
          <p:nvPr userDrawn="1"/>
        </p:nvPicPr>
        <p:blipFill>
          <a:blip r:embed="rId2"/>
          <a:stretch>
            <a:fillRect/>
          </a:stretch>
        </p:blipFill>
        <p:spPr>
          <a:xfrm>
            <a:off x="0" y="60325"/>
            <a:ext cx="9144000" cy="6464300"/>
          </a:xfrm>
          <a:prstGeom prst="rect">
            <a:avLst/>
          </a:prstGeom>
          <a:noFill/>
          <a:ln w="9525">
            <a:noFill/>
          </a:ln>
        </p:spPr>
      </p:pic>
      <p:pic>
        <p:nvPicPr>
          <p:cNvPr id="2055" name="Picture 2" descr="C:\Users\TAN ZHE\Desktop\PNG\CNPC 内白.png"/>
          <p:cNvPicPr>
            <a:picLocks noChangeAspect="1"/>
          </p:cNvPicPr>
          <p:nvPr userDrawn="1"/>
        </p:nvPicPr>
        <p:blipFill>
          <a:blip r:embed="rId3"/>
          <a:stretch>
            <a:fillRect/>
          </a:stretch>
        </p:blipFill>
        <p:spPr>
          <a:xfrm>
            <a:off x="179388" y="233363"/>
            <a:ext cx="788987" cy="747712"/>
          </a:xfrm>
          <a:prstGeom prst="rect">
            <a:avLst/>
          </a:prstGeom>
          <a:noFill/>
          <a:ln w="9525">
            <a:noFill/>
          </a:ln>
        </p:spPr>
      </p:pic>
      <p:pic>
        <p:nvPicPr>
          <p:cNvPr id="2056" name="Picture 3" descr="C:\Users\TAN ZHE\Desktop\PNG\北京石油机械厂 蓝.png"/>
          <p:cNvPicPr>
            <a:picLocks noChangeAspect="1"/>
          </p:cNvPicPr>
          <p:nvPr userDrawn="1"/>
        </p:nvPicPr>
        <p:blipFill>
          <a:blip r:embed="rId4"/>
          <a:stretch>
            <a:fillRect/>
          </a:stretch>
        </p:blipFill>
        <p:spPr>
          <a:xfrm>
            <a:off x="1031875" y="288925"/>
            <a:ext cx="2670175" cy="641350"/>
          </a:xfrm>
          <a:prstGeom prst="rect">
            <a:avLst/>
          </a:prstGeom>
          <a:noFill/>
          <a:ln w="9525">
            <a:noFill/>
          </a:ln>
        </p:spPr>
      </p:pic>
      <p:pic>
        <p:nvPicPr>
          <p:cNvPr id="14" name="Picture 4" descr="C:\Users\TAN ZHE\Desktop\DSCF2611.JPG"/>
          <p:cNvPicPr>
            <a:picLocks noChangeAspect="1" noChangeArrowheads="1"/>
          </p:cNvPicPr>
          <p:nvPr/>
        </p:nvPicPr>
        <p:blipFill>
          <a:blip r:embed="rId5" cstate="print"/>
          <a:srcRect/>
          <a:stretch>
            <a:fillRect/>
          </a:stretch>
        </p:blipFill>
        <p:spPr bwMode="auto">
          <a:xfrm>
            <a:off x="6071641" y="3438378"/>
            <a:ext cx="2145793" cy="1609344"/>
          </a:xfrm>
          <a:prstGeom prst="rect">
            <a:avLst/>
          </a:prstGeom>
          <a:ln>
            <a:noFill/>
          </a:ln>
          <a:effectLst>
            <a:softEdge rad="112500"/>
          </a:effectLst>
        </p:spPr>
      </p:pic>
      <p:pic>
        <p:nvPicPr>
          <p:cNvPr id="15" name="Picture 7" descr="E:\工作\001 市场策划\04 宣传策划\照片\02 顶驱装置\玻利维亚.jpg"/>
          <p:cNvPicPr>
            <a:picLocks noChangeAspect="1" noChangeArrowheads="1"/>
          </p:cNvPicPr>
          <p:nvPr/>
        </p:nvPicPr>
        <p:blipFill rotWithShape="1">
          <a:blip r:embed="rId6" cstate="print"/>
          <a:srcRect l="16509" t="41023" r="21870" b="30872"/>
          <a:stretch>
            <a:fillRect/>
          </a:stretch>
        </p:blipFill>
        <p:spPr bwMode="auto">
          <a:xfrm>
            <a:off x="3419872" y="3438377"/>
            <a:ext cx="2644581" cy="1608201"/>
          </a:xfrm>
          <a:prstGeom prst="rect">
            <a:avLst/>
          </a:prstGeom>
          <a:ln>
            <a:noFill/>
          </a:ln>
          <a:effectLst>
            <a:softEdge rad="112500"/>
          </a:effectLst>
        </p:spPr>
      </p:pic>
      <p:pic>
        <p:nvPicPr>
          <p:cNvPr id="16" name="Picture 9" descr="E:\工作\001 市场策划\04 宣传策划\照片\02 顶驱装置\40G\顶驱本体2.jpg"/>
          <p:cNvPicPr>
            <a:picLocks noChangeAspect="1" noChangeArrowheads="1"/>
          </p:cNvPicPr>
          <p:nvPr/>
        </p:nvPicPr>
        <p:blipFill rotWithShape="1">
          <a:blip r:embed="rId7" cstate="print"/>
          <a:srcRect t="25841" b="25841"/>
          <a:stretch>
            <a:fillRect/>
          </a:stretch>
        </p:blipFill>
        <p:spPr bwMode="auto">
          <a:xfrm>
            <a:off x="922950" y="3438377"/>
            <a:ext cx="2496922" cy="1608201"/>
          </a:xfrm>
          <a:prstGeom prst="rect">
            <a:avLst/>
          </a:prstGeom>
          <a:ln>
            <a:noFill/>
          </a:ln>
          <a:effectLst>
            <a:softEdge rad="112500"/>
          </a:effectLst>
        </p:spPr>
      </p:pic>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17"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0FECFC2A-AA34-4D98-8023-61C7BD312636}"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2022/9/16</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8"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84D62ED-5F2C-43AE-982F-13A61268647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648C6D-C46D-42AB-A141-11D1D593A014}"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2022/9/16</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8F1C0A-9176-4C86-8371-AA0A6099D42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648C6D-C46D-42AB-A141-11D1D593A014}"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2022/9/16</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8F1C0A-9176-4C86-8371-AA0A6099D42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648C6D-C46D-42AB-A141-11D1D593A014}"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2022/9/16</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8F1C0A-9176-4C86-8371-AA0A6099D42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648C6D-C46D-42AB-A141-11D1D593A014}"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2022/9/16</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8F1C0A-9176-4C86-8371-AA0A6099D42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北石顶驱产品咨询 01083592276">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648C6D-C46D-42AB-A141-11D1D593A014}"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2022/9/16</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8F1C0A-9176-4C86-8371-AA0A6099D42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4.png"/><Relationship Id="rId5" Type="http://schemas.openxmlformats.org/officeDocument/2006/relationships/slideLayout" Target="../slideLayouts/slideLayout5.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image" Target="../media/image4.png"/><Relationship Id="rId5" Type="http://schemas.openxmlformats.org/officeDocument/2006/relationships/slideLayout" Target="../slideLayouts/slideLayout11.xml"/><Relationship Id="rId10" Type="http://schemas.openxmlformats.org/officeDocument/2006/relationships/image" Target="../media/image3.png"/><Relationship Id="rId4" Type="http://schemas.openxmlformats.org/officeDocument/2006/relationships/slideLayout" Target="../slideLayouts/slideLayout10.xml"/><Relationship Id="rId9"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1027" name="文本占位符 2"/>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9648C6D-C46D-42AB-A141-11D1D593A014}"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2022/9/16</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C8F1C0A-9176-4C86-8371-AA0A6099D42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1031" name="图片 6"/>
          <p:cNvPicPr>
            <a:picLocks noChangeAspect="1"/>
          </p:cNvPicPr>
          <p:nvPr userDrawn="1"/>
        </p:nvPicPr>
        <p:blipFill>
          <a:blip r:embed="rId8"/>
          <a:srcRect t="17163" b="71902"/>
          <a:stretch>
            <a:fillRect/>
          </a:stretch>
        </p:blipFill>
        <p:spPr>
          <a:xfrm>
            <a:off x="0" y="0"/>
            <a:ext cx="9144000" cy="706438"/>
          </a:xfrm>
          <a:prstGeom prst="rect">
            <a:avLst/>
          </a:prstGeom>
          <a:noFill/>
          <a:ln w="9525">
            <a:noFill/>
          </a:ln>
        </p:spPr>
      </p:pic>
      <p:pic>
        <p:nvPicPr>
          <p:cNvPr id="1032" name="图片 7"/>
          <p:cNvPicPr>
            <a:picLocks noChangeAspect="1"/>
          </p:cNvPicPr>
          <p:nvPr userDrawn="1"/>
        </p:nvPicPr>
        <p:blipFill>
          <a:blip r:embed="rId9"/>
          <a:srcRect t="71902" b="17163"/>
          <a:stretch>
            <a:fillRect/>
          </a:stretch>
        </p:blipFill>
        <p:spPr>
          <a:xfrm>
            <a:off x="0" y="6642100"/>
            <a:ext cx="9144000" cy="215900"/>
          </a:xfrm>
          <a:prstGeom prst="rect">
            <a:avLst/>
          </a:prstGeom>
          <a:noFill/>
          <a:ln w="9525">
            <a:noFill/>
          </a:ln>
        </p:spPr>
      </p:pic>
      <p:pic>
        <p:nvPicPr>
          <p:cNvPr id="1033" name="Picture 2" descr="C:\Users\TAN ZHE\Desktop\PNG\CNPC 内白.png"/>
          <p:cNvPicPr>
            <a:picLocks noChangeAspect="1"/>
          </p:cNvPicPr>
          <p:nvPr userDrawn="1"/>
        </p:nvPicPr>
        <p:blipFill>
          <a:blip r:embed="rId10"/>
          <a:stretch>
            <a:fillRect/>
          </a:stretch>
        </p:blipFill>
        <p:spPr>
          <a:xfrm>
            <a:off x="254000" y="82550"/>
            <a:ext cx="788988" cy="747713"/>
          </a:xfrm>
          <a:prstGeom prst="rect">
            <a:avLst/>
          </a:prstGeom>
          <a:noFill/>
          <a:ln w="9525">
            <a:noFill/>
          </a:ln>
        </p:spPr>
      </p:pic>
      <p:pic>
        <p:nvPicPr>
          <p:cNvPr id="1034" name="Picture 3" descr="C:\Users\TAN ZHE\Desktop\PNG\北石 BPM 白.png"/>
          <p:cNvPicPr>
            <a:picLocks noChangeAspect="1"/>
          </p:cNvPicPr>
          <p:nvPr userDrawn="1"/>
        </p:nvPicPr>
        <p:blipFill>
          <a:blip r:embed="rId11"/>
          <a:stretch>
            <a:fillRect/>
          </a:stretch>
        </p:blipFill>
        <p:spPr>
          <a:xfrm>
            <a:off x="8172450" y="220663"/>
            <a:ext cx="630238" cy="442912"/>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1027" name="文本占位符 2"/>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9648C6D-C46D-42AB-A141-11D1D593A014}" type="datetimeFigureOut">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2022/9/16</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C8F1C0A-9176-4C86-8371-AA0A6099D42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1031" name="图片 6"/>
          <p:cNvPicPr>
            <a:picLocks noChangeAspect="1"/>
          </p:cNvPicPr>
          <p:nvPr userDrawn="1"/>
        </p:nvPicPr>
        <p:blipFill>
          <a:blip r:embed="rId8"/>
          <a:srcRect t="17163" b="71902"/>
          <a:stretch>
            <a:fillRect/>
          </a:stretch>
        </p:blipFill>
        <p:spPr>
          <a:xfrm>
            <a:off x="0" y="0"/>
            <a:ext cx="9144000" cy="706438"/>
          </a:xfrm>
          <a:prstGeom prst="rect">
            <a:avLst/>
          </a:prstGeom>
          <a:noFill/>
          <a:ln w="9525">
            <a:noFill/>
          </a:ln>
        </p:spPr>
      </p:pic>
      <p:pic>
        <p:nvPicPr>
          <p:cNvPr id="1032" name="图片 7"/>
          <p:cNvPicPr>
            <a:picLocks noChangeAspect="1"/>
          </p:cNvPicPr>
          <p:nvPr userDrawn="1"/>
        </p:nvPicPr>
        <p:blipFill>
          <a:blip r:embed="rId9"/>
          <a:srcRect t="71902" b="17163"/>
          <a:stretch>
            <a:fillRect/>
          </a:stretch>
        </p:blipFill>
        <p:spPr>
          <a:xfrm>
            <a:off x="0" y="6642100"/>
            <a:ext cx="9144000" cy="215900"/>
          </a:xfrm>
          <a:prstGeom prst="rect">
            <a:avLst/>
          </a:prstGeom>
          <a:noFill/>
          <a:ln w="9525">
            <a:noFill/>
          </a:ln>
        </p:spPr>
      </p:pic>
      <p:pic>
        <p:nvPicPr>
          <p:cNvPr id="1033" name="Picture 2" descr="C:\Users\TAN ZHE\Desktop\PNG\CNPC 内白.png"/>
          <p:cNvPicPr>
            <a:picLocks noChangeAspect="1"/>
          </p:cNvPicPr>
          <p:nvPr userDrawn="1"/>
        </p:nvPicPr>
        <p:blipFill>
          <a:blip r:embed="rId10"/>
          <a:stretch>
            <a:fillRect/>
          </a:stretch>
        </p:blipFill>
        <p:spPr>
          <a:xfrm>
            <a:off x="254000" y="82550"/>
            <a:ext cx="788988" cy="747713"/>
          </a:xfrm>
          <a:prstGeom prst="rect">
            <a:avLst/>
          </a:prstGeom>
          <a:noFill/>
          <a:ln w="9525">
            <a:noFill/>
          </a:ln>
        </p:spPr>
      </p:pic>
      <p:pic>
        <p:nvPicPr>
          <p:cNvPr id="1034" name="Picture 3" descr="C:\Users\TAN ZHE\Desktop\PNG\北石 BPM 白.png"/>
          <p:cNvPicPr>
            <a:picLocks noChangeAspect="1"/>
          </p:cNvPicPr>
          <p:nvPr userDrawn="1"/>
        </p:nvPicPr>
        <p:blipFill>
          <a:blip r:embed="rId11"/>
          <a:stretch>
            <a:fillRect/>
          </a:stretch>
        </p:blipFill>
        <p:spPr>
          <a:xfrm>
            <a:off x="8172450" y="220663"/>
            <a:ext cx="630238" cy="442912"/>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0.emf"/></Relationships>
</file>

<file path=ppt/slides/_rels/slide1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12.xml"/><Relationship Id="rId4" Type="http://schemas.openxmlformats.org/officeDocument/2006/relationships/image" Target="../media/image37.jpeg"/></Relationships>
</file>

<file path=ppt/slides/_rels/slide2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hyperlink" Target="&#22521;&#35757;/&#26426;&#22120;&#21160;&#30011;&#29983;&#25104;/&#22238;&#36716;&#22836;&#27491;.wmv" TargetMode="Externa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hyperlink" Target="&#22521;&#35757;/&#26426;&#22120;&#21160;&#30011;&#29983;&#25104;/&#21514;&#29615;&#21069;&#20542;.wmv" TargetMode="External"/><Relationship Id="rId2" Type="http://schemas.openxmlformats.org/officeDocument/2006/relationships/image" Target="../media/image41.jpeg"/><Relationship Id="rId1" Type="http://schemas.openxmlformats.org/officeDocument/2006/relationships/slideLayout" Target="../slideLayouts/slideLayout12.xml"/><Relationship Id="rId5" Type="http://schemas.openxmlformats.org/officeDocument/2006/relationships/hyperlink" Target="&#22521;&#35757;/&#26426;&#22120;&#21160;&#30011;&#29983;&#25104;/&#21514;&#29615;&#22238;&#20542;.wmv" TargetMode="External"/><Relationship Id="rId4" Type="http://schemas.openxmlformats.org/officeDocument/2006/relationships/hyperlink" Target="&#22521;&#35757;/&#26426;&#22120;&#21160;&#30011;&#29983;&#25104;/&#21514;&#29615;&#21518;&#20542;.wmv"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emf"/><Relationship Id="rId1" Type="http://schemas.openxmlformats.org/officeDocument/2006/relationships/slideLayout" Target="../slideLayouts/slideLayout12.xml"/><Relationship Id="rId5" Type="http://schemas.openxmlformats.org/officeDocument/2006/relationships/image" Target="../media/image47.jpeg"/><Relationship Id="rId4" Type="http://schemas.openxmlformats.org/officeDocument/2006/relationships/image" Target="../media/image46.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12.xml"/><Relationship Id="rId4" Type="http://schemas.openxmlformats.org/officeDocument/2006/relationships/image" Target="../media/image54.jpeg"/></Relationships>
</file>

<file path=ppt/slides/_rels/slide3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hyperlink" Target="&#25216;&#26415;&#29305;&#33394;%204%20&#21452;&#36127;&#33655;&#25552;&#21319;&#36890;&#36947;&#25216;&#26415;.mp4" TargetMode="External"/><Relationship Id="rId1" Type="http://schemas.openxmlformats.org/officeDocument/2006/relationships/slideLayout" Target="../slideLayouts/slideLayout12.xml"/><Relationship Id="rId6" Type="http://schemas.openxmlformats.org/officeDocument/2006/relationships/image" Target="../media/image58.jpeg"/><Relationship Id="rId5" Type="http://schemas.openxmlformats.org/officeDocument/2006/relationships/image" Target="../media/image57.png"/><Relationship Id="rId4" Type="http://schemas.openxmlformats.org/officeDocument/2006/relationships/image" Target="../media/image56.jpeg"/></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2.jpeg"/><Relationship Id="rId5" Type="http://schemas.openxmlformats.org/officeDocument/2006/relationships/image" Target="../media/image61.png"/><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43075"/>
            <a:ext cx="7772400" cy="1470025"/>
          </a:xfrm>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130000"/>
              </a:lnSpc>
              <a:spcBef>
                <a:spcPct val="0"/>
              </a:spcBef>
              <a:spcAft>
                <a:spcPts val="0"/>
              </a:spcAft>
              <a:buClrTx/>
              <a:buSzTx/>
              <a:buFontTx/>
              <a:buNone/>
              <a:defRPr/>
            </a:pPr>
            <a:r>
              <a:rPr kumimoji="0" lang="zh-CN" altLang="en-US" sz="4000" b="1" i="0" u="none" strike="noStrike" kern="1200" cap="none" spc="0" normalizeH="0" baseline="0" noProof="0" dirty="0">
                <a:ln>
                  <a:noFill/>
                </a:ln>
                <a:solidFill>
                  <a:srgbClr val="FFC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rPr>
              <a:t>顶部驱动钻井装置技术介绍</a:t>
            </a:r>
          </a:p>
        </p:txBody>
      </p:sp>
      <p:pic>
        <p:nvPicPr>
          <p:cNvPr id="11" name="Picture 4" descr="C:\Users\TAN ZHE\Desktop\DSCF2611.JPG"/>
          <p:cNvPicPr>
            <a:picLocks noChangeAspect="1" noChangeArrowheads="1"/>
          </p:cNvPicPr>
          <p:nvPr/>
        </p:nvPicPr>
        <p:blipFill>
          <a:blip r:embed="rId3" cstate="print"/>
          <a:srcRect/>
          <a:stretch>
            <a:fillRect/>
          </a:stretch>
        </p:blipFill>
        <p:spPr bwMode="auto">
          <a:xfrm>
            <a:off x="6071641" y="3438378"/>
            <a:ext cx="2145793" cy="1609344"/>
          </a:xfrm>
          <a:prstGeom prst="rect">
            <a:avLst/>
          </a:prstGeom>
          <a:ln>
            <a:noFill/>
          </a:ln>
          <a:effectLst>
            <a:softEdge rad="112500"/>
          </a:effectLst>
        </p:spPr>
      </p:pic>
      <p:pic>
        <p:nvPicPr>
          <p:cNvPr id="12" name="Picture 7" descr="E:\工作\001 市场策划\04 宣传策划\照片\02 顶驱装置\玻利维亚.jpg"/>
          <p:cNvPicPr>
            <a:picLocks noChangeAspect="1" noChangeArrowheads="1"/>
          </p:cNvPicPr>
          <p:nvPr/>
        </p:nvPicPr>
        <p:blipFill rotWithShape="1">
          <a:blip r:embed="rId4" cstate="print"/>
          <a:srcRect l="16509" t="41023" r="21870" b="30872"/>
          <a:stretch>
            <a:fillRect/>
          </a:stretch>
        </p:blipFill>
        <p:spPr bwMode="auto">
          <a:xfrm>
            <a:off x="3419872" y="3438377"/>
            <a:ext cx="2644581" cy="1608201"/>
          </a:xfrm>
          <a:prstGeom prst="rect">
            <a:avLst/>
          </a:prstGeom>
          <a:ln>
            <a:noFill/>
          </a:ln>
          <a:effectLst>
            <a:softEdge rad="112500"/>
          </a:effectLst>
        </p:spPr>
      </p:pic>
      <p:pic>
        <p:nvPicPr>
          <p:cNvPr id="13" name="Picture 9" descr="E:\工作\001 市场策划\04 宣传策划\照片\02 顶驱装置\40G\顶驱本体2.jpg"/>
          <p:cNvPicPr>
            <a:picLocks noChangeAspect="1" noChangeArrowheads="1"/>
          </p:cNvPicPr>
          <p:nvPr/>
        </p:nvPicPr>
        <p:blipFill rotWithShape="1">
          <a:blip r:embed="rId5" cstate="print"/>
          <a:srcRect t="25841" b="25841"/>
          <a:stretch>
            <a:fillRect/>
          </a:stretch>
        </p:blipFill>
        <p:spPr bwMode="auto">
          <a:xfrm>
            <a:off x="922950" y="3438377"/>
            <a:ext cx="2496922" cy="1608201"/>
          </a:xfrm>
          <a:prstGeom prst="rect">
            <a:avLst/>
          </a:prstGeom>
          <a:ln>
            <a:noFill/>
          </a:ln>
          <a:effectLst>
            <a:softEdge rad="112500"/>
          </a:effectLst>
        </p:spPr>
      </p:pic>
      <p:sp>
        <p:nvSpPr>
          <p:cNvPr id="6" name="标题 1"/>
          <p:cNvSpPr txBox="1"/>
          <p:nvPr/>
        </p:nvSpPr>
        <p:spPr>
          <a:xfrm>
            <a:off x="684213" y="5127625"/>
            <a:ext cx="7772400" cy="1470025"/>
          </a:xfrm>
          <a:prstGeom prst="rect">
            <a:avLst/>
          </a:prstGeom>
        </p:spPr>
        <p:txBody>
          <a:bodyPr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30000"/>
              </a:lnSpc>
              <a:spcBef>
                <a:spcPct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rPr>
              <a:t>中国石油钻井工程技术研究院</a:t>
            </a:r>
            <a:endParaRPr kumimoji="0" lang="en-US" altLang="zh-CN" sz="18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endParaRPr>
          </a:p>
          <a:p>
            <a:pPr marL="0" marR="0" lvl="0" indent="0" algn="ctr" defTabSz="914400" rtl="0" eaLnBrk="1" fontAlgn="auto" latinLnBrk="0" hangingPunct="1">
              <a:lnSpc>
                <a:spcPct val="130000"/>
              </a:lnSpc>
              <a:spcBef>
                <a:spcPct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rPr>
              <a:t>北京石油机械有限公司</a:t>
            </a:r>
            <a:endParaRPr kumimoji="0" lang="en-US" altLang="zh-CN" sz="18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endParaRPr>
          </a:p>
          <a:p>
            <a:pPr marL="0" marR="0" lvl="0" indent="0" algn="ctr" defTabSz="914400" rtl="0" eaLnBrk="1" fontAlgn="auto" latinLnBrk="0" hangingPunct="1">
              <a:lnSpc>
                <a:spcPct val="130000"/>
              </a:lnSpc>
              <a:spcBef>
                <a:spcPct val="0"/>
              </a:spcBef>
              <a:spcAft>
                <a:spcPts val="0"/>
              </a:spcAft>
              <a:buClrTx/>
              <a:buSzTx/>
              <a:buFontTx/>
              <a:buNone/>
              <a:defRPr/>
            </a:pPr>
            <a:r>
              <a:rPr kumimoji="0" lang="en-US" altLang="zh-CN" sz="18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rPr>
              <a:t>2017</a:t>
            </a:r>
            <a:r>
              <a:rPr kumimoji="0" lang="zh-CN" altLang="en-US" sz="18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rPr>
              <a:t>年</a:t>
            </a:r>
            <a:r>
              <a:rPr kumimoji="0" lang="en-US" altLang="zh-CN" sz="18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rPr>
              <a:t>9</a:t>
            </a:r>
            <a:r>
              <a:rPr kumimoji="0" lang="zh-CN" altLang="en-US" sz="18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rPr>
              <a:t>月</a:t>
            </a:r>
          </a:p>
        </p:txBody>
      </p:sp>
    </p:spTree>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bwMode="auto">
          <a:xfrm>
            <a:off x="222250" y="908685"/>
            <a:ext cx="4728845" cy="5544820"/>
          </a:xfrm>
          <a:prstGeom prst="rect">
            <a:avLst/>
          </a:prstGeom>
          <a:noFill/>
          <a:ln w="9525">
            <a:noFill/>
            <a:miter lim="800000"/>
          </a:ln>
        </p:spPr>
        <p:txBody>
          <a:bodyPr/>
          <a:lstStyle/>
          <a:p>
            <a:pPr marL="0" marR="0" lvl="8" indent="0" algn="l" defTabSz="914400" rtl="0" eaLnBrk="0" fontAlgn="auto" latinLnBrk="0" hangingPunct="0">
              <a:lnSpc>
                <a:spcPct val="130000"/>
              </a:lnSpc>
              <a:spcBef>
                <a:spcPts val="800"/>
              </a:spcBef>
              <a:spcAft>
                <a:spcPts val="800"/>
              </a:spcAft>
              <a:buClr>
                <a:srgbClr val="0070C0"/>
              </a:buClr>
              <a:buSzPct val="120000"/>
              <a:buFont typeface="Wingdings" panose="05000000000000000000" pitchFamily="2" charset="2"/>
              <a:buChar char="v"/>
              <a:defRPr/>
            </a:pPr>
            <a:r>
              <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0" u="sng"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顶驱 </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或</a:t>
            </a:r>
            <a:r>
              <a:rPr kumimoji="0" lang="zh-CN" altLang="en-US"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 顶驱装置 </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，是</a:t>
            </a:r>
            <a:r>
              <a:rPr kumimoji="0" lang="zh-CN" altLang="en-US"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zh-CN" altLang="zh-CN"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石油钻机顶部驱动钻井装置</a:t>
            </a:r>
            <a:r>
              <a:rPr kumimoji="0" lang="en-US" altLang="zh-CN"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的简称。</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是</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20</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世纪</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80</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年代出现的一种新型钻井装备。与采用方钻杆和转盘的传统钻进方式不同，顶驱装置由动力水龙头和管子处理装置等组成，可以在井架空间上部直接驱动钻柱旋转并沿专用导轨向下送进，完成</a:t>
            </a:r>
            <a:r>
              <a:rPr lang="zh-CN" altLang="zh-CN" sz="1800" b="1" noProof="0" dirty="0">
                <a:ln>
                  <a:noFill/>
                </a:ln>
                <a:solidFill>
                  <a:srgbClr val="FF0000"/>
                </a:solidFill>
                <a:effectLst/>
                <a:uLnTx/>
                <a:uFillTx/>
                <a:latin typeface="Arial" panose="020B0604020202020204" pitchFamily="34" charset="0"/>
                <a:ea typeface="黑体" panose="02010609060101010101" pitchFamily="49" charset="-122"/>
                <a:cs typeface="Arial" panose="020B0604020202020204" pitchFamily="34" charset="0"/>
                <a:sym typeface="+mn-ea"/>
              </a:rPr>
              <a:t>旋转钻进、循环钻井液、接立根、上卸扣、倒划眼</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等多种钻井操作。</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endParaRPr>
          </a:p>
          <a:p>
            <a:pPr marL="0" marR="0" lvl="8" indent="0" algn="l" defTabSz="914400" rtl="0" eaLnBrk="0" fontAlgn="auto" latinLnBrk="0" hangingPunct="0">
              <a:lnSpc>
                <a:spcPct val="130000"/>
              </a:lnSpc>
              <a:spcBef>
                <a:spcPts val="800"/>
              </a:spcBef>
              <a:spcAft>
                <a:spcPts val="800"/>
              </a:spcAft>
              <a:buClr>
                <a:srgbClr val="0070C0"/>
              </a:buClr>
              <a:buSzPct val="120000"/>
              <a:buFont typeface="Wingdings" panose="05000000000000000000" pitchFamily="2" charset="2"/>
              <a:buChar char="v"/>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由于顶驱装置显著提高了钻井作业的能力、效率和安全性，是减少钻井复杂、降低风险、避免钻井事故最有效的技术手段之一，实现了钻机自动化过程的阶段性跨越，被誉为近代钻井装备的革命性技术成果之一。</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endParaRPr>
          </a:p>
          <a:p>
            <a:pPr marL="0" marR="0" lvl="8" indent="0" algn="l" defTabSz="914400" rtl="0" eaLnBrk="0" fontAlgn="auto" latinLnBrk="0" hangingPunct="0">
              <a:lnSpc>
                <a:spcPct val="130000"/>
              </a:lnSpc>
              <a:spcBef>
                <a:spcPts val="800"/>
              </a:spcBef>
              <a:spcAft>
                <a:spcPts val="800"/>
              </a:spcAft>
              <a:buClr>
                <a:srgbClr val="0070C0"/>
              </a:buClr>
              <a:buSzPct val="120000"/>
              <a:buFont typeface="Wingdings" panose="05000000000000000000" pitchFamily="2" charset="2"/>
              <a:buChar char="v"/>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endParaRPr>
          </a:p>
          <a:p>
            <a:pPr marL="0" marR="0" lvl="8" indent="0" algn="l" defTabSz="914400" rtl="0" eaLnBrk="0" fontAlgn="auto" latinLnBrk="0" hangingPunct="0">
              <a:lnSpc>
                <a:spcPct val="130000"/>
              </a:lnSpc>
              <a:spcBef>
                <a:spcPts val="800"/>
              </a:spcBef>
              <a:spcAft>
                <a:spcPts val="800"/>
              </a:spcAft>
              <a:buClr>
                <a:srgbClr val="0070C0"/>
              </a:buClr>
              <a:buSzPct val="120000"/>
              <a:buFont typeface="Wingdings" panose="05000000000000000000" pitchFamily="2" charset="2"/>
              <a:buChar char="v"/>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endParaRPr>
          </a:p>
        </p:txBody>
      </p:sp>
      <p:grpSp>
        <p:nvGrpSpPr>
          <p:cNvPr id="18434" name="Group 68"/>
          <p:cNvGrpSpPr/>
          <p:nvPr/>
        </p:nvGrpSpPr>
        <p:grpSpPr>
          <a:xfrm>
            <a:off x="4950143" y="1409700"/>
            <a:ext cx="4092575" cy="4740275"/>
            <a:chOff x="2042" y="4818"/>
            <a:chExt cx="6405" cy="8175"/>
          </a:xfrm>
        </p:grpSpPr>
        <p:pic>
          <p:nvPicPr>
            <p:cNvPr id="18438" name="Picture 69" descr="井场布置图"/>
            <p:cNvPicPr>
              <a:picLocks noChangeAspect="1"/>
            </p:cNvPicPr>
            <p:nvPr/>
          </p:nvPicPr>
          <p:blipFill>
            <a:blip r:embed="rId3" cstate="print"/>
            <a:stretch>
              <a:fillRect/>
            </a:stretch>
          </p:blipFill>
          <p:spPr>
            <a:xfrm>
              <a:off x="2042" y="4818"/>
              <a:ext cx="6405" cy="8175"/>
            </a:xfrm>
            <a:prstGeom prst="rect">
              <a:avLst/>
            </a:prstGeom>
            <a:ln>
              <a:noFill/>
            </a:ln>
            <a:effectLst>
              <a:softEdge rad="112500"/>
            </a:effectLst>
          </p:spPr>
        </p:pic>
        <p:grpSp>
          <p:nvGrpSpPr>
            <p:cNvPr id="18439" name="Group 70"/>
            <p:cNvGrpSpPr/>
            <p:nvPr/>
          </p:nvGrpSpPr>
          <p:grpSpPr>
            <a:xfrm>
              <a:off x="2411" y="4883"/>
              <a:ext cx="5520" cy="6847"/>
              <a:chOff x="1331" y="4877"/>
              <a:chExt cx="5520" cy="6847"/>
            </a:xfrm>
          </p:grpSpPr>
          <p:sp>
            <p:nvSpPr>
              <p:cNvPr id="18440" name="Text Box 71"/>
              <p:cNvSpPr txBox="1"/>
              <p:nvPr/>
            </p:nvSpPr>
            <p:spPr>
              <a:xfrm>
                <a:off x="3131" y="11400"/>
                <a:ext cx="1560" cy="321"/>
              </a:xfrm>
              <a:prstGeom prst="rect">
                <a:avLst/>
              </a:prstGeom>
              <a:ln>
                <a:noFill/>
              </a:ln>
              <a:effectLst>
                <a:softEdge rad="112500"/>
              </a:effectLst>
            </p:spPr>
            <p:txBody>
              <a:bodyPr lIns="0" tIns="0" rIns="0" bIns="0"/>
              <a:lstStyle/>
              <a:p>
                <a:pPr algn="just"/>
                <a:r>
                  <a:rPr lang="zh-CN" altLang="en-US" sz="1000" dirty="0">
                    <a:latin typeface="Arial" panose="020B0604020202020204" pitchFamily="34" charset="0"/>
                  </a:rPr>
                  <a:t>传动与控制系统</a:t>
                </a:r>
                <a:endParaRPr lang="zh-CN" altLang="en-US" u="sng" dirty="0">
                  <a:latin typeface="Arial" panose="020B0604020202020204" pitchFamily="34" charset="0"/>
                </a:endParaRPr>
              </a:p>
            </p:txBody>
          </p:sp>
          <p:sp>
            <p:nvSpPr>
              <p:cNvPr id="18441" name="Text Box 72"/>
              <p:cNvSpPr txBox="1"/>
              <p:nvPr/>
            </p:nvSpPr>
            <p:spPr>
              <a:xfrm>
                <a:off x="1331" y="11403"/>
                <a:ext cx="952" cy="321"/>
              </a:xfrm>
              <a:prstGeom prst="rect">
                <a:avLst/>
              </a:prstGeom>
              <a:ln>
                <a:noFill/>
              </a:ln>
              <a:effectLst>
                <a:softEdge rad="112500"/>
              </a:effectLst>
            </p:spPr>
            <p:txBody>
              <a:bodyPr lIns="0" tIns="0" rIns="0" bIns="0"/>
              <a:lstStyle/>
              <a:p>
                <a:pPr algn="just"/>
                <a:r>
                  <a:rPr lang="zh-CN" altLang="en-US" sz="1000" dirty="0">
                    <a:latin typeface="Arial" panose="020B0604020202020204" pitchFamily="34" charset="0"/>
                  </a:rPr>
                  <a:t>现场动力</a:t>
                </a:r>
                <a:endParaRPr lang="zh-CN" altLang="en-US" u="sng" dirty="0">
                  <a:latin typeface="Arial" panose="020B0604020202020204" pitchFamily="34" charset="0"/>
                </a:endParaRPr>
              </a:p>
            </p:txBody>
          </p:sp>
          <p:sp>
            <p:nvSpPr>
              <p:cNvPr id="18442" name="Text Box 73"/>
              <p:cNvSpPr txBox="1"/>
              <p:nvPr/>
            </p:nvSpPr>
            <p:spPr>
              <a:xfrm>
                <a:off x="3851" y="4877"/>
                <a:ext cx="1438" cy="321"/>
              </a:xfrm>
              <a:prstGeom prst="rect">
                <a:avLst/>
              </a:prstGeom>
              <a:ln>
                <a:noFill/>
              </a:ln>
              <a:effectLst>
                <a:softEdge rad="112500"/>
              </a:effectLst>
            </p:spPr>
            <p:txBody>
              <a:bodyPr lIns="0" tIns="0" rIns="0" bIns="0"/>
              <a:lstStyle/>
              <a:p>
                <a:pPr algn="just"/>
                <a:r>
                  <a:rPr lang="zh-CN" altLang="en-US" sz="1000" dirty="0">
                    <a:latin typeface="Arial" panose="020B0604020202020204" pitchFamily="34" charset="0"/>
                  </a:rPr>
                  <a:t>游车大钩</a:t>
                </a:r>
                <a:endParaRPr lang="zh-CN" altLang="en-US" u="sng" dirty="0">
                  <a:latin typeface="Arial" panose="020B0604020202020204" pitchFamily="34" charset="0"/>
                </a:endParaRPr>
              </a:p>
            </p:txBody>
          </p:sp>
          <p:sp>
            <p:nvSpPr>
              <p:cNvPr id="18443" name="Line 74"/>
              <p:cNvSpPr/>
              <p:nvPr/>
            </p:nvSpPr>
            <p:spPr>
              <a:xfrm flipH="1" flipV="1">
                <a:off x="5171" y="5043"/>
                <a:ext cx="1200" cy="652"/>
              </a:xfrm>
              <a:prstGeom prst="line">
                <a:avLst/>
              </a:prstGeom>
              <a:ln>
                <a:noFill/>
              </a:ln>
              <a:effectLst>
                <a:softEdge rad="112500"/>
              </a:effectLst>
            </p:spPr>
          </p:sp>
          <p:sp>
            <p:nvSpPr>
              <p:cNvPr id="18444" name="Text Box 75"/>
              <p:cNvSpPr txBox="1"/>
              <p:nvPr/>
            </p:nvSpPr>
            <p:spPr>
              <a:xfrm>
                <a:off x="3851" y="5523"/>
                <a:ext cx="1438" cy="321"/>
              </a:xfrm>
              <a:prstGeom prst="rect">
                <a:avLst/>
              </a:prstGeom>
              <a:ln>
                <a:noFill/>
              </a:ln>
              <a:effectLst>
                <a:softEdge rad="112500"/>
              </a:effectLst>
            </p:spPr>
            <p:txBody>
              <a:bodyPr lIns="0" tIns="0" rIns="0" bIns="0"/>
              <a:lstStyle/>
              <a:p>
                <a:pPr algn="just"/>
                <a:r>
                  <a:rPr lang="zh-CN" altLang="en-US" sz="1000" dirty="0">
                    <a:latin typeface="Arial" panose="020B0604020202020204" pitchFamily="34" charset="0"/>
                  </a:rPr>
                  <a:t>顶驱装置本体</a:t>
                </a:r>
                <a:endParaRPr lang="zh-CN" altLang="en-US" u="sng" dirty="0">
                  <a:latin typeface="Arial" panose="020B0604020202020204" pitchFamily="34" charset="0"/>
                </a:endParaRPr>
              </a:p>
            </p:txBody>
          </p:sp>
          <p:sp>
            <p:nvSpPr>
              <p:cNvPr id="18445" name="Line 76"/>
              <p:cNvSpPr/>
              <p:nvPr/>
            </p:nvSpPr>
            <p:spPr>
              <a:xfrm flipH="1" flipV="1">
                <a:off x="5171" y="5698"/>
                <a:ext cx="1200" cy="489"/>
              </a:xfrm>
              <a:prstGeom prst="line">
                <a:avLst/>
              </a:prstGeom>
              <a:ln>
                <a:noFill/>
              </a:ln>
              <a:effectLst>
                <a:softEdge rad="112500"/>
              </a:effectLst>
            </p:spPr>
          </p:sp>
          <p:sp>
            <p:nvSpPr>
              <p:cNvPr id="18446" name="Text Box 77"/>
              <p:cNvSpPr txBox="1"/>
              <p:nvPr/>
            </p:nvSpPr>
            <p:spPr>
              <a:xfrm>
                <a:off x="3851" y="6495"/>
                <a:ext cx="1438" cy="321"/>
              </a:xfrm>
              <a:prstGeom prst="rect">
                <a:avLst/>
              </a:prstGeom>
              <a:ln>
                <a:noFill/>
              </a:ln>
              <a:effectLst>
                <a:softEdge rad="112500"/>
              </a:effectLst>
            </p:spPr>
            <p:txBody>
              <a:bodyPr lIns="0" tIns="0" rIns="0" bIns="0"/>
              <a:lstStyle/>
              <a:p>
                <a:pPr algn="just"/>
                <a:r>
                  <a:rPr lang="zh-CN" altLang="en-US" sz="1000" dirty="0">
                    <a:latin typeface="Arial" panose="020B0604020202020204" pitchFamily="34" charset="0"/>
                  </a:rPr>
                  <a:t>导轨</a:t>
                </a:r>
                <a:endParaRPr lang="zh-CN" altLang="en-US" u="sng" dirty="0">
                  <a:latin typeface="Arial" panose="020B0604020202020204" pitchFamily="34" charset="0"/>
                </a:endParaRPr>
              </a:p>
            </p:txBody>
          </p:sp>
          <p:sp>
            <p:nvSpPr>
              <p:cNvPr id="18447" name="Line 78"/>
              <p:cNvSpPr/>
              <p:nvPr/>
            </p:nvSpPr>
            <p:spPr>
              <a:xfrm flipH="1" flipV="1">
                <a:off x="5171" y="6676"/>
                <a:ext cx="1200" cy="489"/>
              </a:xfrm>
              <a:prstGeom prst="line">
                <a:avLst/>
              </a:prstGeom>
              <a:ln>
                <a:noFill/>
              </a:ln>
              <a:effectLst>
                <a:softEdge rad="112500"/>
              </a:effectLst>
            </p:spPr>
          </p:sp>
          <p:sp>
            <p:nvSpPr>
              <p:cNvPr id="18448" name="Text Box 79"/>
              <p:cNvSpPr txBox="1"/>
              <p:nvPr/>
            </p:nvSpPr>
            <p:spPr>
              <a:xfrm>
                <a:off x="3851" y="6978"/>
                <a:ext cx="1438" cy="321"/>
              </a:xfrm>
              <a:prstGeom prst="rect">
                <a:avLst/>
              </a:prstGeom>
              <a:ln>
                <a:noFill/>
              </a:ln>
              <a:effectLst>
                <a:softEdge rad="112500"/>
              </a:effectLst>
            </p:spPr>
            <p:txBody>
              <a:bodyPr lIns="0" tIns="0" rIns="0" bIns="0"/>
              <a:lstStyle/>
              <a:p>
                <a:pPr algn="just"/>
                <a:r>
                  <a:rPr lang="zh-CN" altLang="en-US" sz="1000" dirty="0">
                    <a:latin typeface="Arial" panose="020B0604020202020204" pitchFamily="34" charset="0"/>
                  </a:rPr>
                  <a:t>井架电缆架</a:t>
                </a:r>
                <a:endParaRPr lang="zh-CN" altLang="en-US" u="sng" dirty="0">
                  <a:latin typeface="Arial" panose="020B0604020202020204" pitchFamily="34" charset="0"/>
                </a:endParaRPr>
              </a:p>
            </p:txBody>
          </p:sp>
          <p:sp>
            <p:nvSpPr>
              <p:cNvPr id="18449" name="Line 80"/>
              <p:cNvSpPr/>
              <p:nvPr/>
            </p:nvSpPr>
            <p:spPr>
              <a:xfrm flipH="1" flipV="1">
                <a:off x="5171" y="7159"/>
                <a:ext cx="1440" cy="326"/>
              </a:xfrm>
              <a:prstGeom prst="line">
                <a:avLst/>
              </a:prstGeom>
              <a:ln>
                <a:noFill/>
              </a:ln>
              <a:effectLst>
                <a:softEdge rad="112500"/>
              </a:effectLst>
            </p:spPr>
          </p:sp>
          <p:sp>
            <p:nvSpPr>
              <p:cNvPr id="18450" name="Text Box 81"/>
              <p:cNvSpPr txBox="1"/>
              <p:nvPr/>
            </p:nvSpPr>
            <p:spPr>
              <a:xfrm>
                <a:off x="3851" y="7793"/>
                <a:ext cx="1438" cy="321"/>
              </a:xfrm>
              <a:prstGeom prst="rect">
                <a:avLst/>
              </a:prstGeom>
              <a:ln>
                <a:noFill/>
              </a:ln>
              <a:effectLst>
                <a:softEdge rad="112500"/>
              </a:effectLst>
            </p:spPr>
            <p:txBody>
              <a:bodyPr lIns="0" tIns="0" rIns="0" bIns="0"/>
              <a:lstStyle/>
              <a:p>
                <a:pPr algn="just"/>
                <a:r>
                  <a:rPr lang="zh-CN" altLang="en-US" sz="1000" dirty="0">
                    <a:latin typeface="Arial" panose="020B0604020202020204" pitchFamily="34" charset="0"/>
                  </a:rPr>
                  <a:t>水龙带</a:t>
                </a:r>
                <a:endParaRPr lang="zh-CN" altLang="en-US" u="sng" dirty="0">
                  <a:latin typeface="Arial" panose="020B0604020202020204" pitchFamily="34" charset="0"/>
                </a:endParaRPr>
              </a:p>
            </p:txBody>
          </p:sp>
          <p:sp>
            <p:nvSpPr>
              <p:cNvPr id="18451" name="Line 82"/>
              <p:cNvSpPr/>
              <p:nvPr/>
            </p:nvSpPr>
            <p:spPr>
              <a:xfrm flipH="1" flipV="1">
                <a:off x="5171" y="7974"/>
                <a:ext cx="1560" cy="326"/>
              </a:xfrm>
              <a:prstGeom prst="line">
                <a:avLst/>
              </a:prstGeom>
              <a:ln>
                <a:noFill/>
              </a:ln>
              <a:effectLst>
                <a:softEdge rad="112500"/>
              </a:effectLst>
            </p:spPr>
          </p:sp>
          <p:sp>
            <p:nvSpPr>
              <p:cNvPr id="18452" name="Text Box 83"/>
              <p:cNvSpPr txBox="1"/>
              <p:nvPr/>
            </p:nvSpPr>
            <p:spPr>
              <a:xfrm>
                <a:off x="3611" y="8605"/>
                <a:ext cx="1678" cy="321"/>
              </a:xfrm>
              <a:prstGeom prst="rect">
                <a:avLst/>
              </a:prstGeom>
              <a:ln>
                <a:noFill/>
              </a:ln>
              <a:effectLst>
                <a:softEdge rad="112500"/>
              </a:effectLst>
            </p:spPr>
            <p:txBody>
              <a:bodyPr lIns="0" tIns="0" rIns="0" bIns="0"/>
              <a:lstStyle/>
              <a:p>
                <a:pPr algn="just"/>
                <a:r>
                  <a:rPr lang="zh-CN" altLang="en-US" sz="1000" dirty="0">
                    <a:latin typeface="Arial" panose="020B0604020202020204" pitchFamily="34" charset="0"/>
                  </a:rPr>
                  <a:t>动力及控制管缆</a:t>
                </a:r>
                <a:endParaRPr lang="zh-CN" altLang="en-US" u="sng" dirty="0">
                  <a:latin typeface="Arial" panose="020B0604020202020204" pitchFamily="34" charset="0"/>
                </a:endParaRPr>
              </a:p>
            </p:txBody>
          </p:sp>
          <p:sp>
            <p:nvSpPr>
              <p:cNvPr id="18453" name="Line 84"/>
              <p:cNvSpPr/>
              <p:nvPr/>
            </p:nvSpPr>
            <p:spPr>
              <a:xfrm flipH="1" flipV="1">
                <a:off x="5171" y="8789"/>
                <a:ext cx="1680" cy="326"/>
              </a:xfrm>
              <a:prstGeom prst="line">
                <a:avLst/>
              </a:prstGeom>
              <a:ln>
                <a:noFill/>
              </a:ln>
              <a:effectLst>
                <a:softEdge rad="112500"/>
              </a:effectLst>
            </p:spPr>
          </p:sp>
          <p:sp>
            <p:nvSpPr>
              <p:cNvPr id="18454" name="Text Box 85"/>
              <p:cNvSpPr txBox="1"/>
              <p:nvPr/>
            </p:nvSpPr>
            <p:spPr>
              <a:xfrm>
                <a:off x="3851" y="10075"/>
                <a:ext cx="1438" cy="321"/>
              </a:xfrm>
              <a:prstGeom prst="rect">
                <a:avLst/>
              </a:prstGeom>
              <a:ln>
                <a:noFill/>
              </a:ln>
              <a:effectLst>
                <a:softEdge rad="112500"/>
              </a:effectLst>
            </p:spPr>
            <p:txBody>
              <a:bodyPr lIns="0" tIns="0" rIns="0" bIns="0"/>
              <a:lstStyle/>
              <a:p>
                <a:pPr algn="just"/>
                <a:r>
                  <a:rPr lang="zh-CN" altLang="en-US" sz="1000" dirty="0">
                    <a:latin typeface="Arial" panose="020B0604020202020204" pitchFamily="34" charset="0"/>
                  </a:rPr>
                  <a:t>反扭矩梁</a:t>
                </a:r>
                <a:endParaRPr lang="zh-CN" altLang="en-US" u="sng" dirty="0">
                  <a:latin typeface="Arial" panose="020B0604020202020204" pitchFamily="34" charset="0"/>
                </a:endParaRPr>
              </a:p>
            </p:txBody>
          </p:sp>
          <p:sp>
            <p:nvSpPr>
              <p:cNvPr id="18455" name="Line 86"/>
              <p:cNvSpPr/>
              <p:nvPr/>
            </p:nvSpPr>
            <p:spPr>
              <a:xfrm flipH="1" flipV="1">
                <a:off x="5171" y="10250"/>
                <a:ext cx="720" cy="664"/>
              </a:xfrm>
              <a:prstGeom prst="line">
                <a:avLst/>
              </a:prstGeom>
              <a:ln>
                <a:noFill/>
              </a:ln>
              <a:effectLst>
                <a:softEdge rad="112500"/>
              </a:effectLst>
            </p:spPr>
          </p:sp>
          <p:sp>
            <p:nvSpPr>
              <p:cNvPr id="18456" name="Text Box 87"/>
              <p:cNvSpPr txBox="1"/>
              <p:nvPr/>
            </p:nvSpPr>
            <p:spPr>
              <a:xfrm>
                <a:off x="3371" y="10567"/>
                <a:ext cx="1438" cy="321"/>
              </a:xfrm>
              <a:prstGeom prst="rect">
                <a:avLst/>
              </a:prstGeom>
              <a:ln>
                <a:noFill/>
              </a:ln>
              <a:effectLst>
                <a:softEdge rad="112500"/>
              </a:effectLst>
            </p:spPr>
            <p:txBody>
              <a:bodyPr lIns="0" tIns="0" rIns="0" bIns="0"/>
              <a:lstStyle/>
              <a:p>
                <a:pPr algn="just"/>
                <a:r>
                  <a:rPr lang="zh-CN" altLang="en-US" sz="1000" dirty="0">
                    <a:latin typeface="Arial" panose="020B0604020202020204" pitchFamily="34" charset="0"/>
                  </a:rPr>
                  <a:t>司钻操作台</a:t>
                </a:r>
                <a:endParaRPr lang="zh-CN" altLang="en-US" u="sng" dirty="0">
                  <a:latin typeface="Arial" panose="020B0604020202020204" pitchFamily="34" charset="0"/>
                </a:endParaRPr>
              </a:p>
            </p:txBody>
          </p:sp>
          <p:sp>
            <p:nvSpPr>
              <p:cNvPr id="18457" name="Line 88"/>
              <p:cNvSpPr/>
              <p:nvPr/>
            </p:nvSpPr>
            <p:spPr>
              <a:xfrm flipH="1" flipV="1">
                <a:off x="4691" y="10748"/>
                <a:ext cx="360" cy="489"/>
              </a:xfrm>
              <a:prstGeom prst="line">
                <a:avLst/>
              </a:prstGeom>
              <a:ln>
                <a:noFill/>
              </a:ln>
              <a:effectLst>
                <a:softEdge rad="112500"/>
              </a:effectLst>
            </p:spPr>
          </p:sp>
        </p:grpSp>
      </p:gr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bwMode="auto">
          <a:xfrm>
            <a:off x="222492" y="908720"/>
            <a:ext cx="4968552" cy="5544616"/>
          </a:xfrm>
          <a:prstGeom prst="rect">
            <a:avLst/>
          </a:prstGeom>
          <a:noFill/>
          <a:ln w="9525">
            <a:noFill/>
            <a:miter lim="800000"/>
          </a:ln>
        </p:spPr>
        <p:txBody>
          <a:bodyPr/>
          <a:lstStyle/>
          <a:p>
            <a:pPr marL="0" marR="0" lvl="8" indent="0" algn="l" defTabSz="914400" rtl="0" eaLnBrk="0" fontAlgn="auto" latinLnBrk="0" hangingPunct="0">
              <a:lnSpc>
                <a:spcPct val="130000"/>
              </a:lnSpc>
              <a:spcBef>
                <a:spcPts val="800"/>
              </a:spcBef>
              <a:spcAft>
                <a:spcPts val="800"/>
              </a:spcAft>
              <a:buClr>
                <a:srgbClr val="0070C0"/>
              </a:buClr>
              <a:buSzPct val="120000"/>
              <a:buFont typeface="Wingdings" panose="05000000000000000000" pitchFamily="2" charset="2"/>
              <a:buChar char="v"/>
              <a:defRPr/>
            </a:pPr>
            <a:r>
              <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0" u="sng"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顶驱 </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或</a:t>
            </a:r>
            <a:r>
              <a:rPr kumimoji="0" lang="zh-CN" altLang="en-US"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 顶驱装置 </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，是</a:t>
            </a:r>
            <a:r>
              <a:rPr kumimoji="0" lang="zh-CN" altLang="en-US"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zh-CN" altLang="zh-CN"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石油钻机顶部驱动钻井装置</a:t>
            </a:r>
            <a:r>
              <a:rPr kumimoji="0" lang="en-US" altLang="zh-CN"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的简称。</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是</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20</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世纪</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80</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年代出现的一种新型钻井装备。与采用方钻杆和转盘的传统钻进方式不同，顶驱装置由动力水龙头和管子处理装置等组成，可以在井架空间上部直接驱动钻柱旋转并沿专用导轨向下送进，完成</a:t>
            </a:r>
            <a:r>
              <a:rPr lang="zh-CN" altLang="zh-CN" sz="1800" b="1" noProof="0" dirty="0">
                <a:ln>
                  <a:noFill/>
                </a:ln>
                <a:solidFill>
                  <a:srgbClr val="FF0000"/>
                </a:solidFill>
                <a:effectLst/>
                <a:uLnTx/>
                <a:uFillTx/>
                <a:latin typeface="Arial" panose="020B0604020202020204" pitchFamily="34" charset="0"/>
                <a:ea typeface="黑体" panose="02010609060101010101" pitchFamily="49" charset="-122"/>
                <a:cs typeface="Arial" panose="020B0604020202020204" pitchFamily="34" charset="0"/>
                <a:sym typeface="+mn-ea"/>
              </a:rPr>
              <a:t>旋转钻进、循环钻井液、接立根、上卸扣、倒划眼</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等多种钻井操作。</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endParaRPr>
          </a:p>
          <a:p>
            <a:pPr marL="0" marR="0" lvl="8" indent="0" algn="l" defTabSz="914400" rtl="0" eaLnBrk="0" fontAlgn="auto" latinLnBrk="0" hangingPunct="0">
              <a:lnSpc>
                <a:spcPct val="130000"/>
              </a:lnSpc>
              <a:spcBef>
                <a:spcPts val="800"/>
              </a:spcBef>
              <a:spcAft>
                <a:spcPts val="800"/>
              </a:spcAft>
              <a:buClr>
                <a:srgbClr val="0070C0"/>
              </a:buClr>
              <a:buSzPct val="120000"/>
              <a:buFont typeface="Wingdings" panose="05000000000000000000" pitchFamily="2" charset="2"/>
              <a:buChar char="v"/>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由于顶驱装置显著提高了钻井作业的能力、效率和安全性，是减少钻井复杂、降低风险、避免钻井事故最有效的技术手段之一，实现了钻机自动化过程的阶段性跨越，被誉为近代钻井装备的革命性技术成果之一。</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endParaRPr>
          </a:p>
          <a:p>
            <a:pPr marL="0" marR="0" lvl="8" indent="0" algn="l" defTabSz="914400" rtl="0" eaLnBrk="0" fontAlgn="auto" latinLnBrk="0" hangingPunct="0">
              <a:lnSpc>
                <a:spcPct val="130000"/>
              </a:lnSpc>
              <a:spcBef>
                <a:spcPts val="800"/>
              </a:spcBef>
              <a:spcAft>
                <a:spcPts val="800"/>
              </a:spcAft>
              <a:buClr>
                <a:srgbClr val="0070C0"/>
              </a:buClr>
              <a:buSzPct val="120000"/>
              <a:buFont typeface="Wingdings" panose="05000000000000000000" pitchFamily="2" charset="2"/>
              <a:buChar char="v"/>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endParaRPr>
          </a:p>
          <a:p>
            <a:pPr marL="0" marR="0" lvl="8" indent="0" algn="l" defTabSz="914400" rtl="0" eaLnBrk="0" fontAlgn="auto" latinLnBrk="0" hangingPunct="0">
              <a:lnSpc>
                <a:spcPct val="130000"/>
              </a:lnSpc>
              <a:spcBef>
                <a:spcPts val="800"/>
              </a:spcBef>
              <a:spcAft>
                <a:spcPts val="800"/>
              </a:spcAft>
              <a:buClr>
                <a:srgbClr val="0070C0"/>
              </a:buClr>
              <a:buSzPct val="120000"/>
              <a:buFont typeface="Wingdings" panose="05000000000000000000" pitchFamily="2" charset="2"/>
              <a:buChar char="v"/>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endParaRPr>
          </a:p>
        </p:txBody>
      </p:sp>
      <p:pic>
        <p:nvPicPr>
          <p:cNvPr id="6" name="图片 5"/>
          <p:cNvPicPr>
            <a:picLocks noChangeAspect="1"/>
          </p:cNvPicPr>
          <p:nvPr/>
        </p:nvPicPr>
        <p:blipFill>
          <a:blip r:embed="rId3" cstate="print"/>
          <a:stretch>
            <a:fillRect/>
          </a:stretch>
        </p:blipFill>
        <p:spPr>
          <a:xfrm>
            <a:off x="5064001" y="1052736"/>
            <a:ext cx="3915001" cy="5219999"/>
          </a:xfrm>
          <a:prstGeom prst="rect">
            <a:avLst/>
          </a:prstGeom>
          <a:ln>
            <a:noFill/>
          </a:ln>
          <a:effectLst>
            <a:softEdge rad="112500"/>
          </a:effectLst>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bwMode="auto">
          <a:xfrm>
            <a:off x="222492" y="908720"/>
            <a:ext cx="4968552" cy="5544616"/>
          </a:xfrm>
          <a:prstGeom prst="rect">
            <a:avLst/>
          </a:prstGeom>
          <a:noFill/>
          <a:ln w="9525">
            <a:noFill/>
            <a:miter lim="800000"/>
          </a:ln>
        </p:spPr>
        <p:txBody>
          <a:bodyPr/>
          <a:lstStyle/>
          <a:p>
            <a:pPr marL="0" marR="0" lvl="8" indent="0" algn="l" defTabSz="914400" rtl="0" eaLnBrk="0" fontAlgn="auto" latinLnBrk="0" hangingPunct="0">
              <a:lnSpc>
                <a:spcPct val="130000"/>
              </a:lnSpc>
              <a:spcBef>
                <a:spcPts val="800"/>
              </a:spcBef>
              <a:spcAft>
                <a:spcPts val="800"/>
              </a:spcAft>
              <a:buClr>
                <a:srgbClr val="0070C0"/>
              </a:buClr>
              <a:buSzPct val="120000"/>
              <a:buFont typeface="Wingdings" panose="05000000000000000000" pitchFamily="2" charset="2"/>
              <a:buChar char="v"/>
              <a:defRPr/>
            </a:pPr>
            <a:r>
              <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0" u="sng"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顶驱 </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或</a:t>
            </a:r>
            <a:r>
              <a:rPr kumimoji="0" lang="zh-CN" altLang="en-US"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 顶驱装置 </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，是</a:t>
            </a:r>
            <a:r>
              <a:rPr kumimoji="0" lang="zh-CN" altLang="en-US"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zh-CN" altLang="zh-CN"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石油钻机顶部驱动钻井装置</a:t>
            </a:r>
            <a:r>
              <a:rPr kumimoji="0" lang="en-US" altLang="zh-CN"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的简称。</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是</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20</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世纪</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80</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年代出现的一种新型钻井装备。与采用方钻杆和转盘的传统钻进方式不同，顶驱装置由动力水龙头和管子处理装置等组成，可以在井架空间上部直接驱动钻柱旋转并沿专用导轨向下送进，完成</a:t>
            </a:r>
            <a:r>
              <a:rPr kumimoji="0" lang="zh-CN" altLang="zh-CN" sz="1800" b="1"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cs typeface="Arial" panose="020B0604020202020204" pitchFamily="34" charset="0"/>
              </a:rPr>
              <a:t>旋转钻进、循环钻井液、接立根、上卸扣、倒划眼</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等多种钻井操作。</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endParaRPr>
          </a:p>
          <a:p>
            <a:pPr marL="0" marR="0" lvl="8" indent="0" algn="l" defTabSz="914400" rtl="0" eaLnBrk="0" fontAlgn="auto" latinLnBrk="0" hangingPunct="0">
              <a:lnSpc>
                <a:spcPct val="130000"/>
              </a:lnSpc>
              <a:spcBef>
                <a:spcPts val="800"/>
              </a:spcBef>
              <a:spcAft>
                <a:spcPts val="800"/>
              </a:spcAft>
              <a:buClr>
                <a:srgbClr val="0070C0"/>
              </a:buClr>
              <a:buSzPct val="120000"/>
              <a:buFont typeface="Wingdings" panose="05000000000000000000" pitchFamily="2" charset="2"/>
              <a:buChar char="v"/>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由于顶驱装置显著提高了钻井作业的能力、效率和安全性，是减少钻井复杂、降低风险、避免钻井事故最有效的技术手段之一，实现了钻机自动化过程的阶段性跨越，被誉为近代钻井装备的革命性技术成果之一。</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endParaRPr>
          </a:p>
          <a:p>
            <a:pPr marL="0" marR="0" lvl="8" indent="0" algn="l" defTabSz="914400" rtl="0" eaLnBrk="0" fontAlgn="auto" latinLnBrk="0" hangingPunct="0">
              <a:lnSpc>
                <a:spcPct val="130000"/>
              </a:lnSpc>
              <a:spcBef>
                <a:spcPts val="800"/>
              </a:spcBef>
              <a:spcAft>
                <a:spcPts val="800"/>
              </a:spcAft>
              <a:buClr>
                <a:srgbClr val="0070C0"/>
              </a:buClr>
              <a:buSzPct val="120000"/>
              <a:buFont typeface="Wingdings" panose="05000000000000000000" pitchFamily="2" charset="2"/>
              <a:buChar char="v"/>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endParaRPr>
          </a:p>
          <a:p>
            <a:pPr marL="0" marR="0" lvl="8" indent="0" algn="l" defTabSz="914400" rtl="0" eaLnBrk="0" fontAlgn="auto" latinLnBrk="0" hangingPunct="0">
              <a:lnSpc>
                <a:spcPct val="130000"/>
              </a:lnSpc>
              <a:spcBef>
                <a:spcPts val="800"/>
              </a:spcBef>
              <a:spcAft>
                <a:spcPts val="800"/>
              </a:spcAft>
              <a:buClr>
                <a:srgbClr val="0070C0"/>
              </a:buClr>
              <a:buSzPct val="120000"/>
              <a:buFont typeface="Wingdings" panose="05000000000000000000" pitchFamily="2" charset="2"/>
              <a:buChar char="v"/>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endParaRPr>
          </a:p>
        </p:txBody>
      </p:sp>
      <p:pic>
        <p:nvPicPr>
          <p:cNvPr id="3" name="图片 2"/>
          <p:cNvPicPr>
            <a:picLocks noChangeAspect="1"/>
          </p:cNvPicPr>
          <p:nvPr/>
        </p:nvPicPr>
        <p:blipFill>
          <a:blip r:embed="rId3" cstate="print"/>
          <a:stretch>
            <a:fillRect/>
          </a:stretch>
        </p:blipFill>
        <p:spPr>
          <a:xfrm>
            <a:off x="5033076" y="1017327"/>
            <a:ext cx="4023000" cy="5364000"/>
          </a:xfrm>
          <a:prstGeom prst="rect">
            <a:avLst/>
          </a:prstGeom>
          <a:ln>
            <a:noFill/>
          </a:ln>
          <a:effectLst>
            <a:softEdge rad="112500"/>
          </a:effectLst>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bwMode="auto">
          <a:xfrm>
            <a:off x="222492" y="908720"/>
            <a:ext cx="4968552" cy="5544616"/>
          </a:xfrm>
          <a:prstGeom prst="rect">
            <a:avLst/>
          </a:prstGeom>
          <a:noFill/>
          <a:ln w="9525">
            <a:noFill/>
            <a:miter lim="800000"/>
          </a:ln>
        </p:spPr>
        <p:txBody>
          <a:bodyPr/>
          <a:lstStyle/>
          <a:p>
            <a:pPr marL="0" marR="0" lvl="8" indent="0" algn="l" defTabSz="914400" rtl="0" eaLnBrk="0" fontAlgn="auto" latinLnBrk="0" hangingPunct="0">
              <a:lnSpc>
                <a:spcPct val="130000"/>
              </a:lnSpc>
              <a:spcBef>
                <a:spcPts val="800"/>
              </a:spcBef>
              <a:spcAft>
                <a:spcPts val="800"/>
              </a:spcAft>
              <a:buClr>
                <a:srgbClr val="0070C0"/>
              </a:buClr>
              <a:buSzPct val="120000"/>
              <a:buFont typeface="Wingdings" panose="05000000000000000000" pitchFamily="2" charset="2"/>
              <a:buChar char="v"/>
              <a:defRPr/>
            </a:pPr>
            <a:r>
              <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0" u="sng"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顶驱 </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或</a:t>
            </a:r>
            <a:r>
              <a:rPr kumimoji="0" lang="zh-CN" altLang="en-US"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 顶驱装置 </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，是</a:t>
            </a:r>
            <a:r>
              <a:rPr kumimoji="0" lang="zh-CN" altLang="en-US"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zh-CN" altLang="zh-CN"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石油钻机顶部驱动钻井装置</a:t>
            </a:r>
            <a:r>
              <a:rPr kumimoji="0" lang="en-US" altLang="zh-CN" sz="1800" b="0" i="0" u="sng"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的简称。</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是</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20</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世纪</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80</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年代出现的一种新型钻井装备。与采用方钻杆和转盘的传统钻进方式不同，顶驱装置由动力水龙头和管子处理装置等组成，可以在井架空间上部直接驱动钻柱旋转并沿专用导轨向下送进，完成</a:t>
            </a:r>
            <a:r>
              <a:rPr lang="zh-CN" altLang="zh-CN" sz="1800" b="1" noProof="0" dirty="0">
                <a:ln>
                  <a:noFill/>
                </a:ln>
                <a:solidFill>
                  <a:srgbClr val="FF0000"/>
                </a:solidFill>
                <a:effectLst/>
                <a:uLnTx/>
                <a:uFillTx/>
                <a:latin typeface="Arial" panose="020B0604020202020204" pitchFamily="34" charset="0"/>
                <a:ea typeface="黑体" panose="02010609060101010101" pitchFamily="49" charset="-122"/>
                <a:cs typeface="Arial" panose="020B0604020202020204" pitchFamily="34" charset="0"/>
                <a:sym typeface="+mn-ea"/>
              </a:rPr>
              <a:t>旋转钻进、循环钻井液、接立根、上卸扣、倒划眼</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等多种钻井操作。</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endParaRPr>
          </a:p>
          <a:p>
            <a:pPr marL="0" marR="0" lvl="8" indent="0" algn="l" defTabSz="914400" rtl="0" eaLnBrk="0" fontAlgn="auto" latinLnBrk="0" hangingPunct="0">
              <a:lnSpc>
                <a:spcPct val="130000"/>
              </a:lnSpc>
              <a:spcBef>
                <a:spcPts val="800"/>
              </a:spcBef>
              <a:spcAft>
                <a:spcPts val="800"/>
              </a:spcAft>
              <a:buClr>
                <a:srgbClr val="0070C0"/>
              </a:buClr>
              <a:buSzPct val="120000"/>
              <a:buFont typeface="Wingdings" panose="05000000000000000000" pitchFamily="2" charset="2"/>
              <a:buChar char="v"/>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rPr>
              <a:t>由于顶驱装置显著提高了钻井作业的能力、效率和安全性，是减少钻井复杂、降低风险、避免钻井事故最有效的技术手段之一，实现了钻机自动化过程的阶段性跨越，被誉为近代钻井装备的革命性技术成果之一。</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endParaRPr>
          </a:p>
          <a:p>
            <a:pPr marL="0" marR="0" lvl="8" indent="0" algn="l" defTabSz="914400" rtl="0" eaLnBrk="0" fontAlgn="auto" latinLnBrk="0" hangingPunct="0">
              <a:lnSpc>
                <a:spcPct val="130000"/>
              </a:lnSpc>
              <a:spcBef>
                <a:spcPts val="800"/>
              </a:spcBef>
              <a:spcAft>
                <a:spcPts val="800"/>
              </a:spcAft>
              <a:buClr>
                <a:srgbClr val="0070C0"/>
              </a:buClr>
              <a:buSzPct val="120000"/>
              <a:buFont typeface="Wingdings" panose="05000000000000000000" pitchFamily="2" charset="2"/>
              <a:buChar char="v"/>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endParaRPr>
          </a:p>
          <a:p>
            <a:pPr marL="0" marR="0" lvl="8" indent="0" algn="l" defTabSz="914400" rtl="0" eaLnBrk="0" fontAlgn="auto" latinLnBrk="0" hangingPunct="0">
              <a:lnSpc>
                <a:spcPct val="130000"/>
              </a:lnSpc>
              <a:spcBef>
                <a:spcPts val="800"/>
              </a:spcBef>
              <a:spcAft>
                <a:spcPts val="800"/>
              </a:spcAft>
              <a:buClr>
                <a:srgbClr val="0070C0"/>
              </a:buClr>
              <a:buSzPct val="120000"/>
              <a:buFont typeface="Wingdings" panose="05000000000000000000" pitchFamily="2" charset="2"/>
              <a:buChar char="v"/>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Arial" panose="020B0604020202020204" pitchFamily="34" charset="0"/>
            </a:endParaRPr>
          </a:p>
        </p:txBody>
      </p:sp>
      <p:pic>
        <p:nvPicPr>
          <p:cNvPr id="4" name="图片 3"/>
          <p:cNvPicPr>
            <a:picLocks noChangeAspect="1"/>
          </p:cNvPicPr>
          <p:nvPr/>
        </p:nvPicPr>
        <p:blipFill>
          <a:blip r:embed="rId3" cstate="print"/>
          <a:stretch>
            <a:fillRect/>
          </a:stretch>
        </p:blipFill>
        <p:spPr>
          <a:xfrm>
            <a:off x="5033532" y="1010363"/>
            <a:ext cx="3995999" cy="5328000"/>
          </a:xfrm>
          <a:prstGeom prst="rect">
            <a:avLst/>
          </a:prstGeom>
          <a:ln>
            <a:noFill/>
          </a:ln>
          <a:effectLst>
            <a:softEdge rad="112500"/>
          </a:effectLst>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4"/>
          <p:cNvPicPr>
            <a:picLocks noChangeAspect="1"/>
          </p:cNvPicPr>
          <p:nvPr/>
        </p:nvPicPr>
        <p:blipFill>
          <a:blip r:embed="rId3"/>
          <a:stretch>
            <a:fillRect/>
          </a:stretch>
        </p:blipFill>
        <p:spPr>
          <a:xfrm>
            <a:off x="107950" y="836613"/>
            <a:ext cx="3846513" cy="5724525"/>
          </a:xfrm>
          <a:prstGeom prst="rect">
            <a:avLst/>
          </a:prstGeom>
          <a:noFill/>
          <a:ln w="9525">
            <a:noFill/>
          </a:ln>
        </p:spPr>
      </p:pic>
      <p:grpSp>
        <p:nvGrpSpPr>
          <p:cNvPr id="34" name="组合 33"/>
          <p:cNvGrpSpPr/>
          <p:nvPr/>
        </p:nvGrpSpPr>
        <p:grpSpPr>
          <a:xfrm>
            <a:off x="3763645" y="910590"/>
            <a:ext cx="5214620" cy="4936490"/>
            <a:chOff x="1268" y="1995"/>
            <a:chExt cx="11782" cy="7774"/>
          </a:xfrm>
        </p:grpSpPr>
        <p:sp>
          <p:nvSpPr>
            <p:cNvPr id="35" name="Rectangle 12"/>
            <p:cNvSpPr>
              <a:spLocks noChangeArrowheads="1"/>
            </p:cNvSpPr>
            <p:nvPr/>
          </p:nvSpPr>
          <p:spPr bwMode="gray">
            <a:xfrm>
              <a:off x="10113" y="8987"/>
              <a:ext cx="2683" cy="672"/>
            </a:xfrm>
            <a:prstGeom prst="rect">
              <a:avLst/>
            </a:prstGeom>
            <a:solidFill>
              <a:srgbClr val="99FF66"/>
            </a:solidFill>
            <a:ln w="9525" algn="ctr">
              <a:noFill/>
              <a:miter lim="800000"/>
            </a:ln>
            <a:effectLst/>
          </p:spPr>
          <p:txBody>
            <a:bodyPr wrap="none" anchor="ctr"/>
            <a:lstStyle/>
            <a:p>
              <a:pPr algn="ctr" eaLnBrk="1" hangingPunct="1">
                <a:defRPr/>
              </a:pPr>
              <a:endParaRPr lang="en-US" altLang="zh-CN" dirty="0">
                <a:solidFill>
                  <a:srgbClr val="000000"/>
                </a:solidFill>
                <a:effectLst>
                  <a:outerShdw blurRad="38100" dist="38100" dir="2700000" algn="tl">
                    <a:srgbClr val="FFFFFF"/>
                  </a:outerShdw>
                </a:effectLst>
                <a:latin typeface="Arial" panose="020B0604020202020204" pitchFamily="34" charset="0"/>
                <a:ea typeface="宋体" panose="02010600030101010101" pitchFamily="2" charset="-122"/>
              </a:endParaRPr>
            </a:p>
          </p:txBody>
        </p:sp>
        <p:sp>
          <p:nvSpPr>
            <p:cNvPr id="36" name="Rectangle 12"/>
            <p:cNvSpPr>
              <a:spLocks noChangeArrowheads="1"/>
            </p:cNvSpPr>
            <p:nvPr/>
          </p:nvSpPr>
          <p:spPr bwMode="gray">
            <a:xfrm>
              <a:off x="10115" y="7752"/>
              <a:ext cx="2682" cy="1235"/>
            </a:xfrm>
            <a:prstGeom prst="rect">
              <a:avLst/>
            </a:prstGeom>
            <a:solidFill>
              <a:srgbClr val="F2E160"/>
            </a:solidFill>
            <a:ln w="9525" algn="ctr">
              <a:noFill/>
              <a:miter lim="800000"/>
            </a:ln>
            <a:effectLst/>
          </p:spPr>
          <p:txBody>
            <a:bodyPr wrap="none" anchor="ctr"/>
            <a:lstStyle/>
            <a:p>
              <a:pPr algn="ctr" eaLnBrk="1" hangingPunct="1">
                <a:defRPr/>
              </a:pPr>
              <a:endParaRPr lang="en-US" altLang="zh-CN" dirty="0">
                <a:solidFill>
                  <a:srgbClr val="000000"/>
                </a:solidFill>
                <a:effectLst>
                  <a:outerShdw blurRad="38100" dist="38100" dir="2700000" algn="tl">
                    <a:srgbClr val="FFFFFF"/>
                  </a:outerShdw>
                </a:effectLst>
                <a:latin typeface="Arial" panose="020B0604020202020204" pitchFamily="34" charset="0"/>
                <a:ea typeface="宋体" panose="02010600030101010101" pitchFamily="2" charset="-122"/>
              </a:endParaRPr>
            </a:p>
          </p:txBody>
        </p:sp>
        <p:sp>
          <p:nvSpPr>
            <p:cNvPr id="37" name="Rectangle 6"/>
            <p:cNvSpPr>
              <a:spLocks noChangeArrowheads="1"/>
            </p:cNvSpPr>
            <p:nvPr/>
          </p:nvSpPr>
          <p:spPr bwMode="gray">
            <a:xfrm>
              <a:off x="10132" y="2030"/>
              <a:ext cx="2664" cy="725"/>
            </a:xfrm>
            <a:prstGeom prst="rect">
              <a:avLst/>
            </a:prstGeom>
            <a:solidFill>
              <a:srgbClr val="33CCCC"/>
            </a:solidFill>
            <a:ln w="9525" algn="ctr">
              <a:noFill/>
              <a:miter lim="800000"/>
            </a:ln>
            <a:effectLst/>
          </p:spPr>
          <p:txBody>
            <a:bodyPr wrap="none" anchor="ctr"/>
            <a:lstStyle/>
            <a:p>
              <a:pPr algn="ctr" eaLnBrk="1" hangingPunct="1">
                <a:defRPr/>
              </a:pPr>
              <a:endParaRPr lang="en-US" altLang="zh-CN" dirty="0">
                <a:solidFill>
                  <a:srgbClr val="000000"/>
                </a:solidFill>
                <a:effectLst>
                  <a:outerShdw blurRad="38100" dist="38100" dir="2700000" algn="tl">
                    <a:srgbClr val="FFFFFF"/>
                  </a:outerShdw>
                </a:effectLst>
                <a:latin typeface="Arial" panose="020B0604020202020204" pitchFamily="34" charset="0"/>
                <a:ea typeface="宋体" panose="02010600030101010101" pitchFamily="2" charset="-122"/>
              </a:endParaRPr>
            </a:p>
          </p:txBody>
        </p:sp>
        <p:sp>
          <p:nvSpPr>
            <p:cNvPr id="38" name="Rectangle 9"/>
            <p:cNvSpPr>
              <a:spLocks noChangeArrowheads="1"/>
            </p:cNvSpPr>
            <p:nvPr/>
          </p:nvSpPr>
          <p:spPr bwMode="gray">
            <a:xfrm>
              <a:off x="10130" y="2755"/>
              <a:ext cx="2666" cy="1797"/>
            </a:xfrm>
            <a:prstGeom prst="rect">
              <a:avLst/>
            </a:prstGeom>
            <a:solidFill>
              <a:srgbClr val="A77BFF"/>
            </a:solidFill>
            <a:ln w="9525" algn="ctr">
              <a:noFill/>
              <a:miter lim="800000"/>
            </a:ln>
            <a:effectLst/>
          </p:spPr>
          <p:txBody>
            <a:bodyPr wrap="none" anchor="ctr"/>
            <a:lstStyle/>
            <a:p>
              <a:pPr algn="ctr" eaLnBrk="1" hangingPunct="1">
                <a:defRPr/>
              </a:pPr>
              <a:endParaRPr lang="en-US" altLang="zh-CN" dirty="0">
                <a:solidFill>
                  <a:srgbClr val="000000"/>
                </a:solidFill>
                <a:effectLst>
                  <a:outerShdw blurRad="38100" dist="38100" dir="2700000" algn="tl">
                    <a:srgbClr val="FFFFFF"/>
                  </a:outerShdw>
                </a:effectLst>
                <a:latin typeface="Arial" panose="020B0604020202020204" pitchFamily="34" charset="0"/>
                <a:ea typeface="宋体" panose="02010600030101010101" pitchFamily="2" charset="-122"/>
              </a:endParaRPr>
            </a:p>
          </p:txBody>
        </p:sp>
        <p:sp>
          <p:nvSpPr>
            <p:cNvPr id="39" name="Rectangle 12"/>
            <p:cNvSpPr>
              <a:spLocks noChangeArrowheads="1"/>
            </p:cNvSpPr>
            <p:nvPr/>
          </p:nvSpPr>
          <p:spPr bwMode="gray">
            <a:xfrm>
              <a:off x="10132" y="5172"/>
              <a:ext cx="2664" cy="1907"/>
            </a:xfrm>
            <a:prstGeom prst="rect">
              <a:avLst/>
            </a:prstGeom>
            <a:solidFill>
              <a:srgbClr val="FF9966"/>
            </a:solidFill>
            <a:ln w="9525" algn="ctr">
              <a:noFill/>
              <a:miter lim="800000"/>
            </a:ln>
            <a:effectLst/>
          </p:spPr>
          <p:txBody>
            <a:bodyPr wrap="none" anchor="ctr"/>
            <a:lstStyle/>
            <a:p>
              <a:pPr algn="ctr" eaLnBrk="1" hangingPunct="1">
                <a:defRPr/>
              </a:pPr>
              <a:endParaRPr lang="en-US" altLang="zh-CN" dirty="0">
                <a:solidFill>
                  <a:srgbClr val="000000"/>
                </a:solidFill>
                <a:effectLst>
                  <a:outerShdw blurRad="38100" dist="38100" dir="2700000" algn="tl">
                    <a:srgbClr val="FFFFFF"/>
                  </a:outerShdw>
                </a:effectLst>
                <a:latin typeface="Arial" panose="020B0604020202020204" pitchFamily="34" charset="0"/>
                <a:ea typeface="宋体" panose="02010600030101010101" pitchFamily="2" charset="-122"/>
              </a:endParaRPr>
            </a:p>
          </p:txBody>
        </p:sp>
        <p:sp>
          <p:nvSpPr>
            <p:cNvPr id="40" name="Rectangle 6"/>
            <p:cNvSpPr>
              <a:spLocks noChangeArrowheads="1"/>
            </p:cNvSpPr>
            <p:nvPr/>
          </p:nvSpPr>
          <p:spPr bwMode="gray">
            <a:xfrm>
              <a:off x="1268" y="2030"/>
              <a:ext cx="2947" cy="1235"/>
            </a:xfrm>
            <a:prstGeom prst="rect">
              <a:avLst/>
            </a:prstGeom>
            <a:gradFill rotWithShape="1">
              <a:gsLst>
                <a:gs pos="0">
                  <a:srgbClr val="FFCC00">
                    <a:gamma/>
                    <a:tint val="48627"/>
                    <a:invGamma/>
                  </a:srgbClr>
                </a:gs>
                <a:gs pos="100000">
                  <a:srgbClr val="FFCC00"/>
                </a:gs>
              </a:gsLst>
              <a:lin ang="2700000" scaled="1"/>
            </a:gradFill>
            <a:ln w="9525" algn="ctr">
              <a:noFill/>
              <a:miter lim="800000"/>
            </a:ln>
            <a:effectLst/>
          </p:spPr>
          <p:txBody>
            <a:bodyPr wrap="none" anchor="ctr"/>
            <a:lstStyle/>
            <a:p>
              <a:pPr algn="ctr" eaLnBrk="1" hangingPunct="1">
                <a:defRPr/>
              </a:pPr>
              <a:endParaRPr lang="en-US" altLang="zh-CN" dirty="0">
                <a:solidFill>
                  <a:srgbClr val="000000"/>
                </a:solidFill>
                <a:effectLst>
                  <a:outerShdw blurRad="38100" dist="38100" dir="2700000" algn="tl">
                    <a:srgbClr val="FFFFFF"/>
                  </a:outerShdw>
                </a:effectLst>
                <a:latin typeface="Arial" panose="020B0604020202020204" pitchFamily="34" charset="0"/>
                <a:ea typeface="宋体" panose="02010600030101010101" pitchFamily="2" charset="-122"/>
              </a:endParaRPr>
            </a:p>
          </p:txBody>
        </p:sp>
        <p:sp>
          <p:nvSpPr>
            <p:cNvPr id="41" name="Rectangle 9"/>
            <p:cNvSpPr>
              <a:spLocks noChangeArrowheads="1"/>
            </p:cNvSpPr>
            <p:nvPr/>
          </p:nvSpPr>
          <p:spPr bwMode="gray">
            <a:xfrm>
              <a:off x="1268" y="3265"/>
              <a:ext cx="2947" cy="1908"/>
            </a:xfrm>
            <a:prstGeom prst="rect">
              <a:avLst/>
            </a:prstGeom>
            <a:gradFill rotWithShape="1">
              <a:gsLst>
                <a:gs pos="0">
                  <a:srgbClr val="99D549">
                    <a:gamma/>
                    <a:tint val="51373"/>
                    <a:invGamma/>
                  </a:srgbClr>
                </a:gs>
                <a:gs pos="100000">
                  <a:srgbClr val="99D549"/>
                </a:gs>
              </a:gsLst>
              <a:lin ang="2700000" scaled="1"/>
            </a:gradFill>
            <a:ln w="9525" algn="ctr">
              <a:noFill/>
              <a:miter lim="800000"/>
            </a:ln>
            <a:effectLst/>
          </p:spPr>
          <p:txBody>
            <a:bodyPr wrap="none" anchor="ctr"/>
            <a:lstStyle/>
            <a:p>
              <a:pPr algn="ctr" eaLnBrk="1" hangingPunct="1">
                <a:defRPr/>
              </a:pPr>
              <a:endParaRPr lang="en-US" altLang="zh-CN" dirty="0">
                <a:solidFill>
                  <a:srgbClr val="000000"/>
                </a:solidFill>
                <a:effectLst>
                  <a:outerShdw blurRad="38100" dist="38100" dir="2700000" algn="tl">
                    <a:srgbClr val="FFFFFF"/>
                  </a:outerShdw>
                </a:effectLst>
                <a:latin typeface="Arial" panose="020B0604020202020204" pitchFamily="34" charset="0"/>
                <a:ea typeface="宋体" panose="02010600030101010101" pitchFamily="2" charset="-122"/>
              </a:endParaRPr>
            </a:p>
          </p:txBody>
        </p:sp>
        <p:sp>
          <p:nvSpPr>
            <p:cNvPr id="42" name="Rectangle 12"/>
            <p:cNvSpPr>
              <a:spLocks noChangeArrowheads="1"/>
            </p:cNvSpPr>
            <p:nvPr/>
          </p:nvSpPr>
          <p:spPr bwMode="gray">
            <a:xfrm>
              <a:off x="1268" y="5172"/>
              <a:ext cx="2947" cy="4487"/>
            </a:xfrm>
            <a:prstGeom prst="rect">
              <a:avLst/>
            </a:prstGeom>
            <a:gradFill rotWithShape="1">
              <a:gsLst>
                <a:gs pos="0">
                  <a:srgbClr val="0099CC">
                    <a:gamma/>
                    <a:tint val="36471"/>
                    <a:invGamma/>
                  </a:srgbClr>
                </a:gs>
                <a:gs pos="100000">
                  <a:srgbClr val="0099CC"/>
                </a:gs>
              </a:gsLst>
              <a:lin ang="2700000" scaled="1"/>
            </a:gradFill>
            <a:ln w="9525" algn="ctr">
              <a:noFill/>
              <a:miter lim="800000"/>
            </a:ln>
            <a:effectLst/>
          </p:spPr>
          <p:txBody>
            <a:bodyPr wrap="none" anchor="ctr"/>
            <a:lstStyle/>
            <a:p>
              <a:pPr algn="ctr" eaLnBrk="1" hangingPunct="1">
                <a:defRPr/>
              </a:pPr>
              <a:endParaRPr lang="en-US" altLang="zh-CN" dirty="0">
                <a:solidFill>
                  <a:srgbClr val="000000"/>
                </a:solidFill>
                <a:effectLst>
                  <a:outerShdw blurRad="38100" dist="38100" dir="2700000" algn="tl">
                    <a:srgbClr val="FFFFFF"/>
                  </a:outerShdw>
                </a:effectLst>
                <a:latin typeface="Arial" panose="020B0604020202020204" pitchFamily="34" charset="0"/>
                <a:ea typeface="宋体" panose="02010600030101010101" pitchFamily="2" charset="-122"/>
              </a:endParaRPr>
            </a:p>
          </p:txBody>
        </p:sp>
        <p:sp>
          <p:nvSpPr>
            <p:cNvPr id="43" name="TextBox 2"/>
            <p:cNvSpPr txBox="1">
              <a:spLocks noChangeArrowheads="1"/>
            </p:cNvSpPr>
            <p:nvPr/>
          </p:nvSpPr>
          <p:spPr bwMode="auto">
            <a:xfrm>
              <a:off x="4215" y="1995"/>
              <a:ext cx="5918" cy="7774"/>
            </a:xfrm>
            <a:prstGeom prst="rect">
              <a:avLst/>
            </a:prstGeom>
            <a:noFill/>
            <a:ln w="9525">
              <a:noFill/>
              <a:miter lim="800000"/>
            </a:ln>
          </p:spPr>
          <p:txBody>
            <a:bodyPr wrap="square">
              <a:spAutoFit/>
            </a:bodyPr>
            <a:lstStyle/>
            <a:p>
              <a:pPr>
                <a:lnSpc>
                  <a:spcPct val="140000"/>
                </a:lnSpc>
                <a:buClr>
                  <a:srgbClr val="0B8DC7"/>
                </a:buClr>
                <a:defRPr/>
              </a:pPr>
              <a:r>
                <a:rPr lang="en-US" altLang="zh-CN" sz="1800" dirty="0">
                  <a:solidFill>
                    <a:srgbClr val="0000FF"/>
                  </a:solidFill>
                  <a:latin typeface="Arial" panose="020B0604020202020204" pitchFamily="34" charset="0"/>
                  <a:ea typeface="+mn-ea"/>
                  <a:cs typeface="Arial" panose="020B0604020202020204" pitchFamily="34" charset="0"/>
                </a:rPr>
                <a:t>DQ30Y (180 Ton</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endParaRPr lang="en-US" altLang="zh-CN" sz="1800" dirty="0">
                <a:solidFill>
                  <a:srgbClr val="0000FF"/>
                </a:solidFill>
                <a:latin typeface="Arial" panose="020B0604020202020204" pitchFamily="34" charset="0"/>
                <a:ea typeface="+mn-ea"/>
                <a:cs typeface="Arial" panose="020B0604020202020204" pitchFamily="34" charset="0"/>
              </a:endParaRPr>
            </a:p>
            <a:p>
              <a:pPr>
                <a:lnSpc>
                  <a:spcPct val="140000"/>
                </a:lnSpc>
                <a:buClr>
                  <a:srgbClr val="0B8DC7"/>
                </a:buClr>
                <a:defRPr/>
              </a:pPr>
              <a:r>
                <a:rPr lang="en-US" altLang="zh-CN" sz="1800" dirty="0">
                  <a:solidFill>
                    <a:srgbClr val="0000FF"/>
                  </a:solidFill>
                  <a:latin typeface="Arial" panose="020B0604020202020204" pitchFamily="34" charset="0"/>
                  <a:ea typeface="+mn-ea"/>
                  <a:cs typeface="Arial" panose="020B0604020202020204" pitchFamily="34" charset="0"/>
                </a:rPr>
                <a:t>DQ40Y </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r>
                <a:rPr lang="en-US" altLang="zh-CN" sz="1800" dirty="0">
                  <a:solidFill>
                    <a:srgbClr val="0000FF"/>
                  </a:solidFill>
                  <a:latin typeface="Arial" panose="020B0604020202020204" pitchFamily="34" charset="0"/>
                  <a:ea typeface="+mn-ea"/>
                  <a:cs typeface="Arial" panose="020B0604020202020204" pitchFamily="34" charset="0"/>
                </a:rPr>
                <a:t>250 Ton</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endParaRPr lang="en-US" altLang="zh-CN" sz="1800" dirty="0">
                <a:solidFill>
                  <a:srgbClr val="0000FF"/>
                </a:solidFill>
                <a:latin typeface="Arial" panose="020B0604020202020204" pitchFamily="34" charset="0"/>
                <a:ea typeface="+mn-ea"/>
                <a:cs typeface="Arial" panose="020B0604020202020204" pitchFamily="34" charset="0"/>
              </a:endParaRPr>
            </a:p>
            <a:p>
              <a:pPr>
                <a:lnSpc>
                  <a:spcPct val="140000"/>
                </a:lnSpc>
                <a:buClr>
                  <a:srgbClr val="0B8DC7"/>
                </a:buClr>
                <a:defRPr/>
              </a:pPr>
              <a:r>
                <a:rPr lang="en-US" altLang="zh-CN" sz="1800" dirty="0">
                  <a:solidFill>
                    <a:srgbClr val="0000FF"/>
                  </a:solidFill>
                  <a:latin typeface="Arial" panose="020B0604020202020204" pitchFamily="34" charset="0"/>
                  <a:ea typeface="+mn-ea"/>
                  <a:cs typeface="Arial" panose="020B0604020202020204" pitchFamily="34" charset="0"/>
                </a:rPr>
                <a:t>DQ40BCQ </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r>
                <a:rPr lang="en-US" altLang="zh-CN" sz="1800" dirty="0">
                  <a:solidFill>
                    <a:srgbClr val="0000FF"/>
                  </a:solidFill>
                  <a:latin typeface="Arial" panose="020B0604020202020204" pitchFamily="34" charset="0"/>
                  <a:ea typeface="+mn-ea"/>
                  <a:cs typeface="Arial" panose="020B0604020202020204" pitchFamily="34" charset="0"/>
                </a:rPr>
                <a:t>250 Ton</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endParaRPr lang="en-US" altLang="zh-CN" sz="1800" dirty="0">
                <a:solidFill>
                  <a:srgbClr val="0000FF"/>
                </a:solidFill>
                <a:latin typeface="Arial" panose="020B0604020202020204" pitchFamily="34" charset="0"/>
                <a:ea typeface="+mn-ea"/>
                <a:cs typeface="Arial" panose="020B0604020202020204" pitchFamily="34" charset="0"/>
              </a:endParaRPr>
            </a:p>
            <a:p>
              <a:pPr>
                <a:lnSpc>
                  <a:spcPct val="140000"/>
                </a:lnSpc>
                <a:buClr>
                  <a:srgbClr val="0B8DC7"/>
                </a:buClr>
                <a:defRPr/>
              </a:pPr>
              <a:r>
                <a:rPr lang="en-US" altLang="zh-CN" sz="1800" dirty="0">
                  <a:solidFill>
                    <a:srgbClr val="0000FF"/>
                  </a:solidFill>
                  <a:latin typeface="Arial" panose="020B0604020202020204" pitchFamily="34" charset="0"/>
                  <a:ea typeface="+mn-ea"/>
                  <a:cs typeface="Arial" panose="020B0604020202020204" pitchFamily="34" charset="0"/>
                </a:rPr>
                <a:t>DQ40BC </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r>
                <a:rPr lang="en-US" altLang="zh-CN" sz="1800" dirty="0">
                  <a:solidFill>
                    <a:srgbClr val="0000FF"/>
                  </a:solidFill>
                  <a:latin typeface="Arial" panose="020B0604020202020204" pitchFamily="34" charset="0"/>
                  <a:ea typeface="+mn-ea"/>
                  <a:cs typeface="Arial" panose="020B0604020202020204" pitchFamily="34" charset="0"/>
                </a:rPr>
                <a:t>250 Ton</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endParaRPr lang="en-US" altLang="zh-CN" sz="1800" dirty="0">
                <a:solidFill>
                  <a:srgbClr val="0000FF"/>
                </a:solidFill>
                <a:latin typeface="Arial" panose="020B0604020202020204" pitchFamily="34" charset="0"/>
                <a:ea typeface="+mn-ea"/>
                <a:cs typeface="Arial" panose="020B0604020202020204" pitchFamily="34" charset="0"/>
              </a:endParaRPr>
            </a:p>
            <a:p>
              <a:pPr>
                <a:lnSpc>
                  <a:spcPct val="140000"/>
                </a:lnSpc>
                <a:buClr>
                  <a:srgbClr val="0B8DC7"/>
                </a:buClr>
                <a:defRPr/>
              </a:pPr>
              <a:r>
                <a:rPr lang="en-US" altLang="zh-CN" sz="1800" dirty="0">
                  <a:solidFill>
                    <a:srgbClr val="0000FF"/>
                  </a:solidFill>
                  <a:latin typeface="Arial" panose="020B0604020202020204" pitchFamily="34" charset="0"/>
                  <a:ea typeface="+mn-ea"/>
                  <a:cs typeface="Arial" panose="020B0604020202020204" pitchFamily="34" charset="0"/>
                </a:rPr>
                <a:t>DQ50BC </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r>
                <a:rPr lang="en-US" altLang="zh-CN" sz="1800" dirty="0">
                  <a:solidFill>
                    <a:srgbClr val="0000FF"/>
                  </a:solidFill>
                  <a:latin typeface="Arial" panose="020B0604020202020204" pitchFamily="34" charset="0"/>
                  <a:ea typeface="+mn-ea"/>
                  <a:cs typeface="Arial" panose="020B0604020202020204" pitchFamily="34" charset="0"/>
                </a:rPr>
                <a:t>350 Ton</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endParaRPr lang="en-US" altLang="zh-CN" sz="1800" dirty="0">
                <a:solidFill>
                  <a:srgbClr val="0000FF"/>
                </a:solidFill>
                <a:latin typeface="Arial" panose="020B0604020202020204" pitchFamily="34" charset="0"/>
                <a:ea typeface="+mn-ea"/>
                <a:cs typeface="Arial" panose="020B0604020202020204" pitchFamily="34" charset="0"/>
              </a:endParaRPr>
            </a:p>
            <a:p>
              <a:pPr>
                <a:lnSpc>
                  <a:spcPct val="150000"/>
                </a:lnSpc>
                <a:buClr>
                  <a:srgbClr val="0B8DC7"/>
                </a:buClr>
                <a:defRPr/>
              </a:pPr>
              <a:r>
                <a:rPr lang="en-US" altLang="zh-CN" sz="1800" dirty="0">
                  <a:solidFill>
                    <a:srgbClr val="0000FF"/>
                  </a:solidFill>
                  <a:latin typeface="Arial" panose="020B0604020202020204" pitchFamily="34" charset="0"/>
                  <a:ea typeface="+mn-ea"/>
                  <a:cs typeface="Arial" panose="020B0604020202020204" pitchFamily="34" charset="0"/>
                </a:rPr>
                <a:t>DQ70BSC </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r>
                <a:rPr lang="en-US" altLang="zh-CN" sz="1800" dirty="0">
                  <a:solidFill>
                    <a:srgbClr val="0000FF"/>
                  </a:solidFill>
                  <a:latin typeface="Arial" panose="020B0604020202020204" pitchFamily="34" charset="0"/>
                  <a:ea typeface="+mn-ea"/>
                  <a:cs typeface="Arial" panose="020B0604020202020204" pitchFamily="34" charset="0"/>
                </a:rPr>
                <a:t>500 Ton</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endParaRPr lang="en-US" altLang="zh-CN" sz="1800" dirty="0">
                <a:solidFill>
                  <a:srgbClr val="0000FF"/>
                </a:solidFill>
                <a:latin typeface="Arial" panose="020B0604020202020204" pitchFamily="34" charset="0"/>
                <a:ea typeface="+mn-ea"/>
                <a:cs typeface="Arial" panose="020B0604020202020204" pitchFamily="34" charset="0"/>
              </a:endParaRPr>
            </a:p>
            <a:p>
              <a:pPr>
                <a:lnSpc>
                  <a:spcPct val="150000"/>
                </a:lnSpc>
                <a:buClr>
                  <a:srgbClr val="0B8DC7"/>
                </a:buClr>
                <a:defRPr/>
              </a:pPr>
              <a:r>
                <a:rPr lang="en-US" altLang="zh-CN" sz="1800" dirty="0">
                  <a:solidFill>
                    <a:srgbClr val="0000FF"/>
                  </a:solidFill>
                  <a:latin typeface="Arial" panose="020B0604020202020204" pitchFamily="34" charset="0"/>
                  <a:ea typeface="+mn-ea"/>
                  <a:cs typeface="Arial" panose="020B0604020202020204" pitchFamily="34" charset="0"/>
                </a:rPr>
                <a:t>DQ70BSF </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r>
                <a:rPr lang="en-US" altLang="zh-CN" sz="1800" dirty="0">
                  <a:solidFill>
                    <a:srgbClr val="0000FF"/>
                  </a:solidFill>
                  <a:latin typeface="Arial" panose="020B0604020202020204" pitchFamily="34" charset="0"/>
                  <a:ea typeface="+mn-ea"/>
                  <a:cs typeface="Arial" panose="020B0604020202020204" pitchFamily="34" charset="0"/>
                </a:rPr>
                <a:t>500 Ton</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endParaRPr lang="en-US" altLang="zh-CN" sz="1800" dirty="0">
                <a:solidFill>
                  <a:srgbClr val="0000FF"/>
                </a:solidFill>
                <a:latin typeface="Arial" panose="020B0604020202020204" pitchFamily="34" charset="0"/>
                <a:ea typeface="+mn-ea"/>
                <a:cs typeface="Arial" panose="020B0604020202020204" pitchFamily="34" charset="0"/>
              </a:endParaRPr>
            </a:p>
            <a:p>
              <a:pPr>
                <a:lnSpc>
                  <a:spcPct val="150000"/>
                </a:lnSpc>
                <a:buClr>
                  <a:srgbClr val="0B8DC7"/>
                </a:buClr>
                <a:defRPr/>
              </a:pPr>
              <a:r>
                <a:rPr lang="en-US" altLang="zh-CN" sz="1800" dirty="0">
                  <a:solidFill>
                    <a:srgbClr val="0000FF"/>
                  </a:solidFill>
                  <a:latin typeface="Arial" panose="020B0604020202020204" pitchFamily="34" charset="0"/>
                  <a:ea typeface="+mn-ea"/>
                  <a:cs typeface="Arial" panose="020B0604020202020204" pitchFamily="34" charset="0"/>
                </a:rPr>
                <a:t>DQ70BSD </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r>
                <a:rPr lang="en-US" altLang="zh-CN" sz="1800" dirty="0">
                  <a:solidFill>
                    <a:srgbClr val="0000FF"/>
                  </a:solidFill>
                  <a:latin typeface="Arial" panose="020B0604020202020204" pitchFamily="34" charset="0"/>
                  <a:ea typeface="+mn-ea"/>
                  <a:cs typeface="Arial" panose="020B0604020202020204" pitchFamily="34" charset="0"/>
                </a:rPr>
                <a:t>500 Ton</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endParaRPr lang="en-US" altLang="zh-CN" sz="1800" dirty="0">
                <a:solidFill>
                  <a:srgbClr val="0000FF"/>
                </a:solidFill>
                <a:latin typeface="Arial" panose="020B0604020202020204" pitchFamily="34" charset="0"/>
                <a:ea typeface="+mn-ea"/>
                <a:cs typeface="Arial" panose="020B0604020202020204" pitchFamily="34" charset="0"/>
              </a:endParaRPr>
            </a:p>
            <a:p>
              <a:pPr>
                <a:lnSpc>
                  <a:spcPct val="150000"/>
                </a:lnSpc>
                <a:buClr>
                  <a:srgbClr val="0B8DC7"/>
                </a:buClr>
                <a:defRPr/>
              </a:pPr>
              <a:r>
                <a:rPr lang="en-US" altLang="zh-CN" sz="1800" dirty="0">
                  <a:solidFill>
                    <a:srgbClr val="0000FF"/>
                  </a:solidFill>
                  <a:latin typeface="Arial" panose="020B0604020202020204" pitchFamily="34" charset="0"/>
                  <a:ea typeface="+mn-ea"/>
                  <a:cs typeface="Arial" panose="020B0604020202020204" pitchFamily="34" charset="0"/>
                </a:rPr>
                <a:t>DQ80BSC (650 Ton)</a:t>
              </a:r>
              <a:endParaRPr lang="en-US" altLang="zh-CN" sz="1400" dirty="0">
                <a:solidFill>
                  <a:srgbClr val="0000FF"/>
                </a:solidFill>
                <a:latin typeface="Arial" panose="020B0604020202020204" pitchFamily="34" charset="0"/>
                <a:ea typeface="+mn-ea"/>
                <a:cs typeface="Arial" panose="020B0604020202020204" pitchFamily="34" charset="0"/>
              </a:endParaRPr>
            </a:p>
            <a:p>
              <a:pPr>
                <a:lnSpc>
                  <a:spcPct val="150000"/>
                </a:lnSpc>
                <a:buClr>
                  <a:srgbClr val="0B8DC7"/>
                </a:buClr>
                <a:defRPr/>
              </a:pPr>
              <a:r>
                <a:rPr lang="en-US" altLang="zh-CN" sz="1800" dirty="0">
                  <a:solidFill>
                    <a:srgbClr val="0000FF"/>
                  </a:solidFill>
                  <a:latin typeface="Arial" panose="020B0604020202020204" pitchFamily="34" charset="0"/>
                  <a:ea typeface="+mn-ea"/>
                  <a:cs typeface="Arial" panose="020B0604020202020204" pitchFamily="34" charset="0"/>
                </a:rPr>
                <a:t>DQ90BSC </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r>
                <a:rPr lang="en-US" altLang="zh-CN" sz="1800" dirty="0">
                  <a:solidFill>
                    <a:srgbClr val="0000FF"/>
                  </a:solidFill>
                  <a:latin typeface="Arial" panose="020B0604020202020204" pitchFamily="34" charset="0"/>
                  <a:ea typeface="+mn-ea"/>
                  <a:cs typeface="Arial" panose="020B0604020202020204" pitchFamily="34" charset="0"/>
                </a:rPr>
                <a:t>750 Ton</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endParaRPr lang="en-US" altLang="zh-CN" sz="1800" dirty="0">
                <a:solidFill>
                  <a:srgbClr val="0000FF"/>
                </a:solidFill>
                <a:latin typeface="Arial" panose="020B0604020202020204" pitchFamily="34" charset="0"/>
                <a:ea typeface="+mn-ea"/>
                <a:cs typeface="Arial" panose="020B0604020202020204" pitchFamily="34" charset="0"/>
              </a:endParaRPr>
            </a:p>
            <a:p>
              <a:pPr>
                <a:lnSpc>
                  <a:spcPct val="150000"/>
                </a:lnSpc>
                <a:buClr>
                  <a:srgbClr val="0B8DC7"/>
                </a:buClr>
                <a:defRPr/>
              </a:pPr>
              <a:r>
                <a:rPr lang="en-US" altLang="zh-CN" sz="1800" dirty="0">
                  <a:solidFill>
                    <a:srgbClr val="0000FF"/>
                  </a:solidFill>
                  <a:latin typeface="Arial" panose="020B0604020202020204" pitchFamily="34" charset="0"/>
                  <a:ea typeface="+mn-ea"/>
                  <a:cs typeface="Arial" panose="020B0604020202020204" pitchFamily="34" charset="0"/>
                </a:rPr>
                <a:t>DQ90BSD </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r>
                <a:rPr lang="en-US" altLang="zh-CN" sz="1800" dirty="0">
                  <a:solidFill>
                    <a:srgbClr val="0000FF"/>
                  </a:solidFill>
                  <a:latin typeface="Arial" panose="020B0604020202020204" pitchFamily="34" charset="0"/>
                  <a:ea typeface="+mn-ea"/>
                  <a:cs typeface="Arial" panose="020B0604020202020204" pitchFamily="34" charset="0"/>
                </a:rPr>
                <a:t>750 Ton</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endParaRPr lang="en-US" altLang="zh-CN" sz="1800" dirty="0">
                <a:solidFill>
                  <a:srgbClr val="0000FF"/>
                </a:solidFill>
                <a:latin typeface="Arial" panose="020B0604020202020204" pitchFamily="34" charset="0"/>
                <a:ea typeface="+mn-ea"/>
                <a:cs typeface="Arial" panose="020B0604020202020204" pitchFamily="34" charset="0"/>
              </a:endParaRPr>
            </a:p>
            <a:p>
              <a:pPr>
                <a:lnSpc>
                  <a:spcPct val="150000"/>
                </a:lnSpc>
                <a:buClr>
                  <a:srgbClr val="0B8DC7"/>
                </a:buClr>
                <a:defRPr/>
              </a:pPr>
              <a:r>
                <a:rPr lang="en-US" altLang="zh-CN" sz="1800" dirty="0">
                  <a:solidFill>
                    <a:srgbClr val="0000FF"/>
                  </a:solidFill>
                  <a:latin typeface="Arial" panose="020B0604020202020204" pitchFamily="34" charset="0"/>
                  <a:ea typeface="+mn-ea"/>
                  <a:cs typeface="Arial" panose="020B0604020202020204" pitchFamily="34" charset="0"/>
                </a:rPr>
                <a:t>DQ120BSC </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r>
                <a:rPr lang="en-US" altLang="zh-CN" sz="1800" dirty="0">
                  <a:solidFill>
                    <a:srgbClr val="0000FF"/>
                  </a:solidFill>
                  <a:latin typeface="Arial" panose="020B0604020202020204" pitchFamily="34" charset="0"/>
                  <a:ea typeface="+mn-ea"/>
                  <a:cs typeface="Arial" panose="020B0604020202020204" pitchFamily="34" charset="0"/>
                </a:rPr>
                <a:t>1000 Ton</a:t>
              </a:r>
              <a:r>
                <a:rPr lang="en-US" altLang="zh-CN" sz="1800" dirty="0">
                  <a:solidFill>
                    <a:srgbClr val="0000FF"/>
                  </a:solidFill>
                  <a:latin typeface="Arial" panose="020B0604020202020204" pitchFamily="34" charset="0"/>
                  <a:ea typeface="宋体" panose="02010600030101010101" pitchFamily="2" charset="-122"/>
                  <a:cs typeface="Arial" panose="020B0604020202020204" pitchFamily="34" charset="0"/>
                </a:rPr>
                <a:t>)</a:t>
              </a:r>
            </a:p>
          </p:txBody>
        </p:sp>
        <p:sp>
          <p:nvSpPr>
            <p:cNvPr id="44" name="Text Box 8"/>
            <p:cNvSpPr txBox="1">
              <a:spLocks noChangeArrowheads="1"/>
            </p:cNvSpPr>
            <p:nvPr/>
          </p:nvSpPr>
          <p:spPr bwMode="auto">
            <a:xfrm>
              <a:off x="1410" y="6840"/>
              <a:ext cx="2805" cy="1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1800">
                  <a:solidFill>
                    <a:srgbClr val="0000FF"/>
                  </a:solidFill>
                  <a:ea typeface="Arial Unicode MS" panose="020B0604020202020204" charset="-122"/>
                  <a:cs typeface="Arial Unicode MS" panose="020B0604020202020204" charset="-122"/>
                </a:rPr>
                <a:t>交流变频</a:t>
              </a:r>
              <a:endParaRPr lang="en-US" altLang="zh-CN" sz="1800">
                <a:solidFill>
                  <a:srgbClr val="0000FF"/>
                </a:solidFill>
                <a:ea typeface="Arial Unicode MS" panose="020B0604020202020204" charset="-122"/>
                <a:cs typeface="Arial Unicode MS" panose="020B0604020202020204" charset="-122"/>
              </a:endParaRPr>
            </a:p>
            <a:p>
              <a:pPr algn="ctr">
                <a:spcBef>
                  <a:spcPct val="50000"/>
                </a:spcBef>
              </a:pPr>
              <a:r>
                <a:rPr lang="zh-CN" altLang="en-US" sz="1800">
                  <a:solidFill>
                    <a:srgbClr val="0000FF"/>
                  </a:solidFill>
                  <a:ea typeface="Arial Unicode MS" panose="020B0604020202020204" charset="-122"/>
                  <a:cs typeface="Arial Unicode MS" panose="020B0604020202020204" charset="-122"/>
                </a:rPr>
                <a:t>双电机</a:t>
              </a:r>
            </a:p>
          </p:txBody>
        </p:sp>
        <p:sp>
          <p:nvSpPr>
            <p:cNvPr id="45" name="Text Box 8"/>
            <p:cNvSpPr txBox="1">
              <a:spLocks noChangeArrowheads="1"/>
            </p:cNvSpPr>
            <p:nvPr/>
          </p:nvSpPr>
          <p:spPr bwMode="auto">
            <a:xfrm>
              <a:off x="1635" y="2365"/>
              <a:ext cx="2580"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1800">
                  <a:solidFill>
                    <a:srgbClr val="0000FF"/>
                  </a:solidFill>
                  <a:ea typeface="Arial Unicode MS" panose="020B0604020202020204" charset="-122"/>
                  <a:cs typeface="Arial Unicode MS" panose="020B0604020202020204" charset="-122"/>
                </a:rPr>
                <a:t>液压驱动</a:t>
              </a:r>
            </a:p>
          </p:txBody>
        </p:sp>
        <p:sp>
          <p:nvSpPr>
            <p:cNvPr id="46" name="Text Box 8"/>
            <p:cNvSpPr txBox="1">
              <a:spLocks noChangeArrowheads="1"/>
            </p:cNvSpPr>
            <p:nvPr/>
          </p:nvSpPr>
          <p:spPr bwMode="auto">
            <a:xfrm>
              <a:off x="1410" y="3490"/>
              <a:ext cx="2805" cy="1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1800">
                  <a:solidFill>
                    <a:srgbClr val="0000FF"/>
                  </a:solidFill>
                  <a:ea typeface="Arial Unicode MS" panose="020B0604020202020204" charset="-122"/>
                  <a:cs typeface="Arial Unicode MS" panose="020B0604020202020204" charset="-122"/>
                </a:rPr>
                <a:t>交流变频</a:t>
              </a:r>
              <a:endParaRPr lang="en-US" altLang="zh-CN" sz="1800">
                <a:solidFill>
                  <a:srgbClr val="0000FF"/>
                </a:solidFill>
                <a:ea typeface="Arial Unicode MS" panose="020B0604020202020204" charset="-122"/>
                <a:cs typeface="Arial Unicode MS" panose="020B0604020202020204" charset="-122"/>
              </a:endParaRPr>
            </a:p>
            <a:p>
              <a:pPr algn="ctr">
                <a:spcBef>
                  <a:spcPct val="50000"/>
                </a:spcBef>
              </a:pPr>
              <a:r>
                <a:rPr lang="zh-CN" altLang="en-US" sz="1800">
                  <a:solidFill>
                    <a:srgbClr val="0000FF"/>
                  </a:solidFill>
                  <a:ea typeface="Arial Unicode MS" panose="020B0604020202020204" charset="-122"/>
                  <a:cs typeface="Arial Unicode MS" panose="020B0604020202020204" charset="-122"/>
                </a:rPr>
                <a:t>单电机</a:t>
              </a:r>
            </a:p>
          </p:txBody>
        </p:sp>
        <p:sp>
          <p:nvSpPr>
            <p:cNvPr id="47" name="Text Box 8"/>
            <p:cNvSpPr txBox="1">
              <a:spLocks noChangeArrowheads="1"/>
            </p:cNvSpPr>
            <p:nvPr/>
          </p:nvSpPr>
          <p:spPr bwMode="auto">
            <a:xfrm>
              <a:off x="10238" y="8987"/>
              <a:ext cx="2812" cy="628"/>
            </a:xfrm>
            <a:prstGeom prst="rect">
              <a:avLst/>
            </a:prstGeom>
            <a:noFill/>
            <a:ln w="9525" algn="ctr">
              <a:noFill/>
              <a:miter lim="800000"/>
            </a:ln>
          </p:spPr>
          <p:txBody>
            <a:bodyPr wrap="square">
              <a:spAutoFit/>
            </a:bodyPr>
            <a:lstStyle/>
            <a:p>
              <a:pPr algn="ctr">
                <a:spcBef>
                  <a:spcPct val="50000"/>
                </a:spcBef>
                <a:defRPr/>
              </a:pPr>
              <a:r>
                <a:rPr lang="en-US" altLang="zh-CN" sz="2000" dirty="0">
                  <a:solidFill>
                    <a:srgbClr val="0000FF"/>
                  </a:solidFill>
                  <a:latin typeface="+mn-lt"/>
                  <a:ea typeface="宋体" panose="02010600030101010101" pitchFamily="2" charset="-122"/>
                  <a:cs typeface="Arial Unicode MS" panose="020B0604020202020204" charset="-122"/>
                </a:rPr>
                <a:t>12 000 m </a:t>
              </a:r>
            </a:p>
          </p:txBody>
        </p:sp>
        <p:sp>
          <p:nvSpPr>
            <p:cNvPr id="48" name="Text Box 8"/>
            <p:cNvSpPr txBox="1">
              <a:spLocks noChangeArrowheads="1"/>
            </p:cNvSpPr>
            <p:nvPr/>
          </p:nvSpPr>
          <p:spPr bwMode="auto">
            <a:xfrm>
              <a:off x="10132" y="7977"/>
              <a:ext cx="2918" cy="677"/>
            </a:xfrm>
            <a:prstGeom prst="rect">
              <a:avLst/>
            </a:prstGeom>
            <a:noFill/>
            <a:ln w="9525" algn="ctr">
              <a:noFill/>
              <a:miter lim="800000"/>
            </a:ln>
          </p:spPr>
          <p:txBody>
            <a:bodyPr wrap="square">
              <a:spAutoFit/>
            </a:bodyPr>
            <a:lstStyle/>
            <a:p>
              <a:pPr algn="ctr">
                <a:spcBef>
                  <a:spcPct val="50000"/>
                </a:spcBef>
                <a:defRPr/>
              </a:pPr>
              <a:r>
                <a:rPr lang="en-US" altLang="zh-CN" sz="2000" dirty="0">
                  <a:solidFill>
                    <a:srgbClr val="0000FF"/>
                  </a:solidFill>
                  <a:latin typeface="+mn-lt"/>
                  <a:ea typeface="宋体" panose="02010600030101010101" pitchFamily="2" charset="-122"/>
                  <a:cs typeface="Arial Unicode MS" panose="020B0604020202020204" charset="-122"/>
                </a:rPr>
                <a:t>9 000 m</a:t>
              </a:r>
              <a:r>
                <a:rPr lang="en-US" altLang="zh-CN" sz="2200" dirty="0">
                  <a:solidFill>
                    <a:srgbClr val="0000FF"/>
                  </a:solidFill>
                  <a:latin typeface="+mn-lt"/>
                  <a:ea typeface="宋体" panose="02010600030101010101" pitchFamily="2" charset="-122"/>
                  <a:cs typeface="Arial Unicode MS" panose="020B0604020202020204" charset="-122"/>
                </a:rPr>
                <a:t> </a:t>
              </a:r>
            </a:p>
          </p:txBody>
        </p:sp>
        <p:sp>
          <p:nvSpPr>
            <p:cNvPr id="49" name="Text Box 8"/>
            <p:cNvSpPr txBox="1">
              <a:spLocks noChangeArrowheads="1"/>
            </p:cNvSpPr>
            <p:nvPr/>
          </p:nvSpPr>
          <p:spPr bwMode="auto">
            <a:xfrm>
              <a:off x="9563" y="5845"/>
              <a:ext cx="3487" cy="628"/>
            </a:xfrm>
            <a:prstGeom prst="rect">
              <a:avLst/>
            </a:prstGeom>
            <a:noFill/>
            <a:ln w="9525" algn="ctr">
              <a:noFill/>
              <a:miter lim="800000"/>
            </a:ln>
          </p:spPr>
          <p:txBody>
            <a:bodyPr>
              <a:spAutoFit/>
            </a:bodyPr>
            <a:lstStyle/>
            <a:p>
              <a:pPr algn="ctr">
                <a:spcBef>
                  <a:spcPct val="50000"/>
                </a:spcBef>
                <a:defRPr/>
              </a:pPr>
              <a:r>
                <a:rPr lang="en-US" altLang="zh-CN" sz="2000" dirty="0">
                  <a:solidFill>
                    <a:srgbClr val="0000FF"/>
                  </a:solidFill>
                  <a:latin typeface="+mn-lt"/>
                  <a:ea typeface="宋体" panose="02010600030101010101" pitchFamily="2" charset="-122"/>
                  <a:cs typeface="Arial Unicode MS" panose="020B0604020202020204" charset="-122"/>
                </a:rPr>
                <a:t>7 000 m </a:t>
              </a:r>
            </a:p>
          </p:txBody>
        </p:sp>
        <p:sp>
          <p:nvSpPr>
            <p:cNvPr id="50" name="Text Box 8"/>
            <p:cNvSpPr txBox="1">
              <a:spLocks noChangeArrowheads="1"/>
            </p:cNvSpPr>
            <p:nvPr/>
          </p:nvSpPr>
          <p:spPr bwMode="auto">
            <a:xfrm>
              <a:off x="9563" y="3250"/>
              <a:ext cx="3487" cy="628"/>
            </a:xfrm>
            <a:prstGeom prst="rect">
              <a:avLst/>
            </a:prstGeom>
            <a:noFill/>
            <a:ln w="9525" algn="ctr">
              <a:noFill/>
              <a:miter lim="800000"/>
            </a:ln>
          </p:spPr>
          <p:txBody>
            <a:bodyPr>
              <a:spAutoFit/>
            </a:bodyPr>
            <a:lstStyle/>
            <a:p>
              <a:pPr algn="ctr">
                <a:spcBef>
                  <a:spcPct val="50000"/>
                </a:spcBef>
                <a:defRPr/>
              </a:pPr>
              <a:r>
                <a:rPr lang="en-US" altLang="zh-CN" sz="2000" dirty="0">
                  <a:solidFill>
                    <a:srgbClr val="0000FF"/>
                  </a:solidFill>
                  <a:latin typeface="+mn-lt"/>
                  <a:ea typeface="宋体" panose="02010600030101010101" pitchFamily="2" charset="-122"/>
                  <a:cs typeface="Arial Unicode MS" panose="020B0604020202020204" charset="-122"/>
                </a:rPr>
                <a:t>4 000 m</a:t>
              </a:r>
            </a:p>
          </p:txBody>
        </p:sp>
        <p:sp>
          <p:nvSpPr>
            <p:cNvPr id="51" name="Text Box 8"/>
            <p:cNvSpPr txBox="1">
              <a:spLocks noChangeArrowheads="1"/>
            </p:cNvSpPr>
            <p:nvPr/>
          </p:nvSpPr>
          <p:spPr bwMode="auto">
            <a:xfrm>
              <a:off x="10238" y="2070"/>
              <a:ext cx="2376" cy="628"/>
            </a:xfrm>
            <a:prstGeom prst="rect">
              <a:avLst/>
            </a:prstGeom>
            <a:noFill/>
            <a:ln w="9525" algn="ctr">
              <a:noFill/>
              <a:miter lim="800000"/>
            </a:ln>
          </p:spPr>
          <p:txBody>
            <a:bodyPr wrap="square">
              <a:spAutoFit/>
            </a:bodyPr>
            <a:lstStyle/>
            <a:p>
              <a:pPr algn="ctr">
                <a:spcBef>
                  <a:spcPts val="0"/>
                </a:spcBef>
                <a:defRPr/>
              </a:pPr>
              <a:r>
                <a:rPr lang="en-US" altLang="zh-CN" sz="2000" dirty="0">
                  <a:solidFill>
                    <a:srgbClr val="0000FF"/>
                  </a:solidFill>
                  <a:latin typeface="+mn-lt"/>
                  <a:ea typeface="宋体" panose="02010600030101010101" pitchFamily="2" charset="-122"/>
                  <a:cs typeface="Arial Unicode MS" panose="020B0604020202020204" charset="-122"/>
                </a:rPr>
                <a:t>3 000 m </a:t>
              </a:r>
            </a:p>
          </p:txBody>
        </p:sp>
        <p:sp>
          <p:nvSpPr>
            <p:cNvPr id="52" name="Rectangle 6"/>
            <p:cNvSpPr>
              <a:spLocks noChangeArrowheads="1"/>
            </p:cNvSpPr>
            <p:nvPr/>
          </p:nvSpPr>
          <p:spPr bwMode="gray">
            <a:xfrm>
              <a:off x="10130" y="4499"/>
              <a:ext cx="2643" cy="673"/>
            </a:xfrm>
            <a:prstGeom prst="rect">
              <a:avLst/>
            </a:prstGeom>
            <a:solidFill>
              <a:srgbClr val="CBE9A2"/>
            </a:solidFill>
            <a:ln w="9525" algn="ctr">
              <a:noFill/>
              <a:miter lim="800000"/>
            </a:ln>
            <a:effectLst/>
          </p:spPr>
          <p:txBody>
            <a:bodyPr wrap="none" anchor="ctr"/>
            <a:lstStyle/>
            <a:p>
              <a:pPr algn="ctr" eaLnBrk="1" hangingPunct="1">
                <a:defRPr/>
              </a:pPr>
              <a:endParaRPr lang="en-US" altLang="zh-CN" dirty="0">
                <a:solidFill>
                  <a:srgbClr val="000000"/>
                </a:solidFill>
                <a:effectLst>
                  <a:outerShdw blurRad="38100" dist="38100" dir="2700000" algn="tl">
                    <a:srgbClr val="FFFFFF"/>
                  </a:outerShdw>
                </a:effectLst>
                <a:latin typeface="Arial" panose="020B0604020202020204" pitchFamily="34" charset="0"/>
                <a:ea typeface="宋体" panose="02010600030101010101" pitchFamily="2" charset="-122"/>
              </a:endParaRPr>
            </a:p>
          </p:txBody>
        </p:sp>
        <p:sp>
          <p:nvSpPr>
            <p:cNvPr id="53" name="Text Box 8"/>
            <p:cNvSpPr txBox="1">
              <a:spLocks noChangeArrowheads="1"/>
            </p:cNvSpPr>
            <p:nvPr/>
          </p:nvSpPr>
          <p:spPr bwMode="auto">
            <a:xfrm>
              <a:off x="10130" y="4500"/>
              <a:ext cx="2485" cy="628"/>
            </a:xfrm>
            <a:prstGeom prst="rect">
              <a:avLst/>
            </a:prstGeom>
            <a:noFill/>
            <a:ln w="9525" algn="ctr">
              <a:noFill/>
              <a:miter lim="800000"/>
            </a:ln>
          </p:spPr>
          <p:txBody>
            <a:bodyPr wrap="square">
              <a:spAutoFit/>
            </a:bodyPr>
            <a:lstStyle/>
            <a:p>
              <a:pPr algn="ctr">
                <a:spcBef>
                  <a:spcPct val="50000"/>
                </a:spcBef>
                <a:defRPr/>
              </a:pPr>
              <a:r>
                <a:rPr lang="en-US" altLang="zh-CN" sz="2000" dirty="0">
                  <a:solidFill>
                    <a:srgbClr val="0000FF"/>
                  </a:solidFill>
                  <a:latin typeface="+mn-lt"/>
                  <a:ea typeface="宋体" panose="02010600030101010101" pitchFamily="2" charset="-122"/>
                  <a:cs typeface="Arial Unicode MS" panose="020B0604020202020204" charset="-122"/>
                </a:rPr>
                <a:t>5 000 m</a:t>
              </a:r>
            </a:p>
          </p:txBody>
        </p:sp>
        <p:sp>
          <p:nvSpPr>
            <p:cNvPr id="54" name="Rectangle 12"/>
            <p:cNvSpPr>
              <a:spLocks noChangeArrowheads="1"/>
            </p:cNvSpPr>
            <p:nvPr/>
          </p:nvSpPr>
          <p:spPr bwMode="gray">
            <a:xfrm>
              <a:off x="10115" y="7080"/>
              <a:ext cx="2682" cy="673"/>
            </a:xfrm>
            <a:prstGeom prst="rect">
              <a:avLst/>
            </a:prstGeom>
            <a:solidFill>
              <a:srgbClr val="6699FF"/>
            </a:solidFill>
            <a:ln w="9525" algn="ctr">
              <a:noFill/>
              <a:miter lim="800000"/>
            </a:ln>
            <a:effectLst/>
          </p:spPr>
          <p:txBody>
            <a:bodyPr wrap="none" anchor="ctr"/>
            <a:lstStyle/>
            <a:p>
              <a:pPr algn="ctr" eaLnBrk="1" hangingPunct="1">
                <a:defRPr/>
              </a:pPr>
              <a:endParaRPr lang="en-US" altLang="zh-CN" dirty="0">
                <a:solidFill>
                  <a:srgbClr val="000000"/>
                </a:solidFill>
                <a:effectLst>
                  <a:outerShdw blurRad="38100" dist="38100" dir="2700000" algn="tl">
                    <a:srgbClr val="FFFFFF"/>
                  </a:outerShdw>
                </a:effectLst>
                <a:latin typeface="Arial" panose="020B0604020202020204" pitchFamily="34" charset="0"/>
                <a:ea typeface="宋体" panose="02010600030101010101" pitchFamily="2" charset="-122"/>
              </a:endParaRPr>
            </a:p>
          </p:txBody>
        </p:sp>
        <p:sp>
          <p:nvSpPr>
            <p:cNvPr id="55" name="Text Box 8"/>
            <p:cNvSpPr txBox="1">
              <a:spLocks noChangeArrowheads="1"/>
            </p:cNvSpPr>
            <p:nvPr/>
          </p:nvSpPr>
          <p:spPr bwMode="auto">
            <a:xfrm>
              <a:off x="10115" y="7080"/>
              <a:ext cx="2910" cy="628"/>
            </a:xfrm>
            <a:prstGeom prst="rect">
              <a:avLst/>
            </a:prstGeom>
            <a:noFill/>
            <a:ln w="9525" algn="ctr">
              <a:noFill/>
              <a:miter lim="800000"/>
            </a:ln>
          </p:spPr>
          <p:txBody>
            <a:bodyPr wrap="square">
              <a:spAutoFit/>
            </a:bodyPr>
            <a:lstStyle/>
            <a:p>
              <a:pPr algn="ctr">
                <a:spcBef>
                  <a:spcPct val="50000"/>
                </a:spcBef>
                <a:defRPr/>
              </a:pPr>
              <a:r>
                <a:rPr lang="en-US" altLang="zh-CN" sz="2000" dirty="0">
                  <a:solidFill>
                    <a:srgbClr val="0000FF"/>
                  </a:solidFill>
                  <a:latin typeface="+mn-lt"/>
                  <a:ea typeface="宋体" panose="02010600030101010101" pitchFamily="2" charset="-122"/>
                  <a:cs typeface="Arial Unicode MS" panose="020B0604020202020204" charset="-122"/>
                </a:rPr>
                <a:t>8 000 m </a:t>
              </a:r>
            </a:p>
          </p:txBody>
        </p:sp>
      </p:gr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7" name="Group 1"/>
          <p:cNvGrpSpPr/>
          <p:nvPr/>
        </p:nvGrpSpPr>
        <p:grpSpPr bwMode="auto">
          <a:xfrm>
            <a:off x="3790315" y="935355"/>
            <a:ext cx="5099685" cy="5610860"/>
            <a:chOff x="1800" y="2454"/>
            <a:chExt cx="6840" cy="6708"/>
          </a:xfrm>
        </p:grpSpPr>
        <p:pic>
          <p:nvPicPr>
            <p:cNvPr id="41988" name="Picture 42" descr="DQ70BSC-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4" y="2454"/>
              <a:ext cx="2386" cy="6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989" name="Group 27"/>
            <p:cNvGrpSpPr/>
            <p:nvPr/>
          </p:nvGrpSpPr>
          <p:grpSpPr bwMode="auto">
            <a:xfrm>
              <a:off x="5156" y="3038"/>
              <a:ext cx="3484" cy="4466"/>
              <a:chOff x="6157" y="3020"/>
              <a:chExt cx="3560" cy="5050"/>
            </a:xfrm>
          </p:grpSpPr>
          <p:sp>
            <p:nvSpPr>
              <p:cNvPr id="42015" name="Text Box 41"/>
              <p:cNvSpPr txBox="1">
                <a:spLocks noChangeArrowheads="1"/>
              </p:cNvSpPr>
              <p:nvPr/>
            </p:nvSpPr>
            <p:spPr bwMode="auto">
              <a:xfrm>
                <a:off x="7865" y="3020"/>
                <a:ext cx="1084"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Calibri" panose="020F0502020204030204" pitchFamily="34" charset="0"/>
                  </a:rPr>
                  <a:t>鹅颈管总成</a:t>
                </a:r>
                <a:endParaRPr lang="zh-CN" altLang="zh-CN" sz="1800" b="0">
                  <a:ea typeface="黑体" panose="02010609060101010101" pitchFamily="49" charset="-122"/>
                  <a:cs typeface="Calibri" panose="020F0502020204030204" pitchFamily="34" charset="0"/>
                </a:endParaRPr>
              </a:p>
            </p:txBody>
          </p:sp>
          <p:sp>
            <p:nvSpPr>
              <p:cNvPr id="42016" name="Text Box 40"/>
              <p:cNvSpPr txBox="1">
                <a:spLocks noChangeArrowheads="1"/>
              </p:cNvSpPr>
              <p:nvPr/>
            </p:nvSpPr>
            <p:spPr bwMode="auto">
              <a:xfrm>
                <a:off x="7555" y="4060"/>
                <a:ext cx="1500" cy="32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Calibri" panose="020F0502020204030204" pitchFamily="34" charset="0"/>
                  </a:rPr>
                  <a:t>冲管盘根总成</a:t>
                </a:r>
                <a:endParaRPr lang="zh-CN" altLang="zh-CN" sz="1800" b="0">
                  <a:ea typeface="黑体" panose="02010609060101010101" pitchFamily="49" charset="-122"/>
                  <a:cs typeface="Calibri" panose="020F0502020204030204" pitchFamily="34" charset="0"/>
                </a:endParaRPr>
              </a:p>
            </p:txBody>
          </p:sp>
          <p:sp>
            <p:nvSpPr>
              <p:cNvPr id="42017" name="Text Box 39"/>
              <p:cNvSpPr txBox="1">
                <a:spLocks noChangeArrowheads="1"/>
              </p:cNvSpPr>
              <p:nvPr/>
            </p:nvSpPr>
            <p:spPr bwMode="auto">
              <a:xfrm>
                <a:off x="7740" y="5350"/>
                <a:ext cx="1440" cy="6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Arial" panose="020B0604020202020204" pitchFamily="34" charset="0"/>
                  </a:rPr>
                  <a:t>遥控</a:t>
                </a:r>
                <a:r>
                  <a:rPr lang="en-US" altLang="zh-CN" sz="1000" b="0">
                    <a:ea typeface="黑体" panose="02010609060101010101" pitchFamily="49" charset="-122"/>
                    <a:cs typeface="Arial" panose="020B0604020202020204" pitchFamily="34" charset="0"/>
                  </a:rPr>
                  <a:t>IBOP</a:t>
                </a:r>
                <a:endParaRPr lang="en-US" altLang="zh-CN" sz="700" b="0">
                  <a:ea typeface="黑体" panose="02010609060101010101" pitchFamily="49" charset="-122"/>
                  <a:cs typeface="Arial" panose="020B0604020202020204" pitchFamily="34" charset="0"/>
                </a:endParaRPr>
              </a:p>
              <a:p>
                <a:pPr algn="ctr"/>
                <a:r>
                  <a:rPr lang="zh-CN" altLang="en-US" sz="1000" b="0">
                    <a:latin typeface="黑体" panose="02010609060101010101" pitchFamily="49" charset="-122"/>
                    <a:ea typeface="黑体" panose="02010609060101010101" pitchFamily="49" charset="-122"/>
                    <a:cs typeface="Arial" panose="020B0604020202020204" pitchFamily="34" charset="0"/>
                  </a:rPr>
                  <a:t>及其控制装置</a:t>
                </a:r>
                <a:endParaRPr lang="zh-CN" altLang="en-US" sz="1800" b="0">
                  <a:ea typeface="黑体" panose="02010609060101010101" pitchFamily="49" charset="-122"/>
                  <a:cs typeface="Arial" panose="020B0604020202020204" pitchFamily="34" charset="0"/>
                </a:endParaRPr>
              </a:p>
            </p:txBody>
          </p:sp>
          <p:sp>
            <p:nvSpPr>
              <p:cNvPr id="42018" name="Text Box 38"/>
              <p:cNvSpPr txBox="1">
                <a:spLocks noChangeArrowheads="1"/>
              </p:cNvSpPr>
              <p:nvPr/>
            </p:nvSpPr>
            <p:spPr bwMode="auto">
              <a:xfrm>
                <a:off x="7935" y="6080"/>
                <a:ext cx="1084"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Arial" panose="020B0604020202020204" pitchFamily="34" charset="0"/>
                  </a:rPr>
                  <a:t>手动</a:t>
                </a:r>
                <a:r>
                  <a:rPr lang="en-US" altLang="zh-CN" sz="1000" b="0">
                    <a:ea typeface="黑体" panose="02010609060101010101" pitchFamily="49" charset="-122"/>
                    <a:cs typeface="Arial" panose="020B0604020202020204" pitchFamily="34" charset="0"/>
                  </a:rPr>
                  <a:t>IBOP</a:t>
                </a:r>
                <a:endParaRPr lang="en-US" altLang="zh-CN" sz="1800" b="0">
                  <a:ea typeface="黑体" panose="02010609060101010101" pitchFamily="49" charset="-122"/>
                  <a:cs typeface="Arial" panose="020B0604020202020204" pitchFamily="34" charset="0"/>
                </a:endParaRPr>
              </a:p>
            </p:txBody>
          </p:sp>
          <p:sp>
            <p:nvSpPr>
              <p:cNvPr id="42019" name="Text Box 37"/>
              <p:cNvSpPr txBox="1">
                <a:spLocks noChangeArrowheads="1"/>
              </p:cNvSpPr>
              <p:nvPr/>
            </p:nvSpPr>
            <p:spPr bwMode="auto">
              <a:xfrm>
                <a:off x="7995" y="6570"/>
                <a:ext cx="1084"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Arial" panose="020B0604020202020204" pitchFamily="34" charset="0"/>
                  </a:rPr>
                  <a:t>防松装置</a:t>
                </a:r>
                <a:endParaRPr lang="zh-CN" altLang="zh-CN" sz="1800" b="0">
                  <a:ea typeface="黑体" panose="02010609060101010101" pitchFamily="49" charset="-122"/>
                  <a:cs typeface="Arial" panose="020B0604020202020204" pitchFamily="34" charset="0"/>
                </a:endParaRPr>
              </a:p>
            </p:txBody>
          </p:sp>
          <p:sp>
            <p:nvSpPr>
              <p:cNvPr id="42020" name="Text Box 36"/>
              <p:cNvSpPr txBox="1">
                <a:spLocks noChangeArrowheads="1"/>
              </p:cNvSpPr>
              <p:nvPr/>
            </p:nvSpPr>
            <p:spPr bwMode="auto">
              <a:xfrm>
                <a:off x="7995" y="7090"/>
                <a:ext cx="1084"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Arial" panose="020B0604020202020204" pitchFamily="34" charset="0"/>
                  </a:rPr>
                  <a:t>转换接头</a:t>
                </a:r>
                <a:endParaRPr lang="zh-CN" altLang="zh-CN" sz="1800" b="0">
                  <a:ea typeface="黑体" panose="02010609060101010101" pitchFamily="49" charset="-122"/>
                  <a:cs typeface="Arial" panose="020B0604020202020204" pitchFamily="34" charset="0"/>
                </a:endParaRPr>
              </a:p>
            </p:txBody>
          </p:sp>
          <p:sp>
            <p:nvSpPr>
              <p:cNvPr id="42021" name="AutoShape 35"/>
              <p:cNvSpPr/>
              <p:nvPr/>
            </p:nvSpPr>
            <p:spPr bwMode="auto">
              <a:xfrm>
                <a:off x="9099" y="3077"/>
                <a:ext cx="263" cy="4290"/>
              </a:xfrm>
              <a:prstGeom prst="rightBrace">
                <a:avLst>
                  <a:gd name="adj1" fmla="val 135932"/>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42022" name="Text Box 34"/>
              <p:cNvSpPr txBox="1">
                <a:spLocks noChangeArrowheads="1"/>
              </p:cNvSpPr>
              <p:nvPr/>
            </p:nvSpPr>
            <p:spPr bwMode="auto">
              <a:xfrm>
                <a:off x="9405" y="4340"/>
                <a:ext cx="312" cy="178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Arial" panose="020B0604020202020204" pitchFamily="34" charset="0"/>
                  </a:rPr>
                  <a:t>泥浆循环通道</a:t>
                </a:r>
                <a:endParaRPr lang="zh-CN" altLang="zh-CN" sz="1800" b="0">
                  <a:ea typeface="黑体" panose="02010609060101010101" pitchFamily="49" charset="-122"/>
                  <a:cs typeface="Arial" panose="020B0604020202020204" pitchFamily="34" charset="0"/>
                </a:endParaRPr>
              </a:p>
            </p:txBody>
          </p:sp>
          <p:sp>
            <p:nvSpPr>
              <p:cNvPr id="42023" name="Line 33"/>
              <p:cNvSpPr>
                <a:spLocks noChangeShapeType="1"/>
              </p:cNvSpPr>
              <p:nvPr/>
            </p:nvSpPr>
            <p:spPr bwMode="auto">
              <a:xfrm flipV="1">
                <a:off x="6211" y="5979"/>
                <a:ext cx="1556" cy="139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4" name="Line 32"/>
              <p:cNvSpPr>
                <a:spLocks noChangeShapeType="1"/>
              </p:cNvSpPr>
              <p:nvPr/>
            </p:nvSpPr>
            <p:spPr bwMode="auto">
              <a:xfrm flipV="1">
                <a:off x="6163" y="6432"/>
                <a:ext cx="1757" cy="12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5" name="Line 31"/>
              <p:cNvSpPr>
                <a:spLocks noChangeShapeType="1"/>
              </p:cNvSpPr>
              <p:nvPr/>
            </p:nvSpPr>
            <p:spPr bwMode="auto">
              <a:xfrm flipV="1">
                <a:off x="6187" y="6900"/>
                <a:ext cx="1733" cy="101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6" name="Line 30"/>
              <p:cNvSpPr>
                <a:spLocks noChangeShapeType="1"/>
              </p:cNvSpPr>
              <p:nvPr/>
            </p:nvSpPr>
            <p:spPr bwMode="auto">
              <a:xfrm flipV="1">
                <a:off x="6157" y="7368"/>
                <a:ext cx="1763" cy="7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7" name="Line 29"/>
              <p:cNvSpPr>
                <a:spLocks noChangeShapeType="1"/>
              </p:cNvSpPr>
              <p:nvPr/>
            </p:nvSpPr>
            <p:spPr bwMode="auto">
              <a:xfrm flipV="1">
                <a:off x="6199" y="3312"/>
                <a:ext cx="1541"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8" name="Line 28"/>
              <p:cNvSpPr>
                <a:spLocks noChangeShapeType="1"/>
              </p:cNvSpPr>
              <p:nvPr/>
            </p:nvSpPr>
            <p:spPr bwMode="auto">
              <a:xfrm flipV="1">
                <a:off x="6169" y="4248"/>
                <a:ext cx="1391" cy="70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1990" name="Group 22"/>
            <p:cNvGrpSpPr/>
            <p:nvPr/>
          </p:nvGrpSpPr>
          <p:grpSpPr bwMode="auto">
            <a:xfrm>
              <a:off x="1870" y="5394"/>
              <a:ext cx="2308" cy="760"/>
              <a:chOff x="2799" y="5684"/>
              <a:chExt cx="2358" cy="859"/>
            </a:xfrm>
          </p:grpSpPr>
          <p:sp>
            <p:nvSpPr>
              <p:cNvPr id="42011" name="Text Box 26"/>
              <p:cNvSpPr txBox="1">
                <a:spLocks noChangeArrowheads="1"/>
              </p:cNvSpPr>
              <p:nvPr/>
            </p:nvSpPr>
            <p:spPr bwMode="auto">
              <a:xfrm>
                <a:off x="2799" y="5756"/>
                <a:ext cx="1084"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Arial" panose="020B0604020202020204" pitchFamily="34" charset="0"/>
                  </a:rPr>
                  <a:t>滑车</a:t>
                </a:r>
                <a:endParaRPr lang="zh-CN" altLang="zh-CN" sz="1800" b="0">
                  <a:ea typeface="黑体" panose="02010609060101010101" pitchFamily="49" charset="-122"/>
                  <a:cs typeface="Arial" panose="020B0604020202020204" pitchFamily="34" charset="0"/>
                </a:endParaRPr>
              </a:p>
            </p:txBody>
          </p:sp>
          <p:sp>
            <p:nvSpPr>
              <p:cNvPr id="42012" name="Text Box 25"/>
              <p:cNvSpPr txBox="1">
                <a:spLocks noChangeArrowheads="1"/>
              </p:cNvSpPr>
              <p:nvPr/>
            </p:nvSpPr>
            <p:spPr bwMode="auto">
              <a:xfrm>
                <a:off x="2799" y="6231"/>
                <a:ext cx="1084"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Arial" panose="020B0604020202020204" pitchFamily="34" charset="0"/>
                  </a:rPr>
                  <a:t>导轨</a:t>
                </a:r>
                <a:endParaRPr lang="zh-CN" altLang="zh-CN" sz="1800" b="0">
                  <a:ea typeface="黑体" panose="02010609060101010101" pitchFamily="49" charset="-122"/>
                  <a:cs typeface="Arial" panose="020B0604020202020204" pitchFamily="34" charset="0"/>
                </a:endParaRPr>
              </a:p>
            </p:txBody>
          </p:sp>
          <p:sp>
            <p:nvSpPr>
              <p:cNvPr id="42013" name="Line 24"/>
              <p:cNvSpPr>
                <a:spLocks noChangeShapeType="1"/>
              </p:cNvSpPr>
              <p:nvPr/>
            </p:nvSpPr>
            <p:spPr bwMode="auto">
              <a:xfrm flipH="1">
                <a:off x="3600" y="5684"/>
                <a:ext cx="1542" cy="2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4" name="Line 23"/>
              <p:cNvSpPr>
                <a:spLocks noChangeShapeType="1"/>
              </p:cNvSpPr>
              <p:nvPr/>
            </p:nvSpPr>
            <p:spPr bwMode="auto">
              <a:xfrm flipH="1">
                <a:off x="3600" y="6149"/>
                <a:ext cx="1557" cy="28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1991" name="Text Box 21"/>
            <p:cNvSpPr txBox="1">
              <a:spLocks noChangeArrowheads="1"/>
            </p:cNvSpPr>
            <p:nvPr/>
          </p:nvSpPr>
          <p:spPr bwMode="auto">
            <a:xfrm>
              <a:off x="2461" y="2745"/>
              <a:ext cx="1061" cy="2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Calibri" panose="020F0502020204030204" pitchFamily="34" charset="0"/>
                </a:rPr>
                <a:t>平衡系统</a:t>
              </a:r>
              <a:endParaRPr lang="zh-CN" altLang="zh-CN" sz="1800" b="0">
                <a:ea typeface="黑体" panose="02010609060101010101" pitchFamily="49" charset="-122"/>
                <a:cs typeface="Calibri" panose="020F0502020204030204" pitchFamily="34" charset="0"/>
              </a:endParaRPr>
            </a:p>
          </p:txBody>
        </p:sp>
        <p:sp>
          <p:nvSpPr>
            <p:cNvPr id="41992" name="Text Box 20"/>
            <p:cNvSpPr txBox="1">
              <a:spLocks noChangeArrowheads="1"/>
            </p:cNvSpPr>
            <p:nvPr/>
          </p:nvSpPr>
          <p:spPr bwMode="auto">
            <a:xfrm>
              <a:off x="2452" y="3161"/>
              <a:ext cx="1060" cy="2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Calibri" panose="020F0502020204030204" pitchFamily="34" charset="0"/>
                </a:rPr>
                <a:t>冷却风机</a:t>
              </a:r>
              <a:endParaRPr lang="zh-CN" altLang="zh-CN" sz="1800" b="0">
                <a:ea typeface="黑体" panose="02010609060101010101" pitchFamily="49" charset="-122"/>
                <a:cs typeface="Calibri" panose="020F0502020204030204" pitchFamily="34" charset="0"/>
              </a:endParaRPr>
            </a:p>
          </p:txBody>
        </p:sp>
        <p:sp>
          <p:nvSpPr>
            <p:cNvPr id="41993" name="Text Box 19"/>
            <p:cNvSpPr txBox="1">
              <a:spLocks noChangeArrowheads="1"/>
            </p:cNvSpPr>
            <p:nvPr/>
          </p:nvSpPr>
          <p:spPr bwMode="auto">
            <a:xfrm>
              <a:off x="2452" y="3656"/>
              <a:ext cx="1060" cy="2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Calibri" panose="020F0502020204030204" pitchFamily="34" charset="0"/>
                </a:rPr>
                <a:t>主动力机</a:t>
              </a:r>
              <a:endParaRPr lang="zh-CN" altLang="zh-CN" sz="1800" b="0">
                <a:ea typeface="黑体" panose="02010609060101010101" pitchFamily="49" charset="-122"/>
                <a:cs typeface="Calibri" panose="020F0502020204030204" pitchFamily="34" charset="0"/>
              </a:endParaRPr>
            </a:p>
          </p:txBody>
        </p:sp>
        <p:sp>
          <p:nvSpPr>
            <p:cNvPr id="41994" name="Text Box 18"/>
            <p:cNvSpPr txBox="1">
              <a:spLocks noChangeArrowheads="1"/>
            </p:cNvSpPr>
            <p:nvPr/>
          </p:nvSpPr>
          <p:spPr bwMode="auto">
            <a:xfrm>
              <a:off x="2452" y="4133"/>
              <a:ext cx="1060" cy="2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Calibri" panose="020F0502020204030204" pitchFamily="34" charset="0"/>
                </a:rPr>
                <a:t>提环总成</a:t>
              </a:r>
              <a:endParaRPr lang="zh-CN" altLang="zh-CN" sz="1800" b="0">
                <a:ea typeface="黑体" panose="02010609060101010101" pitchFamily="49" charset="-122"/>
                <a:cs typeface="Calibri" panose="020F0502020204030204" pitchFamily="34" charset="0"/>
              </a:endParaRPr>
            </a:p>
          </p:txBody>
        </p:sp>
        <p:sp>
          <p:nvSpPr>
            <p:cNvPr id="41995" name="Text Box 17"/>
            <p:cNvSpPr txBox="1">
              <a:spLocks noChangeArrowheads="1"/>
            </p:cNvSpPr>
            <p:nvPr/>
          </p:nvSpPr>
          <p:spPr bwMode="auto">
            <a:xfrm>
              <a:off x="2334" y="4654"/>
              <a:ext cx="1061" cy="2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Calibri" panose="020F0502020204030204" pitchFamily="34" charset="0"/>
                </a:rPr>
                <a:t>减速箱</a:t>
              </a:r>
              <a:endParaRPr lang="zh-CN" altLang="zh-CN" sz="1800" b="0">
                <a:ea typeface="黑体" panose="02010609060101010101" pitchFamily="49" charset="-122"/>
                <a:cs typeface="Calibri" panose="020F0502020204030204" pitchFamily="34" charset="0"/>
              </a:endParaRPr>
            </a:p>
          </p:txBody>
        </p:sp>
        <p:sp>
          <p:nvSpPr>
            <p:cNvPr id="41996" name="AutoShape 16"/>
            <p:cNvSpPr/>
            <p:nvPr/>
          </p:nvSpPr>
          <p:spPr bwMode="auto">
            <a:xfrm>
              <a:off x="2219" y="2824"/>
              <a:ext cx="140" cy="2044"/>
            </a:xfrm>
            <a:prstGeom prst="leftBrace">
              <a:avLst>
                <a:gd name="adj1" fmla="val 121667"/>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41997" name="Text Box 15"/>
            <p:cNvSpPr txBox="1">
              <a:spLocks noChangeArrowheads="1"/>
            </p:cNvSpPr>
            <p:nvPr/>
          </p:nvSpPr>
          <p:spPr bwMode="auto">
            <a:xfrm>
              <a:off x="1835" y="3177"/>
              <a:ext cx="270" cy="13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Arial" panose="020B0604020202020204" pitchFamily="34" charset="0"/>
                </a:rPr>
                <a:t>动力水龙头</a:t>
              </a:r>
              <a:endParaRPr lang="zh-CN" altLang="zh-CN" sz="1800" b="0">
                <a:ea typeface="黑体" panose="02010609060101010101" pitchFamily="49" charset="-122"/>
                <a:cs typeface="Arial" panose="020B0604020202020204" pitchFamily="34" charset="0"/>
              </a:endParaRPr>
            </a:p>
          </p:txBody>
        </p:sp>
        <p:sp>
          <p:nvSpPr>
            <p:cNvPr id="41998" name="Line 14"/>
            <p:cNvSpPr>
              <a:spLocks noChangeShapeType="1"/>
            </p:cNvSpPr>
            <p:nvPr/>
          </p:nvSpPr>
          <p:spPr bwMode="auto">
            <a:xfrm flipH="1" flipV="1">
              <a:off x="3464" y="2925"/>
              <a:ext cx="1304" cy="58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999" name="Line 13"/>
            <p:cNvSpPr>
              <a:spLocks noChangeShapeType="1"/>
            </p:cNvSpPr>
            <p:nvPr/>
          </p:nvSpPr>
          <p:spPr bwMode="auto">
            <a:xfrm flipH="1" flipV="1">
              <a:off x="3444" y="3837"/>
              <a:ext cx="796" cy="35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0" name="Line 12"/>
            <p:cNvSpPr>
              <a:spLocks noChangeShapeType="1"/>
            </p:cNvSpPr>
            <p:nvPr/>
          </p:nvSpPr>
          <p:spPr bwMode="auto">
            <a:xfrm flipH="1" flipV="1">
              <a:off x="3464" y="4310"/>
              <a:ext cx="1304" cy="58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1" name="Line 11"/>
            <p:cNvSpPr>
              <a:spLocks noChangeShapeType="1"/>
            </p:cNvSpPr>
            <p:nvPr/>
          </p:nvSpPr>
          <p:spPr bwMode="auto">
            <a:xfrm flipH="1" flipV="1">
              <a:off x="3457" y="3342"/>
              <a:ext cx="880" cy="27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2" name="Line 10"/>
            <p:cNvSpPr>
              <a:spLocks noChangeShapeType="1"/>
            </p:cNvSpPr>
            <p:nvPr/>
          </p:nvSpPr>
          <p:spPr bwMode="auto">
            <a:xfrm flipH="1" flipV="1">
              <a:off x="3233" y="4833"/>
              <a:ext cx="1535" cy="68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3" name="Text Box 9"/>
            <p:cNvSpPr txBox="1">
              <a:spLocks noChangeArrowheads="1"/>
            </p:cNvSpPr>
            <p:nvPr/>
          </p:nvSpPr>
          <p:spPr bwMode="auto">
            <a:xfrm>
              <a:off x="2407" y="6530"/>
              <a:ext cx="1060" cy="2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Arial" panose="020B0604020202020204" pitchFamily="34" charset="0"/>
                </a:rPr>
                <a:t>旋转机构</a:t>
              </a:r>
              <a:endParaRPr lang="zh-CN" altLang="zh-CN" sz="1800" b="0">
                <a:ea typeface="黑体" panose="02010609060101010101" pitchFamily="49" charset="-122"/>
                <a:cs typeface="Arial" panose="020B0604020202020204" pitchFamily="34" charset="0"/>
              </a:endParaRPr>
            </a:p>
          </p:txBody>
        </p:sp>
        <p:sp>
          <p:nvSpPr>
            <p:cNvPr id="42004" name="Text Box 8"/>
            <p:cNvSpPr txBox="1">
              <a:spLocks noChangeArrowheads="1"/>
            </p:cNvSpPr>
            <p:nvPr/>
          </p:nvSpPr>
          <p:spPr bwMode="auto">
            <a:xfrm>
              <a:off x="2412" y="7140"/>
              <a:ext cx="1456" cy="2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Arial" panose="020B0604020202020204" pitchFamily="34" charset="0"/>
                </a:rPr>
                <a:t>吊环倾斜机构</a:t>
              </a:r>
              <a:endParaRPr lang="zh-CN" altLang="zh-CN" sz="1800" b="0">
                <a:ea typeface="黑体" panose="02010609060101010101" pitchFamily="49" charset="-122"/>
                <a:cs typeface="Arial" panose="020B0604020202020204" pitchFamily="34" charset="0"/>
              </a:endParaRPr>
            </a:p>
          </p:txBody>
        </p:sp>
        <p:sp>
          <p:nvSpPr>
            <p:cNvPr id="42005" name="Text Box 7"/>
            <p:cNvSpPr txBox="1">
              <a:spLocks noChangeArrowheads="1"/>
            </p:cNvSpPr>
            <p:nvPr/>
          </p:nvSpPr>
          <p:spPr bwMode="auto">
            <a:xfrm>
              <a:off x="2201" y="7777"/>
              <a:ext cx="1061" cy="2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Arial" panose="020B0604020202020204" pitchFamily="34" charset="0"/>
                </a:rPr>
                <a:t>背钳</a:t>
              </a:r>
              <a:endParaRPr lang="zh-CN" altLang="zh-CN" sz="1800" b="0">
                <a:ea typeface="黑体" panose="02010609060101010101" pitchFamily="49" charset="-122"/>
                <a:cs typeface="Arial" panose="020B0604020202020204" pitchFamily="34" charset="0"/>
              </a:endParaRPr>
            </a:p>
          </p:txBody>
        </p:sp>
        <p:sp>
          <p:nvSpPr>
            <p:cNvPr id="42006" name="AutoShape 6"/>
            <p:cNvSpPr/>
            <p:nvPr/>
          </p:nvSpPr>
          <p:spPr bwMode="auto">
            <a:xfrm>
              <a:off x="2193" y="6596"/>
              <a:ext cx="188" cy="1400"/>
            </a:xfrm>
            <a:prstGeom prst="leftBrace">
              <a:avLst>
                <a:gd name="adj1" fmla="val 62057"/>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42007" name="Text Box 5"/>
            <p:cNvSpPr txBox="1">
              <a:spLocks noChangeArrowheads="1"/>
            </p:cNvSpPr>
            <p:nvPr/>
          </p:nvSpPr>
          <p:spPr bwMode="auto">
            <a:xfrm>
              <a:off x="1800" y="6560"/>
              <a:ext cx="305" cy="14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zh-CN" sz="1000" b="0">
                  <a:latin typeface="黑体" panose="02010609060101010101" pitchFamily="49" charset="-122"/>
                  <a:ea typeface="黑体" panose="02010609060101010101" pitchFamily="49" charset="-122"/>
                  <a:cs typeface="Arial" panose="020B0604020202020204" pitchFamily="34" charset="0"/>
                </a:rPr>
                <a:t>管子处理装置</a:t>
              </a:r>
              <a:endParaRPr lang="zh-CN" altLang="zh-CN" sz="1800" b="0">
                <a:ea typeface="黑体" panose="02010609060101010101" pitchFamily="49" charset="-122"/>
                <a:cs typeface="Arial" panose="020B0604020202020204" pitchFamily="34" charset="0"/>
              </a:endParaRPr>
            </a:p>
          </p:txBody>
        </p:sp>
        <p:sp>
          <p:nvSpPr>
            <p:cNvPr id="42008" name="Line 4"/>
            <p:cNvSpPr>
              <a:spLocks noChangeShapeType="1"/>
            </p:cNvSpPr>
            <p:nvPr/>
          </p:nvSpPr>
          <p:spPr bwMode="auto">
            <a:xfrm flipH="1">
              <a:off x="3411" y="6224"/>
              <a:ext cx="1609" cy="47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9" name="Line 3"/>
            <p:cNvSpPr>
              <a:spLocks noChangeShapeType="1"/>
            </p:cNvSpPr>
            <p:nvPr/>
          </p:nvSpPr>
          <p:spPr bwMode="auto">
            <a:xfrm flipH="1">
              <a:off x="3796" y="7029"/>
              <a:ext cx="972" cy="28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0" name="Line 2"/>
            <p:cNvSpPr>
              <a:spLocks noChangeShapeType="1"/>
            </p:cNvSpPr>
            <p:nvPr/>
          </p:nvSpPr>
          <p:spPr bwMode="auto">
            <a:xfrm flipH="1">
              <a:off x="3015" y="7573"/>
              <a:ext cx="1929" cy="36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 name="内容占位符 2"/>
          <p:cNvSpPr txBox="1"/>
          <p:nvPr/>
        </p:nvSpPr>
        <p:spPr bwMode="auto">
          <a:xfrm>
            <a:off x="426085" y="1506220"/>
            <a:ext cx="3096260" cy="4196080"/>
          </a:xfrm>
          <a:prstGeom prst="rect">
            <a:avLst/>
          </a:prstGeom>
          <a:no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8" indent="0" eaLnBrk="0" hangingPunct="0">
              <a:lnSpc>
                <a:spcPct val="150000"/>
              </a:lnSpc>
              <a:spcBef>
                <a:spcPts val="800"/>
              </a:spcBef>
              <a:spcAft>
                <a:spcPts val="800"/>
              </a:spcAft>
              <a:buClr>
                <a:srgbClr val="0070C0"/>
              </a:buClr>
              <a:buSzPct val="120000"/>
              <a:buFont typeface="Wingdings" panose="05000000000000000000" pitchFamily="2" charset="2"/>
              <a:buNone/>
              <a:defRPr/>
            </a:pPr>
            <a:r>
              <a:rPr lang="zh-CN" altLang="en-US" sz="2800" dirty="0">
                <a:ea typeface="黑体" panose="02010609060101010101" pitchFamily="49" charset="-122"/>
                <a:cs typeface="Arial" panose="020B0604020202020204" pitchFamily="34" charset="0"/>
              </a:rPr>
              <a:t>顶驱主体包括：</a:t>
            </a:r>
          </a:p>
          <a:p>
            <a:pPr marL="584835" lvl="8" indent="-257175" eaLnBrk="0" hangingPunct="0">
              <a:lnSpc>
                <a:spcPct val="150000"/>
              </a:lnSpc>
              <a:spcBef>
                <a:spcPts val="800"/>
              </a:spcBef>
              <a:spcAft>
                <a:spcPts val="800"/>
              </a:spcAft>
              <a:buClr>
                <a:srgbClr val="0070C0"/>
              </a:buClr>
              <a:buSzPct val="120000"/>
              <a:buFont typeface="Wingdings" panose="05000000000000000000" charset="0"/>
              <a:buChar char="Ø"/>
              <a:defRPr/>
            </a:pPr>
            <a:r>
              <a:rPr lang="zh-CN" altLang="en-US" sz="2400" dirty="0">
                <a:ea typeface="黑体" panose="02010609060101010101" pitchFamily="49" charset="-122"/>
                <a:cs typeface="Arial" panose="020B0604020202020204" pitchFamily="34" charset="0"/>
              </a:rPr>
              <a:t>动力水龙头</a:t>
            </a:r>
          </a:p>
          <a:p>
            <a:pPr marL="584835" lvl="8" indent="-257175" eaLnBrk="0" hangingPunct="0">
              <a:lnSpc>
                <a:spcPct val="150000"/>
              </a:lnSpc>
              <a:spcBef>
                <a:spcPts val="800"/>
              </a:spcBef>
              <a:spcAft>
                <a:spcPts val="800"/>
              </a:spcAft>
              <a:buClr>
                <a:srgbClr val="0070C0"/>
              </a:buClr>
              <a:buSzPct val="120000"/>
              <a:buFont typeface="Wingdings" panose="05000000000000000000" charset="0"/>
              <a:buChar char="Ø"/>
              <a:defRPr/>
            </a:pPr>
            <a:r>
              <a:rPr lang="zh-CN" altLang="en-US" sz="2400" dirty="0">
                <a:ea typeface="黑体" panose="02010609060101010101" pitchFamily="49" charset="-122"/>
                <a:cs typeface="Arial" panose="020B0604020202020204" pitchFamily="34" charset="0"/>
              </a:rPr>
              <a:t>管子处理装置</a:t>
            </a:r>
          </a:p>
          <a:p>
            <a:pPr marL="584835" lvl="8" indent="-257175" eaLnBrk="0" hangingPunct="0">
              <a:lnSpc>
                <a:spcPct val="150000"/>
              </a:lnSpc>
              <a:spcBef>
                <a:spcPts val="800"/>
              </a:spcBef>
              <a:spcAft>
                <a:spcPts val="800"/>
              </a:spcAft>
              <a:buClr>
                <a:srgbClr val="0070C0"/>
              </a:buClr>
              <a:buSzPct val="120000"/>
              <a:buFont typeface="Wingdings" panose="05000000000000000000" charset="0"/>
              <a:buChar char="Ø"/>
              <a:defRPr/>
            </a:pPr>
            <a:r>
              <a:rPr lang="zh-CN" altLang="en-US" sz="2400" dirty="0">
                <a:ea typeface="黑体" panose="02010609060101010101" pitchFamily="49" charset="-122"/>
                <a:cs typeface="Arial" panose="020B0604020202020204" pitchFamily="34" charset="0"/>
                <a:sym typeface="+mn-ea"/>
              </a:rPr>
              <a:t>泥浆循环通道</a:t>
            </a:r>
            <a:endParaRPr lang="zh-CN" altLang="en-US" sz="2400" dirty="0">
              <a:ea typeface="黑体" panose="02010609060101010101" pitchFamily="49" charset="-122"/>
              <a:cs typeface="Arial" panose="020B0604020202020204" pitchFamily="34" charset="0"/>
            </a:endParaRPr>
          </a:p>
          <a:p>
            <a:pPr marL="584835" lvl="8" indent="-257175" eaLnBrk="0" hangingPunct="0">
              <a:lnSpc>
                <a:spcPct val="150000"/>
              </a:lnSpc>
              <a:spcBef>
                <a:spcPts val="800"/>
              </a:spcBef>
              <a:spcAft>
                <a:spcPts val="800"/>
              </a:spcAft>
              <a:buClr>
                <a:srgbClr val="0070C0"/>
              </a:buClr>
              <a:buSzPct val="120000"/>
              <a:buFont typeface="Wingdings" panose="05000000000000000000" charset="0"/>
              <a:buChar char="Ø"/>
              <a:defRPr/>
            </a:pPr>
            <a:r>
              <a:rPr lang="zh-CN" altLang="en-US" sz="2400" dirty="0">
                <a:ea typeface="黑体" panose="02010609060101010101" pitchFamily="49" charset="-122"/>
                <a:cs typeface="Arial" panose="020B0604020202020204" pitchFamily="34" charset="0"/>
                <a:sym typeface="+mn-ea"/>
              </a:rPr>
              <a:t>导轨与滑车</a:t>
            </a:r>
          </a:p>
        </p:txBody>
      </p:sp>
      <p:sp>
        <p:nvSpPr>
          <p:cNvPr id="5" name="文本框 4"/>
          <p:cNvSpPr txBox="1"/>
          <p:nvPr/>
        </p:nvSpPr>
        <p:spPr>
          <a:xfrm>
            <a:off x="2265045" y="164465"/>
            <a:ext cx="443992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北石顶驱组成结构</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bwMode="auto">
          <a:xfrm>
            <a:off x="836930" y="1655445"/>
            <a:ext cx="3947795" cy="4096385"/>
          </a:xfrm>
          <a:prstGeom prst="rect">
            <a:avLst/>
          </a:prstGeom>
          <a:noFill/>
          <a:ln w="9525">
            <a:noFill/>
            <a:miter lim="800000"/>
          </a:ln>
        </p:spPr>
        <p:txBody>
          <a:bodyPr/>
          <a:lstStyle/>
          <a:p>
            <a:pPr marL="0" lvl="8" algn="just">
              <a:lnSpc>
                <a:spcPct val="130000"/>
              </a:lnSpc>
              <a:spcBef>
                <a:spcPts val="800"/>
              </a:spcBef>
              <a:spcAft>
                <a:spcPts val="800"/>
              </a:spcAft>
              <a:buClr>
                <a:srgbClr val="0070C0"/>
              </a:buClr>
              <a:buSzPct val="120000"/>
              <a:defRPr/>
            </a:pPr>
            <a:r>
              <a:rPr lang="zh-CN" altLang="en-US" sz="2400" dirty="0">
                <a:latin typeface="楷体" panose="02010609060101010101" pitchFamily="49" charset="-122"/>
                <a:ea typeface="楷体" panose="02010609060101010101" pitchFamily="49" charset="-122"/>
                <a:cs typeface="Times New Roman" panose="02020603050405020304" pitchFamily="18" charset="0"/>
              </a:rPr>
              <a:t>   </a:t>
            </a:r>
            <a:r>
              <a:rPr lang="zh-CN" altLang="en-US" sz="2000" dirty="0">
                <a:latin typeface="黑体" panose="02010609060101010101" pitchFamily="49" charset="-122"/>
                <a:ea typeface="黑体" panose="02010609060101010101" pitchFamily="49" charset="-122"/>
                <a:cs typeface="Times New Roman" panose="02020603050405020304" pitchFamily="18" charset="0"/>
              </a:rPr>
              <a:t>动力水龙头是顶驱装置的主要部件之一，其上部与钻机提升系统的大钩或游车连接，下部与管子处理装置相连，在钻井作业时为钻柱钻进和上、卸扣提供旋转动力，是</a:t>
            </a:r>
            <a:r>
              <a:rPr lang="zh-CN" altLang="en-US" sz="20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钻井动力的来源</a:t>
            </a:r>
            <a:r>
              <a:rPr lang="zh-CN" altLang="en-US" sz="2000" dirty="0">
                <a:latin typeface="黑体" panose="02010609060101010101" pitchFamily="49" charset="-122"/>
                <a:ea typeface="黑体" panose="02010609060101010101" pitchFamily="49" charset="-122"/>
                <a:cs typeface="Times New Roman" panose="02020603050405020304" pitchFamily="18" charset="0"/>
              </a:rPr>
              <a:t>，同时用来承受起下钻、钻井时的载荷以及钻井扭矩。</a:t>
            </a:r>
          </a:p>
        </p:txBody>
      </p:sp>
      <p:pic>
        <p:nvPicPr>
          <p:cNvPr id="83973" name="Picture 3" descr="平衡油缸连接环"/>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072" y="1094482"/>
            <a:ext cx="3113088" cy="491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动力水龙头</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5"/>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86021" name="Text Box 17"/>
          <p:cNvSpPr txBox="1">
            <a:spLocks noChangeArrowheads="1"/>
          </p:cNvSpPr>
          <p:nvPr/>
        </p:nvSpPr>
        <p:spPr bwMode="auto">
          <a:xfrm>
            <a:off x="611188" y="1670050"/>
            <a:ext cx="4465637" cy="310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06400" indent="-406400">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latin typeface="黑体" panose="02010609060101010101" pitchFamily="49" charset="-122"/>
                <a:ea typeface="黑体" panose="02010609060101010101" pitchFamily="49" charset="-122"/>
              </a:rPr>
              <a:t>动力水龙头包括：</a:t>
            </a:r>
          </a:p>
          <a:p>
            <a:pPr eaLnBrk="1" hangingPunct="1">
              <a:spcBef>
                <a:spcPct val="50000"/>
              </a:spcBef>
              <a:buFont typeface="Wingdings" panose="05000000000000000000" pitchFamily="2" charset="2"/>
              <a:buAutoNum type="arabicPeriod"/>
            </a:pPr>
            <a:r>
              <a:rPr lang="zh-CN" altLang="en-US" sz="2800" dirty="0">
                <a:solidFill>
                  <a:srgbClr val="FF0000"/>
                </a:solidFill>
                <a:latin typeface="黑体" panose="02010609060101010101" pitchFamily="49" charset="-122"/>
                <a:ea typeface="黑体" panose="02010609060101010101" pitchFamily="49" charset="-122"/>
              </a:rPr>
              <a:t>提环总成</a:t>
            </a:r>
          </a:p>
          <a:p>
            <a:pPr eaLnBrk="1" hangingPunct="1">
              <a:spcBef>
                <a:spcPct val="50000"/>
              </a:spcBef>
              <a:buFont typeface="Wingdings" panose="05000000000000000000" pitchFamily="2" charset="2"/>
              <a:buAutoNum type="arabicPeriod"/>
            </a:pPr>
            <a:r>
              <a:rPr lang="zh-CN" altLang="en-US" sz="2800" dirty="0">
                <a:latin typeface="黑体" panose="02010609060101010101" pitchFamily="49" charset="-122"/>
                <a:ea typeface="黑体" panose="02010609060101010101" pitchFamily="49" charset="-122"/>
              </a:rPr>
              <a:t>冲管与鹅颈管总成</a:t>
            </a:r>
          </a:p>
          <a:p>
            <a:pPr eaLnBrk="1" hangingPunct="1">
              <a:spcBef>
                <a:spcPct val="50000"/>
              </a:spcBef>
              <a:buFont typeface="Wingdings" panose="05000000000000000000" pitchFamily="2" charset="2"/>
              <a:buAutoNum type="arabicPeriod"/>
            </a:pPr>
            <a:r>
              <a:rPr lang="zh-CN" altLang="en-US" sz="2800" dirty="0">
                <a:latin typeface="黑体" panose="02010609060101010101" pitchFamily="49" charset="-122"/>
                <a:ea typeface="黑体" panose="02010609060101010101" pitchFamily="49" charset="-122"/>
              </a:rPr>
              <a:t>电动机总成</a:t>
            </a:r>
          </a:p>
          <a:p>
            <a:pPr eaLnBrk="1" hangingPunct="1">
              <a:spcBef>
                <a:spcPct val="50000"/>
              </a:spcBef>
              <a:buFont typeface="Wingdings" panose="05000000000000000000" pitchFamily="2" charset="2"/>
              <a:buAutoNum type="arabicPeriod"/>
            </a:pPr>
            <a:r>
              <a:rPr lang="zh-CN" altLang="en-US" sz="2800" dirty="0">
                <a:latin typeface="黑体" panose="02010609060101010101" pitchFamily="49" charset="-122"/>
                <a:ea typeface="黑体" panose="02010609060101010101" pitchFamily="49" charset="-122"/>
              </a:rPr>
              <a:t>减速箱总成</a:t>
            </a:r>
          </a:p>
        </p:txBody>
      </p:sp>
      <p:grpSp>
        <p:nvGrpSpPr>
          <p:cNvPr id="86022" name="Group 30"/>
          <p:cNvGrpSpPr/>
          <p:nvPr/>
        </p:nvGrpSpPr>
        <p:grpSpPr bwMode="auto">
          <a:xfrm>
            <a:off x="4574540" y="1547813"/>
            <a:ext cx="3895725" cy="4267200"/>
            <a:chOff x="3288" y="890"/>
            <a:chExt cx="2454" cy="2688"/>
          </a:xfrm>
        </p:grpSpPr>
        <p:grpSp>
          <p:nvGrpSpPr>
            <p:cNvPr id="86023" name="Group 27"/>
            <p:cNvGrpSpPr/>
            <p:nvPr/>
          </p:nvGrpSpPr>
          <p:grpSpPr bwMode="auto">
            <a:xfrm>
              <a:off x="3288" y="890"/>
              <a:ext cx="2454" cy="2688"/>
              <a:chOff x="3288" y="890"/>
              <a:chExt cx="2454" cy="2688"/>
            </a:xfrm>
          </p:grpSpPr>
          <p:pic>
            <p:nvPicPr>
              <p:cNvPr id="86026" name="Picture 18" descr="动力水龙头"/>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8" y="890"/>
                <a:ext cx="1716" cy="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6027" name="Group 20"/>
              <p:cNvGrpSpPr/>
              <p:nvPr/>
            </p:nvGrpSpPr>
            <p:grpSpPr bwMode="auto">
              <a:xfrm>
                <a:off x="4513" y="1344"/>
                <a:ext cx="1229" cy="1821"/>
                <a:chOff x="6011" y="7711"/>
                <a:chExt cx="3072" cy="4553"/>
              </a:xfrm>
            </p:grpSpPr>
            <p:sp>
              <p:nvSpPr>
                <p:cNvPr id="86028" name="Line 21"/>
                <p:cNvSpPr>
                  <a:spLocks noChangeShapeType="1"/>
                </p:cNvSpPr>
                <p:nvPr/>
              </p:nvSpPr>
              <p:spPr bwMode="auto">
                <a:xfrm flipV="1">
                  <a:off x="6011" y="7874"/>
                  <a:ext cx="944" cy="48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29" name="Text Box 22"/>
                <p:cNvSpPr txBox="1">
                  <a:spLocks noChangeArrowheads="1"/>
                </p:cNvSpPr>
                <p:nvPr/>
              </p:nvSpPr>
              <p:spPr bwMode="auto">
                <a:xfrm>
                  <a:off x="7097" y="7711"/>
                  <a:ext cx="1560" cy="32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a:t>提环总成</a:t>
                  </a:r>
                  <a:endParaRPr lang="zh-CN" altLang="en-US" u="sng"/>
                </a:p>
              </p:txBody>
            </p:sp>
            <p:sp>
              <p:nvSpPr>
                <p:cNvPr id="86030" name="Line 23"/>
                <p:cNvSpPr>
                  <a:spLocks noChangeShapeType="1"/>
                </p:cNvSpPr>
                <p:nvPr/>
              </p:nvSpPr>
              <p:spPr bwMode="auto">
                <a:xfrm flipV="1">
                  <a:off x="6377" y="8863"/>
                  <a:ext cx="600" cy="1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31" name="Text Box 24"/>
                <p:cNvSpPr txBox="1">
                  <a:spLocks noChangeArrowheads="1"/>
                </p:cNvSpPr>
                <p:nvPr/>
              </p:nvSpPr>
              <p:spPr bwMode="auto">
                <a:xfrm>
                  <a:off x="7097" y="8700"/>
                  <a:ext cx="1560" cy="32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a:t>电动机总成</a:t>
                  </a:r>
                  <a:endParaRPr lang="zh-CN" altLang="en-US" u="sng"/>
                </a:p>
              </p:txBody>
            </p:sp>
            <p:sp>
              <p:nvSpPr>
                <p:cNvPr id="86032" name="Line 25"/>
                <p:cNvSpPr>
                  <a:spLocks noChangeShapeType="1"/>
                </p:cNvSpPr>
                <p:nvPr/>
              </p:nvSpPr>
              <p:spPr bwMode="auto">
                <a:xfrm flipV="1">
                  <a:off x="6137" y="11634"/>
                  <a:ext cx="960" cy="63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033" name="Text Box 26"/>
                <p:cNvSpPr txBox="1">
                  <a:spLocks noChangeArrowheads="1"/>
                </p:cNvSpPr>
                <p:nvPr/>
              </p:nvSpPr>
              <p:spPr bwMode="auto">
                <a:xfrm>
                  <a:off x="7211" y="11403"/>
                  <a:ext cx="1872" cy="32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a:t>减速箱总成</a:t>
                  </a:r>
                  <a:endParaRPr lang="zh-CN" altLang="en-US" u="sng"/>
                </a:p>
              </p:txBody>
            </p:sp>
          </p:grpSp>
        </p:grpSp>
        <p:sp>
          <p:nvSpPr>
            <p:cNvPr id="86024" name="Line 28"/>
            <p:cNvSpPr>
              <a:spLocks noChangeShapeType="1"/>
            </p:cNvSpPr>
            <p:nvPr/>
          </p:nvSpPr>
          <p:spPr bwMode="auto">
            <a:xfrm flipV="1">
              <a:off x="4422" y="2316"/>
              <a:ext cx="477" cy="11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025" name="Text Box 29"/>
            <p:cNvSpPr txBox="1">
              <a:spLocks noChangeArrowheads="1"/>
            </p:cNvSpPr>
            <p:nvPr/>
          </p:nvSpPr>
          <p:spPr bwMode="auto">
            <a:xfrm>
              <a:off x="4876" y="2215"/>
              <a:ext cx="79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000"/>
                <a:t>冲管与鹅颈管总成</a:t>
              </a:r>
              <a:endParaRPr lang="en-US" altLang="zh-CN" sz="1000"/>
            </a:p>
          </p:txBody>
        </p:sp>
      </p:gr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动力水龙头</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87045" name="Text Box 5"/>
          <p:cNvSpPr txBox="1">
            <a:spLocks noChangeArrowheads="1"/>
          </p:cNvSpPr>
          <p:nvPr/>
        </p:nvSpPr>
        <p:spPr bwMode="auto">
          <a:xfrm>
            <a:off x="753110" y="1767840"/>
            <a:ext cx="4299585" cy="3158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marL="0" lvl="8" algn="just">
              <a:lnSpc>
                <a:spcPct val="150000"/>
              </a:lnSpc>
              <a:spcBef>
                <a:spcPts val="800"/>
              </a:spcBef>
              <a:spcAft>
                <a:spcPts val="800"/>
              </a:spcAft>
              <a:buClr>
                <a:srgbClr val="0070C0"/>
              </a:buClr>
              <a:buSzPct val="120000"/>
              <a:buFontTx/>
              <a:defRPr/>
            </a:pPr>
            <a:r>
              <a:rPr lang="zh-CN" altLang="en-US" sz="2400" b="0" dirty="0">
                <a:latin typeface="黑体" panose="02010609060101010101" pitchFamily="49" charset="-122"/>
                <a:ea typeface="黑体" panose="02010609060101010101" pitchFamily="49" charset="-122"/>
                <a:cs typeface="黑体" panose="02010609060101010101" pitchFamily="49" charset="-122"/>
              </a:rPr>
              <a:t>提环总成</a:t>
            </a:r>
            <a:endParaRPr lang="zh-CN" altLang="en-US" sz="2000" b="0" dirty="0">
              <a:latin typeface="黑体" panose="02010609060101010101" pitchFamily="49" charset="-122"/>
              <a:ea typeface="黑体" panose="02010609060101010101" pitchFamily="49" charset="-122"/>
              <a:cs typeface="黑体" panose="02010609060101010101" pitchFamily="49" charset="-122"/>
            </a:endParaRPr>
          </a:p>
          <a:p>
            <a:pPr marL="0" lvl="8" algn="just">
              <a:lnSpc>
                <a:spcPct val="150000"/>
              </a:lnSpc>
              <a:spcBef>
                <a:spcPts val="800"/>
              </a:spcBef>
              <a:spcAft>
                <a:spcPts val="800"/>
              </a:spcAft>
              <a:buClr>
                <a:srgbClr val="0070C0"/>
              </a:buClr>
              <a:buSzPct val="120000"/>
              <a:buFontTx/>
              <a:defRPr/>
            </a:pPr>
            <a:r>
              <a:rPr lang="zh-CN" altLang="en-US" sz="2000" b="0" dirty="0">
                <a:latin typeface="黑体" panose="02010609060101010101" pitchFamily="49" charset="-122"/>
                <a:ea typeface="黑体" panose="02010609060101010101" pitchFamily="49" charset="-122"/>
                <a:cs typeface="黑体" panose="02010609060101010101" pitchFamily="49" charset="-122"/>
              </a:rPr>
              <a:t>    提环在顶驱装置中是非常重要的</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承载部件</a:t>
            </a:r>
            <a:r>
              <a:rPr lang="zh-CN" altLang="en-US" sz="2000" b="0" dirty="0">
                <a:latin typeface="黑体" panose="02010609060101010101" pitchFamily="49" charset="-122"/>
                <a:ea typeface="黑体" panose="02010609060101010101" pitchFamily="49" charset="-122"/>
                <a:cs typeface="黑体" panose="02010609060101010101" pitchFamily="49" charset="-122"/>
              </a:rPr>
              <a:t>，顶驱装置和管柱的总体重量都由提环承担。提环下部通过提环销与减速箱相连，上部挂在大钩或通过平衡油缸悬挂梁直接挂在游车上。</a:t>
            </a:r>
            <a:r>
              <a:rPr lang="zh-CN" altLang="en-US" sz="2000" dirty="0">
                <a:latin typeface="黑体" panose="02010609060101010101" pitchFamily="49" charset="-122"/>
                <a:ea typeface="黑体" panose="02010609060101010101" pitchFamily="49" charset="-122"/>
                <a:cs typeface="黑体" panose="02010609060101010101" pitchFamily="49" charset="-122"/>
              </a:rPr>
              <a:t> </a:t>
            </a:r>
          </a:p>
        </p:txBody>
      </p:sp>
      <p:sp>
        <p:nvSpPr>
          <p:cNvPr id="87047" name="Rectangle 20"/>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pic>
        <p:nvPicPr>
          <p:cNvPr id="87048" name="Picture 19" descr="挂大钩_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8363" y="1193800"/>
            <a:ext cx="2139950" cy="481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9" name="Line 22"/>
          <p:cNvSpPr>
            <a:spLocks noChangeShapeType="1"/>
          </p:cNvSpPr>
          <p:nvPr/>
        </p:nvSpPr>
        <p:spPr bwMode="auto">
          <a:xfrm flipV="1">
            <a:off x="7423150" y="1776413"/>
            <a:ext cx="762000" cy="3032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50" name="Text Box 23"/>
          <p:cNvSpPr txBox="1">
            <a:spLocks noChangeArrowheads="1"/>
          </p:cNvSpPr>
          <p:nvPr/>
        </p:nvSpPr>
        <p:spPr bwMode="auto">
          <a:xfrm>
            <a:off x="8261350" y="1665288"/>
            <a:ext cx="558800" cy="206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大钩</a:t>
            </a:r>
            <a:endParaRPr lang="zh-CN" altLang="en-US" u="sng"/>
          </a:p>
        </p:txBody>
      </p:sp>
      <p:sp>
        <p:nvSpPr>
          <p:cNvPr id="87051" name="Line 24"/>
          <p:cNvSpPr>
            <a:spLocks noChangeShapeType="1"/>
          </p:cNvSpPr>
          <p:nvPr/>
        </p:nvSpPr>
        <p:spPr bwMode="auto">
          <a:xfrm flipV="1">
            <a:off x="7499350" y="3317875"/>
            <a:ext cx="685800" cy="46196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52" name="Text Box 25"/>
          <p:cNvSpPr txBox="1">
            <a:spLocks noChangeArrowheads="1"/>
          </p:cNvSpPr>
          <p:nvPr/>
        </p:nvSpPr>
        <p:spPr bwMode="auto">
          <a:xfrm>
            <a:off x="8185150" y="3214688"/>
            <a:ext cx="635000" cy="206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提环</a:t>
            </a:r>
            <a:endParaRPr lang="zh-CN" altLang="en-US" u="sng"/>
          </a:p>
        </p:txBody>
      </p:sp>
      <p:sp>
        <p:nvSpPr>
          <p:cNvPr id="87053" name="Line 28"/>
          <p:cNvSpPr>
            <a:spLocks noChangeShapeType="1"/>
          </p:cNvSpPr>
          <p:nvPr/>
        </p:nvSpPr>
        <p:spPr bwMode="auto">
          <a:xfrm flipH="1" flipV="1">
            <a:off x="5732463" y="4929188"/>
            <a:ext cx="763587" cy="51276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054" name="Text Box 29"/>
          <p:cNvSpPr txBox="1">
            <a:spLocks noChangeArrowheads="1"/>
          </p:cNvSpPr>
          <p:nvPr/>
        </p:nvSpPr>
        <p:spPr bwMode="auto">
          <a:xfrm>
            <a:off x="5148263" y="4760913"/>
            <a:ext cx="682625" cy="206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提环销</a:t>
            </a:r>
            <a:endParaRPr lang="zh-CN" altLang="en-US" u="sng"/>
          </a:p>
        </p:txBody>
      </p:sp>
      <p:sp>
        <p:nvSpPr>
          <p:cNvPr id="140319" name="Oval 31"/>
          <p:cNvSpPr>
            <a:spLocks noChangeArrowheads="1"/>
          </p:cNvSpPr>
          <p:nvPr/>
        </p:nvSpPr>
        <p:spPr bwMode="auto">
          <a:xfrm>
            <a:off x="6496050" y="1468438"/>
            <a:ext cx="1389063" cy="3316287"/>
          </a:xfrm>
          <a:prstGeom prst="ellipse">
            <a:avLst/>
          </a:prstGeom>
          <a:noFill/>
          <a:ln w="254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动力水龙头</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0319"/>
                                        </p:tgtEl>
                                        <p:attrNameLst>
                                          <p:attrName>style.visibility</p:attrName>
                                        </p:attrNameLst>
                                      </p:cBhvr>
                                      <p:to>
                                        <p:strVal val="visible"/>
                                      </p:to>
                                    </p:set>
                                    <p:animEffect transition="in" filter="wipe(down)">
                                      <p:cBhvr>
                                        <p:cTn id="7" dur="1000"/>
                                        <p:tgtEl>
                                          <p:spTgt spid="140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319"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89093" name="Text Box 5"/>
          <p:cNvSpPr txBox="1">
            <a:spLocks noChangeArrowheads="1"/>
          </p:cNvSpPr>
          <p:nvPr/>
        </p:nvSpPr>
        <p:spPr bwMode="auto">
          <a:xfrm>
            <a:off x="325755" y="908050"/>
            <a:ext cx="4779645" cy="5347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marL="0" lvl="8" algn="just">
              <a:lnSpc>
                <a:spcPct val="130000"/>
              </a:lnSpc>
              <a:spcBef>
                <a:spcPts val="800"/>
              </a:spcBef>
              <a:spcAft>
                <a:spcPts val="800"/>
              </a:spcAft>
              <a:buClr>
                <a:srgbClr val="0070C0"/>
              </a:buClr>
              <a:buSzPct val="120000"/>
              <a:buNone/>
              <a:defRPr/>
            </a:pPr>
            <a:r>
              <a:rPr lang="zh-CN" altLang="en-US" sz="2800" dirty="0">
                <a:latin typeface="+mn-lt"/>
                <a:ea typeface="楷体" panose="02010609060101010101" pitchFamily="49" charset="-122"/>
              </a:rPr>
              <a:t>       </a:t>
            </a:r>
            <a:r>
              <a:rPr lang="zh-CN" altLang="en-US" sz="2000" b="0" dirty="0">
                <a:latin typeface="黑体" panose="02010609060101010101" pitchFamily="49" charset="-122"/>
                <a:ea typeface="黑体" panose="02010609060101010101" pitchFamily="49" charset="-122"/>
                <a:cs typeface="黑体" panose="02010609060101010101" pitchFamily="49" charset="-122"/>
              </a:rPr>
              <a:t>平衡系统与钻机提升系统的连接，分为两种方式：</a:t>
            </a:r>
          </a:p>
          <a:p>
            <a:pPr marL="0" lvl="8" algn="just">
              <a:lnSpc>
                <a:spcPct val="130000"/>
              </a:lnSpc>
              <a:spcBef>
                <a:spcPts val="800"/>
              </a:spcBef>
              <a:spcAft>
                <a:spcPts val="0"/>
              </a:spcAft>
              <a:buClr>
                <a:srgbClr val="0070C0"/>
              </a:buClr>
              <a:buSzPct val="120000"/>
              <a:buNone/>
              <a:defRPr/>
            </a:pPr>
            <a:r>
              <a:rPr lang="zh-CN" altLang="en-US" sz="2000" b="0" dirty="0">
                <a:latin typeface="黑体" panose="02010609060101010101" pitchFamily="49" charset="-122"/>
                <a:ea typeface="黑体" panose="02010609060101010101" pitchFamily="49" charset="-122"/>
                <a:cs typeface="黑体" panose="02010609060101010101" pitchFamily="49" charset="-122"/>
              </a:rPr>
              <a:t>1、与大钩吊耳相连 </a:t>
            </a:r>
          </a:p>
          <a:p>
            <a:pPr marL="0" lvl="8" algn="just">
              <a:lnSpc>
                <a:spcPct val="130000"/>
              </a:lnSpc>
              <a:spcBef>
                <a:spcPts val="800"/>
              </a:spcBef>
              <a:spcAft>
                <a:spcPts val="800"/>
              </a:spcAft>
              <a:buClr>
                <a:srgbClr val="0070C0"/>
              </a:buClr>
              <a:buSzPct val="120000"/>
              <a:buNone/>
              <a:defRPr/>
            </a:pPr>
            <a:r>
              <a:rPr lang="zh-CN" altLang="en-US" sz="2000" b="0" dirty="0">
                <a:latin typeface="黑体" panose="02010609060101010101" pitchFamily="49" charset="-122"/>
                <a:ea typeface="黑体" panose="02010609060101010101" pitchFamily="49" charset="-122"/>
                <a:cs typeface="黑体" panose="02010609060101010101" pitchFamily="49" charset="-122"/>
              </a:rPr>
              <a:t>       此时平衡油缸带有连接环，安装时只需将连接环挂在大钩两侧的副钩上即可实现平衡系统功能。 </a:t>
            </a:r>
          </a:p>
          <a:p>
            <a:pPr marL="0" lvl="8" algn="just">
              <a:lnSpc>
                <a:spcPct val="130000"/>
              </a:lnSpc>
              <a:spcBef>
                <a:spcPts val="800"/>
              </a:spcBef>
              <a:spcAft>
                <a:spcPts val="0"/>
              </a:spcAft>
              <a:buClr>
                <a:srgbClr val="0070C0"/>
              </a:buClr>
              <a:buSzPct val="120000"/>
              <a:buNone/>
              <a:defRPr/>
            </a:pPr>
            <a:r>
              <a:rPr lang="zh-CN" altLang="en-US" sz="2000" b="0" dirty="0">
                <a:latin typeface="黑体" panose="02010609060101010101" pitchFamily="49" charset="-122"/>
                <a:ea typeface="黑体" panose="02010609060101010101" pitchFamily="49" charset="-122"/>
                <a:cs typeface="黑体" panose="02010609060101010101" pitchFamily="49" charset="-122"/>
              </a:rPr>
              <a:t>2、与游车相连 </a:t>
            </a:r>
          </a:p>
          <a:p>
            <a:pPr marL="0" lvl="8" algn="just" defTabSz="914400">
              <a:lnSpc>
                <a:spcPct val="130000"/>
              </a:lnSpc>
              <a:spcBef>
                <a:spcPts val="800"/>
              </a:spcBef>
              <a:spcAft>
                <a:spcPts val="800"/>
              </a:spcAft>
              <a:buClr>
                <a:srgbClr val="0070C0"/>
              </a:buClr>
              <a:buSzPct val="120000"/>
              <a:buNone/>
              <a:defRPr/>
            </a:pPr>
            <a:r>
              <a:rPr lang="zh-CN" altLang="en-US" sz="2000" b="0" dirty="0">
                <a:latin typeface="黑体" panose="02010609060101010101" pitchFamily="49" charset="-122"/>
                <a:ea typeface="黑体" panose="02010609060101010101" pitchFamily="49" charset="-122"/>
                <a:cs typeface="黑体" panose="02010609060101010101" pitchFamily="49" charset="-122"/>
              </a:rPr>
              <a:t>       此时平衡油缸不带连接环，而是通过销子直接安装在平衡油缸悬挂梁上，安装时只要将提环和平衡油缸悬挂梁直接装入游车即可实现平衡系统功能。</a:t>
            </a:r>
            <a:r>
              <a:rPr lang="zh-CN" altLang="en-US" sz="2400" u="sng" dirty="0">
                <a:ea typeface="楷体" panose="02010609060101010101" pitchFamily="49" charset="-122"/>
              </a:rPr>
              <a:t> </a:t>
            </a:r>
            <a:endParaRPr lang="en-US" altLang="zh-CN" sz="2800" u="sng" dirty="0">
              <a:latin typeface="+mn-lt"/>
              <a:ea typeface="楷体" panose="02010609060101010101" pitchFamily="49" charset="-122"/>
            </a:endParaRPr>
          </a:p>
        </p:txBody>
      </p:sp>
      <p:sp>
        <p:nvSpPr>
          <p:cNvPr id="89095"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89096"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89097" name="Rectangle 10"/>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grpSp>
        <p:nvGrpSpPr>
          <p:cNvPr id="89098" name="Group 18"/>
          <p:cNvGrpSpPr/>
          <p:nvPr/>
        </p:nvGrpSpPr>
        <p:grpSpPr bwMode="auto">
          <a:xfrm>
            <a:off x="5270613" y="1291853"/>
            <a:ext cx="3703018" cy="2168897"/>
            <a:chOff x="3470" y="1294"/>
            <a:chExt cx="2080" cy="1374"/>
          </a:xfrm>
        </p:grpSpPr>
        <p:pic>
          <p:nvPicPr>
            <p:cNvPr id="89099" name="Picture 9"/>
            <p:cNvPicPr>
              <a:picLocks noChangeAspect="1" noChangeArrowheads="1"/>
            </p:cNvPicPr>
            <p:nvPr/>
          </p:nvPicPr>
          <p:blipFill>
            <a:blip r:embed="rId3">
              <a:extLst>
                <a:ext uri="{28A0092B-C50C-407E-A947-70E740481C1C}">
                  <a14:useLocalDpi xmlns:a14="http://schemas.microsoft.com/office/drawing/2010/main" val="0"/>
                </a:ext>
              </a:extLst>
            </a:blip>
            <a:srcRect b="36186"/>
            <a:stretch>
              <a:fillRect/>
            </a:stretch>
          </p:blipFill>
          <p:spPr bwMode="auto">
            <a:xfrm>
              <a:off x="3470" y="1294"/>
              <a:ext cx="1446" cy="1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9100" name="Group 11"/>
            <p:cNvGrpSpPr/>
            <p:nvPr/>
          </p:nvGrpSpPr>
          <p:grpSpPr bwMode="auto">
            <a:xfrm>
              <a:off x="4541" y="1344"/>
              <a:ext cx="1009" cy="913"/>
              <a:chOff x="6251" y="2112"/>
              <a:chExt cx="2522" cy="2282"/>
            </a:xfrm>
          </p:grpSpPr>
          <p:sp>
            <p:nvSpPr>
              <p:cNvPr id="89101" name="Line 12"/>
              <p:cNvSpPr>
                <a:spLocks noChangeShapeType="1"/>
              </p:cNvSpPr>
              <p:nvPr/>
            </p:nvSpPr>
            <p:spPr bwMode="auto">
              <a:xfrm flipV="1">
                <a:off x="6493" y="2927"/>
                <a:ext cx="598" cy="30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9102" name="Text Box 13"/>
              <p:cNvSpPr txBox="1">
                <a:spLocks noChangeArrowheads="1"/>
              </p:cNvSpPr>
              <p:nvPr/>
            </p:nvSpPr>
            <p:spPr bwMode="auto">
              <a:xfrm>
                <a:off x="7211" y="2112"/>
                <a:ext cx="156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连接环</a:t>
                </a:r>
                <a:endParaRPr lang="zh-CN" altLang="en-US" u="sng"/>
              </a:p>
            </p:txBody>
          </p:sp>
          <p:sp>
            <p:nvSpPr>
              <p:cNvPr id="89103" name="Line 14"/>
              <p:cNvSpPr>
                <a:spLocks noChangeShapeType="1"/>
              </p:cNvSpPr>
              <p:nvPr/>
            </p:nvSpPr>
            <p:spPr bwMode="auto">
              <a:xfrm flipV="1">
                <a:off x="6493" y="2263"/>
                <a:ext cx="600" cy="1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9104" name="Text Box 15"/>
              <p:cNvSpPr txBox="1">
                <a:spLocks noChangeArrowheads="1"/>
              </p:cNvSpPr>
              <p:nvPr/>
            </p:nvSpPr>
            <p:spPr bwMode="auto">
              <a:xfrm>
                <a:off x="7213" y="2752"/>
                <a:ext cx="156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平衡油缸</a:t>
                </a:r>
                <a:endParaRPr lang="zh-CN" altLang="en-US" u="sng"/>
              </a:p>
            </p:txBody>
          </p:sp>
          <p:sp>
            <p:nvSpPr>
              <p:cNvPr id="89105" name="Line 16"/>
              <p:cNvSpPr>
                <a:spLocks noChangeShapeType="1"/>
              </p:cNvSpPr>
              <p:nvPr/>
            </p:nvSpPr>
            <p:spPr bwMode="auto">
              <a:xfrm flipV="1">
                <a:off x="6251" y="4068"/>
                <a:ext cx="842" cy="32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9106" name="Text Box 17"/>
              <p:cNvSpPr txBox="1">
                <a:spLocks noChangeArrowheads="1"/>
              </p:cNvSpPr>
              <p:nvPr/>
            </p:nvSpPr>
            <p:spPr bwMode="auto">
              <a:xfrm>
                <a:off x="7213" y="3905"/>
                <a:ext cx="156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提环</a:t>
                </a:r>
                <a:endParaRPr lang="zh-CN" altLang="en-US" u="sng"/>
              </a:p>
            </p:txBody>
          </p:sp>
        </p:grpSp>
      </p:grpSp>
      <p:grpSp>
        <p:nvGrpSpPr>
          <p:cNvPr id="20" name="组合 19"/>
          <p:cNvGrpSpPr/>
          <p:nvPr/>
        </p:nvGrpSpPr>
        <p:grpSpPr>
          <a:xfrm>
            <a:off x="5224618" y="3965070"/>
            <a:ext cx="3888432" cy="2234778"/>
            <a:chOff x="4356100" y="1833563"/>
            <a:chExt cx="5239113" cy="3022600"/>
          </a:xfrm>
        </p:grpSpPr>
        <p:pic>
          <p:nvPicPr>
            <p:cNvPr id="21" name="Picture 19"/>
            <p:cNvPicPr>
              <a:picLocks noChangeAspect="1" noChangeArrowheads="1"/>
            </p:cNvPicPr>
            <p:nvPr/>
          </p:nvPicPr>
          <p:blipFill>
            <a:blip r:embed="rId4" cstate="print">
              <a:extLst>
                <a:ext uri="{28A0092B-C50C-407E-A947-70E740481C1C}">
                  <a14:useLocalDpi xmlns:a14="http://schemas.microsoft.com/office/drawing/2010/main" val="0"/>
                </a:ext>
              </a:extLst>
            </a:blip>
            <a:srcRect b="23161"/>
            <a:stretch>
              <a:fillRect/>
            </a:stretch>
          </p:blipFill>
          <p:spPr bwMode="auto">
            <a:xfrm>
              <a:off x="4356100" y="1833563"/>
              <a:ext cx="3062288" cy="302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Line 22"/>
            <p:cNvSpPr>
              <a:spLocks noChangeShapeType="1"/>
            </p:cNvSpPr>
            <p:nvPr/>
          </p:nvSpPr>
          <p:spPr bwMode="auto">
            <a:xfrm flipV="1">
              <a:off x="7110413" y="2943225"/>
              <a:ext cx="485775" cy="2921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Text Box 23"/>
            <p:cNvSpPr txBox="1">
              <a:spLocks noChangeArrowheads="1"/>
            </p:cNvSpPr>
            <p:nvPr/>
          </p:nvSpPr>
          <p:spPr bwMode="auto">
            <a:xfrm>
              <a:off x="7577138" y="2174875"/>
              <a:ext cx="2018075" cy="307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dirty="0"/>
                <a:t>平衡油缸悬挂梁</a:t>
              </a:r>
              <a:endParaRPr lang="zh-CN" altLang="en-US" u="sng" dirty="0"/>
            </a:p>
          </p:txBody>
        </p:sp>
        <p:sp>
          <p:nvSpPr>
            <p:cNvPr id="24" name="Line 24"/>
            <p:cNvSpPr>
              <a:spLocks noChangeShapeType="1"/>
            </p:cNvSpPr>
            <p:nvPr/>
          </p:nvSpPr>
          <p:spPr bwMode="auto">
            <a:xfrm flipV="1">
              <a:off x="7110413" y="2316163"/>
              <a:ext cx="487362" cy="1397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 name="Text Box 25"/>
            <p:cNvSpPr txBox="1">
              <a:spLocks noChangeArrowheads="1"/>
            </p:cNvSpPr>
            <p:nvPr/>
          </p:nvSpPr>
          <p:spPr bwMode="auto">
            <a:xfrm>
              <a:off x="7696200" y="2779713"/>
              <a:ext cx="1268413" cy="307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平衡油缸</a:t>
              </a:r>
              <a:endParaRPr lang="zh-CN" altLang="en-US" u="sng"/>
            </a:p>
          </p:txBody>
        </p:sp>
        <p:sp>
          <p:nvSpPr>
            <p:cNvPr id="26" name="Line 26"/>
            <p:cNvSpPr>
              <a:spLocks noChangeShapeType="1"/>
            </p:cNvSpPr>
            <p:nvPr/>
          </p:nvSpPr>
          <p:spPr bwMode="auto">
            <a:xfrm flipV="1">
              <a:off x="6913563" y="4022725"/>
              <a:ext cx="684212" cy="3079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 name="Text Box 27"/>
            <p:cNvSpPr txBox="1">
              <a:spLocks noChangeArrowheads="1"/>
            </p:cNvSpPr>
            <p:nvPr/>
          </p:nvSpPr>
          <p:spPr bwMode="auto">
            <a:xfrm>
              <a:off x="7696200" y="3868738"/>
              <a:ext cx="1268413" cy="307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提环</a:t>
              </a:r>
              <a:endParaRPr lang="zh-CN" altLang="en-US" u="sng"/>
            </a:p>
          </p:txBody>
        </p:sp>
      </p:gr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动力水龙头</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2165" name="Text Box 5"/>
          <p:cNvSpPr txBox="1">
            <a:spLocks noChangeArrowheads="1"/>
          </p:cNvSpPr>
          <p:nvPr/>
        </p:nvSpPr>
        <p:spPr bwMode="auto">
          <a:xfrm>
            <a:off x="378460" y="1036320"/>
            <a:ext cx="4314190" cy="5187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ts val="800"/>
              </a:spcBef>
              <a:spcAft>
                <a:spcPts val="800"/>
              </a:spcAft>
            </a:pPr>
            <a:r>
              <a:rPr lang="zh-CN" altLang="en-US" sz="2400" b="0" dirty="0">
                <a:latin typeface="黑体" panose="02010609060101010101" pitchFamily="49" charset="-122"/>
                <a:ea typeface="黑体" panose="02010609060101010101" pitchFamily="49" charset="-122"/>
                <a:cs typeface="黑体" panose="02010609060101010101" pitchFamily="49" charset="-122"/>
              </a:rPr>
              <a:t>冲管与鹅颈管总成</a:t>
            </a:r>
            <a:r>
              <a:rPr lang="en-US" altLang="zh-CN" sz="2400" b="0" dirty="0">
                <a:latin typeface="黑体" panose="02010609060101010101" pitchFamily="49" charset="-122"/>
                <a:ea typeface="黑体" panose="02010609060101010101" pitchFamily="49" charset="-122"/>
                <a:cs typeface="黑体" panose="02010609060101010101" pitchFamily="49" charset="-122"/>
              </a:rPr>
              <a:t> </a:t>
            </a:r>
            <a:endParaRPr lang="en-US" altLang="zh-CN" sz="2000" b="0" dirty="0">
              <a:latin typeface="黑体" panose="02010609060101010101" pitchFamily="49" charset="-122"/>
              <a:ea typeface="黑体" panose="02010609060101010101" pitchFamily="49" charset="-122"/>
              <a:cs typeface="黑体" panose="02010609060101010101" pitchFamily="49" charset="-122"/>
            </a:endParaRPr>
          </a:p>
          <a:p>
            <a:pPr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包括鹅颈管、泥浆连接管以及冲管盘根总成等组成。</a:t>
            </a:r>
            <a:endParaRPr lang="en-US" altLang="zh-CN" sz="2000" b="0" dirty="0">
              <a:latin typeface="黑体" panose="02010609060101010101" pitchFamily="49" charset="-122"/>
              <a:ea typeface="黑体" panose="02010609060101010101" pitchFamily="49" charset="-122"/>
              <a:cs typeface="黑体" panose="02010609060101010101" pitchFamily="49" charset="-122"/>
            </a:endParaRPr>
          </a:p>
          <a:p>
            <a:pPr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鹅颈管下端与冲管盘根总成相连，上端打开后可以进行钢丝绳作业。鹅颈管鹅嘴端通过泥浆连接管与水龙带相连，是钻井液的入口。</a:t>
            </a:r>
            <a:endParaRPr lang="en-US" altLang="zh-CN" sz="2000" b="0" dirty="0">
              <a:latin typeface="黑体" panose="02010609060101010101" pitchFamily="49" charset="-122"/>
              <a:ea typeface="黑体" panose="02010609060101010101" pitchFamily="49" charset="-122"/>
              <a:cs typeface="黑体" panose="02010609060101010101" pitchFamily="49" charset="-122"/>
            </a:endParaRPr>
          </a:p>
          <a:p>
            <a:pPr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冲管盘根总成、鹅颈管的连接型式可分为公、英制，泥浆连接管与水龙带的接口可分为</a:t>
            </a:r>
            <a:r>
              <a:rPr lang="en-US" altLang="zh-CN" sz="2000" b="0" dirty="0">
                <a:latin typeface="黑体" panose="02010609060101010101" pitchFamily="49" charset="-122"/>
                <a:ea typeface="黑体" panose="02010609060101010101" pitchFamily="49" charset="-122"/>
                <a:cs typeface="黑体" panose="02010609060101010101" pitchFamily="49" charset="-122"/>
              </a:rPr>
              <a:t>1002</a:t>
            </a:r>
            <a:r>
              <a:rPr lang="zh-CN" altLang="en-US" sz="2000" b="0" dirty="0">
                <a:latin typeface="黑体" panose="02010609060101010101" pitchFamily="49" charset="-122"/>
                <a:ea typeface="黑体" panose="02010609060101010101" pitchFamily="49" charset="-122"/>
                <a:cs typeface="黑体" panose="02010609060101010101" pitchFamily="49" charset="-122"/>
              </a:rPr>
              <a:t>、</a:t>
            </a:r>
            <a:r>
              <a:rPr lang="en-US" altLang="zh-CN" sz="2000" b="0" dirty="0">
                <a:latin typeface="黑体" panose="02010609060101010101" pitchFamily="49" charset="-122"/>
                <a:ea typeface="黑体" panose="02010609060101010101" pitchFamily="49" charset="-122"/>
                <a:cs typeface="黑体" panose="02010609060101010101" pitchFamily="49" charset="-122"/>
              </a:rPr>
              <a:t>1003</a:t>
            </a:r>
            <a:r>
              <a:rPr lang="zh-CN" altLang="en-US" sz="2000" b="0" dirty="0">
                <a:latin typeface="黑体" panose="02010609060101010101" pitchFamily="49" charset="-122"/>
                <a:ea typeface="黑体" panose="02010609060101010101" pitchFamily="49" charset="-122"/>
                <a:cs typeface="黑体" panose="02010609060101010101" pitchFamily="49" charset="-122"/>
              </a:rPr>
              <a:t>等形式。</a:t>
            </a:r>
          </a:p>
        </p:txBody>
      </p:sp>
      <p:sp>
        <p:nvSpPr>
          <p:cNvPr id="9216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216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216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8" name="Line 17"/>
          <p:cNvSpPr>
            <a:spLocks noChangeShapeType="1"/>
          </p:cNvSpPr>
          <p:nvPr/>
        </p:nvSpPr>
        <p:spPr bwMode="auto">
          <a:xfrm flipV="1">
            <a:off x="6640513" y="2413794"/>
            <a:ext cx="738187" cy="3794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3" name="组合 2"/>
          <p:cNvGrpSpPr/>
          <p:nvPr/>
        </p:nvGrpSpPr>
        <p:grpSpPr>
          <a:xfrm>
            <a:off x="4870756" y="1993107"/>
            <a:ext cx="4223407" cy="3725862"/>
            <a:chOff x="4588633" y="1653382"/>
            <a:chExt cx="4223407" cy="3725862"/>
          </a:xfrm>
        </p:grpSpPr>
        <p:pic>
          <p:nvPicPr>
            <p:cNvPr id="14" name="Picture 11" descr="鹅颈管"/>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0700" y="2413794"/>
              <a:ext cx="2247900" cy="296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14"/>
            <p:cNvSpPr txBox="1">
              <a:spLocks noChangeArrowheads="1"/>
            </p:cNvSpPr>
            <p:nvPr/>
          </p:nvSpPr>
          <p:spPr bwMode="auto">
            <a:xfrm>
              <a:off x="7778749" y="3080544"/>
              <a:ext cx="1033291" cy="206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dirty="0"/>
                <a:t>泥浆连接管</a:t>
              </a:r>
              <a:endParaRPr lang="zh-CN" altLang="en-US" u="sng" dirty="0"/>
            </a:p>
          </p:txBody>
        </p:sp>
        <p:sp>
          <p:nvSpPr>
            <p:cNvPr id="16" name="Line 15"/>
            <p:cNvSpPr>
              <a:spLocks noChangeShapeType="1"/>
            </p:cNvSpPr>
            <p:nvPr/>
          </p:nvSpPr>
          <p:spPr bwMode="auto">
            <a:xfrm flipV="1">
              <a:off x="7023100" y="3285332"/>
              <a:ext cx="682625" cy="31432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Text Box 16"/>
            <p:cNvSpPr txBox="1">
              <a:spLocks noChangeArrowheads="1"/>
            </p:cNvSpPr>
            <p:nvPr/>
          </p:nvSpPr>
          <p:spPr bwMode="auto">
            <a:xfrm>
              <a:off x="7397824" y="2196133"/>
              <a:ext cx="990600" cy="2047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dirty="0"/>
                <a:t>鹅颈管</a:t>
              </a:r>
              <a:endParaRPr lang="zh-CN" altLang="en-US" u="sng" dirty="0"/>
            </a:p>
          </p:txBody>
        </p:sp>
        <p:sp>
          <p:nvSpPr>
            <p:cNvPr id="19" name="Text Box 18"/>
            <p:cNvSpPr txBox="1">
              <a:spLocks noChangeArrowheads="1"/>
            </p:cNvSpPr>
            <p:nvPr/>
          </p:nvSpPr>
          <p:spPr bwMode="auto">
            <a:xfrm>
              <a:off x="7900988" y="3731419"/>
              <a:ext cx="77470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水龙带</a:t>
              </a:r>
              <a:endParaRPr lang="zh-CN" altLang="en-US" u="sng"/>
            </a:p>
          </p:txBody>
        </p:sp>
        <p:sp>
          <p:nvSpPr>
            <p:cNvPr id="20" name="Line 19"/>
            <p:cNvSpPr>
              <a:spLocks noChangeShapeType="1"/>
            </p:cNvSpPr>
            <p:nvPr/>
          </p:nvSpPr>
          <p:spPr bwMode="auto">
            <a:xfrm flipV="1">
              <a:off x="7702550" y="3993357"/>
              <a:ext cx="252413" cy="7477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Text Box 22"/>
            <p:cNvSpPr txBox="1">
              <a:spLocks noChangeArrowheads="1"/>
            </p:cNvSpPr>
            <p:nvPr/>
          </p:nvSpPr>
          <p:spPr bwMode="auto">
            <a:xfrm>
              <a:off x="4588633" y="1875411"/>
              <a:ext cx="920750" cy="2047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dirty="0"/>
                <a:t>冲管支架</a:t>
              </a:r>
              <a:endParaRPr lang="zh-CN" altLang="en-US" u="sng" dirty="0"/>
            </a:p>
          </p:txBody>
        </p:sp>
        <p:sp>
          <p:nvSpPr>
            <p:cNvPr id="22" name="Line 23"/>
            <p:cNvSpPr>
              <a:spLocks noChangeShapeType="1"/>
            </p:cNvSpPr>
            <p:nvPr/>
          </p:nvSpPr>
          <p:spPr bwMode="auto">
            <a:xfrm flipH="1" flipV="1">
              <a:off x="5355430" y="2209007"/>
              <a:ext cx="440705" cy="102790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25"/>
            <p:cNvSpPr>
              <a:spLocks noChangeShapeType="1"/>
            </p:cNvSpPr>
            <p:nvPr/>
          </p:nvSpPr>
          <p:spPr bwMode="auto">
            <a:xfrm flipV="1">
              <a:off x="6184900" y="1907382"/>
              <a:ext cx="455613" cy="6540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Text Box 24"/>
            <p:cNvSpPr txBox="1">
              <a:spLocks noChangeArrowheads="1"/>
            </p:cNvSpPr>
            <p:nvPr/>
          </p:nvSpPr>
          <p:spPr bwMode="auto">
            <a:xfrm>
              <a:off x="6659563" y="1653382"/>
              <a:ext cx="920750" cy="206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dirty="0"/>
                <a:t>测井接头</a:t>
              </a:r>
              <a:endParaRPr lang="zh-CN" altLang="en-US" u="sng" dirty="0"/>
            </a:p>
          </p:txBody>
        </p:sp>
        <p:sp>
          <p:nvSpPr>
            <p:cNvPr id="26" name="Line 23"/>
            <p:cNvSpPr>
              <a:spLocks noChangeShapeType="1"/>
            </p:cNvSpPr>
            <p:nvPr/>
          </p:nvSpPr>
          <p:spPr bwMode="auto">
            <a:xfrm flipH="1">
              <a:off x="5724127" y="3324401"/>
              <a:ext cx="369838" cy="103197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 name="Text Box 22"/>
            <p:cNvSpPr txBox="1">
              <a:spLocks noChangeArrowheads="1"/>
            </p:cNvSpPr>
            <p:nvPr/>
          </p:nvSpPr>
          <p:spPr bwMode="auto">
            <a:xfrm>
              <a:off x="5017506" y="4409282"/>
              <a:ext cx="1270993" cy="2047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dirty="0"/>
                <a:t>冲管盘根总成</a:t>
              </a:r>
              <a:endParaRPr lang="zh-CN" altLang="en-US" u="sng" dirty="0"/>
            </a:p>
          </p:txBody>
        </p:sp>
      </p:grpSp>
      <p:sp>
        <p:nvSpPr>
          <p:cNvPr id="4" name="文本框 3"/>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动力水龙头</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5" name="Text Box 5"/>
          <p:cNvSpPr txBox="1">
            <a:spLocks noChangeArrowheads="1"/>
          </p:cNvSpPr>
          <p:nvPr/>
        </p:nvSpPr>
        <p:spPr bwMode="auto">
          <a:xfrm>
            <a:off x="1261745" y="2113915"/>
            <a:ext cx="2735580"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b="0" dirty="0">
                <a:latin typeface="黑体" panose="02010609060101010101" pitchFamily="49" charset="-122"/>
                <a:ea typeface="黑体" panose="02010609060101010101" pitchFamily="49" charset="-122"/>
                <a:cs typeface="黑体" panose="02010609060101010101" pitchFamily="49" charset="-122"/>
              </a:rPr>
              <a:t>电动机总成</a:t>
            </a:r>
            <a:r>
              <a:rPr lang="en-US" altLang="zh-CN" sz="2800" dirty="0">
                <a:latin typeface="黑体" panose="02010609060101010101" pitchFamily="49" charset="-122"/>
                <a:ea typeface="黑体" panose="02010609060101010101" pitchFamily="49" charset="-122"/>
                <a:cs typeface="黑体" panose="02010609060101010101" pitchFamily="49" charset="-122"/>
              </a:rPr>
              <a:t> </a:t>
            </a:r>
            <a:endParaRPr lang="en-US" altLang="zh-CN" sz="2800" dirty="0">
              <a:latin typeface="+mn-lt"/>
              <a:ea typeface="楷体" panose="02010609060101010101" pitchFamily="49" charset="-122"/>
            </a:endParaRPr>
          </a:p>
          <a:p>
            <a:pPr marL="0" lvl="2" eaLnBrk="1" hangingPunct="1">
              <a:lnSpc>
                <a:spcPct val="150000"/>
              </a:lnSpc>
              <a:buFont typeface="Wingdings" panose="05000000000000000000" pitchFamily="2" charset="2"/>
              <a:buChar char="Ø"/>
            </a:pPr>
            <a:r>
              <a:rPr lang="zh-CN" altLang="en-US" sz="2000" b="0" dirty="0">
                <a:latin typeface="黑体" panose="02010609060101010101" pitchFamily="49" charset="-122"/>
                <a:ea typeface="黑体" panose="02010609060101010101" pitchFamily="49" charset="-122"/>
                <a:cs typeface="黑体" panose="02010609060101010101" pitchFamily="49" charset="-122"/>
              </a:rPr>
              <a:t>冷却风机</a:t>
            </a:r>
          </a:p>
          <a:p>
            <a:pPr marL="0" lvl="2" eaLnBrk="1" hangingPunct="1">
              <a:lnSpc>
                <a:spcPct val="150000"/>
              </a:lnSpc>
              <a:buFont typeface="Wingdings" panose="05000000000000000000" pitchFamily="2" charset="2"/>
              <a:buChar char="Ø"/>
            </a:pPr>
            <a:r>
              <a:rPr lang="zh-CN" altLang="en-US" sz="2000" b="0" dirty="0">
                <a:latin typeface="黑体" panose="02010609060101010101" pitchFamily="49" charset="-122"/>
                <a:ea typeface="黑体" panose="02010609060101010101" pitchFamily="49" charset="-122"/>
                <a:cs typeface="黑体" panose="02010609060101010101" pitchFamily="49" charset="-122"/>
              </a:rPr>
              <a:t>刹车装置</a:t>
            </a:r>
          </a:p>
          <a:p>
            <a:pPr marL="0" lvl="2" eaLnBrk="1" hangingPunct="1">
              <a:lnSpc>
                <a:spcPct val="150000"/>
              </a:lnSpc>
              <a:buFont typeface="Wingdings" panose="05000000000000000000" pitchFamily="2" charset="2"/>
              <a:buChar char="Ø"/>
            </a:pPr>
            <a:r>
              <a:rPr lang="zh-CN" altLang="en-US" sz="2000" b="0" dirty="0">
                <a:latin typeface="黑体" panose="02010609060101010101" pitchFamily="49" charset="-122"/>
                <a:ea typeface="黑体" panose="02010609060101010101" pitchFamily="49" charset="-122"/>
                <a:cs typeface="黑体" panose="02010609060101010101" pitchFamily="49" charset="-122"/>
              </a:rPr>
              <a:t>编码器总成</a:t>
            </a:r>
          </a:p>
          <a:p>
            <a:pPr marL="0" lvl="2" eaLnBrk="1" hangingPunct="1">
              <a:lnSpc>
                <a:spcPct val="150000"/>
              </a:lnSpc>
              <a:buFont typeface="Wingdings" panose="05000000000000000000" pitchFamily="2" charset="2"/>
              <a:buChar char="Ø"/>
            </a:pPr>
            <a:r>
              <a:rPr lang="zh-CN" altLang="en-US" sz="2000" b="0" dirty="0">
                <a:latin typeface="黑体" panose="02010609060101010101" pitchFamily="49" charset="-122"/>
                <a:ea typeface="黑体" panose="02010609060101010101" pitchFamily="49" charset="-122"/>
                <a:cs typeface="黑体" panose="02010609060101010101" pitchFamily="49" charset="-122"/>
              </a:rPr>
              <a:t>主电机</a:t>
            </a:r>
            <a:r>
              <a:rPr lang="zh-CN" altLang="en-US" sz="2000" b="0" u="sng" dirty="0">
                <a:latin typeface="黑体" panose="02010609060101010101" pitchFamily="49" charset="-122"/>
                <a:ea typeface="黑体" panose="02010609060101010101" pitchFamily="49" charset="-122"/>
                <a:cs typeface="黑体" panose="02010609060101010101" pitchFamily="49" charset="-122"/>
              </a:rPr>
              <a:t> </a:t>
            </a:r>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grpSp>
        <p:nvGrpSpPr>
          <p:cNvPr id="97293" name="Group 23"/>
          <p:cNvGrpSpPr/>
          <p:nvPr/>
        </p:nvGrpSpPr>
        <p:grpSpPr bwMode="auto">
          <a:xfrm>
            <a:off x="4302261" y="1668119"/>
            <a:ext cx="4394200" cy="4692650"/>
            <a:chOff x="2926" y="784"/>
            <a:chExt cx="2768" cy="2964"/>
          </a:xfrm>
        </p:grpSpPr>
        <p:pic>
          <p:nvPicPr>
            <p:cNvPr id="97294" name="Picture 13" descr="电机"/>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6" y="784"/>
              <a:ext cx="957" cy="2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95" name="Line 15"/>
            <p:cNvSpPr>
              <a:spLocks noChangeShapeType="1"/>
            </p:cNvSpPr>
            <p:nvPr/>
          </p:nvSpPr>
          <p:spPr bwMode="auto">
            <a:xfrm flipH="1" flipV="1">
              <a:off x="3560" y="1158"/>
              <a:ext cx="590" cy="2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96" name="Text Box 16"/>
            <p:cNvSpPr txBox="1">
              <a:spLocks noChangeArrowheads="1"/>
            </p:cNvSpPr>
            <p:nvPr/>
          </p:nvSpPr>
          <p:spPr bwMode="auto">
            <a:xfrm>
              <a:off x="2971" y="1026"/>
              <a:ext cx="7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冷却风机</a:t>
              </a:r>
            </a:p>
          </p:txBody>
        </p:sp>
        <p:sp>
          <p:nvSpPr>
            <p:cNvPr id="97297" name="Line 17"/>
            <p:cNvSpPr>
              <a:spLocks noChangeShapeType="1"/>
            </p:cNvSpPr>
            <p:nvPr/>
          </p:nvSpPr>
          <p:spPr bwMode="auto">
            <a:xfrm flipH="1" flipV="1">
              <a:off x="3515" y="1705"/>
              <a:ext cx="590" cy="2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98" name="Text Box 18"/>
            <p:cNvSpPr txBox="1">
              <a:spLocks noChangeArrowheads="1"/>
            </p:cNvSpPr>
            <p:nvPr/>
          </p:nvSpPr>
          <p:spPr bwMode="auto">
            <a:xfrm>
              <a:off x="2926" y="1573"/>
              <a:ext cx="7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刹车装置</a:t>
              </a:r>
            </a:p>
          </p:txBody>
        </p:sp>
        <p:sp>
          <p:nvSpPr>
            <p:cNvPr id="97299" name="Line 19"/>
            <p:cNvSpPr>
              <a:spLocks noChangeShapeType="1"/>
            </p:cNvSpPr>
            <p:nvPr/>
          </p:nvSpPr>
          <p:spPr bwMode="auto">
            <a:xfrm flipV="1">
              <a:off x="4649" y="1573"/>
              <a:ext cx="318" cy="40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00" name="Text Box 20"/>
            <p:cNvSpPr txBox="1">
              <a:spLocks noChangeArrowheads="1"/>
            </p:cNvSpPr>
            <p:nvPr/>
          </p:nvSpPr>
          <p:spPr bwMode="auto">
            <a:xfrm>
              <a:off x="4924" y="1419"/>
              <a:ext cx="7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编码器总成</a:t>
              </a:r>
              <a:endParaRPr lang="en-US" altLang="zh-CN"/>
            </a:p>
          </p:txBody>
        </p:sp>
        <p:sp>
          <p:nvSpPr>
            <p:cNvPr id="97301" name="Line 21"/>
            <p:cNvSpPr>
              <a:spLocks noChangeShapeType="1"/>
            </p:cNvSpPr>
            <p:nvPr/>
          </p:nvSpPr>
          <p:spPr bwMode="auto">
            <a:xfrm flipH="1" flipV="1">
              <a:off x="3560" y="2596"/>
              <a:ext cx="590" cy="2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02" name="Text Box 22"/>
            <p:cNvSpPr txBox="1">
              <a:spLocks noChangeArrowheads="1"/>
            </p:cNvSpPr>
            <p:nvPr/>
          </p:nvSpPr>
          <p:spPr bwMode="auto">
            <a:xfrm>
              <a:off x="3063" y="2464"/>
              <a:ext cx="7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主电机</a:t>
              </a:r>
            </a:p>
          </p:txBody>
        </p:sp>
      </p:gr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动力水龙头</a:t>
            </a: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8"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8309" name="Text Box 5"/>
          <p:cNvSpPr txBox="1">
            <a:spLocks noChangeArrowheads="1"/>
          </p:cNvSpPr>
          <p:nvPr/>
        </p:nvSpPr>
        <p:spPr bwMode="auto">
          <a:xfrm>
            <a:off x="949960" y="1781175"/>
            <a:ext cx="3402330" cy="3382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ts val="800"/>
              </a:spcBef>
              <a:spcAft>
                <a:spcPts val="800"/>
              </a:spcAft>
            </a:pPr>
            <a:r>
              <a:rPr lang="zh-CN" altLang="en-US" sz="2400" b="0" dirty="0">
                <a:latin typeface="黑体" panose="02010609060101010101" pitchFamily="49" charset="-122"/>
                <a:ea typeface="黑体" panose="02010609060101010101" pitchFamily="49" charset="-122"/>
                <a:cs typeface="黑体" panose="02010609060101010101" pitchFamily="49" charset="-122"/>
              </a:rPr>
              <a:t>冷却风机</a:t>
            </a:r>
            <a:r>
              <a:rPr lang="zh-CN" altLang="en-US" sz="2000" b="0" dirty="0">
                <a:latin typeface="黑体" panose="02010609060101010101" pitchFamily="49" charset="-122"/>
                <a:ea typeface="黑体" panose="02010609060101010101" pitchFamily="49" charset="-122"/>
                <a:cs typeface="黑体" panose="02010609060101010101" pitchFamily="49" charset="-122"/>
              </a:rPr>
              <a:t> </a:t>
            </a:r>
          </a:p>
          <a:p>
            <a:pPr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主电机需要在强制风冷的状态下使用，冷却风机通常采用蜗壳式轴流风机，安装在主电机的上方，由隔爆三相交流异步电机驱动。</a:t>
            </a:r>
          </a:p>
          <a:p>
            <a:pPr eaLnBrk="1" hangingPunct="1">
              <a:lnSpc>
                <a:spcPct val="130000"/>
              </a:lnSpc>
              <a:spcBef>
                <a:spcPts val="800"/>
              </a:spcBef>
              <a:spcAft>
                <a:spcPts val="800"/>
              </a:spcAft>
            </a:pPr>
            <a:r>
              <a:rPr lang="zh-CN" altLang="en-US" sz="2000" b="0" dirty="0">
                <a:solidFill>
                  <a:srgbClr val="FF0000"/>
                </a:solidFill>
                <a:latin typeface="黑体" panose="02010609060101010101" pitchFamily="49" charset="-122"/>
                <a:ea typeface="黑体" panose="02010609060101010101" pitchFamily="49" charset="-122"/>
                <a:cs typeface="黑体" panose="02010609060101010101" pitchFamily="49" charset="-122"/>
              </a:rPr>
              <a:t>冷却风机额定功率</a:t>
            </a:r>
            <a:r>
              <a:rPr lang="en-US" altLang="zh-CN" sz="2000" b="0" dirty="0">
                <a:solidFill>
                  <a:srgbClr val="FF0000"/>
                </a:solidFill>
                <a:latin typeface="黑体" panose="02010609060101010101" pitchFamily="49" charset="-122"/>
                <a:ea typeface="黑体" panose="02010609060101010101" pitchFamily="49" charset="-122"/>
                <a:cs typeface="黑体" panose="02010609060101010101" pitchFamily="49" charset="-122"/>
              </a:rPr>
              <a:t>5.5kW</a:t>
            </a:r>
            <a:r>
              <a:rPr lang="zh-CN" altLang="en-US" sz="2000" b="0" dirty="0">
                <a:solidFill>
                  <a:srgbClr val="FF0000"/>
                </a:solidFill>
                <a:latin typeface="黑体" panose="02010609060101010101" pitchFamily="49" charset="-122"/>
                <a:ea typeface="黑体" panose="02010609060101010101" pitchFamily="49" charset="-122"/>
                <a:cs typeface="黑体" panose="02010609060101010101" pitchFamily="49" charset="-122"/>
              </a:rPr>
              <a:t>。</a:t>
            </a:r>
          </a:p>
        </p:txBody>
      </p:sp>
      <p:sp>
        <p:nvSpPr>
          <p:cNvPr id="98311"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8312"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8313"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8314"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8315"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grpSp>
        <p:nvGrpSpPr>
          <p:cNvPr id="12" name="组合 1"/>
          <p:cNvGrpSpPr/>
          <p:nvPr/>
        </p:nvGrpSpPr>
        <p:grpSpPr bwMode="auto">
          <a:xfrm>
            <a:off x="5064919" y="1620838"/>
            <a:ext cx="3732212" cy="3816350"/>
            <a:chOff x="5160963" y="1557338"/>
            <a:chExt cx="3732212" cy="3816350"/>
          </a:xfrm>
        </p:grpSpPr>
        <p:pic>
          <p:nvPicPr>
            <p:cNvPr id="13" name="Picture 19" descr="电机"/>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7763" y="1557338"/>
              <a:ext cx="12319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AutoShape 21" descr="浅色下对角线"/>
            <p:cNvSpPr>
              <a:spLocks noChangeArrowheads="1"/>
            </p:cNvSpPr>
            <p:nvPr/>
          </p:nvSpPr>
          <p:spPr bwMode="auto">
            <a:xfrm>
              <a:off x="5949950" y="2752725"/>
              <a:ext cx="685800" cy="395288"/>
            </a:xfrm>
            <a:prstGeom prst="curvedDownArrow">
              <a:avLst>
                <a:gd name="adj1" fmla="val 34699"/>
                <a:gd name="adj2" fmla="val 69398"/>
                <a:gd name="adj3" fmla="val 33333"/>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u="sng"/>
            </a:p>
          </p:txBody>
        </p:sp>
        <p:sp>
          <p:nvSpPr>
            <p:cNvPr id="15" name="AutoShape 22" descr="浅色下对角线"/>
            <p:cNvSpPr>
              <a:spLocks noChangeArrowheads="1"/>
            </p:cNvSpPr>
            <p:nvPr/>
          </p:nvSpPr>
          <p:spPr bwMode="auto">
            <a:xfrm rot="10800000">
              <a:off x="6940550" y="3373438"/>
              <a:ext cx="342900" cy="395287"/>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blipFill dpi="0" rotWithShape="0">
              <a:blip r:embed="rId3"/>
              <a:srcRect/>
              <a:tile tx="0" ty="0" sx="100000" sy="100000" flip="none" algn="tl"/>
            </a:blipFill>
            <a:ln w="9525" cap="rnd">
              <a:solidFill>
                <a:srgbClr val="000000"/>
              </a:solidFill>
              <a:prstDash val="sysDot"/>
              <a:miter lim="800000"/>
            </a:ln>
          </p:spPr>
          <p:txBody>
            <a:bodyPr/>
            <a:lstStyle/>
            <a:p>
              <a:endParaRPr lang="zh-CN" altLang="en-US"/>
            </a:p>
          </p:txBody>
        </p:sp>
        <p:sp>
          <p:nvSpPr>
            <p:cNvPr id="16" name="AutoShape 23" descr="浅色下对角线"/>
            <p:cNvSpPr>
              <a:spLocks noChangeArrowheads="1"/>
            </p:cNvSpPr>
            <p:nvPr/>
          </p:nvSpPr>
          <p:spPr bwMode="auto">
            <a:xfrm>
              <a:off x="6635750" y="3890963"/>
              <a:ext cx="228600" cy="692150"/>
            </a:xfrm>
            <a:prstGeom prst="downArrow">
              <a:avLst>
                <a:gd name="adj1" fmla="val 50000"/>
                <a:gd name="adj2" fmla="val 75694"/>
              </a:avLst>
            </a:prstGeom>
            <a:blipFill dpi="0" rotWithShape="0">
              <a:blip r:embed="rId3"/>
              <a:srcRect/>
              <a:tile tx="0" ty="0" sx="100000" sy="100000" flip="none" algn="tl"/>
            </a:blipFill>
            <a:ln w="9525" cap="rnd">
              <a:solidFill>
                <a:srgbClr val="000000"/>
              </a:solidFill>
              <a:prstDash val="sysDot"/>
              <a:miter lim="800000"/>
            </a:ln>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u="sng"/>
            </a:p>
          </p:txBody>
        </p:sp>
        <p:sp>
          <p:nvSpPr>
            <p:cNvPr id="17" name="AutoShape 24" descr="浅色下对角线"/>
            <p:cNvSpPr>
              <a:spLocks noChangeArrowheads="1"/>
            </p:cNvSpPr>
            <p:nvPr/>
          </p:nvSpPr>
          <p:spPr bwMode="auto">
            <a:xfrm rot="5400000">
              <a:off x="6822281" y="4863307"/>
              <a:ext cx="396875" cy="312738"/>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blipFill dpi="0" rotWithShape="0">
              <a:blip r:embed="rId3"/>
              <a:srcRect/>
              <a:tile tx="0" ty="0" sx="100000" sy="100000" flip="none" algn="tl"/>
            </a:blipFill>
            <a:ln w="9525" cap="rnd">
              <a:solidFill>
                <a:srgbClr val="000000"/>
              </a:solidFill>
              <a:prstDash val="sysDot"/>
              <a:miter lim="800000"/>
            </a:ln>
          </p:spPr>
          <p:txBody>
            <a:bodyPr/>
            <a:lstStyle/>
            <a:p>
              <a:endParaRPr lang="zh-CN" altLang="en-US"/>
            </a:p>
          </p:txBody>
        </p:sp>
        <p:sp>
          <p:nvSpPr>
            <p:cNvPr id="18" name="Line 25"/>
            <p:cNvSpPr>
              <a:spLocks noChangeShapeType="1"/>
            </p:cNvSpPr>
            <p:nvPr/>
          </p:nvSpPr>
          <p:spPr bwMode="auto">
            <a:xfrm flipH="1" flipV="1">
              <a:off x="6178550" y="2338388"/>
              <a:ext cx="609600" cy="51752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Text Box 26"/>
            <p:cNvSpPr txBox="1">
              <a:spLocks noChangeArrowheads="1"/>
            </p:cNvSpPr>
            <p:nvPr/>
          </p:nvSpPr>
          <p:spPr bwMode="auto">
            <a:xfrm>
              <a:off x="5313363" y="2133600"/>
              <a:ext cx="914400" cy="206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冷却风机</a:t>
              </a:r>
              <a:endParaRPr lang="zh-CN" altLang="en-US" u="sng"/>
            </a:p>
          </p:txBody>
        </p:sp>
        <p:sp>
          <p:nvSpPr>
            <p:cNvPr id="20" name="Line 27"/>
            <p:cNvSpPr>
              <a:spLocks noChangeShapeType="1"/>
            </p:cNvSpPr>
            <p:nvPr/>
          </p:nvSpPr>
          <p:spPr bwMode="auto">
            <a:xfrm flipH="1" flipV="1">
              <a:off x="5949950" y="4097338"/>
              <a:ext cx="533400" cy="51752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Text Box 28"/>
            <p:cNvSpPr txBox="1">
              <a:spLocks noChangeArrowheads="1"/>
            </p:cNvSpPr>
            <p:nvPr/>
          </p:nvSpPr>
          <p:spPr bwMode="auto">
            <a:xfrm>
              <a:off x="5313363" y="3890963"/>
              <a:ext cx="788987" cy="206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a:t>  </a:t>
              </a:r>
              <a:r>
                <a:rPr lang="zh-CN" altLang="en-US"/>
                <a:t>主电机</a:t>
              </a:r>
              <a:endParaRPr lang="zh-CN" altLang="en-US" u="sng"/>
            </a:p>
          </p:txBody>
        </p:sp>
        <p:sp>
          <p:nvSpPr>
            <p:cNvPr id="22" name="Line 29"/>
            <p:cNvSpPr>
              <a:spLocks noChangeShapeType="1"/>
            </p:cNvSpPr>
            <p:nvPr/>
          </p:nvSpPr>
          <p:spPr bwMode="auto">
            <a:xfrm flipH="1" flipV="1">
              <a:off x="5873750" y="2752725"/>
              <a:ext cx="609600" cy="5159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Text Box 30"/>
            <p:cNvSpPr txBox="1">
              <a:spLocks noChangeArrowheads="1"/>
            </p:cNvSpPr>
            <p:nvPr/>
          </p:nvSpPr>
          <p:spPr bwMode="auto">
            <a:xfrm>
              <a:off x="5160963" y="2546350"/>
              <a:ext cx="636587" cy="2079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吸风口</a:t>
              </a:r>
              <a:endParaRPr lang="zh-CN" altLang="en-US" u="sng"/>
            </a:p>
          </p:txBody>
        </p:sp>
        <p:sp>
          <p:nvSpPr>
            <p:cNvPr id="24" name="Line 31"/>
            <p:cNvSpPr>
              <a:spLocks noChangeShapeType="1"/>
            </p:cNvSpPr>
            <p:nvPr/>
          </p:nvSpPr>
          <p:spPr bwMode="auto">
            <a:xfrm flipV="1">
              <a:off x="7245350" y="4614863"/>
              <a:ext cx="838200" cy="41433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 name="Text Box 32"/>
            <p:cNvSpPr txBox="1">
              <a:spLocks noChangeArrowheads="1"/>
            </p:cNvSpPr>
            <p:nvPr/>
          </p:nvSpPr>
          <p:spPr bwMode="auto">
            <a:xfrm>
              <a:off x="8007350" y="4410075"/>
              <a:ext cx="669106" cy="2079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出风口</a:t>
              </a:r>
              <a:endParaRPr lang="zh-CN" altLang="en-US" u="sng"/>
            </a:p>
          </p:txBody>
        </p:sp>
        <p:sp>
          <p:nvSpPr>
            <p:cNvPr id="26" name="Line 33"/>
            <p:cNvSpPr>
              <a:spLocks noChangeShapeType="1"/>
            </p:cNvSpPr>
            <p:nvPr/>
          </p:nvSpPr>
          <p:spPr bwMode="auto">
            <a:xfrm flipH="1">
              <a:off x="7016750" y="2441575"/>
              <a:ext cx="914400" cy="7254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 name="Text Box 34"/>
            <p:cNvSpPr txBox="1">
              <a:spLocks noChangeArrowheads="1"/>
            </p:cNvSpPr>
            <p:nvPr/>
          </p:nvSpPr>
          <p:spPr bwMode="auto">
            <a:xfrm>
              <a:off x="8007350" y="2236788"/>
              <a:ext cx="885825" cy="206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出风管道</a:t>
              </a:r>
              <a:endParaRPr lang="zh-CN" altLang="en-US" u="sng"/>
            </a:p>
          </p:txBody>
        </p:sp>
        <p:sp>
          <p:nvSpPr>
            <p:cNvPr id="28" name="Line 35"/>
            <p:cNvSpPr>
              <a:spLocks noChangeShapeType="1"/>
            </p:cNvSpPr>
            <p:nvPr/>
          </p:nvSpPr>
          <p:spPr bwMode="auto">
            <a:xfrm flipH="1">
              <a:off x="6940550" y="1946275"/>
              <a:ext cx="990600" cy="7270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 name="Text Box 36"/>
            <p:cNvSpPr txBox="1">
              <a:spLocks noChangeArrowheads="1"/>
            </p:cNvSpPr>
            <p:nvPr/>
          </p:nvSpPr>
          <p:spPr bwMode="auto">
            <a:xfrm>
              <a:off x="8007350" y="1717675"/>
              <a:ext cx="885825"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风压开关</a:t>
              </a:r>
              <a:endParaRPr lang="zh-CN" altLang="en-US" u="sng"/>
            </a:p>
          </p:txBody>
        </p:sp>
      </p:gr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动力水龙头</a:t>
            </a: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2404" name="Rectangle 4"/>
          <p:cNvSpPr>
            <a:spLocks noChangeArrowheads="1"/>
          </p:cNvSpPr>
          <p:nvPr/>
        </p:nvSpPr>
        <p:spPr bwMode="auto">
          <a:xfrm>
            <a:off x="7704138" y="3094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2405" name="Text Box 5"/>
          <p:cNvSpPr txBox="1">
            <a:spLocks noChangeArrowheads="1"/>
          </p:cNvSpPr>
          <p:nvPr/>
        </p:nvSpPr>
        <p:spPr bwMode="auto">
          <a:xfrm>
            <a:off x="415925" y="1146810"/>
            <a:ext cx="3801110" cy="4582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spcBef>
                <a:spcPts val="800"/>
              </a:spcBef>
              <a:spcAft>
                <a:spcPts val="800"/>
              </a:spcAft>
            </a:pPr>
            <a:r>
              <a:rPr lang="zh-CN" altLang="en-US" sz="2400" b="0" dirty="0">
                <a:latin typeface="黑体" panose="02010609060101010101" pitchFamily="49" charset="-122"/>
                <a:ea typeface="黑体" panose="02010609060101010101" pitchFamily="49" charset="-122"/>
                <a:cs typeface="黑体" panose="02010609060101010101" pitchFamily="49" charset="-122"/>
              </a:rPr>
              <a:t>刹车装置</a:t>
            </a:r>
            <a:endParaRPr lang="zh-CN" altLang="en-US" sz="2000" b="0" dirty="0">
              <a:latin typeface="黑体" panose="02010609060101010101" pitchFamily="49" charset="-122"/>
              <a:ea typeface="黑体" panose="02010609060101010101" pitchFamily="49" charset="-122"/>
              <a:cs typeface="黑体" panose="02010609060101010101" pitchFamily="49" charset="-122"/>
            </a:endParaRPr>
          </a:p>
          <a:p>
            <a:pPr algn="just"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在主电机的上端轴伸处安装有刹车盘，与液压盘式刹车配合，构成了主电机的刹车装置。</a:t>
            </a:r>
          </a:p>
          <a:p>
            <a:pPr algn="just"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主要作用是在顶驱装置停止运行或使用井下动力钻具钻井时刹住主轴，以及主电机的快速制动和防止钻柱扭矩引起的主电机反转。卡钻时能使钻柱能量缓慢释放。</a:t>
            </a:r>
          </a:p>
        </p:txBody>
      </p:sp>
      <p:sp>
        <p:nvSpPr>
          <p:cNvPr id="102407" name="Rectangle 7"/>
          <p:cNvSpPr>
            <a:spLocks noChangeArrowheads="1"/>
          </p:cNvSpPr>
          <p:nvPr/>
        </p:nvSpPr>
        <p:spPr bwMode="auto">
          <a:xfrm>
            <a:off x="7329488" y="3587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2408" name="Rectangle 8"/>
          <p:cNvSpPr>
            <a:spLocks noChangeArrowheads="1"/>
          </p:cNvSpPr>
          <p:nvPr/>
        </p:nvSpPr>
        <p:spPr bwMode="auto">
          <a:xfrm>
            <a:off x="7339013" y="3363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2409" name="Rectangle 9"/>
          <p:cNvSpPr>
            <a:spLocks noChangeArrowheads="1"/>
          </p:cNvSpPr>
          <p:nvPr/>
        </p:nvSpPr>
        <p:spPr bwMode="auto">
          <a:xfrm>
            <a:off x="6965950" y="3643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2410" name="Rectangle 10"/>
          <p:cNvSpPr>
            <a:spLocks noChangeArrowheads="1"/>
          </p:cNvSpPr>
          <p:nvPr/>
        </p:nvSpPr>
        <p:spPr bwMode="auto">
          <a:xfrm>
            <a:off x="6527800" y="3028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2411" name="Rectangle 11"/>
          <p:cNvSpPr>
            <a:spLocks noChangeArrowheads="1"/>
          </p:cNvSpPr>
          <p:nvPr/>
        </p:nvSpPr>
        <p:spPr bwMode="auto">
          <a:xfrm>
            <a:off x="7237413" y="3317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2412" name="Rectangle 12"/>
          <p:cNvSpPr>
            <a:spLocks noChangeArrowheads="1"/>
          </p:cNvSpPr>
          <p:nvPr/>
        </p:nvSpPr>
        <p:spPr bwMode="auto">
          <a:xfrm>
            <a:off x="6596063" y="3106738"/>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pic>
        <p:nvPicPr>
          <p:cNvPr id="13" name="图片 43" descr="6-30 刹车盘检查.jpg"/>
          <p:cNvPicPr>
            <a:picLocks noChangeAspect="1"/>
          </p:cNvPicPr>
          <p:nvPr/>
        </p:nvPicPr>
        <p:blipFill>
          <a:blip r:embed="rId2" cstate="print">
            <a:extLst>
              <a:ext uri="{28A0092B-C50C-407E-A947-70E740481C1C}">
                <a14:useLocalDpi xmlns:a14="http://schemas.microsoft.com/office/drawing/2010/main" val="0"/>
              </a:ext>
            </a:extLst>
          </a:blip>
          <a:srcRect t="22133" b="24304"/>
          <a:stretch>
            <a:fillRect/>
          </a:stretch>
        </p:blipFill>
        <p:spPr bwMode="auto">
          <a:xfrm>
            <a:off x="5665364" y="1670748"/>
            <a:ext cx="3409951" cy="2575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44" descr="6-31 刹车盘放大.jp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11960" y="2729863"/>
            <a:ext cx="2327308" cy="3282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动力水龙头</a:t>
            </a: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6500" name="Rectangle 4"/>
          <p:cNvSpPr>
            <a:spLocks noChangeArrowheads="1"/>
          </p:cNvSpPr>
          <p:nvPr/>
        </p:nvSpPr>
        <p:spPr bwMode="auto">
          <a:xfrm>
            <a:off x="7704138" y="3094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6501" name="Text Box 5"/>
          <p:cNvSpPr txBox="1">
            <a:spLocks noChangeArrowheads="1"/>
          </p:cNvSpPr>
          <p:nvPr/>
        </p:nvSpPr>
        <p:spPr bwMode="auto">
          <a:xfrm>
            <a:off x="876300" y="1110615"/>
            <a:ext cx="4728210" cy="2376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spcBef>
                <a:spcPts val="800"/>
              </a:spcBef>
              <a:spcAft>
                <a:spcPts val="800"/>
              </a:spcAft>
            </a:pPr>
            <a:r>
              <a:rPr lang="zh-CN" altLang="en-US" sz="2400" b="0" dirty="0">
                <a:latin typeface="黑体" panose="02010609060101010101" pitchFamily="49" charset="-122"/>
                <a:ea typeface="黑体" panose="02010609060101010101" pitchFamily="49" charset="-122"/>
                <a:cs typeface="黑体" panose="02010609060101010101" pitchFamily="49" charset="-122"/>
              </a:rPr>
              <a:t>编码器总成</a:t>
            </a:r>
            <a:endParaRPr lang="en-US" altLang="zh-CN" sz="2000" b="0" dirty="0">
              <a:latin typeface="黑体" panose="02010609060101010101" pitchFamily="49" charset="-122"/>
              <a:ea typeface="黑体" panose="02010609060101010101" pitchFamily="49" charset="-122"/>
              <a:cs typeface="黑体" panose="02010609060101010101" pitchFamily="49" charset="-122"/>
            </a:endParaRPr>
          </a:p>
          <a:p>
            <a:pPr algn="just"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在主电机的上端轴伸处一般还安装有测速编码器，用以反馈主电机的转速信号，使交流变频系统能对主电机进行精确的转速、扭矩控制。</a:t>
            </a:r>
            <a:r>
              <a:rPr lang="zh-CN" altLang="en-US" sz="2000" b="0" u="sng" dirty="0">
                <a:latin typeface="黑体" panose="02010609060101010101" pitchFamily="49" charset="-122"/>
                <a:ea typeface="黑体" panose="02010609060101010101" pitchFamily="49" charset="-122"/>
                <a:cs typeface="黑体" panose="02010609060101010101" pitchFamily="49" charset="-122"/>
              </a:rPr>
              <a:t> </a:t>
            </a:r>
          </a:p>
        </p:txBody>
      </p:sp>
      <p:sp>
        <p:nvSpPr>
          <p:cNvPr id="106503" name="Rectangle 7"/>
          <p:cNvSpPr>
            <a:spLocks noChangeArrowheads="1"/>
          </p:cNvSpPr>
          <p:nvPr/>
        </p:nvSpPr>
        <p:spPr bwMode="auto">
          <a:xfrm>
            <a:off x="7329488" y="3587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6504" name="Rectangle 8"/>
          <p:cNvSpPr>
            <a:spLocks noChangeArrowheads="1"/>
          </p:cNvSpPr>
          <p:nvPr/>
        </p:nvSpPr>
        <p:spPr bwMode="auto">
          <a:xfrm>
            <a:off x="7339013" y="3363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6505" name="Rectangle 9"/>
          <p:cNvSpPr>
            <a:spLocks noChangeArrowheads="1"/>
          </p:cNvSpPr>
          <p:nvPr/>
        </p:nvSpPr>
        <p:spPr bwMode="auto">
          <a:xfrm>
            <a:off x="6965950" y="3643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6506" name="Rectangle 10"/>
          <p:cNvSpPr>
            <a:spLocks noChangeArrowheads="1"/>
          </p:cNvSpPr>
          <p:nvPr/>
        </p:nvSpPr>
        <p:spPr bwMode="auto">
          <a:xfrm>
            <a:off x="6527800" y="3028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6507" name="Rectangle 11"/>
          <p:cNvSpPr>
            <a:spLocks noChangeArrowheads="1"/>
          </p:cNvSpPr>
          <p:nvPr/>
        </p:nvSpPr>
        <p:spPr bwMode="auto">
          <a:xfrm>
            <a:off x="7237413" y="3317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6508" name="Rectangle 12"/>
          <p:cNvSpPr>
            <a:spLocks noChangeArrowheads="1"/>
          </p:cNvSpPr>
          <p:nvPr/>
        </p:nvSpPr>
        <p:spPr bwMode="auto">
          <a:xfrm>
            <a:off x="6596063" y="3106738"/>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pic>
        <p:nvPicPr>
          <p:cNvPr id="106509" name="图片 12" descr="6-06 调节编码器－编码器安装.jpg"/>
          <p:cNvPicPr>
            <a:picLocks noChangeAspect="1"/>
          </p:cNvPicPr>
          <p:nvPr/>
        </p:nvPicPr>
        <p:blipFill>
          <a:blip r:embed="rId2">
            <a:extLst>
              <a:ext uri="{28A0092B-C50C-407E-A947-70E740481C1C}">
                <a14:useLocalDpi xmlns:a14="http://schemas.microsoft.com/office/drawing/2010/main" val="0"/>
              </a:ext>
            </a:extLst>
          </a:blip>
          <a:srcRect l="22379" t="4622" r="24255" b="2505"/>
          <a:stretch>
            <a:fillRect/>
          </a:stretch>
        </p:blipFill>
        <p:spPr bwMode="auto">
          <a:xfrm>
            <a:off x="5815012" y="1187451"/>
            <a:ext cx="2232025" cy="547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10" name="图片 13" descr="6-05 调节编码器侧视.jpg"/>
          <p:cNvPicPr>
            <a:picLocks noChangeAspect="1"/>
          </p:cNvPicPr>
          <p:nvPr/>
        </p:nvPicPr>
        <p:blipFill>
          <a:blip r:embed="rId3">
            <a:extLst>
              <a:ext uri="{28A0092B-C50C-407E-A947-70E740481C1C}">
                <a14:useLocalDpi xmlns:a14="http://schemas.microsoft.com/office/drawing/2010/main" val="0"/>
              </a:ext>
            </a:extLst>
          </a:blip>
          <a:srcRect t="18462" b="16730"/>
          <a:stretch>
            <a:fillRect/>
          </a:stretch>
        </p:blipFill>
        <p:spPr bwMode="auto">
          <a:xfrm>
            <a:off x="2480310" y="3706178"/>
            <a:ext cx="2689225"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动力水龙头</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6142355" y="2789555"/>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5767705" y="3282950"/>
            <a:ext cx="184150" cy="338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5777230" y="3059430"/>
            <a:ext cx="184150" cy="33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5403850" y="333883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4965700" y="27241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5675630" y="3013075"/>
            <a:ext cx="184150" cy="338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5329555" y="3162300"/>
            <a:ext cx="184150" cy="338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7524" name="Rectangle 4"/>
          <p:cNvSpPr>
            <a:spLocks noChangeArrowheads="1"/>
          </p:cNvSpPr>
          <p:nvPr/>
        </p:nvSpPr>
        <p:spPr bwMode="auto">
          <a:xfrm>
            <a:off x="6269355" y="2916555"/>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7527" name="Rectangle 7"/>
          <p:cNvSpPr>
            <a:spLocks noChangeArrowheads="1"/>
          </p:cNvSpPr>
          <p:nvPr/>
        </p:nvSpPr>
        <p:spPr bwMode="auto">
          <a:xfrm>
            <a:off x="5894705" y="3409950"/>
            <a:ext cx="184150" cy="338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7528" name="Rectangle 8"/>
          <p:cNvSpPr>
            <a:spLocks noChangeArrowheads="1"/>
          </p:cNvSpPr>
          <p:nvPr/>
        </p:nvSpPr>
        <p:spPr bwMode="auto">
          <a:xfrm>
            <a:off x="5904230" y="3186430"/>
            <a:ext cx="184150" cy="33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7529" name="Rectangle 9"/>
          <p:cNvSpPr>
            <a:spLocks noChangeArrowheads="1"/>
          </p:cNvSpPr>
          <p:nvPr/>
        </p:nvSpPr>
        <p:spPr bwMode="auto">
          <a:xfrm>
            <a:off x="5530850" y="346583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7530" name="Rectangle 10"/>
          <p:cNvSpPr>
            <a:spLocks noChangeArrowheads="1"/>
          </p:cNvSpPr>
          <p:nvPr/>
        </p:nvSpPr>
        <p:spPr bwMode="auto">
          <a:xfrm>
            <a:off x="5092700" y="28511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7531" name="Rectangle 11"/>
          <p:cNvSpPr>
            <a:spLocks noChangeArrowheads="1"/>
          </p:cNvSpPr>
          <p:nvPr/>
        </p:nvSpPr>
        <p:spPr bwMode="auto">
          <a:xfrm>
            <a:off x="5802630" y="3140075"/>
            <a:ext cx="184150" cy="338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07532" name="Rectangle 12"/>
          <p:cNvSpPr>
            <a:spLocks noChangeArrowheads="1"/>
          </p:cNvSpPr>
          <p:nvPr/>
        </p:nvSpPr>
        <p:spPr bwMode="auto">
          <a:xfrm>
            <a:off x="5161280" y="2929255"/>
            <a:ext cx="184150" cy="33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pic>
        <p:nvPicPr>
          <p:cNvPr id="13" name="图片 13" descr="6-33 交流主电机检查.jpg"/>
          <p:cNvPicPr>
            <a:picLocks noChangeAspect="1"/>
          </p:cNvPicPr>
          <p:nvPr/>
        </p:nvPicPr>
        <p:blipFill rotWithShape="1">
          <a:blip r:embed="rId2">
            <a:extLst>
              <a:ext uri="{28A0092B-C50C-407E-A947-70E740481C1C}">
                <a14:useLocalDpi xmlns:a14="http://schemas.microsoft.com/office/drawing/2010/main" val="0"/>
              </a:ext>
            </a:extLst>
          </a:blip>
          <a:srcRect l="9275" r="9650"/>
          <a:stretch>
            <a:fillRect/>
          </a:stretch>
        </p:blipFill>
        <p:spPr bwMode="auto">
          <a:xfrm>
            <a:off x="4773930" y="1291590"/>
            <a:ext cx="2736215" cy="4773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14" descr="6-32 主电机位置示意图.jpg"/>
          <p:cNvPicPr>
            <a:picLocks noChangeAspect="1"/>
          </p:cNvPicPr>
          <p:nvPr/>
        </p:nvPicPr>
        <p:blipFill rotWithShape="1">
          <a:blip r:embed="rId3">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l="21153" r="30567"/>
          <a:stretch>
            <a:fillRect/>
          </a:stretch>
        </p:blipFill>
        <p:spPr bwMode="auto">
          <a:xfrm>
            <a:off x="3423920" y="1409065"/>
            <a:ext cx="1551940" cy="4538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动力水龙头</a:t>
            </a:r>
          </a:p>
        </p:txBody>
      </p:sp>
      <p:sp>
        <p:nvSpPr>
          <p:cNvPr id="6" name="Text Box 5"/>
          <p:cNvSpPr txBox="1">
            <a:spLocks noChangeArrowheads="1"/>
          </p:cNvSpPr>
          <p:nvPr/>
        </p:nvSpPr>
        <p:spPr bwMode="auto">
          <a:xfrm>
            <a:off x="190500" y="892175"/>
            <a:ext cx="3336925" cy="55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spcBef>
                <a:spcPts val="800"/>
              </a:spcBef>
              <a:spcAft>
                <a:spcPts val="800"/>
              </a:spcAft>
            </a:pPr>
            <a:r>
              <a:rPr lang="zh-CN" altLang="en-US" sz="2400" b="0" dirty="0">
                <a:latin typeface="黑体" panose="02010609060101010101" pitchFamily="49" charset="-122"/>
                <a:ea typeface="黑体" panose="02010609060101010101" pitchFamily="49" charset="-122"/>
                <a:cs typeface="黑体" panose="02010609060101010101" pitchFamily="49" charset="-122"/>
              </a:rPr>
              <a:t>主电机</a:t>
            </a:r>
            <a:endParaRPr lang="zh-CN" altLang="en-US" sz="2000" b="0" dirty="0">
              <a:latin typeface="黑体" panose="02010609060101010101" pitchFamily="49" charset="-122"/>
              <a:ea typeface="黑体" panose="02010609060101010101" pitchFamily="49" charset="-122"/>
              <a:cs typeface="黑体" panose="02010609060101010101" pitchFamily="49" charset="-122"/>
            </a:endParaRPr>
          </a:p>
          <a:p>
            <a:pPr algn="just"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a:t>
            </a:r>
            <a:r>
              <a:rPr lang="zh-CN" altLang="zh-CN" sz="2000" b="0" dirty="0">
                <a:latin typeface="黑体" panose="02010609060101010101" pitchFamily="49" charset="-122"/>
                <a:ea typeface="黑体" panose="02010609060101010101" pitchFamily="49" charset="-122"/>
                <a:cs typeface="黑体" panose="02010609060101010101" pitchFamily="49" charset="-122"/>
              </a:rPr>
              <a:t>顶驱装置通常装有</a:t>
            </a:r>
            <a:r>
              <a:rPr lang="en-US" altLang="zh-CN" sz="2000" b="0" dirty="0">
                <a:latin typeface="黑体" panose="02010609060101010101" pitchFamily="49" charset="-122"/>
                <a:ea typeface="黑体" panose="02010609060101010101" pitchFamily="49" charset="-122"/>
                <a:cs typeface="黑体" panose="02010609060101010101" pitchFamily="49" charset="-122"/>
              </a:rPr>
              <a:t>1</a:t>
            </a:r>
            <a:r>
              <a:rPr lang="zh-CN" altLang="en-US" sz="2000" b="0" dirty="0">
                <a:latin typeface="黑体" panose="02010609060101010101" pitchFamily="49" charset="-122"/>
                <a:ea typeface="黑体" panose="02010609060101010101" pitchFamily="49" charset="-122"/>
                <a:cs typeface="黑体" panose="02010609060101010101" pitchFamily="49" charset="-122"/>
              </a:rPr>
              <a:t>个或</a:t>
            </a:r>
            <a:r>
              <a:rPr lang="en-US" altLang="zh-CN" sz="2000" b="0" dirty="0">
                <a:latin typeface="黑体" panose="02010609060101010101" pitchFamily="49" charset="-122"/>
                <a:ea typeface="黑体" panose="02010609060101010101" pitchFamily="49" charset="-122"/>
                <a:cs typeface="黑体" panose="02010609060101010101" pitchFamily="49" charset="-122"/>
              </a:rPr>
              <a:t>2</a:t>
            </a:r>
            <a:r>
              <a:rPr lang="zh-CN" altLang="en-US" sz="2000" b="0" dirty="0">
                <a:latin typeface="黑体" panose="02010609060101010101" pitchFamily="49" charset="-122"/>
                <a:ea typeface="黑体" panose="02010609060101010101" pitchFamily="49" charset="-122"/>
                <a:cs typeface="黑体" panose="02010609060101010101" pitchFamily="49" charset="-122"/>
              </a:rPr>
              <a:t>个交流变频电机，通过交流变频调速系统实现对电机的无级调速。</a:t>
            </a:r>
          </a:p>
          <a:p>
            <a:pPr algn="just"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主电机安装在减速箱上，一般为双轴伸结构，下端连接主传动小齿轮，上端联接刹车装置。</a:t>
            </a:r>
          </a:p>
          <a:p>
            <a:pPr algn="just"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在主电机内部可装温度传感器，用于监测电机的温升，对电机加以保护。</a:t>
            </a:r>
            <a:r>
              <a:rPr lang="zh-CN" altLang="en-US" sz="2000" b="0" u="sng" dirty="0">
                <a:latin typeface="黑体" panose="02010609060101010101" pitchFamily="49" charset="-122"/>
                <a:ea typeface="黑体" panose="02010609060101010101" pitchFamily="49" charset="-122"/>
                <a:cs typeface="黑体" panose="02010609060101010101" pitchFamily="49" charset="-122"/>
              </a:rPr>
              <a:t> </a:t>
            </a:r>
            <a:endParaRPr lang="en-US" altLang="zh-CN" sz="2000" b="0" u="sng" dirty="0">
              <a:latin typeface="黑体" panose="02010609060101010101" pitchFamily="49" charset="-122"/>
              <a:ea typeface="黑体" panose="02010609060101010101" pitchFamily="49" charset="-122"/>
              <a:cs typeface="黑体" panose="02010609060101010101" pitchFamily="49" charset="-122"/>
            </a:endParaRPr>
          </a:p>
        </p:txBody>
      </p:sp>
      <p:pic>
        <p:nvPicPr>
          <p:cNvPr id="7" name="图片 6"/>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7460615" y="1115695"/>
            <a:ext cx="1615440" cy="4912995"/>
          </a:xfrm>
          <a:prstGeom prst="rect">
            <a:avLst/>
          </a:prstGeom>
        </p:spPr>
      </p:pic>
      <p:sp>
        <p:nvSpPr>
          <p:cNvPr id="8" name="左箭头 7"/>
          <p:cNvSpPr/>
          <p:nvPr/>
        </p:nvSpPr>
        <p:spPr>
          <a:xfrm rot="19740000">
            <a:off x="6825615" y="1630045"/>
            <a:ext cx="360045" cy="503555"/>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graphicFrame>
        <p:nvGraphicFramePr>
          <p:cNvPr id="3" name="表格 2"/>
          <p:cNvGraphicFramePr>
            <a:graphicFrameLocks noGrp="1"/>
          </p:cNvGraphicFramePr>
          <p:nvPr/>
        </p:nvGraphicFramePr>
        <p:xfrm>
          <a:off x="3793500" y="1205419"/>
          <a:ext cx="4953000" cy="4752975"/>
        </p:xfrm>
        <a:graphic>
          <a:graphicData uri="http://schemas.openxmlformats.org/drawingml/2006/table">
            <a:tbl>
              <a:tblPr firstRow="1" bandRow="1">
                <a:tableStyleId>{B301B821-A1FF-4177-AEE7-76D212191A09}</a:tableStyleId>
              </a:tblPr>
              <a:tblGrid>
                <a:gridCol w="1676378">
                  <a:extLst>
                    <a:ext uri="{9D8B030D-6E8A-4147-A177-3AD203B41FA5}">
                      <a16:colId xmlns:a16="http://schemas.microsoft.com/office/drawing/2014/main" val="20000"/>
                    </a:ext>
                  </a:extLst>
                </a:gridCol>
                <a:gridCol w="1600158">
                  <a:extLst>
                    <a:ext uri="{9D8B030D-6E8A-4147-A177-3AD203B41FA5}">
                      <a16:colId xmlns:a16="http://schemas.microsoft.com/office/drawing/2014/main" val="20001"/>
                    </a:ext>
                  </a:extLst>
                </a:gridCol>
                <a:gridCol w="1676464">
                  <a:extLst>
                    <a:ext uri="{9D8B030D-6E8A-4147-A177-3AD203B41FA5}">
                      <a16:colId xmlns:a16="http://schemas.microsoft.com/office/drawing/2014/main" val="20002"/>
                    </a:ext>
                  </a:extLst>
                </a:gridCol>
              </a:tblGrid>
              <a:tr h="579120">
                <a:tc>
                  <a:txBody>
                    <a:bodyPr/>
                    <a:lstStyle/>
                    <a:p>
                      <a:pPr algn="ctr"/>
                      <a:r>
                        <a:rPr lang="zh-CN" altLang="en-US" sz="1600" dirty="0">
                          <a:solidFill>
                            <a:schemeClr val="tx1"/>
                          </a:solidFill>
                        </a:rPr>
                        <a:t>品牌型号</a:t>
                      </a:r>
                      <a:endParaRPr lang="en-US" altLang="zh-CN" sz="1600" dirty="0">
                        <a:solidFill>
                          <a:schemeClr val="tx1"/>
                        </a:solidFill>
                      </a:endParaRPr>
                    </a:p>
                    <a:p>
                      <a:pPr algn="ctr"/>
                      <a:r>
                        <a:rPr lang="zh-CN" altLang="en-US" sz="1600" dirty="0">
                          <a:solidFill>
                            <a:schemeClr val="tx1"/>
                          </a:solidFill>
                        </a:rPr>
                        <a:t>技术参数</a:t>
                      </a:r>
                      <a:endParaRPr lang="zh-CN" altLang="en-US" sz="1600" b="1" dirty="0">
                        <a:solidFill>
                          <a:schemeClr val="tx1"/>
                        </a:solidFill>
                        <a:latin typeface="黑体" panose="02010609060101010101" pitchFamily="49" charset="-122"/>
                        <a:ea typeface="黑体" panose="02010609060101010101" pitchFamily="49" charset="-122"/>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solidFill>
                            <a:schemeClr val="tx1"/>
                          </a:solidFill>
                        </a:rPr>
                        <a:t>北石</a:t>
                      </a:r>
                      <a:r>
                        <a:rPr lang="en-US" altLang="zh-CN" sz="1600" dirty="0">
                          <a:solidFill>
                            <a:schemeClr val="tx1"/>
                          </a:solidFill>
                        </a:rPr>
                        <a:t>3101030710</a:t>
                      </a:r>
                      <a:endParaRPr lang="zh-CN" altLang="en-US" sz="1600" b="1" dirty="0">
                        <a:solidFill>
                          <a:schemeClr val="tx1"/>
                        </a:solidFill>
                        <a:latin typeface="黑体" panose="02010609060101010101" pitchFamily="49" charset="-122"/>
                        <a:ea typeface="黑体" panose="02010609060101010101" pitchFamily="49" charset="-122"/>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chemeClr val="tx1"/>
                          </a:solidFill>
                        </a:rPr>
                        <a:t>Reliance</a:t>
                      </a:r>
                    </a:p>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chemeClr val="tx1"/>
                          </a:solidFill>
                        </a:rPr>
                        <a:t>9722011000</a:t>
                      </a:r>
                      <a:endParaRPr lang="zh-CN" altLang="en-US" sz="1600" b="1" dirty="0">
                        <a:solidFill>
                          <a:schemeClr val="tx1"/>
                        </a:solidFill>
                        <a:latin typeface="黑体" panose="02010609060101010101" pitchFamily="49" charset="-122"/>
                        <a:ea typeface="黑体" panose="02010609060101010101" pitchFamily="49" charset="-122"/>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35088">
                <a:tc>
                  <a:txBody>
                    <a:bodyPr/>
                    <a:lstStyle/>
                    <a:p>
                      <a:pPr algn="ctr"/>
                      <a:r>
                        <a:rPr lang="zh-CN" altLang="en-US" sz="1600" dirty="0">
                          <a:latin typeface="+mn-ea"/>
                          <a:ea typeface="+mn-ea"/>
                        </a:rPr>
                        <a:t>高度</a:t>
                      </a: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rgbClr val="FF0000"/>
                          </a:solidFill>
                          <a:latin typeface="+mn-ea"/>
                          <a:ea typeface="+mn-ea"/>
                        </a:rPr>
                        <a:t>1146mm</a:t>
                      </a:r>
                      <a:endParaRPr lang="zh-CN" altLang="en-US" sz="1600" dirty="0">
                        <a:solidFill>
                          <a:srgbClr val="FF0000"/>
                        </a:solidFill>
                        <a:latin typeface="+mn-ea"/>
                        <a:ea typeface="+mn-ea"/>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ea"/>
                          <a:ea typeface="+mn-ea"/>
                        </a:rPr>
                        <a:t>1197mm</a:t>
                      </a:r>
                      <a:endParaRPr lang="zh-CN" altLang="en-US" sz="1600" dirty="0">
                        <a:latin typeface="+mn-ea"/>
                        <a:ea typeface="+mn-ea"/>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77653">
                <a:tc>
                  <a:txBody>
                    <a:bodyPr/>
                    <a:lstStyle/>
                    <a:p>
                      <a:pPr marL="0" algn="ctr" defTabSz="914400" rtl="0" eaLnBrk="1" latinLnBrk="0" hangingPunct="1"/>
                      <a:r>
                        <a:rPr lang="zh-CN" altLang="en-US" sz="1600" kern="1200" dirty="0">
                          <a:latin typeface="+mn-ea"/>
                          <a:ea typeface="+mn-ea"/>
                        </a:rPr>
                        <a:t>基座尺寸</a:t>
                      </a:r>
                      <a:endParaRPr lang="zh-CN" altLang="en-US" sz="1600" kern="1200" dirty="0">
                        <a:solidFill>
                          <a:schemeClr val="dk1"/>
                        </a:solidFill>
                        <a:latin typeface="+mn-ea"/>
                        <a:ea typeface="+mn-ea"/>
                        <a:cs typeface="+mn-cs"/>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1600" kern="1200" dirty="0">
                          <a:latin typeface="+mn-ea"/>
                          <a:ea typeface="+mn-ea"/>
                        </a:rPr>
                        <a:t>550 </a:t>
                      </a:r>
                      <a:r>
                        <a:rPr lang="zh-CN" altLang="zh-CN" sz="1600" kern="1200" dirty="0">
                          <a:latin typeface="+mn-ea"/>
                          <a:ea typeface="+mn-ea"/>
                        </a:rPr>
                        <a:t>×</a:t>
                      </a:r>
                      <a:r>
                        <a:rPr lang="en-US" altLang="zh-CN" sz="1600" kern="1200" dirty="0">
                          <a:latin typeface="+mn-ea"/>
                          <a:ea typeface="+mn-ea"/>
                        </a:rPr>
                        <a:t>550 mm</a:t>
                      </a:r>
                      <a:endParaRPr lang="zh-CN" altLang="zh-CN" sz="1600" kern="1200" dirty="0">
                        <a:solidFill>
                          <a:schemeClr val="dk1"/>
                        </a:solidFill>
                        <a:latin typeface="+mn-ea"/>
                        <a:ea typeface="+mn-ea"/>
                        <a:cs typeface="+mn-cs"/>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kern="1200" dirty="0">
                          <a:latin typeface="+mn-ea"/>
                          <a:ea typeface="+mn-ea"/>
                        </a:rPr>
                        <a:t>550 </a:t>
                      </a:r>
                      <a:r>
                        <a:rPr lang="zh-CN" altLang="zh-CN" sz="1600" kern="1200" dirty="0">
                          <a:latin typeface="+mn-ea"/>
                          <a:ea typeface="+mn-ea"/>
                        </a:rPr>
                        <a:t>×</a:t>
                      </a:r>
                      <a:r>
                        <a:rPr lang="en-US" altLang="zh-CN" sz="1600" kern="1200" dirty="0">
                          <a:latin typeface="+mn-ea"/>
                          <a:ea typeface="+mn-ea"/>
                        </a:rPr>
                        <a:t>550 mm</a:t>
                      </a:r>
                      <a:endParaRPr lang="zh-CN" altLang="en-US" sz="1600" kern="1200" dirty="0">
                        <a:solidFill>
                          <a:schemeClr val="dk1"/>
                        </a:solidFill>
                        <a:latin typeface="+mn-ea"/>
                        <a:ea typeface="+mn-ea"/>
                        <a:cs typeface="+mn-cs"/>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5088">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dk1"/>
                          </a:solidFill>
                          <a:latin typeface="+mn-ea"/>
                          <a:ea typeface="+mn-ea"/>
                          <a:cs typeface="+mn-cs"/>
                        </a:rPr>
                        <a:t>额定功率</a:t>
                      </a: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kern="1200" dirty="0">
                          <a:solidFill>
                            <a:srgbClr val="FF0000"/>
                          </a:solidFill>
                          <a:latin typeface="+mn-ea"/>
                          <a:ea typeface="+mn-ea"/>
                          <a:cs typeface="+mn-cs"/>
                        </a:rPr>
                        <a:t>375kW</a:t>
                      </a:r>
                      <a:endParaRPr lang="zh-CN" altLang="en-US" sz="1600" kern="1200" dirty="0">
                        <a:solidFill>
                          <a:srgbClr val="FF0000"/>
                        </a:solidFill>
                        <a:latin typeface="+mn-ea"/>
                        <a:ea typeface="+mn-ea"/>
                        <a:cs typeface="+mn-cs"/>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dk1"/>
                          </a:solidFill>
                          <a:latin typeface="+mn-ea"/>
                          <a:ea typeface="+mn-ea"/>
                          <a:cs typeface="+mn-cs"/>
                        </a:rPr>
                        <a:t>368kW</a:t>
                      </a:r>
                      <a:endParaRPr lang="zh-CN" altLang="en-US" sz="1600" kern="1200" dirty="0">
                        <a:solidFill>
                          <a:schemeClr val="dk1"/>
                        </a:solidFill>
                        <a:latin typeface="+mn-ea"/>
                        <a:ea typeface="+mn-ea"/>
                        <a:cs typeface="+mn-cs"/>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35088">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dk1"/>
                          </a:solidFill>
                          <a:latin typeface="+mn-ea"/>
                          <a:ea typeface="+mn-ea"/>
                          <a:cs typeface="+mn-cs"/>
                        </a:rPr>
                        <a:t>额定电压</a:t>
                      </a: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dk1"/>
                          </a:solidFill>
                          <a:latin typeface="+mn-ea"/>
                          <a:ea typeface="+mn-ea"/>
                          <a:cs typeface="+mn-cs"/>
                        </a:rPr>
                        <a:t>575V</a:t>
                      </a:r>
                      <a:endParaRPr lang="zh-CN" altLang="en-US" sz="1600" kern="1200" dirty="0">
                        <a:solidFill>
                          <a:schemeClr val="dk1"/>
                        </a:solidFill>
                        <a:latin typeface="+mn-ea"/>
                        <a:ea typeface="+mn-ea"/>
                        <a:cs typeface="+mn-cs"/>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dk1"/>
                          </a:solidFill>
                          <a:latin typeface="+mn-ea"/>
                          <a:ea typeface="+mn-ea"/>
                          <a:cs typeface="+mn-cs"/>
                        </a:rPr>
                        <a:t>575V</a:t>
                      </a:r>
                      <a:endParaRPr lang="zh-CN" altLang="en-US" sz="1600" kern="1200" dirty="0">
                        <a:solidFill>
                          <a:schemeClr val="dk1"/>
                        </a:solidFill>
                        <a:latin typeface="+mn-ea"/>
                        <a:ea typeface="+mn-ea"/>
                        <a:cs typeface="+mn-cs"/>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35088">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kern="1200" dirty="0">
                          <a:latin typeface="+mn-ea"/>
                          <a:ea typeface="+mn-ea"/>
                        </a:rPr>
                        <a:t>额定电流</a:t>
                      </a:r>
                      <a:endParaRPr lang="zh-CN" altLang="en-US" sz="1600" kern="1200" dirty="0">
                        <a:solidFill>
                          <a:schemeClr val="dk1"/>
                        </a:solidFill>
                        <a:latin typeface="+mn-ea"/>
                        <a:ea typeface="+mn-ea"/>
                        <a:cs typeface="+mn-cs"/>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kern="1200" dirty="0">
                          <a:solidFill>
                            <a:srgbClr val="FF0000"/>
                          </a:solidFill>
                          <a:latin typeface="+mn-ea"/>
                          <a:ea typeface="+mn-ea"/>
                          <a:cs typeface="+mn-cs"/>
                        </a:rPr>
                        <a:t>495A</a:t>
                      </a:r>
                      <a:endParaRPr lang="zh-CN" altLang="en-US" sz="1600" kern="1200" dirty="0">
                        <a:solidFill>
                          <a:srgbClr val="FF0000"/>
                        </a:solidFill>
                        <a:latin typeface="+mn-ea"/>
                        <a:ea typeface="+mn-ea"/>
                        <a:cs typeface="+mn-cs"/>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dk1"/>
                          </a:solidFill>
                          <a:latin typeface="+mn-ea"/>
                          <a:ea typeface="+mn-ea"/>
                          <a:cs typeface="+mn-cs"/>
                        </a:rPr>
                        <a:t>557A</a:t>
                      </a: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35088">
                <a:tc>
                  <a:txBody>
                    <a:bodyPr/>
                    <a:lstStyle/>
                    <a:p>
                      <a:pPr algn="ctr"/>
                      <a:r>
                        <a:rPr lang="zh-CN" altLang="en-US" sz="1600" dirty="0">
                          <a:latin typeface="+mn-ea"/>
                          <a:ea typeface="+mn-ea"/>
                        </a:rPr>
                        <a:t>额定转矩</a:t>
                      </a: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rgbClr val="FF0000"/>
                          </a:solidFill>
                          <a:latin typeface="+mn-ea"/>
                          <a:ea typeface="+mn-ea"/>
                        </a:rPr>
                        <a:t>3009Nm</a:t>
                      </a:r>
                      <a:endParaRPr lang="zh-CN" altLang="en-US" sz="1600" dirty="0">
                        <a:solidFill>
                          <a:srgbClr val="FF0000"/>
                        </a:solidFill>
                        <a:latin typeface="+mn-ea"/>
                        <a:ea typeface="+mn-ea"/>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ea"/>
                          <a:ea typeface="+mn-ea"/>
                        </a:rPr>
                        <a:t>2993Nm</a:t>
                      </a:r>
                      <a:endParaRPr lang="zh-CN" altLang="en-US" sz="1600" dirty="0">
                        <a:latin typeface="+mn-ea"/>
                        <a:ea typeface="+mn-ea"/>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35088">
                <a:tc>
                  <a:txBody>
                    <a:bodyPr/>
                    <a:lstStyle/>
                    <a:p>
                      <a:pPr algn="ctr"/>
                      <a:r>
                        <a:rPr lang="zh-CN" altLang="en-US" sz="1600" kern="1200" dirty="0">
                          <a:solidFill>
                            <a:schemeClr val="dk1"/>
                          </a:solidFill>
                          <a:latin typeface="+mn-ea"/>
                          <a:ea typeface="+mn-ea"/>
                          <a:cs typeface="+mn-cs"/>
                        </a:rPr>
                        <a:t>额定转速</a:t>
                      </a: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kern="1200" dirty="0">
                          <a:solidFill>
                            <a:schemeClr val="dk1"/>
                          </a:solidFill>
                          <a:latin typeface="+mn-ea"/>
                          <a:ea typeface="+mn-ea"/>
                          <a:cs typeface="+mn-cs"/>
                        </a:rPr>
                        <a:t>1190rpm</a:t>
                      </a:r>
                      <a:endParaRPr lang="zh-CN" altLang="en-US" sz="1600" kern="1200" dirty="0">
                        <a:solidFill>
                          <a:schemeClr val="dk1"/>
                        </a:solidFill>
                        <a:latin typeface="+mn-ea"/>
                        <a:ea typeface="+mn-ea"/>
                        <a:cs typeface="+mn-cs"/>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ea"/>
                          <a:ea typeface="+mn-ea"/>
                        </a:rPr>
                        <a:t>1190rpm</a:t>
                      </a:r>
                      <a:endParaRPr lang="zh-CN" altLang="en-US" sz="1600" dirty="0">
                        <a:latin typeface="+mn-ea"/>
                        <a:ea typeface="+mn-ea"/>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35088">
                <a:tc>
                  <a:txBody>
                    <a:bodyPr/>
                    <a:lstStyle/>
                    <a:p>
                      <a:pPr algn="ctr"/>
                      <a:r>
                        <a:rPr lang="zh-CN" altLang="en-US" sz="1600" dirty="0">
                          <a:latin typeface="+mn-ea"/>
                          <a:ea typeface="+mn-ea"/>
                        </a:rPr>
                        <a:t>最高转速</a:t>
                      </a: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rgbClr val="FF0000"/>
                          </a:solidFill>
                          <a:latin typeface="+mn-ea"/>
                          <a:ea typeface="+mn-ea"/>
                        </a:rPr>
                        <a:t>2500rpm</a:t>
                      </a:r>
                      <a:endParaRPr lang="zh-CN" altLang="en-US" sz="1600" dirty="0">
                        <a:solidFill>
                          <a:srgbClr val="FF0000"/>
                        </a:solidFill>
                        <a:latin typeface="+mn-ea"/>
                        <a:ea typeface="+mn-ea"/>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ea"/>
                          <a:ea typeface="+mn-ea"/>
                        </a:rPr>
                        <a:t>2400rpm</a:t>
                      </a:r>
                      <a:endParaRPr lang="zh-CN" altLang="en-US" sz="1600" dirty="0">
                        <a:latin typeface="+mn-ea"/>
                        <a:ea typeface="+mn-ea"/>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35088">
                <a:tc>
                  <a:txBody>
                    <a:bodyPr/>
                    <a:lstStyle/>
                    <a:p>
                      <a:pPr algn="ctr"/>
                      <a:r>
                        <a:rPr lang="zh-CN" altLang="en-US" sz="1600" kern="1200" dirty="0">
                          <a:solidFill>
                            <a:schemeClr val="dk1"/>
                          </a:solidFill>
                          <a:latin typeface="+mn-ea"/>
                          <a:ea typeface="+mn-ea"/>
                          <a:cs typeface="+mn-cs"/>
                        </a:rPr>
                        <a:t>绝缘等级</a:t>
                      </a: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kern="1200" dirty="0">
                          <a:solidFill>
                            <a:srgbClr val="FF0000"/>
                          </a:solidFill>
                          <a:latin typeface="+mn-ea"/>
                          <a:ea typeface="+mn-ea"/>
                          <a:cs typeface="+mn-cs"/>
                        </a:rPr>
                        <a:t>C</a:t>
                      </a:r>
                      <a:r>
                        <a:rPr lang="zh-CN" altLang="en-US" sz="1600" kern="1200" dirty="0">
                          <a:solidFill>
                            <a:srgbClr val="FF0000"/>
                          </a:solidFill>
                          <a:latin typeface="+mn-ea"/>
                          <a:ea typeface="+mn-ea"/>
                          <a:cs typeface="+mn-cs"/>
                        </a:rPr>
                        <a:t>级（</a:t>
                      </a:r>
                      <a:r>
                        <a:rPr lang="en-US" altLang="zh-CN" sz="1600" kern="1200" dirty="0">
                          <a:solidFill>
                            <a:srgbClr val="FF0000"/>
                          </a:solidFill>
                          <a:latin typeface="+mn-ea"/>
                          <a:ea typeface="+mn-ea"/>
                          <a:cs typeface="+mn-cs"/>
                        </a:rPr>
                        <a:t>200</a:t>
                      </a:r>
                      <a:r>
                        <a:rPr lang="zh-CN" altLang="en-US" sz="1600" kern="1200" dirty="0">
                          <a:solidFill>
                            <a:srgbClr val="FF0000"/>
                          </a:solidFill>
                          <a:latin typeface="+mn-ea"/>
                          <a:ea typeface="+mn-ea"/>
                          <a:cs typeface="+mn-cs"/>
                        </a:rPr>
                        <a:t>℃）</a:t>
                      </a: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ea"/>
                          <a:ea typeface="+mn-ea"/>
                        </a:rPr>
                        <a:t>H</a:t>
                      </a:r>
                      <a:r>
                        <a:rPr lang="zh-CN" altLang="en-US" sz="1600" dirty="0">
                          <a:latin typeface="+mn-ea"/>
                          <a:ea typeface="+mn-ea"/>
                        </a:rPr>
                        <a:t>级（</a:t>
                      </a:r>
                      <a:r>
                        <a:rPr lang="en-US" altLang="zh-CN" sz="1600" dirty="0">
                          <a:latin typeface="+mn-ea"/>
                          <a:ea typeface="+mn-ea"/>
                        </a:rPr>
                        <a:t>180</a:t>
                      </a:r>
                      <a:r>
                        <a:rPr lang="zh-CN" altLang="en-US" sz="1600" dirty="0">
                          <a:latin typeface="+mn-ea"/>
                          <a:ea typeface="+mn-ea"/>
                        </a:rPr>
                        <a:t>℃）</a:t>
                      </a: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35088">
                <a:tc>
                  <a:txBody>
                    <a:bodyPr/>
                    <a:lstStyle/>
                    <a:p>
                      <a:pPr algn="ctr"/>
                      <a:r>
                        <a:rPr lang="zh-CN" altLang="zh-CN" sz="1600" kern="1200" dirty="0">
                          <a:solidFill>
                            <a:schemeClr val="dk1"/>
                          </a:solidFill>
                          <a:latin typeface="+mn-ea"/>
                          <a:ea typeface="+mn-ea"/>
                          <a:cs typeface="+mn-cs"/>
                        </a:rPr>
                        <a:t>耐瞬时尖峰电压</a:t>
                      </a:r>
                      <a:endParaRPr lang="zh-CN" altLang="en-US" sz="1600" kern="1200" dirty="0">
                        <a:solidFill>
                          <a:schemeClr val="dk1"/>
                        </a:solidFill>
                        <a:latin typeface="+mn-ea"/>
                        <a:ea typeface="+mn-ea"/>
                        <a:cs typeface="+mn-cs"/>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kern="1200" dirty="0">
                          <a:solidFill>
                            <a:schemeClr val="dk1"/>
                          </a:solidFill>
                          <a:latin typeface="+mn-ea"/>
                          <a:ea typeface="+mn-ea"/>
                          <a:cs typeface="+mn-cs"/>
                        </a:rPr>
                        <a:t>2000 V </a:t>
                      </a:r>
                      <a:endParaRPr lang="zh-CN" altLang="en-US" sz="1600" kern="1200" dirty="0">
                        <a:solidFill>
                          <a:schemeClr val="dk1"/>
                        </a:solidFill>
                        <a:latin typeface="+mn-ea"/>
                        <a:ea typeface="+mn-ea"/>
                        <a:cs typeface="+mn-cs"/>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ea"/>
                          <a:ea typeface="+mn-ea"/>
                        </a:rPr>
                        <a:t>2000V</a:t>
                      </a:r>
                      <a:endParaRPr lang="zh-CN" altLang="en-US" sz="1600" dirty="0">
                        <a:latin typeface="+mn-ea"/>
                        <a:ea typeface="+mn-ea"/>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578971">
                <a:tc>
                  <a:txBody>
                    <a:bodyPr/>
                    <a:lstStyle/>
                    <a:p>
                      <a:pPr algn="ctr"/>
                      <a:r>
                        <a:rPr lang="zh-CN" altLang="zh-CN" sz="1600" kern="1200" dirty="0">
                          <a:solidFill>
                            <a:schemeClr val="dk1"/>
                          </a:solidFill>
                          <a:latin typeface="+mn-ea"/>
                          <a:ea typeface="+mn-ea"/>
                          <a:cs typeface="+mn-cs"/>
                        </a:rPr>
                        <a:t>零速下</a:t>
                      </a:r>
                      <a:r>
                        <a:rPr lang="en-US" altLang="zh-CN" sz="1600" kern="1200" dirty="0">
                          <a:solidFill>
                            <a:schemeClr val="dk1"/>
                          </a:solidFill>
                          <a:latin typeface="+mn-ea"/>
                          <a:ea typeface="+mn-ea"/>
                          <a:cs typeface="+mn-cs"/>
                        </a:rPr>
                        <a:t>100% </a:t>
                      </a:r>
                      <a:r>
                        <a:rPr lang="zh-CN" altLang="zh-CN" sz="1600" kern="1200" dirty="0">
                          <a:solidFill>
                            <a:schemeClr val="dk1"/>
                          </a:solidFill>
                          <a:latin typeface="+mn-ea"/>
                          <a:ea typeface="+mn-ea"/>
                          <a:cs typeface="+mn-cs"/>
                        </a:rPr>
                        <a:t>扭矩堵转</a:t>
                      </a:r>
                      <a:endParaRPr lang="zh-CN" altLang="en-US" sz="1600" kern="1200" dirty="0">
                        <a:solidFill>
                          <a:schemeClr val="dk1"/>
                        </a:solidFill>
                        <a:latin typeface="+mn-ea"/>
                        <a:ea typeface="+mn-ea"/>
                        <a:cs typeface="+mn-cs"/>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zh-CN" sz="1600" kern="1200" dirty="0">
                          <a:solidFill>
                            <a:schemeClr val="dk1"/>
                          </a:solidFill>
                          <a:latin typeface="+mn-ea"/>
                          <a:ea typeface="+mn-ea"/>
                          <a:cs typeface="+mn-cs"/>
                        </a:rPr>
                        <a:t>连续</a:t>
                      </a:r>
                      <a:endParaRPr lang="zh-CN" altLang="en-US" sz="1600" kern="1200" dirty="0">
                        <a:solidFill>
                          <a:schemeClr val="dk1"/>
                        </a:solidFill>
                        <a:latin typeface="+mn-ea"/>
                        <a:ea typeface="+mn-ea"/>
                        <a:cs typeface="+mn-cs"/>
                      </a:endParaRP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ea"/>
                          <a:ea typeface="+mn-ea"/>
                        </a:rPr>
                        <a:t>连续</a:t>
                      </a:r>
                    </a:p>
                  </a:txBody>
                  <a:tcPr marL="91444" marR="91444" marT="45603" marB="45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4" name="文本框 3"/>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动力水龙头</a:t>
            </a:r>
          </a:p>
        </p:txBody>
      </p:sp>
      <p:sp>
        <p:nvSpPr>
          <p:cNvPr id="6" name="Text Box 5"/>
          <p:cNvSpPr txBox="1">
            <a:spLocks noChangeArrowheads="1"/>
          </p:cNvSpPr>
          <p:nvPr/>
        </p:nvSpPr>
        <p:spPr bwMode="auto">
          <a:xfrm>
            <a:off x="190500" y="892175"/>
            <a:ext cx="3336925" cy="55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spcBef>
                <a:spcPts val="800"/>
              </a:spcBef>
              <a:spcAft>
                <a:spcPts val="800"/>
              </a:spcAft>
            </a:pPr>
            <a:r>
              <a:rPr lang="zh-CN" altLang="en-US" sz="2400" b="0" dirty="0">
                <a:latin typeface="黑体" panose="02010609060101010101" pitchFamily="49" charset="-122"/>
                <a:ea typeface="黑体" panose="02010609060101010101" pitchFamily="49" charset="-122"/>
                <a:cs typeface="黑体" panose="02010609060101010101" pitchFamily="49" charset="-122"/>
              </a:rPr>
              <a:t>主电机</a:t>
            </a:r>
            <a:endParaRPr lang="zh-CN" altLang="en-US" sz="2000" b="0" dirty="0">
              <a:latin typeface="黑体" panose="02010609060101010101" pitchFamily="49" charset="-122"/>
              <a:ea typeface="黑体" panose="02010609060101010101" pitchFamily="49" charset="-122"/>
              <a:cs typeface="黑体" panose="02010609060101010101" pitchFamily="49" charset="-122"/>
            </a:endParaRPr>
          </a:p>
          <a:p>
            <a:pPr algn="just"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a:t>
            </a:r>
            <a:r>
              <a:rPr lang="zh-CN" altLang="zh-CN" sz="2000" b="0" dirty="0">
                <a:latin typeface="黑体" panose="02010609060101010101" pitchFamily="49" charset="-122"/>
                <a:ea typeface="黑体" panose="02010609060101010101" pitchFamily="49" charset="-122"/>
                <a:cs typeface="黑体" panose="02010609060101010101" pitchFamily="49" charset="-122"/>
              </a:rPr>
              <a:t>顶驱装置通常装有</a:t>
            </a:r>
            <a:r>
              <a:rPr lang="en-US" altLang="zh-CN" sz="2000" b="0" dirty="0">
                <a:latin typeface="黑体" panose="02010609060101010101" pitchFamily="49" charset="-122"/>
                <a:ea typeface="黑体" panose="02010609060101010101" pitchFamily="49" charset="-122"/>
                <a:cs typeface="黑体" panose="02010609060101010101" pitchFamily="49" charset="-122"/>
              </a:rPr>
              <a:t>1</a:t>
            </a:r>
            <a:r>
              <a:rPr lang="zh-CN" altLang="en-US" sz="2000" b="0" dirty="0">
                <a:latin typeface="黑体" panose="02010609060101010101" pitchFamily="49" charset="-122"/>
                <a:ea typeface="黑体" panose="02010609060101010101" pitchFamily="49" charset="-122"/>
                <a:cs typeface="黑体" panose="02010609060101010101" pitchFamily="49" charset="-122"/>
              </a:rPr>
              <a:t>个或</a:t>
            </a:r>
            <a:r>
              <a:rPr lang="en-US" altLang="zh-CN" sz="2000" b="0" dirty="0">
                <a:latin typeface="黑体" panose="02010609060101010101" pitchFamily="49" charset="-122"/>
                <a:ea typeface="黑体" panose="02010609060101010101" pitchFamily="49" charset="-122"/>
                <a:cs typeface="黑体" panose="02010609060101010101" pitchFamily="49" charset="-122"/>
              </a:rPr>
              <a:t>2</a:t>
            </a:r>
            <a:r>
              <a:rPr lang="zh-CN" altLang="en-US" sz="2000" b="0" dirty="0">
                <a:latin typeface="黑体" panose="02010609060101010101" pitchFamily="49" charset="-122"/>
                <a:ea typeface="黑体" panose="02010609060101010101" pitchFamily="49" charset="-122"/>
                <a:cs typeface="黑体" panose="02010609060101010101" pitchFamily="49" charset="-122"/>
              </a:rPr>
              <a:t>个交流变频电机，通过交流变频调速系统实现对电机的无级调速。</a:t>
            </a:r>
          </a:p>
          <a:p>
            <a:pPr algn="just"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主电机安装在减速箱上，一般为双轴伸结构，下端连接主传动小齿轮，上端联接刹车装置。</a:t>
            </a:r>
          </a:p>
          <a:p>
            <a:pPr algn="just"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在主电机内部可装温度传感器，用于监测电机的温升，对电机加以保护。</a:t>
            </a:r>
            <a:r>
              <a:rPr lang="zh-CN" altLang="en-US" sz="2000" b="0" u="sng" dirty="0">
                <a:latin typeface="黑体" panose="02010609060101010101" pitchFamily="49" charset="-122"/>
                <a:ea typeface="黑体" panose="02010609060101010101" pitchFamily="49" charset="-122"/>
                <a:cs typeface="黑体" panose="02010609060101010101" pitchFamily="49" charset="-122"/>
              </a:rPr>
              <a:t> </a:t>
            </a:r>
            <a:endParaRPr lang="en-US" altLang="zh-CN" sz="2000" b="0" u="sng" dirty="0">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12644" name="Rectangle 4"/>
          <p:cNvSpPr>
            <a:spLocks noChangeArrowheads="1"/>
          </p:cNvSpPr>
          <p:nvPr/>
        </p:nvSpPr>
        <p:spPr bwMode="auto">
          <a:xfrm>
            <a:off x="7704138" y="3094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12645" name="Text Box 5"/>
          <p:cNvSpPr txBox="1">
            <a:spLocks noChangeArrowheads="1"/>
          </p:cNvSpPr>
          <p:nvPr/>
        </p:nvSpPr>
        <p:spPr bwMode="auto">
          <a:xfrm>
            <a:off x="538480" y="1109345"/>
            <a:ext cx="3973830" cy="4582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ts val="800"/>
              </a:spcBef>
              <a:spcAft>
                <a:spcPts val="800"/>
              </a:spcAft>
            </a:pPr>
            <a:r>
              <a:rPr lang="zh-CN" altLang="en-US" sz="2400" b="0" dirty="0">
                <a:latin typeface="黑体" panose="02010609060101010101" pitchFamily="49" charset="-122"/>
                <a:ea typeface="黑体" panose="02010609060101010101" pitchFamily="49" charset="-122"/>
                <a:cs typeface="黑体" panose="02010609060101010101" pitchFamily="49" charset="-122"/>
              </a:rPr>
              <a:t>减速箱总成</a:t>
            </a:r>
            <a:endParaRPr lang="en-US" altLang="zh-CN" sz="2000" b="0" dirty="0">
              <a:latin typeface="黑体" panose="02010609060101010101" pitchFamily="49" charset="-122"/>
              <a:ea typeface="黑体" panose="02010609060101010101" pitchFamily="49" charset="-122"/>
              <a:cs typeface="黑体" panose="02010609060101010101" pitchFamily="49" charset="-122"/>
            </a:endParaRPr>
          </a:p>
          <a:p>
            <a:pPr defTabSz="1054100"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主电机的转速通常都采用较高转速，不能直接满足钻井需要，需要经过减速机构降低转速和增加扭矩，达到驱动钻柱旋转的目的。</a:t>
            </a:r>
          </a:p>
          <a:p>
            <a:pPr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对于顶驱装置，减速箱兼有</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承受管柱载荷</a:t>
            </a:r>
            <a:r>
              <a:rPr lang="zh-CN" altLang="en-US" sz="2000" b="0" dirty="0">
                <a:latin typeface="黑体" panose="02010609060101010101" pitchFamily="49" charset="-122"/>
                <a:ea typeface="黑体" panose="02010609060101010101" pitchFamily="49" charset="-122"/>
                <a:cs typeface="黑体" panose="02010609060101010101" pitchFamily="49" charset="-122"/>
              </a:rPr>
              <a:t>和</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传递钻井动力</a:t>
            </a:r>
            <a:r>
              <a:rPr lang="zh-CN" altLang="en-US" sz="2000" b="0" dirty="0">
                <a:latin typeface="黑体" panose="02010609060101010101" pitchFamily="49" charset="-122"/>
                <a:ea typeface="黑体" panose="02010609060101010101" pitchFamily="49" charset="-122"/>
                <a:cs typeface="黑体" panose="02010609060101010101" pitchFamily="49" charset="-122"/>
              </a:rPr>
              <a:t>两大功能，是顶驱装置中非常重要的部件。</a:t>
            </a:r>
            <a:endParaRPr lang="zh-CN" altLang="en-US" sz="2000" b="0" u="sng" dirty="0">
              <a:latin typeface="黑体" panose="02010609060101010101" pitchFamily="49" charset="-122"/>
              <a:ea typeface="黑体" panose="02010609060101010101" pitchFamily="49" charset="-122"/>
              <a:cs typeface="黑体" panose="02010609060101010101" pitchFamily="49" charset="-122"/>
            </a:endParaRPr>
          </a:p>
        </p:txBody>
      </p:sp>
      <p:sp>
        <p:nvSpPr>
          <p:cNvPr id="112647" name="Rectangle 7"/>
          <p:cNvSpPr>
            <a:spLocks noChangeArrowheads="1"/>
          </p:cNvSpPr>
          <p:nvPr/>
        </p:nvSpPr>
        <p:spPr bwMode="auto">
          <a:xfrm>
            <a:off x="7329488" y="3587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pic>
        <p:nvPicPr>
          <p:cNvPr id="8" name="图片 27" descr="6-34 齿轮箱的安装与拆卸.jpg"/>
          <p:cNvPicPr>
            <a:picLocks noChangeAspect="1"/>
          </p:cNvPicPr>
          <p:nvPr/>
        </p:nvPicPr>
        <p:blipFill rotWithShape="1">
          <a:blip r:embed="rId2">
            <a:extLst>
              <a:ext uri="{28A0092B-C50C-407E-A947-70E740481C1C}">
                <a14:useLocalDpi xmlns:a14="http://schemas.microsoft.com/office/drawing/2010/main" val="0"/>
              </a:ext>
            </a:extLst>
          </a:blip>
          <a:srcRect l="13197" r="15238"/>
          <a:stretch>
            <a:fillRect/>
          </a:stretch>
        </p:blipFill>
        <p:spPr bwMode="auto">
          <a:xfrm>
            <a:off x="6353002" y="1252538"/>
            <a:ext cx="2448272" cy="483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26" descr="6-09 齿轮位置示意.jpg"/>
          <p:cNvPicPr>
            <a:picLocks noChangeAspect="1"/>
          </p:cNvPicPr>
          <p:nvPr/>
        </p:nvPicPr>
        <p:blipFill rotWithShape="1">
          <a:blip r:embed="rId3">
            <a:extLst>
              <a:ext uri="{28A0092B-C50C-407E-A947-70E740481C1C}">
                <a14:useLocalDpi xmlns:a14="http://schemas.microsoft.com/office/drawing/2010/main" val="0"/>
              </a:ext>
            </a:extLst>
          </a:blip>
          <a:srcRect l="25956" r="25151"/>
          <a:stretch>
            <a:fillRect/>
          </a:stretch>
        </p:blipFill>
        <p:spPr bwMode="auto">
          <a:xfrm>
            <a:off x="4595975" y="1379538"/>
            <a:ext cx="1584176" cy="458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动力水龙头</a:t>
            </a: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35" y="1128395"/>
            <a:ext cx="2104390" cy="460375"/>
          </a:xfrm>
          <a:prstGeom prst="rect">
            <a:avLst/>
          </a:prstGeom>
          <a:solidFill>
            <a:srgbClr val="FF0000"/>
          </a:solidFill>
        </p:spPr>
        <p:txBody>
          <a:bodyPr wrap="square" rtlCol="0">
            <a:spAutoFit/>
          </a:bodyPr>
          <a:lstStyle/>
          <a:p>
            <a:r>
              <a:rPr lang="zh-CN" altLang="zh-CN" sz="2400" b="1">
                <a:ln>
                  <a:noFill/>
                </a:ln>
                <a:solidFill>
                  <a:schemeClr val="bg1"/>
                </a:solidFill>
                <a:latin typeface="等线" panose="02010600030101010101" charset="-122"/>
                <a:ea typeface="等线" panose="02010600030101010101" charset="-122"/>
              </a:rPr>
              <a:t>减速箱剖视图</a:t>
            </a:r>
            <a:endParaRPr lang="en-US" altLang="zh-CN" sz="2400" b="1">
              <a:ln>
                <a:noFill/>
              </a:ln>
              <a:solidFill>
                <a:schemeClr val="bg1"/>
              </a:solidFill>
              <a:latin typeface="等线" panose="02010600030101010101" charset="-122"/>
              <a:ea typeface="等线" panose="02010600030101010101" charset="-122"/>
            </a:endParaRPr>
          </a:p>
        </p:txBody>
      </p:sp>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grpSp>
        <p:nvGrpSpPr>
          <p:cNvPr id="114696" name="Group 28"/>
          <p:cNvGrpSpPr/>
          <p:nvPr/>
        </p:nvGrpSpPr>
        <p:grpSpPr bwMode="auto">
          <a:xfrm>
            <a:off x="1198245" y="1589405"/>
            <a:ext cx="7237095" cy="4853940"/>
            <a:chOff x="905" y="1389"/>
            <a:chExt cx="3062" cy="2052"/>
          </a:xfrm>
        </p:grpSpPr>
        <p:pic>
          <p:nvPicPr>
            <p:cNvPr id="114697" name="Picture 9" descr="减速箱总成"/>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 y="1389"/>
              <a:ext cx="2448" cy="2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4698" name="Group 11"/>
            <p:cNvGrpSpPr/>
            <p:nvPr/>
          </p:nvGrpSpPr>
          <p:grpSpPr bwMode="auto">
            <a:xfrm>
              <a:off x="905" y="1434"/>
              <a:ext cx="2928" cy="1756"/>
              <a:chOff x="1451" y="1263"/>
              <a:chExt cx="7320" cy="4392"/>
            </a:xfrm>
          </p:grpSpPr>
          <p:sp>
            <p:nvSpPr>
              <p:cNvPr id="114699" name="Line 12"/>
              <p:cNvSpPr>
                <a:spLocks noChangeShapeType="1"/>
              </p:cNvSpPr>
              <p:nvPr/>
            </p:nvSpPr>
            <p:spPr bwMode="auto">
              <a:xfrm flipH="1" flipV="1">
                <a:off x="3131" y="1426"/>
                <a:ext cx="1560" cy="48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4700" name="Text Box 13"/>
              <p:cNvSpPr txBox="1">
                <a:spLocks noChangeArrowheads="1"/>
              </p:cNvSpPr>
              <p:nvPr/>
            </p:nvSpPr>
            <p:spPr bwMode="auto">
              <a:xfrm>
                <a:off x="2171" y="1263"/>
                <a:ext cx="960" cy="32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r" eaLnBrk="1" hangingPunct="1"/>
                <a:r>
                  <a:rPr lang="zh-CN" altLang="en-US" sz="1000"/>
                  <a:t>上轴承盖</a:t>
                </a:r>
                <a:endParaRPr lang="zh-CN" altLang="en-US" u="sng"/>
              </a:p>
            </p:txBody>
          </p:sp>
          <p:sp>
            <p:nvSpPr>
              <p:cNvPr id="114701" name="Line 14"/>
              <p:cNvSpPr>
                <a:spLocks noChangeShapeType="1"/>
              </p:cNvSpPr>
              <p:nvPr/>
            </p:nvSpPr>
            <p:spPr bwMode="auto">
              <a:xfrm flipH="1">
                <a:off x="2651" y="2078"/>
                <a:ext cx="1560" cy="32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4702" name="Text Box 15"/>
              <p:cNvSpPr txBox="1">
                <a:spLocks noChangeArrowheads="1"/>
              </p:cNvSpPr>
              <p:nvPr/>
            </p:nvSpPr>
            <p:spPr bwMode="auto">
              <a:xfrm>
                <a:off x="1571" y="2232"/>
                <a:ext cx="960" cy="32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r" eaLnBrk="1" hangingPunct="1"/>
                <a:r>
                  <a:rPr lang="zh-CN" altLang="en-US" sz="1000"/>
                  <a:t>箱盖</a:t>
                </a:r>
                <a:endParaRPr lang="zh-CN" altLang="en-US" u="sng"/>
              </a:p>
            </p:txBody>
          </p:sp>
          <p:sp>
            <p:nvSpPr>
              <p:cNvPr id="114703" name="Line 16"/>
              <p:cNvSpPr>
                <a:spLocks noChangeShapeType="1"/>
              </p:cNvSpPr>
              <p:nvPr/>
            </p:nvSpPr>
            <p:spPr bwMode="auto">
              <a:xfrm flipH="1">
                <a:off x="2531" y="2893"/>
                <a:ext cx="1800" cy="4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4704" name="Text Box 17"/>
              <p:cNvSpPr txBox="1">
                <a:spLocks noChangeArrowheads="1"/>
              </p:cNvSpPr>
              <p:nvPr/>
            </p:nvSpPr>
            <p:spPr bwMode="auto">
              <a:xfrm>
                <a:off x="1451" y="3210"/>
                <a:ext cx="960" cy="32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r" eaLnBrk="1" hangingPunct="1"/>
                <a:r>
                  <a:rPr lang="zh-CN" altLang="en-US" sz="1000"/>
                  <a:t>齿轮</a:t>
                </a:r>
                <a:endParaRPr lang="zh-CN" altLang="en-US" u="sng"/>
              </a:p>
            </p:txBody>
          </p:sp>
          <p:sp>
            <p:nvSpPr>
              <p:cNvPr id="114705" name="Line 18"/>
              <p:cNvSpPr>
                <a:spLocks noChangeShapeType="1"/>
              </p:cNvSpPr>
              <p:nvPr/>
            </p:nvSpPr>
            <p:spPr bwMode="auto">
              <a:xfrm flipH="1">
                <a:off x="2531" y="2232"/>
                <a:ext cx="2400" cy="63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4706" name="Text Box 19"/>
              <p:cNvSpPr txBox="1">
                <a:spLocks noChangeArrowheads="1"/>
              </p:cNvSpPr>
              <p:nvPr/>
            </p:nvSpPr>
            <p:spPr bwMode="auto">
              <a:xfrm>
                <a:off x="1451" y="2721"/>
                <a:ext cx="960" cy="32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r" eaLnBrk="1" hangingPunct="1"/>
                <a:r>
                  <a:rPr lang="zh-CN" altLang="en-US" sz="1000"/>
                  <a:t>防跳轴承</a:t>
                </a:r>
                <a:endParaRPr lang="zh-CN" altLang="en-US" u="sng"/>
              </a:p>
            </p:txBody>
          </p:sp>
          <p:sp>
            <p:nvSpPr>
              <p:cNvPr id="114707" name="Line 20"/>
              <p:cNvSpPr>
                <a:spLocks noChangeShapeType="1"/>
              </p:cNvSpPr>
              <p:nvPr/>
            </p:nvSpPr>
            <p:spPr bwMode="auto">
              <a:xfrm flipH="1">
                <a:off x="2531" y="3210"/>
                <a:ext cx="2040" cy="63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4708" name="Text Box 21"/>
              <p:cNvSpPr txBox="1">
                <a:spLocks noChangeArrowheads="1"/>
              </p:cNvSpPr>
              <p:nvPr/>
            </p:nvSpPr>
            <p:spPr bwMode="auto">
              <a:xfrm>
                <a:off x="1451" y="3708"/>
                <a:ext cx="960" cy="32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r" eaLnBrk="1" hangingPunct="1"/>
                <a:r>
                  <a:rPr lang="zh-CN" altLang="en-US" sz="1000"/>
                  <a:t>推力轴承</a:t>
                </a:r>
                <a:endParaRPr lang="zh-CN" altLang="en-US" u="sng"/>
              </a:p>
            </p:txBody>
          </p:sp>
          <p:sp>
            <p:nvSpPr>
              <p:cNvPr id="114709" name="Line 22"/>
              <p:cNvSpPr>
                <a:spLocks noChangeShapeType="1"/>
              </p:cNvSpPr>
              <p:nvPr/>
            </p:nvSpPr>
            <p:spPr bwMode="auto">
              <a:xfrm flipH="1">
                <a:off x="2411" y="3862"/>
                <a:ext cx="2400" cy="66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4710" name="Text Box 23"/>
              <p:cNvSpPr txBox="1">
                <a:spLocks noChangeArrowheads="1"/>
              </p:cNvSpPr>
              <p:nvPr/>
            </p:nvSpPr>
            <p:spPr bwMode="auto">
              <a:xfrm>
                <a:off x="1451" y="4369"/>
                <a:ext cx="960" cy="32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r" eaLnBrk="1" hangingPunct="1"/>
                <a:r>
                  <a:rPr lang="zh-CN" altLang="en-US" sz="1000"/>
                  <a:t>扶正轴承</a:t>
                </a:r>
                <a:endParaRPr lang="zh-CN" altLang="en-US" u="sng"/>
              </a:p>
            </p:txBody>
          </p:sp>
          <p:sp>
            <p:nvSpPr>
              <p:cNvPr id="114711" name="Line 24"/>
              <p:cNvSpPr>
                <a:spLocks noChangeShapeType="1"/>
              </p:cNvSpPr>
              <p:nvPr/>
            </p:nvSpPr>
            <p:spPr bwMode="auto">
              <a:xfrm flipH="1">
                <a:off x="3251" y="5003"/>
                <a:ext cx="1920" cy="4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4712" name="Text Box 25"/>
              <p:cNvSpPr txBox="1">
                <a:spLocks noChangeArrowheads="1"/>
              </p:cNvSpPr>
              <p:nvPr/>
            </p:nvSpPr>
            <p:spPr bwMode="auto">
              <a:xfrm>
                <a:off x="2291" y="5329"/>
                <a:ext cx="960" cy="32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r" eaLnBrk="1" hangingPunct="1"/>
                <a:r>
                  <a:rPr lang="zh-CN" altLang="en-US" sz="1000"/>
                  <a:t>主轴</a:t>
                </a:r>
                <a:endParaRPr lang="zh-CN" altLang="en-US" u="sng"/>
              </a:p>
            </p:txBody>
          </p:sp>
          <p:sp>
            <p:nvSpPr>
              <p:cNvPr id="114713" name="Line 26"/>
              <p:cNvSpPr>
                <a:spLocks noChangeShapeType="1"/>
              </p:cNvSpPr>
              <p:nvPr/>
            </p:nvSpPr>
            <p:spPr bwMode="auto">
              <a:xfrm flipH="1">
                <a:off x="7691" y="3373"/>
                <a:ext cx="1080" cy="20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4714" name="Text Box 27"/>
              <p:cNvSpPr txBox="1">
                <a:spLocks noChangeArrowheads="1"/>
              </p:cNvSpPr>
              <p:nvPr/>
            </p:nvSpPr>
            <p:spPr bwMode="auto">
              <a:xfrm>
                <a:off x="6491" y="5320"/>
                <a:ext cx="1200" cy="32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r" eaLnBrk="1" hangingPunct="1"/>
                <a:r>
                  <a:rPr lang="zh-CN" altLang="en-US" sz="1000"/>
                  <a:t>减速箱箱体</a:t>
                </a:r>
                <a:endParaRPr lang="zh-CN" altLang="en-US" u="sng"/>
              </a:p>
            </p:txBody>
          </p:sp>
        </p:grpSp>
      </p:gr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动力水龙头</a:t>
            </a: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15717" name="Text Box 5"/>
          <p:cNvSpPr txBox="1">
            <a:spLocks noChangeArrowheads="1"/>
          </p:cNvSpPr>
          <p:nvPr/>
        </p:nvSpPr>
        <p:spPr bwMode="auto">
          <a:xfrm>
            <a:off x="247650" y="1188085"/>
            <a:ext cx="3599180" cy="4652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lang="zh-CN" altLang="en-US" sz="2800" dirty="0">
                <a:latin typeface="楷体" panose="02010609060101010101" pitchFamily="49" charset="-122"/>
                <a:ea typeface="楷体" panose="02010609060101010101" pitchFamily="49" charset="-122"/>
              </a:rPr>
              <a:t>    </a:t>
            </a:r>
            <a:r>
              <a:rPr lang="zh-CN" altLang="en-US" sz="2000" b="0" dirty="0">
                <a:latin typeface="黑体" panose="02010609060101010101" pitchFamily="49" charset="-122"/>
                <a:ea typeface="黑体" panose="02010609060101010101" pitchFamily="49" charset="-122"/>
                <a:cs typeface="黑体" panose="02010609060101010101" pitchFamily="49" charset="-122"/>
              </a:rPr>
              <a:t>减速箱的润滑系统采用油泵强制润滑，可由主电机输出轴驱动或使用单独的电机或液压马达驱动。箱体内部形成一个封闭油室，工作时油泵自箱体底部吸出润滑油，经过滤器、流量传感器、散热器，再通过特定油道喷洒到箱体内各轴承及传动齿轮啮合处润滑、冷却，再慢慢流回箱体底部，由此不断循环。</a:t>
            </a:r>
            <a:r>
              <a:rPr lang="zh-CN" altLang="en-US" sz="2000" b="0" u="sng" dirty="0">
                <a:latin typeface="黑体" panose="02010609060101010101" pitchFamily="49" charset="-122"/>
                <a:ea typeface="黑体" panose="02010609060101010101" pitchFamily="49" charset="-122"/>
                <a:cs typeface="黑体" panose="02010609060101010101" pitchFamily="49" charset="-122"/>
              </a:rPr>
              <a:t> </a:t>
            </a:r>
          </a:p>
        </p:txBody>
      </p:sp>
      <p:pic>
        <p:nvPicPr>
          <p:cNvPr id="14" name="图片 31" descr="6-07 独立润滑油泵位置示意.jpg"/>
          <p:cNvPicPr>
            <a:picLocks noChangeAspect="1"/>
          </p:cNvPicPr>
          <p:nvPr/>
        </p:nvPicPr>
        <p:blipFill rotWithShape="1">
          <a:blip r:embed="rId2">
            <a:extLst>
              <a:ext uri="{28A0092B-C50C-407E-A947-70E740481C1C}">
                <a14:useLocalDpi xmlns:a14="http://schemas.microsoft.com/office/drawing/2010/main" val="0"/>
              </a:ext>
            </a:extLst>
          </a:blip>
          <a:srcRect l="24594" r="22293" b="44685"/>
          <a:stretch>
            <a:fillRect/>
          </a:stretch>
        </p:blipFill>
        <p:spPr bwMode="auto">
          <a:xfrm>
            <a:off x="4611370" y="747395"/>
            <a:ext cx="1800225" cy="2650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73" name="图片 22" descr="6-03 减速箱内部润滑情况.jpg"/>
          <p:cNvPicPr>
            <a:picLocks noChangeAspect="1"/>
          </p:cNvPicPr>
          <p:nvPr/>
        </p:nvPicPr>
        <p:blipFill>
          <a:blip r:embed="rId3" cstate="print">
            <a:extLst>
              <a:ext uri="{28A0092B-C50C-407E-A947-70E740481C1C}">
                <a14:useLocalDpi xmlns:a14="http://schemas.microsoft.com/office/drawing/2010/main" val="0"/>
              </a:ext>
            </a:extLst>
          </a:blip>
          <a:srcRect l="12020" r="12364" b="13526"/>
          <a:stretch>
            <a:fillRect/>
          </a:stretch>
        </p:blipFill>
        <p:spPr bwMode="auto">
          <a:xfrm>
            <a:off x="6584315" y="857885"/>
            <a:ext cx="1646555" cy="266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动力水龙头</a:t>
            </a:r>
          </a:p>
        </p:txBody>
      </p:sp>
      <p:grpSp>
        <p:nvGrpSpPr>
          <p:cNvPr id="99" name="组合 98"/>
          <p:cNvGrpSpPr/>
          <p:nvPr/>
        </p:nvGrpSpPr>
        <p:grpSpPr>
          <a:xfrm>
            <a:off x="3961130" y="3431540"/>
            <a:ext cx="4876800" cy="3088005"/>
            <a:chOff x="703" y="2664"/>
            <a:chExt cx="8518" cy="6834"/>
          </a:xfrm>
        </p:grpSpPr>
        <p:sp>
          <p:nvSpPr>
            <p:cNvPr id="67" name="Rectangle 12"/>
            <p:cNvSpPr>
              <a:spLocks noChangeArrowheads="1"/>
            </p:cNvSpPr>
            <p:nvPr/>
          </p:nvSpPr>
          <p:spPr bwMode="auto">
            <a:xfrm>
              <a:off x="7420" y="5123"/>
              <a:ext cx="290"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400" b="1">
                  <a:solidFill>
                    <a:schemeClr val="tx1"/>
                  </a:solidFill>
                  <a:latin typeface="Arial" panose="020B0604020202020204" pitchFamily="34" charset="0"/>
                  <a:ea typeface="宋体" panose="02010600030101010101" pitchFamily="2" charset="-122"/>
                </a:defRPr>
              </a:lvl1pPr>
              <a:lvl2pPr marL="742950" indent="-285750">
                <a:defRPr sz="1400" b="1">
                  <a:solidFill>
                    <a:schemeClr val="tx1"/>
                  </a:solidFill>
                  <a:latin typeface="Arial" panose="020B0604020202020204" pitchFamily="34" charset="0"/>
                  <a:ea typeface="宋体" panose="02010600030101010101" pitchFamily="2" charset="-122"/>
                </a:defRPr>
              </a:lvl2pPr>
              <a:lvl3pPr marL="1143000" indent="-228600">
                <a:defRPr sz="1400" b="1">
                  <a:solidFill>
                    <a:schemeClr val="tx1"/>
                  </a:solidFill>
                  <a:latin typeface="Arial" panose="020B0604020202020204" pitchFamily="34" charset="0"/>
                  <a:ea typeface="宋体" panose="02010600030101010101" pitchFamily="2" charset="-122"/>
                </a:defRPr>
              </a:lvl3pPr>
              <a:lvl4pPr marL="1600200" indent="-228600">
                <a:defRPr sz="1400" b="1">
                  <a:solidFill>
                    <a:schemeClr val="tx1"/>
                  </a:solidFill>
                  <a:latin typeface="Arial" panose="020B0604020202020204" pitchFamily="34" charset="0"/>
                  <a:ea typeface="宋体" panose="02010600030101010101" pitchFamily="2" charset="-122"/>
                </a:defRPr>
              </a:lvl4pPr>
              <a:lvl5pPr marL="2057400" indent="-228600">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395" u="sng"/>
            </a:p>
          </p:txBody>
        </p:sp>
        <p:grpSp>
          <p:nvGrpSpPr>
            <p:cNvPr id="68" name="组合 30"/>
            <p:cNvGrpSpPr/>
            <p:nvPr/>
          </p:nvGrpSpPr>
          <p:grpSpPr bwMode="auto">
            <a:xfrm>
              <a:off x="703" y="2664"/>
              <a:ext cx="8518" cy="6835"/>
              <a:chOff x="1369483" y="1797050"/>
              <a:chExt cx="5409142" cy="4340064"/>
            </a:xfrm>
          </p:grpSpPr>
          <p:pic>
            <p:nvPicPr>
              <p:cNvPr id="69" name="Picture 33" descr="润滑油路"/>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93825" y="1930400"/>
                <a:ext cx="5372100" cy="38195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70" name="Text Box 34"/>
              <p:cNvSpPr txBox="1">
                <a:spLocks noChangeArrowheads="1"/>
              </p:cNvSpPr>
              <p:nvPr/>
            </p:nvSpPr>
            <p:spPr bwMode="auto">
              <a:xfrm>
                <a:off x="4251325" y="4605338"/>
                <a:ext cx="1371600" cy="9906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en-US" sz="1100" b="0">
                    <a:latin typeface="宋体" panose="02010600030101010101" pitchFamily="2" charset="-122"/>
                  </a:rPr>
                  <a:t>油箱</a:t>
                </a:r>
              </a:p>
              <a:p>
                <a:pPr algn="ctr"/>
                <a:r>
                  <a:rPr lang="zh-CN" altLang="en-US" sz="1100" b="0">
                    <a:latin typeface="宋体" panose="02010600030101010101" pitchFamily="2" charset="-122"/>
                  </a:rPr>
                  <a:t>（含液位液温计、温度传感器）</a:t>
                </a:r>
                <a:endParaRPr lang="zh-CN" altLang="zh-CN" sz="1100"/>
              </a:p>
            </p:txBody>
          </p:sp>
          <p:sp>
            <p:nvSpPr>
              <p:cNvPr id="71" name="Text Box 35"/>
              <p:cNvSpPr txBox="1">
                <a:spLocks noChangeArrowheads="1"/>
              </p:cNvSpPr>
              <p:nvPr/>
            </p:nvSpPr>
            <p:spPr bwMode="auto">
              <a:xfrm>
                <a:off x="5165725" y="2425700"/>
                <a:ext cx="1028700" cy="69373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en-US" sz="1200" b="0">
                    <a:latin typeface="宋体" panose="02010600030101010101" pitchFamily="2" charset="-122"/>
                  </a:rPr>
                  <a:t>减速箱内部各个润滑点</a:t>
                </a:r>
                <a:endParaRPr lang="zh-CN" altLang="zh-CN" sz="1200"/>
              </a:p>
            </p:txBody>
          </p:sp>
          <p:sp>
            <p:nvSpPr>
              <p:cNvPr id="72" name="Line 36"/>
              <p:cNvSpPr>
                <a:spLocks noChangeShapeType="1"/>
              </p:cNvSpPr>
              <p:nvPr/>
            </p:nvSpPr>
            <p:spPr bwMode="auto">
              <a:xfrm>
                <a:off x="1816100" y="2095500"/>
                <a:ext cx="271463" cy="70802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 name="Text Box 37"/>
              <p:cNvSpPr txBox="1">
                <a:spLocks noChangeArrowheads="1"/>
              </p:cNvSpPr>
              <p:nvPr/>
            </p:nvSpPr>
            <p:spPr bwMode="auto">
              <a:xfrm>
                <a:off x="1369483" y="1822979"/>
                <a:ext cx="800100" cy="2317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a:r>
                  <a:rPr lang="zh-CN" altLang="en-US" sz="1000" b="0">
                    <a:latin typeface="宋体" panose="02010600030101010101" pitchFamily="2" charset="-122"/>
                  </a:rPr>
                  <a:t>流量开关</a:t>
                </a:r>
                <a:endParaRPr lang="zh-CN" altLang="zh-CN"/>
              </a:p>
            </p:txBody>
          </p:sp>
          <p:sp>
            <p:nvSpPr>
              <p:cNvPr id="74" name="Line 38"/>
              <p:cNvSpPr>
                <a:spLocks noChangeShapeType="1"/>
              </p:cNvSpPr>
              <p:nvPr/>
            </p:nvSpPr>
            <p:spPr bwMode="auto">
              <a:xfrm flipH="1">
                <a:off x="2601913" y="2095500"/>
                <a:ext cx="14287" cy="6889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 name="Text Box 39"/>
              <p:cNvSpPr txBox="1">
                <a:spLocks noChangeArrowheads="1"/>
              </p:cNvSpPr>
              <p:nvPr/>
            </p:nvSpPr>
            <p:spPr bwMode="auto">
              <a:xfrm>
                <a:off x="2282825" y="1797051"/>
                <a:ext cx="914400" cy="240241"/>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a:r>
                  <a:rPr lang="zh-CN" altLang="en-US" sz="1000" b="0">
                    <a:latin typeface="宋体" panose="02010600030101010101" pitchFamily="2" charset="-122"/>
                  </a:rPr>
                  <a:t>三通球阀</a:t>
                </a:r>
                <a:endParaRPr lang="zh-CN" altLang="zh-CN"/>
              </a:p>
            </p:txBody>
          </p:sp>
          <p:sp>
            <p:nvSpPr>
              <p:cNvPr id="76" name="Line 40"/>
              <p:cNvSpPr>
                <a:spLocks noChangeShapeType="1"/>
              </p:cNvSpPr>
              <p:nvPr/>
            </p:nvSpPr>
            <p:spPr bwMode="auto">
              <a:xfrm>
                <a:off x="3392488" y="2028825"/>
                <a:ext cx="138112" cy="5619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7" name="Text Box 41"/>
              <p:cNvSpPr txBox="1">
                <a:spLocks noChangeArrowheads="1"/>
              </p:cNvSpPr>
              <p:nvPr/>
            </p:nvSpPr>
            <p:spPr bwMode="auto">
              <a:xfrm>
                <a:off x="3078163" y="1797050"/>
                <a:ext cx="685800" cy="2317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a:r>
                  <a:rPr lang="zh-CN" altLang="en-US" sz="1000" b="0">
                    <a:latin typeface="宋体" panose="02010600030101010101" pitchFamily="2" charset="-122"/>
                  </a:rPr>
                  <a:t>散热器</a:t>
                </a:r>
                <a:endParaRPr lang="zh-CN" altLang="zh-CN"/>
              </a:p>
            </p:txBody>
          </p:sp>
          <p:sp>
            <p:nvSpPr>
              <p:cNvPr id="78" name="Line 42"/>
              <p:cNvSpPr>
                <a:spLocks noChangeShapeType="1"/>
              </p:cNvSpPr>
              <p:nvPr/>
            </p:nvSpPr>
            <p:spPr bwMode="auto">
              <a:xfrm flipH="1">
                <a:off x="1965325" y="4902200"/>
                <a:ext cx="571500" cy="9906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 name="Text Box 43"/>
              <p:cNvSpPr txBox="1">
                <a:spLocks noChangeArrowheads="1"/>
              </p:cNvSpPr>
              <p:nvPr/>
            </p:nvSpPr>
            <p:spPr bwMode="auto">
              <a:xfrm>
                <a:off x="1393825" y="5846924"/>
                <a:ext cx="914400" cy="29019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en-US" sz="1000" b="0">
                    <a:latin typeface="宋体" panose="02010600030101010101" pitchFamily="2" charset="-122"/>
                  </a:rPr>
                  <a:t>摆线油泵</a:t>
                </a:r>
                <a:endParaRPr lang="zh-CN" altLang="zh-CN"/>
              </a:p>
            </p:txBody>
          </p:sp>
          <p:sp>
            <p:nvSpPr>
              <p:cNvPr id="80" name="Line 44"/>
              <p:cNvSpPr>
                <a:spLocks noChangeShapeType="1"/>
              </p:cNvSpPr>
              <p:nvPr/>
            </p:nvSpPr>
            <p:spPr bwMode="auto">
              <a:xfrm flipV="1">
                <a:off x="2879725" y="5330825"/>
                <a:ext cx="336550" cy="5619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1" name="Text Box 45"/>
              <p:cNvSpPr txBox="1">
                <a:spLocks noChangeArrowheads="1"/>
              </p:cNvSpPr>
              <p:nvPr/>
            </p:nvSpPr>
            <p:spPr bwMode="auto">
              <a:xfrm>
                <a:off x="2422525" y="5846924"/>
                <a:ext cx="685800" cy="29019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a:r>
                  <a:rPr lang="zh-CN" altLang="en-US" sz="1000" b="0">
                    <a:latin typeface="宋体" panose="02010600030101010101" pitchFamily="2" charset="-122"/>
                  </a:rPr>
                  <a:t>溢流阀</a:t>
                </a:r>
                <a:endParaRPr lang="zh-CN" altLang="zh-CN"/>
              </a:p>
            </p:txBody>
          </p:sp>
          <p:sp>
            <p:nvSpPr>
              <p:cNvPr id="82" name="Line 46"/>
              <p:cNvSpPr>
                <a:spLocks noChangeShapeType="1"/>
              </p:cNvSpPr>
              <p:nvPr/>
            </p:nvSpPr>
            <p:spPr bwMode="auto">
              <a:xfrm>
                <a:off x="1930400" y="3778250"/>
                <a:ext cx="668338" cy="1905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3" name="Text Box 47"/>
              <p:cNvSpPr txBox="1">
                <a:spLocks noChangeArrowheads="1"/>
              </p:cNvSpPr>
              <p:nvPr/>
            </p:nvSpPr>
            <p:spPr bwMode="auto">
              <a:xfrm>
                <a:off x="2633662" y="3900487"/>
                <a:ext cx="828675" cy="1746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a:r>
                  <a:rPr lang="zh-CN" altLang="en-US" sz="1000" b="0">
                    <a:latin typeface="宋体" panose="02010600030101010101" pitchFamily="2" charset="-122"/>
                  </a:rPr>
                  <a:t>板式滤油器</a:t>
                </a:r>
                <a:endParaRPr lang="zh-CN" altLang="zh-CN"/>
              </a:p>
            </p:txBody>
          </p:sp>
          <p:sp>
            <p:nvSpPr>
              <p:cNvPr id="84" name="Line 48"/>
              <p:cNvSpPr>
                <a:spLocks noChangeShapeType="1"/>
              </p:cNvSpPr>
              <p:nvPr/>
            </p:nvSpPr>
            <p:spPr bwMode="auto">
              <a:xfrm flipH="1">
                <a:off x="3073400" y="4327525"/>
                <a:ext cx="342900" cy="0"/>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5" name="Line 49"/>
              <p:cNvSpPr>
                <a:spLocks noChangeShapeType="1"/>
              </p:cNvSpPr>
              <p:nvPr/>
            </p:nvSpPr>
            <p:spPr bwMode="auto">
              <a:xfrm flipH="1">
                <a:off x="1735138" y="4330700"/>
                <a:ext cx="342900" cy="0"/>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6" name="Line 50"/>
              <p:cNvSpPr>
                <a:spLocks noChangeShapeType="1"/>
              </p:cNvSpPr>
              <p:nvPr/>
            </p:nvSpPr>
            <p:spPr bwMode="auto">
              <a:xfrm flipH="1" flipV="1">
                <a:off x="2306638" y="3486150"/>
                <a:ext cx="0" cy="296863"/>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 name="Line 51"/>
              <p:cNvSpPr>
                <a:spLocks noChangeShapeType="1"/>
              </p:cNvSpPr>
              <p:nvPr/>
            </p:nvSpPr>
            <p:spPr bwMode="auto">
              <a:xfrm flipH="1" flipV="1">
                <a:off x="1420813" y="2889250"/>
                <a:ext cx="0" cy="296863"/>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 name="Line 52"/>
              <p:cNvSpPr>
                <a:spLocks noChangeShapeType="1"/>
              </p:cNvSpPr>
              <p:nvPr/>
            </p:nvSpPr>
            <p:spPr bwMode="auto">
              <a:xfrm>
                <a:off x="1587500" y="2643188"/>
                <a:ext cx="342900" cy="0"/>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9" name="Line 53"/>
              <p:cNvSpPr>
                <a:spLocks noChangeShapeType="1"/>
              </p:cNvSpPr>
              <p:nvPr/>
            </p:nvSpPr>
            <p:spPr bwMode="auto">
              <a:xfrm>
                <a:off x="3354388" y="3463925"/>
                <a:ext cx="342900" cy="0"/>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0" name="Line 54"/>
              <p:cNvSpPr>
                <a:spLocks noChangeShapeType="1"/>
              </p:cNvSpPr>
              <p:nvPr/>
            </p:nvSpPr>
            <p:spPr bwMode="auto">
              <a:xfrm>
                <a:off x="2616200" y="2346325"/>
                <a:ext cx="342900" cy="0"/>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1" name="Line 55"/>
              <p:cNvSpPr>
                <a:spLocks noChangeShapeType="1"/>
              </p:cNvSpPr>
              <p:nvPr/>
            </p:nvSpPr>
            <p:spPr bwMode="auto">
              <a:xfrm>
                <a:off x="4445000" y="2643188"/>
                <a:ext cx="342900" cy="0"/>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2" name="Line 56"/>
              <p:cNvSpPr>
                <a:spLocks noChangeShapeType="1"/>
              </p:cNvSpPr>
              <p:nvPr/>
            </p:nvSpPr>
            <p:spPr bwMode="auto">
              <a:xfrm flipH="1" flipV="1">
                <a:off x="3644900" y="4624388"/>
                <a:ext cx="0" cy="296862"/>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3" name="Line 57"/>
              <p:cNvSpPr>
                <a:spLocks noChangeShapeType="1"/>
              </p:cNvSpPr>
              <p:nvPr/>
            </p:nvSpPr>
            <p:spPr bwMode="auto">
              <a:xfrm>
                <a:off x="2259013" y="5588000"/>
                <a:ext cx="342900" cy="0"/>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4" name="Line 58"/>
              <p:cNvSpPr>
                <a:spLocks noChangeShapeType="1"/>
              </p:cNvSpPr>
              <p:nvPr/>
            </p:nvSpPr>
            <p:spPr bwMode="auto">
              <a:xfrm>
                <a:off x="3592513" y="5597525"/>
                <a:ext cx="342900" cy="0"/>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 name="Line 59"/>
              <p:cNvSpPr>
                <a:spLocks noChangeShapeType="1"/>
              </p:cNvSpPr>
              <p:nvPr/>
            </p:nvSpPr>
            <p:spPr bwMode="auto">
              <a:xfrm>
                <a:off x="1587500" y="4724400"/>
                <a:ext cx="4763" cy="320675"/>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6" name="Line 60"/>
              <p:cNvSpPr>
                <a:spLocks noChangeShapeType="1"/>
              </p:cNvSpPr>
              <p:nvPr/>
            </p:nvSpPr>
            <p:spPr bwMode="auto">
              <a:xfrm>
                <a:off x="6773863" y="3609975"/>
                <a:ext cx="4762" cy="320675"/>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7" name="Line 61"/>
              <p:cNvSpPr>
                <a:spLocks noChangeShapeType="1"/>
              </p:cNvSpPr>
              <p:nvPr/>
            </p:nvSpPr>
            <p:spPr bwMode="auto">
              <a:xfrm flipH="1">
                <a:off x="5930900" y="4724400"/>
                <a:ext cx="342900" cy="0"/>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8" name="Line 62"/>
              <p:cNvSpPr>
                <a:spLocks noChangeShapeType="1"/>
              </p:cNvSpPr>
              <p:nvPr/>
            </p:nvSpPr>
            <p:spPr bwMode="auto">
              <a:xfrm flipH="1" flipV="1">
                <a:off x="4559300" y="2940050"/>
                <a:ext cx="0" cy="298450"/>
              </a:xfrm>
              <a:prstGeom prst="line">
                <a:avLst/>
              </a:prstGeom>
              <a:noFill/>
              <a:ln w="254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管子处理装置</a:t>
            </a:r>
          </a:p>
        </p:txBody>
      </p:sp>
      <p:pic>
        <p:nvPicPr>
          <p:cNvPr id="125954" name="Picture 2" descr="吊环倾斜机构"/>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5553" y="1908101"/>
            <a:ext cx="4241800" cy="372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2"/>
          <p:cNvSpPr txBox="1"/>
          <p:nvPr/>
        </p:nvSpPr>
        <p:spPr bwMode="auto">
          <a:xfrm>
            <a:off x="300990" y="1188085"/>
            <a:ext cx="4274185" cy="5530215"/>
          </a:xfrm>
          <a:prstGeom prst="rect">
            <a:avLst/>
          </a:prstGeom>
          <a:noFill/>
          <a:ln w="9525">
            <a:noFill/>
            <a:miter lim="800000"/>
          </a:ln>
        </p:spPr>
        <p:txBody>
          <a:bodyPr/>
          <a:lstStyle/>
          <a:p>
            <a:pPr marL="0" lvl="8" algn="just">
              <a:lnSpc>
                <a:spcPct val="130000"/>
              </a:lnSpc>
              <a:spcBef>
                <a:spcPts val="800"/>
              </a:spcBef>
              <a:spcAft>
                <a:spcPts val="800"/>
              </a:spcAft>
              <a:buClr>
                <a:srgbClr val="0070C0"/>
              </a:buClr>
              <a:buSzPct val="120000"/>
              <a:defRPr/>
            </a:pPr>
            <a:r>
              <a:rPr lang="zh-CN" altLang="en-US" sz="2400" dirty="0">
                <a:latin typeface="楷体" panose="02010609060101010101" pitchFamily="49" charset="-122"/>
                <a:ea typeface="楷体" panose="02010609060101010101" pitchFamily="49" charset="-122"/>
                <a:cs typeface="Times New Roman" panose="02020603050405020304" pitchFamily="18" charset="0"/>
              </a:rPr>
              <a:t>    </a:t>
            </a:r>
            <a:r>
              <a:rPr lang="zh-CN" altLang="en-US" sz="2000" dirty="0">
                <a:latin typeface="黑体" panose="02010609060101010101" pitchFamily="49" charset="-122"/>
                <a:ea typeface="黑体" panose="02010609060101010101" pitchFamily="49" charset="-122"/>
                <a:cs typeface="黑体" panose="02010609060101010101" pitchFamily="49" charset="-122"/>
              </a:rPr>
              <a:t>管子处理装置主要由旋转机构、吊环倾斜机构（倾斜油缸、吊环、吊卡）、背钳等组成。</a:t>
            </a:r>
            <a:endParaRPr lang="en-US" altLang="zh-CN" sz="2000" dirty="0">
              <a:latin typeface="黑体" panose="02010609060101010101" pitchFamily="49" charset="-122"/>
              <a:ea typeface="黑体" panose="02010609060101010101" pitchFamily="49" charset="-122"/>
              <a:cs typeface="黑体" panose="02010609060101010101" pitchFamily="49" charset="-122"/>
            </a:endParaRPr>
          </a:p>
          <a:p>
            <a:pPr marL="0" lvl="8" algn="just">
              <a:lnSpc>
                <a:spcPct val="130000"/>
              </a:lnSpc>
              <a:spcBef>
                <a:spcPts val="800"/>
              </a:spcBef>
              <a:spcAft>
                <a:spcPts val="800"/>
              </a:spcAft>
              <a:buClr>
                <a:srgbClr val="0070C0"/>
              </a:buClr>
              <a:buSzPct val="120000"/>
              <a:defRPr/>
            </a:pPr>
            <a:r>
              <a:rPr lang="zh-CN" altLang="en-US" sz="2000" dirty="0">
                <a:latin typeface="黑体" panose="02010609060101010101" pitchFamily="49" charset="-122"/>
                <a:ea typeface="黑体" panose="02010609060101010101" pitchFamily="49" charset="-122"/>
                <a:cs typeface="黑体" panose="02010609060101010101" pitchFamily="49" charset="-122"/>
              </a:rPr>
              <a:t>    可带动吊环、吊卡实现顺（逆）时针</a:t>
            </a:r>
            <a:r>
              <a:rPr lang="en-US" altLang="zh-CN" sz="2000" dirty="0">
                <a:latin typeface="黑体" panose="02010609060101010101" pitchFamily="49" charset="-122"/>
                <a:ea typeface="黑体" panose="02010609060101010101" pitchFamily="49" charset="-122"/>
                <a:cs typeface="黑体" panose="02010609060101010101" pitchFamily="49" charset="-122"/>
              </a:rPr>
              <a:t>360°</a:t>
            </a:r>
            <a:r>
              <a:rPr lang="zh-CN" altLang="en-US" sz="2000" dirty="0">
                <a:latin typeface="黑体" panose="02010609060101010101" pitchFamily="49" charset="-122"/>
                <a:ea typeface="黑体" panose="02010609060101010101" pitchFamily="49" charset="-122"/>
                <a:cs typeface="黑体" panose="02010609060101010101" pitchFamily="49" charset="-122"/>
              </a:rPr>
              <a:t>自由旋转，根据需要可转至任意位置，以方便抓取、摆放钻杆等操作。</a:t>
            </a:r>
            <a:endParaRPr lang="en-US" altLang="zh-CN" sz="2000" dirty="0">
              <a:latin typeface="黑体" panose="02010609060101010101" pitchFamily="49" charset="-122"/>
              <a:ea typeface="黑体" panose="02010609060101010101" pitchFamily="49" charset="-122"/>
              <a:cs typeface="黑体" panose="02010609060101010101" pitchFamily="49" charset="-122"/>
            </a:endParaRPr>
          </a:p>
          <a:p>
            <a:pPr marL="0" lvl="8" algn="just">
              <a:lnSpc>
                <a:spcPct val="130000"/>
              </a:lnSpc>
              <a:spcBef>
                <a:spcPts val="800"/>
              </a:spcBef>
              <a:spcAft>
                <a:spcPts val="800"/>
              </a:spcAft>
              <a:buClr>
                <a:srgbClr val="0070C0"/>
              </a:buClr>
              <a:buSzPct val="120000"/>
              <a:defRPr/>
            </a:pPr>
            <a:r>
              <a:rPr lang="zh-CN" altLang="en-US" sz="2000" dirty="0">
                <a:latin typeface="黑体" panose="02010609060101010101" pitchFamily="49" charset="-122"/>
                <a:ea typeface="黑体" panose="02010609060101010101" pitchFamily="49" charset="-122"/>
                <a:cs typeface="黑体" panose="02010609060101010101" pitchFamily="49" charset="-122"/>
              </a:rPr>
              <a:t>    可在任何位置迅速夹持钻杆接头完成上卸扣作业，对于避免和处理井下事故显示出极大的优越性。</a:t>
            </a:r>
          </a:p>
        </p:txBody>
      </p:sp>
      <p:sp>
        <p:nvSpPr>
          <p:cNvPr id="125956" name="Rectangle 43"/>
          <p:cNvSpPr>
            <a:spLocks noChangeArrowheads="1"/>
          </p:cNvSpPr>
          <p:nvPr/>
        </p:nvSpPr>
        <p:spPr bwMode="auto">
          <a:xfrm>
            <a:off x="4572000" y="1814513"/>
            <a:ext cx="1841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管子处理装置</a:t>
            </a:r>
          </a:p>
        </p:txBody>
      </p:sp>
      <p:sp>
        <p:nvSpPr>
          <p:cNvPr id="128004" name="Rectangle 4"/>
          <p:cNvSpPr>
            <a:spLocks noChangeArrowheads="1"/>
          </p:cNvSpPr>
          <p:nvPr/>
        </p:nvSpPr>
        <p:spPr bwMode="auto">
          <a:xfrm>
            <a:off x="7704138" y="3094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28005" name="Text Box 5"/>
          <p:cNvSpPr txBox="1">
            <a:spLocks noChangeArrowheads="1"/>
          </p:cNvSpPr>
          <p:nvPr/>
        </p:nvSpPr>
        <p:spPr bwMode="auto">
          <a:xfrm>
            <a:off x="604520" y="1335405"/>
            <a:ext cx="3292475" cy="431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06400" indent="-406400">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spcBef>
                <a:spcPct val="30000"/>
              </a:spcBef>
            </a:pPr>
            <a:r>
              <a:rPr lang="zh-CN" altLang="en-US" sz="2800" dirty="0">
                <a:latin typeface="黑体" panose="02010609060101010101" pitchFamily="49" charset="-122"/>
                <a:ea typeface="黑体" panose="02010609060101010101" pitchFamily="49" charset="-122"/>
              </a:rPr>
              <a:t>管子处理装置包括：</a:t>
            </a:r>
          </a:p>
          <a:p>
            <a:pPr eaLnBrk="1" hangingPunct="1">
              <a:spcBef>
                <a:spcPct val="30000"/>
              </a:spcBef>
              <a:buFont typeface="Wingdings" panose="05000000000000000000" pitchFamily="2" charset="2"/>
              <a:buAutoNum type="arabicPeriod"/>
            </a:pPr>
            <a:r>
              <a:rPr lang="zh-CN" altLang="en-US" sz="2800" dirty="0">
                <a:solidFill>
                  <a:srgbClr val="FF0000"/>
                </a:solidFill>
                <a:latin typeface="黑体" panose="02010609060101010101" pitchFamily="49" charset="-122"/>
                <a:ea typeface="黑体" panose="02010609060101010101" pitchFamily="49" charset="-122"/>
              </a:rPr>
              <a:t>旋转头总成</a:t>
            </a:r>
          </a:p>
          <a:p>
            <a:pPr eaLnBrk="1" hangingPunct="1">
              <a:spcBef>
                <a:spcPct val="30000"/>
              </a:spcBef>
              <a:buFont typeface="Wingdings" panose="05000000000000000000" pitchFamily="2" charset="2"/>
              <a:buAutoNum type="arabicPeriod"/>
            </a:pPr>
            <a:r>
              <a:rPr lang="zh-CN" altLang="en-US" sz="2800" dirty="0">
                <a:latin typeface="黑体" panose="02010609060101010101" pitchFamily="49" charset="-122"/>
                <a:ea typeface="黑体" panose="02010609060101010101" pitchFamily="49" charset="-122"/>
              </a:rPr>
              <a:t>吊环倾斜机构</a:t>
            </a:r>
          </a:p>
          <a:p>
            <a:pPr eaLnBrk="1" hangingPunct="1">
              <a:spcBef>
                <a:spcPct val="30000"/>
              </a:spcBef>
              <a:buFont typeface="Wingdings" panose="05000000000000000000" pitchFamily="2" charset="2"/>
              <a:buAutoNum type="arabicPeriod"/>
            </a:pPr>
            <a:r>
              <a:rPr lang="zh-CN" altLang="en-US" sz="2800" dirty="0">
                <a:latin typeface="黑体" panose="02010609060101010101" pitchFamily="49" charset="-122"/>
                <a:ea typeface="黑体" panose="02010609060101010101" pitchFamily="49" charset="-122"/>
              </a:rPr>
              <a:t>内防喷器及其控制机构</a:t>
            </a:r>
            <a:endParaRPr lang="en-US" altLang="zh-CN" sz="2800" dirty="0">
              <a:latin typeface="黑体" panose="02010609060101010101" pitchFamily="49" charset="-122"/>
              <a:ea typeface="黑体" panose="02010609060101010101" pitchFamily="49" charset="-122"/>
            </a:endParaRPr>
          </a:p>
          <a:p>
            <a:pPr eaLnBrk="1" hangingPunct="1">
              <a:spcBef>
                <a:spcPct val="30000"/>
              </a:spcBef>
              <a:buFont typeface="Wingdings" panose="05000000000000000000" pitchFamily="2" charset="2"/>
              <a:buAutoNum type="arabicPeriod"/>
            </a:pPr>
            <a:r>
              <a:rPr lang="zh-CN" altLang="en-US" sz="2800" dirty="0">
                <a:latin typeface="黑体" panose="02010609060101010101" pitchFamily="49" charset="-122"/>
                <a:ea typeface="黑体" panose="02010609060101010101" pitchFamily="49" charset="-122"/>
              </a:rPr>
              <a:t>防松装置</a:t>
            </a:r>
          </a:p>
          <a:p>
            <a:pPr eaLnBrk="1" hangingPunct="1">
              <a:spcBef>
                <a:spcPct val="30000"/>
              </a:spcBef>
              <a:buFont typeface="Wingdings" panose="05000000000000000000" pitchFamily="2" charset="2"/>
              <a:buAutoNum type="arabicPeriod"/>
            </a:pPr>
            <a:r>
              <a:rPr lang="zh-CN" altLang="en-US" sz="2800" dirty="0">
                <a:latin typeface="黑体" panose="02010609060101010101" pitchFamily="49" charset="-122"/>
                <a:ea typeface="黑体" panose="02010609060101010101" pitchFamily="49" charset="-122"/>
              </a:rPr>
              <a:t>转换接头</a:t>
            </a:r>
          </a:p>
          <a:p>
            <a:pPr eaLnBrk="1" hangingPunct="1">
              <a:spcBef>
                <a:spcPct val="30000"/>
              </a:spcBef>
              <a:buFont typeface="Wingdings" panose="05000000000000000000" pitchFamily="2" charset="2"/>
              <a:buAutoNum type="arabicPeriod"/>
            </a:pPr>
            <a:r>
              <a:rPr lang="zh-CN" altLang="en-US" sz="2800" dirty="0">
                <a:latin typeface="黑体" panose="02010609060101010101" pitchFamily="49" charset="-122"/>
                <a:ea typeface="黑体" panose="02010609060101010101" pitchFamily="49" charset="-122"/>
              </a:rPr>
              <a:t>背钳</a:t>
            </a:r>
          </a:p>
        </p:txBody>
      </p:sp>
      <p:sp>
        <p:nvSpPr>
          <p:cNvPr id="128006" name="Rectangle 6"/>
          <p:cNvSpPr>
            <a:spLocks noChangeArrowheads="1"/>
          </p:cNvSpPr>
          <p:nvPr/>
        </p:nvSpPr>
        <p:spPr bwMode="auto">
          <a:xfrm>
            <a:off x="6326188" y="349726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grpSp>
        <p:nvGrpSpPr>
          <p:cNvPr id="128007" name="组合 20"/>
          <p:cNvGrpSpPr/>
          <p:nvPr/>
        </p:nvGrpSpPr>
        <p:grpSpPr bwMode="auto">
          <a:xfrm>
            <a:off x="3897630" y="1405255"/>
            <a:ext cx="5049520" cy="4524375"/>
            <a:chOff x="4427538" y="1265238"/>
            <a:chExt cx="4752975" cy="4524375"/>
          </a:xfrm>
        </p:grpSpPr>
        <p:pic>
          <p:nvPicPr>
            <p:cNvPr id="128008" name="Picture 33" descr="倾斜吊环"/>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9200" y="1265238"/>
              <a:ext cx="1511300" cy="45243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28009" name="Line 34"/>
            <p:cNvSpPr>
              <a:spLocks noChangeShapeType="1"/>
            </p:cNvSpPr>
            <p:nvPr/>
          </p:nvSpPr>
          <p:spPr bwMode="auto">
            <a:xfrm flipH="1" flipV="1">
              <a:off x="5651500" y="1616075"/>
              <a:ext cx="1260475" cy="636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8010" name="Line 35"/>
            <p:cNvSpPr>
              <a:spLocks noChangeShapeType="1"/>
            </p:cNvSpPr>
            <p:nvPr/>
          </p:nvSpPr>
          <p:spPr bwMode="auto">
            <a:xfrm flipH="1" flipV="1">
              <a:off x="5794375" y="3076575"/>
              <a:ext cx="908050" cy="3429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8011" name="Line 37"/>
            <p:cNvSpPr>
              <a:spLocks noChangeShapeType="1"/>
            </p:cNvSpPr>
            <p:nvPr/>
          </p:nvSpPr>
          <p:spPr bwMode="auto">
            <a:xfrm flipV="1">
              <a:off x="7131050" y="3328988"/>
              <a:ext cx="787400" cy="9413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8012" name="Text Box 38"/>
            <p:cNvSpPr txBox="1">
              <a:spLocks noChangeArrowheads="1"/>
            </p:cNvSpPr>
            <p:nvPr/>
          </p:nvSpPr>
          <p:spPr bwMode="auto">
            <a:xfrm>
              <a:off x="4427538" y="1411288"/>
              <a:ext cx="1382712"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旋转头总成</a:t>
              </a:r>
              <a:endParaRPr lang="zh-CN" altLang="en-US" u="sng"/>
            </a:p>
          </p:txBody>
        </p:sp>
        <p:sp>
          <p:nvSpPr>
            <p:cNvPr id="128013" name="Text Box 39"/>
            <p:cNvSpPr txBox="1">
              <a:spLocks noChangeArrowheads="1"/>
            </p:cNvSpPr>
            <p:nvPr/>
          </p:nvSpPr>
          <p:spPr bwMode="auto">
            <a:xfrm>
              <a:off x="4427538" y="2889250"/>
              <a:ext cx="151130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吊环倾斜机构</a:t>
              </a:r>
              <a:endParaRPr lang="zh-CN" altLang="en-US" u="sng"/>
            </a:p>
          </p:txBody>
        </p:sp>
        <p:sp>
          <p:nvSpPr>
            <p:cNvPr id="128014" name="Text Box 40"/>
            <p:cNvSpPr txBox="1">
              <a:spLocks noChangeArrowheads="1"/>
            </p:cNvSpPr>
            <p:nvPr/>
          </p:nvSpPr>
          <p:spPr bwMode="auto">
            <a:xfrm>
              <a:off x="7883525" y="2198688"/>
              <a:ext cx="1296988"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内防喷器及其控制机构</a:t>
              </a:r>
              <a:endParaRPr lang="en-US" altLang="zh-CN" u="sng"/>
            </a:p>
          </p:txBody>
        </p:sp>
        <p:sp>
          <p:nvSpPr>
            <p:cNvPr id="128015" name="Text Box 41"/>
            <p:cNvSpPr txBox="1">
              <a:spLocks noChangeArrowheads="1"/>
            </p:cNvSpPr>
            <p:nvPr/>
          </p:nvSpPr>
          <p:spPr bwMode="auto">
            <a:xfrm>
              <a:off x="7812088" y="3105150"/>
              <a:ext cx="627062"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背钳</a:t>
              </a:r>
              <a:endParaRPr lang="zh-CN" altLang="en-US" u="sng"/>
            </a:p>
          </p:txBody>
        </p:sp>
        <p:sp>
          <p:nvSpPr>
            <p:cNvPr id="128016" name="Line 43"/>
            <p:cNvSpPr>
              <a:spLocks noChangeShapeType="1"/>
            </p:cNvSpPr>
            <p:nvPr/>
          </p:nvSpPr>
          <p:spPr bwMode="auto">
            <a:xfrm flipH="1" flipV="1">
              <a:off x="6111875" y="3552825"/>
              <a:ext cx="908050" cy="3429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8017" name="Text Box 44"/>
            <p:cNvSpPr txBox="1">
              <a:spLocks noChangeArrowheads="1"/>
            </p:cNvSpPr>
            <p:nvPr/>
          </p:nvSpPr>
          <p:spPr bwMode="auto">
            <a:xfrm>
              <a:off x="5148263" y="3367088"/>
              <a:ext cx="11080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防松装置</a:t>
              </a:r>
              <a:endParaRPr lang="en-US" altLang="zh-CN"/>
            </a:p>
          </p:txBody>
        </p:sp>
        <p:sp>
          <p:nvSpPr>
            <p:cNvPr id="128018" name="Line 45"/>
            <p:cNvSpPr>
              <a:spLocks noChangeShapeType="1"/>
            </p:cNvSpPr>
            <p:nvPr/>
          </p:nvSpPr>
          <p:spPr bwMode="auto">
            <a:xfrm flipH="1">
              <a:off x="6037263" y="4181475"/>
              <a:ext cx="982662" cy="8334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8019" name="Text Box 46"/>
            <p:cNvSpPr txBox="1">
              <a:spLocks noChangeArrowheads="1"/>
            </p:cNvSpPr>
            <p:nvPr/>
          </p:nvSpPr>
          <p:spPr bwMode="auto">
            <a:xfrm>
              <a:off x="5148263" y="4827588"/>
              <a:ext cx="1033462"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转换接头</a:t>
              </a:r>
              <a:endParaRPr lang="zh-CN" altLang="en-US" u="sng"/>
            </a:p>
          </p:txBody>
        </p:sp>
        <p:sp>
          <p:nvSpPr>
            <p:cNvPr id="128020" name="Line 36"/>
            <p:cNvSpPr>
              <a:spLocks noChangeShapeType="1"/>
            </p:cNvSpPr>
            <p:nvPr/>
          </p:nvSpPr>
          <p:spPr bwMode="auto">
            <a:xfrm flipV="1">
              <a:off x="7251700" y="2549525"/>
              <a:ext cx="703263" cy="44926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管子处理装置</a:t>
            </a:r>
          </a:p>
        </p:txBody>
      </p:sp>
      <p:sp>
        <p:nvSpPr>
          <p:cNvPr id="129028" name="Rectangle 4"/>
          <p:cNvSpPr>
            <a:spLocks noChangeArrowheads="1"/>
          </p:cNvSpPr>
          <p:nvPr/>
        </p:nvSpPr>
        <p:spPr bwMode="auto">
          <a:xfrm>
            <a:off x="7704138" y="3094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29029" name="Text Box 5"/>
          <p:cNvSpPr txBox="1">
            <a:spLocks noChangeArrowheads="1"/>
          </p:cNvSpPr>
          <p:nvPr/>
        </p:nvSpPr>
        <p:spPr bwMode="auto">
          <a:xfrm>
            <a:off x="400050" y="1127125"/>
            <a:ext cx="3870960" cy="4787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073150" indent="-1073150">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marL="0" indent="0" algn="just" eaLnBrk="1" hangingPunct="1">
              <a:lnSpc>
                <a:spcPct val="130000"/>
              </a:lnSpc>
              <a:spcBef>
                <a:spcPts val="800"/>
              </a:spcBef>
              <a:spcAft>
                <a:spcPts val="800"/>
              </a:spcAft>
            </a:pPr>
            <a:r>
              <a:rPr lang="zh-CN" altLang="en-US" sz="2400" dirty="0">
                <a:latin typeface="黑体" panose="02010609060101010101" pitchFamily="49" charset="-122"/>
                <a:ea typeface="黑体" panose="02010609060101010101" pitchFamily="49" charset="-122"/>
                <a:cs typeface="黑体" panose="02010609060101010101" pitchFamily="49" charset="-122"/>
              </a:rPr>
              <a:t>旋转头总成</a:t>
            </a:r>
            <a:endParaRPr lang="zh-CN" altLang="en-US" sz="2000" dirty="0">
              <a:latin typeface="黑体" panose="02010609060101010101" pitchFamily="49" charset="-122"/>
              <a:ea typeface="黑体" panose="02010609060101010101" pitchFamily="49" charset="-122"/>
              <a:cs typeface="黑体" panose="02010609060101010101" pitchFamily="49" charset="-122"/>
            </a:endParaRPr>
          </a:p>
          <a:p>
            <a:pPr marL="0" indent="0" algn="just" eaLnBrk="1" hangingPunct="1">
              <a:lnSpc>
                <a:spcPct val="130000"/>
              </a:lnSpc>
              <a:spcBef>
                <a:spcPts val="800"/>
              </a:spcBef>
              <a:spcAft>
                <a:spcPts val="800"/>
              </a:spcAft>
            </a:pPr>
            <a:r>
              <a:rPr lang="zh-CN" altLang="en-US" sz="2000" dirty="0">
                <a:latin typeface="黑体" panose="02010609060101010101" pitchFamily="49" charset="-122"/>
                <a:ea typeface="黑体" panose="02010609060101010101" pitchFamily="49" charset="-122"/>
                <a:cs typeface="黑体" panose="02010609060101010101" pitchFamily="49" charset="-122"/>
              </a:rPr>
              <a:t>组成：液压马达、大齿轮、旋转头等。</a:t>
            </a:r>
          </a:p>
          <a:p>
            <a:pPr marL="0" indent="0" algn="just" eaLnBrk="1" hangingPunct="1">
              <a:lnSpc>
                <a:spcPct val="130000"/>
              </a:lnSpc>
              <a:spcBef>
                <a:spcPts val="800"/>
              </a:spcBef>
              <a:spcAft>
                <a:spcPts val="800"/>
              </a:spcAft>
            </a:pPr>
            <a:r>
              <a:rPr lang="zh-CN" altLang="en-US" sz="2000" dirty="0">
                <a:latin typeface="黑体" panose="02010609060101010101" pitchFamily="49" charset="-122"/>
                <a:ea typeface="黑体" panose="02010609060101010101" pitchFamily="49" charset="-122"/>
                <a:cs typeface="黑体" panose="02010609060101010101" pitchFamily="49" charset="-122"/>
              </a:rPr>
              <a:t>驱动：液压马达带动大齿圈驱动旋转头旋转，独立于主轴运动，可通过调速阀调节液压马达转速来调节旋转头的转速，</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通常设定旋转头的转速为</a:t>
            </a:r>
            <a:r>
              <a:rPr lang="en-US" altLang="zh-CN" sz="2000" dirty="0">
                <a:solidFill>
                  <a:srgbClr val="FF0000"/>
                </a:solidFill>
                <a:latin typeface="黑体" panose="02010609060101010101" pitchFamily="49" charset="-122"/>
                <a:ea typeface="黑体" panose="02010609060101010101" pitchFamily="49" charset="-122"/>
                <a:cs typeface="黑体" panose="02010609060101010101" pitchFamily="49" charset="-122"/>
              </a:rPr>
              <a:t>3</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a:t>
            </a:r>
            <a:r>
              <a:rPr lang="en-US" altLang="zh-CN" sz="2000" dirty="0">
                <a:solidFill>
                  <a:srgbClr val="FF0000"/>
                </a:solidFill>
                <a:latin typeface="黑体" panose="02010609060101010101" pitchFamily="49" charset="-122"/>
                <a:ea typeface="黑体" panose="02010609060101010101" pitchFamily="49" charset="-122"/>
                <a:cs typeface="黑体" panose="02010609060101010101" pitchFamily="49" charset="-122"/>
              </a:rPr>
              <a:t>6 r/min</a:t>
            </a:r>
            <a:r>
              <a:rPr lang="zh-CN" altLang="en-US" sz="2000" dirty="0">
                <a:latin typeface="黑体" panose="02010609060101010101" pitchFamily="49" charset="-122"/>
                <a:ea typeface="黑体" panose="02010609060101010101" pitchFamily="49" charset="-122"/>
                <a:cs typeface="黑体" panose="02010609060101010101" pitchFamily="49" charset="-122"/>
              </a:rPr>
              <a:t>。</a:t>
            </a:r>
          </a:p>
          <a:p>
            <a:pPr marL="0" indent="0" algn="just" eaLnBrk="1" hangingPunct="1">
              <a:lnSpc>
                <a:spcPct val="130000"/>
              </a:lnSpc>
              <a:spcBef>
                <a:spcPts val="800"/>
              </a:spcBef>
              <a:spcAft>
                <a:spcPts val="800"/>
              </a:spcAft>
            </a:pPr>
            <a:r>
              <a:rPr lang="zh-CN" altLang="en-US" sz="2000" dirty="0">
                <a:latin typeface="黑体" panose="02010609060101010101" pitchFamily="49" charset="-122"/>
                <a:ea typeface="黑体" panose="02010609060101010101" pitchFamily="49" charset="-122"/>
                <a:cs typeface="黑体" panose="02010609060101010101" pitchFamily="49" charset="-122"/>
              </a:rPr>
              <a:t>功能：带动吊环、吊卡正反</a:t>
            </a:r>
            <a:r>
              <a:rPr lang="en-US" altLang="zh-CN" sz="2000" dirty="0">
                <a:latin typeface="黑体" panose="02010609060101010101" pitchFamily="49" charset="-122"/>
                <a:ea typeface="黑体" panose="02010609060101010101" pitchFamily="49" charset="-122"/>
                <a:cs typeface="黑体" panose="02010609060101010101" pitchFamily="49" charset="-122"/>
              </a:rPr>
              <a:t>360°</a:t>
            </a:r>
            <a:r>
              <a:rPr lang="zh-CN" altLang="en-US" sz="2000" dirty="0">
                <a:latin typeface="黑体" panose="02010609060101010101" pitchFamily="49" charset="-122"/>
                <a:ea typeface="黑体" panose="02010609060101010101" pitchFamily="49" charset="-122"/>
                <a:cs typeface="黑体" panose="02010609060101010101" pitchFamily="49" charset="-122"/>
              </a:rPr>
              <a:t>自由旋转，转至任一位置。</a:t>
            </a:r>
            <a:endPar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129031" name="Rectangle 7"/>
          <p:cNvSpPr>
            <a:spLocks noChangeArrowheads="1"/>
          </p:cNvSpPr>
          <p:nvPr/>
        </p:nvSpPr>
        <p:spPr bwMode="auto">
          <a:xfrm>
            <a:off x="7329488" y="3587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29032" name="Rectangle 8"/>
          <p:cNvSpPr>
            <a:spLocks noChangeArrowheads="1"/>
          </p:cNvSpPr>
          <p:nvPr/>
        </p:nvSpPr>
        <p:spPr bwMode="auto">
          <a:xfrm>
            <a:off x="7339013" y="3363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29033" name="Rectangle 9"/>
          <p:cNvSpPr>
            <a:spLocks noChangeArrowheads="1"/>
          </p:cNvSpPr>
          <p:nvPr/>
        </p:nvSpPr>
        <p:spPr bwMode="auto">
          <a:xfrm>
            <a:off x="6965950" y="3643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29034" name="Rectangle 10"/>
          <p:cNvSpPr>
            <a:spLocks noChangeArrowheads="1"/>
          </p:cNvSpPr>
          <p:nvPr/>
        </p:nvSpPr>
        <p:spPr bwMode="auto">
          <a:xfrm>
            <a:off x="6527800" y="3028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29035" name="Rectangle 11"/>
          <p:cNvSpPr>
            <a:spLocks noChangeArrowheads="1"/>
          </p:cNvSpPr>
          <p:nvPr/>
        </p:nvSpPr>
        <p:spPr bwMode="auto">
          <a:xfrm>
            <a:off x="7237413" y="3317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29036" name="Rectangle 12"/>
          <p:cNvSpPr>
            <a:spLocks noChangeArrowheads="1"/>
          </p:cNvSpPr>
          <p:nvPr/>
        </p:nvSpPr>
        <p:spPr bwMode="auto">
          <a:xfrm>
            <a:off x="6596063" y="3106738"/>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grpSp>
        <p:nvGrpSpPr>
          <p:cNvPr id="4" name="组合 3"/>
          <p:cNvGrpSpPr/>
          <p:nvPr/>
        </p:nvGrpSpPr>
        <p:grpSpPr>
          <a:xfrm>
            <a:off x="4845611" y="1518507"/>
            <a:ext cx="3986678" cy="4220220"/>
            <a:chOff x="5035407" y="1575395"/>
            <a:chExt cx="3791236" cy="3999309"/>
          </a:xfrm>
        </p:grpSpPr>
        <p:grpSp>
          <p:nvGrpSpPr>
            <p:cNvPr id="13" name="组合 12"/>
            <p:cNvGrpSpPr/>
            <p:nvPr/>
          </p:nvGrpSpPr>
          <p:grpSpPr>
            <a:xfrm>
              <a:off x="5035407" y="1575395"/>
              <a:ext cx="3791236" cy="3999309"/>
              <a:chOff x="2389979" y="1498600"/>
              <a:chExt cx="4541006" cy="4364038"/>
            </a:xfrm>
          </p:grpSpPr>
          <p:pic>
            <p:nvPicPr>
              <p:cNvPr id="14" name="Picture 48" descr="回转头总成">
                <a:hlinkClick r:id="rId2" action="ppaction://hlinkfile"/>
              </p:cNvPr>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2673350" y="1498600"/>
                <a:ext cx="3340100" cy="436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21"/>
              <p:cNvSpPr txBox="1">
                <a:spLocks noChangeArrowheads="1"/>
              </p:cNvSpPr>
              <p:nvPr/>
            </p:nvSpPr>
            <p:spPr bwMode="auto">
              <a:xfrm>
                <a:off x="5845136" y="2410619"/>
                <a:ext cx="987425" cy="2047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b="1">
                    <a:solidFill>
                      <a:schemeClr val="tx1"/>
                    </a:solidFill>
                    <a:latin typeface="Arial" panose="020B0604020202020204" pitchFamily="34" charset="0"/>
                    <a:ea typeface="宋体" panose="02010600030101010101" pitchFamily="2" charset="-122"/>
                  </a:defRPr>
                </a:lvl1pPr>
                <a:lvl2pPr marL="742950" indent="-285750">
                  <a:defRPr sz="1400" b="1">
                    <a:solidFill>
                      <a:schemeClr val="tx1"/>
                    </a:solidFill>
                    <a:latin typeface="Arial" panose="020B0604020202020204" pitchFamily="34" charset="0"/>
                    <a:ea typeface="宋体" panose="02010600030101010101" pitchFamily="2" charset="-122"/>
                  </a:defRPr>
                </a:lvl2pPr>
                <a:lvl3pPr marL="1143000" indent="-228600">
                  <a:defRPr sz="1400" b="1">
                    <a:solidFill>
                      <a:schemeClr val="tx1"/>
                    </a:solidFill>
                    <a:latin typeface="Arial" panose="020B0604020202020204" pitchFamily="34" charset="0"/>
                    <a:ea typeface="宋体" panose="02010600030101010101" pitchFamily="2" charset="-122"/>
                  </a:defRPr>
                </a:lvl3pPr>
                <a:lvl4pPr marL="1600200" indent="-228600">
                  <a:defRPr sz="1400" b="1">
                    <a:solidFill>
                      <a:schemeClr val="tx1"/>
                    </a:solidFill>
                    <a:latin typeface="Arial" panose="020B0604020202020204" pitchFamily="34" charset="0"/>
                    <a:ea typeface="宋体" panose="02010600030101010101" pitchFamily="2" charset="-122"/>
                  </a:defRPr>
                </a:lvl4pPr>
                <a:lvl5pPr marL="2057400" indent="-228600">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1595"/>
                  <a:t>大齿轮</a:t>
                </a:r>
              </a:p>
            </p:txBody>
          </p:sp>
          <p:sp>
            <p:nvSpPr>
              <p:cNvPr id="16" name="Text Box 20"/>
              <p:cNvSpPr txBox="1">
                <a:spLocks noChangeArrowheads="1"/>
              </p:cNvSpPr>
              <p:nvPr/>
            </p:nvSpPr>
            <p:spPr bwMode="auto">
              <a:xfrm>
                <a:off x="2389979" y="2443162"/>
                <a:ext cx="1100138" cy="3444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b="1">
                    <a:solidFill>
                      <a:schemeClr val="tx1"/>
                    </a:solidFill>
                    <a:latin typeface="Arial" panose="020B0604020202020204" pitchFamily="34" charset="0"/>
                    <a:ea typeface="宋体" panose="02010600030101010101" pitchFamily="2" charset="-122"/>
                  </a:defRPr>
                </a:lvl1pPr>
                <a:lvl2pPr marL="742950" indent="-285750">
                  <a:defRPr sz="1400" b="1">
                    <a:solidFill>
                      <a:schemeClr val="tx1"/>
                    </a:solidFill>
                    <a:latin typeface="Arial" panose="020B0604020202020204" pitchFamily="34" charset="0"/>
                    <a:ea typeface="宋体" panose="02010600030101010101" pitchFamily="2" charset="-122"/>
                  </a:defRPr>
                </a:lvl2pPr>
                <a:lvl3pPr marL="1143000" indent="-228600">
                  <a:defRPr sz="1400" b="1">
                    <a:solidFill>
                      <a:schemeClr val="tx1"/>
                    </a:solidFill>
                    <a:latin typeface="Arial" panose="020B0604020202020204" pitchFamily="34" charset="0"/>
                    <a:ea typeface="宋体" panose="02010600030101010101" pitchFamily="2" charset="-122"/>
                  </a:defRPr>
                </a:lvl3pPr>
                <a:lvl4pPr marL="1600200" indent="-228600">
                  <a:defRPr sz="1400" b="1">
                    <a:solidFill>
                      <a:schemeClr val="tx1"/>
                    </a:solidFill>
                    <a:latin typeface="Arial" panose="020B0604020202020204" pitchFamily="34" charset="0"/>
                    <a:ea typeface="宋体" panose="02010600030101010101" pitchFamily="2" charset="-122"/>
                  </a:defRPr>
                </a:lvl4pPr>
                <a:lvl5pPr marL="2057400" indent="-228600">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1595" dirty="0"/>
                  <a:t>液压马达</a:t>
                </a:r>
              </a:p>
            </p:txBody>
          </p:sp>
          <p:sp>
            <p:nvSpPr>
              <p:cNvPr id="17" name="Text Box 18"/>
              <p:cNvSpPr txBox="1">
                <a:spLocks noChangeArrowheads="1"/>
              </p:cNvSpPr>
              <p:nvPr/>
            </p:nvSpPr>
            <p:spPr bwMode="auto">
              <a:xfrm>
                <a:off x="2698005" y="5292477"/>
                <a:ext cx="989013" cy="206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b="1">
                    <a:solidFill>
                      <a:schemeClr val="tx1"/>
                    </a:solidFill>
                    <a:latin typeface="Arial" panose="020B0604020202020204" pitchFamily="34" charset="0"/>
                    <a:ea typeface="宋体" panose="02010600030101010101" pitchFamily="2" charset="-122"/>
                  </a:defRPr>
                </a:lvl1pPr>
                <a:lvl2pPr marL="742950" indent="-285750">
                  <a:defRPr sz="1400" b="1">
                    <a:solidFill>
                      <a:schemeClr val="tx1"/>
                    </a:solidFill>
                    <a:latin typeface="Arial" panose="020B0604020202020204" pitchFamily="34" charset="0"/>
                    <a:ea typeface="宋体" panose="02010600030101010101" pitchFamily="2" charset="-122"/>
                  </a:defRPr>
                </a:lvl2pPr>
                <a:lvl3pPr marL="1143000" indent="-228600">
                  <a:defRPr sz="1400" b="1">
                    <a:solidFill>
                      <a:schemeClr val="tx1"/>
                    </a:solidFill>
                    <a:latin typeface="Arial" panose="020B0604020202020204" pitchFamily="34" charset="0"/>
                    <a:ea typeface="宋体" panose="02010600030101010101" pitchFamily="2" charset="-122"/>
                  </a:defRPr>
                </a:lvl3pPr>
                <a:lvl4pPr marL="1600200" indent="-228600">
                  <a:defRPr sz="1400" b="1">
                    <a:solidFill>
                      <a:schemeClr val="tx1"/>
                    </a:solidFill>
                    <a:latin typeface="Arial" panose="020B0604020202020204" pitchFamily="34" charset="0"/>
                    <a:ea typeface="宋体" panose="02010600030101010101" pitchFamily="2" charset="-122"/>
                  </a:defRPr>
                </a:lvl4pPr>
                <a:lvl5pPr marL="2057400" indent="-228600">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1595" dirty="0"/>
                  <a:t>旋转头</a:t>
                </a:r>
              </a:p>
            </p:txBody>
          </p:sp>
          <p:sp>
            <p:nvSpPr>
              <p:cNvPr id="18" name="Line 17"/>
              <p:cNvSpPr>
                <a:spLocks noChangeShapeType="1"/>
              </p:cNvSpPr>
              <p:nvPr/>
            </p:nvSpPr>
            <p:spPr bwMode="auto">
              <a:xfrm>
                <a:off x="4572000" y="3182938"/>
                <a:ext cx="1292226" cy="117343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sz="1595"/>
              </a:p>
            </p:txBody>
          </p:sp>
          <p:sp>
            <p:nvSpPr>
              <p:cNvPr id="19" name="Text Box 16"/>
              <p:cNvSpPr txBox="1">
                <a:spLocks noChangeArrowheads="1"/>
              </p:cNvSpPr>
              <p:nvPr/>
            </p:nvSpPr>
            <p:spPr bwMode="auto">
              <a:xfrm>
                <a:off x="5746710" y="4423569"/>
                <a:ext cx="1184275" cy="2206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b="1">
                    <a:solidFill>
                      <a:schemeClr val="tx1"/>
                    </a:solidFill>
                    <a:latin typeface="Arial" panose="020B0604020202020204" pitchFamily="34" charset="0"/>
                    <a:ea typeface="宋体" panose="02010600030101010101" pitchFamily="2" charset="-122"/>
                  </a:defRPr>
                </a:lvl1pPr>
                <a:lvl2pPr marL="742950" indent="-285750">
                  <a:defRPr sz="1400" b="1">
                    <a:solidFill>
                      <a:schemeClr val="tx1"/>
                    </a:solidFill>
                    <a:latin typeface="Arial" panose="020B0604020202020204" pitchFamily="34" charset="0"/>
                    <a:ea typeface="宋体" panose="02010600030101010101" pitchFamily="2" charset="-122"/>
                  </a:defRPr>
                </a:lvl2pPr>
                <a:lvl3pPr marL="1143000" indent="-228600">
                  <a:defRPr sz="1400" b="1">
                    <a:solidFill>
                      <a:schemeClr val="tx1"/>
                    </a:solidFill>
                    <a:latin typeface="Arial" panose="020B0604020202020204" pitchFamily="34" charset="0"/>
                    <a:ea typeface="宋体" panose="02010600030101010101" pitchFamily="2" charset="-122"/>
                  </a:defRPr>
                </a:lvl3pPr>
                <a:lvl4pPr marL="1600200" indent="-228600">
                  <a:defRPr sz="1400" b="1">
                    <a:solidFill>
                      <a:schemeClr val="tx1"/>
                    </a:solidFill>
                    <a:latin typeface="Arial" panose="020B0604020202020204" pitchFamily="34" charset="0"/>
                    <a:ea typeface="宋体" panose="02010600030101010101" pitchFamily="2" charset="-122"/>
                  </a:defRPr>
                </a:lvl4pPr>
                <a:lvl5pPr marL="2057400" indent="-228600">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1595" dirty="0"/>
                  <a:t>锁紧油缸</a:t>
                </a:r>
              </a:p>
            </p:txBody>
          </p:sp>
          <p:sp>
            <p:nvSpPr>
              <p:cNvPr id="20" name="Line 50"/>
              <p:cNvSpPr>
                <a:spLocks noChangeShapeType="1"/>
              </p:cNvSpPr>
              <p:nvPr/>
            </p:nvSpPr>
            <p:spPr bwMode="auto">
              <a:xfrm flipV="1">
                <a:off x="5434014" y="2700188"/>
                <a:ext cx="430212" cy="57641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defRPr/>
                </a:pPr>
                <a:endParaRPr lang="zh-CN" altLang="en-US" sz="1595"/>
              </a:p>
            </p:txBody>
          </p:sp>
          <p:sp>
            <p:nvSpPr>
              <p:cNvPr id="21" name="Line 51"/>
              <p:cNvSpPr>
                <a:spLocks noChangeShapeType="1"/>
              </p:cNvSpPr>
              <p:nvPr/>
            </p:nvSpPr>
            <p:spPr bwMode="auto">
              <a:xfrm flipH="1" flipV="1">
                <a:off x="3203847" y="2700188"/>
                <a:ext cx="761727" cy="52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defRPr/>
                </a:pPr>
                <a:endParaRPr lang="zh-CN" altLang="en-US" sz="1595"/>
              </a:p>
            </p:txBody>
          </p:sp>
        </p:grpSp>
        <p:cxnSp>
          <p:nvCxnSpPr>
            <p:cNvPr id="5" name="直接连接符 4"/>
            <p:cNvCxnSpPr/>
            <p:nvPr/>
          </p:nvCxnSpPr>
          <p:spPr bwMode="auto">
            <a:xfrm flipH="1">
              <a:off x="5953900" y="4644405"/>
              <a:ext cx="631050" cy="407790"/>
            </a:xfrm>
            <a:prstGeom prst="line">
              <a:avLst/>
            </a:prstGeom>
            <a:gradFill rotWithShape="0">
              <a:gsLst>
                <a:gs pos="0">
                  <a:srgbClr val="FFFF00"/>
                </a:gs>
                <a:gs pos="100000">
                  <a:srgbClr val="FF9933"/>
                </a:gs>
              </a:gsLst>
              <a:path path="rect">
                <a:fillToRect l="50000" t="50000" r="50000" b="50000"/>
              </a:path>
            </a:gradFill>
            <a:ln w="9525" cap="flat" cmpd="sng" algn="ctr">
              <a:solidFill>
                <a:schemeClr val="tx1"/>
              </a:solidFill>
              <a:prstDash val="solid"/>
              <a:round/>
              <a:headEnd type="none" w="med" len="med"/>
              <a:tailEnd type="none" w="med" len="med"/>
            </a:ln>
            <a:effectLst>
              <a:outerShdw dist="35921" dir="2700000" algn="ctr" rotWithShape="0">
                <a:srgbClr val="C0C0C0">
                  <a:alpha val="80000"/>
                </a:srgbClr>
              </a:outerShdw>
            </a:effectLst>
          </p:spPr>
        </p:cxnSp>
      </p:gr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管子处理装置</a:t>
            </a:r>
          </a:p>
        </p:txBody>
      </p:sp>
      <p:sp>
        <p:nvSpPr>
          <p:cNvPr id="136196" name="Rectangle 4"/>
          <p:cNvSpPr>
            <a:spLocks noChangeArrowheads="1"/>
          </p:cNvSpPr>
          <p:nvPr/>
        </p:nvSpPr>
        <p:spPr bwMode="auto">
          <a:xfrm>
            <a:off x="7704138" y="3094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62469" name="Text Box 5"/>
          <p:cNvSpPr txBox="1">
            <a:spLocks noChangeArrowheads="1"/>
          </p:cNvSpPr>
          <p:nvPr/>
        </p:nvSpPr>
        <p:spPr bwMode="auto">
          <a:xfrm>
            <a:off x="195580" y="900430"/>
            <a:ext cx="9003030" cy="2479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9205" indent="-1259205">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marL="0" indent="0" eaLnBrk="1" hangingPunct="1">
              <a:lnSpc>
                <a:spcPct val="130000"/>
              </a:lnSpc>
              <a:spcBef>
                <a:spcPts val="800"/>
              </a:spcBef>
              <a:defRPr/>
            </a:pPr>
            <a:r>
              <a:rPr lang="zh-CN" altLang="en-US" sz="2400" b="0" dirty="0">
                <a:latin typeface="黑体" panose="02010609060101010101" pitchFamily="49" charset="-122"/>
                <a:ea typeface="黑体" panose="02010609060101010101" pitchFamily="49" charset="-122"/>
                <a:cs typeface="黑体" panose="02010609060101010101" pitchFamily="49" charset="-122"/>
              </a:rPr>
              <a:t>吊环倾斜机构</a:t>
            </a:r>
            <a:endParaRPr lang="zh-CN" altLang="en-US" sz="2000" b="0" dirty="0">
              <a:latin typeface="黑体" panose="02010609060101010101" pitchFamily="49" charset="-122"/>
              <a:ea typeface="黑体" panose="02010609060101010101" pitchFamily="49" charset="-122"/>
              <a:cs typeface="黑体" panose="02010609060101010101" pitchFamily="49" charset="-122"/>
            </a:endParaRPr>
          </a:p>
          <a:p>
            <a:pPr marL="0" indent="0" eaLnBrk="1" hangingPunct="1">
              <a:lnSpc>
                <a:spcPct val="130000"/>
              </a:lnSpc>
              <a:spcBef>
                <a:spcPts val="800"/>
              </a:spcBef>
              <a:defRPr/>
            </a:pPr>
            <a:r>
              <a:rPr lang="zh-CN" altLang="en-US" sz="2000" b="0" dirty="0">
                <a:latin typeface="黑体" panose="02010609060101010101" pitchFamily="49" charset="-122"/>
                <a:ea typeface="黑体" panose="02010609060101010101" pitchFamily="49" charset="-122"/>
                <a:cs typeface="黑体" panose="02010609060101010101" pitchFamily="49" charset="-122"/>
              </a:rPr>
              <a:t>组成：倾斜油缸、吊环、吊卡等。</a:t>
            </a:r>
          </a:p>
          <a:p>
            <a:pPr marL="0" indent="0" eaLnBrk="1" hangingPunct="1">
              <a:lnSpc>
                <a:spcPct val="130000"/>
              </a:lnSpc>
              <a:spcBef>
                <a:spcPts val="800"/>
              </a:spcBef>
              <a:defRPr/>
            </a:pPr>
            <a:r>
              <a:rPr lang="zh-CN" altLang="en-US" sz="2000" b="0" dirty="0">
                <a:latin typeface="黑体" panose="02010609060101010101" pitchFamily="49" charset="-122"/>
                <a:ea typeface="黑体" panose="02010609060101010101" pitchFamily="49" charset="-122"/>
                <a:cs typeface="黑体" panose="02010609060101010101" pitchFamily="49" charset="-122"/>
              </a:rPr>
              <a:t>功能：倾斜油缸一端固定在旋转头上，另一端固定在吊环上，工作时由倾斜油缸推动吊环作两个方向的运动，可实现前倾、后倾，并具有浮动功能。</a:t>
            </a:r>
          </a:p>
          <a:p>
            <a:pPr marL="0" indent="0" eaLnBrk="1" hangingPunct="1">
              <a:lnSpc>
                <a:spcPct val="130000"/>
              </a:lnSpc>
              <a:spcBef>
                <a:spcPts val="800"/>
              </a:spcBef>
              <a:defRPr/>
            </a:pPr>
            <a:r>
              <a:rPr lang="zh-CN" altLang="en-US" sz="2000" b="0" dirty="0">
                <a:solidFill>
                  <a:srgbClr val="FF0000"/>
                </a:solidFill>
                <a:latin typeface="黑体" panose="02010609060101010101" pitchFamily="49" charset="-122"/>
                <a:ea typeface="黑体" panose="02010609060101010101" pitchFamily="49" charset="-122"/>
                <a:cs typeface="黑体" panose="02010609060101010101" pitchFamily="49" charset="-122"/>
              </a:rPr>
              <a:t>顶驱吊环倾斜角度，前倾30°，后倾55°。</a:t>
            </a:r>
          </a:p>
        </p:txBody>
      </p:sp>
      <p:sp>
        <p:nvSpPr>
          <p:cNvPr id="136199" name="Rectangle 7"/>
          <p:cNvSpPr>
            <a:spLocks noChangeArrowheads="1"/>
          </p:cNvSpPr>
          <p:nvPr/>
        </p:nvSpPr>
        <p:spPr bwMode="auto">
          <a:xfrm>
            <a:off x="7329488" y="3587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36200" name="Rectangle 8"/>
          <p:cNvSpPr>
            <a:spLocks noChangeArrowheads="1"/>
          </p:cNvSpPr>
          <p:nvPr/>
        </p:nvSpPr>
        <p:spPr bwMode="auto">
          <a:xfrm>
            <a:off x="7339013" y="3363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36201" name="Rectangle 9"/>
          <p:cNvSpPr>
            <a:spLocks noChangeArrowheads="1"/>
          </p:cNvSpPr>
          <p:nvPr/>
        </p:nvSpPr>
        <p:spPr bwMode="auto">
          <a:xfrm>
            <a:off x="6965950" y="3643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36202" name="Rectangle 10"/>
          <p:cNvSpPr>
            <a:spLocks noChangeArrowheads="1"/>
          </p:cNvSpPr>
          <p:nvPr/>
        </p:nvSpPr>
        <p:spPr bwMode="auto">
          <a:xfrm>
            <a:off x="6527800" y="3028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36203" name="Rectangle 11"/>
          <p:cNvSpPr>
            <a:spLocks noChangeArrowheads="1"/>
          </p:cNvSpPr>
          <p:nvPr/>
        </p:nvSpPr>
        <p:spPr bwMode="auto">
          <a:xfrm>
            <a:off x="7237413" y="3317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36204" name="Rectangle 12"/>
          <p:cNvSpPr>
            <a:spLocks noChangeArrowheads="1"/>
          </p:cNvSpPr>
          <p:nvPr/>
        </p:nvSpPr>
        <p:spPr bwMode="auto">
          <a:xfrm>
            <a:off x="6596063" y="3106738"/>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grpSp>
        <p:nvGrpSpPr>
          <p:cNvPr id="14" name="组合 13"/>
          <p:cNvGrpSpPr/>
          <p:nvPr/>
        </p:nvGrpSpPr>
        <p:grpSpPr>
          <a:xfrm>
            <a:off x="1697777" y="3347095"/>
            <a:ext cx="4990361" cy="3351382"/>
            <a:chOff x="1413449" y="1409700"/>
            <a:chExt cx="6759001" cy="4429125"/>
          </a:xfrm>
        </p:grpSpPr>
        <p:pic>
          <p:nvPicPr>
            <p:cNvPr id="15" name="Picture 13" descr="前后倾示意"/>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25675" y="1409700"/>
              <a:ext cx="4873625" cy="417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16">
              <a:hlinkClick r:id="rId3" action="ppaction://hlinkfile"/>
            </p:cNvPr>
            <p:cNvSpPr txBox="1">
              <a:spLocks noChangeArrowheads="1"/>
            </p:cNvSpPr>
            <p:nvPr/>
          </p:nvSpPr>
          <p:spPr bwMode="auto">
            <a:xfrm>
              <a:off x="6784975" y="4167188"/>
              <a:ext cx="1387475" cy="2587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t>前倾位置</a:t>
              </a:r>
              <a:endParaRPr lang="zh-CN" altLang="en-US" u="sng"/>
            </a:p>
          </p:txBody>
        </p:sp>
        <p:sp>
          <p:nvSpPr>
            <p:cNvPr id="17" name="Text Box 17">
              <a:hlinkClick r:id="rId4" action="ppaction://hlinkfile"/>
            </p:cNvPr>
            <p:cNvSpPr txBox="1">
              <a:spLocks noChangeArrowheads="1"/>
            </p:cNvSpPr>
            <p:nvPr/>
          </p:nvSpPr>
          <p:spPr bwMode="auto">
            <a:xfrm>
              <a:off x="1413449" y="3490914"/>
              <a:ext cx="1126584" cy="260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t>后倾位置</a:t>
              </a:r>
              <a:endParaRPr lang="zh-CN" altLang="en-US" u="sng" dirty="0"/>
            </a:p>
          </p:txBody>
        </p:sp>
        <p:sp>
          <p:nvSpPr>
            <p:cNvPr id="18" name="Text Box 18">
              <a:hlinkClick r:id="rId5" action="ppaction://hlinkfile"/>
            </p:cNvPr>
            <p:cNvSpPr txBox="1">
              <a:spLocks noChangeArrowheads="1"/>
            </p:cNvSpPr>
            <p:nvPr/>
          </p:nvSpPr>
          <p:spPr bwMode="auto">
            <a:xfrm>
              <a:off x="3802063" y="4705350"/>
              <a:ext cx="769937" cy="2492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t>浮动</a:t>
              </a:r>
              <a:endParaRPr lang="zh-CN" altLang="en-US" u="sng"/>
            </a:p>
          </p:txBody>
        </p:sp>
        <p:sp>
          <p:nvSpPr>
            <p:cNvPr id="19" name="Text Box 19"/>
            <p:cNvSpPr txBox="1">
              <a:spLocks noChangeArrowheads="1"/>
            </p:cNvSpPr>
            <p:nvPr/>
          </p:nvSpPr>
          <p:spPr bwMode="auto">
            <a:xfrm>
              <a:off x="6102350" y="5297488"/>
              <a:ext cx="985838" cy="2635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t>鼠洞</a:t>
              </a:r>
              <a:endParaRPr lang="zh-CN" altLang="en-US" u="sng"/>
            </a:p>
          </p:txBody>
        </p:sp>
        <p:sp>
          <p:nvSpPr>
            <p:cNvPr id="20" name="Text Box 20"/>
            <p:cNvSpPr txBox="1">
              <a:spLocks noChangeArrowheads="1"/>
            </p:cNvSpPr>
            <p:nvPr/>
          </p:nvSpPr>
          <p:spPr bwMode="auto">
            <a:xfrm>
              <a:off x="6208713" y="2173288"/>
              <a:ext cx="1387475" cy="2587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倾斜油缸</a:t>
              </a:r>
              <a:endParaRPr lang="zh-CN" altLang="en-US" u="sng"/>
            </a:p>
          </p:txBody>
        </p:sp>
        <p:sp>
          <p:nvSpPr>
            <p:cNvPr id="21" name="Line 21"/>
            <p:cNvSpPr>
              <a:spLocks noChangeShapeType="1"/>
            </p:cNvSpPr>
            <p:nvPr/>
          </p:nvSpPr>
          <p:spPr bwMode="auto">
            <a:xfrm flipV="1">
              <a:off x="4937125" y="2424113"/>
              <a:ext cx="1284288" cy="382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Text Box 22"/>
            <p:cNvSpPr txBox="1">
              <a:spLocks noChangeArrowheads="1"/>
            </p:cNvSpPr>
            <p:nvPr/>
          </p:nvSpPr>
          <p:spPr bwMode="auto">
            <a:xfrm>
              <a:off x="3508375" y="5586413"/>
              <a:ext cx="773113" cy="2524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t>吊卡</a:t>
              </a:r>
              <a:endParaRPr lang="zh-CN" altLang="en-US" u="sng"/>
            </a:p>
          </p:txBody>
        </p:sp>
        <p:sp>
          <p:nvSpPr>
            <p:cNvPr id="23" name="Line 23"/>
            <p:cNvSpPr>
              <a:spLocks noChangeShapeType="1"/>
            </p:cNvSpPr>
            <p:nvPr/>
          </p:nvSpPr>
          <p:spPr bwMode="auto">
            <a:xfrm flipH="1">
              <a:off x="4140200" y="5297488"/>
              <a:ext cx="635000" cy="4222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Text Box 24"/>
            <p:cNvSpPr txBox="1">
              <a:spLocks noChangeArrowheads="1"/>
            </p:cNvSpPr>
            <p:nvPr/>
          </p:nvSpPr>
          <p:spPr bwMode="auto">
            <a:xfrm>
              <a:off x="5897563" y="1514475"/>
              <a:ext cx="1389062" cy="257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t>旋转头</a:t>
              </a:r>
              <a:endParaRPr lang="zh-CN" altLang="en-US" u="sng"/>
            </a:p>
          </p:txBody>
        </p:sp>
        <p:sp>
          <p:nvSpPr>
            <p:cNvPr id="25" name="Line 25"/>
            <p:cNvSpPr>
              <a:spLocks noChangeShapeType="1"/>
            </p:cNvSpPr>
            <p:nvPr/>
          </p:nvSpPr>
          <p:spPr bwMode="auto">
            <a:xfrm flipH="1">
              <a:off x="5153025" y="1647825"/>
              <a:ext cx="1068388" cy="3889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 name="Text Box 26"/>
            <p:cNvSpPr txBox="1">
              <a:spLocks noChangeArrowheads="1"/>
            </p:cNvSpPr>
            <p:nvPr/>
          </p:nvSpPr>
          <p:spPr bwMode="auto">
            <a:xfrm>
              <a:off x="5846763" y="2895600"/>
              <a:ext cx="1389062" cy="260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t>吊环</a:t>
              </a:r>
              <a:endParaRPr lang="zh-CN" altLang="en-US" u="sng"/>
            </a:p>
          </p:txBody>
        </p:sp>
        <p:sp>
          <p:nvSpPr>
            <p:cNvPr id="27" name="Line 27"/>
            <p:cNvSpPr>
              <a:spLocks noChangeShapeType="1"/>
            </p:cNvSpPr>
            <p:nvPr/>
          </p:nvSpPr>
          <p:spPr bwMode="auto">
            <a:xfrm flipV="1">
              <a:off x="5578475" y="3071813"/>
              <a:ext cx="749300" cy="2524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管子处理装置</a:t>
            </a:r>
          </a:p>
        </p:txBody>
      </p:sp>
      <p:sp>
        <p:nvSpPr>
          <p:cNvPr id="139268" name="Rectangle 4"/>
          <p:cNvSpPr>
            <a:spLocks noChangeArrowheads="1"/>
          </p:cNvSpPr>
          <p:nvPr/>
        </p:nvSpPr>
        <p:spPr bwMode="auto">
          <a:xfrm>
            <a:off x="7704138" y="3094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39269" name="Text Box 5"/>
          <p:cNvSpPr txBox="1">
            <a:spLocks noChangeArrowheads="1"/>
          </p:cNvSpPr>
          <p:nvPr/>
        </p:nvSpPr>
        <p:spPr bwMode="auto">
          <a:xfrm>
            <a:off x="251267" y="921732"/>
            <a:ext cx="4194845" cy="538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ts val="800"/>
              </a:spcBef>
              <a:spcAft>
                <a:spcPts val="800"/>
              </a:spcAft>
            </a:pPr>
            <a:r>
              <a:rPr lang="zh-CN" altLang="en-US" sz="2400" b="0" dirty="0">
                <a:latin typeface="黑体" panose="02010609060101010101" pitchFamily="49" charset="-122"/>
                <a:ea typeface="黑体" panose="02010609060101010101" pitchFamily="49" charset="-122"/>
                <a:cs typeface="黑体" panose="02010609060101010101" pitchFamily="49" charset="-122"/>
              </a:rPr>
              <a:t>内防喷器及其控制装置</a:t>
            </a:r>
            <a:endParaRPr lang="zh-CN" altLang="en-US" sz="2000" b="0" dirty="0">
              <a:latin typeface="黑体" panose="02010609060101010101" pitchFamily="49" charset="-122"/>
              <a:ea typeface="黑体" panose="02010609060101010101" pitchFamily="49" charset="-122"/>
              <a:cs typeface="黑体" panose="02010609060101010101" pitchFamily="49" charset="-122"/>
            </a:endParaRPr>
          </a:p>
          <a:p>
            <a:pPr algn="just"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顶驱装置中有两个内防喷器，上部为遥控内防喷器，可以通过液压系统对其进行远程开关控制，下部为手动内防喷器，与转换接头连接，需要人工手动操作开关。</a:t>
            </a:r>
          </a:p>
          <a:p>
            <a:pPr algn="just"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在钻井作业时，内防喷器处在开启状态，可以让钻井液自由通过。当发生井涌或井喷时，可以在关闭内防喷器的同时，关闭井口防喷器，两者同时动作，进一步防止井喷事故发生。</a:t>
            </a:r>
          </a:p>
        </p:txBody>
      </p:sp>
      <p:sp>
        <p:nvSpPr>
          <p:cNvPr id="139271" name="Rectangle 7"/>
          <p:cNvSpPr>
            <a:spLocks noChangeArrowheads="1"/>
          </p:cNvSpPr>
          <p:nvPr/>
        </p:nvSpPr>
        <p:spPr bwMode="auto">
          <a:xfrm>
            <a:off x="7329488" y="3587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39272" name="Rectangle 8"/>
          <p:cNvSpPr>
            <a:spLocks noChangeArrowheads="1"/>
          </p:cNvSpPr>
          <p:nvPr/>
        </p:nvSpPr>
        <p:spPr bwMode="auto">
          <a:xfrm>
            <a:off x="7339013" y="3363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39273" name="Rectangle 9"/>
          <p:cNvSpPr>
            <a:spLocks noChangeArrowheads="1"/>
          </p:cNvSpPr>
          <p:nvPr/>
        </p:nvSpPr>
        <p:spPr bwMode="auto">
          <a:xfrm>
            <a:off x="6965950" y="3643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39274" name="Rectangle 10"/>
          <p:cNvSpPr>
            <a:spLocks noChangeArrowheads="1"/>
          </p:cNvSpPr>
          <p:nvPr/>
        </p:nvSpPr>
        <p:spPr bwMode="auto">
          <a:xfrm>
            <a:off x="6527800" y="3028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39275" name="Rectangle 11"/>
          <p:cNvSpPr>
            <a:spLocks noChangeArrowheads="1"/>
          </p:cNvSpPr>
          <p:nvPr/>
        </p:nvSpPr>
        <p:spPr bwMode="auto">
          <a:xfrm>
            <a:off x="7237413" y="3317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39276" name="Rectangle 12"/>
          <p:cNvSpPr>
            <a:spLocks noChangeArrowheads="1"/>
          </p:cNvSpPr>
          <p:nvPr/>
        </p:nvSpPr>
        <p:spPr bwMode="auto">
          <a:xfrm>
            <a:off x="6596063" y="3106738"/>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pic>
        <p:nvPicPr>
          <p:cNvPr id="4" name="图片 16" descr="7-21 内防喷器及保护接头放大.jpg"/>
          <p:cNvPicPr>
            <a:picLocks noChangeAspect="1"/>
          </p:cNvPicPr>
          <p:nvPr/>
        </p:nvPicPr>
        <p:blipFill rotWithShape="1">
          <a:blip r:embed="rId2">
            <a:extLst>
              <a:ext uri="{28A0092B-C50C-407E-A947-70E740481C1C}">
                <a14:useLocalDpi xmlns:a14="http://schemas.microsoft.com/office/drawing/2010/main" val="0"/>
              </a:ext>
            </a:extLst>
          </a:blip>
          <a:srcRect l="20351" r="21358"/>
          <a:stretch>
            <a:fillRect/>
          </a:stretch>
        </p:blipFill>
        <p:spPr bwMode="auto">
          <a:xfrm>
            <a:off x="6822838" y="1335087"/>
            <a:ext cx="1944216" cy="470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2" descr="IBOP"/>
          <p:cNvPicPr>
            <a:picLocks noChangeAspect="1" noChangeArrowheads="1"/>
          </p:cNvPicPr>
          <p:nvPr/>
        </p:nvPicPr>
        <p:blipFill>
          <a:blip r:embed="rId3">
            <a:extLst>
              <a:ext uri="{28A0092B-C50C-407E-A947-70E740481C1C}">
                <a14:useLocalDpi xmlns:a14="http://schemas.microsoft.com/office/drawing/2010/main" val="0"/>
              </a:ext>
            </a:extLst>
          </a:blip>
          <a:srcRect l="40506" t="17574" r="22604" b="27969"/>
          <a:stretch>
            <a:fillRect/>
          </a:stretch>
        </p:blipFill>
        <p:spPr bwMode="auto">
          <a:xfrm>
            <a:off x="4618747" y="1679104"/>
            <a:ext cx="1943100" cy="406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管子处理装置</a:t>
            </a:r>
          </a:p>
        </p:txBody>
      </p:sp>
      <p:sp>
        <p:nvSpPr>
          <p:cNvPr id="147460" name="Rectangle 4"/>
          <p:cNvSpPr>
            <a:spLocks noChangeArrowheads="1"/>
          </p:cNvSpPr>
          <p:nvPr/>
        </p:nvSpPr>
        <p:spPr bwMode="auto">
          <a:xfrm>
            <a:off x="7704138" y="3094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47461" name="Text Box 5"/>
          <p:cNvSpPr txBox="1">
            <a:spLocks noChangeArrowheads="1"/>
          </p:cNvSpPr>
          <p:nvPr/>
        </p:nvSpPr>
        <p:spPr bwMode="auto">
          <a:xfrm>
            <a:off x="395536" y="1188021"/>
            <a:ext cx="4048449" cy="2376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spcBef>
                <a:spcPts val="800"/>
              </a:spcBef>
              <a:spcAft>
                <a:spcPts val="800"/>
              </a:spcAft>
            </a:pPr>
            <a:r>
              <a:rPr lang="zh-CN" altLang="en-US" sz="2400" b="0" dirty="0">
                <a:latin typeface="黑体" panose="02010609060101010101" pitchFamily="49" charset="-122"/>
                <a:ea typeface="黑体" panose="02010609060101010101" pitchFamily="49" charset="-122"/>
                <a:cs typeface="黑体" panose="02010609060101010101" pitchFamily="49" charset="-122"/>
              </a:rPr>
              <a:t>防松装置</a:t>
            </a:r>
            <a:endParaRPr lang="zh-CN" altLang="en-US" sz="2000" b="0" dirty="0">
              <a:latin typeface="黑体" panose="02010609060101010101" pitchFamily="49" charset="-122"/>
              <a:ea typeface="黑体" panose="02010609060101010101" pitchFamily="49" charset="-122"/>
              <a:cs typeface="黑体" panose="02010609060101010101" pitchFamily="49" charset="-122"/>
            </a:endParaRPr>
          </a:p>
          <a:p>
            <a:pPr algn="just"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为了保证主轴、内防喷器、转换接头之间螺纹连接不松开，顶驱装置在主负荷通道上都安装有防松装置。</a:t>
            </a:r>
          </a:p>
        </p:txBody>
      </p:sp>
      <p:sp>
        <p:nvSpPr>
          <p:cNvPr id="147463" name="Rectangle 7"/>
          <p:cNvSpPr>
            <a:spLocks noChangeArrowheads="1"/>
          </p:cNvSpPr>
          <p:nvPr/>
        </p:nvSpPr>
        <p:spPr bwMode="auto">
          <a:xfrm>
            <a:off x="7329488" y="3587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47464" name="Rectangle 8"/>
          <p:cNvSpPr>
            <a:spLocks noChangeArrowheads="1"/>
          </p:cNvSpPr>
          <p:nvPr/>
        </p:nvSpPr>
        <p:spPr bwMode="auto">
          <a:xfrm>
            <a:off x="7339013" y="3363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47465" name="Rectangle 9"/>
          <p:cNvSpPr>
            <a:spLocks noChangeArrowheads="1"/>
          </p:cNvSpPr>
          <p:nvPr/>
        </p:nvSpPr>
        <p:spPr bwMode="auto">
          <a:xfrm>
            <a:off x="6965950" y="3643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47466" name="Rectangle 10"/>
          <p:cNvSpPr>
            <a:spLocks noChangeArrowheads="1"/>
          </p:cNvSpPr>
          <p:nvPr/>
        </p:nvSpPr>
        <p:spPr bwMode="auto">
          <a:xfrm>
            <a:off x="6527800" y="3028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47467" name="Rectangle 11"/>
          <p:cNvSpPr>
            <a:spLocks noChangeArrowheads="1"/>
          </p:cNvSpPr>
          <p:nvPr/>
        </p:nvSpPr>
        <p:spPr bwMode="auto">
          <a:xfrm>
            <a:off x="7237413" y="3317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47468" name="Rectangle 12"/>
          <p:cNvSpPr>
            <a:spLocks noChangeArrowheads="1"/>
          </p:cNvSpPr>
          <p:nvPr/>
        </p:nvSpPr>
        <p:spPr bwMode="auto">
          <a:xfrm>
            <a:off x="6596063" y="3106738"/>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pic>
        <p:nvPicPr>
          <p:cNvPr id="14" name="Picture 35"/>
          <p:cNvPicPr>
            <a:picLocks noChangeAspect="1" noChangeArrowheads="1"/>
          </p:cNvPicPr>
          <p:nvPr/>
        </p:nvPicPr>
        <p:blipFill>
          <a:blip r:embed="rId2">
            <a:extLst>
              <a:ext uri="{28A0092B-C50C-407E-A947-70E740481C1C}">
                <a14:useLocalDpi xmlns:a14="http://schemas.microsoft.com/office/drawing/2010/main" val="0"/>
              </a:ext>
            </a:extLst>
          </a:blip>
          <a:srcRect l="-29268" t="-2541" r="-17073" b="-4135"/>
          <a:stretch>
            <a:fillRect/>
          </a:stretch>
        </p:blipFill>
        <p:spPr bwMode="auto">
          <a:xfrm>
            <a:off x="7452320" y="1610519"/>
            <a:ext cx="1143000" cy="415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25" descr="锁紧装置总装"/>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6774" y="1382067"/>
            <a:ext cx="2055812"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22"/>
          <p:cNvGrpSpPr/>
          <p:nvPr/>
        </p:nvGrpSpPr>
        <p:grpSpPr bwMode="auto">
          <a:xfrm>
            <a:off x="4943624" y="3020367"/>
            <a:ext cx="2652712" cy="3424238"/>
            <a:chOff x="3094038" y="1838325"/>
            <a:chExt cx="2652712" cy="3433763"/>
          </a:xfrm>
        </p:grpSpPr>
        <p:pic>
          <p:nvPicPr>
            <p:cNvPr id="17" name="Picture 26" descr="锁紧装置总装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4038" y="2252663"/>
              <a:ext cx="1601787"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Line 27"/>
            <p:cNvSpPr>
              <a:spLocks noChangeShapeType="1"/>
            </p:cNvSpPr>
            <p:nvPr/>
          </p:nvSpPr>
          <p:spPr bwMode="auto">
            <a:xfrm flipV="1">
              <a:off x="4352925" y="2133600"/>
              <a:ext cx="579438" cy="8112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Text Box 28"/>
            <p:cNvSpPr txBox="1">
              <a:spLocks noChangeArrowheads="1"/>
            </p:cNvSpPr>
            <p:nvPr/>
          </p:nvSpPr>
          <p:spPr bwMode="auto">
            <a:xfrm>
              <a:off x="4810125" y="1838325"/>
              <a:ext cx="9144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上体</a:t>
              </a:r>
              <a:endParaRPr lang="zh-CN" altLang="en-US" sz="2400" u="sng"/>
            </a:p>
          </p:txBody>
        </p:sp>
        <p:sp>
          <p:nvSpPr>
            <p:cNvPr id="20" name="Line 29"/>
            <p:cNvSpPr>
              <a:spLocks noChangeShapeType="1"/>
            </p:cNvSpPr>
            <p:nvPr/>
          </p:nvSpPr>
          <p:spPr bwMode="auto">
            <a:xfrm flipV="1">
              <a:off x="4352925" y="3079750"/>
              <a:ext cx="579438" cy="7572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Text Box 30"/>
            <p:cNvSpPr txBox="1">
              <a:spLocks noChangeArrowheads="1"/>
            </p:cNvSpPr>
            <p:nvPr/>
          </p:nvSpPr>
          <p:spPr bwMode="auto">
            <a:xfrm>
              <a:off x="4832350" y="2833688"/>
              <a:ext cx="800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牙板</a:t>
              </a:r>
              <a:endParaRPr lang="zh-CN" altLang="en-US" sz="2400" u="sng"/>
            </a:p>
          </p:txBody>
        </p:sp>
        <p:sp>
          <p:nvSpPr>
            <p:cNvPr id="22" name="Line 31"/>
            <p:cNvSpPr>
              <a:spLocks noChangeShapeType="1"/>
            </p:cNvSpPr>
            <p:nvPr/>
          </p:nvSpPr>
          <p:spPr bwMode="auto">
            <a:xfrm>
              <a:off x="4467225" y="4529138"/>
              <a:ext cx="365125" cy="2476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Text Box 32"/>
            <p:cNvSpPr txBox="1">
              <a:spLocks noChangeArrowheads="1"/>
            </p:cNvSpPr>
            <p:nvPr/>
          </p:nvSpPr>
          <p:spPr bwMode="auto">
            <a:xfrm>
              <a:off x="4810125" y="4776788"/>
              <a:ext cx="6858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下体</a:t>
              </a:r>
              <a:endParaRPr lang="zh-CN" altLang="en-US" sz="2400" u="sng"/>
            </a:p>
          </p:txBody>
        </p:sp>
        <p:sp>
          <p:nvSpPr>
            <p:cNvPr id="24" name="Line 33"/>
            <p:cNvSpPr>
              <a:spLocks noChangeShapeType="1"/>
            </p:cNvSpPr>
            <p:nvPr/>
          </p:nvSpPr>
          <p:spPr bwMode="auto">
            <a:xfrm flipV="1">
              <a:off x="4467225" y="3836988"/>
              <a:ext cx="465138" cy="29686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 name="Text Box 34"/>
            <p:cNvSpPr txBox="1">
              <a:spLocks noChangeArrowheads="1"/>
            </p:cNvSpPr>
            <p:nvPr/>
          </p:nvSpPr>
          <p:spPr bwMode="auto">
            <a:xfrm>
              <a:off x="4832350" y="3638550"/>
              <a:ext cx="9144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a:t>螺栓</a:t>
              </a:r>
              <a:endParaRPr lang="zh-CN" altLang="en-US" sz="2400" u="sng"/>
            </a:p>
          </p:txBody>
        </p:sp>
      </p:grpSp>
      <p:pic>
        <p:nvPicPr>
          <p:cNvPr id="26" name="图片 23" descr="7-19 锁紧装置螺栓连接.jpg"/>
          <p:cNvPicPr>
            <a:picLocks noChangeAspect="1"/>
          </p:cNvPicPr>
          <p:nvPr/>
        </p:nvPicPr>
        <p:blipFill rotWithShape="1">
          <a:blip r:embed="rId5">
            <a:extLst>
              <a:ext uri="{28A0092B-C50C-407E-A947-70E740481C1C}">
                <a14:useLocalDpi xmlns:a14="http://schemas.microsoft.com/office/drawing/2010/main" val="0"/>
              </a:ext>
            </a:extLst>
          </a:blip>
          <a:srcRect t="18035" b="16980"/>
          <a:stretch>
            <a:fillRect/>
          </a:stretch>
        </p:blipFill>
        <p:spPr bwMode="auto">
          <a:xfrm>
            <a:off x="1617138" y="3549746"/>
            <a:ext cx="2749550" cy="2520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管子处理装置</a:t>
            </a:r>
          </a:p>
        </p:txBody>
      </p:sp>
      <p:sp>
        <p:nvSpPr>
          <p:cNvPr id="150533" name="Text Box 5"/>
          <p:cNvSpPr txBox="1">
            <a:spLocks noChangeArrowheads="1"/>
          </p:cNvSpPr>
          <p:nvPr/>
        </p:nvSpPr>
        <p:spPr bwMode="auto">
          <a:xfrm>
            <a:off x="1339215" y="1948815"/>
            <a:ext cx="6466205" cy="2376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spcBef>
                <a:spcPts val="800"/>
              </a:spcBef>
              <a:spcAft>
                <a:spcPts val="800"/>
              </a:spcAft>
            </a:pPr>
            <a:r>
              <a:rPr lang="zh-CN" altLang="en-US" sz="2400" b="0" dirty="0">
                <a:latin typeface="黑体" panose="02010609060101010101" pitchFamily="49" charset="-122"/>
                <a:ea typeface="黑体" panose="02010609060101010101" pitchFamily="49" charset="-122"/>
                <a:cs typeface="黑体" panose="02010609060101010101" pitchFamily="49" charset="-122"/>
              </a:rPr>
              <a:t>转换接头</a:t>
            </a:r>
            <a:endParaRPr lang="zh-CN" altLang="en-US" sz="2000" b="0" dirty="0">
              <a:latin typeface="黑体" panose="02010609060101010101" pitchFamily="49" charset="-122"/>
              <a:ea typeface="黑体" panose="02010609060101010101" pitchFamily="49" charset="-122"/>
              <a:cs typeface="黑体" panose="02010609060101010101" pitchFamily="49" charset="-122"/>
            </a:endParaRPr>
          </a:p>
          <a:p>
            <a:pPr algn="just" eaLnBrk="1" hangingPunct="1">
              <a:lnSpc>
                <a:spcPct val="130000"/>
              </a:lnSpc>
              <a:spcBef>
                <a:spcPts val="80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钻井过程中频繁起下钻柱，为了保护内防喷器的连接螺纹，在内防喷器下部安装有转换接头（亦称保护接头），上端螺纹、外径及内部通道与相应的内防喷器相同，下端螺纹与所连接的钻柱螺纹相同。 </a:t>
            </a:r>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管子处理装置</a:t>
            </a:r>
          </a:p>
        </p:txBody>
      </p:sp>
      <p:sp>
        <p:nvSpPr>
          <p:cNvPr id="152580" name="Rectangle 4"/>
          <p:cNvSpPr>
            <a:spLocks noChangeArrowheads="1"/>
          </p:cNvSpPr>
          <p:nvPr/>
        </p:nvSpPr>
        <p:spPr bwMode="auto">
          <a:xfrm>
            <a:off x="7704138" y="3094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52581" name="Text Box 5"/>
          <p:cNvSpPr txBox="1">
            <a:spLocks noChangeArrowheads="1"/>
          </p:cNvSpPr>
          <p:nvPr/>
        </p:nvSpPr>
        <p:spPr bwMode="auto">
          <a:xfrm>
            <a:off x="323215" y="812800"/>
            <a:ext cx="8391525" cy="3199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spcBef>
                <a:spcPts val="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背钳</a:t>
            </a:r>
          </a:p>
          <a:p>
            <a:pPr algn="just" eaLnBrk="1" hangingPunct="1">
              <a:lnSpc>
                <a:spcPct val="130000"/>
              </a:lnSpc>
              <a:spcBef>
                <a:spcPts val="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背钳的最大优点可在任何时候、任何位置夹持钻杆接头完成上、卸扣作业。</a:t>
            </a:r>
          </a:p>
          <a:p>
            <a:pPr algn="just" eaLnBrk="1" hangingPunct="1">
              <a:lnSpc>
                <a:spcPct val="130000"/>
              </a:lnSpc>
              <a:spcBef>
                <a:spcPts val="0"/>
              </a:spcBef>
              <a:spcAft>
                <a:spcPts val="800"/>
              </a:spcAft>
            </a:pPr>
            <a:r>
              <a:rPr lang="zh-CN" altLang="en-US" sz="2000" b="0" dirty="0">
                <a:latin typeface="黑体" panose="02010609060101010101" pitchFamily="49" charset="-122"/>
                <a:ea typeface="黑体" panose="02010609060101010101" pitchFamily="49" charset="-122"/>
                <a:cs typeface="黑体" panose="02010609060101010101" pitchFamily="49" charset="-122"/>
              </a:rPr>
              <a:t>    操作时，背钳的钳牙夹住钻柱接头，由顶驱装置主轴旋转进行上卸扣，上卸扣的反扭矩由钳体通过背钳支架传递到顶驱装置本体上，并由本体、滑车传递到导轨，再至井架上。</a:t>
            </a:r>
          </a:p>
          <a:p>
            <a:pPr algn="just" eaLnBrk="1" hangingPunct="1">
              <a:lnSpc>
                <a:spcPct val="130000"/>
              </a:lnSpc>
              <a:spcBef>
                <a:spcPts val="0"/>
              </a:spcBef>
              <a:spcAft>
                <a:spcPts val="800"/>
              </a:spcAft>
            </a:pPr>
            <a:r>
              <a:rPr lang="zh-CN" altLang="en-US" sz="2000" b="0" dirty="0">
                <a:solidFill>
                  <a:srgbClr val="FF0000"/>
                </a:solidFill>
                <a:latin typeface="黑体" panose="02010609060101010101" pitchFamily="49" charset="-122"/>
                <a:ea typeface="黑体" panose="02010609060101010101" pitchFamily="49" charset="-122"/>
                <a:cs typeface="黑体" panose="02010609060101010101" pitchFamily="49" charset="-122"/>
              </a:rPr>
              <a:t>北石70系列顶驱背钳的夹持范围 2 7/8DP～6 5/8DP。</a:t>
            </a:r>
          </a:p>
        </p:txBody>
      </p:sp>
      <p:sp>
        <p:nvSpPr>
          <p:cNvPr id="152583" name="Rectangle 7"/>
          <p:cNvSpPr>
            <a:spLocks noChangeArrowheads="1"/>
          </p:cNvSpPr>
          <p:nvPr/>
        </p:nvSpPr>
        <p:spPr bwMode="auto">
          <a:xfrm>
            <a:off x="7329488" y="3587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52584" name="Rectangle 8"/>
          <p:cNvSpPr>
            <a:spLocks noChangeArrowheads="1"/>
          </p:cNvSpPr>
          <p:nvPr/>
        </p:nvSpPr>
        <p:spPr bwMode="auto">
          <a:xfrm>
            <a:off x="7339013" y="3363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52585" name="Rectangle 9"/>
          <p:cNvSpPr>
            <a:spLocks noChangeArrowheads="1"/>
          </p:cNvSpPr>
          <p:nvPr/>
        </p:nvSpPr>
        <p:spPr bwMode="auto">
          <a:xfrm>
            <a:off x="6965950" y="3643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52586" name="Rectangle 10"/>
          <p:cNvSpPr>
            <a:spLocks noChangeArrowheads="1"/>
          </p:cNvSpPr>
          <p:nvPr/>
        </p:nvSpPr>
        <p:spPr bwMode="auto">
          <a:xfrm>
            <a:off x="6527800" y="3028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52587" name="Rectangle 11"/>
          <p:cNvSpPr>
            <a:spLocks noChangeArrowheads="1"/>
          </p:cNvSpPr>
          <p:nvPr/>
        </p:nvSpPr>
        <p:spPr bwMode="auto">
          <a:xfrm>
            <a:off x="7237413" y="3317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152588" name="Rectangle 12"/>
          <p:cNvSpPr>
            <a:spLocks noChangeArrowheads="1"/>
          </p:cNvSpPr>
          <p:nvPr/>
        </p:nvSpPr>
        <p:spPr bwMode="auto">
          <a:xfrm>
            <a:off x="6596063" y="3106738"/>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grpSp>
        <p:nvGrpSpPr>
          <p:cNvPr id="14" name="组合 9"/>
          <p:cNvGrpSpPr/>
          <p:nvPr/>
        </p:nvGrpSpPr>
        <p:grpSpPr bwMode="auto">
          <a:xfrm>
            <a:off x="683568" y="3856038"/>
            <a:ext cx="2806179" cy="2730512"/>
            <a:chOff x="3916363" y="1592263"/>
            <a:chExt cx="2971800" cy="2919412"/>
          </a:xfrm>
        </p:grpSpPr>
        <p:pic>
          <p:nvPicPr>
            <p:cNvPr id="15" name="Picture 2" descr="2"/>
            <p:cNvPicPr>
              <a:picLocks noChangeAspect="1" noChangeArrowheads="1"/>
            </p:cNvPicPr>
            <p:nvPr/>
          </p:nvPicPr>
          <p:blipFill>
            <a:blip r:embed="rId2" cstate="print">
              <a:extLst>
                <a:ext uri="{28A0092B-C50C-407E-A947-70E740481C1C}">
                  <a14:useLocalDpi xmlns:a14="http://schemas.microsoft.com/office/drawing/2010/main" val="0"/>
                </a:ext>
              </a:extLst>
            </a:blip>
            <a:srcRect l="39589" t="14493" r="18770" b="57501"/>
            <a:stretch>
              <a:fillRect/>
            </a:stretch>
          </p:blipFill>
          <p:spPr bwMode="auto">
            <a:xfrm>
              <a:off x="3916363" y="1690688"/>
              <a:ext cx="2971800" cy="28209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6" name="Text Box 3"/>
            <p:cNvSpPr txBox="1">
              <a:spLocks noChangeArrowheads="1"/>
            </p:cNvSpPr>
            <p:nvPr/>
          </p:nvSpPr>
          <p:spPr bwMode="auto">
            <a:xfrm>
              <a:off x="6316663" y="2185988"/>
              <a:ext cx="571500"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b="0">
                  <a:latin typeface="宋体" panose="02010600030101010101" pitchFamily="2" charset="-122"/>
                </a:rPr>
                <a:t>油嘴</a:t>
              </a:r>
              <a:endParaRPr lang="zh-CN" altLang="zh-CN" sz="1800" b="0"/>
            </a:p>
          </p:txBody>
        </p:sp>
        <p:sp>
          <p:nvSpPr>
            <p:cNvPr id="17" name="Text Box 4"/>
            <p:cNvSpPr txBox="1">
              <a:spLocks noChangeArrowheads="1"/>
            </p:cNvSpPr>
            <p:nvPr/>
          </p:nvSpPr>
          <p:spPr bwMode="auto">
            <a:xfrm>
              <a:off x="5630863" y="2185988"/>
              <a:ext cx="685800"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b="0">
                  <a:latin typeface="宋体" panose="02010600030101010101" pitchFamily="2" charset="-122"/>
                </a:rPr>
                <a:t>前牙座</a:t>
              </a:r>
              <a:endParaRPr lang="zh-CN" altLang="zh-CN" sz="1800" b="0"/>
            </a:p>
          </p:txBody>
        </p:sp>
        <p:sp>
          <p:nvSpPr>
            <p:cNvPr id="18" name="Text Box 5"/>
            <p:cNvSpPr txBox="1">
              <a:spLocks noChangeArrowheads="1"/>
            </p:cNvSpPr>
            <p:nvPr/>
          </p:nvSpPr>
          <p:spPr bwMode="auto">
            <a:xfrm>
              <a:off x="4945063" y="2185988"/>
              <a:ext cx="685800"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b="0">
                  <a:latin typeface="宋体" panose="02010600030101010101" pitchFamily="2" charset="-122"/>
                </a:rPr>
                <a:t>后牙座</a:t>
              </a:r>
              <a:endParaRPr lang="zh-CN" altLang="zh-CN" sz="1800" b="0"/>
            </a:p>
          </p:txBody>
        </p:sp>
        <p:sp>
          <p:nvSpPr>
            <p:cNvPr id="19" name="Text Box 6"/>
            <p:cNvSpPr txBox="1">
              <a:spLocks noChangeArrowheads="1"/>
            </p:cNvSpPr>
            <p:nvPr/>
          </p:nvSpPr>
          <p:spPr bwMode="auto">
            <a:xfrm>
              <a:off x="5059363" y="1592263"/>
              <a:ext cx="571500" cy="39528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000" b="0">
                  <a:latin typeface="宋体" panose="02010600030101010101" pitchFamily="2" charset="-122"/>
                </a:rPr>
                <a:t>挂臂</a:t>
              </a:r>
              <a:endParaRPr lang="zh-CN" altLang="zh-CN" sz="1800" b="0"/>
            </a:p>
          </p:txBody>
        </p:sp>
        <p:sp>
          <p:nvSpPr>
            <p:cNvPr id="20" name="Line 7"/>
            <p:cNvSpPr>
              <a:spLocks noChangeShapeType="1"/>
            </p:cNvSpPr>
            <p:nvPr/>
          </p:nvSpPr>
          <p:spPr bwMode="auto">
            <a:xfrm flipV="1">
              <a:off x="6316663" y="2562225"/>
              <a:ext cx="207962" cy="7143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 name="Line 8"/>
            <p:cNvSpPr>
              <a:spLocks noChangeShapeType="1"/>
            </p:cNvSpPr>
            <p:nvPr/>
          </p:nvSpPr>
          <p:spPr bwMode="auto">
            <a:xfrm flipV="1">
              <a:off x="5973763" y="2482850"/>
              <a:ext cx="0" cy="9906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 name="Line 9"/>
            <p:cNvSpPr>
              <a:spLocks noChangeShapeType="1"/>
            </p:cNvSpPr>
            <p:nvPr/>
          </p:nvSpPr>
          <p:spPr bwMode="auto">
            <a:xfrm flipV="1">
              <a:off x="5149850" y="2509838"/>
              <a:ext cx="107950" cy="115728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 name="Line 10"/>
            <p:cNvSpPr>
              <a:spLocks noChangeShapeType="1"/>
            </p:cNvSpPr>
            <p:nvPr/>
          </p:nvSpPr>
          <p:spPr bwMode="auto">
            <a:xfrm flipV="1">
              <a:off x="4625975" y="1819275"/>
              <a:ext cx="476250" cy="73342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4" name="组合 24"/>
          <p:cNvGrpSpPr/>
          <p:nvPr/>
        </p:nvGrpSpPr>
        <p:grpSpPr bwMode="auto">
          <a:xfrm>
            <a:off x="4136743" y="3901667"/>
            <a:ext cx="4748918" cy="2724570"/>
            <a:chOff x="1079500" y="3929063"/>
            <a:chExt cx="5029200" cy="2911475"/>
          </a:xfrm>
        </p:grpSpPr>
        <p:pic>
          <p:nvPicPr>
            <p:cNvPr id="25" name="Picture 11" descr="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3900" y="3929063"/>
              <a:ext cx="2971800" cy="29114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6" name="Text Box 12"/>
            <p:cNvSpPr txBox="1">
              <a:spLocks noChangeArrowheads="1"/>
            </p:cNvSpPr>
            <p:nvPr/>
          </p:nvSpPr>
          <p:spPr bwMode="auto">
            <a:xfrm>
              <a:off x="5422900" y="4906317"/>
              <a:ext cx="685800" cy="37306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r>
                <a:rPr lang="zh-CN" altLang="en-US" sz="1000" b="0">
                  <a:latin typeface="宋体" panose="02010600030101010101" pitchFamily="2" charset="-122"/>
                </a:rPr>
                <a:t>背钳体</a:t>
              </a:r>
              <a:endParaRPr lang="zh-CN" altLang="zh-CN" sz="1800" b="0"/>
            </a:p>
          </p:txBody>
        </p:sp>
        <p:sp>
          <p:nvSpPr>
            <p:cNvPr id="27" name="Text Box 13"/>
            <p:cNvSpPr txBox="1">
              <a:spLocks noChangeArrowheads="1"/>
            </p:cNvSpPr>
            <p:nvPr/>
          </p:nvSpPr>
          <p:spPr bwMode="auto">
            <a:xfrm>
              <a:off x="3937000" y="4114155"/>
              <a:ext cx="685800" cy="37306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r>
                <a:rPr lang="zh-CN" altLang="en-US" sz="1000" b="0">
                  <a:latin typeface="宋体" panose="02010600030101010101" pitchFamily="2" charset="-122"/>
                </a:rPr>
                <a:t>挂臂</a:t>
              </a:r>
              <a:endParaRPr lang="zh-CN" altLang="zh-CN" sz="1800" b="0"/>
            </a:p>
          </p:txBody>
        </p:sp>
        <p:sp>
          <p:nvSpPr>
            <p:cNvPr id="28" name="Text Box 14"/>
            <p:cNvSpPr txBox="1">
              <a:spLocks noChangeArrowheads="1"/>
            </p:cNvSpPr>
            <p:nvPr/>
          </p:nvSpPr>
          <p:spPr bwMode="auto">
            <a:xfrm>
              <a:off x="1079500" y="6095355"/>
              <a:ext cx="800100" cy="349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r" eaLnBrk="1" hangingPunct="1"/>
              <a:r>
                <a:rPr lang="zh-CN" altLang="en-US" sz="1000" b="0">
                  <a:latin typeface="宋体" panose="02010600030101010101" pitchFamily="2" charset="-122"/>
                </a:rPr>
                <a:t>背钳托座</a:t>
              </a:r>
              <a:endParaRPr lang="zh-CN" altLang="zh-CN" sz="1800" b="0"/>
            </a:p>
          </p:txBody>
        </p:sp>
        <p:sp>
          <p:nvSpPr>
            <p:cNvPr id="29" name="Text Box 15"/>
            <p:cNvSpPr txBox="1">
              <a:spLocks noChangeArrowheads="1"/>
            </p:cNvSpPr>
            <p:nvPr/>
          </p:nvSpPr>
          <p:spPr bwMode="auto">
            <a:xfrm>
              <a:off x="1079500" y="5724525"/>
              <a:ext cx="685800" cy="37306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r" eaLnBrk="1" hangingPunct="1"/>
              <a:r>
                <a:rPr lang="zh-CN" altLang="en-US" sz="1000" b="0">
                  <a:latin typeface="宋体" panose="02010600030101010101" pitchFamily="2" charset="-122"/>
                </a:rPr>
                <a:t>托座销</a:t>
              </a:r>
              <a:endParaRPr lang="zh-CN" altLang="zh-CN" sz="1800" b="0"/>
            </a:p>
          </p:txBody>
        </p:sp>
        <p:sp>
          <p:nvSpPr>
            <p:cNvPr id="30" name="Text Box 16"/>
            <p:cNvSpPr txBox="1">
              <a:spLocks noChangeArrowheads="1"/>
            </p:cNvSpPr>
            <p:nvPr/>
          </p:nvSpPr>
          <p:spPr bwMode="auto">
            <a:xfrm>
              <a:off x="1079500" y="4114155"/>
              <a:ext cx="800100" cy="37306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r" eaLnBrk="1" hangingPunct="1"/>
              <a:r>
                <a:rPr lang="zh-CN" altLang="en-US" sz="1000" b="0">
                  <a:latin typeface="宋体" panose="02010600030101010101" pitchFamily="2" charset="-122"/>
                </a:rPr>
                <a:t>吊装螺钉</a:t>
              </a:r>
              <a:endParaRPr lang="zh-CN" altLang="zh-CN" sz="1800" b="0"/>
            </a:p>
          </p:txBody>
        </p:sp>
        <p:sp>
          <p:nvSpPr>
            <p:cNvPr id="31" name="Text Box 17"/>
            <p:cNvSpPr txBox="1">
              <a:spLocks noChangeArrowheads="1"/>
            </p:cNvSpPr>
            <p:nvPr/>
          </p:nvSpPr>
          <p:spPr bwMode="auto">
            <a:xfrm>
              <a:off x="1079500" y="4631382"/>
              <a:ext cx="571500" cy="37306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r" eaLnBrk="1" hangingPunct="1"/>
              <a:r>
                <a:rPr lang="zh-CN" altLang="en-US" sz="1000" b="0">
                  <a:latin typeface="宋体" panose="02010600030101010101" pitchFamily="2" charset="-122"/>
                </a:rPr>
                <a:t>挡板</a:t>
              </a:r>
              <a:endParaRPr lang="zh-CN" altLang="zh-CN" sz="1800" b="0"/>
            </a:p>
          </p:txBody>
        </p:sp>
        <p:sp>
          <p:nvSpPr>
            <p:cNvPr id="32" name="Text Box 18"/>
            <p:cNvSpPr txBox="1">
              <a:spLocks noChangeArrowheads="1"/>
            </p:cNvSpPr>
            <p:nvPr/>
          </p:nvSpPr>
          <p:spPr bwMode="auto">
            <a:xfrm>
              <a:off x="1120180" y="5423470"/>
              <a:ext cx="571500" cy="37306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algn="r" eaLnBrk="1" hangingPunct="1"/>
              <a:r>
                <a:rPr lang="zh-CN" altLang="en-US" sz="1000" b="0">
                  <a:latin typeface="宋体" panose="02010600030101010101" pitchFamily="2" charset="-122"/>
                </a:rPr>
                <a:t>螺栓</a:t>
              </a:r>
              <a:endParaRPr lang="zh-CN" altLang="zh-CN" sz="1800" b="0"/>
            </a:p>
          </p:txBody>
        </p:sp>
        <p:sp>
          <p:nvSpPr>
            <p:cNvPr id="33" name="Line 19"/>
            <p:cNvSpPr>
              <a:spLocks noChangeShapeType="1"/>
            </p:cNvSpPr>
            <p:nvPr/>
          </p:nvSpPr>
          <p:spPr bwMode="auto">
            <a:xfrm flipV="1">
              <a:off x="4622800" y="5060652"/>
              <a:ext cx="831850" cy="86201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 name="Line 20"/>
            <p:cNvSpPr>
              <a:spLocks noChangeShapeType="1"/>
            </p:cNvSpPr>
            <p:nvPr/>
          </p:nvSpPr>
          <p:spPr bwMode="auto">
            <a:xfrm flipV="1">
              <a:off x="3479800" y="4311352"/>
              <a:ext cx="488950" cy="5207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5" name="Line 21"/>
            <p:cNvSpPr>
              <a:spLocks noChangeShapeType="1"/>
            </p:cNvSpPr>
            <p:nvPr/>
          </p:nvSpPr>
          <p:spPr bwMode="auto">
            <a:xfrm>
              <a:off x="1879600" y="6283027"/>
              <a:ext cx="1257300" cy="33178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 name="Line 22"/>
            <p:cNvSpPr>
              <a:spLocks noChangeShapeType="1"/>
            </p:cNvSpPr>
            <p:nvPr/>
          </p:nvSpPr>
          <p:spPr bwMode="auto">
            <a:xfrm flipV="1">
              <a:off x="1651000" y="5179715"/>
              <a:ext cx="517525" cy="2698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 name="Line 23"/>
            <p:cNvSpPr>
              <a:spLocks noChangeShapeType="1"/>
            </p:cNvSpPr>
            <p:nvPr/>
          </p:nvSpPr>
          <p:spPr bwMode="auto">
            <a:xfrm flipV="1">
              <a:off x="1765300" y="5230515"/>
              <a:ext cx="717550" cy="49371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 name="Line 24"/>
            <p:cNvSpPr>
              <a:spLocks noChangeShapeType="1"/>
            </p:cNvSpPr>
            <p:nvPr/>
          </p:nvSpPr>
          <p:spPr bwMode="auto">
            <a:xfrm>
              <a:off x="1651000" y="4854277"/>
              <a:ext cx="727075" cy="2540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 name="Line 25"/>
            <p:cNvSpPr>
              <a:spLocks noChangeShapeType="1"/>
            </p:cNvSpPr>
            <p:nvPr/>
          </p:nvSpPr>
          <p:spPr bwMode="auto">
            <a:xfrm flipH="1" flipV="1">
              <a:off x="1797050" y="4284365"/>
              <a:ext cx="614363" cy="3587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泥浆循环通道</a:t>
            </a:r>
          </a:p>
        </p:txBody>
      </p:sp>
      <p:sp>
        <p:nvSpPr>
          <p:cNvPr id="5" name="内容占位符 2"/>
          <p:cNvSpPr txBox="1"/>
          <p:nvPr/>
        </p:nvSpPr>
        <p:spPr bwMode="auto">
          <a:xfrm>
            <a:off x="281305" y="1107440"/>
            <a:ext cx="2482850" cy="2693670"/>
          </a:xfrm>
          <a:prstGeom prst="rect">
            <a:avLst/>
          </a:prstGeom>
          <a:noFill/>
          <a:ln w="9525">
            <a:noFill/>
            <a:miter lim="800000"/>
          </a:ln>
        </p:spPr>
        <p:txBody>
          <a:bodyPr/>
          <a:lstStyle/>
          <a:p>
            <a:pPr marL="0" lvl="8" algn="just">
              <a:lnSpc>
                <a:spcPct val="130000"/>
              </a:lnSpc>
              <a:buClr>
                <a:srgbClr val="0070C0"/>
              </a:buClr>
              <a:buSzPct val="120000"/>
              <a:defRPr/>
            </a:pPr>
            <a:r>
              <a:rPr lang="zh-CN" altLang="en-US" sz="2400" dirty="0">
                <a:latin typeface="楷体" panose="02010609060101010101" pitchFamily="49" charset="-122"/>
                <a:ea typeface="楷体" panose="02010609060101010101" pitchFamily="49" charset="-122"/>
                <a:cs typeface="Times New Roman" panose="02020603050405020304" pitchFamily="18" charset="0"/>
              </a:rPr>
              <a:t>    </a:t>
            </a:r>
            <a:r>
              <a:rPr lang="zh-CN" altLang="en-US" sz="2000" dirty="0">
                <a:latin typeface="黑体" panose="02010609060101010101" pitchFamily="49" charset="-122"/>
                <a:ea typeface="黑体" panose="02010609060101010101" pitchFamily="49" charset="-122"/>
                <a:cs typeface="黑体" panose="02010609060101010101" pitchFamily="49" charset="-122"/>
              </a:rPr>
              <a:t>泥浆循环通道主要包括鹅颈管总成、冲管盘根总成、主轴、</a:t>
            </a:r>
            <a:r>
              <a:rPr lang="en-US" altLang="zh-CN" sz="2000" dirty="0">
                <a:latin typeface="黑体" panose="02010609060101010101" pitchFamily="49" charset="-122"/>
                <a:ea typeface="黑体" panose="02010609060101010101" pitchFamily="49" charset="-122"/>
                <a:cs typeface="黑体" panose="02010609060101010101" pitchFamily="49" charset="-122"/>
              </a:rPr>
              <a:t>IBOP</a:t>
            </a:r>
            <a:r>
              <a:rPr lang="zh-CN" altLang="en-US" sz="2000" dirty="0">
                <a:latin typeface="黑体" panose="02010609060101010101" pitchFamily="49" charset="-122"/>
                <a:ea typeface="黑体" panose="02010609060101010101" pitchFamily="49" charset="-122"/>
                <a:cs typeface="黑体" panose="02010609060101010101" pitchFamily="49" charset="-122"/>
              </a:rPr>
              <a:t>、转换接头等，功能是为钻井液提环提供通道。  </a:t>
            </a:r>
          </a:p>
        </p:txBody>
      </p:sp>
      <p:sp>
        <p:nvSpPr>
          <p:cNvPr id="157699" name="Rectangle 43"/>
          <p:cNvSpPr>
            <a:spLocks noChangeArrowheads="1"/>
          </p:cNvSpPr>
          <p:nvPr/>
        </p:nvSpPr>
        <p:spPr bwMode="auto">
          <a:xfrm>
            <a:off x="4572000" y="1814513"/>
            <a:ext cx="1841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endParaRPr lang="zh-CN" altLang="en-US"/>
          </a:p>
        </p:txBody>
      </p:sp>
      <p:pic>
        <p:nvPicPr>
          <p:cNvPr id="157700" name="Picture 2" descr="泥浆循环通道"/>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5237" y="1216480"/>
            <a:ext cx="1865559" cy="4838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p:cNvGrpSpPr/>
          <p:nvPr/>
        </p:nvGrpSpPr>
        <p:grpSpPr>
          <a:xfrm>
            <a:off x="3009113" y="1645446"/>
            <a:ext cx="3992563" cy="4597400"/>
            <a:chOff x="4356100" y="1265238"/>
            <a:chExt cx="3992563" cy="4597400"/>
          </a:xfrm>
        </p:grpSpPr>
        <p:pic>
          <p:nvPicPr>
            <p:cNvPr id="8" name="Picture 32" descr="泥浆通道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4813" y="1416050"/>
              <a:ext cx="1824037" cy="444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35"/>
            <p:cNvSpPr txBox="1">
              <a:spLocks noChangeArrowheads="1"/>
            </p:cNvSpPr>
            <p:nvPr/>
          </p:nvSpPr>
          <p:spPr bwMode="auto">
            <a:xfrm>
              <a:off x="4356100" y="1492250"/>
              <a:ext cx="989013" cy="204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b="1">
                  <a:solidFill>
                    <a:schemeClr val="tx1"/>
                  </a:solidFill>
                  <a:latin typeface="Arial" panose="020B0604020202020204" pitchFamily="34" charset="0"/>
                  <a:ea typeface="宋体" panose="02010600030101010101" pitchFamily="2" charset="-122"/>
                </a:defRPr>
              </a:lvl1pPr>
              <a:lvl2pPr marL="742950" indent="-285750">
                <a:defRPr sz="1400" b="1">
                  <a:solidFill>
                    <a:schemeClr val="tx1"/>
                  </a:solidFill>
                  <a:latin typeface="Arial" panose="020B0604020202020204" pitchFamily="34" charset="0"/>
                  <a:ea typeface="宋体" panose="02010600030101010101" pitchFamily="2" charset="-122"/>
                </a:defRPr>
              </a:lvl2pPr>
              <a:lvl3pPr marL="1143000" indent="-228600">
                <a:defRPr sz="1400" b="1">
                  <a:solidFill>
                    <a:schemeClr val="tx1"/>
                  </a:solidFill>
                  <a:latin typeface="Arial" panose="020B0604020202020204" pitchFamily="34" charset="0"/>
                  <a:ea typeface="宋体" panose="02010600030101010101" pitchFamily="2" charset="-122"/>
                </a:defRPr>
              </a:lvl3pPr>
              <a:lvl4pPr marL="1600200" indent="-228600">
                <a:defRPr sz="1400" b="1">
                  <a:solidFill>
                    <a:schemeClr val="tx1"/>
                  </a:solidFill>
                  <a:latin typeface="Arial" panose="020B0604020202020204" pitchFamily="34" charset="0"/>
                  <a:ea typeface="宋体" panose="02010600030101010101" pitchFamily="2" charset="-122"/>
                </a:defRPr>
              </a:lvl4pPr>
              <a:lvl5pPr marL="2057400" indent="-228600">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9pPr>
            </a:lstStyle>
            <a:p>
              <a:pPr algn="just" eaLnBrk="1" hangingPunct="1">
                <a:defRPr/>
              </a:pPr>
              <a:r>
                <a:rPr lang="zh-CN" altLang="en-US" sz="1595"/>
                <a:t>冲管盘根</a:t>
              </a:r>
              <a:endParaRPr lang="zh-CN" altLang="en-US" sz="1595" u="sng"/>
            </a:p>
          </p:txBody>
        </p:sp>
        <p:sp>
          <p:nvSpPr>
            <p:cNvPr id="10" name="Text Box 36"/>
            <p:cNvSpPr txBox="1">
              <a:spLocks noChangeArrowheads="1"/>
            </p:cNvSpPr>
            <p:nvPr/>
          </p:nvSpPr>
          <p:spPr bwMode="auto">
            <a:xfrm>
              <a:off x="6419850" y="5070475"/>
              <a:ext cx="987425" cy="206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b="1">
                  <a:solidFill>
                    <a:schemeClr val="tx1"/>
                  </a:solidFill>
                  <a:latin typeface="Arial" panose="020B0604020202020204" pitchFamily="34" charset="0"/>
                  <a:ea typeface="宋体" panose="02010600030101010101" pitchFamily="2" charset="-122"/>
                </a:defRPr>
              </a:lvl1pPr>
              <a:lvl2pPr marL="742950" indent="-285750">
                <a:defRPr sz="1400" b="1">
                  <a:solidFill>
                    <a:schemeClr val="tx1"/>
                  </a:solidFill>
                  <a:latin typeface="Arial" panose="020B0604020202020204" pitchFamily="34" charset="0"/>
                  <a:ea typeface="宋体" panose="02010600030101010101" pitchFamily="2" charset="-122"/>
                </a:defRPr>
              </a:lvl2pPr>
              <a:lvl3pPr marL="1143000" indent="-228600">
                <a:defRPr sz="1400" b="1">
                  <a:solidFill>
                    <a:schemeClr val="tx1"/>
                  </a:solidFill>
                  <a:latin typeface="Arial" panose="020B0604020202020204" pitchFamily="34" charset="0"/>
                  <a:ea typeface="宋体" panose="02010600030101010101" pitchFamily="2" charset="-122"/>
                </a:defRPr>
              </a:lvl3pPr>
              <a:lvl4pPr marL="1600200" indent="-228600">
                <a:defRPr sz="1400" b="1">
                  <a:solidFill>
                    <a:schemeClr val="tx1"/>
                  </a:solidFill>
                  <a:latin typeface="Arial" panose="020B0604020202020204" pitchFamily="34" charset="0"/>
                  <a:ea typeface="宋体" panose="02010600030101010101" pitchFamily="2" charset="-122"/>
                </a:defRPr>
              </a:lvl4pPr>
              <a:lvl5pPr marL="2057400" indent="-228600">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9pPr>
            </a:lstStyle>
            <a:p>
              <a:pPr algn="just" eaLnBrk="1" hangingPunct="1">
                <a:defRPr/>
              </a:pPr>
              <a:r>
                <a:rPr lang="zh-CN" altLang="en-US" sz="1595"/>
                <a:t>转换接头</a:t>
              </a:r>
              <a:endParaRPr lang="zh-CN" altLang="en-US" sz="1595" u="sng"/>
            </a:p>
          </p:txBody>
        </p:sp>
        <p:sp>
          <p:nvSpPr>
            <p:cNvPr id="11" name="Line 37"/>
            <p:cNvSpPr>
              <a:spLocks noChangeShapeType="1"/>
            </p:cNvSpPr>
            <p:nvPr/>
          </p:nvSpPr>
          <p:spPr bwMode="auto">
            <a:xfrm flipV="1">
              <a:off x="5961063" y="5170488"/>
              <a:ext cx="455612" cy="21272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sz="1595"/>
            </a:p>
          </p:txBody>
        </p:sp>
        <p:sp>
          <p:nvSpPr>
            <p:cNvPr id="12" name="Text Box 38"/>
            <p:cNvSpPr txBox="1">
              <a:spLocks noChangeArrowheads="1"/>
            </p:cNvSpPr>
            <p:nvPr/>
          </p:nvSpPr>
          <p:spPr bwMode="auto">
            <a:xfrm>
              <a:off x="6423025" y="4657725"/>
              <a:ext cx="1428750" cy="204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b="1">
                  <a:solidFill>
                    <a:schemeClr val="tx1"/>
                  </a:solidFill>
                  <a:latin typeface="Arial" panose="020B0604020202020204" pitchFamily="34" charset="0"/>
                  <a:ea typeface="宋体" panose="02010600030101010101" pitchFamily="2" charset="-122"/>
                </a:defRPr>
              </a:lvl1pPr>
              <a:lvl2pPr marL="742950" indent="-285750">
                <a:defRPr sz="1400" b="1">
                  <a:solidFill>
                    <a:schemeClr val="tx1"/>
                  </a:solidFill>
                  <a:latin typeface="Arial" panose="020B0604020202020204" pitchFamily="34" charset="0"/>
                  <a:ea typeface="宋体" panose="02010600030101010101" pitchFamily="2" charset="-122"/>
                </a:defRPr>
              </a:lvl2pPr>
              <a:lvl3pPr marL="1143000" indent="-228600">
                <a:defRPr sz="1400" b="1">
                  <a:solidFill>
                    <a:schemeClr val="tx1"/>
                  </a:solidFill>
                  <a:latin typeface="Arial" panose="020B0604020202020204" pitchFamily="34" charset="0"/>
                  <a:ea typeface="宋体" panose="02010600030101010101" pitchFamily="2" charset="-122"/>
                </a:defRPr>
              </a:lvl3pPr>
              <a:lvl4pPr marL="1600200" indent="-228600">
                <a:defRPr sz="1400" b="1">
                  <a:solidFill>
                    <a:schemeClr val="tx1"/>
                  </a:solidFill>
                  <a:latin typeface="Arial" panose="020B0604020202020204" pitchFamily="34" charset="0"/>
                  <a:ea typeface="宋体" panose="02010600030101010101" pitchFamily="2" charset="-122"/>
                </a:defRPr>
              </a:lvl4pPr>
              <a:lvl5pPr marL="2057400" indent="-228600">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9pPr>
            </a:lstStyle>
            <a:p>
              <a:pPr algn="just" eaLnBrk="1" hangingPunct="1">
                <a:defRPr/>
              </a:pPr>
              <a:r>
                <a:rPr lang="zh-CN" altLang="en-US" sz="1595"/>
                <a:t>下部内防喷器</a:t>
              </a:r>
              <a:endParaRPr lang="en-US" altLang="zh-CN" sz="1595" u="sng"/>
            </a:p>
          </p:txBody>
        </p:sp>
        <p:sp>
          <p:nvSpPr>
            <p:cNvPr id="13" name="Line 39"/>
            <p:cNvSpPr>
              <a:spLocks noChangeShapeType="1"/>
            </p:cNvSpPr>
            <p:nvPr/>
          </p:nvSpPr>
          <p:spPr bwMode="auto">
            <a:xfrm flipV="1">
              <a:off x="5961063" y="4752975"/>
              <a:ext cx="455612" cy="2143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sz="1595"/>
            </a:p>
          </p:txBody>
        </p:sp>
        <p:sp>
          <p:nvSpPr>
            <p:cNvPr id="14" name="Text Box 40"/>
            <p:cNvSpPr txBox="1">
              <a:spLocks noChangeArrowheads="1"/>
            </p:cNvSpPr>
            <p:nvPr/>
          </p:nvSpPr>
          <p:spPr bwMode="auto">
            <a:xfrm>
              <a:off x="6426200" y="4346575"/>
              <a:ext cx="1425575" cy="2079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b="1">
                  <a:solidFill>
                    <a:schemeClr val="tx1"/>
                  </a:solidFill>
                  <a:latin typeface="Arial" panose="020B0604020202020204" pitchFamily="34" charset="0"/>
                  <a:ea typeface="宋体" panose="02010600030101010101" pitchFamily="2" charset="-122"/>
                </a:defRPr>
              </a:lvl1pPr>
              <a:lvl2pPr marL="742950" indent="-285750">
                <a:defRPr sz="1400" b="1">
                  <a:solidFill>
                    <a:schemeClr val="tx1"/>
                  </a:solidFill>
                  <a:latin typeface="Arial" panose="020B0604020202020204" pitchFamily="34" charset="0"/>
                  <a:ea typeface="宋体" panose="02010600030101010101" pitchFamily="2" charset="-122"/>
                </a:defRPr>
              </a:lvl2pPr>
              <a:lvl3pPr marL="1143000" indent="-228600">
                <a:defRPr sz="1400" b="1">
                  <a:solidFill>
                    <a:schemeClr val="tx1"/>
                  </a:solidFill>
                  <a:latin typeface="Arial" panose="020B0604020202020204" pitchFamily="34" charset="0"/>
                  <a:ea typeface="宋体" panose="02010600030101010101" pitchFamily="2" charset="-122"/>
                </a:defRPr>
              </a:lvl3pPr>
              <a:lvl4pPr marL="1600200" indent="-228600">
                <a:defRPr sz="1400" b="1">
                  <a:solidFill>
                    <a:schemeClr val="tx1"/>
                  </a:solidFill>
                  <a:latin typeface="Arial" panose="020B0604020202020204" pitchFamily="34" charset="0"/>
                  <a:ea typeface="宋体" panose="02010600030101010101" pitchFamily="2" charset="-122"/>
                </a:defRPr>
              </a:lvl4pPr>
              <a:lvl5pPr marL="2057400" indent="-228600">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9pPr>
            </a:lstStyle>
            <a:p>
              <a:pPr algn="just" eaLnBrk="1" hangingPunct="1">
                <a:defRPr/>
              </a:pPr>
              <a:r>
                <a:rPr lang="zh-CN" altLang="en-US" sz="1595"/>
                <a:t>上部内防喷器</a:t>
              </a:r>
              <a:endParaRPr lang="zh-CN" altLang="en-US" sz="1595" u="sng"/>
            </a:p>
          </p:txBody>
        </p:sp>
        <p:sp>
          <p:nvSpPr>
            <p:cNvPr id="15" name="Line 41"/>
            <p:cNvSpPr>
              <a:spLocks noChangeShapeType="1"/>
            </p:cNvSpPr>
            <p:nvPr/>
          </p:nvSpPr>
          <p:spPr bwMode="auto">
            <a:xfrm flipV="1">
              <a:off x="5961063" y="4440238"/>
              <a:ext cx="455612" cy="2159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sz="1595"/>
            </a:p>
          </p:txBody>
        </p:sp>
        <p:sp>
          <p:nvSpPr>
            <p:cNvPr id="16" name="Text Box 42"/>
            <p:cNvSpPr txBox="1">
              <a:spLocks noChangeArrowheads="1"/>
            </p:cNvSpPr>
            <p:nvPr/>
          </p:nvSpPr>
          <p:spPr bwMode="auto">
            <a:xfrm>
              <a:off x="6815138" y="1265238"/>
              <a:ext cx="989012" cy="206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b="1">
                  <a:solidFill>
                    <a:schemeClr val="tx1"/>
                  </a:solidFill>
                  <a:latin typeface="Arial" panose="020B0604020202020204" pitchFamily="34" charset="0"/>
                  <a:ea typeface="宋体" panose="02010600030101010101" pitchFamily="2" charset="-122"/>
                </a:defRPr>
              </a:lvl1pPr>
              <a:lvl2pPr marL="742950" indent="-285750">
                <a:defRPr sz="1400" b="1">
                  <a:solidFill>
                    <a:schemeClr val="tx1"/>
                  </a:solidFill>
                  <a:latin typeface="Arial" panose="020B0604020202020204" pitchFamily="34" charset="0"/>
                  <a:ea typeface="宋体" panose="02010600030101010101" pitchFamily="2" charset="-122"/>
                </a:defRPr>
              </a:lvl2pPr>
              <a:lvl3pPr marL="1143000" indent="-228600">
                <a:defRPr sz="1400" b="1">
                  <a:solidFill>
                    <a:schemeClr val="tx1"/>
                  </a:solidFill>
                  <a:latin typeface="Arial" panose="020B0604020202020204" pitchFamily="34" charset="0"/>
                  <a:ea typeface="宋体" panose="02010600030101010101" pitchFamily="2" charset="-122"/>
                </a:defRPr>
              </a:lvl3pPr>
              <a:lvl4pPr marL="1600200" indent="-228600">
                <a:defRPr sz="1400" b="1">
                  <a:solidFill>
                    <a:schemeClr val="tx1"/>
                  </a:solidFill>
                  <a:latin typeface="Arial" panose="020B0604020202020204" pitchFamily="34" charset="0"/>
                  <a:ea typeface="宋体" panose="02010600030101010101" pitchFamily="2" charset="-122"/>
                </a:defRPr>
              </a:lvl4pPr>
              <a:lvl5pPr marL="2057400" indent="-228600">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9pPr>
            </a:lstStyle>
            <a:p>
              <a:pPr algn="just" eaLnBrk="1" hangingPunct="1">
                <a:defRPr/>
              </a:pPr>
              <a:r>
                <a:rPr lang="zh-CN" altLang="en-US" sz="1595"/>
                <a:t>鹅颈管</a:t>
              </a:r>
              <a:endParaRPr lang="zh-CN" altLang="en-US" sz="1595" u="sng"/>
            </a:p>
          </p:txBody>
        </p:sp>
        <p:sp>
          <p:nvSpPr>
            <p:cNvPr id="17" name="Line 43"/>
            <p:cNvSpPr>
              <a:spLocks noChangeShapeType="1"/>
            </p:cNvSpPr>
            <p:nvPr/>
          </p:nvSpPr>
          <p:spPr bwMode="auto">
            <a:xfrm flipV="1">
              <a:off x="6267450" y="1458913"/>
              <a:ext cx="520700" cy="1841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sz="1595"/>
            </a:p>
          </p:txBody>
        </p:sp>
        <p:sp>
          <p:nvSpPr>
            <p:cNvPr id="18" name="Text Box 44"/>
            <p:cNvSpPr txBox="1">
              <a:spLocks noChangeArrowheads="1"/>
            </p:cNvSpPr>
            <p:nvPr/>
          </p:nvSpPr>
          <p:spPr bwMode="auto">
            <a:xfrm>
              <a:off x="6862763" y="1768475"/>
              <a:ext cx="989012" cy="206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b="1">
                  <a:solidFill>
                    <a:schemeClr val="tx1"/>
                  </a:solidFill>
                  <a:latin typeface="Arial" panose="020B0604020202020204" pitchFamily="34" charset="0"/>
                  <a:ea typeface="宋体" panose="02010600030101010101" pitchFamily="2" charset="-122"/>
                </a:defRPr>
              </a:lvl1pPr>
              <a:lvl2pPr marL="742950" indent="-285750">
                <a:defRPr sz="1400" b="1">
                  <a:solidFill>
                    <a:schemeClr val="tx1"/>
                  </a:solidFill>
                  <a:latin typeface="Arial" panose="020B0604020202020204" pitchFamily="34" charset="0"/>
                  <a:ea typeface="宋体" panose="02010600030101010101" pitchFamily="2" charset="-122"/>
                </a:defRPr>
              </a:lvl2pPr>
              <a:lvl3pPr marL="1143000" indent="-228600">
                <a:defRPr sz="1400" b="1">
                  <a:solidFill>
                    <a:schemeClr val="tx1"/>
                  </a:solidFill>
                  <a:latin typeface="Arial" panose="020B0604020202020204" pitchFamily="34" charset="0"/>
                  <a:ea typeface="宋体" panose="02010600030101010101" pitchFamily="2" charset="-122"/>
                </a:defRPr>
              </a:lvl3pPr>
              <a:lvl4pPr marL="1600200" indent="-228600">
                <a:defRPr sz="1400" b="1">
                  <a:solidFill>
                    <a:schemeClr val="tx1"/>
                  </a:solidFill>
                  <a:latin typeface="Arial" panose="020B0604020202020204" pitchFamily="34" charset="0"/>
                  <a:ea typeface="宋体" panose="02010600030101010101" pitchFamily="2" charset="-122"/>
                </a:defRPr>
              </a:lvl4pPr>
              <a:lvl5pPr marL="2057400" indent="-228600">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9pPr>
            </a:lstStyle>
            <a:p>
              <a:pPr algn="just" eaLnBrk="1" hangingPunct="1">
                <a:defRPr/>
              </a:pPr>
              <a:r>
                <a:rPr lang="en-US" altLang="zh-CN" sz="1595"/>
                <a:t>S</a:t>
              </a:r>
              <a:r>
                <a:rPr lang="zh-CN" altLang="en-US" sz="1595"/>
                <a:t>管</a:t>
              </a:r>
              <a:endParaRPr lang="zh-CN" altLang="en-US" sz="1595" u="sng"/>
            </a:p>
          </p:txBody>
        </p:sp>
        <p:sp>
          <p:nvSpPr>
            <p:cNvPr id="19" name="Line 45"/>
            <p:cNvSpPr>
              <a:spLocks noChangeShapeType="1"/>
            </p:cNvSpPr>
            <p:nvPr/>
          </p:nvSpPr>
          <p:spPr bwMode="auto">
            <a:xfrm flipV="1">
              <a:off x="6483350" y="1865313"/>
              <a:ext cx="303213" cy="2159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sz="1595"/>
            </a:p>
          </p:txBody>
        </p:sp>
        <p:sp>
          <p:nvSpPr>
            <p:cNvPr id="20" name="Text Box 46"/>
            <p:cNvSpPr txBox="1">
              <a:spLocks noChangeArrowheads="1"/>
            </p:cNvSpPr>
            <p:nvPr/>
          </p:nvSpPr>
          <p:spPr bwMode="auto">
            <a:xfrm>
              <a:off x="7516813" y="3421063"/>
              <a:ext cx="831850" cy="1984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b="1">
                  <a:solidFill>
                    <a:schemeClr val="tx1"/>
                  </a:solidFill>
                  <a:latin typeface="Arial" panose="020B0604020202020204" pitchFamily="34" charset="0"/>
                  <a:ea typeface="宋体" panose="02010600030101010101" pitchFamily="2" charset="-122"/>
                </a:defRPr>
              </a:lvl1pPr>
              <a:lvl2pPr marL="742950" indent="-285750">
                <a:defRPr sz="1400" b="1">
                  <a:solidFill>
                    <a:schemeClr val="tx1"/>
                  </a:solidFill>
                  <a:latin typeface="Arial" panose="020B0604020202020204" pitchFamily="34" charset="0"/>
                  <a:ea typeface="宋体" panose="02010600030101010101" pitchFamily="2" charset="-122"/>
                </a:defRPr>
              </a:lvl2pPr>
              <a:lvl3pPr marL="1143000" indent="-228600">
                <a:defRPr sz="1400" b="1">
                  <a:solidFill>
                    <a:schemeClr val="tx1"/>
                  </a:solidFill>
                  <a:latin typeface="Arial" panose="020B0604020202020204" pitchFamily="34" charset="0"/>
                  <a:ea typeface="宋体" panose="02010600030101010101" pitchFamily="2" charset="-122"/>
                </a:defRPr>
              </a:lvl3pPr>
              <a:lvl4pPr marL="1600200" indent="-228600">
                <a:defRPr sz="1400" b="1">
                  <a:solidFill>
                    <a:schemeClr val="tx1"/>
                  </a:solidFill>
                  <a:latin typeface="Arial" panose="020B0604020202020204" pitchFamily="34" charset="0"/>
                  <a:ea typeface="宋体" panose="02010600030101010101" pitchFamily="2" charset="-122"/>
                </a:defRPr>
              </a:lvl4pPr>
              <a:lvl5pPr marL="2057400" indent="-228600">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9pPr>
            </a:lstStyle>
            <a:p>
              <a:pPr algn="just" eaLnBrk="1" hangingPunct="1">
                <a:defRPr/>
              </a:pPr>
              <a:r>
                <a:rPr lang="zh-CN" altLang="en-US" sz="1595"/>
                <a:t>水龙带</a:t>
              </a:r>
              <a:endParaRPr lang="zh-CN" altLang="en-US" sz="1595" u="sng"/>
            </a:p>
          </p:txBody>
        </p:sp>
        <p:sp>
          <p:nvSpPr>
            <p:cNvPr id="21" name="Line 47"/>
            <p:cNvSpPr>
              <a:spLocks noChangeShapeType="1"/>
            </p:cNvSpPr>
            <p:nvPr/>
          </p:nvSpPr>
          <p:spPr bwMode="auto">
            <a:xfrm flipV="1">
              <a:off x="7167563" y="3622675"/>
              <a:ext cx="303212" cy="2174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sz="1595"/>
            </a:p>
          </p:txBody>
        </p:sp>
        <p:sp>
          <p:nvSpPr>
            <p:cNvPr id="22" name="Line 48"/>
            <p:cNvSpPr>
              <a:spLocks noChangeShapeType="1"/>
            </p:cNvSpPr>
            <p:nvPr/>
          </p:nvSpPr>
          <p:spPr bwMode="auto">
            <a:xfrm flipH="1" flipV="1">
              <a:off x="5267325" y="1668463"/>
              <a:ext cx="684213" cy="412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sz="1595"/>
            </a:p>
          </p:txBody>
        </p:sp>
        <p:sp>
          <p:nvSpPr>
            <p:cNvPr id="23" name="Text Box 49"/>
            <p:cNvSpPr txBox="1">
              <a:spLocks noChangeArrowheads="1"/>
            </p:cNvSpPr>
            <p:nvPr/>
          </p:nvSpPr>
          <p:spPr bwMode="auto">
            <a:xfrm>
              <a:off x="4835525" y="2493963"/>
              <a:ext cx="455613" cy="2079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b="1">
                  <a:solidFill>
                    <a:schemeClr val="tx1"/>
                  </a:solidFill>
                  <a:latin typeface="Arial" panose="020B0604020202020204" pitchFamily="34" charset="0"/>
                  <a:ea typeface="宋体" panose="02010600030101010101" pitchFamily="2" charset="-122"/>
                </a:defRPr>
              </a:lvl1pPr>
              <a:lvl2pPr marL="742950" indent="-285750">
                <a:defRPr sz="1400" b="1">
                  <a:solidFill>
                    <a:schemeClr val="tx1"/>
                  </a:solidFill>
                  <a:latin typeface="Arial" panose="020B0604020202020204" pitchFamily="34" charset="0"/>
                  <a:ea typeface="宋体" panose="02010600030101010101" pitchFamily="2" charset="-122"/>
                </a:defRPr>
              </a:lvl2pPr>
              <a:lvl3pPr marL="1143000" indent="-228600">
                <a:defRPr sz="1400" b="1">
                  <a:solidFill>
                    <a:schemeClr val="tx1"/>
                  </a:solidFill>
                  <a:latin typeface="Arial" panose="020B0604020202020204" pitchFamily="34" charset="0"/>
                  <a:ea typeface="宋体" panose="02010600030101010101" pitchFamily="2" charset="-122"/>
                </a:defRPr>
              </a:lvl3pPr>
              <a:lvl4pPr marL="1600200" indent="-228600">
                <a:defRPr sz="1400" b="1">
                  <a:solidFill>
                    <a:schemeClr val="tx1"/>
                  </a:solidFill>
                  <a:latin typeface="Arial" panose="020B0604020202020204" pitchFamily="34" charset="0"/>
                  <a:ea typeface="宋体" panose="02010600030101010101" pitchFamily="2" charset="-122"/>
                </a:defRPr>
              </a:lvl4pPr>
              <a:lvl5pPr marL="2057400" indent="-228600">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宋体" panose="02010600030101010101" pitchFamily="2" charset="-122"/>
                </a:defRPr>
              </a:lvl9pPr>
            </a:lstStyle>
            <a:p>
              <a:pPr algn="just" eaLnBrk="1" hangingPunct="1">
                <a:defRPr/>
              </a:pPr>
              <a:r>
                <a:rPr lang="zh-CN" altLang="en-US" sz="1595"/>
                <a:t>主轴</a:t>
              </a:r>
              <a:endParaRPr lang="zh-CN" altLang="en-US" sz="1595" u="sng"/>
            </a:p>
          </p:txBody>
        </p:sp>
        <p:sp>
          <p:nvSpPr>
            <p:cNvPr id="24" name="Line 50"/>
            <p:cNvSpPr>
              <a:spLocks noChangeShapeType="1"/>
            </p:cNvSpPr>
            <p:nvPr/>
          </p:nvSpPr>
          <p:spPr bwMode="auto">
            <a:xfrm flipH="1" flipV="1">
              <a:off x="5267325" y="2698750"/>
              <a:ext cx="684213" cy="412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sz="1595"/>
            </a:p>
          </p:txBody>
        </p:sp>
      </p:grpSp>
      <p:sp>
        <p:nvSpPr>
          <p:cNvPr id="26" name="内容占位符 2"/>
          <p:cNvSpPr txBox="1"/>
          <p:nvPr/>
        </p:nvSpPr>
        <p:spPr bwMode="auto">
          <a:xfrm>
            <a:off x="424180" y="4036695"/>
            <a:ext cx="3273425" cy="1414145"/>
          </a:xfrm>
          <a:prstGeom prst="rect">
            <a:avLst/>
          </a:prstGeom>
          <a:noFill/>
          <a:ln w="9525">
            <a:noFill/>
            <a:miter lim="800000"/>
          </a:ln>
        </p:spPr>
        <p:txBody>
          <a:bodyPr/>
          <a:lstStyle/>
          <a:p>
            <a:pPr marL="0" lvl="8">
              <a:lnSpc>
                <a:spcPct val="130000"/>
              </a:lnSpc>
              <a:buClr>
                <a:srgbClr val="0070C0"/>
              </a:buClr>
              <a:buSzPct val="120000"/>
              <a:defRPr/>
            </a:pPr>
            <a:r>
              <a:rPr lang="zh-CN" altLang="en-US" sz="2400" dirty="0">
                <a:ea typeface="楷体" panose="02010609060101010101" pitchFamily="49" charset="-122"/>
              </a:rPr>
              <a:t>       </a:t>
            </a:r>
            <a:r>
              <a:rPr lang="zh-CN" altLang="en-US" sz="2000" dirty="0">
                <a:latin typeface="黑体" panose="02010609060101010101" pitchFamily="49" charset="-122"/>
                <a:ea typeface="黑体" panose="02010609060101010101" pitchFamily="49" charset="-122"/>
              </a:rPr>
              <a:t>在整个通道中，冲管盘根总成和水龙带的承压能力限制了整体的承压能力</a:t>
            </a:r>
            <a:r>
              <a:rPr lang="zh-CN" altLang="en-US" sz="2400" dirty="0">
                <a:ea typeface="楷体" panose="02010609060101010101" pitchFamily="49" charset="-122"/>
              </a:rPr>
              <a:t>。</a:t>
            </a:r>
            <a:endParaRPr lang="en-US" altLang="zh-CN" sz="2400" dirty="0">
              <a:ea typeface="楷体" panose="02010609060101010101" pitchFamily="49" charset="-122"/>
            </a:endParaRPr>
          </a:p>
          <a:p>
            <a:pPr marL="0" lvl="8" eaLnBrk="0" hangingPunct="0">
              <a:lnSpc>
                <a:spcPct val="120000"/>
              </a:lnSpc>
              <a:spcBef>
                <a:spcPts val="800"/>
              </a:spcBef>
              <a:spcAft>
                <a:spcPts val="800"/>
              </a:spcAft>
              <a:buClr>
                <a:srgbClr val="0070C0"/>
              </a:buClr>
              <a:buSzPct val="120000"/>
              <a:defRPr/>
            </a:pPr>
            <a:endParaRPr lang="zh-CN" altLang="en-US" sz="2400" dirty="0">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导轨与滑车</a:t>
            </a:r>
          </a:p>
        </p:txBody>
      </p:sp>
      <p:sp>
        <p:nvSpPr>
          <p:cNvPr id="20483" name="Rectangle 3"/>
          <p:cNvSpPr>
            <a:spLocks noGrp="1"/>
          </p:cNvSpPr>
          <p:nvPr>
            <p:ph type="body" idx="4294967295"/>
          </p:nvPr>
        </p:nvSpPr>
        <p:spPr>
          <a:xfrm>
            <a:off x="467038" y="1907848"/>
            <a:ext cx="4496866" cy="2828925"/>
          </a:xfrm>
          <a:prstGeom prst="rect">
            <a:avLst/>
          </a:prstGeom>
          <a:noFill/>
          <a:ln w="9525">
            <a:noFill/>
          </a:ln>
        </p:spPr>
        <p:txBody>
          <a:bodyPr/>
          <a:lstStyle/>
          <a:p>
            <a:pPr marL="0" indent="0" algn="just" latinLnBrk="0">
              <a:lnSpc>
                <a:spcPct val="130000"/>
              </a:lnSpc>
              <a:spcBef>
                <a:spcPts val="0"/>
              </a:spcBef>
              <a:buFont typeface="Wingdings" panose="05000000000000000000" pitchFamily="2" charset="2"/>
              <a:buNone/>
            </a:pPr>
            <a:r>
              <a:rPr lang="zh-CN" altLang="en-US" b="1" dirty="0">
                <a:ea typeface="楷体" panose="02010609060101010101" pitchFamily="49" charset="-122"/>
              </a:rPr>
              <a:t>       </a:t>
            </a:r>
            <a:r>
              <a:rPr lang="zh-CN" altLang="en-US" sz="2800" dirty="0">
                <a:latin typeface="黑体" panose="02010609060101010101" pitchFamily="49" charset="-122"/>
                <a:ea typeface="黑体" panose="02010609060101010101" pitchFamily="49" charset="-122"/>
              </a:rPr>
              <a:t>导轨与滑车的主要功能是使顶驱装置在钻机井架内上下移动，在钻井作业中保持其相对于井架正确位置，并承受反扭矩。</a:t>
            </a:r>
          </a:p>
        </p:txBody>
      </p:sp>
      <p:sp>
        <p:nvSpPr>
          <p:cNvPr id="20484" name="Rectangle 4"/>
          <p:cNvSpPr/>
          <p:nvPr/>
        </p:nvSpPr>
        <p:spPr>
          <a:xfrm>
            <a:off x="6680200" y="3786188"/>
            <a:ext cx="184150" cy="338137"/>
          </a:xfrm>
          <a:prstGeom prst="rect">
            <a:avLst/>
          </a:prstGeom>
          <a:noFill/>
          <a:ln w="9525">
            <a:noFill/>
          </a:ln>
        </p:spPr>
        <p:txBody>
          <a:bodyPr wrap="none" anchor="ctr" anchorCtr="0">
            <a:spAutoFit/>
          </a:bodyPr>
          <a:lstStyle/>
          <a:p>
            <a:endParaRPr lang="zh-CN" altLang="en-US" u="sng" dirty="0">
              <a:latin typeface="Arial" panose="020B0604020202020204" pitchFamily="34" charset="0"/>
            </a:endParaRPr>
          </a:p>
        </p:txBody>
      </p:sp>
      <p:pic>
        <p:nvPicPr>
          <p:cNvPr id="5" name="Picture 2" descr="单导轨总成"/>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4388" y="1385888"/>
            <a:ext cx="571500" cy="491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单销导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163" y="1193800"/>
            <a:ext cx="828675" cy="304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descr="滑车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6425" y="4249738"/>
            <a:ext cx="827088"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7577138" y="2967038"/>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7" name="Rectangle 7"/>
          <p:cNvSpPr>
            <a:spLocks noChangeArrowheads="1"/>
          </p:cNvSpPr>
          <p:nvPr/>
        </p:nvSpPr>
        <p:spPr bwMode="auto">
          <a:xfrm>
            <a:off x="7202488" y="346075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8" name="Rectangle 8"/>
          <p:cNvSpPr>
            <a:spLocks noChangeArrowheads="1"/>
          </p:cNvSpPr>
          <p:nvPr/>
        </p:nvSpPr>
        <p:spPr bwMode="auto">
          <a:xfrm>
            <a:off x="7212013" y="3236913"/>
            <a:ext cx="184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89" name="Rectangle 9"/>
          <p:cNvSpPr>
            <a:spLocks noChangeArrowheads="1"/>
          </p:cNvSpPr>
          <p:nvPr/>
        </p:nvSpPr>
        <p:spPr bwMode="auto">
          <a:xfrm>
            <a:off x="6838950" y="3516313"/>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0" name="Rectangle 10"/>
          <p:cNvSpPr>
            <a:spLocks noChangeArrowheads="1"/>
          </p:cNvSpPr>
          <p:nvPr/>
        </p:nvSpPr>
        <p:spPr bwMode="auto">
          <a:xfrm>
            <a:off x="6400800" y="2901950"/>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1" name="Rectangle 11"/>
          <p:cNvSpPr>
            <a:spLocks noChangeArrowheads="1"/>
          </p:cNvSpPr>
          <p:nvPr/>
        </p:nvSpPr>
        <p:spPr bwMode="auto">
          <a:xfrm>
            <a:off x="7110413" y="3190875"/>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97292" name="Rectangle 14"/>
          <p:cNvSpPr>
            <a:spLocks noChangeArrowheads="1"/>
          </p:cNvSpPr>
          <p:nvPr/>
        </p:nvSpPr>
        <p:spPr bwMode="auto">
          <a:xfrm>
            <a:off x="6764338" y="33401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b="1">
                <a:solidFill>
                  <a:schemeClr val="tx1"/>
                </a:solidFill>
                <a:latin typeface="Arial" panose="020B0604020202020204" pitchFamily="34" charset="0"/>
                <a:ea typeface="宋体" panose="02010600030101010101" pitchFamily="2" charset="-122"/>
              </a:defRPr>
            </a:lvl1pPr>
            <a:lvl2pPr marL="742950" indent="-285750">
              <a:defRPr sz="1600" b="1">
                <a:solidFill>
                  <a:schemeClr val="tx1"/>
                </a:solidFill>
                <a:latin typeface="Arial" panose="020B0604020202020204" pitchFamily="34" charset="0"/>
                <a:ea typeface="宋体" panose="02010600030101010101" pitchFamily="2" charset="-122"/>
              </a:defRPr>
            </a:lvl2pPr>
            <a:lvl3pPr marL="1143000" indent="-228600">
              <a:defRPr sz="1600" b="1">
                <a:solidFill>
                  <a:schemeClr val="tx1"/>
                </a:solidFill>
                <a:latin typeface="Arial" panose="020B0604020202020204" pitchFamily="34" charset="0"/>
                <a:ea typeface="宋体" panose="02010600030101010101" pitchFamily="2" charset="-122"/>
              </a:defRPr>
            </a:lvl3pPr>
            <a:lvl4pPr marL="1600200" indent="-228600">
              <a:defRPr sz="1600" b="1">
                <a:solidFill>
                  <a:schemeClr val="tx1"/>
                </a:solidFill>
                <a:latin typeface="Arial" panose="020B0604020202020204" pitchFamily="34" charset="0"/>
                <a:ea typeface="宋体" panose="02010600030101010101" pitchFamily="2" charset="-122"/>
              </a:defRPr>
            </a:lvl4pPr>
            <a:lvl5pPr marL="2057400" indent="-228600">
              <a:defRPr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宋体" panose="02010600030101010101" pitchFamily="2" charset="-122"/>
              </a:defRPr>
            </a:lvl9pPr>
          </a:lstStyle>
          <a:p>
            <a:pPr eaLnBrk="1" hangingPunct="1"/>
            <a:endParaRPr lang="zh-CN" altLang="en-US" u="sng"/>
          </a:p>
        </p:txBody>
      </p:sp>
      <p:sp>
        <p:nvSpPr>
          <p:cNvPr id="3" name="文本框 2"/>
          <p:cNvSpPr txBox="1"/>
          <p:nvPr/>
        </p:nvSpPr>
        <p:spPr>
          <a:xfrm>
            <a:off x="2995930" y="163830"/>
            <a:ext cx="3152140" cy="583565"/>
          </a:xfrm>
          <a:prstGeom prst="rect">
            <a:avLst/>
          </a:prstGeom>
          <a:noFill/>
        </p:spPr>
        <p:txBody>
          <a:bodyPr wrap="square" rtlCol="0">
            <a:spAutoFit/>
          </a:bodyPr>
          <a:lstStyle/>
          <a:p>
            <a:pPr algn="dist"/>
            <a:r>
              <a:rPr lang="zh-CN" altLang="en-US" sz="3200" b="1">
                <a:solidFill>
                  <a:schemeClr val="bg1"/>
                </a:solidFill>
                <a:latin typeface="微软雅黑" panose="020B0503020204020204" pitchFamily="34" charset="-122"/>
                <a:ea typeface="微软雅黑" panose="020B0503020204020204" pitchFamily="34" charset="-122"/>
              </a:rPr>
              <a:t>机械结构特色</a:t>
            </a:r>
          </a:p>
        </p:txBody>
      </p:sp>
      <p:sp>
        <p:nvSpPr>
          <p:cNvPr id="55299" name="Rectangle 3"/>
          <p:cNvSpPr>
            <a:spLocks noGrp="1" noChangeArrowheads="1"/>
          </p:cNvSpPr>
          <p:nvPr>
            <p:ph type="body" idx="4294967295"/>
          </p:nvPr>
        </p:nvSpPr>
        <p:spPr bwMode="auto">
          <a:xfrm>
            <a:off x="107505" y="1231780"/>
            <a:ext cx="6696744" cy="247626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latinLnBrk="0">
              <a:lnSpc>
                <a:spcPct val="130000"/>
              </a:lnSpc>
              <a:spcBef>
                <a:spcPct val="0"/>
              </a:spcBef>
              <a:spcAft>
                <a:spcPts val="800"/>
              </a:spcAft>
              <a:buFont typeface="Wingdings" panose="05000000000000000000" pitchFamily="2" charset="2"/>
              <a:buNone/>
            </a:pPr>
            <a:r>
              <a:rPr lang="zh-CN" altLang="en-US" sz="2400" b="1" dirty="0">
                <a:latin typeface="楷体" panose="02010609060101010101" pitchFamily="49" charset="-122"/>
                <a:ea typeface="楷体" panose="02010609060101010101" pitchFamily="49" charset="-122"/>
              </a:rPr>
              <a:t>  </a:t>
            </a:r>
            <a:r>
              <a:rPr lang="zh-CN" altLang="en-US" sz="2800" b="1">
                <a:latin typeface="黑体" panose="02010609060101010101" pitchFamily="49" charset="-122"/>
                <a:ea typeface="黑体" panose="02010609060101010101" pitchFamily="49" charset="-122"/>
              </a:rPr>
              <a:t>双负荷通道的提升系统</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a:p>
            <a:pPr marL="0" indent="0">
              <a:lnSpc>
                <a:spcPct val="130000"/>
              </a:lnSpc>
              <a:spcBef>
                <a:spcPct val="0"/>
              </a:spcBef>
              <a:buFont typeface="Wingdings" panose="05000000000000000000" pitchFamily="2" charset="2"/>
              <a:buNone/>
            </a:pPr>
            <a:r>
              <a:rPr lang="zh-CN" altLang="en-US" sz="2400" dirty="0">
                <a:latin typeface="黑体" panose="02010609060101010101" pitchFamily="49" charset="-122"/>
                <a:ea typeface="黑体" panose="02010609060101010101" pitchFamily="49" charset="-122"/>
                <a:cs typeface="黑体" panose="02010609060101010101" pitchFamily="49" charset="-122"/>
              </a:rPr>
              <a:t>  即正常钻井时</a:t>
            </a:r>
            <a:r>
              <a:rPr lang="en-US" altLang="zh-CN" sz="2400" dirty="0">
                <a:latin typeface="黑体" panose="02010609060101010101" pitchFamily="49" charset="-122"/>
                <a:ea typeface="黑体" panose="02010609060101010101" pitchFamily="49" charset="-122"/>
                <a:cs typeface="黑体" panose="02010609060101010101" pitchFamily="49" charset="-122"/>
              </a:rPr>
              <a:t>——</a:t>
            </a:r>
            <a:r>
              <a:rPr lang="zh-CN" altLang="en-US" sz="2400" dirty="0">
                <a:latin typeface="黑体" panose="02010609060101010101" pitchFamily="49" charset="-122"/>
                <a:ea typeface="黑体" panose="02010609060101010101" pitchFamily="49" charset="-122"/>
                <a:cs typeface="黑体" panose="02010609060101010101" pitchFamily="49" charset="-122"/>
              </a:rPr>
              <a:t>主轴</a:t>
            </a:r>
            <a:r>
              <a:rPr lang="en-US" altLang="zh-CN" sz="2400" dirty="0">
                <a:latin typeface="黑体" panose="02010609060101010101" pitchFamily="49" charset="-122"/>
                <a:ea typeface="黑体" panose="02010609060101010101" pitchFamily="49" charset="-122"/>
                <a:cs typeface="黑体" panose="02010609060101010101" pitchFamily="49" charset="-122"/>
              </a:rPr>
              <a:t>——</a:t>
            </a:r>
            <a:r>
              <a:rPr lang="zh-CN" altLang="en-US" sz="2400" dirty="0">
                <a:latin typeface="黑体" panose="02010609060101010101" pitchFamily="49" charset="-122"/>
                <a:ea typeface="黑体" panose="02010609060101010101" pitchFamily="49" charset="-122"/>
                <a:cs typeface="黑体" panose="02010609060101010101" pitchFamily="49" charset="-122"/>
              </a:rPr>
              <a:t>减速箱内主轴承</a:t>
            </a:r>
          </a:p>
          <a:p>
            <a:pPr marL="0" indent="0">
              <a:lnSpc>
                <a:spcPct val="130000"/>
              </a:lnSpc>
              <a:spcBef>
                <a:spcPct val="0"/>
              </a:spcBef>
              <a:buFont typeface="Wingdings" panose="05000000000000000000" pitchFamily="2" charset="2"/>
              <a:buNone/>
            </a:pPr>
            <a:r>
              <a:rPr lang="zh-CN" altLang="en-US" sz="2400" dirty="0">
                <a:latin typeface="黑体" panose="02010609060101010101" pitchFamily="49" charset="-122"/>
                <a:ea typeface="黑体" panose="02010609060101010101" pitchFamily="49" charset="-122"/>
                <a:cs typeface="黑体" panose="02010609060101010101" pitchFamily="49" charset="-122"/>
              </a:rPr>
              <a:t>  起下钻或下套管</a:t>
            </a:r>
            <a:r>
              <a:rPr lang="en-US" altLang="zh-CN" sz="2400" dirty="0">
                <a:latin typeface="黑体" panose="02010609060101010101" pitchFamily="49" charset="-122"/>
                <a:ea typeface="黑体" panose="02010609060101010101" pitchFamily="49" charset="-122"/>
                <a:cs typeface="黑体" panose="02010609060101010101" pitchFamily="49" charset="-122"/>
              </a:rPr>
              <a:t>——</a:t>
            </a:r>
            <a:r>
              <a:rPr lang="zh-CN" altLang="en-US" sz="2400" dirty="0">
                <a:latin typeface="黑体" panose="02010609060101010101" pitchFamily="49" charset="-122"/>
                <a:ea typeface="黑体" panose="02010609060101010101" pitchFamily="49" charset="-122"/>
                <a:cs typeface="黑体" panose="02010609060101010101" pitchFamily="49" charset="-122"/>
              </a:rPr>
              <a:t>吊环</a:t>
            </a:r>
            <a:r>
              <a:rPr lang="en-US" altLang="zh-CN" sz="2400" dirty="0">
                <a:latin typeface="黑体" panose="02010609060101010101" pitchFamily="49" charset="-122"/>
                <a:ea typeface="黑体" panose="02010609060101010101" pitchFamily="49" charset="-122"/>
                <a:cs typeface="黑体" panose="02010609060101010101" pitchFamily="49" charset="-122"/>
              </a:rPr>
              <a:t>——</a:t>
            </a:r>
            <a:r>
              <a:rPr lang="zh-CN" altLang="en-US" sz="2400" dirty="0">
                <a:latin typeface="黑体" panose="02010609060101010101" pitchFamily="49" charset="-122"/>
                <a:ea typeface="黑体" panose="02010609060101010101" pitchFamily="49" charset="-122"/>
                <a:cs typeface="黑体" panose="02010609060101010101" pitchFamily="49" charset="-122"/>
              </a:rPr>
              <a:t>旋转头止推轴承</a:t>
            </a:r>
          </a:p>
          <a:p>
            <a:pPr marL="0" indent="0">
              <a:lnSpc>
                <a:spcPct val="130000"/>
              </a:lnSpc>
              <a:spcBef>
                <a:spcPct val="0"/>
              </a:spcBef>
              <a:buFont typeface="Wingdings" panose="05000000000000000000" pitchFamily="2" charset="2"/>
              <a:buNone/>
            </a:pPr>
            <a:r>
              <a:rPr lang="zh-CN" altLang="en-US" sz="2400" dirty="0">
                <a:latin typeface="黑体" panose="02010609060101010101" pitchFamily="49" charset="-122"/>
                <a:ea typeface="黑体" panose="02010609060101010101" pitchFamily="49" charset="-122"/>
                <a:cs typeface="黑体" panose="02010609060101010101" pitchFamily="49" charset="-122"/>
              </a:rPr>
              <a:t>  因此能够有效延长主轴承的使用寿命。 </a:t>
            </a:r>
          </a:p>
        </p:txBody>
      </p:sp>
      <p:pic>
        <p:nvPicPr>
          <p:cNvPr id="55300" name="Picture 1" descr="D:\015 产品宣传\03 三维图片\顶驱装置部件三维\双负荷通道09-11-05\双复合通道——上部.jpg">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22414" y="1189038"/>
            <a:ext cx="836612"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Picture 2" descr="D:\015 产品宣传\03 三维图片\顶驱装置部件三维\双负荷通道09-11-05\双复合通道——下部.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38454" y="1187450"/>
            <a:ext cx="839788"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p:cNvPicPr>
            <a:picLocks noChangeAspect="1"/>
          </p:cNvPicPr>
          <p:nvPr/>
        </p:nvPicPr>
        <p:blipFill>
          <a:blip r:embed="rId5" cstate="print"/>
          <a:stretch>
            <a:fillRect/>
          </a:stretch>
        </p:blipFill>
        <p:spPr>
          <a:xfrm>
            <a:off x="4572000" y="3996333"/>
            <a:ext cx="3840761" cy="2160000"/>
          </a:xfrm>
          <a:prstGeom prst="rect">
            <a:avLst/>
          </a:prstGeom>
          <a:ln>
            <a:noFill/>
          </a:ln>
          <a:effectLst>
            <a:softEdge rad="112500"/>
          </a:effectLst>
        </p:spPr>
      </p:pic>
      <p:pic>
        <p:nvPicPr>
          <p:cNvPr id="55303" name="图片 5"/>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39750" y="3998913"/>
            <a:ext cx="3840163" cy="215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17-2-1.png"/>
          <p:cNvPicPr>
            <a:picLocks noChangeAspect="1"/>
          </p:cNvPicPr>
          <p:nvPr/>
        </p:nvPicPr>
        <p:blipFill>
          <a:blip r:embed="rId3"/>
          <a:stretch>
            <a:fillRect/>
          </a:stretch>
        </p:blipFill>
        <p:spPr>
          <a:xfrm>
            <a:off x="450850" y="1957388"/>
            <a:ext cx="6332538" cy="3644900"/>
          </a:xfrm>
          <a:prstGeom prst="rect">
            <a:avLst/>
          </a:prstGeom>
          <a:noFill/>
          <a:ln w="9525">
            <a:noFill/>
          </a:ln>
        </p:spPr>
      </p:pic>
      <p:pic>
        <p:nvPicPr>
          <p:cNvPr id="6" name="图片 5" descr="17-2-4.png"/>
          <p:cNvPicPr>
            <a:picLocks noChangeAspect="1"/>
          </p:cNvPicPr>
          <p:nvPr/>
        </p:nvPicPr>
        <p:blipFill>
          <a:blip r:embed="rId4"/>
          <a:srcRect l="30431" t="23882" r="6827" b="5008"/>
          <a:stretch>
            <a:fillRect/>
          </a:stretch>
        </p:blipFill>
        <p:spPr>
          <a:xfrm>
            <a:off x="2784475" y="2039938"/>
            <a:ext cx="5732463" cy="3657600"/>
          </a:xfrm>
          <a:prstGeom prst="rect">
            <a:avLst/>
          </a:prstGeom>
          <a:noFill/>
          <a:ln w="9525">
            <a:noFill/>
          </a:ln>
        </p:spPr>
      </p:pic>
      <p:pic>
        <p:nvPicPr>
          <p:cNvPr id="10" name="图片 9" descr="17-2-8.png"/>
          <p:cNvPicPr>
            <a:picLocks noChangeAspect="1"/>
          </p:cNvPicPr>
          <p:nvPr/>
        </p:nvPicPr>
        <p:blipFill>
          <a:blip r:embed="rId5"/>
          <a:srcRect t="13531" r="56424"/>
          <a:stretch>
            <a:fillRect/>
          </a:stretch>
        </p:blipFill>
        <p:spPr>
          <a:xfrm>
            <a:off x="4763" y="1506538"/>
            <a:ext cx="3979862" cy="4448175"/>
          </a:xfrm>
          <a:prstGeom prst="rect">
            <a:avLst/>
          </a:prstGeom>
          <a:noFill/>
          <a:ln w="9525">
            <a:noFill/>
          </a:ln>
        </p:spPr>
      </p:pic>
      <p:pic>
        <p:nvPicPr>
          <p:cNvPr id="15365" name="图片 13"/>
          <p:cNvPicPr>
            <a:picLocks noChangeAspect="1"/>
          </p:cNvPicPr>
          <p:nvPr/>
        </p:nvPicPr>
        <p:blipFill>
          <a:blip r:embed="rId6" cstate="print"/>
          <a:srcRect l="7558" t="1859" r="9033"/>
          <a:stretch>
            <a:fillRect/>
          </a:stretch>
        </p:blipFill>
        <p:spPr bwMode="auto">
          <a:xfrm>
            <a:off x="0" y="764704"/>
            <a:ext cx="9144000" cy="5976664"/>
          </a:xfrm>
          <a:prstGeom prst="rect">
            <a:avLst/>
          </a:prstGeom>
          <a:ln>
            <a:noFill/>
          </a:ln>
          <a:effectLst>
            <a:softEdge rad="112500"/>
          </a:effectLst>
        </p:spPr>
      </p:pic>
      <p:sp>
        <p:nvSpPr>
          <p:cNvPr id="18" name="矩形 17"/>
          <p:cNvSpPr/>
          <p:nvPr/>
        </p:nvSpPr>
        <p:spPr>
          <a:xfrm>
            <a:off x="940424" y="3429000"/>
            <a:ext cx="7520008" cy="769441"/>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uLnTx/>
                <a:uFillTx/>
                <a:latin typeface="微软雅黑" panose="020B0503020204020204" pitchFamily="34" charset="-122"/>
                <a:ea typeface="微软雅黑" panose="020B0503020204020204" pitchFamily="34" charset="-122"/>
                <a:cs typeface="+mn-cs"/>
              </a:rPr>
              <a:t>请各位专家和领导批评指正！</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par>
                                <p:cTn id="8" presetID="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2000" fill="hold"/>
                                        <p:tgtEl>
                                          <p:spTgt spid="3"/>
                                        </p:tgtEl>
                                        <p:attrNameLst>
                                          <p:attrName>ppt_x</p:attrName>
                                        </p:attrNameLst>
                                      </p:cBhvr>
                                      <p:tavLst>
                                        <p:tav tm="0">
                                          <p:val>
                                            <p:strVal val="0-#ppt_w/2"/>
                                          </p:val>
                                        </p:tav>
                                        <p:tav tm="100000">
                                          <p:val>
                                            <p:strVal val="#ppt_x"/>
                                          </p:val>
                                        </p:tav>
                                      </p:tavLst>
                                    </p:anim>
                                    <p:anim calcmode="lin" valueType="num">
                                      <p:cBhvr additive="base">
                                        <p:cTn id="11" dur="2000" fill="hold"/>
                                        <p:tgtEl>
                                          <p:spTgt spid="3"/>
                                        </p:tgtEl>
                                        <p:attrNameLst>
                                          <p:attrName>ppt_y</p:attrName>
                                        </p:attrNameLst>
                                      </p:cBhvr>
                                      <p:tavLst>
                                        <p:tav tm="0">
                                          <p:val>
                                            <p:strVal val="#ppt_y"/>
                                          </p:val>
                                        </p:tav>
                                        <p:tav tm="100000">
                                          <p:val>
                                            <p:strVal val="#ppt_y"/>
                                          </p:val>
                                        </p:tav>
                                      </p:tavLst>
                                    </p:anim>
                                  </p:childTnLst>
                                </p:cTn>
                              </p:par>
                              <p:par>
                                <p:cTn id="12" presetID="10" presetClass="entr" presetSubtype="0" fill="hold" nodeType="withEffect">
                                  <p:stCondLst>
                                    <p:cond delay="10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2500"/>
                                        <p:tgtEl>
                                          <p:spTgt spid="10"/>
                                        </p:tgtEl>
                                      </p:cBhvr>
                                    </p:animEffect>
                                  </p:childTnLst>
                                </p:cTn>
                              </p:par>
                              <p:par>
                                <p:cTn id="15" presetID="2" presetClass="entr" presetSubtype="8" fill="hold" nodeType="withEffect">
                                  <p:stCondLst>
                                    <p:cond delay="10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2500" fill="hold"/>
                                        <p:tgtEl>
                                          <p:spTgt spid="10"/>
                                        </p:tgtEl>
                                        <p:attrNameLst>
                                          <p:attrName>ppt_x</p:attrName>
                                        </p:attrNameLst>
                                      </p:cBhvr>
                                      <p:tavLst>
                                        <p:tav tm="0">
                                          <p:val>
                                            <p:strVal val="0-#ppt_w/2"/>
                                          </p:val>
                                        </p:tav>
                                        <p:tav tm="100000">
                                          <p:val>
                                            <p:strVal val="#ppt_x"/>
                                          </p:val>
                                        </p:tav>
                                      </p:tavLst>
                                    </p:anim>
                                    <p:anim calcmode="lin" valueType="num">
                                      <p:cBhvr additive="base">
                                        <p:cTn id="18" dur="2500" fill="hold"/>
                                        <p:tgtEl>
                                          <p:spTgt spid="10"/>
                                        </p:tgtEl>
                                        <p:attrNameLst>
                                          <p:attrName>ppt_y</p:attrName>
                                        </p:attrNameLst>
                                      </p:cBhvr>
                                      <p:tavLst>
                                        <p:tav tm="0">
                                          <p:val>
                                            <p:strVal val="#ppt_y"/>
                                          </p:val>
                                        </p:tav>
                                        <p:tav tm="100000">
                                          <p:val>
                                            <p:strVal val="#ppt_y"/>
                                          </p:val>
                                        </p:tav>
                                      </p:tavLst>
                                    </p:anim>
                                  </p:childTnLst>
                                </p:cTn>
                              </p:par>
                              <p:par>
                                <p:cTn id="19" presetID="10" presetClass="entr" presetSubtype="0" fill="hold" nodeType="withEffect">
                                  <p:stCondLst>
                                    <p:cond delay="2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2500"/>
                                        <p:tgtEl>
                                          <p:spTgt spid="6"/>
                                        </p:tgtEl>
                                      </p:cBhvr>
                                    </p:animEffect>
                                  </p:childTnLst>
                                </p:cTn>
                              </p:par>
                              <p:par>
                                <p:cTn id="22" presetID="2" presetClass="entr" presetSubtype="2" fill="hold" nodeType="withEffect">
                                  <p:stCondLst>
                                    <p:cond delay="20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2500" fill="hold"/>
                                        <p:tgtEl>
                                          <p:spTgt spid="6"/>
                                        </p:tgtEl>
                                        <p:attrNameLst>
                                          <p:attrName>ppt_x</p:attrName>
                                        </p:attrNameLst>
                                      </p:cBhvr>
                                      <p:tavLst>
                                        <p:tav tm="0">
                                          <p:val>
                                            <p:strVal val="1+#ppt_w/2"/>
                                          </p:val>
                                        </p:tav>
                                        <p:tav tm="100000">
                                          <p:val>
                                            <p:strVal val="#ppt_x"/>
                                          </p:val>
                                        </p:tav>
                                      </p:tavLst>
                                    </p:anim>
                                    <p:anim calcmode="lin" valueType="num">
                                      <p:cBhvr additive="base">
                                        <p:cTn id="25" dur="2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北石PPT模板征集 ZZZ">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北石PPT模板征集 ZZZ">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2668</Words>
  <Application>Microsoft Office PowerPoint</Application>
  <PresentationFormat>全屏显示(4:3)</PresentationFormat>
  <Paragraphs>313</Paragraphs>
  <Slides>33</Slides>
  <Notes>11</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33</vt:i4>
      </vt:variant>
    </vt:vector>
  </HeadingPairs>
  <TitlesOfParts>
    <vt:vector size="44" baseType="lpstr">
      <vt:lpstr>等线</vt:lpstr>
      <vt:lpstr>黑体</vt:lpstr>
      <vt:lpstr>楷体</vt:lpstr>
      <vt:lpstr>宋体</vt:lpstr>
      <vt:lpstr>微软雅黑</vt:lpstr>
      <vt:lpstr>Arial</vt:lpstr>
      <vt:lpstr>Calibri</vt:lpstr>
      <vt:lpstr>Times New Roman</vt:lpstr>
      <vt:lpstr>Wingdings</vt:lpstr>
      <vt:lpstr>北石PPT模板征集 ZZZ</vt:lpstr>
      <vt:lpstr>1_北石PPT模板征集 ZZZ</vt:lpstr>
      <vt:lpstr>顶部驱动钻井装置技术介绍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付丽</dc:creator>
  <cp:lastModifiedBy>cjj</cp:lastModifiedBy>
  <cp:revision>70</cp:revision>
  <cp:lastPrinted>2016-01-07T08:40:00Z</cp:lastPrinted>
  <dcterms:created xsi:type="dcterms:W3CDTF">2016-01-07T08:22:00Z</dcterms:created>
  <dcterms:modified xsi:type="dcterms:W3CDTF">2022-09-16T07:59:10Z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2052-10.8.2.7061</vt:lpwstr>
  </property>
</Properties>
</file>