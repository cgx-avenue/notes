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704" r:id="rId2"/>
  </p:sldMasterIdLst>
  <p:notesMasterIdLst>
    <p:notesMasterId r:id="rId16"/>
  </p:notesMasterIdLst>
  <p:handoutMasterIdLst>
    <p:handoutMasterId r:id="rId17"/>
  </p:handoutMasterIdLst>
  <p:sldIdLst>
    <p:sldId id="352" r:id="rId3"/>
    <p:sldId id="8696" r:id="rId4"/>
    <p:sldId id="8697" r:id="rId5"/>
    <p:sldId id="12539303" r:id="rId6"/>
    <p:sldId id="12539306" r:id="rId7"/>
    <p:sldId id="12539300" r:id="rId8"/>
    <p:sldId id="12539286" r:id="rId9"/>
    <p:sldId id="12539267" r:id="rId10"/>
    <p:sldId id="12539302" r:id="rId11"/>
    <p:sldId id="12539307" r:id="rId12"/>
    <p:sldId id="12539308" r:id="rId13"/>
    <p:sldId id="12539288" r:id="rId14"/>
    <p:sldId id="268" r:id="rId15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81B0C8B-735F-402F-8D8E-F8FE65326622}">
          <p14:sldIdLst>
            <p14:sldId id="352"/>
            <p14:sldId id="8696"/>
            <p14:sldId id="8697"/>
            <p14:sldId id="12539303"/>
            <p14:sldId id="12539306"/>
            <p14:sldId id="12539300"/>
            <p14:sldId id="12539286"/>
            <p14:sldId id="12539267"/>
            <p14:sldId id="12539302"/>
            <p14:sldId id="12539307"/>
            <p14:sldId id="12539308"/>
            <p14:sldId id="12539288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pos="3808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/>
  <p:cmAuthor id="2" name="Zhou, Wen Jing (T RDA IOT INW-CN)" initials="ZWJ(RII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B9B9"/>
    <a:srgbClr val="009999"/>
    <a:srgbClr val="41AAAA"/>
    <a:srgbClr val="7DBCD3"/>
    <a:srgbClr val="006666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3" autoAdjust="0"/>
    <p:restoredTop sz="93792" autoAdjust="0"/>
  </p:normalViewPr>
  <p:slideViewPr>
    <p:cSldViewPr snapToGrid="0" showGuides="1">
      <p:cViewPr varScale="1">
        <p:scale>
          <a:sx n="62" d="100"/>
          <a:sy n="62" d="100"/>
        </p:scale>
        <p:origin x="804" y="28"/>
      </p:cViewPr>
      <p:guideLst>
        <p:guide pos="3808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7" d="100"/>
          <a:sy n="47" d="100"/>
        </p:scale>
        <p:origin x="2784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 dirty="0"/>
          </a:p>
        </p:txBody>
      </p:sp>
      <p:sp>
        <p:nvSpPr>
          <p:cNvPr id="3" name="Date"/>
          <p:cNvSpPr>
            <a:spLocks noGrp="1"/>
          </p:cNvSpPr>
          <p:nvPr>
            <p:ph type="dt" sz="quarter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/>
              <a:t>11/8/2023</a:t>
            </a:fld>
            <a:endParaRPr lang="en-US" sz="1050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2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 dirty="0">
                <a:solidFill>
                  <a:schemeClr val="accent2"/>
                </a:solidFill>
              </a:rPr>
              <a:t>Hand out</a:t>
            </a:r>
            <a:r>
              <a:rPr lang="en-US" sz="1050" dirty="0">
                <a:solidFill>
                  <a:schemeClr val="accent2"/>
                </a:solidFill>
              </a:rPr>
              <a:t> </a:t>
            </a:r>
            <a:fld id="{C92BABF8-1341-4DCB-864A-D83C08BEEAE4}" type="slidenum">
              <a:rPr lang="en-US" sz="1050" smtClean="0"/>
              <a:t>‹#›</a:t>
            </a:fld>
            <a:endParaRPr lang="en-US" sz="1050" dirty="0"/>
          </a:p>
        </p:txBody>
      </p:sp>
      <p:pic>
        <p:nvPicPr>
          <p:cNvPr id="6" name="Siemens logo"/>
          <p:cNvPicPr>
            <a:picLocks noChangeAspect="1"/>
          </p:cNvPicPr>
          <p:nvPr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3000" y="550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/>
            </a:lvl1pPr>
          </a:lstStyle>
          <a:p>
            <a:endParaRPr lang="en-US" dirty="0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/>
            </a:lvl1pPr>
          </a:lstStyle>
          <a:p>
            <a:fld id="{76FBC1AF-E4C9-412F-9B6D-66CD520F95DB}" type="datetimeFigureOut">
              <a:rPr lang="en-US" smtClean="0"/>
              <a:t>11/8/2023</a:t>
            </a:fld>
            <a:endParaRPr lang="en-US" dirty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406800" y="619200"/>
            <a:ext cx="6048000" cy="340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6800" y="4575600"/>
            <a:ext cx="6048000" cy="396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 dirty="0">
                <a:solidFill>
                  <a:schemeClr val="accent2"/>
                </a:solidFill>
              </a:rPr>
              <a:t>Notes</a:t>
            </a:r>
            <a:r>
              <a:rPr lang="en-US" dirty="0"/>
              <a:t> </a:t>
            </a:r>
            <a:fld id="{E76C657F-0E32-4130-ADDA-66B81138A76A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145" indent="-144145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290" indent="-144145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1800" indent="-144145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5945" indent="-144145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90" indent="-144145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235" indent="-144145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7745" indent="-144145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1890" indent="-144145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</a:rPr>
              <a:t>Notes </a:t>
            </a:r>
            <a:fld id="{AD141568-5488-4AC9-B82D-9F5CE1225E2A}" type="slidenum">
              <a:rPr lang="de-DE" smtClean="0">
                <a:latin typeface="Arial" panose="020B0604020202020204" pitchFamily="34" charset="0"/>
              </a:rPr>
              <a:t>4</a:t>
            </a:fld>
            <a:endParaRPr lang="de-D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</a:rPr>
              <a:t>Notes </a:t>
            </a:r>
            <a:fld id="{AD141568-5488-4AC9-B82D-9F5CE1225E2A}" type="slidenum">
              <a:rPr lang="de-DE" smtClean="0">
                <a:latin typeface="Arial" panose="020B0604020202020204" pitchFamily="34" charset="0"/>
              </a:rPr>
              <a:t>6</a:t>
            </a:fld>
            <a:endParaRPr lang="de-D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</a:rPr>
              <a:t>Notes </a:t>
            </a:r>
            <a:fld id="{AD141568-5488-4AC9-B82D-9F5CE1225E2A}" type="slidenum">
              <a:rPr lang="de-DE" smtClean="0">
                <a:latin typeface="Arial" panose="020B0604020202020204" pitchFamily="34" charset="0"/>
              </a:rPr>
              <a:t>8</a:t>
            </a:fld>
            <a:endParaRPr lang="de-D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</a:rPr>
              <a:t>Notes </a:t>
            </a:r>
            <a:fld id="{AD141568-5488-4AC9-B82D-9F5CE1225E2A}" type="slidenum">
              <a:rPr lang="de-DE" smtClean="0">
                <a:latin typeface="Arial" panose="020B0604020202020204" pitchFamily="34" charset="0"/>
              </a:rPr>
              <a:t>9</a:t>
            </a:fld>
            <a:endParaRPr lang="de-D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</a:rPr>
              <a:t>Notes </a:t>
            </a:r>
            <a:fld id="{AD141568-5488-4AC9-B82D-9F5CE1225E2A}" type="slidenum">
              <a:rPr lang="de-DE" smtClean="0">
                <a:latin typeface="Arial" panose="020B0604020202020204" pitchFamily="34" charset="0"/>
              </a:rPr>
              <a:t>10</a:t>
            </a:fld>
            <a:endParaRPr lang="de-D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</a:rPr>
              <a:t>Notes </a:t>
            </a:r>
            <a:fld id="{AD141568-5488-4AC9-B82D-9F5CE1225E2A}" type="slidenum">
              <a:rPr lang="de-DE" smtClean="0">
                <a:latin typeface="Arial" panose="020B0604020202020204" pitchFamily="34" charset="0"/>
              </a:rPr>
              <a:t>11</a:t>
            </a:fld>
            <a:endParaRPr lang="de-D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</a:rPr>
              <a:t>Notes </a:t>
            </a:r>
            <a:fld id="{AD141568-5488-4AC9-B82D-9F5CE1225E2A}" type="slidenum">
              <a:rPr lang="de-DE" smtClean="0">
                <a:latin typeface="Arial" panose="020B0604020202020204" pitchFamily="34" charset="0"/>
              </a:rPr>
              <a:t>12</a:t>
            </a:fld>
            <a:endParaRPr lang="de-DE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sv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2.bin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fireworks, star, table, sky&#10;&#10;Description automatically generated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3975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5" cstate="screen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close up of a light&#10;&#10;Description automatically generated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2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M3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5" cstate="screen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picture containing light, star&#10;&#10;Description automatically generated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69875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5" cstate="screen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8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3975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5" cstate="screen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6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769989"/>
          </a:xfrm>
          <a:blipFill dpi="0" rotWithShape="1"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2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5" cstate="screen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4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background pattern&#10;&#10;Description automatically generated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69875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5" cstate="screen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385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69875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95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385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69875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95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385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69875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95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8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385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0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69875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36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95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Subline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8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385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0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69875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36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95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8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385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0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69875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36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95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3975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2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69875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3975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2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399" y="1414463"/>
            <a:ext cx="11370437" cy="2462213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69875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gnisphere" descr="A picture containing chart&#10;&#10;Description automatically generated"/>
          <p:cNvPicPr>
            <a:picLocks noChangeAspect="1"/>
          </p:cNvPicPr>
          <p:nvPr userDrawn="1"/>
        </p:nvPicPr>
        <p:blipFill rotWithShape="1">
          <a:blip r:embed="rId2" cstate="screen">
            <a:alphaModFix amt="6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0400" y="478800"/>
            <a:ext cx="5904675" cy="57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py"/>
          <p:cNvSpPr>
            <a:spLocks noGrp="1"/>
          </p:cNvSpPr>
          <p:nvPr>
            <p:ph type="body" sz="quarter" idx="12"/>
          </p:nvPr>
        </p:nvSpPr>
        <p:spPr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tabLst>
                <a:tab pos="5902325" algn="r"/>
              </a:tabLst>
              <a:defRPr/>
            </a:lvl2pPr>
            <a:lvl3pPr marL="179705">
              <a:spcAft>
                <a:spcPts val="900"/>
              </a:spcAft>
              <a:tabLst>
                <a:tab pos="5902325" algn="r"/>
              </a:tabLst>
              <a:defRPr b="1"/>
            </a:lvl3pPr>
            <a:lvl4pPr marL="360045">
              <a:spcAft>
                <a:spcPts val="900"/>
              </a:spcAft>
              <a:tabLst>
                <a:tab pos="5902325" algn="r"/>
              </a:tabLst>
              <a:defRPr/>
            </a:lvl4pPr>
            <a:lvl5pPr marL="360045">
              <a:spcAft>
                <a:spcPts val="900"/>
              </a:spcAft>
              <a:tabLst>
                <a:tab pos="5902325" algn="r"/>
              </a:tabLst>
              <a:defRPr b="1"/>
            </a:lvl5pPr>
            <a:lvl6pPr marL="179705">
              <a:spcAft>
                <a:spcPts val="600"/>
              </a:spcAft>
              <a:tabLst>
                <a:tab pos="5902325" algn="r"/>
              </a:tabLst>
              <a:defRPr sz="1600"/>
            </a:lvl6pPr>
            <a:lvl7pPr marL="179705">
              <a:spcAft>
                <a:spcPts val="600"/>
              </a:spcAft>
              <a:tabLst>
                <a:tab pos="5902325" algn="r"/>
              </a:tabLst>
              <a:defRPr sz="1600" b="1"/>
            </a:lvl7pPr>
            <a:lvl8pPr marL="360045">
              <a:spcAft>
                <a:spcPts val="600"/>
              </a:spcAft>
              <a:tabLst>
                <a:tab pos="5902325" algn="r"/>
              </a:tabLst>
              <a:defRPr sz="1600"/>
            </a:lvl8pPr>
            <a:lvl9pPr marL="360045">
              <a:spcAft>
                <a:spcPts val="600"/>
              </a:spcAft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3" cstate="screen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9252000" cy="149186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761116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6156275" cy="2215991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Copy"/>
          <p:cNvSpPr>
            <a:spLocks noGrp="1"/>
          </p:cNvSpPr>
          <p:nvPr>
            <p:ph type="body" sz="quarter" idx="18"/>
          </p:nvPr>
        </p:nvSpPr>
        <p:spPr>
          <a:xfrm>
            <a:off x="8042400" y="1054100"/>
            <a:ext cx="3744000" cy="5113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 (with key visual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A picture containing fish, monitor, keyboard, computer&#10;&#10;Description automatically generated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3" cstate="screen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 (with key visual)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A picture containing sky, water, star&#10;&#10;Description automatically generated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3" cstate="screen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/>
          <p:cNvSpPr>
            <a:spLocks noGrp="1"/>
          </p:cNvSpPr>
          <p:nvPr>
            <p:ph idx="1"/>
          </p:nvPr>
        </p:nvSpPr>
        <p:spPr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/>
          <p:cNvSpPr>
            <a:spLocks noGrp="1"/>
          </p:cNvSpPr>
          <p:nvPr>
            <p:ph idx="1"/>
          </p:nvPr>
        </p:nvSpPr>
        <p:spPr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/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/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/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/>
          <p:cNvSpPr>
            <a:spLocks noGrp="1"/>
          </p:cNvSpPr>
          <p:nvPr>
            <p:ph sz="half" idx="2"/>
          </p:nvPr>
        </p:nvSpPr>
        <p:spPr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3"/>
          <p:cNvSpPr>
            <a:spLocks noGrp="1"/>
          </p:cNvSpPr>
          <p:nvPr>
            <p:ph sz="half" idx="12"/>
          </p:nvPr>
        </p:nvSpPr>
        <p:spPr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/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2"/>
          <p:cNvSpPr>
            <a:spLocks noGrp="1"/>
          </p:cNvSpPr>
          <p:nvPr>
            <p:ph sz="half" idx="12"/>
          </p:nvPr>
        </p:nvSpPr>
        <p:spPr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3"/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4"/>
          <p:cNvSpPr>
            <a:spLocks noGrp="1"/>
          </p:cNvSpPr>
          <p:nvPr>
            <p:ph sz="half" idx="13"/>
          </p:nvPr>
        </p:nvSpPr>
        <p:spPr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411161" y="1414800"/>
            <a:ext cx="7199313" cy="4752000"/>
          </a:xfr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/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out logo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411163" y="1414800"/>
            <a:ext cx="7199311" cy="4752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/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able Placeholder"/>
          <p:cNvSpPr>
            <a:spLocks noGrp="1"/>
          </p:cNvSpPr>
          <p:nvPr>
            <p:ph type="tbl" sz="quarter" idx="12" hasCustomPrompt="1"/>
          </p:nvPr>
        </p:nvSpPr>
        <p:spPr>
          <a:xfrm>
            <a:off x="404812" y="1414461"/>
            <a:ext cx="11376026" cy="4392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2021 | Zhou Wenjing | T RDA IOT INW-CN | 2021-02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/>
          <p:cNvSpPr>
            <a:spLocks noGrp="1"/>
          </p:cNvSpPr>
          <p:nvPr>
            <p:ph idx="1"/>
          </p:nvPr>
        </p:nvSpPr>
        <p:spPr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py 2"/>
          <p:cNvSpPr>
            <a:spLocks noGrp="1"/>
          </p:cNvSpPr>
          <p:nvPr>
            <p:ph idx="13"/>
          </p:nvPr>
        </p:nvSpPr>
        <p:spPr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py 3"/>
          <p:cNvSpPr>
            <a:spLocks noGrp="1"/>
          </p:cNvSpPr>
          <p:nvPr>
            <p:ph idx="12"/>
          </p:nvPr>
        </p:nvSpPr>
        <p:spPr>
          <a:xfrm>
            <a:off x="8187189" y="1414462"/>
            <a:ext cx="3600000" cy="4392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accent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/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195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2pPr>
            <a:lvl3pPr marL="36195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/>
          <p:cNvSpPr/>
          <p:nvPr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/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195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195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/>
          <p:cNvSpPr/>
          <p:nvPr userDrawn="1"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986400" y="1271538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986400" y="1270799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411163" y="1234800"/>
            <a:ext cx="9863237" cy="1162523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3975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/>
          <p:cNvSpPr>
            <a:spLocks noGrp="1"/>
          </p:cNvSpPr>
          <p:nvPr>
            <p:ph type="subTitle" idx="1" hasCustomPrompt="1"/>
          </p:nvPr>
        </p:nvSpPr>
        <p:spPr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2pPr>
            <a:lvl3pPr marL="179705" indent="-179705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360045" indent="-179705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4pPr>
            <a:lvl5pPr marL="360045" indent="-179705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5pPr>
            <a:lvl6pPr marL="539750" indent="-179705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39750" indent="-179705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90" indent="-179705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90" indent="-179705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Department etc.</a:t>
            </a:r>
          </a:p>
          <a:p>
            <a:pPr lvl="3"/>
            <a:r>
              <a:rPr lang="en-US" dirty="0"/>
              <a:t>subchapter</a:t>
            </a:r>
          </a:p>
          <a:p>
            <a:pPr lvl="4"/>
            <a:r>
              <a:rPr lang="en-US" dirty="0"/>
              <a:t>active subchapter</a:t>
            </a:r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9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 userDrawn="1">
  <p:cSld name="1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715" imgH="5715" progId="TCLayout.ActiveDocument.1">
                  <p:embed/>
                </p:oleObj>
              </mc:Choice>
              <mc:Fallback>
                <p:oleObj name="think-cell Slide" r:id="rId4" imgW="5715" imgH="5715" progId="TCLayout.ActiveDocument.1">
                  <p:embed/>
                  <p:pic>
                    <p:nvPicPr>
                      <p:cNvPr id="0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58667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fireworks, star, table, sky&#10;&#10;Description automatically generated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3975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5" cstate="screen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close up of a light&#10;&#10;Description automatically generated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2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M3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5" cstate="screen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picture containing light, star&#10;&#10;Description automatically generated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69875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5" cstate="screen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8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3975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5" cstate="screen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6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769989"/>
          </a:xfrm>
          <a:blipFill dpi="0" rotWithShape="1"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2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5" cstate="screen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4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background pattern&#10;&#10;Description automatically generated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69875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5" cstate="screen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385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69875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95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385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69875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95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385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69875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95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8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385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0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69875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36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95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Subline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8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385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0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69875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36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95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8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385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0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69875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36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95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3975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2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69875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3975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2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410399" y="1414463"/>
            <a:ext cx="11370437" cy="2462213"/>
          </a:xfrm>
          <a:blipFill dpi="0" rotWithShape="1"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69875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/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gnisphere" descr="A picture containing chart&#10;&#10;Description automatically generated"/>
          <p:cNvPicPr>
            <a:picLocks noChangeAspect="1"/>
          </p:cNvPicPr>
          <p:nvPr userDrawn="1"/>
        </p:nvPicPr>
        <p:blipFill rotWithShape="1">
          <a:blip r:embed="rId2" cstate="screen">
            <a:alphaModFix amt="6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0400" y="478800"/>
            <a:ext cx="5904675" cy="57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py"/>
          <p:cNvSpPr>
            <a:spLocks noGrp="1"/>
          </p:cNvSpPr>
          <p:nvPr>
            <p:ph type="body" sz="quarter" idx="12"/>
          </p:nvPr>
        </p:nvSpPr>
        <p:spPr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tabLst>
                <a:tab pos="5902325" algn="r"/>
              </a:tabLst>
              <a:defRPr/>
            </a:lvl2pPr>
            <a:lvl3pPr marL="179705">
              <a:spcAft>
                <a:spcPts val="900"/>
              </a:spcAft>
              <a:tabLst>
                <a:tab pos="5902325" algn="r"/>
              </a:tabLst>
              <a:defRPr b="1"/>
            </a:lvl3pPr>
            <a:lvl4pPr marL="360045">
              <a:spcAft>
                <a:spcPts val="900"/>
              </a:spcAft>
              <a:tabLst>
                <a:tab pos="5902325" algn="r"/>
              </a:tabLst>
              <a:defRPr/>
            </a:lvl4pPr>
            <a:lvl5pPr marL="360045">
              <a:spcAft>
                <a:spcPts val="900"/>
              </a:spcAft>
              <a:tabLst>
                <a:tab pos="5902325" algn="r"/>
              </a:tabLst>
              <a:defRPr b="1"/>
            </a:lvl5pPr>
            <a:lvl6pPr marL="179705">
              <a:spcAft>
                <a:spcPts val="600"/>
              </a:spcAft>
              <a:tabLst>
                <a:tab pos="5902325" algn="r"/>
              </a:tabLst>
              <a:defRPr sz="1600"/>
            </a:lvl6pPr>
            <a:lvl7pPr marL="179705">
              <a:spcAft>
                <a:spcPts val="600"/>
              </a:spcAft>
              <a:tabLst>
                <a:tab pos="5902325" algn="r"/>
              </a:tabLst>
              <a:defRPr sz="1600" b="1"/>
            </a:lvl7pPr>
            <a:lvl8pPr marL="360045">
              <a:spcAft>
                <a:spcPts val="600"/>
              </a:spcAft>
              <a:tabLst>
                <a:tab pos="5902325" algn="r"/>
              </a:tabLst>
              <a:defRPr sz="1600"/>
            </a:lvl8pPr>
            <a:lvl9pPr marL="360045">
              <a:spcAft>
                <a:spcPts val="600"/>
              </a:spcAft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3" cstate="screen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9252000" cy="149186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761116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6156275" cy="2215991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Copy"/>
          <p:cNvSpPr>
            <a:spLocks noGrp="1"/>
          </p:cNvSpPr>
          <p:nvPr>
            <p:ph type="body" sz="quarter" idx="18"/>
          </p:nvPr>
        </p:nvSpPr>
        <p:spPr>
          <a:xfrm>
            <a:off x="8042400" y="1054100"/>
            <a:ext cx="3744000" cy="5113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 (with key visual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A picture containing fish, monitor, keyboard, computer&#10;&#10;Description automatically generated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3" cstate="screen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 (with key visual)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A picture containing sky, water, star&#10;&#10;Description automatically generated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3" cstate="screen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/>
          <p:cNvSpPr>
            <a:spLocks noGrp="1"/>
          </p:cNvSpPr>
          <p:nvPr>
            <p:ph idx="1"/>
          </p:nvPr>
        </p:nvSpPr>
        <p:spPr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/>
          <p:cNvSpPr>
            <a:spLocks noGrp="1"/>
          </p:cNvSpPr>
          <p:nvPr>
            <p:ph idx="1"/>
          </p:nvPr>
        </p:nvSpPr>
        <p:spPr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/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/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/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/>
          <p:cNvSpPr>
            <a:spLocks noGrp="1"/>
          </p:cNvSpPr>
          <p:nvPr>
            <p:ph sz="half" idx="2"/>
          </p:nvPr>
        </p:nvSpPr>
        <p:spPr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3"/>
          <p:cNvSpPr>
            <a:spLocks noGrp="1"/>
          </p:cNvSpPr>
          <p:nvPr>
            <p:ph sz="half" idx="12"/>
          </p:nvPr>
        </p:nvSpPr>
        <p:spPr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/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2"/>
          <p:cNvSpPr>
            <a:spLocks noGrp="1"/>
          </p:cNvSpPr>
          <p:nvPr>
            <p:ph sz="half" idx="12"/>
          </p:nvPr>
        </p:nvSpPr>
        <p:spPr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3"/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4"/>
          <p:cNvSpPr>
            <a:spLocks noGrp="1"/>
          </p:cNvSpPr>
          <p:nvPr>
            <p:ph sz="half" idx="13"/>
          </p:nvPr>
        </p:nvSpPr>
        <p:spPr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411161" y="1414800"/>
            <a:ext cx="7199313" cy="4752000"/>
          </a:xfr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/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out logo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411163" y="1414800"/>
            <a:ext cx="7199311" cy="4752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/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able Placeholder"/>
          <p:cNvSpPr>
            <a:spLocks noGrp="1"/>
          </p:cNvSpPr>
          <p:nvPr>
            <p:ph type="tbl" sz="quarter" idx="12" hasCustomPrompt="1"/>
          </p:nvPr>
        </p:nvSpPr>
        <p:spPr>
          <a:xfrm>
            <a:off x="404812" y="1414461"/>
            <a:ext cx="11376026" cy="4392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2021 | Zhou Wenjing | T RDA IOT INW-CN | 2021-02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/>
          <p:cNvSpPr>
            <a:spLocks noGrp="1"/>
          </p:cNvSpPr>
          <p:nvPr>
            <p:ph idx="1"/>
          </p:nvPr>
        </p:nvSpPr>
        <p:spPr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py 2"/>
          <p:cNvSpPr>
            <a:spLocks noGrp="1"/>
          </p:cNvSpPr>
          <p:nvPr>
            <p:ph idx="13"/>
          </p:nvPr>
        </p:nvSpPr>
        <p:spPr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py 3"/>
          <p:cNvSpPr>
            <a:spLocks noGrp="1"/>
          </p:cNvSpPr>
          <p:nvPr>
            <p:ph idx="12"/>
          </p:nvPr>
        </p:nvSpPr>
        <p:spPr>
          <a:xfrm>
            <a:off x="8187189" y="1414462"/>
            <a:ext cx="3600000" cy="4392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accent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/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195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2pPr>
            <a:lvl3pPr marL="36195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/>
          <p:cNvSpPr/>
          <p:nvPr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/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195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195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/>
          <p:cNvSpPr/>
          <p:nvPr userDrawn="1"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986400" y="1271538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986400" y="1270799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" name="Siemens Logo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411163" y="1234800"/>
            <a:ext cx="9863237" cy="1162523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3975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/>
          <p:cNvSpPr>
            <a:spLocks noGrp="1"/>
          </p:cNvSpPr>
          <p:nvPr>
            <p:ph type="subTitle" idx="1" hasCustomPrompt="1"/>
          </p:nvPr>
        </p:nvSpPr>
        <p:spPr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2pPr>
            <a:lvl3pPr marL="179705" indent="-179705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360045" indent="-179705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4pPr>
            <a:lvl5pPr marL="360045" indent="-179705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5pPr>
            <a:lvl6pPr marL="539750" indent="-179705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39750" indent="-179705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90" indent="-179705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90" indent="-179705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Department etc.</a:t>
            </a:r>
          </a:p>
          <a:p>
            <a:pPr lvl="3"/>
            <a:r>
              <a:rPr lang="en-US" dirty="0"/>
              <a:t>subchapter</a:t>
            </a:r>
          </a:p>
          <a:p>
            <a:pPr lvl="4"/>
            <a:r>
              <a:rPr lang="en-US" dirty="0"/>
              <a:t>active subchapter</a:t>
            </a:r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9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Siemens Logo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 userDrawn="1">
  <p:cSld name="1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715" imgH="5715" progId="TCLayout.ActiveDocument.1">
                  <p:embed/>
                </p:oleObj>
              </mc:Choice>
              <mc:Fallback>
                <p:oleObj name="think-cell Slide" r:id="rId4" imgW="5715" imgH="5715" progId="TCLayout.ActiveDocument.1">
                  <p:embed/>
                  <p:pic>
                    <p:nvPicPr>
                      <p:cNvPr id="0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58667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endParaRPr lang="en-US" sz="2200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 userDrawn="1">
  <p:cSld name="1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add core message of slide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26737" y="1412875"/>
            <a:ext cx="11082915" cy="218521"/>
          </a:xfrm>
        </p:spPr>
        <p:txBody>
          <a:bodyPr wrap="square">
            <a:spAutoFit/>
          </a:bodyPr>
          <a:lstStyle>
            <a:lvl1pPr>
              <a:defRPr sz="1400"/>
            </a:lvl1pPr>
          </a:lstStyle>
          <a:p>
            <a:pPr lvl="0"/>
            <a:r>
              <a:rPr lang="en-US" noProof="0" dirty="0"/>
              <a:t>Title (description of slide content), Arial 14 </a:t>
            </a:r>
            <a:r>
              <a:rPr lang="en-US" noProof="0" dirty="0" err="1"/>
              <a:t>pt</a:t>
            </a:r>
            <a:r>
              <a:rPr lang="en-US" noProof="0" dirty="0"/>
              <a:t>, maximum of 1 line</a:t>
            </a:r>
          </a:p>
        </p:txBody>
      </p:sp>
      <p:sp>
        <p:nvSpPr>
          <p:cNvPr id="5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6735" y="1774583"/>
            <a:ext cx="11082916" cy="4032493"/>
          </a:xfrm>
          <a:ln>
            <a:noFill/>
          </a:ln>
        </p:spPr>
        <p:txBody>
          <a:bodyPr vert="horz" wrap="square" lIns="0" tIns="0" rIns="0" bIns="0" rtlCol="0">
            <a:noAutofit/>
          </a:bodyPr>
          <a:lstStyle>
            <a:lvl1pPr>
              <a:defRPr lang="de-DE" sz="1400" kern="1400" baseline="0" smtClean="0"/>
            </a:lvl1pPr>
            <a:lvl2pPr>
              <a:defRPr lang="de-DE" sz="1400" kern="1400" smtClean="0">
                <a:cs typeface="+mn-cs"/>
              </a:defRPr>
            </a:lvl2pPr>
            <a:lvl3pPr>
              <a:defRPr lang="de-DE" sz="1400" kern="1400" smtClean="0">
                <a:cs typeface="+mn-cs"/>
              </a:defRPr>
            </a:lvl3pPr>
            <a:lvl4pPr>
              <a:defRPr lang="de-DE" sz="1400" kern="1400" smtClean="0">
                <a:cs typeface="+mn-cs"/>
              </a:defRPr>
            </a:lvl4pPr>
            <a:lvl5pPr>
              <a:defRPr lang="de-DE" sz="1400" kern="1400">
                <a:cs typeface="+mn-cs"/>
              </a:defRPr>
            </a:lvl5pPr>
          </a:lstStyle>
          <a:p>
            <a:pPr lvl="0" eaLnBrk="0" hangingPunct="0"/>
            <a:r>
              <a:rPr lang="en-US" dirty="0"/>
              <a:t>Note: Increase indent level to start bullet list/</a:t>
            </a:r>
            <a:r>
              <a:rPr lang="en-US" dirty="0" err="1"/>
              <a:t>Vergrößern</a:t>
            </a:r>
            <a:r>
              <a:rPr lang="en-US" dirty="0"/>
              <a:t> </a:t>
            </a:r>
            <a:r>
              <a:rPr lang="en-US" dirty="0" err="1"/>
              <a:t>Sie</a:t>
            </a:r>
            <a:r>
              <a:rPr lang="en-US" dirty="0"/>
              <a:t> die </a:t>
            </a:r>
            <a:r>
              <a:rPr lang="en-US" dirty="0" err="1"/>
              <a:t>Einzugsebene</a:t>
            </a:r>
            <a:r>
              <a:rPr lang="en-US" dirty="0"/>
              <a:t>, um Bullets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erhalten</a:t>
            </a:r>
            <a:r>
              <a:rPr lang="en-US" dirty="0"/>
              <a:t>.</a:t>
            </a:r>
          </a:p>
          <a:p>
            <a:pPr marL="179070" lvl="1" indent="-179070" eaLnBrk="0" hangingPunct="0">
              <a:buClr>
                <a:schemeClr val="accent1"/>
              </a:buClr>
            </a:pPr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marL="358775" lvl="2" eaLnBrk="0" hangingPunct="0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marL="537845" lvl="3" eaLnBrk="0" hangingPunct="0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marL="716915" lvl="4" eaLnBrk="0" hangingPunct="0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81.xml"/><Relationship Id="rId39" Type="http://schemas.openxmlformats.org/officeDocument/2006/relationships/slideLayout" Target="../slideLayouts/slideLayout94.xml"/><Relationship Id="rId21" Type="http://schemas.openxmlformats.org/officeDocument/2006/relationships/slideLayout" Target="../slideLayouts/slideLayout76.xml"/><Relationship Id="rId34" Type="http://schemas.openxmlformats.org/officeDocument/2006/relationships/slideLayout" Target="../slideLayouts/slideLayout89.xml"/><Relationship Id="rId42" Type="http://schemas.openxmlformats.org/officeDocument/2006/relationships/slideLayout" Target="../slideLayouts/slideLayout97.xml"/><Relationship Id="rId47" Type="http://schemas.openxmlformats.org/officeDocument/2006/relationships/slideLayout" Target="../slideLayouts/slideLayout102.xml"/><Relationship Id="rId50" Type="http://schemas.openxmlformats.org/officeDocument/2006/relationships/slideLayout" Target="../slideLayouts/slideLayout105.xml"/><Relationship Id="rId55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9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79.xml"/><Relationship Id="rId32" Type="http://schemas.openxmlformats.org/officeDocument/2006/relationships/slideLayout" Target="../slideLayouts/slideLayout87.xml"/><Relationship Id="rId37" Type="http://schemas.openxmlformats.org/officeDocument/2006/relationships/slideLayout" Target="../slideLayouts/slideLayout92.xml"/><Relationship Id="rId40" Type="http://schemas.openxmlformats.org/officeDocument/2006/relationships/slideLayout" Target="../slideLayouts/slideLayout95.xml"/><Relationship Id="rId45" Type="http://schemas.openxmlformats.org/officeDocument/2006/relationships/slideLayout" Target="../slideLayouts/slideLayout100.xml"/><Relationship Id="rId53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74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82.xml"/><Relationship Id="rId30" Type="http://schemas.openxmlformats.org/officeDocument/2006/relationships/slideLayout" Target="../slideLayouts/slideLayout85.xml"/><Relationship Id="rId35" Type="http://schemas.openxmlformats.org/officeDocument/2006/relationships/slideLayout" Target="../slideLayouts/slideLayout90.xml"/><Relationship Id="rId43" Type="http://schemas.openxmlformats.org/officeDocument/2006/relationships/slideLayout" Target="../slideLayouts/slideLayout98.xml"/><Relationship Id="rId48" Type="http://schemas.openxmlformats.org/officeDocument/2006/relationships/slideLayout" Target="../slideLayouts/slideLayout103.xml"/><Relationship Id="rId56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63.xml"/><Relationship Id="rId51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80.xml"/><Relationship Id="rId33" Type="http://schemas.openxmlformats.org/officeDocument/2006/relationships/slideLayout" Target="../slideLayouts/slideLayout88.xml"/><Relationship Id="rId38" Type="http://schemas.openxmlformats.org/officeDocument/2006/relationships/slideLayout" Target="../slideLayouts/slideLayout93.xml"/><Relationship Id="rId46" Type="http://schemas.openxmlformats.org/officeDocument/2006/relationships/slideLayout" Target="../slideLayouts/slideLayout101.xml"/><Relationship Id="rId20" Type="http://schemas.openxmlformats.org/officeDocument/2006/relationships/slideLayout" Target="../slideLayouts/slideLayout75.xml"/><Relationship Id="rId41" Type="http://schemas.openxmlformats.org/officeDocument/2006/relationships/slideLayout" Target="../slideLayouts/slideLayout96.xml"/><Relationship Id="rId54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83.xml"/><Relationship Id="rId36" Type="http://schemas.openxmlformats.org/officeDocument/2006/relationships/slideLayout" Target="../slideLayouts/slideLayout91.xml"/><Relationship Id="rId49" Type="http://schemas.openxmlformats.org/officeDocument/2006/relationships/slideLayout" Target="../slideLayouts/slideLayout104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65.xml"/><Relationship Id="rId31" Type="http://schemas.openxmlformats.org/officeDocument/2006/relationships/slideLayout" Target="../slideLayouts/slideLayout86.xml"/><Relationship Id="rId44" Type="http://schemas.openxmlformats.org/officeDocument/2006/relationships/slideLayout" Target="../slideLayouts/slideLayout99.xml"/><Relationship Id="rId52" Type="http://schemas.openxmlformats.org/officeDocument/2006/relationships/slideLayout" Target="../slideLayouts/slideLayout10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Restricted | © Siemens 2021 | Zhou Wen Jing | T RDA IOT INW-CN | 2021-02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79705" indent="-179705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" indent="-179705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79705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90" indent="-179705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899795" indent="-179705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135" indent="-179705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59840" indent="-179705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180" indent="-179705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Restricted | © Siemens 2021 | Zhou Wen Jing | T RDA IOT INW-CN | 2021-02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  <p:sldLayoutId id="2147483757" r:id="rId53"/>
    <p:sldLayoutId id="2147483758" r:id="rId54"/>
    <p:sldLayoutId id="2147483759" r:id="rId55"/>
    <p:sldLayoutId id="2147483760" r:id="rId5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79705" indent="-179705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" indent="-179705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79705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90" indent="-179705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899795" indent="-179705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135" indent="-179705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59840" indent="-179705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180" indent="-179705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37.emf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oleObject" Target="../embeddings/oleObject3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5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slideLayout" Target="../slideLayouts/slideLayout55.xml"/><Relationship Id="rId7" Type="http://schemas.openxmlformats.org/officeDocument/2006/relationships/image" Target="../media/image38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slideLayout" Target="../slideLayouts/slideLayout55.xml"/><Relationship Id="rId7" Type="http://schemas.openxmlformats.org/officeDocument/2006/relationships/image" Target="../media/image37.emf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0.png"/><Relationship Id="rId4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slideLayout" Target="../slideLayouts/slideLayout55.xml"/><Relationship Id="rId7" Type="http://schemas.openxmlformats.org/officeDocument/2006/relationships/image" Target="../media/image42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slideLayout" Target="../slideLayouts/slideLayout55.xml"/><Relationship Id="rId7" Type="http://schemas.openxmlformats.org/officeDocument/2006/relationships/image" Target="../media/image44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5.xml"/><Relationship Id="rId7" Type="http://schemas.openxmlformats.org/officeDocument/2006/relationships/image" Target="../media/image46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37.emf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oleObject" Target="../embeddings/oleObject9.bin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5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290818" y="1489752"/>
            <a:ext cx="11610364" cy="2015490"/>
          </a:xfrm>
        </p:spPr>
        <p:txBody>
          <a:bodyPr/>
          <a:lstStyle/>
          <a:p>
            <a:r>
              <a:rPr lang="en-US" sz="4800" b="0" dirty="0"/>
              <a:t>Bolt tightening curve analysis</a:t>
            </a:r>
            <a:br>
              <a:rPr lang="en-US" altLang="zh-CN" sz="4800" b="0" dirty="0"/>
            </a:br>
            <a:br>
              <a:rPr lang="en-US" altLang="zh-CN" sz="4800" b="0" dirty="0"/>
            </a:br>
            <a:r>
              <a:rPr lang="en-US" altLang="zh-CN" sz="3200" b="0" dirty="0"/>
              <a:t>T CED INW-CN  |  June,2022</a:t>
            </a:r>
            <a:endParaRPr lang="en-US" sz="3200" b="0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2022 | </a:t>
            </a:r>
            <a:r>
              <a:rPr lang="en-US" dirty="0">
                <a:sym typeface="+mn-ea"/>
              </a:rPr>
              <a:t>LIU ZHAN HONG</a:t>
            </a:r>
            <a:r>
              <a:rPr lang="en-US" dirty="0"/>
              <a:t> | T </a:t>
            </a:r>
            <a:r>
              <a:rPr lang="en-US" altLang="zh-CN" dirty="0"/>
              <a:t>CED </a:t>
            </a:r>
            <a:r>
              <a:rPr lang="en-US" dirty="0"/>
              <a:t>INW-CN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162" y="252769"/>
            <a:ext cx="5904675" cy="576000"/>
          </a:xfrm>
        </p:spPr>
        <p:txBody>
          <a:bodyPr/>
          <a:lstStyle/>
          <a:p>
            <a:r>
              <a:rPr lang="en-US" dirty="0"/>
              <a:t>Outline of the catalogue</a:t>
            </a:r>
          </a:p>
        </p:txBody>
      </p:sp>
      <p:pic>
        <p:nvPicPr>
          <p:cNvPr id="4" name="Graphic 3" descr="Badge 1 with solid fil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225" y="1871175"/>
            <a:ext cx="704850" cy="704850"/>
          </a:xfrm>
          <a:prstGeom prst="rect">
            <a:avLst/>
          </a:prstGeom>
        </p:spPr>
      </p:pic>
      <p:pic>
        <p:nvPicPr>
          <p:cNvPr id="8" name="Graphic 7" descr="Badge with solid 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5" y="2999610"/>
            <a:ext cx="704850" cy="704850"/>
          </a:xfrm>
          <a:prstGeom prst="rect">
            <a:avLst/>
          </a:prstGeom>
        </p:spPr>
      </p:pic>
      <p:sp>
        <p:nvSpPr>
          <p:cNvPr id="10" name="Rechteck 2169"/>
          <p:cNvSpPr/>
          <p:nvPr/>
        </p:nvSpPr>
        <p:spPr bwMode="gray">
          <a:xfrm>
            <a:off x="2039112" y="2028825"/>
            <a:ext cx="7390638" cy="54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9pPr>
          </a:lstStyle>
          <a:p>
            <a:pPr algn="l" rtl="0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样本总结</a:t>
            </a:r>
            <a:endParaRPr lang="en-US" altLang="zh-CN" sz="54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6" name="Footer Placeholder 3"/>
            <p:cNvSpPr txBox="1"/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</a:t>
              </a:r>
              <a:r>
                <a:rPr lang="en-US" sz="900" dirty="0">
                  <a:sym typeface="+mn-ea"/>
                </a:rPr>
                <a:t>LIU ZHAN HONG</a:t>
              </a:r>
              <a:r>
                <a:rPr lang="en-US" sz="900" dirty="0"/>
                <a:t>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5" name="Slide Number Placeholder 3"/>
            <p:cNvSpPr txBox="1"/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t>2</a:t>
              </a:fld>
              <a:endParaRPr lang="en-US" sz="900" dirty="0"/>
            </a:p>
          </p:txBody>
        </p:sp>
      </p:grpSp>
      <p:sp>
        <p:nvSpPr>
          <p:cNvPr id="3" name="Rechteck 2169"/>
          <p:cNvSpPr/>
          <p:nvPr/>
        </p:nvSpPr>
        <p:spPr bwMode="gray">
          <a:xfrm>
            <a:off x="2039747" y="3170308"/>
            <a:ext cx="7390638" cy="54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9pPr>
          </a:lstStyle>
          <a:p>
            <a:pPr algn="l" rtl="0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数据集存在的主要问题</a:t>
            </a:r>
          </a:p>
        </p:txBody>
      </p:sp>
      <p:sp>
        <p:nvSpPr>
          <p:cNvPr id="12" name="Rechteck 2169"/>
          <p:cNvSpPr/>
          <p:nvPr/>
        </p:nvSpPr>
        <p:spPr bwMode="gray">
          <a:xfrm>
            <a:off x="2039747" y="4321182"/>
            <a:ext cx="7390638" cy="54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charset="-128"/>
                <a:cs typeface="+mn-cs"/>
              </a:defRPr>
            </a:lvl9pPr>
          </a:lstStyle>
          <a:p>
            <a:pPr algn="l" rtl="0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目前的数据处理方式及结果</a:t>
            </a:r>
          </a:p>
        </p:txBody>
      </p:sp>
      <p:pic>
        <p:nvPicPr>
          <p:cNvPr id="13" name="Graphic 12" descr="Badge 3 with solid fill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8225" y="4128045"/>
            <a:ext cx="704850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1022399" y="1702799"/>
            <a:ext cx="10525435" cy="4104000"/>
          </a:xfrm>
        </p:spPr>
        <p:txBody>
          <a:bodyPr/>
          <a:lstStyle/>
          <a:p>
            <a:pPr algn="l" rtl="0"/>
            <a:r>
              <a:rPr lang="zh-CN" altLang="en-US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样本总结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0" name="Footer Placeholder 3"/>
            <p:cNvSpPr txBox="1"/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YU HE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1" name="Slide Number Placeholder 3"/>
            <p:cNvSpPr txBox="1"/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t>3</a:t>
              </a:fld>
              <a:endParaRPr lang="en-US" sz="9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715" imgH="5715" progId="TCLayout.ActiveDocument.1">
                  <p:embed/>
                </p:oleObj>
              </mc:Choice>
              <mc:Fallback>
                <p:oleObj name="think-cell Slide" r:id="rId6" imgW="5715" imgH="5715" progId="TCLayout.ActiveDocument.1">
                  <p:embed/>
                  <p:pic>
                    <p:nvPicPr>
                      <p:cNvPr id="0" name="Object 62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/>
          <p:cNvSpPr/>
          <p:nvPr>
            <p:custDataLst>
              <p:tags r:id="rId2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panose="05000000000000000000" charset="0"/>
              <a:buNone/>
            </a:pPr>
            <a:endParaRPr lang="en-US" sz="2200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5" name="Footer Placeholder 3"/>
            <p:cNvSpPr txBox="1"/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</a:t>
              </a:r>
              <a:r>
                <a:rPr lang="en-US" sz="900" dirty="0">
                  <a:sym typeface="+mn-ea"/>
                </a:rPr>
                <a:t>LIU ZHAN HONG</a:t>
              </a:r>
              <a:r>
                <a:rPr lang="en-US" sz="900" dirty="0"/>
                <a:t>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6" name="Slide Number Placeholder 3"/>
            <p:cNvSpPr txBox="1"/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t>4</a:t>
              </a:fld>
              <a:endParaRPr lang="en-US" sz="900" dirty="0"/>
            </a:p>
          </p:txBody>
        </p:sp>
      </p:grp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535842" y="320061"/>
            <a:ext cx="9863997" cy="576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/>
              <a:t>样本总结</a:t>
            </a:r>
            <a:br>
              <a:rPr lang="en-US" altLang="zh-CN" dirty="0"/>
            </a:br>
            <a:endParaRPr 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627224648"/>
              </p:ext>
            </p:extLst>
          </p:nvPr>
        </p:nvGraphicFramePr>
        <p:xfrm>
          <a:off x="1802483" y="1158715"/>
          <a:ext cx="9076049" cy="398832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40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0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8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8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178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588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</a:rPr>
                        <a:t>拧紧枪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</a:rPr>
                        <a:t>样本数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</a:rPr>
                        <a:t>状态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Comments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26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正常</a:t>
                      </a:r>
                      <a:endParaRPr lang="zh-CN" altLang="en-US" sz="1800" b="1" i="0" u="none" strike="noStrike" dirty="0">
                        <a:solidFill>
                          <a:srgbClr val="00B05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solidFill>
                            <a:srgbClr val="EF0137"/>
                          </a:solidFill>
                          <a:effectLst/>
                        </a:rPr>
                        <a:t>偏向于异常</a:t>
                      </a:r>
                      <a:endParaRPr lang="zh-CN" altLang="en-US" sz="1800" b="1" i="0" u="none" strike="noStrike" dirty="0">
                        <a:solidFill>
                          <a:srgbClr val="EF0137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23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手动枪</a:t>
                      </a:r>
                      <a:r>
                        <a:rPr lang="en-US" altLang="zh-CN" sz="1600" u="none" strike="noStrike" dirty="0">
                          <a:effectLst/>
                        </a:rPr>
                        <a:t>-5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23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23</a:t>
                      </a:r>
                      <a:r>
                        <a:rPr lang="zh-CN" altLang="en-US" sz="1600" u="none" strike="noStrike" dirty="0">
                          <a:effectLst/>
                        </a:rPr>
                        <a:t>　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0</a:t>
                      </a:r>
                      <a:r>
                        <a:rPr lang="zh-CN" altLang="en-US" sz="1600" u="none" strike="noStrike" dirty="0">
                          <a:effectLst/>
                        </a:rPr>
                        <a:t>　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1</a:t>
                      </a:r>
                      <a:r>
                        <a:rPr lang="zh-CN" altLang="en-US" sz="1600" u="none" strike="noStrike" dirty="0">
                          <a:effectLst/>
                        </a:rPr>
                        <a:t>、基于异常数据样本；</a:t>
                      </a:r>
                      <a:endParaRPr lang="en-US" altLang="zh-CN" sz="1600" u="none" strike="noStrike" dirty="0">
                        <a:effectLst/>
                      </a:endParaRPr>
                    </a:p>
                    <a:p>
                      <a:pPr algn="l" fontAlgn="ctr"/>
                      <a:r>
                        <a:rPr lang="en-US" altLang="zh-CN" sz="1600" u="none" strike="noStrike" dirty="0">
                          <a:effectLst/>
                        </a:rPr>
                        <a:t>2</a:t>
                      </a:r>
                      <a:r>
                        <a:rPr lang="zh-CN" altLang="en-US" sz="1600" u="none" strike="noStrike" dirty="0">
                          <a:effectLst/>
                        </a:rPr>
                        <a:t>、部分</a:t>
                      </a:r>
                      <a:r>
                        <a:rPr lang="en-US" altLang="zh-CN" sz="1600" u="none" strike="noStrike" dirty="0" err="1">
                          <a:effectLst/>
                        </a:rPr>
                        <a:t>Json</a:t>
                      </a:r>
                      <a:r>
                        <a:rPr lang="zh-CN" altLang="en-US" sz="1600" u="none" strike="noStrike" dirty="0">
                          <a:effectLst/>
                        </a:rPr>
                        <a:t>数据无法复原，涉及到博世的内部算法；</a:t>
                      </a:r>
                    </a:p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　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23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>
                          <a:effectLst/>
                        </a:rPr>
                        <a:t>轴</a:t>
                      </a:r>
                      <a:r>
                        <a:rPr lang="en-US" altLang="zh-CN" sz="1600" u="none" strike="noStrike">
                          <a:effectLst/>
                        </a:rPr>
                        <a:t>-1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31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29</a:t>
                      </a:r>
                      <a:r>
                        <a:rPr lang="zh-CN" altLang="en-US" sz="1600" u="none" strike="noStrike" dirty="0">
                          <a:effectLst/>
                        </a:rPr>
                        <a:t>　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2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23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>
                          <a:effectLst/>
                        </a:rPr>
                        <a:t>轴</a:t>
                      </a:r>
                      <a:r>
                        <a:rPr lang="en-US" altLang="zh-CN" sz="1600" u="none" strike="noStrike">
                          <a:effectLst/>
                        </a:rPr>
                        <a:t>-2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30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28</a:t>
                      </a:r>
                      <a:r>
                        <a:rPr lang="zh-CN" altLang="en-US" sz="1600" u="none" strike="noStrike" dirty="0">
                          <a:effectLst/>
                        </a:rPr>
                        <a:t>　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2</a:t>
                      </a:r>
                      <a:r>
                        <a:rPr lang="zh-CN" altLang="en-US" sz="1600" u="none" strike="noStrike" dirty="0">
                          <a:effectLst/>
                        </a:rPr>
                        <a:t>　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23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>
                          <a:effectLst/>
                        </a:rPr>
                        <a:t>轴</a:t>
                      </a:r>
                      <a:r>
                        <a:rPr lang="en-US" altLang="zh-CN" sz="1600" u="none" strike="noStrike">
                          <a:effectLst/>
                        </a:rPr>
                        <a:t>-3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32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32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0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023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>
                          <a:effectLst/>
                        </a:rPr>
                        <a:t>轴</a:t>
                      </a:r>
                      <a:r>
                        <a:rPr lang="en-US" altLang="zh-CN" sz="1600" u="none" strike="noStrike">
                          <a:effectLst/>
                        </a:rPr>
                        <a:t>-4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29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26</a:t>
                      </a:r>
                      <a:r>
                        <a:rPr lang="zh-CN" altLang="en-US" sz="1600" u="none" strike="noStrike" dirty="0">
                          <a:effectLst/>
                        </a:rPr>
                        <a:t>　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3</a:t>
                      </a:r>
                      <a:r>
                        <a:rPr lang="zh-CN" altLang="en-US" sz="1600" u="none" strike="noStrike" dirty="0">
                          <a:effectLst/>
                        </a:rPr>
                        <a:t>　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1022399" y="1702799"/>
            <a:ext cx="10525435" cy="4104000"/>
          </a:xfrm>
        </p:spPr>
        <p:txBody>
          <a:bodyPr/>
          <a:lstStyle/>
          <a:p>
            <a:pPr algn="l" rtl="0"/>
            <a:r>
              <a:rPr lang="zh-CN" altLang="en-US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数据集存在的主要问题</a:t>
            </a:r>
          </a:p>
          <a:p>
            <a:pPr algn="l" rtl="0"/>
            <a:endParaRPr 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0" name="Footer Placeholder 3"/>
            <p:cNvSpPr txBox="1"/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YU HE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1" name="Slide Number Placeholder 3"/>
            <p:cNvSpPr txBox="1"/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t>5</a:t>
              </a:fld>
              <a:endParaRPr lang="en-US" sz="9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715" imgH="5715" progId="TCLayout.ActiveDocument.1">
                  <p:embed/>
                </p:oleObj>
              </mc:Choice>
              <mc:Fallback>
                <p:oleObj name="think-cell Slide" r:id="rId5" imgW="5715" imgH="5715" progId="TCLayout.ActiveDocument.1">
                  <p:embed/>
                  <p:pic>
                    <p:nvPicPr>
                      <p:cNvPr id="0" name="Object 62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/>
          <p:cNvSpPr/>
          <p:nvPr>
            <p:custDataLst>
              <p:tags r:id="rId2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panose="05000000000000000000" charset="0"/>
              <a:buNone/>
            </a:pPr>
            <a:endParaRPr lang="en-US" sz="2200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5" name="Footer Placeholder 3"/>
            <p:cNvSpPr txBox="1"/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YU HE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6" name="Slide Number Placeholder 3"/>
            <p:cNvSpPr txBox="1"/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t>6</a:t>
              </a:fld>
              <a:endParaRPr lang="en-US" sz="900" dirty="0"/>
            </a:p>
          </p:txBody>
        </p:sp>
      </p:grpSp>
      <p:sp>
        <p:nvSpPr>
          <p:cNvPr id="10" name="Title 2"/>
          <p:cNvSpPr>
            <a:spLocks noGrp="1"/>
          </p:cNvSpPr>
          <p:nvPr>
            <p:ph type="title"/>
          </p:nvPr>
        </p:nvSpPr>
        <p:spPr>
          <a:xfrm>
            <a:off x="554695" y="428874"/>
            <a:ext cx="9863997" cy="576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/>
              <a:t>根据原始</a:t>
            </a:r>
            <a:r>
              <a:rPr lang="en-US" altLang="zh-CN" dirty="0" err="1"/>
              <a:t>json</a:t>
            </a:r>
            <a:r>
              <a:rPr lang="zh-CN" altLang="en-US" dirty="0"/>
              <a:t>数据，部分图形无法复现</a:t>
            </a:r>
            <a:br>
              <a:rPr lang="en-US" altLang="zh-CN" dirty="0"/>
            </a:b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771" y="821602"/>
            <a:ext cx="6677796" cy="408555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8"/>
          <a:srcRect l="10205" t="7553" r="8414" b="3025"/>
          <a:stretch>
            <a:fillRect/>
          </a:stretch>
        </p:blipFill>
        <p:spPr>
          <a:xfrm>
            <a:off x="5333180" y="2252119"/>
            <a:ext cx="6746176" cy="40855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1022399" y="1702799"/>
            <a:ext cx="10525435" cy="4104000"/>
          </a:xfrm>
        </p:spPr>
        <p:txBody>
          <a:bodyPr vert="horz" lIns="0" tIns="0" rIns="0" bIns="0" rtlCol="0">
            <a:noAutofit/>
          </a:bodyPr>
          <a:lstStyle/>
          <a:p>
            <a:pPr algn="l" rtl="0"/>
            <a:r>
              <a:rPr lang="zh-CN" altLang="en-US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目前的数据处理方式及结果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0" name="Footer Placeholder 3"/>
            <p:cNvSpPr txBox="1"/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</a:t>
              </a:r>
              <a:r>
                <a:rPr lang="en-US" sz="900" dirty="0">
                  <a:sym typeface="+mn-ea"/>
                </a:rPr>
                <a:t>LIU ZHAN HONG</a:t>
              </a:r>
              <a:r>
                <a:rPr lang="en-US" sz="900" dirty="0"/>
                <a:t>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1" name="Slide Number Placeholder 3"/>
            <p:cNvSpPr txBox="1"/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t>7</a:t>
              </a:fld>
              <a:endParaRPr lang="en-US" sz="9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763BF8D-0114-0303-D5A6-437C4D384A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56" y="523099"/>
            <a:ext cx="5089246" cy="5800542"/>
          </a:xfrm>
          <a:prstGeom prst="rect">
            <a:avLst/>
          </a:prstGeom>
        </p:spPr>
      </p:pic>
      <p:graphicFrame>
        <p:nvGraphicFramePr>
          <p:cNvPr id="622" name="Object 62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715" imgH="5715" progId="TCLayout.ActiveDocument.1">
                  <p:embed/>
                </p:oleObj>
              </mc:Choice>
              <mc:Fallback>
                <p:oleObj name="think-cell Slide" r:id="rId6" imgW="5715" imgH="5715" progId="TCLayout.ActiveDocument.1">
                  <p:embed/>
                  <p:pic>
                    <p:nvPicPr>
                      <p:cNvPr id="0" name="Object 62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/>
          <p:cNvSpPr/>
          <p:nvPr>
            <p:custDataLst>
              <p:tags r:id="rId2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panose="05000000000000000000" charset="0"/>
              <a:buNone/>
            </a:pPr>
            <a:endParaRPr lang="en-US" sz="2200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5" name="Footer Placeholder 3"/>
            <p:cNvSpPr txBox="1"/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</a:t>
              </a:r>
              <a:r>
                <a:rPr lang="en-US" sz="900" dirty="0">
                  <a:sym typeface="+mn-ea"/>
                </a:rPr>
                <a:t>LIU ZHAN HONG</a:t>
              </a:r>
              <a:r>
                <a:rPr lang="en-US" sz="900" dirty="0"/>
                <a:t>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6" name="Slide Number Placeholder 3"/>
            <p:cNvSpPr txBox="1"/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t>8</a:t>
              </a:fld>
              <a:endParaRPr lang="en-US" sz="900" dirty="0"/>
            </a:p>
          </p:txBody>
        </p:sp>
      </p:grp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545269" y="268619"/>
            <a:ext cx="9863997" cy="576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/>
              <a:t>轴</a:t>
            </a:r>
            <a:r>
              <a:rPr lang="en-US" altLang="zh-CN" dirty="0"/>
              <a:t>-1-29</a:t>
            </a:r>
            <a:br>
              <a:rPr lang="en-US" altLang="zh-CN" dirty="0"/>
            </a:br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8802" y="403609"/>
            <a:ext cx="6883642" cy="5920032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>
          <a:xfrm>
            <a:off x="545269" y="3623416"/>
            <a:ext cx="1377799" cy="3600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zh-CN" altLang="en-US" dirty="0"/>
          </a:p>
        </p:txBody>
      </p:sp>
      <p:sp>
        <p:nvSpPr>
          <p:cNvPr id="17" name="椭圆 16"/>
          <p:cNvSpPr/>
          <p:nvPr/>
        </p:nvSpPr>
        <p:spPr>
          <a:xfrm>
            <a:off x="458296" y="4973528"/>
            <a:ext cx="1377799" cy="3600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715" imgH="5715" progId="TCLayout.ActiveDocument.1">
                  <p:embed/>
                </p:oleObj>
              </mc:Choice>
              <mc:Fallback>
                <p:oleObj name="think-cell Slide" r:id="rId5" imgW="5715" imgH="5715" progId="TCLayout.ActiveDocument.1">
                  <p:embed/>
                  <p:pic>
                    <p:nvPicPr>
                      <p:cNvPr id="0" name="Object 62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/>
          <p:cNvSpPr/>
          <p:nvPr>
            <p:custDataLst>
              <p:tags r:id="rId2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panose="05000000000000000000" charset="0"/>
              <a:buNone/>
            </a:pPr>
            <a:endParaRPr lang="en-US" sz="2200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5" name="Footer Placeholder 3"/>
            <p:cNvSpPr txBox="1"/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</a:t>
              </a:r>
              <a:r>
                <a:rPr lang="en-US" sz="900" dirty="0">
                  <a:sym typeface="+mn-ea"/>
                </a:rPr>
                <a:t>LIU ZHAN HONG</a:t>
              </a:r>
              <a:r>
                <a:rPr lang="en-US" sz="900" dirty="0"/>
                <a:t>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6" name="Slide Number Placeholder 3"/>
            <p:cNvSpPr txBox="1"/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t>9</a:t>
              </a:fld>
              <a:endParaRPr lang="en-US" sz="900" dirty="0"/>
            </a:p>
          </p:txBody>
        </p:sp>
      </p:grp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498134" y="262315"/>
            <a:ext cx="9863997" cy="576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/>
              <a:t>轴</a:t>
            </a:r>
            <a:r>
              <a:rPr lang="en-US" altLang="zh-CN" dirty="0"/>
              <a:t>-1-29</a:t>
            </a:r>
            <a:r>
              <a:rPr lang="zh-CN" altLang="en-US" dirty="0"/>
              <a:t>的斜率</a:t>
            </a:r>
            <a:r>
              <a:rPr lang="en-US" altLang="zh-CN" dirty="0"/>
              <a:t>K</a:t>
            </a:r>
            <a:r>
              <a:rPr lang="zh-CN" altLang="en-US" dirty="0"/>
              <a:t>值变化图</a:t>
            </a:r>
            <a:br>
              <a:rPr lang="en-US" altLang="zh-CN" dirty="0"/>
            </a:b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7"/>
          <a:srcRect l="10363" t="8135" r="9330" b="5073"/>
          <a:stretch>
            <a:fillRect/>
          </a:stretch>
        </p:blipFill>
        <p:spPr>
          <a:xfrm>
            <a:off x="774917" y="552023"/>
            <a:ext cx="10400648" cy="277402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936181" y="930151"/>
            <a:ext cx="648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完整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8"/>
          <a:srcRect l="10129" t="7587" r="9227" b="2184"/>
          <a:stretch>
            <a:fillRect/>
          </a:stretch>
        </p:blipFill>
        <p:spPr>
          <a:xfrm>
            <a:off x="774918" y="3429000"/>
            <a:ext cx="10357920" cy="30437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134504" y="3882040"/>
            <a:ext cx="234095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将斜率最后</a:t>
            </a:r>
            <a:r>
              <a:rPr lang="en-US" altLang="zh-CN" dirty="0"/>
              <a:t>10</a:t>
            </a:r>
            <a:r>
              <a:rPr lang="zh-CN" altLang="en-US" dirty="0"/>
              <a:t>个点过滤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715" imgH="5715" progId="TCLayout.ActiveDocument.1">
                  <p:embed/>
                </p:oleObj>
              </mc:Choice>
              <mc:Fallback>
                <p:oleObj name="think-cell Slide" r:id="rId5" imgW="5715" imgH="5715" progId="TCLayout.ActiveDocument.1">
                  <p:embed/>
                  <p:pic>
                    <p:nvPicPr>
                      <p:cNvPr id="0" name="Object 62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/>
          <p:cNvSpPr/>
          <p:nvPr>
            <p:custDataLst>
              <p:tags r:id="rId2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panose="05000000000000000000" charset="0"/>
              <a:buNone/>
            </a:pPr>
            <a:endParaRPr lang="en-US" sz="2200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5" name="Footer Placeholder 3"/>
            <p:cNvSpPr txBox="1"/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</a:t>
              </a:r>
              <a:r>
                <a:rPr lang="en-US" sz="900" dirty="0">
                  <a:sym typeface="+mn-ea"/>
                </a:rPr>
                <a:t>LIU ZHAN HONG</a:t>
              </a:r>
              <a:r>
                <a:rPr lang="en-US" sz="900" dirty="0"/>
                <a:t>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6" name="Slide Number Placeholder 3"/>
            <p:cNvSpPr txBox="1"/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t>10</a:t>
              </a:fld>
              <a:endParaRPr lang="en-US" sz="900" dirty="0"/>
            </a:p>
          </p:txBody>
        </p:sp>
      </p:grp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498134" y="262315"/>
            <a:ext cx="9863997" cy="576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/>
              <a:t>轴</a:t>
            </a:r>
            <a:r>
              <a:rPr lang="en-US" altLang="zh-CN" dirty="0"/>
              <a:t>-1-29</a:t>
            </a:r>
            <a:br>
              <a:rPr lang="en-US" altLang="zh-CN" dirty="0"/>
            </a:br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7"/>
          <a:srcRect l="8687" t="8336" r="8995" b="4605"/>
          <a:stretch>
            <a:fillRect/>
          </a:stretch>
        </p:blipFill>
        <p:spPr>
          <a:xfrm>
            <a:off x="1319753" y="493309"/>
            <a:ext cx="9603408" cy="2686639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8"/>
          <a:srcRect l="8687" t="8489" r="9382" b="4334"/>
          <a:stretch>
            <a:fillRect/>
          </a:stretch>
        </p:blipFill>
        <p:spPr>
          <a:xfrm>
            <a:off x="1319753" y="3280528"/>
            <a:ext cx="9603408" cy="319219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110778" y="4030512"/>
            <a:ext cx="2251353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扭矩达到最大值以后，斜率</a:t>
            </a:r>
            <a:r>
              <a:rPr lang="en-US" altLang="zh-CN" dirty="0"/>
              <a:t>k</a:t>
            </a:r>
            <a:r>
              <a:rPr lang="zh-CN" altLang="en-US" dirty="0"/>
              <a:t>值第一次小于</a:t>
            </a:r>
            <a:r>
              <a:rPr lang="en-US" altLang="zh-CN" dirty="0"/>
              <a:t>0</a:t>
            </a:r>
            <a:r>
              <a:rPr lang="zh-CN" altLang="en-US" dirty="0"/>
              <a:t>后的波段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110778" y="1357140"/>
            <a:ext cx="208902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扭矩达到最大值以后，斜率</a:t>
            </a:r>
            <a:r>
              <a:rPr lang="en-US" altLang="zh-CN" dirty="0"/>
              <a:t>k</a:t>
            </a:r>
            <a:r>
              <a:rPr lang="zh-CN" altLang="en-US" dirty="0"/>
              <a:t>的波段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715" imgH="5715" progId="TCLayout.ActiveDocument.1">
                  <p:embed/>
                </p:oleObj>
              </mc:Choice>
              <mc:Fallback>
                <p:oleObj name="think-cell Slide" r:id="rId5" imgW="5715" imgH="5715" progId="TCLayout.ActiveDocument.1">
                  <p:embed/>
                  <p:pic>
                    <p:nvPicPr>
                      <p:cNvPr id="0" name="Object 62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/>
          <p:cNvSpPr/>
          <p:nvPr>
            <p:custDataLst>
              <p:tags r:id="rId2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panose="05000000000000000000" charset="0"/>
              <a:buNone/>
            </a:pPr>
            <a:endParaRPr lang="en-US" sz="2200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5" name="Footer Placeholder 3"/>
            <p:cNvSpPr txBox="1"/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LIU ZHAN HONG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6" name="Slide Number Placeholder 3"/>
            <p:cNvSpPr txBox="1"/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t>11</a:t>
              </a:fld>
              <a:endParaRPr lang="en-US" sz="900" dirty="0"/>
            </a:p>
          </p:txBody>
        </p:sp>
      </p:grp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498134" y="262315"/>
            <a:ext cx="9863997" cy="576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/>
              <a:t>对满足条件的数据进行统计算法分析</a:t>
            </a:r>
            <a:br>
              <a:rPr lang="en-US" altLang="zh-CN" dirty="0"/>
            </a:br>
            <a:endParaRPr 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470581" y="838315"/>
            <a:ext cx="9134574" cy="27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理论上越是趋近于屈服点，过滤后</a:t>
            </a:r>
            <a:r>
              <a:rPr lang="en-US" altLang="zh-CN" dirty="0"/>
              <a:t>K</a:t>
            </a:r>
            <a:r>
              <a:rPr lang="zh-CN" altLang="en-US" dirty="0"/>
              <a:t>值的概率密度分布越趋近于某一段负值区间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7"/>
          <a:srcRect l="4674" t="11781" r="8669" b="1383"/>
          <a:stretch>
            <a:fillRect/>
          </a:stretch>
        </p:blipFill>
        <p:spPr>
          <a:xfrm>
            <a:off x="1788160" y="1263650"/>
            <a:ext cx="7282815" cy="5208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715" imgH="5715" progId="TCLayout.ActiveDocument.1">
                  <p:embed/>
                </p:oleObj>
              </mc:Choice>
              <mc:Fallback>
                <p:oleObj name="think-cell Slide" r:id="rId6" imgW="5715" imgH="5715" progId="TCLayout.ActiveDocument.1">
                  <p:embed/>
                  <p:pic>
                    <p:nvPicPr>
                      <p:cNvPr id="0" name="Object 62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/>
          <p:cNvSpPr/>
          <p:nvPr>
            <p:custDataLst>
              <p:tags r:id="rId2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panose="05000000000000000000" charset="0"/>
              <a:buNone/>
            </a:pPr>
            <a:endParaRPr lang="en-US" sz="2200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50906" y="6584400"/>
            <a:ext cx="9864000" cy="547200"/>
            <a:chOff x="411162" y="6472725"/>
            <a:chExt cx="9864000" cy="547200"/>
          </a:xfrm>
        </p:grpSpPr>
        <p:sp>
          <p:nvSpPr>
            <p:cNvPr id="15" name="Footer Placeholder 3"/>
            <p:cNvSpPr txBox="1"/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</a:t>
              </a:r>
              <a:r>
                <a:rPr lang="en-US" sz="900" dirty="0">
                  <a:sym typeface="+mn-ea"/>
                </a:rPr>
                <a:t>LIU ZHAN HONG</a:t>
              </a:r>
              <a:r>
                <a:rPr lang="en-US" sz="900" dirty="0"/>
                <a:t>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6" name="Slide Number Placeholder 3"/>
            <p:cNvSpPr txBox="1"/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t>12</a:t>
              </a:fld>
              <a:endParaRPr lang="en-US" sz="900" dirty="0"/>
            </a:p>
          </p:txBody>
        </p:sp>
      </p:grpSp>
      <p:graphicFrame>
        <p:nvGraphicFramePr>
          <p:cNvPr id="28" name="Table 1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792566" y="1244114"/>
          <a:ext cx="8115005" cy="2352384"/>
        </p:xfrm>
        <a:graphic>
          <a:graphicData uri="http://schemas.openxmlformats.org/drawingml/2006/table">
            <a:tbl>
              <a:tblPr/>
              <a:tblGrid>
                <a:gridCol w="684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0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59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endParaRPr lang="en-US" sz="16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05" marR="5705" marT="57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effectLst/>
                          <a:latin typeface="Calibri" panose="020F0502020204030204" pitchFamily="34" charset="0"/>
                        </a:rPr>
                        <a:t>TBD</a:t>
                      </a:r>
                    </a:p>
                  </a:txBody>
                  <a:tcPr marL="5705" marR="5705" marT="57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42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705" marR="5705" marT="57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需要每个螺栓的非正常曲线大量数据集</a:t>
                      </a:r>
                      <a:endParaRPr lang="en-US" altLang="zh-CN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705" marR="5705" marT="57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746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705" marR="5705" marT="57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找到每个螺栓屈服点的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值区间</a:t>
                      </a:r>
                      <a:endParaRPr lang="en-US" altLang="zh-CN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27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705" marR="5705" marT="57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若有螺栓拧紧过程中有反松阶段，则需要进一步加区间算法</a:t>
                      </a:r>
                      <a:endParaRPr lang="en-US" altLang="zh-CN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410400" y="1414463"/>
            <a:ext cx="9288000" cy="615553"/>
          </a:xfrm>
        </p:spPr>
        <p:txBody>
          <a:bodyPr/>
          <a:lstStyle/>
          <a:p>
            <a:r>
              <a:rPr lang="en-US" dirty="0">
                <a:latin typeface="+mn-lt"/>
                <a:ea typeface="+mn-ea"/>
                <a:cs typeface="+mn-ea"/>
                <a:sym typeface="+mn-lt"/>
              </a:rPr>
              <a:t>T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hanks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2"/>
          </p:nvPr>
        </p:nvSpPr>
        <p:spPr>
          <a:xfrm>
            <a:off x="410400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cs typeface="+mn-ea"/>
                <a:sym typeface="+mn-lt"/>
              </a:rPr>
              <a:t>Restricted | © Siemens 2022 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Q5ZGE1Mzc0ZjU1NWFmODcyNTUzZjlhMjE1OTA0Mj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ZWYDq8bS6ul.4jt44dsX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ZWYDq8bS6ul.4jt44dsX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769cff9-712d-4d6f-8a87-6ea22246a10b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137a5aa-8175-4769-8297-be7257433d1a}"/>
</p:tagLst>
</file>

<file path=ppt/theme/theme1.xml><?xml version="1.0" encoding="utf-8"?>
<a:theme xmlns:a="http://schemas.openxmlformats.org/drawingml/2006/main" name="Siemens 2020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ooieeu3g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iemens 2020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ooieeu3g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NEW!_sie-ppt-O365-16x9-standard-eng-v3-0</Template>
  <TotalTime>0</TotalTime>
  <Words>556</Words>
  <Application>Microsoft Office PowerPoint</Application>
  <PresentationFormat>Widescreen</PresentationFormat>
  <Paragraphs>88</Paragraphs>
  <Slides>13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微软雅黑</vt:lpstr>
      <vt:lpstr>等线</vt:lpstr>
      <vt:lpstr>Arial</vt:lpstr>
      <vt:lpstr>Calibri</vt:lpstr>
      <vt:lpstr>Siemens Sans</vt:lpstr>
      <vt:lpstr>Wingdings</vt:lpstr>
      <vt:lpstr>Siemens 2020</vt:lpstr>
      <vt:lpstr>1_Siemens 2020</vt:lpstr>
      <vt:lpstr>think-cell Slide</vt:lpstr>
      <vt:lpstr>Bolt tightening curve analysis  T CED INW-CN  |  June,2022</vt:lpstr>
      <vt:lpstr>Outline of the catalogue</vt:lpstr>
      <vt:lpstr>PowerPoint Presentation</vt:lpstr>
      <vt:lpstr>样本总结 </vt:lpstr>
      <vt:lpstr>PowerPoint Presentation</vt:lpstr>
      <vt:lpstr>根据原始json数据，部分图形无法复现 </vt:lpstr>
      <vt:lpstr>PowerPoint Presentation</vt:lpstr>
      <vt:lpstr>轴-1-29 </vt:lpstr>
      <vt:lpstr>轴-1-29的斜率K值变化图 </vt:lpstr>
      <vt:lpstr>轴-1-29 </vt:lpstr>
      <vt:lpstr>对满足条件的数据进行统计算法分析 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chart two-line headline, Arial, 80 pt</dc:title>
  <dc:creator>Yu, He (T RDA IOT INW-CN)</dc:creator>
  <cp:keywords>Template</cp:keywords>
  <dc:description>Version 3.0.8_x000d_
September 2020</dc:description>
  <cp:lastModifiedBy>Yu, He (T CED INW-CN)</cp:lastModifiedBy>
  <cp:revision>422</cp:revision>
  <dcterms:created xsi:type="dcterms:W3CDTF">2020-11-27T07:32:00Z</dcterms:created>
  <dcterms:modified xsi:type="dcterms:W3CDTF">2023-11-08T05:38:29Z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0x01010072B174D5FE7DC343B8DB7235E0ED09A9</vt:lpwstr>
  </property>
  <property fmtid="{D5CDD505-2E9C-101B-9397-08002B2CF9AE}" pid="3" name="MSIP_Label_a59b6cd5-d141-4a33-8bf1-0ca04484304f_Enabled">
    <vt:lpwstr>true</vt:lpwstr>
  </property>
  <property fmtid="{D5CDD505-2E9C-101B-9397-08002B2CF9AE}" pid="4" name="MSIP_Label_a59b6cd5-d141-4a33-8bf1-0ca04484304f_SetDate">
    <vt:lpwstr>2022-04-15T08:51:59Z</vt:lpwstr>
  </property>
  <property fmtid="{D5CDD505-2E9C-101B-9397-08002B2CF9AE}" pid="5" name="MSIP_Label_a59b6cd5-d141-4a33-8bf1-0ca04484304f_Method">
    <vt:lpwstr>Standard</vt:lpwstr>
  </property>
  <property fmtid="{D5CDD505-2E9C-101B-9397-08002B2CF9AE}" pid="6" name="MSIP_Label_a59b6cd5-d141-4a33-8bf1-0ca04484304f_Name">
    <vt:lpwstr>restricted-default</vt:lpwstr>
  </property>
  <property fmtid="{D5CDD505-2E9C-101B-9397-08002B2CF9AE}" pid="7" name="MSIP_Label_a59b6cd5-d141-4a33-8bf1-0ca04484304f_SiteId">
    <vt:lpwstr>38ae3bcd-9579-4fd4-adda-b42e1495d55a</vt:lpwstr>
  </property>
  <property fmtid="{D5CDD505-2E9C-101B-9397-08002B2CF9AE}" pid="8" name="MSIP_Label_a59b6cd5-d141-4a33-8bf1-0ca04484304f_ActionId">
    <vt:lpwstr>f925726c-a707-4b58-8df1-0b6731ff310f</vt:lpwstr>
  </property>
  <property fmtid="{D5CDD505-2E9C-101B-9397-08002B2CF9AE}" pid="9" name="MSIP_Label_a59b6cd5-d141-4a33-8bf1-0ca04484304f_ContentBits">
    <vt:lpwstr>0</vt:lpwstr>
  </property>
  <property fmtid="{D5CDD505-2E9C-101B-9397-08002B2CF9AE}" pid="10" name="Document_Confidentiality">
    <vt:lpwstr>Restricted</vt:lpwstr>
  </property>
  <property fmtid="{D5CDD505-2E9C-101B-9397-08002B2CF9AE}" pid="11" name="ICV">
    <vt:lpwstr>8053ABC1EB734047BE65253C3CF9AE75</vt:lpwstr>
  </property>
  <property fmtid="{D5CDD505-2E9C-101B-9397-08002B2CF9AE}" pid="12" name="KSOProductBuildVer">
    <vt:lpwstr>2052-11.1.0.11744</vt:lpwstr>
  </property>
</Properties>
</file>